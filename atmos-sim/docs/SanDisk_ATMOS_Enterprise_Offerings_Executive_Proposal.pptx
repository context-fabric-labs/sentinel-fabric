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E3.S-based ATMOS enterprise portfolio, not an AWS EC2 offering or a shipping SanDisk price list. The user’s “EC2” has been interpreted as the E3.S module platform discussed. AWS EC2 appears only as a public pricing benchmark. Recommend complete native ATMOS model execution as the base, with optional GPU prefill, speculative drafting and whole-layer pipeline research. No real ATMOS silicon performance or validated selling price is available. First ten slides form the executive narrative; six appendix slides provide defensible calculations and source links.
EVIDENCE / ASSUMPTIONS
Checked 1 October 2026. Published source facts, internal targets, and proposed numerical assumptions are not interchangeable.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actual public example is Lloyds Banking Group, not a claimed ATMOS customer. Its January 2026 release reports Athena serving 20,000 colleagues, 66% lower search time, more than 50 GenAI deployments in 2025 and about £50m of GenAI value across the group. Do not equate value with hardware or inference savings. The proposed ATMOS workload later in the deck is a synthetic bank-scale pilot, not Lloyds traffic. Retrieval/indexing and business decision logic remain outside the ATMOS model-serving scope.
EVIDENCE / ASSUMPTIONS
Checked 1 October 2026. Published source facts, internal targets, and proposed numerical assumptions are not interchangeable.
[S1] Lloyds Banking Group — AI-driven benefits in 2025
https://www.lloydsbankinggroup.com/media/press-releases/2026/lloyds-banking-group/ai-driven-benefits-2026.html
29 January 2026. Around £50m GenAI value in 2025; &gt;50 solutions; Athena used by 20,000 colleagues and search time reduced by 66%. Does not disclose GPU inventory, model architecture, requests, token volume or inference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four proposed products/architectures; they are not validated ATMOS features. A is complete native inference and can be delivered as a separate appliance or a dedicated pool in the customer’s Kubernetes cluster. B retains a complete model in GPU prefill as well as on the native ATMOS decoder; no free GPU-weight-reclamation claim. C uses an auxiliary draft model and an ATMOS MoE target; correctness requires target-distribution-preserving verification, not majority voting. D assigns complete contiguous layer groups, including their attention/KV, to devices; pipeline fill and balance remain risks. A service with lower TTFT demands is not necessarily cheap unless matched GPU batch serving also loses.
EVIDENCE / ASSUMPTIONS
Checked 1 October 2026. Published source facts, internal targets, and proposed numerical assumptions are not interchangeable.
[S10] Tenstorrent — vLLM TT plugin
https://github.com/tenstorrent/vllm-tt-plugin
Public precedent for a platform plugin containing model loading, worker execution and scheduling. It does not establish full native ATMOS model support. Pin exact releases and qualify the specific ATMOS target.
[S11] NVIDIA Dynamo — disaggregated serving
https://docs.nvidia.com/dynamo/components/router/disaggregated-serving
Independent prefill/decode pools and KV handoff. Does not itself supply an ATMOS decoder or arbitrary cross-accelerator KV compatibility.
[S12] Leviathan et al. — speculative decoding, ICML 2023
https://proceedings.mlr.press/v202/leviathan23a.html
Draft-and-target verification algorithm. Distribution preservation requires the correct acceptance/correction procedure. No ATMOS speedup is supplied by this paper.
[S15] vLLM — parallelism and scaling
https://docs.vllm.ai/en/latest/serving/parallelism_scaling/
Public layer/pipeline parallelism precedent; not a ready-made heterogeneous GPU/ATMOS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 each production request to exactly one eligible complete serving endpoint. No blind forking to both GPU and ATMOS; use duplicated traffic only for a controlled shadow evaluation. Adding an endpoint requires gateway or application configuration—this is not literally zero integration. Separate appliance is preferred for a certified turnkey GPU deployment. Shared-cluster packaging adds ATMOS driver, device plugin, operator and readiness management but does not modify GPU model execution. Do not equate one module with one serving Pod: one complete model may need several devices. The native ATMOS runtime, not labels, must implement attention/KV/full-model execution. Active KV does not move between GPU and ATMOS in offering A.
EVIDENCE / ASSUMPTIONS
Checked 1 October 2026. Published source facts, internal targets, and proposed numerical assumptions are not interchangeable.
[S10] Tenstorrent — vLLM TT plugin
https://github.com/tenstorrent/vllm-tt-plugin
Public precedent for a platform plugin containing model loading, worker execution and scheduling. It does not establish full native ATMOS model support. Pin exact releases and qualify the specific ATMOS target.
[S14] Kubernetes — device plugins
https://kubernetes.io/docs/concepts/extend-kubernetes/compute-storage-net/device-plugins/
Device discovery/resource advertisement and allocation. Pod labels are not hardware allocation or proof that a complete model is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CPU reference is a real public part. The server configuration is a proposed design, not an OEM quote or validated BOM. EPYC 9355P official specs: 32 cores, 280W, 128 PCIe Gen5 lanes and 12 memory channels. Proposed 384GB host memory uses one 32GB DIMM per channel; memory speed is OEM-dependent. Two four-endpoint branches each use 16 upstream+16 downstream switch port-lanes; together they consume 32 host lanes, so do NOT claim host-lane savings relative to 8 direct x4 devices. They are candidate locality/management domains; different switches may be required from the older 48-lane eight-device branch. The host service network is not asserted to be the native NPU collective fabric. Nominal HBF 8×128GB, application planning allocation 8×100GB; select the 16GB/module LPDDR target for this study, not the lower 8GB variant. 96GB aggregate LPDDR after a provisional 4GB/device reserve is a planning ledger, not unified memory. Full-model compute including attention/KV is unqualified. No NPU TOPS-to-throughput conversion is used. Power 1.6kW is used ONLY as a later TCO sensitivity input, not a specification.
EVIDENCE / ASSUMPTIONS
Checked 1 October 2026. Published source facts, internal targets, and proposed numerical assumptions are not interchangeable.
[S6] AMD EPYC 9355P — official specifications
https://www.amd.com/en/products/processors/server/epyc/9005-series/amd-epyc-9355p.html
32 cores; 280W default TDP; 1 socket; PCIe 5.0 x128; 12 DDR5 channels. This is a host CPU reference, not an ATMOS-compatible server certification.
[I1] Supplied ATMOS proposal — internal, unqualified device targets
User-supplied private proposal
ATMOS_MoE_Hybrid_Switched_E3S_Final_Proposal_v1.docx, reference resource envelope (page 2 in supplied extraction). Up to 128GB HBF, 100GB application planning budget/device, 8–16GB LPDDR, ~200GB/s local HBF read target, Gen5/Gen6 x4 candidates. No validated NPU service rate, native runtime support, price, power or production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minimum HBF module count is ceil(full-model raw bytes/100GB). It is not a device-count recommendation: actual NPU speed, local KV, compiler layouts, replication, per-device memory and interconnect determine grouping. All-FP8 and all-16-bit arithmetic is a capacity screen; actual checkpoints can use mixed precision and scales. Qwen235 BF16 logical KV = 2×94×4×128×2 bytes×8192 tokens = 1.46875 GiB/sequence; 32 sequences = 47 GiB (50.465865728 decimal GB). Qwen30 similarly gives 0.75 GiB/sequence. DeepSeek uses MLA and must not be estimated using the Qwen GQA cache formula. Native DeepSeek 16-bit full weights exceed an eight-device 800GB study allocation; 14 is a raw capacity floor, not a supported mesh. Public parameter counts are rounded. Total context includes prompt and generated tokens. Different models need separate quality evaluation.
EVIDENCE / ASSUMPTIONS
Checked 1 October 2026. Published source facts, internal targets, and proposed numerical assumptions are not interchangeable.
[S2] Qwen3-30B-A3B — publisher model card
https://huggingface.co/Qwen/Qwen3-30B-A3B
30.5B total, 3.3B activated, 128 experts, top-8. A separate model/quality qualification, not a substitute asserted equivalent to 235B.
[S3] Qwen3-30B-A3B — configuration
https://huggingface.co/Qwen/Qwen3-30B-A3B/blob/main/config.json
48 layers, 4 KV heads, head dimension 128. Source for logical BF16 KV calculations.
[S4] Qwen3-235B-A22B — model and configuration
https://huggingface.co/Qwen/Qwen3-235B-A22B/blob/main/config.json
Model card: https://huggingface.co/Qwen/Qwen3-235B-A22B . Approximately 235B total, 22B active; 94 layers, 128 experts, top-8, 4 KV heads, head dimension 128.
[S5] DeepSeek-V3 — model and configuration
https://huggingface.co/deepseek-ai/DeepSeek-V3/blob/main/config.json
Model card: https://huggingface.co/deepseek-ai/DeepSeek-V3 . Approximately 671B total, 37B activated, 61 layers, first 3 dense, 256 routed and 1 shared expert per MoE layer. MLA cache is implementation-specific.
[I1] Supplied ATMOS proposal — internal, unqualified device targets
User-supplied private proposal
ATMOS_MoE_Hybrid_Switched_E3S_Final_Proposal_v1.docx, reference resource envelope (page 2 in supplied extraction). Up to 128GB HBF, 100GB application planning budget/device, 8–16GB LPDDR, ~200GB/s local HBF read target, Gen5/Gen6 x4 candidates. No validated NPU service rate, native runtime support, price, power or production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20,000×0.4×6=48,000 calls/day. Over 8×3600 seconds =1.6667 RPS average; 3× peak =5 RPS. The proposed eligible fraction is 0.4, yielding 19,200 calls/day, 0.6667 average RPS and 2 peak RPS. Target requests are candidate document summaries, extraction and controlled drafting; no autonomous credit, claims or underwriting decisions are proposed. The example does not replace Athena, its retrieval pipeline or its model with a claim of equal quality. Specify real prompt/output distributions, 15-minute bursts, tenant policy, error rates and N+1 capacity in pilot. Candidate native batch deadline is p95 120 seconds including queue/prefill/decode; log TTFT/TPOT diagnostically rather than promise an interactive-token SLA. No disclosed public rate supports a specific device count. Section backup reverse-sizes hypothetical throughput outcomes. A business-window workload can favor elastic GPU cloud economics; the cost gate must reflect actual billed hours.
EVIDENCE / ASSUMPTIONS
Checked 1 October 2026. Published source facts, internal targets, and proposed numerical assumptions are not interchangeable.
[S1] Lloyds Banking Group — AI-driven benefits in 2025
https://www.lloydsbankinggroup.com/media/press-releases/2026/lloyds-banking-group/ai-driven-benefits-2026.html
29 January 2026. Around £50m GenAI value in 2025; &gt;50 solutions; Athena used by 20,000 colleagues and search time reduced by 66%. Does not disclose GPU inventory, model architecture, requests, token volume or inference costs.
[S4] Qwen3-235B-A22B — model and configuration
https://huggingface.co/Qwen/Qwen3-235B-A22B/blob/main/config.json
Model card: https://huggingface.co/Qwen/Qwen3-235B-A22B . Approximately 235B total, 22B active; 94 layers, 128 experts, top-8, 4 KV heads, head dimension 128.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Published price snapshot, not price recommendations or available capacity guarantees. Lambda 4×H100 SXM price is $4.09 per GPU per hour; group rate = $16.36; annual 8,760-hour amount $143,313.60; 3-year static amount $429,940.80. AWS p5.48xlarge Capacity Block in N. Virginia is $41.528 per instance-hour; annual $363,785.28. AWS announces $5.970 per P5 accelerator-hour effective 7 October 2026; 8 GPUs would then be $47.760/hour. Neither AWS rate is On-Demand or a three-year promise. Lambda single GH200 96GB at $2.29/hour gives $20,060.40/year; all-three hardware offerings are not equal performance units. Qwen235 FP8 235GB raw plus KV, scales and workspace makes 4 H100 a candidate capacity screen, not validated serving support. Establish actual fit before using it as the benchmark. Include purchased/on-prem GPU and vendor quotes for formal TCO. AMD GPU system price is quote-required; do not invent a number.
EVIDENCE / ASSUMPTIONS
Checked 1 October 2026. Published source facts, internal targets, and proposed numerical assumptions are not interchangeable.
[S7] Lambda — public instance price list
https://lambda.ai/pricing
Snapshot 1 October 2026: 4x H100 SXM = $4.09/GPU-hour ($16.36/group-hour), 80GB/GPU; 900GiB host RAM. Single GH200 $2.29/hour (96GB). Single A10 $1.29/hour (24GB). 8x B200 $6.69/GPU-hour. Taxes extra; availability and negotiated pricing differ.
[S8] AWS EC2 Capacity Blocks — public pricing
https://aws.amazon.com/ec2/capacityblocks/pricing/
Snapshot 1 October 2026: p5.48xlarge N. Virginia $41.528/instance-hour (8 H100); p5.4xlarge $5.191. These are Capacity Block reservation rates, NOT On-Demand. AWS announces P5 $5.970/accelerator-hour effective 7 October 2026. Static annualization is not a three-year quote.
[S9] AWS — accelerated instance specifications
https://aws.amazon.com/ec2/instance-types/accelerated-computing/
P5.48xlarge: 8 H100, 640GB HBM3, 192 vCPU, 2TiB host memory, up to 3200Gbps EFAv2. P5.4xlarge: one H100, 80GB, 16vCPU, 256GiB; GPU Direct RDMA not supported on p5.4xlarge.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ATMOS economic inputs are proposed, not quoted. Purchase budget $80,000, annual support 15% of purchase ($12,000), site/network/admin allowance $6,000 per year, whole-node IT draw 1.6kW, PUE1.4, electricity $0.12/kWh, 8,760 hours/year, 3-year horizon, no residual value. Electricity =1.6×1.4×0.12×8760=$2,354.688/year. Three-year native TCO=80,000+36,000+18,000+7,064.064=$141,064.064. 4-H100 Lambda static 24/7 compute cost=$429,940.8 over three years. Unit-cost break-even rate ratio=141064.064/429940.8=0.328101. For 25% lower unit cost require qA/qG≥0.437468. With 2,080 billed GPU hours/year, control compute cost=$102,086.40/3years, lower than proposed native TCO at the same serving rate. Same-rate cloud hours break-even ~2,874/year. Do not book sunk GPU purchases as cash savings, do not add node and constituent GPU savings, and do not assume data privacy makes cloud legally forbidden. Formal release requires same service/availability and priced operating scope. Gross margin and manufacturing feasibility are not established by an $80k design allowance.
EVIDENCE / ASSUMPTIONS
Checked 1 October 2026. Published source facts, internal targets, and proposed numerical assumptions are not interchangeable.
[S7] Lambda — public instance price list
https://lambda.ai/pricing
Snapshot 1 October 2026: 4x H100 SXM = $4.09/GPU-hour ($16.36/group-hour), 80GB/GPU; 900GiB host RAM. Single GH200 $2.29/hour (96GB). Single A10 $1.29/hour (24GB). 8x B200 $6.69/GPU-hour. Taxes extra; availability and negotiated pricing differ.
[I1] Supplied ATMOS proposal — internal, unqualified device targets
User-supplied private proposal
ATMOS_MoE_Hybrid_Switched_E3S_Final_Proposal_v1.docx, reference resource envelope (page 2 in supplied extraction). Up to 128GB HBF, 100GB application planning budget/device, 8–16GB LPDDR, ~200GB/s local HBF read target, Gen5/Gen6 x4 candidates. No validated NPU service rate, native runtime support, price, power or production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 sought is for a bounded native MoE feasibility and OEM design program, not product launch. Simulator and functional emulator can proceed in parallel after the common model and interface contracts are fixed; the diagram is evidence progression, not a requirement to serially wait for each team. Emulator GPU timings are not ATMOS projections. An optional FPGA can exercise endpoint contracts but does not certify actual silicon; CXL memory alone is not an NPU emulator. The physical node is now an ATMOS-first native service, not the prior eight-RTX/eight-ATMOS layer-offload product. Suggested OEM inquiry: Supermicro modular DCBBS; a second OEM can be selected by actual design support. Sandisk must own model service QA, admission/security/readiness/telemetry, support, and truthful economics. Tenstorrent must commit to the exact model/precision, full attention/KV, supported mesh, native prefill/decode, shape/concurrency and release matrix. Public plugin precedent is not that commitment. Existing GPU engines remain unchanged for offering A.
EVIDENCE / ASSUMPTIONS
Checked 1 October 2026. Published source facts, internal targets, and proposed numerical assumptions are not interchangeable.
[S10] Tenstorrent — vLLM TT plugin
https://github.com/tenstorrent/vllm-tt-plugin
Public precedent for a platform plugin containing model loading, worker execution and scheduling. It does not establish full native ATMOS model support. Pin exact releases and qualify the specific ATMOS target.
[S13] Supermicro — Data Center Building Block Solutions
https://www.supermicro.com/en/solutions/dcbbs
Public modular infrastructure/OEM-integration capability; a reason for engagement, not a partnership or an ATMOS design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notes: The $429,940.80 prefill GPU amount and $33,901.20 A10 amount are 3-year static 24/7 cloud-rental equivalents used only as budget anchors; a physically colocated OEM GPU requires a separate quotation. Do not infer that cloud prefill plus on-prem ATMOS is a qualified KV path. Allocating one prefill group across n decoders is accounting, not a proven sizing ratio. Extra drafting compute alone is 33,901.20 / 141,064.064 = 24.03% of the native-node budget, so accepted output must improve by more than that to lower unit cost before new development cost. NVIDIA and AMD GPU variants both require their own compatible handoff/backend tests. More precise boundaries: Offering B is a complete GPU prefill runtime plus complete ATMOS decoder and a state-handoff protocol. A normal chat-completion endpoint alone cannot export its KV; customer prefill configuration must allow the connector. LMCache/Dynamo/NIXL can support parts of management/transport but do not create ATMOS attention or native execution. Offering C drafts tokens, not hidden activations for every layer; target distribution preservation requires the cited accept/reject and correction rules. Acceptance rate, verification cost, and shared memory demand determine benefit; speculation can lose performance. Offering D places complete layer stages, not independent FFNs, so local KV follows stage ownership; multiple requests can fill the pipeline but single-request dependency remains. Direct P2P between ATMOS devices is a topology question in native execution, not inherited as unnecessary from the old FFN-only design.
EVIDENCE / ASSUMPTIONS
Checked 1 October 2026. Published source facts, internal targets, and proposed numerical assumptions are not interchangeable.
[S7] Lambda — public instance price list
https://lambda.ai/pricing
Snapshot 1 October 2026: 4x H100 SXM = $4.09/GPU-hour ($16.36/group-hour), 80GB/GPU; 900GiB host RAM. Single GH200 $2.29/hour (96GB). Single A10 $1.29/hour (24GB). 8x B200 $6.69/GPU-hour. Taxes extra; availability and negotiated pricing differ.
[S11] NVIDIA Dynamo — disaggregated serving
https://docs.nvidia.com/dynamo/components/router/disaggregated-serving
Independent prefill/decode pools and KV handoff. Does not itself supply an ATMOS decoder or arbitrary cross-accelerator KV compatibility.
[S12] Leviathan et al. — speculative decoding, ICML 2023
https://proceedings.mlr.press/v202/leviathan23a.html
Draft-and-target verification algorithm. Distribution preservation requires the correct acceptance/correction procedure. No ATMOS speedup is supplied by this paper.
[S15] vLLM — parallelism and scaling
https://docs.vllm.ai/en/latest/serving/parallelism_scaling/
Public layer/pipeline parallelism precedent; not a ready-made heterogeneous GPU/ATMOS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Logical KV formula for these GQA Qwen models: 2(K and V)×layer count×KV heads×head dimension×bytes×total cached tokens. Qwen30: 2×48×4×128×2×8192=805,306,368 bytes=0.75GiB. Qwen235: 2×94×4×128×2×8192=1,577,058,304 bytes=1.46875GiB. Multiply by32 sequences: 47GiB. At32768 total tokens, multiply by4=188GiB for32 sequences. This exceeds128 decimalGB nominal LPDDR=119.21GiB. Provisional per-device12GB working budget leaves aggregate96GB=89.4GiB, but actual per-layer/head/TP/PP assignment can replicate state and scratch may be larger. Cache layouts, FP8 KV, sliding attention and MLA cannot be substituted without model/runtime evidence. Host DDR memory does not cure a missing NPU memory interface. Native HBF feed must distinguish controller/media bandwidth from actual NPU-consumed bytes. Large batches may activate most experts, and slowest required work can dominate tail latency. Do not infer native tokens/s from the older ambiguous 64 TOPS/TFLOPS label.
EVIDENCE / ASSUMPTIONS
Checked 1 October 2026. Published source facts, internal targets, and proposed numerical assumptions are not interchangeable.
[S3] Qwen3-30B-A3B — configuration
https://huggingface.co/Qwen/Qwen3-30B-A3B/blob/main/config.json
48 layers, 4 KV heads, head dimension 128. Source for logical BF16 KV calculations.
[S4] Qwen3-235B-A22B — model and configuration
https://huggingface.co/Qwen/Qwen3-235B-A22B/blob/main/config.json
Model card: https://huggingface.co/Qwen/Qwen3-235B-A22B . Approximately 235B total, 22B active; 94 layers, 128 experts, top-8, 4 KV heads, head dimension 128.
[S5] DeepSeek-V3 — model and configuration
https://huggingface.co/deepseek-ai/DeepSeek-V3/blob/main/config.json
Model card: https://huggingface.co/deepseek-ai/DeepSeek-V3 . Approximately 671B total, 37B activated, 61 layers, first 3 dense, 256 routed and 1 shared expert per MoE layer. MLA cache is implementation-specific.
[I1] Supplied ATMOS proposal — internal, unqualified device targets
User-supplied private proposal
ATMOS_MoE_Hybrid_Switched_E3S_Final_Proposal_v1.docx, reference resource envelope (page 2 in supplied extraction). Up to 128GB HBF, 100GB application planning budget/device, 8–16GB LPDDR, ~200GB/s local HBF read target, Gen5/Gen6 x4 candidates. No validated NPU service rate, native runtime support, price, power or production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calculations are audited in calculations.json used to build this deck. Native total=capex×(1+3×supportfraction)+3×(site/admin+ITkW×PUE×electricity×8760). At P=$80k: P×1.45+3×(6000+2354.688)=141064.064. Per-module $7,500 allocation and $20,000 OEM host/fabric allocation are design-to-cost targets, not current costs or intended list prices. At $60k total112064.064; at$120k total199064.064. Rate thresholds vs4-H100 cost429940.8 are26.065%,32.810%,46.300%. Table rounds thresholds upward for ease of review. Hardware gross margin, OEM integration NRE, multiyear price changes and institutional discounts remain unknown. Holding all else constant, if native reaches50% of control rate and target25% lower unit cost, allowable native capex≈$93,906 under this model. This is a buying/design threshold, not a prediction.
EVIDENCE / ASSUMPTIONS
Checked 1 October 2026. Published source facts, internal targets, and proposed numerical assumptions are not interchangeable.
[S7] Lambda — public instance price list
https://lambda.ai/pricing
Snapshot 1 October 2026: 4x H100 SXM = $4.09/GPU-hour ($16.36/group-hour), 80GB/GPU; 900GiB host RAM. Single GH200 $2.29/hour (96GB). Single A10 $1.29/hour (24GB). 8x B200 $6.69/GPU-hour. Taxes extra; availability and negotiated pricing differ.
[I1] Supplied ATMOS proposal — internal, unqualified device targets
User-supplied private proposal
ATMOS_MoE_Hybrid_Switched_E3S_Final_Proposal_v1.docx, reference resource envelope (page 2 in supplied extraction). Up to 128GB HBF, 100GB application planning budget/device, 8–16GB LPDDR, ~200GB/s local HBF read target, Gen5/Gen6 x4 candidates. No validated NPU service rate, native runtime support, price, power or production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reverse-sizing experiment, not a forecast and not the public bank’s infrastructure. Given demandR=2RPS and controlqG=.5RPS/group, NG=1+ceil(2/.5)=5. Atmqa values .125/.25/.5 produce17/9/5 nodes, respectively. Controls cost5×429940.8=$2,149,704. Atm costs N×141064.064+$100,000 migration: $2,498,089.088 / $1,369,576.576 / $805,320.32. Changes +16.206%, -36.290%, -62.538%. Reserve covers loss of one complete serving unit only, not an entire multi-node rack or site. Local module replicas are not equivalent to node failure tolerance. Same unit counts are not equal throughput unless measured q is valid; a slow ATMOS unit may require a larger fleet. More than32 active8K sequences may exceed the working-memory profile, so performance testing must include actual service times and queueing. For a business-window workload, compare elastic billed hours and idle shutdown costs before any claim. This table is deliberately able to say NO-GO.
EVIDENCE / ASSUMPTIONS
Checked 1 October 2026. Published source facts, internal targets, and proposed numerical assumptions are not interchangeable.
[S7] Lambda — public instance price list
https://lambda.ai/pricing
Snapshot 1 October 2026: 4x H100 SXM = $4.09/GPU-hour ($16.36/group-hour), 80GB/GPU; 900GiB host RAM. Single GH200 $2.29/hour (96GB). Single A10 $1.29/hour (24GB). 8x B200 $6.69/GPU-hour. Taxes extra; availability and negotiated pricing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Source-derived data must be distinguished from proposal data. I1 is a user-supplied confidential planning document, not a public release. Its HBF and LPDDR budgets are inherited as targets only. Definitions: published = vendor/publisher documented; calculated = direct arithmetic from declared inputs; proposed = design/workload/cost assumption; measured = an identified physical benchmark. This deck contains no new measured ATMOS results.
EVIDENCE / ASSUMPTIONS
Checked 1 October 2026. Published source facts, internal targets, and proposed numerical assumptions are not interchangeable.
[S1] Lloyds Banking Group — AI-driven benefits in 2025
https://www.lloydsbankinggroup.com/media/press-releases/2026/lloyds-banking-group/ai-driven-benefits-2026.html
29 January 2026. Around £50m GenAI value in 2025; &gt;50 solutions; Athena used by 20,000 colleagues and search time reduced by 66%. Does not disclose GPU inventory, model architecture, requests, token volume or inference costs.
[S2] Qwen3-30B-A3B — publisher model card
https://huggingface.co/Qwen/Qwen3-30B-A3B
30.5B total, 3.3B activated, 128 experts, top-8. A separate model/quality qualification, not a substitute asserted equivalent to 235B.
[S3] Qwen3-30B-A3B — configuration
https://huggingface.co/Qwen/Qwen3-30B-A3B/blob/main/config.json
48 layers, 4 KV heads, head dimension 128. Source for logical BF16 KV calculations.
[S4] Qwen3-235B-A22B — model and configuration
https://huggingface.co/Qwen/Qwen3-235B-A22B/blob/main/config.json
Model card: https://huggingface.co/Qwen/Qwen3-235B-A22B . Approximately 235B total, 22B active; 94 layers, 128 experts, top-8, 4 KV heads, head dimension 128.
[S5] DeepSeek-V3 — model and configuration
https://huggingface.co/deepseek-ai/DeepSeek-V3/blob/main/config.json
Model card: https://huggingface.co/deepseek-ai/DeepSeek-V3 . Approximately 671B total, 37B activated, 61 layers, first 3 dense, 256 routed and 1 shared expert per MoE layer. MLA cache is implementation-specific.
[S6] AMD EPYC 9355P — official specifications
https://www.amd.com/en/products/processors/server/epyc/9005-series/amd-epyc-9355p.html
32 cores; 280W default TDP; 1 socket; PCIe 5.0 x128; 12 DDR5 channels. This is a host CPU reference, not an ATMOS-compatible server certification.
[I1] Supplied ATMOS proposal — internal, unqualified device targets
User-supplied private proposal
ATMOS_MoE_Hybrid_Switched_E3S_Final_Proposal_v1.docx, reference resource envelope (page 2 in supplied extraction). Up to 128GB HBF, 100GB application planning budget/device, 8–16GB LPDDR, ~200GB/s local HBF read target, Gen5/Gen6 x4 candidates. No validated NPU service rate, native runtime support, price, power or production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provenance: AWS Capacity Blocks use an upfront reservation fee and dynamic rates; not On-Demand. Lambda prices are per GPU-hour and configurations differ. Support/taxes/egress and negotiated rates must be added or reconciled. Public framework sources are cited to establish available design mechanisms only. The native ATMOS backend, GPU-to-ATMOS KV format, speculative verification and heterogeneous pipeline remain proposed work. Kubernetes labels/discovery are only orchestration. OEM reference indicates available engineering services, not an executed partnership.
EVIDENCE / ASSUMPTIONS
Checked 1 October 2026. Published source facts, internal targets, and proposed numerical assumptions are not interchangeable.
[S7] Lambda — public instance price list
https://lambda.ai/pricing
Snapshot 1 October 2026: 4x H100 SXM = $4.09/GPU-hour ($16.36/group-hour), 80GB/GPU; 900GiB host RAM. Single GH200 $2.29/hour (96GB). Single A10 $1.29/hour (24GB). 8x B200 $6.69/GPU-hour. Taxes extra; availability and negotiated pricing differ.
[S8] AWS EC2 Capacity Blocks — public pricing
https://aws.amazon.com/ec2/capacityblocks/pricing/
Snapshot 1 October 2026: p5.48xlarge N. Virginia $41.528/instance-hour (8 H100); p5.4xlarge $5.191. These are Capacity Block reservation rates, NOT On-Demand. AWS announces P5 $5.970/accelerator-hour effective 7 October 2026. Static annualization is not a three-year quote.
[S9] AWS — accelerated instance specifications
https://aws.amazon.com/ec2/instance-types/accelerated-computing/
P5.48xlarge: 8 H100, 640GB HBM3, 192 vCPU, 2TiB host memory, up to 3200Gbps EFAv2. P5.4xlarge: one H100, 80GB, 16vCPU, 256GiB; GPU Direct RDMA not supported on p5.4xlarge.
[S10] Tenstorrent — vLLM TT plugin
https://github.com/tenstorrent/vllm-tt-plugin
Public precedent for a platform plugin containing model loading, worker execution and scheduling. It does not establish full native ATMOS model support. Pin exact releases and qualify the specific ATMOS target.
[S11] NVIDIA Dynamo — disaggregated serving
https://docs.nvidia.com/dynamo/components/router/disaggregated-serving
Independent prefill/decode pools and KV handoff. Does not itself supply an ATMOS decoder or arbitrary cross-accelerator KV compatibility.
[S12] Leviathan et al. — speculative decoding, ICML 2023
https://proceedings.mlr.press/v202/leviathan23a.html
Draft-and-target verification algorithm. Distribution preservation requires the correct acceptance/correction procedure. No ATMOS speedup is supplied by this paper.
[S13] Supermicro — Data Center Building Block Solutions
https://www.supermicro.com/en/solutions/dcbbs
Public modular infrastructure/OEM-integration capability; a reason for engagement, not a partnership or an ATMOS design commitment.
[S14] Kubernetes — device plugins
https://kubernetes.io/docs/concepts/extend-kubernetes/compute-storage-net/device-plugins/
Device discovery/resource advertisement and allocation. Pod labels are not hardware allocation or proof that a complete model is ready.
[S15] vLLM — parallelism and scaling
https://docs.vllm.ai/en/latest/serving/parallelism_scaling/
Public layer/pipeline parallelism precedent; not a ready-made heterogeneous GPU/ATMOS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lloydsbankinggroup.com/media/press-releases/2026/lloyds-banking-group/ai-driven-benefits-2026.html" TargetMode="External"/><Relationship Id="rId2" Type="http://schemas.openxmlformats.org/officeDocument/2006/relationships/hyperlink" Target="https://huggingface.co/Qwen/Qwen3-30B-A3B" TargetMode="External"/><Relationship Id="rId3" Type="http://schemas.openxmlformats.org/officeDocument/2006/relationships/hyperlink" Target="https://huggingface.co/Qwen/Qwen3-30B-A3B/blob/main/config.json" TargetMode="External"/><Relationship Id="rId4" Type="http://schemas.openxmlformats.org/officeDocument/2006/relationships/hyperlink" Target="https://huggingface.co/Qwen/Qwen3-235B-A22B/blob/main/config.json" TargetMode="External"/><Relationship Id="rId5" Type="http://schemas.openxmlformats.org/officeDocument/2006/relationships/hyperlink" Target="https://huggingface.co/deepseek-ai/DeepSeek-V3/blob/main/config.json" TargetMode="External"/><Relationship Id="rId6" Type="http://schemas.openxmlformats.org/officeDocument/2006/relationships/hyperlink" Target="https://www.amd.com/en/products/processors/server/epyc/9005-series/amd-epyc-9355p.html" TargetMode="External"/><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lambda.ai/pricing" TargetMode="External"/><Relationship Id="rId2" Type="http://schemas.openxmlformats.org/officeDocument/2006/relationships/hyperlink" Target="https://aws.amazon.com/ec2/capacityblocks/pricing/" TargetMode="External"/><Relationship Id="rId3" Type="http://schemas.openxmlformats.org/officeDocument/2006/relationships/hyperlink" Target="https://aws.amazon.com/ec2/instance-types/accelerated-computing/" TargetMode="External"/><Relationship Id="rId4" Type="http://schemas.openxmlformats.org/officeDocument/2006/relationships/hyperlink" Target="https://github.com/tenstorrent/vllm-tt-plugin" TargetMode="External"/><Relationship Id="rId5" Type="http://schemas.openxmlformats.org/officeDocument/2006/relationships/hyperlink" Target="https://docs.nvidia.com/dynamo/components/router/disaggregated-serving" TargetMode="External"/><Relationship Id="rId6" Type="http://schemas.openxmlformats.org/officeDocument/2006/relationships/hyperlink" Target="https://proceedings.mlr.press/v202/leviathan23a.html" TargetMode="External"/><Relationship Id="rId7" Type="http://schemas.openxmlformats.org/officeDocument/2006/relationships/hyperlink" Target="https://www.supermicro.com/en/solutions/dcbbs" TargetMode="External"/><Relationship Id="rId8" Type="http://schemas.openxmlformats.org/officeDocument/2006/relationships/hyperlink" Target="https://kubernetes.io/docs/concepts/extend-kubernetes/compute-storage-net/device-plugins/" TargetMode="External"/><Relationship Id="rId9" Type="http://schemas.openxmlformats.org/officeDocument/2006/relationships/hyperlink" Target="https://docs.vllm.ai/en/latest/serving/parallelism_scaling/" TargetMode="External"/><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12A"/>
        </a:solidFill>
      </p:bgPr>
    </p:bg>
    <p:spTree>
      <p:nvGrpSpPr>
        <p:cNvPr id="1" name=""/>
        <p:cNvGrpSpPr/>
        <p:nvPr/>
      </p:nvGrpSpPr>
      <p:grpSpPr>
        <a:xfrm>
          <a:off x="0" y="0"/>
          <a:ext cx="0" cy="0"/>
          <a:chOff x="0" y="0"/>
          <a:chExt cx="0" cy="0"/>
        </a:xfrm>
      </p:grpSpPr>
      <p:sp>
        <p:nvSpPr>
          <p:cNvPr id="2" name="Shape 0"/>
          <p:cNvSpPr/>
          <p:nvPr/>
        </p:nvSpPr>
        <p:spPr>
          <a:xfrm>
            <a:off x="8778240" y="0"/>
            <a:ext cx="3413455" cy="6858000"/>
          </a:xfrm>
          <a:prstGeom prst="rect">
            <a:avLst/>
          </a:prstGeom>
          <a:solidFill>
            <a:srgbClr val="D7193F"/>
          </a:solidFill>
          <a:ln w="12700">
            <a:solidFill>
              <a:srgbClr val="D7193F"/>
            </a:solidFill>
            <a:prstDash val="solid"/>
          </a:ln>
        </p:spPr>
      </p:sp>
      <p:sp>
        <p:nvSpPr>
          <p:cNvPr id="3" name="Text 1"/>
          <p:cNvSpPr/>
          <p:nvPr/>
        </p:nvSpPr>
        <p:spPr>
          <a:xfrm>
            <a:off x="530352" y="384048"/>
            <a:ext cx="6400800" cy="274320"/>
          </a:xfrm>
          <a:prstGeom prst="rect">
            <a:avLst/>
          </a:prstGeom>
          <a:noFill/>
          <a:ln/>
        </p:spPr>
        <p:txBody>
          <a:bodyPr wrap="square" lIns="0" tIns="0" rIns="0" bIns="0" rtlCol="0" anchor="ctr"/>
          <a:lstStyle/>
          <a:p>
            <a:pPr indent="0" marL="0">
              <a:buNone/>
            </a:pPr>
            <a:r>
              <a:rPr lang="en-US" sz="1300" b="1" dirty="0">
                <a:solidFill>
                  <a:srgbClr val="FFFFFF"/>
                </a:solidFill>
                <a:latin typeface="Noto Sans" pitchFamily="34" charset="0"/>
                <a:ea typeface="Noto Sans" pitchFamily="34" charset="-122"/>
                <a:cs typeface="Noto Sans" pitchFamily="34" charset="-120"/>
              </a:rPr>
              <a:t>SANDISK / ATMOS</a:t>
            </a:r>
            <a:endParaRPr lang="en-US" sz="1300" dirty="0"/>
          </a:p>
        </p:txBody>
      </p:sp>
      <p:sp>
        <p:nvSpPr>
          <p:cNvPr id="4" name="Shape 2"/>
          <p:cNvSpPr/>
          <p:nvPr/>
        </p:nvSpPr>
        <p:spPr>
          <a:xfrm>
            <a:off x="530352" y="1033272"/>
            <a:ext cx="2971800" cy="274320"/>
          </a:xfrm>
          <a:prstGeom prst="rect">
            <a:avLst/>
          </a:prstGeom>
          <a:solidFill>
            <a:srgbClr val="4F2935"/>
          </a:solidFill>
          <a:ln w="12700">
            <a:solidFill>
              <a:srgbClr val="4F2935"/>
            </a:solidFill>
            <a:prstDash val="solid"/>
          </a:ln>
        </p:spPr>
      </p:sp>
      <p:sp>
        <p:nvSpPr>
          <p:cNvPr id="5" name="Text 3"/>
          <p:cNvSpPr/>
          <p:nvPr/>
        </p:nvSpPr>
        <p:spPr>
          <a:xfrm>
            <a:off x="621792" y="1083564"/>
            <a:ext cx="2788920" cy="182880"/>
          </a:xfrm>
          <a:prstGeom prst="rect">
            <a:avLst/>
          </a:prstGeom>
          <a:noFill/>
          <a:ln/>
        </p:spPr>
        <p:txBody>
          <a:bodyPr wrap="square" lIns="0" tIns="0" rIns="0" bIns="0" rtlCol="0" anchor="ctr"/>
          <a:lstStyle/>
          <a:p>
            <a:pPr indent="0" marL="0">
              <a:buNone/>
            </a:pPr>
            <a:r>
              <a:rPr lang="en-US" sz="1000" b="1" dirty="0">
                <a:solidFill>
                  <a:srgbClr val="FFFFFF"/>
                </a:solidFill>
                <a:latin typeface="Noto Sans" pitchFamily="34" charset="0"/>
                <a:ea typeface="Noto Sans" pitchFamily="34" charset="-122"/>
                <a:cs typeface="Noto Sans" pitchFamily="34" charset="-120"/>
              </a:rPr>
              <a:t>ENTERPRISE OFFERING PROPOSAL</a:t>
            </a:r>
            <a:endParaRPr lang="en-US" sz="1000" dirty="0"/>
          </a:p>
        </p:txBody>
      </p:sp>
      <p:sp>
        <p:nvSpPr>
          <p:cNvPr id="6" name="Text 4"/>
          <p:cNvSpPr/>
          <p:nvPr/>
        </p:nvSpPr>
        <p:spPr>
          <a:xfrm>
            <a:off x="530352" y="1746504"/>
            <a:ext cx="7955280" cy="1508760"/>
          </a:xfrm>
          <a:prstGeom prst="rect">
            <a:avLst/>
          </a:prstGeom>
          <a:noFill/>
          <a:ln/>
        </p:spPr>
        <p:txBody>
          <a:bodyPr wrap="square" lIns="0" tIns="0" rIns="0" bIns="0" rtlCol="0" anchor="ctr"/>
          <a:lstStyle/>
          <a:p>
            <a:pPr indent="0" marL="0">
              <a:buNone/>
            </a:pPr>
            <a:r>
              <a:rPr lang="en-US" sz="3500" b="1" dirty="0">
                <a:solidFill>
                  <a:srgbClr val="FFFFFF"/>
                </a:solidFill>
                <a:latin typeface="Noto Sans" pitchFamily="34" charset="0"/>
                <a:ea typeface="Noto Sans" pitchFamily="34" charset="-122"/>
                <a:cs typeface="Noto Sans" pitchFamily="34" charset="-120"/>
              </a:rPr>
              <a:t>Build an independent</a:t>
            </a:r>
            <a:endParaRPr lang="en-US" sz="3500" dirty="0"/>
          </a:p>
          <a:p>
            <a:pPr indent="0" marL="0">
              <a:buNone/>
            </a:pPr>
            <a:r>
              <a:rPr lang="en-US" sz="3500" b="1" dirty="0">
                <a:solidFill>
                  <a:srgbClr val="FFFFFF"/>
                </a:solidFill>
                <a:latin typeface="Noto Sans" pitchFamily="34" charset="0"/>
                <a:ea typeface="Noto Sans" pitchFamily="34" charset="-122"/>
                <a:cs typeface="Noto Sans" pitchFamily="34" charset="-120"/>
              </a:rPr>
              <a:t>MoE inference appliance.</a:t>
            </a:r>
            <a:endParaRPr lang="en-US" sz="3500" dirty="0"/>
          </a:p>
        </p:txBody>
      </p:sp>
      <p:sp>
        <p:nvSpPr>
          <p:cNvPr id="7" name="Text 5"/>
          <p:cNvSpPr/>
          <p:nvPr/>
        </p:nvSpPr>
        <p:spPr>
          <a:xfrm>
            <a:off x="566928" y="3621024"/>
            <a:ext cx="7406640" cy="841248"/>
          </a:xfrm>
          <a:prstGeom prst="rect">
            <a:avLst/>
          </a:prstGeom>
          <a:noFill/>
          <a:ln/>
        </p:spPr>
        <p:txBody>
          <a:bodyPr wrap="square" lIns="0" tIns="0" rIns="0" bIns="0" rtlCol="0" anchor="ctr"/>
          <a:lstStyle/>
          <a:p>
            <a:pPr indent="0" marL="0">
              <a:buNone/>
            </a:pPr>
            <a:r>
              <a:rPr lang="en-US" sz="2200" dirty="0">
                <a:solidFill>
                  <a:srgbClr val="E0DDE1"/>
                </a:solidFill>
                <a:latin typeface="Noto Sans" pitchFamily="34" charset="0"/>
                <a:ea typeface="Noto Sans" pitchFamily="34" charset="-122"/>
                <a:cs typeface="Noto Sans" pitchFamily="34" charset="-120"/>
              </a:rPr>
              <a:t>Protect the customer’s GPU stack.</a:t>
            </a:r>
            <a:endParaRPr lang="en-US" sz="2200" dirty="0"/>
          </a:p>
          <a:p>
            <a:pPr indent="0" marL="0">
              <a:buNone/>
            </a:pPr>
            <a:r>
              <a:rPr lang="en-US" sz="2200" dirty="0">
                <a:solidFill>
                  <a:srgbClr val="E0DDE1"/>
                </a:solidFill>
                <a:latin typeface="Noto Sans" pitchFamily="34" charset="0"/>
                <a:ea typeface="Noto Sans" pitchFamily="34" charset="-122"/>
                <a:cs typeface="Noto Sans" pitchFamily="34" charset="-120"/>
              </a:rPr>
              <a:t>Compete on completed work, quality and cost.</a:t>
            </a:r>
            <a:endParaRPr lang="en-US" sz="2200" dirty="0"/>
          </a:p>
        </p:txBody>
      </p:sp>
      <p:sp>
        <p:nvSpPr>
          <p:cNvPr id="8" name="Text 6"/>
          <p:cNvSpPr/>
          <p:nvPr/>
        </p:nvSpPr>
        <p:spPr>
          <a:xfrm>
            <a:off x="9171432" y="1517904"/>
            <a:ext cx="2651760" cy="365760"/>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LEAD OFFERING</a:t>
            </a:r>
            <a:endParaRPr lang="en-US" sz="1200" dirty="0"/>
          </a:p>
        </p:txBody>
      </p:sp>
      <p:sp>
        <p:nvSpPr>
          <p:cNvPr id="9" name="Text 7"/>
          <p:cNvSpPr/>
          <p:nvPr/>
        </p:nvSpPr>
        <p:spPr>
          <a:xfrm>
            <a:off x="9144000" y="2075688"/>
            <a:ext cx="2651760" cy="1691640"/>
          </a:xfrm>
          <a:prstGeom prst="rect">
            <a:avLst/>
          </a:prstGeom>
          <a:noFill/>
          <a:ln/>
        </p:spPr>
        <p:txBody>
          <a:bodyPr wrap="square" lIns="0" tIns="0" rIns="0" bIns="0" rtlCol="0" anchor="ctr"/>
          <a:lstStyle/>
          <a:p>
            <a:pPr indent="0" marL="0">
              <a:buNone/>
            </a:pPr>
            <a:r>
              <a:rPr lang="en-US" sz="3500" b="1" dirty="0">
                <a:solidFill>
                  <a:srgbClr val="FFFFFF"/>
                </a:solidFill>
                <a:latin typeface="Noto Sans" pitchFamily="34" charset="0"/>
                <a:ea typeface="Noto Sans" pitchFamily="34" charset="-122"/>
                <a:cs typeface="Noto Sans" pitchFamily="34" charset="-120"/>
              </a:rPr>
              <a:t>Native</a:t>
            </a:r>
            <a:endParaRPr lang="en-US" sz="3500" dirty="0"/>
          </a:p>
          <a:p>
            <a:pPr indent="0" marL="0">
              <a:buNone/>
            </a:pPr>
            <a:r>
              <a:rPr lang="en-US" sz="3500" b="1" dirty="0">
                <a:solidFill>
                  <a:srgbClr val="FFFFFF"/>
                </a:solidFill>
                <a:latin typeface="Noto Sans" pitchFamily="34" charset="0"/>
                <a:ea typeface="Noto Sans" pitchFamily="34" charset="-122"/>
                <a:cs typeface="Noto Sans" pitchFamily="34" charset="-120"/>
              </a:rPr>
              <a:t>ATMOS</a:t>
            </a:r>
            <a:endParaRPr lang="en-US" sz="3500" dirty="0"/>
          </a:p>
          <a:p>
            <a:pPr indent="0" marL="0">
              <a:buNone/>
            </a:pPr>
            <a:r>
              <a:rPr lang="en-US" sz="3500" b="1" dirty="0">
                <a:solidFill>
                  <a:srgbClr val="FFFFFF"/>
                </a:solidFill>
                <a:latin typeface="Noto Sans" pitchFamily="34" charset="0"/>
                <a:ea typeface="Noto Sans" pitchFamily="34" charset="-122"/>
                <a:cs typeface="Noto Sans" pitchFamily="34" charset="-120"/>
              </a:rPr>
              <a:t>service</a:t>
            </a:r>
            <a:endParaRPr lang="en-US" sz="3500" dirty="0"/>
          </a:p>
        </p:txBody>
      </p:sp>
      <p:sp>
        <p:nvSpPr>
          <p:cNvPr id="10" name="Text 8"/>
          <p:cNvSpPr/>
          <p:nvPr/>
        </p:nvSpPr>
        <p:spPr>
          <a:xfrm>
            <a:off x="9180576" y="3968496"/>
            <a:ext cx="2432304" cy="1371600"/>
          </a:xfrm>
          <a:prstGeom prst="rect">
            <a:avLst/>
          </a:prstGeom>
          <a:noFill/>
          <a:ln/>
        </p:spPr>
        <p:txBody>
          <a:bodyPr wrap="square" lIns="0" tIns="0" rIns="0" bIns="0" rtlCol="0" anchor="ctr"/>
          <a:lstStyle/>
          <a:p>
            <a:pPr indent="0" marL="0">
              <a:buNone/>
            </a:pPr>
            <a:r>
              <a:rPr lang="en-US" sz="1700" dirty="0">
                <a:solidFill>
                  <a:srgbClr val="FFFFFF"/>
                </a:solidFill>
                <a:latin typeface="Noto Sans" pitchFamily="34" charset="0"/>
                <a:ea typeface="Noto Sans" pitchFamily="34" charset="-122"/>
                <a:cs typeface="Noto Sans" pitchFamily="34" charset="-120"/>
              </a:rPr>
              <a:t>CPU host</a:t>
            </a:r>
            <a:endParaRPr lang="en-US" sz="1700" dirty="0"/>
          </a:p>
          <a:p>
            <a:pPr indent="0" marL="0">
              <a:buNone/>
            </a:pPr>
            <a:r>
              <a:rPr lang="en-US" sz="1700" dirty="0">
                <a:solidFill>
                  <a:srgbClr val="FFFFFF"/>
                </a:solidFill>
                <a:latin typeface="Noto Sans" pitchFamily="34" charset="0"/>
                <a:ea typeface="Noto Sans" pitchFamily="34" charset="-122"/>
                <a:cs typeface="Noto Sans" pitchFamily="34" charset="-120"/>
              </a:rPr>
              <a:t>E3.S modules</a:t>
            </a:r>
            <a:endParaRPr lang="en-US" sz="1700" dirty="0"/>
          </a:p>
          <a:p>
            <a:pPr indent="0" marL="0">
              <a:buNone/>
            </a:pPr>
            <a:r>
              <a:rPr lang="en-US" sz="1700" dirty="0">
                <a:solidFill>
                  <a:srgbClr val="FFFFFF"/>
                </a:solidFill>
                <a:latin typeface="Noto Sans" pitchFamily="34" charset="0"/>
                <a:ea typeface="Noto Sans" pitchFamily="34" charset="-122"/>
                <a:cs typeface="Noto Sans" pitchFamily="34" charset="-120"/>
              </a:rPr>
              <a:t>Full model runtime</a:t>
            </a:r>
            <a:endParaRPr lang="en-US" sz="1700" dirty="0"/>
          </a:p>
          <a:p>
            <a:pPr indent="0" marL="0">
              <a:buNone/>
            </a:pPr>
            <a:r>
              <a:rPr lang="en-US" sz="1700" dirty="0">
                <a:solidFill>
                  <a:srgbClr val="FFFFFF"/>
                </a:solidFill>
                <a:latin typeface="Noto Sans" pitchFamily="34" charset="0"/>
                <a:ea typeface="Noto Sans" pitchFamily="34" charset="-122"/>
                <a:cs typeface="Noto Sans" pitchFamily="34" charset="-120"/>
              </a:rPr>
              <a:t>One supported endpoint</a:t>
            </a:r>
            <a:endParaRPr lang="en-US" sz="1700" dirty="0"/>
          </a:p>
        </p:txBody>
      </p:sp>
      <p:sp>
        <p:nvSpPr>
          <p:cNvPr id="11" name="Shape 9"/>
          <p:cNvSpPr/>
          <p:nvPr/>
        </p:nvSpPr>
        <p:spPr>
          <a:xfrm>
            <a:off x="548640" y="5056632"/>
            <a:ext cx="7607808" cy="640080"/>
          </a:xfrm>
          <a:prstGeom prst="rect">
            <a:avLst/>
          </a:prstGeom>
          <a:solidFill>
            <a:srgbClr val="35343E"/>
          </a:solidFill>
          <a:ln w="12700">
            <a:solidFill>
              <a:srgbClr val="35343E"/>
            </a:solidFill>
            <a:prstDash val="solid"/>
          </a:ln>
        </p:spPr>
      </p:sp>
      <p:sp>
        <p:nvSpPr>
          <p:cNvPr id="12" name="Text 10"/>
          <p:cNvSpPr/>
          <p:nvPr/>
        </p:nvSpPr>
        <p:spPr>
          <a:xfrm>
            <a:off x="731520" y="5248656"/>
            <a:ext cx="7269480" cy="283464"/>
          </a:xfrm>
          <a:prstGeom prst="rect">
            <a:avLst/>
          </a:prstGeom>
          <a:noFill/>
          <a:ln/>
        </p:spPr>
        <p:txBody>
          <a:bodyPr wrap="square" lIns="0" tIns="0" rIns="0" bIns="0" rtlCol="0" anchor="ctr"/>
          <a:lstStyle/>
          <a:p>
            <a:pPr indent="0" marL="0">
              <a:buNone/>
            </a:pPr>
            <a:r>
              <a:rPr lang="en-US" sz="1700" b="1" dirty="0">
                <a:solidFill>
                  <a:srgbClr val="FFFFFF"/>
                </a:solidFill>
                <a:latin typeface="Noto Sans" pitchFamily="34" charset="0"/>
                <a:ea typeface="Noto Sans" pitchFamily="34" charset="-122"/>
                <a:cs typeface="Noto Sans" pitchFamily="34" charset="-120"/>
              </a:rPr>
              <a:t>Decision: fund one native product; gate three extensions.</a:t>
            </a:r>
            <a:endParaRPr lang="en-US" sz="1700" dirty="0"/>
          </a:p>
        </p:txBody>
      </p:sp>
      <p:sp>
        <p:nvSpPr>
          <p:cNvPr id="13" name="Text 11"/>
          <p:cNvSpPr/>
          <p:nvPr/>
        </p:nvSpPr>
        <p:spPr>
          <a:xfrm>
            <a:off x="566928" y="6108192"/>
            <a:ext cx="7772400" cy="265176"/>
          </a:xfrm>
          <a:prstGeom prst="rect">
            <a:avLst/>
          </a:prstGeom>
          <a:noFill/>
          <a:ln/>
        </p:spPr>
        <p:txBody>
          <a:bodyPr wrap="square" lIns="0" tIns="0" rIns="0" bIns="0" rtlCol="0" anchor="ctr"/>
          <a:lstStyle/>
          <a:p>
            <a:pPr indent="0" marL="0">
              <a:buNone/>
            </a:pPr>
            <a:r>
              <a:rPr lang="en-US" sz="1200" dirty="0">
                <a:solidFill>
                  <a:srgbClr val="CCC8CE"/>
                </a:solidFill>
                <a:latin typeface="Noto Sans" pitchFamily="34" charset="0"/>
                <a:ea typeface="Noto Sans" pitchFamily="34" charset="-122"/>
                <a:cs typeface="Noto Sans" pitchFamily="34" charset="-120"/>
              </a:rPr>
              <a:t>10-slide decision deck • 6 technical / cost backup slides</a:t>
            </a:r>
            <a:endParaRPr lang="en-US" sz="1200" dirty="0"/>
          </a:p>
        </p:txBody>
      </p:sp>
      <p:sp>
        <p:nvSpPr>
          <p:cNvPr id="14" name="Text 12"/>
          <p:cNvSpPr/>
          <p:nvPr/>
        </p:nvSpPr>
        <p:spPr>
          <a:xfrm>
            <a:off x="9162288" y="6217920"/>
            <a:ext cx="2468880" cy="219456"/>
          </a:xfrm>
          <a:prstGeom prst="rect">
            <a:avLst/>
          </a:prstGeom>
          <a:noFill/>
          <a:ln/>
        </p:spPr>
        <p:txBody>
          <a:bodyPr wrap="square" lIns="0" tIns="0" rIns="0" bIns="0" rtlCol="0" anchor="ctr"/>
          <a:lstStyle/>
          <a:p>
            <a:pPr indent="0" marL="0">
              <a:buNone/>
            </a:pPr>
            <a:r>
              <a:rPr lang="en-US" sz="1100" b="1" dirty="0">
                <a:solidFill>
                  <a:srgbClr val="FFFFFF"/>
                </a:solidFill>
                <a:latin typeface="Noto Sans" pitchFamily="34" charset="0"/>
                <a:ea typeface="Noto Sans" pitchFamily="34" charset="-122"/>
                <a:cs typeface="Noto Sans" pitchFamily="34" charset="-120"/>
              </a:rPr>
              <a:t>01 OCT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ENTERPRISE DEMAND</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Lloyds proves the demand—not ATMOS economics.</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A public banking example, reported 29 January 2026. No customer hardware inventory is inferred.</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[S1] Lloyds Banking Group, “AI-driven benefits”, 29 Jan 2026.</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02</a:t>
            </a:r>
            <a:endParaRPr lang="en-US" sz="1200" dirty="0"/>
          </a:p>
        </p:txBody>
      </p:sp>
      <p:sp>
        <p:nvSpPr>
          <p:cNvPr id="10" name="Shape 8"/>
          <p:cNvSpPr/>
          <p:nvPr/>
        </p:nvSpPr>
        <p:spPr>
          <a:xfrm>
            <a:off x="457200" y="1975104"/>
            <a:ext cx="3593592" cy="1426464"/>
          </a:xfrm>
          <a:prstGeom prst="rect">
            <a:avLst/>
          </a:prstGeom>
          <a:solidFill>
            <a:srgbClr val="FFFFFF"/>
          </a:solidFill>
          <a:ln w="12700">
            <a:solidFill>
              <a:srgbClr val="FFFFFF"/>
            </a:solidFill>
            <a:prstDash val="solid"/>
          </a:ln>
        </p:spPr>
      </p:sp>
      <p:sp>
        <p:nvSpPr>
          <p:cNvPr id="11" name="Shape 9"/>
          <p:cNvSpPr/>
          <p:nvPr/>
        </p:nvSpPr>
        <p:spPr>
          <a:xfrm>
            <a:off x="457200" y="1975104"/>
            <a:ext cx="54864" cy="1426464"/>
          </a:xfrm>
          <a:prstGeom prst="rect">
            <a:avLst/>
          </a:prstGeom>
          <a:solidFill>
            <a:srgbClr val="D7193F"/>
          </a:solidFill>
          <a:ln w="12700">
            <a:solidFill>
              <a:srgbClr val="D7193F"/>
            </a:solidFill>
            <a:prstDash val="solid"/>
          </a:ln>
        </p:spPr>
      </p:sp>
      <p:sp>
        <p:nvSpPr>
          <p:cNvPr id="12" name="Text 10"/>
          <p:cNvSpPr/>
          <p:nvPr/>
        </p:nvSpPr>
        <p:spPr>
          <a:xfrm>
            <a:off x="658368" y="2130552"/>
            <a:ext cx="3227832" cy="585216"/>
          </a:xfrm>
          <a:prstGeom prst="rect">
            <a:avLst/>
          </a:prstGeom>
          <a:noFill/>
          <a:ln/>
        </p:spPr>
        <p:txBody>
          <a:bodyPr wrap="square" lIns="0" tIns="0" rIns="0" bIns="0" rtlCol="0" anchor="ctr"/>
          <a:lstStyle/>
          <a:p>
            <a:pPr indent="0" marL="0">
              <a:buNone/>
            </a:pPr>
            <a:r>
              <a:rPr lang="en-US" sz="3900" b="1" dirty="0">
                <a:solidFill>
                  <a:srgbClr val="D7193F"/>
                </a:solidFill>
                <a:latin typeface="Noto Sans" pitchFamily="34" charset="0"/>
                <a:ea typeface="Noto Sans" pitchFamily="34" charset="-122"/>
                <a:cs typeface="Noto Sans" pitchFamily="34" charset="-120"/>
              </a:rPr>
              <a:t>20,000</a:t>
            </a:r>
            <a:endParaRPr lang="en-US" sz="3900" dirty="0"/>
          </a:p>
        </p:txBody>
      </p:sp>
      <p:sp>
        <p:nvSpPr>
          <p:cNvPr id="13" name="Text 11"/>
          <p:cNvSpPr/>
          <p:nvPr/>
        </p:nvSpPr>
        <p:spPr>
          <a:xfrm>
            <a:off x="658368" y="2761488"/>
            <a:ext cx="3227832" cy="310896"/>
          </a:xfrm>
          <a:prstGeom prst="rect">
            <a:avLst/>
          </a:prstGeom>
          <a:noFill/>
          <a:ln/>
        </p:spPr>
        <p:txBody>
          <a:bodyPr wrap="square" lIns="0" tIns="0" rIns="0" bIns="0" rtlCol="0" anchor="ctr"/>
          <a:lstStyle/>
          <a:p>
            <a:pPr indent="0" marL="0">
              <a:buNone/>
            </a:pPr>
            <a:r>
              <a:rPr lang="en-US" sz="1500" b="1" dirty="0">
                <a:solidFill>
                  <a:srgbClr val="202027"/>
                </a:solidFill>
                <a:latin typeface="Noto Sans" pitchFamily="34" charset="0"/>
                <a:ea typeface="Noto Sans" pitchFamily="34" charset="-122"/>
                <a:cs typeface="Noto Sans" pitchFamily="34" charset="-120"/>
              </a:rPr>
              <a:t>colleagues using Athena</a:t>
            </a:r>
            <a:endParaRPr lang="en-US" sz="1500" dirty="0"/>
          </a:p>
        </p:txBody>
      </p:sp>
      <p:sp>
        <p:nvSpPr>
          <p:cNvPr id="14" name="Text 12"/>
          <p:cNvSpPr/>
          <p:nvPr/>
        </p:nvSpPr>
        <p:spPr>
          <a:xfrm>
            <a:off x="658368" y="3090672"/>
            <a:ext cx="3227832" cy="219456"/>
          </a:xfrm>
          <a:prstGeom prst="rect">
            <a:avLst/>
          </a:prstGeom>
          <a:noFill/>
          <a:ln/>
        </p:spPr>
        <p:txBody>
          <a:bodyPr wrap="square" lIns="0" tIns="0" rIns="0" bIns="0" rtlCol="0" anchor="ctr"/>
          <a:lstStyle/>
          <a:p>
            <a:pPr indent="0" marL="0">
              <a:buNone/>
            </a:pPr>
            <a:r>
              <a:rPr lang="en-US" sz="1100" dirty="0">
                <a:solidFill>
                  <a:srgbClr val="5E626A"/>
                </a:solidFill>
                <a:latin typeface="Noto Sans" pitchFamily="34" charset="0"/>
                <a:ea typeface="Noto Sans" pitchFamily="34" charset="-122"/>
                <a:cs typeface="Noto Sans" pitchFamily="34" charset="-120"/>
              </a:rPr>
              <a:t>Internal knowledge assistant</a:t>
            </a:r>
            <a:endParaRPr lang="en-US" sz="1100" dirty="0"/>
          </a:p>
        </p:txBody>
      </p:sp>
      <p:sp>
        <p:nvSpPr>
          <p:cNvPr id="15" name="Shape 13"/>
          <p:cNvSpPr/>
          <p:nvPr/>
        </p:nvSpPr>
        <p:spPr>
          <a:xfrm>
            <a:off x="4288536" y="1975104"/>
            <a:ext cx="3593592" cy="1426464"/>
          </a:xfrm>
          <a:prstGeom prst="rect">
            <a:avLst/>
          </a:prstGeom>
          <a:solidFill>
            <a:srgbClr val="FFFFFF"/>
          </a:solidFill>
          <a:ln w="12700">
            <a:solidFill>
              <a:srgbClr val="FFFFFF"/>
            </a:solidFill>
            <a:prstDash val="solid"/>
          </a:ln>
        </p:spPr>
      </p:sp>
      <p:sp>
        <p:nvSpPr>
          <p:cNvPr id="16" name="Shape 14"/>
          <p:cNvSpPr/>
          <p:nvPr/>
        </p:nvSpPr>
        <p:spPr>
          <a:xfrm>
            <a:off x="4288536" y="1975104"/>
            <a:ext cx="54864" cy="1426464"/>
          </a:xfrm>
          <a:prstGeom prst="rect">
            <a:avLst/>
          </a:prstGeom>
          <a:solidFill>
            <a:srgbClr val="D7193F"/>
          </a:solidFill>
          <a:ln w="12700">
            <a:solidFill>
              <a:srgbClr val="D7193F"/>
            </a:solidFill>
            <a:prstDash val="solid"/>
          </a:ln>
        </p:spPr>
      </p:sp>
      <p:sp>
        <p:nvSpPr>
          <p:cNvPr id="17" name="Text 15"/>
          <p:cNvSpPr/>
          <p:nvPr/>
        </p:nvSpPr>
        <p:spPr>
          <a:xfrm>
            <a:off x="4489704" y="2130552"/>
            <a:ext cx="3227832" cy="585216"/>
          </a:xfrm>
          <a:prstGeom prst="rect">
            <a:avLst/>
          </a:prstGeom>
          <a:noFill/>
          <a:ln/>
        </p:spPr>
        <p:txBody>
          <a:bodyPr wrap="square" lIns="0" tIns="0" rIns="0" bIns="0" rtlCol="0" anchor="ctr"/>
          <a:lstStyle/>
          <a:p>
            <a:pPr indent="0" marL="0">
              <a:buNone/>
            </a:pPr>
            <a:r>
              <a:rPr lang="en-US" sz="3900" b="1" dirty="0">
                <a:solidFill>
                  <a:srgbClr val="D7193F"/>
                </a:solidFill>
                <a:latin typeface="Noto Sans" pitchFamily="34" charset="0"/>
                <a:ea typeface="Noto Sans" pitchFamily="34" charset="-122"/>
                <a:cs typeface="Noto Sans" pitchFamily="34" charset="-120"/>
              </a:rPr>
              <a:t>66%</a:t>
            </a:r>
            <a:endParaRPr lang="en-US" sz="3900" dirty="0"/>
          </a:p>
        </p:txBody>
      </p:sp>
      <p:sp>
        <p:nvSpPr>
          <p:cNvPr id="18" name="Text 16"/>
          <p:cNvSpPr/>
          <p:nvPr/>
        </p:nvSpPr>
        <p:spPr>
          <a:xfrm>
            <a:off x="4489704" y="2761488"/>
            <a:ext cx="3227832" cy="310896"/>
          </a:xfrm>
          <a:prstGeom prst="rect">
            <a:avLst/>
          </a:prstGeom>
          <a:noFill/>
          <a:ln/>
        </p:spPr>
        <p:txBody>
          <a:bodyPr wrap="square" lIns="0" tIns="0" rIns="0" bIns="0" rtlCol="0" anchor="ctr"/>
          <a:lstStyle/>
          <a:p>
            <a:pPr indent="0" marL="0">
              <a:buNone/>
            </a:pPr>
            <a:r>
              <a:rPr lang="en-US" sz="1500" b="1" dirty="0">
                <a:solidFill>
                  <a:srgbClr val="202027"/>
                </a:solidFill>
                <a:latin typeface="Noto Sans" pitchFamily="34" charset="0"/>
                <a:ea typeface="Noto Sans" pitchFamily="34" charset="-122"/>
                <a:cs typeface="Noto Sans" pitchFamily="34" charset="-120"/>
              </a:rPr>
              <a:t>less average search time</a:t>
            </a:r>
            <a:endParaRPr lang="en-US" sz="1500" dirty="0"/>
          </a:p>
        </p:txBody>
      </p:sp>
      <p:sp>
        <p:nvSpPr>
          <p:cNvPr id="19" name="Text 17"/>
          <p:cNvSpPr/>
          <p:nvPr/>
        </p:nvSpPr>
        <p:spPr>
          <a:xfrm>
            <a:off x="4489704" y="3090672"/>
            <a:ext cx="3227832" cy="219456"/>
          </a:xfrm>
          <a:prstGeom prst="rect">
            <a:avLst/>
          </a:prstGeom>
          <a:noFill/>
          <a:ln/>
        </p:spPr>
        <p:txBody>
          <a:bodyPr wrap="square" lIns="0" tIns="0" rIns="0" bIns="0" rtlCol="0" anchor="ctr"/>
          <a:lstStyle/>
          <a:p>
            <a:pPr indent="0" marL="0">
              <a:buNone/>
            </a:pPr>
            <a:r>
              <a:rPr lang="en-US" sz="1100" dirty="0">
                <a:solidFill>
                  <a:srgbClr val="5E626A"/>
                </a:solidFill>
                <a:latin typeface="Noto Sans" pitchFamily="34" charset="0"/>
                <a:ea typeface="Noto Sans" pitchFamily="34" charset="-122"/>
                <a:cs typeface="Noto Sans" pitchFamily="34" charset="-120"/>
              </a:rPr>
              <a:t>Reported for Athena</a:t>
            </a:r>
            <a:endParaRPr lang="en-US" sz="1100" dirty="0"/>
          </a:p>
        </p:txBody>
      </p:sp>
      <p:sp>
        <p:nvSpPr>
          <p:cNvPr id="20" name="Shape 18"/>
          <p:cNvSpPr/>
          <p:nvPr/>
        </p:nvSpPr>
        <p:spPr>
          <a:xfrm>
            <a:off x="8119872" y="1975104"/>
            <a:ext cx="3593592" cy="1426464"/>
          </a:xfrm>
          <a:prstGeom prst="rect">
            <a:avLst/>
          </a:prstGeom>
          <a:solidFill>
            <a:srgbClr val="FFFFFF"/>
          </a:solidFill>
          <a:ln w="12700">
            <a:solidFill>
              <a:srgbClr val="FFFFFF"/>
            </a:solidFill>
            <a:prstDash val="solid"/>
          </a:ln>
        </p:spPr>
      </p:sp>
      <p:sp>
        <p:nvSpPr>
          <p:cNvPr id="21" name="Shape 19"/>
          <p:cNvSpPr/>
          <p:nvPr/>
        </p:nvSpPr>
        <p:spPr>
          <a:xfrm>
            <a:off x="8119872" y="1975104"/>
            <a:ext cx="54864" cy="1426464"/>
          </a:xfrm>
          <a:prstGeom prst="rect">
            <a:avLst/>
          </a:prstGeom>
          <a:solidFill>
            <a:srgbClr val="D7193F"/>
          </a:solidFill>
          <a:ln w="12700">
            <a:solidFill>
              <a:srgbClr val="D7193F"/>
            </a:solidFill>
            <a:prstDash val="solid"/>
          </a:ln>
        </p:spPr>
      </p:sp>
      <p:sp>
        <p:nvSpPr>
          <p:cNvPr id="22" name="Text 20"/>
          <p:cNvSpPr/>
          <p:nvPr/>
        </p:nvSpPr>
        <p:spPr>
          <a:xfrm>
            <a:off x="8321040" y="2130552"/>
            <a:ext cx="3227832" cy="585216"/>
          </a:xfrm>
          <a:prstGeom prst="rect">
            <a:avLst/>
          </a:prstGeom>
          <a:noFill/>
          <a:ln/>
        </p:spPr>
        <p:txBody>
          <a:bodyPr wrap="square" lIns="0" tIns="0" rIns="0" bIns="0" rtlCol="0" anchor="ctr"/>
          <a:lstStyle/>
          <a:p>
            <a:pPr indent="0" marL="0">
              <a:buNone/>
            </a:pPr>
            <a:r>
              <a:rPr lang="en-US" sz="3900" b="1" dirty="0">
                <a:solidFill>
                  <a:srgbClr val="D7193F"/>
                </a:solidFill>
                <a:latin typeface="Noto Sans" pitchFamily="34" charset="0"/>
                <a:ea typeface="Noto Sans" pitchFamily="34" charset="-122"/>
                <a:cs typeface="Noto Sans" pitchFamily="34" charset="-120"/>
              </a:rPr>
              <a:t>~£50m</a:t>
            </a:r>
            <a:endParaRPr lang="en-US" sz="3900" dirty="0"/>
          </a:p>
        </p:txBody>
      </p:sp>
      <p:sp>
        <p:nvSpPr>
          <p:cNvPr id="23" name="Text 21"/>
          <p:cNvSpPr/>
          <p:nvPr/>
        </p:nvSpPr>
        <p:spPr>
          <a:xfrm>
            <a:off x="8321040" y="2761488"/>
            <a:ext cx="3227832" cy="310896"/>
          </a:xfrm>
          <a:prstGeom prst="rect">
            <a:avLst/>
          </a:prstGeom>
          <a:noFill/>
          <a:ln/>
        </p:spPr>
        <p:txBody>
          <a:bodyPr wrap="square" lIns="0" tIns="0" rIns="0" bIns="0" rtlCol="0" anchor="ctr"/>
          <a:lstStyle/>
          <a:p>
            <a:pPr indent="0" marL="0">
              <a:buNone/>
            </a:pPr>
            <a:r>
              <a:rPr lang="en-US" sz="1500" b="1" dirty="0">
                <a:solidFill>
                  <a:srgbClr val="202027"/>
                </a:solidFill>
                <a:latin typeface="Noto Sans" pitchFamily="34" charset="0"/>
                <a:ea typeface="Noto Sans" pitchFamily="34" charset="-122"/>
                <a:cs typeface="Noto Sans" pitchFamily="34" charset="-120"/>
              </a:rPr>
              <a:t>GenAI value in 2025</a:t>
            </a:r>
            <a:endParaRPr lang="en-US" sz="1500" dirty="0"/>
          </a:p>
        </p:txBody>
      </p:sp>
      <p:sp>
        <p:nvSpPr>
          <p:cNvPr id="24" name="Text 22"/>
          <p:cNvSpPr/>
          <p:nvPr/>
        </p:nvSpPr>
        <p:spPr>
          <a:xfrm>
            <a:off x="8321040" y="3090672"/>
            <a:ext cx="3227832" cy="219456"/>
          </a:xfrm>
          <a:prstGeom prst="rect">
            <a:avLst/>
          </a:prstGeom>
          <a:noFill/>
          <a:ln/>
        </p:spPr>
        <p:txBody>
          <a:bodyPr wrap="square" lIns="0" tIns="0" rIns="0" bIns="0" rtlCol="0" anchor="ctr"/>
          <a:lstStyle/>
          <a:p>
            <a:pPr indent="0" marL="0">
              <a:buNone/>
            </a:pPr>
            <a:r>
              <a:rPr lang="en-US" sz="1100" dirty="0">
                <a:solidFill>
                  <a:srgbClr val="5E626A"/>
                </a:solidFill>
                <a:latin typeface="Noto Sans" pitchFamily="34" charset="0"/>
                <a:ea typeface="Noto Sans" pitchFamily="34" charset="-122"/>
                <a:cs typeface="Noto Sans" pitchFamily="34" charset="-120"/>
              </a:rPr>
              <a:t>Group-wide value—not inference spend</a:t>
            </a:r>
            <a:endParaRPr lang="en-US" sz="1100" dirty="0"/>
          </a:p>
        </p:txBody>
      </p:sp>
      <p:sp>
        <p:nvSpPr>
          <p:cNvPr id="25" name="Shape 23"/>
          <p:cNvSpPr/>
          <p:nvPr/>
        </p:nvSpPr>
        <p:spPr>
          <a:xfrm>
            <a:off x="457200" y="3749040"/>
            <a:ext cx="5486400" cy="1737360"/>
          </a:xfrm>
          <a:prstGeom prst="rect">
            <a:avLst/>
          </a:prstGeom>
          <a:solidFill>
            <a:srgbClr val="FFFFFF"/>
          </a:solidFill>
          <a:ln w="12700">
            <a:solidFill>
              <a:srgbClr val="FFFFFF"/>
            </a:solidFill>
            <a:prstDash val="solid"/>
          </a:ln>
        </p:spPr>
      </p:sp>
      <p:sp>
        <p:nvSpPr>
          <p:cNvPr id="26" name="Text 24"/>
          <p:cNvSpPr/>
          <p:nvPr/>
        </p:nvSpPr>
        <p:spPr>
          <a:xfrm>
            <a:off x="658368" y="3931920"/>
            <a:ext cx="5120640" cy="246888"/>
          </a:xfrm>
          <a:prstGeom prst="rect">
            <a:avLst/>
          </a:prstGeom>
          <a:noFill/>
          <a:ln/>
        </p:spPr>
        <p:txBody>
          <a:bodyPr wrap="square" lIns="0" tIns="0" rIns="0" bIns="0" rtlCol="0" anchor="ctr"/>
          <a:lstStyle/>
          <a:p>
            <a:pPr indent="0" marL="0">
              <a:buNone/>
            </a:pPr>
            <a:r>
              <a:rPr lang="en-US" sz="1200" b="1" dirty="0">
                <a:solidFill>
                  <a:srgbClr val="D7193F"/>
                </a:solidFill>
                <a:latin typeface="Noto Sans" pitchFamily="34" charset="0"/>
                <a:ea typeface="Noto Sans" pitchFamily="34" charset="-122"/>
                <a:cs typeface="Noto Sans" pitchFamily="34" charset="-120"/>
              </a:rPr>
              <a:t>THE ENTERPRISE PATTERN</a:t>
            </a:r>
            <a:endParaRPr lang="en-US" sz="1200" dirty="0"/>
          </a:p>
        </p:txBody>
      </p:sp>
      <p:sp>
        <p:nvSpPr>
          <p:cNvPr id="27" name="Text 25"/>
          <p:cNvSpPr/>
          <p:nvPr/>
        </p:nvSpPr>
        <p:spPr>
          <a:xfrm>
            <a:off x="658368" y="4398264"/>
            <a:ext cx="5084064" cy="868680"/>
          </a:xfrm>
          <a:prstGeom prst="rect">
            <a:avLst/>
          </a:prstGeom>
          <a:noFill/>
          <a:ln/>
        </p:spPr>
        <p:txBody>
          <a:bodyPr wrap="square" lIns="0" tIns="0" rIns="0" bIns="0" rtlCol="0" anchor="ctr"/>
          <a:lstStyle/>
          <a:p>
            <a:pPr indent="0" marL="0">
              <a:buNone/>
            </a:pPr>
            <a:r>
              <a:rPr lang="en-US" sz="2200" b="1" dirty="0">
                <a:solidFill>
                  <a:srgbClr val="202027"/>
                </a:solidFill>
                <a:latin typeface="Noto Sans" pitchFamily="34" charset="0"/>
                <a:ea typeface="Noto Sans" pitchFamily="34" charset="-122"/>
                <a:cs typeface="Noto Sans" pitchFamily="34" charset="-120"/>
              </a:rPr>
              <a:t>Secure knowledge access and document workflows can reach enterprise scale.</a:t>
            </a:r>
            <a:endParaRPr lang="en-US" sz="2200" dirty="0"/>
          </a:p>
        </p:txBody>
      </p:sp>
      <p:sp>
        <p:nvSpPr>
          <p:cNvPr id="28" name="Shape 26"/>
          <p:cNvSpPr/>
          <p:nvPr/>
        </p:nvSpPr>
        <p:spPr>
          <a:xfrm>
            <a:off x="6199632" y="3749040"/>
            <a:ext cx="5522976" cy="1737360"/>
          </a:xfrm>
          <a:prstGeom prst="rect">
            <a:avLst/>
          </a:prstGeom>
          <a:solidFill>
            <a:srgbClr val="FAE8ED"/>
          </a:solidFill>
          <a:ln w="12700">
            <a:solidFill>
              <a:srgbClr val="FAE8ED"/>
            </a:solidFill>
            <a:prstDash val="solid"/>
          </a:ln>
        </p:spPr>
      </p:sp>
      <p:sp>
        <p:nvSpPr>
          <p:cNvPr id="29" name="Text 27"/>
          <p:cNvSpPr/>
          <p:nvPr/>
        </p:nvSpPr>
        <p:spPr>
          <a:xfrm>
            <a:off x="6400800" y="3931920"/>
            <a:ext cx="5120640" cy="246888"/>
          </a:xfrm>
          <a:prstGeom prst="rect">
            <a:avLst/>
          </a:prstGeom>
          <a:noFill/>
          <a:ln/>
        </p:spPr>
        <p:txBody>
          <a:bodyPr wrap="square" lIns="0" tIns="0" rIns="0" bIns="0" rtlCol="0" anchor="ctr"/>
          <a:lstStyle/>
          <a:p>
            <a:pPr indent="0" marL="0">
              <a:buNone/>
            </a:pPr>
            <a:r>
              <a:rPr lang="en-US" sz="1200" b="1" dirty="0">
                <a:solidFill>
                  <a:srgbClr val="A10F2C"/>
                </a:solidFill>
                <a:latin typeface="Noto Sans" pitchFamily="34" charset="0"/>
                <a:ea typeface="Noto Sans" pitchFamily="34" charset="-122"/>
                <a:cs typeface="Noto Sans" pitchFamily="34" charset="-120"/>
              </a:rPr>
              <a:t>OUR PROPOSED ENTRY POINT</a:t>
            </a:r>
            <a:endParaRPr lang="en-US" sz="1200" dirty="0"/>
          </a:p>
        </p:txBody>
      </p:sp>
      <p:sp>
        <p:nvSpPr>
          <p:cNvPr id="30" name="Text 28"/>
          <p:cNvSpPr/>
          <p:nvPr/>
        </p:nvSpPr>
        <p:spPr>
          <a:xfrm>
            <a:off x="6400800" y="4398264"/>
            <a:ext cx="5065776" cy="868680"/>
          </a:xfrm>
          <a:prstGeom prst="rect">
            <a:avLst/>
          </a:prstGeom>
          <a:noFill/>
          <a:ln/>
        </p:spPr>
        <p:txBody>
          <a:bodyPr wrap="square" lIns="0" tIns="0" rIns="0" bIns="0" rtlCol="0" anchor="ctr"/>
          <a:lstStyle/>
          <a:p>
            <a:pPr indent="0" marL="0">
              <a:buNone/>
            </a:pPr>
            <a:r>
              <a:rPr lang="en-US" sz="2100" b="1" dirty="0">
                <a:solidFill>
                  <a:srgbClr val="202027"/>
                </a:solidFill>
                <a:latin typeface="Noto Sans" pitchFamily="34" charset="0"/>
                <a:ea typeface="Noto Sans" pitchFamily="34" charset="-122"/>
                <a:cs typeface="Noto Sans" pitchFamily="34" charset="-120"/>
              </a:rPr>
              <a:t>Offer a private MoE pool for eligible document jobs; retain existing GPU applications.</a:t>
            </a:r>
            <a:endParaRPr lang="en-US" sz="2100" dirty="0"/>
          </a:p>
        </p:txBody>
      </p:sp>
      <p:sp>
        <p:nvSpPr>
          <p:cNvPr id="31" name="Shape 29"/>
          <p:cNvSpPr/>
          <p:nvPr/>
        </p:nvSpPr>
        <p:spPr>
          <a:xfrm>
            <a:off x="457200" y="5705856"/>
            <a:ext cx="11265408" cy="438912"/>
          </a:xfrm>
          <a:prstGeom prst="rect">
            <a:avLst/>
          </a:prstGeom>
          <a:solidFill>
            <a:srgbClr val="FAE8ED"/>
          </a:solidFill>
          <a:ln w="12700">
            <a:solidFill>
              <a:srgbClr val="FAE8ED"/>
            </a:solidFill>
            <a:prstDash val="solid"/>
          </a:ln>
        </p:spPr>
      </p:sp>
      <p:sp>
        <p:nvSpPr>
          <p:cNvPr id="32" name="Text 30"/>
          <p:cNvSpPr/>
          <p:nvPr/>
        </p:nvSpPr>
        <p:spPr>
          <a:xfrm>
            <a:off x="640080" y="5806440"/>
            <a:ext cx="10881360" cy="256032"/>
          </a:xfrm>
          <a:prstGeom prst="rect">
            <a:avLst/>
          </a:prstGeom>
          <a:noFill/>
          <a:ln/>
        </p:spPr>
        <p:txBody>
          <a:bodyPr wrap="square" lIns="0" tIns="0" rIns="0" bIns="0" rtlCol="0" anchor="ctr"/>
          <a:lstStyle/>
          <a:p>
            <a:pPr indent="0" marL="0">
              <a:buNone/>
            </a:pPr>
            <a:r>
              <a:rPr lang="en-US" sz="1500" b="1" dirty="0">
                <a:solidFill>
                  <a:srgbClr val="A10F2C"/>
                </a:solidFill>
                <a:latin typeface="Noto Sans" pitchFamily="34" charset="0"/>
                <a:ea typeface="Noto Sans" pitchFamily="34" charset="-122"/>
                <a:cs typeface="Noto Sans" pitchFamily="34" charset="-120"/>
              </a:rPr>
              <a:t>The bank did not disclose its GPU count, token load or inference bill. Do not invent a savings baseline.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PORTFOLIO</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One common runtime. Four enterprise offerings.</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Packaging options share the ATMOS runtime; execution boundaries and validation effort differ.</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All four are proposals. Native runtime maturity is the common dependency. [S10–S12, S15]</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03</a:t>
            </a:r>
            <a:endParaRPr lang="en-US" sz="1200" dirty="0"/>
          </a:p>
        </p:txBody>
      </p:sp>
      <p:sp>
        <p:nvSpPr>
          <p:cNvPr id="10" name="Shape 8"/>
          <p:cNvSpPr/>
          <p:nvPr/>
        </p:nvSpPr>
        <p:spPr>
          <a:xfrm>
            <a:off x="457200" y="1956816"/>
            <a:ext cx="5504688" cy="1755648"/>
          </a:xfrm>
          <a:prstGeom prst="rect">
            <a:avLst/>
          </a:prstGeom>
          <a:solidFill>
            <a:srgbClr val="FFFFFF"/>
          </a:solidFill>
          <a:ln w="12700">
            <a:solidFill>
              <a:srgbClr val="DEDDE0"/>
            </a:solidFill>
            <a:prstDash val="solid"/>
          </a:ln>
        </p:spPr>
      </p:sp>
      <p:sp>
        <p:nvSpPr>
          <p:cNvPr id="11" name="Shape 9"/>
          <p:cNvSpPr/>
          <p:nvPr/>
        </p:nvSpPr>
        <p:spPr>
          <a:xfrm>
            <a:off x="457200" y="1956816"/>
            <a:ext cx="566928" cy="1755648"/>
          </a:xfrm>
          <a:prstGeom prst="rect">
            <a:avLst/>
          </a:prstGeom>
          <a:solidFill>
            <a:srgbClr val="D7193F"/>
          </a:solidFill>
          <a:ln w="12700">
            <a:solidFill>
              <a:srgbClr val="D7193F"/>
            </a:solidFill>
            <a:prstDash val="solid"/>
          </a:ln>
        </p:spPr>
      </p:sp>
      <p:sp>
        <p:nvSpPr>
          <p:cNvPr id="12" name="Text 10"/>
          <p:cNvSpPr/>
          <p:nvPr/>
        </p:nvSpPr>
        <p:spPr>
          <a:xfrm>
            <a:off x="621792" y="2212848"/>
            <a:ext cx="283464" cy="411480"/>
          </a:xfrm>
          <a:prstGeom prst="rect">
            <a:avLst/>
          </a:prstGeom>
          <a:noFill/>
          <a:ln/>
        </p:spPr>
        <p:txBody>
          <a:bodyPr wrap="square" lIns="0" tIns="0" rIns="0" bIns="0" rtlCol="0" anchor="ctr"/>
          <a:lstStyle/>
          <a:p>
            <a:pPr indent="0" marL="0">
              <a:buNone/>
            </a:pPr>
            <a:r>
              <a:rPr lang="en-US" sz="2400" b="1" dirty="0">
                <a:solidFill>
                  <a:srgbClr val="FFFFFF"/>
                </a:solidFill>
                <a:latin typeface="Noto Sans" pitchFamily="34" charset="0"/>
                <a:ea typeface="Noto Sans" pitchFamily="34" charset="-122"/>
                <a:cs typeface="Noto Sans" pitchFamily="34" charset="-120"/>
              </a:rPr>
              <a:t>A</a:t>
            </a:r>
            <a:endParaRPr lang="en-US" sz="2400" dirty="0"/>
          </a:p>
        </p:txBody>
      </p:sp>
      <p:sp>
        <p:nvSpPr>
          <p:cNvPr id="13" name="Text 11"/>
          <p:cNvSpPr/>
          <p:nvPr/>
        </p:nvSpPr>
        <p:spPr>
          <a:xfrm>
            <a:off x="1234440" y="2103120"/>
            <a:ext cx="4526280" cy="365760"/>
          </a:xfrm>
          <a:prstGeom prst="rect">
            <a:avLst/>
          </a:prstGeom>
          <a:noFill/>
          <a:ln/>
        </p:spPr>
        <p:txBody>
          <a:bodyPr wrap="square" lIns="0" tIns="0" rIns="0" bIns="0" rtlCol="0" anchor="ctr"/>
          <a:lstStyle/>
          <a:p>
            <a:pPr indent="0" marL="0">
              <a:buNone/>
            </a:pPr>
            <a:r>
              <a:rPr lang="en-US" sz="2000" b="1" dirty="0">
                <a:solidFill>
                  <a:srgbClr val="202027"/>
                </a:solidFill>
                <a:latin typeface="Noto Sans" pitchFamily="34" charset="0"/>
                <a:ea typeface="Noto Sans" pitchFamily="34" charset="-122"/>
                <a:cs typeface="Noto Sans" pitchFamily="34" charset="-120"/>
              </a:rPr>
              <a:t>Native MoE appliance</a:t>
            </a:r>
            <a:endParaRPr lang="en-US" sz="2000" dirty="0"/>
          </a:p>
        </p:txBody>
      </p:sp>
      <p:sp>
        <p:nvSpPr>
          <p:cNvPr id="14" name="Text 12"/>
          <p:cNvSpPr/>
          <p:nvPr/>
        </p:nvSpPr>
        <p:spPr>
          <a:xfrm>
            <a:off x="1234440" y="2569464"/>
            <a:ext cx="4526280" cy="274320"/>
          </a:xfrm>
          <a:prstGeom prst="rect">
            <a:avLst/>
          </a:prstGeom>
          <a:noFill/>
          <a:ln/>
        </p:spPr>
        <p:txBody>
          <a:bodyPr wrap="square" lIns="0" tIns="0" rIns="0" bIns="0" rtlCol="0" anchor="ctr"/>
          <a:lstStyle/>
          <a:p>
            <a:pPr indent="0" marL="0">
              <a:buNone/>
            </a:pPr>
            <a:r>
              <a:rPr lang="en-US" sz="1400" b="1" dirty="0">
                <a:solidFill>
                  <a:srgbClr val="D7193F"/>
                </a:solidFill>
                <a:latin typeface="Noto Sans" pitchFamily="34" charset="0"/>
                <a:ea typeface="Noto Sans" pitchFamily="34" charset="-122"/>
                <a:cs typeface="Noto Sans" pitchFamily="34" charset="-120"/>
              </a:rPr>
              <a:t>Complete requests → ATMOS</a:t>
            </a:r>
            <a:endParaRPr lang="en-US" sz="1400" dirty="0"/>
          </a:p>
        </p:txBody>
      </p:sp>
      <p:sp>
        <p:nvSpPr>
          <p:cNvPr id="15" name="Text 13"/>
          <p:cNvSpPr/>
          <p:nvPr/>
        </p:nvSpPr>
        <p:spPr>
          <a:xfrm>
            <a:off x="1234440" y="2926080"/>
            <a:ext cx="4526280" cy="429768"/>
          </a:xfrm>
          <a:prstGeom prst="rect">
            <a:avLst/>
          </a:prstGeom>
          <a:noFill/>
          <a:ln/>
        </p:spPr>
        <p:txBody>
          <a:bodyPr wrap="square" lIns="0" tIns="0" rIns="0" bIns="0" rtlCol="0" anchor="ctr"/>
          <a:lstStyle/>
          <a:p>
            <a:pPr indent="0" marL="0">
              <a:buNone/>
            </a:pPr>
            <a:r>
              <a:rPr lang="en-US" sz="1400" dirty="0">
                <a:solidFill>
                  <a:srgbClr val="5E626A"/>
                </a:solidFill>
                <a:latin typeface="Noto Sans" pitchFamily="34" charset="0"/>
                <a:ea typeface="Noto Sans" pitchFamily="34" charset="-122"/>
                <a:cs typeface="Noto Sans" pitchFamily="34" charset="-120"/>
              </a:rPr>
              <a:t>Private API, batch/economy jobs, isolated model pools.</a:t>
            </a:r>
            <a:endParaRPr lang="en-US" sz="1400" dirty="0"/>
          </a:p>
        </p:txBody>
      </p:sp>
      <p:sp>
        <p:nvSpPr>
          <p:cNvPr id="16" name="Text 14"/>
          <p:cNvSpPr/>
          <p:nvPr/>
        </p:nvSpPr>
        <p:spPr>
          <a:xfrm>
            <a:off x="1234440" y="3410712"/>
            <a:ext cx="4526280" cy="201168"/>
          </a:xfrm>
          <a:prstGeom prst="rect">
            <a:avLst/>
          </a:prstGeom>
          <a:noFill/>
          <a:ln/>
        </p:spPr>
        <p:txBody>
          <a:bodyPr wrap="square" lIns="0" tIns="0" rIns="0" bIns="0" rtlCol="0" anchor="ctr"/>
          <a:lstStyle/>
          <a:p>
            <a:pPr indent="0" marL="0">
              <a:buNone/>
            </a:pPr>
            <a:r>
              <a:rPr lang="en-US" sz="1050" b="1" dirty="0">
                <a:solidFill>
                  <a:srgbClr val="A10F2C"/>
                </a:solidFill>
                <a:latin typeface="Noto Sans" pitchFamily="34" charset="0"/>
                <a:ea typeface="Noto Sans" pitchFamily="34" charset="-122"/>
                <a:cs typeface="Noto Sans" pitchFamily="34" charset="-120"/>
              </a:rPr>
              <a:t>LEAD • lowest customer coupling</a:t>
            </a:r>
            <a:endParaRPr lang="en-US" sz="1050" dirty="0"/>
          </a:p>
        </p:txBody>
      </p:sp>
      <p:sp>
        <p:nvSpPr>
          <p:cNvPr id="17" name="Shape 15"/>
          <p:cNvSpPr/>
          <p:nvPr/>
        </p:nvSpPr>
        <p:spPr>
          <a:xfrm>
            <a:off x="6199632" y="1956816"/>
            <a:ext cx="5504688" cy="1755648"/>
          </a:xfrm>
          <a:prstGeom prst="rect">
            <a:avLst/>
          </a:prstGeom>
          <a:solidFill>
            <a:srgbClr val="FFFFFF"/>
          </a:solidFill>
          <a:ln w="12700">
            <a:solidFill>
              <a:srgbClr val="DEDDE0"/>
            </a:solidFill>
            <a:prstDash val="solid"/>
          </a:ln>
        </p:spPr>
      </p:sp>
      <p:sp>
        <p:nvSpPr>
          <p:cNvPr id="18" name="Shape 16"/>
          <p:cNvSpPr/>
          <p:nvPr/>
        </p:nvSpPr>
        <p:spPr>
          <a:xfrm>
            <a:off x="6199632" y="1956816"/>
            <a:ext cx="566928" cy="1755648"/>
          </a:xfrm>
          <a:prstGeom prst="rect">
            <a:avLst/>
          </a:prstGeom>
          <a:solidFill>
            <a:srgbClr val="22212A"/>
          </a:solidFill>
          <a:ln w="12700">
            <a:solidFill>
              <a:srgbClr val="22212A"/>
            </a:solidFill>
            <a:prstDash val="solid"/>
          </a:ln>
        </p:spPr>
      </p:sp>
      <p:sp>
        <p:nvSpPr>
          <p:cNvPr id="19" name="Text 17"/>
          <p:cNvSpPr/>
          <p:nvPr/>
        </p:nvSpPr>
        <p:spPr>
          <a:xfrm>
            <a:off x="6364224" y="2212848"/>
            <a:ext cx="283464" cy="411480"/>
          </a:xfrm>
          <a:prstGeom prst="rect">
            <a:avLst/>
          </a:prstGeom>
          <a:noFill/>
          <a:ln/>
        </p:spPr>
        <p:txBody>
          <a:bodyPr wrap="square" lIns="0" tIns="0" rIns="0" bIns="0" rtlCol="0" anchor="ctr"/>
          <a:lstStyle/>
          <a:p>
            <a:pPr indent="0" marL="0">
              <a:buNone/>
            </a:pPr>
            <a:r>
              <a:rPr lang="en-US" sz="2400" b="1" dirty="0">
                <a:solidFill>
                  <a:srgbClr val="FFFFFF"/>
                </a:solidFill>
                <a:latin typeface="Noto Sans" pitchFamily="34" charset="0"/>
                <a:ea typeface="Noto Sans" pitchFamily="34" charset="-122"/>
                <a:cs typeface="Noto Sans" pitchFamily="34" charset="-120"/>
              </a:rPr>
              <a:t>B</a:t>
            </a:r>
            <a:endParaRPr lang="en-US" sz="2400" dirty="0"/>
          </a:p>
        </p:txBody>
      </p:sp>
      <p:sp>
        <p:nvSpPr>
          <p:cNvPr id="20" name="Text 18"/>
          <p:cNvSpPr/>
          <p:nvPr/>
        </p:nvSpPr>
        <p:spPr>
          <a:xfrm>
            <a:off x="6976872" y="2103120"/>
            <a:ext cx="4526280" cy="365760"/>
          </a:xfrm>
          <a:prstGeom prst="rect">
            <a:avLst/>
          </a:prstGeom>
          <a:noFill/>
          <a:ln/>
        </p:spPr>
        <p:txBody>
          <a:bodyPr wrap="square" lIns="0" tIns="0" rIns="0" bIns="0" rtlCol="0" anchor="ctr"/>
          <a:lstStyle/>
          <a:p>
            <a:pPr indent="0" marL="0">
              <a:buNone/>
            </a:pPr>
            <a:r>
              <a:rPr lang="en-US" sz="2000" b="1" dirty="0">
                <a:solidFill>
                  <a:srgbClr val="202027"/>
                </a:solidFill>
                <a:latin typeface="Noto Sans" pitchFamily="34" charset="0"/>
                <a:ea typeface="Noto Sans" pitchFamily="34" charset="-122"/>
                <a:cs typeface="Noto Sans" pitchFamily="34" charset="-120"/>
              </a:rPr>
              <a:t>Prefill / decode appliance</a:t>
            </a:r>
            <a:endParaRPr lang="en-US" sz="2000" dirty="0"/>
          </a:p>
        </p:txBody>
      </p:sp>
      <p:sp>
        <p:nvSpPr>
          <p:cNvPr id="21" name="Text 19"/>
          <p:cNvSpPr/>
          <p:nvPr/>
        </p:nvSpPr>
        <p:spPr>
          <a:xfrm>
            <a:off x="6976872" y="2569464"/>
            <a:ext cx="4526280" cy="274320"/>
          </a:xfrm>
          <a:prstGeom prst="rect">
            <a:avLst/>
          </a:prstGeom>
          <a:noFill/>
          <a:ln/>
        </p:spPr>
        <p:txBody>
          <a:bodyPr wrap="square" lIns="0" tIns="0" rIns="0" bIns="0" rtlCol="0" anchor="ctr"/>
          <a:lstStyle/>
          <a:p>
            <a:pPr indent="0" marL="0">
              <a:buNone/>
            </a:pPr>
            <a:r>
              <a:rPr lang="en-US" sz="1400" b="1" dirty="0">
                <a:solidFill>
                  <a:srgbClr val="D7193F"/>
                </a:solidFill>
                <a:latin typeface="Noto Sans" pitchFamily="34" charset="0"/>
                <a:ea typeface="Noto Sans" pitchFamily="34" charset="-122"/>
                <a:cs typeface="Noto Sans" pitchFamily="34" charset="-120"/>
              </a:rPr>
              <a:t>GPU prefill → KV → ATMOS decode</a:t>
            </a:r>
            <a:endParaRPr lang="en-US" sz="1400" dirty="0"/>
          </a:p>
        </p:txBody>
      </p:sp>
      <p:sp>
        <p:nvSpPr>
          <p:cNvPr id="22" name="Text 20"/>
          <p:cNvSpPr/>
          <p:nvPr/>
        </p:nvSpPr>
        <p:spPr>
          <a:xfrm>
            <a:off x="6976872" y="2926080"/>
            <a:ext cx="4526280" cy="429768"/>
          </a:xfrm>
          <a:prstGeom prst="rect">
            <a:avLst/>
          </a:prstGeom>
          <a:noFill/>
          <a:ln/>
        </p:spPr>
        <p:txBody>
          <a:bodyPr wrap="square" lIns="0" tIns="0" rIns="0" bIns="0" rtlCol="0" anchor="ctr"/>
          <a:lstStyle/>
          <a:p>
            <a:pPr indent="0" marL="0">
              <a:buNone/>
            </a:pPr>
            <a:r>
              <a:rPr lang="en-US" sz="1400" dirty="0">
                <a:solidFill>
                  <a:srgbClr val="5E626A"/>
                </a:solidFill>
                <a:latin typeface="Noto Sans" pitchFamily="34" charset="0"/>
                <a:ea typeface="Noto Sans" pitchFamily="34" charset="-122"/>
                <a:cs typeface="Noto Sans" pitchFamily="34" charset="-120"/>
              </a:rPr>
              <a:t>Add GPU prefill only when native prefill limits the service.</a:t>
            </a:r>
            <a:endParaRPr lang="en-US" sz="1400" dirty="0"/>
          </a:p>
        </p:txBody>
      </p:sp>
      <p:sp>
        <p:nvSpPr>
          <p:cNvPr id="23" name="Text 21"/>
          <p:cNvSpPr/>
          <p:nvPr/>
        </p:nvSpPr>
        <p:spPr>
          <a:xfrm>
            <a:off x="6976872" y="3410712"/>
            <a:ext cx="4526280" cy="201168"/>
          </a:xfrm>
          <a:prstGeom prst="rect">
            <a:avLst/>
          </a:prstGeom>
          <a:noFill/>
          <a:ln/>
        </p:spPr>
        <p:txBody>
          <a:bodyPr wrap="square" lIns="0" tIns="0" rIns="0" bIns="0" rtlCol="0" anchor="ctr"/>
          <a:lstStyle/>
          <a:p>
            <a:pPr indent="0" marL="0">
              <a:buNone/>
            </a:pPr>
            <a:r>
              <a:rPr lang="en-US" sz="1050" b="1" dirty="0">
                <a:solidFill>
                  <a:srgbClr val="A10F2C"/>
                </a:solidFill>
                <a:latin typeface="Noto Sans" pitchFamily="34" charset="0"/>
                <a:ea typeface="Noto Sans" pitchFamily="34" charset="-122"/>
                <a:cs typeface="Noto Sans" pitchFamily="34" charset="-120"/>
              </a:rPr>
              <a:t>CONDITIONAL • KV interoperability</a:t>
            </a:r>
            <a:endParaRPr lang="en-US" sz="1050" dirty="0"/>
          </a:p>
        </p:txBody>
      </p:sp>
      <p:sp>
        <p:nvSpPr>
          <p:cNvPr id="24" name="Shape 22"/>
          <p:cNvSpPr/>
          <p:nvPr/>
        </p:nvSpPr>
        <p:spPr>
          <a:xfrm>
            <a:off x="457200" y="3904488"/>
            <a:ext cx="5504688" cy="1755648"/>
          </a:xfrm>
          <a:prstGeom prst="rect">
            <a:avLst/>
          </a:prstGeom>
          <a:solidFill>
            <a:srgbClr val="FFFFFF"/>
          </a:solidFill>
          <a:ln w="12700">
            <a:solidFill>
              <a:srgbClr val="DEDDE0"/>
            </a:solidFill>
            <a:prstDash val="solid"/>
          </a:ln>
        </p:spPr>
      </p:sp>
      <p:sp>
        <p:nvSpPr>
          <p:cNvPr id="25" name="Shape 23"/>
          <p:cNvSpPr/>
          <p:nvPr/>
        </p:nvSpPr>
        <p:spPr>
          <a:xfrm>
            <a:off x="457200" y="3904488"/>
            <a:ext cx="566928" cy="1755648"/>
          </a:xfrm>
          <a:prstGeom prst="rect">
            <a:avLst/>
          </a:prstGeom>
          <a:solidFill>
            <a:srgbClr val="22212A"/>
          </a:solidFill>
          <a:ln w="12700">
            <a:solidFill>
              <a:srgbClr val="22212A"/>
            </a:solidFill>
            <a:prstDash val="solid"/>
          </a:ln>
        </p:spPr>
      </p:sp>
      <p:sp>
        <p:nvSpPr>
          <p:cNvPr id="26" name="Text 24"/>
          <p:cNvSpPr/>
          <p:nvPr/>
        </p:nvSpPr>
        <p:spPr>
          <a:xfrm>
            <a:off x="621792" y="4160520"/>
            <a:ext cx="283464" cy="411480"/>
          </a:xfrm>
          <a:prstGeom prst="rect">
            <a:avLst/>
          </a:prstGeom>
          <a:noFill/>
          <a:ln/>
        </p:spPr>
        <p:txBody>
          <a:bodyPr wrap="square" lIns="0" tIns="0" rIns="0" bIns="0" rtlCol="0" anchor="ctr"/>
          <a:lstStyle/>
          <a:p>
            <a:pPr indent="0" marL="0">
              <a:buNone/>
            </a:pPr>
            <a:r>
              <a:rPr lang="en-US" sz="2400" b="1" dirty="0">
                <a:solidFill>
                  <a:srgbClr val="FFFFFF"/>
                </a:solidFill>
                <a:latin typeface="Noto Sans" pitchFamily="34" charset="0"/>
                <a:ea typeface="Noto Sans" pitchFamily="34" charset="-122"/>
                <a:cs typeface="Noto Sans" pitchFamily="34" charset="-120"/>
              </a:rPr>
              <a:t>C</a:t>
            </a:r>
            <a:endParaRPr lang="en-US" sz="2400" dirty="0"/>
          </a:p>
        </p:txBody>
      </p:sp>
      <p:sp>
        <p:nvSpPr>
          <p:cNvPr id="27" name="Text 25"/>
          <p:cNvSpPr/>
          <p:nvPr/>
        </p:nvSpPr>
        <p:spPr>
          <a:xfrm>
            <a:off x="1234440" y="4050792"/>
            <a:ext cx="4526280" cy="365760"/>
          </a:xfrm>
          <a:prstGeom prst="rect">
            <a:avLst/>
          </a:prstGeom>
          <a:noFill/>
          <a:ln/>
        </p:spPr>
        <p:txBody>
          <a:bodyPr wrap="square" lIns="0" tIns="0" rIns="0" bIns="0" rtlCol="0" anchor="ctr"/>
          <a:lstStyle/>
          <a:p>
            <a:pPr indent="0" marL="0">
              <a:buNone/>
            </a:pPr>
            <a:r>
              <a:rPr lang="en-US" sz="2000" b="1" dirty="0">
                <a:solidFill>
                  <a:srgbClr val="202027"/>
                </a:solidFill>
                <a:latin typeface="Noto Sans" pitchFamily="34" charset="0"/>
                <a:ea typeface="Noto Sans" pitchFamily="34" charset="-122"/>
                <a:cs typeface="Noto Sans" pitchFamily="34" charset="-120"/>
              </a:rPr>
              <a:t>Speculative inference node</a:t>
            </a:r>
            <a:endParaRPr lang="en-US" sz="2000" dirty="0"/>
          </a:p>
        </p:txBody>
      </p:sp>
      <p:sp>
        <p:nvSpPr>
          <p:cNvPr id="28" name="Text 26"/>
          <p:cNvSpPr/>
          <p:nvPr/>
        </p:nvSpPr>
        <p:spPr>
          <a:xfrm>
            <a:off x="1234440" y="4517136"/>
            <a:ext cx="4526280" cy="274320"/>
          </a:xfrm>
          <a:prstGeom prst="rect">
            <a:avLst/>
          </a:prstGeom>
          <a:noFill/>
          <a:ln/>
        </p:spPr>
        <p:txBody>
          <a:bodyPr wrap="square" lIns="0" tIns="0" rIns="0" bIns="0" rtlCol="0" anchor="ctr"/>
          <a:lstStyle/>
          <a:p>
            <a:pPr indent="0" marL="0">
              <a:buNone/>
            </a:pPr>
            <a:r>
              <a:rPr lang="en-US" sz="1400" b="1" dirty="0">
                <a:solidFill>
                  <a:srgbClr val="D7193F"/>
                </a:solidFill>
                <a:latin typeface="Noto Sans" pitchFamily="34" charset="0"/>
                <a:ea typeface="Noto Sans" pitchFamily="34" charset="-122"/>
                <a:cs typeface="Noto Sans" pitchFamily="34" charset="-120"/>
              </a:rPr>
              <a:t>Small GPU drafter → ATMOS verifier</a:t>
            </a:r>
            <a:endParaRPr lang="en-US" sz="1400" dirty="0"/>
          </a:p>
        </p:txBody>
      </p:sp>
      <p:sp>
        <p:nvSpPr>
          <p:cNvPr id="29" name="Text 27"/>
          <p:cNvSpPr/>
          <p:nvPr/>
        </p:nvSpPr>
        <p:spPr>
          <a:xfrm>
            <a:off x="1234440" y="4873752"/>
            <a:ext cx="4526280" cy="429768"/>
          </a:xfrm>
          <a:prstGeom prst="rect">
            <a:avLst/>
          </a:prstGeom>
          <a:noFill/>
          <a:ln/>
        </p:spPr>
        <p:txBody>
          <a:bodyPr wrap="square" lIns="0" tIns="0" rIns="0" bIns="0" rtlCol="0" anchor="ctr"/>
          <a:lstStyle/>
          <a:p>
            <a:pPr indent="0" marL="0">
              <a:buNone/>
            </a:pPr>
            <a:r>
              <a:rPr lang="en-US" sz="1400" dirty="0">
                <a:solidFill>
                  <a:srgbClr val="5E626A"/>
                </a:solidFill>
                <a:latin typeface="Noto Sans" pitchFamily="34" charset="0"/>
                <a:ea typeface="Noto Sans" pitchFamily="34" charset="-122"/>
                <a:cs typeface="Noto Sans" pitchFamily="34" charset="-120"/>
              </a:rPr>
              <a:t>Seek more accepted target tokens per verification cycle.</a:t>
            </a:r>
            <a:endParaRPr lang="en-US" sz="1400" dirty="0"/>
          </a:p>
        </p:txBody>
      </p:sp>
      <p:sp>
        <p:nvSpPr>
          <p:cNvPr id="30" name="Text 28"/>
          <p:cNvSpPr/>
          <p:nvPr/>
        </p:nvSpPr>
        <p:spPr>
          <a:xfrm>
            <a:off x="1234440" y="5358384"/>
            <a:ext cx="4526280" cy="201168"/>
          </a:xfrm>
          <a:prstGeom prst="rect">
            <a:avLst/>
          </a:prstGeom>
          <a:noFill/>
          <a:ln/>
        </p:spPr>
        <p:txBody>
          <a:bodyPr wrap="square" lIns="0" tIns="0" rIns="0" bIns="0" rtlCol="0" anchor="ctr"/>
          <a:lstStyle/>
          <a:p>
            <a:pPr indent="0" marL="0">
              <a:buNone/>
            </a:pPr>
            <a:r>
              <a:rPr lang="en-US" sz="1050" b="1" dirty="0">
                <a:solidFill>
                  <a:srgbClr val="A10F2C"/>
                </a:solidFill>
                <a:latin typeface="Noto Sans" pitchFamily="34" charset="0"/>
                <a:ea typeface="Noto Sans" pitchFamily="34" charset="-122"/>
                <a:cs typeface="Noto Sans" pitchFamily="34" charset="-120"/>
              </a:rPr>
              <a:t>RESEARCH • acceptance + rollback</a:t>
            </a:r>
            <a:endParaRPr lang="en-US" sz="1050" dirty="0"/>
          </a:p>
        </p:txBody>
      </p:sp>
      <p:sp>
        <p:nvSpPr>
          <p:cNvPr id="31" name="Shape 29"/>
          <p:cNvSpPr/>
          <p:nvPr/>
        </p:nvSpPr>
        <p:spPr>
          <a:xfrm>
            <a:off x="6199632" y="3904488"/>
            <a:ext cx="5504688" cy="1755648"/>
          </a:xfrm>
          <a:prstGeom prst="rect">
            <a:avLst/>
          </a:prstGeom>
          <a:solidFill>
            <a:srgbClr val="FFFFFF"/>
          </a:solidFill>
          <a:ln w="12700">
            <a:solidFill>
              <a:srgbClr val="DEDDE0"/>
            </a:solidFill>
            <a:prstDash val="solid"/>
          </a:ln>
        </p:spPr>
      </p:sp>
      <p:sp>
        <p:nvSpPr>
          <p:cNvPr id="32" name="Shape 30"/>
          <p:cNvSpPr/>
          <p:nvPr/>
        </p:nvSpPr>
        <p:spPr>
          <a:xfrm>
            <a:off x="6199632" y="3904488"/>
            <a:ext cx="566928" cy="1755648"/>
          </a:xfrm>
          <a:prstGeom prst="rect">
            <a:avLst/>
          </a:prstGeom>
          <a:solidFill>
            <a:srgbClr val="22212A"/>
          </a:solidFill>
          <a:ln w="12700">
            <a:solidFill>
              <a:srgbClr val="22212A"/>
            </a:solidFill>
            <a:prstDash val="solid"/>
          </a:ln>
        </p:spPr>
      </p:sp>
      <p:sp>
        <p:nvSpPr>
          <p:cNvPr id="33" name="Text 31"/>
          <p:cNvSpPr/>
          <p:nvPr/>
        </p:nvSpPr>
        <p:spPr>
          <a:xfrm>
            <a:off x="6364224" y="4160520"/>
            <a:ext cx="283464" cy="411480"/>
          </a:xfrm>
          <a:prstGeom prst="rect">
            <a:avLst/>
          </a:prstGeom>
          <a:noFill/>
          <a:ln/>
        </p:spPr>
        <p:txBody>
          <a:bodyPr wrap="square" lIns="0" tIns="0" rIns="0" bIns="0" rtlCol="0" anchor="ctr"/>
          <a:lstStyle/>
          <a:p>
            <a:pPr indent="0" marL="0">
              <a:buNone/>
            </a:pPr>
            <a:r>
              <a:rPr lang="en-US" sz="2400" b="1" dirty="0">
                <a:solidFill>
                  <a:srgbClr val="FFFFFF"/>
                </a:solidFill>
                <a:latin typeface="Noto Sans" pitchFamily="34" charset="0"/>
                <a:ea typeface="Noto Sans" pitchFamily="34" charset="-122"/>
                <a:cs typeface="Noto Sans" pitchFamily="34" charset="-120"/>
              </a:rPr>
              <a:t>D</a:t>
            </a:r>
            <a:endParaRPr lang="en-US" sz="2400" dirty="0"/>
          </a:p>
        </p:txBody>
      </p:sp>
      <p:sp>
        <p:nvSpPr>
          <p:cNvPr id="34" name="Text 32"/>
          <p:cNvSpPr/>
          <p:nvPr/>
        </p:nvSpPr>
        <p:spPr>
          <a:xfrm>
            <a:off x="6976872" y="4050792"/>
            <a:ext cx="4526280" cy="365760"/>
          </a:xfrm>
          <a:prstGeom prst="rect">
            <a:avLst/>
          </a:prstGeom>
          <a:noFill/>
          <a:ln/>
        </p:spPr>
        <p:txBody>
          <a:bodyPr wrap="square" lIns="0" tIns="0" rIns="0" bIns="0" rtlCol="0" anchor="ctr"/>
          <a:lstStyle/>
          <a:p>
            <a:pPr indent="0" marL="0">
              <a:buNone/>
            </a:pPr>
            <a:r>
              <a:rPr lang="en-US" sz="2000" b="1" dirty="0">
                <a:solidFill>
                  <a:srgbClr val="202027"/>
                </a:solidFill>
                <a:latin typeface="Noto Sans" pitchFamily="34" charset="0"/>
                <a:ea typeface="Noto Sans" pitchFamily="34" charset="-122"/>
                <a:cs typeface="Noto Sans" pitchFamily="34" charset="-120"/>
              </a:rPr>
              <a:t>Whole-layer pipeline node</a:t>
            </a:r>
            <a:endParaRPr lang="en-US" sz="2000" dirty="0"/>
          </a:p>
        </p:txBody>
      </p:sp>
      <p:sp>
        <p:nvSpPr>
          <p:cNvPr id="35" name="Text 33"/>
          <p:cNvSpPr/>
          <p:nvPr/>
        </p:nvSpPr>
        <p:spPr>
          <a:xfrm>
            <a:off x="6976872" y="4517136"/>
            <a:ext cx="4526280" cy="274320"/>
          </a:xfrm>
          <a:prstGeom prst="rect">
            <a:avLst/>
          </a:prstGeom>
          <a:noFill/>
          <a:ln/>
        </p:spPr>
        <p:txBody>
          <a:bodyPr wrap="square" lIns="0" tIns="0" rIns="0" bIns="0" rtlCol="0" anchor="ctr"/>
          <a:lstStyle/>
          <a:p>
            <a:pPr indent="0" marL="0">
              <a:buNone/>
            </a:pPr>
            <a:r>
              <a:rPr lang="en-US" sz="1400" b="1" dirty="0">
                <a:solidFill>
                  <a:srgbClr val="D7193F"/>
                </a:solidFill>
                <a:latin typeface="Noto Sans" pitchFamily="34" charset="0"/>
                <a:ea typeface="Noto Sans" pitchFamily="34" charset="-122"/>
                <a:cs typeface="Noto Sans" pitchFamily="34" charset="-120"/>
              </a:rPr>
              <a:t>GPU stage → ATMOS stage</a:t>
            </a:r>
            <a:endParaRPr lang="en-US" sz="1400" dirty="0"/>
          </a:p>
        </p:txBody>
      </p:sp>
      <p:sp>
        <p:nvSpPr>
          <p:cNvPr id="36" name="Text 34"/>
          <p:cNvSpPr/>
          <p:nvPr/>
        </p:nvSpPr>
        <p:spPr>
          <a:xfrm>
            <a:off x="6976872" y="4873752"/>
            <a:ext cx="4526280" cy="429768"/>
          </a:xfrm>
          <a:prstGeom prst="rect">
            <a:avLst/>
          </a:prstGeom>
          <a:noFill/>
          <a:ln/>
        </p:spPr>
        <p:txBody>
          <a:bodyPr wrap="square" lIns="0" tIns="0" rIns="0" bIns="0" rtlCol="0" anchor="ctr"/>
          <a:lstStyle/>
          <a:p>
            <a:pPr indent="0" marL="0">
              <a:buNone/>
            </a:pPr>
            <a:r>
              <a:rPr lang="en-US" sz="1400" dirty="0">
                <a:solidFill>
                  <a:srgbClr val="5E626A"/>
                </a:solidFill>
                <a:latin typeface="Noto Sans" pitchFamily="34" charset="0"/>
                <a:ea typeface="Noto Sans" pitchFamily="34" charset="-122"/>
                <a:cs typeface="Noto Sans" pitchFamily="34" charset="-120"/>
              </a:rPr>
              <a:t>Few stage crossings rather than one crossing at every FFN.</a:t>
            </a:r>
            <a:endParaRPr lang="en-US" sz="1400" dirty="0"/>
          </a:p>
        </p:txBody>
      </p:sp>
      <p:sp>
        <p:nvSpPr>
          <p:cNvPr id="37" name="Text 35"/>
          <p:cNvSpPr/>
          <p:nvPr/>
        </p:nvSpPr>
        <p:spPr>
          <a:xfrm>
            <a:off x="6976872" y="5358384"/>
            <a:ext cx="4526280" cy="201168"/>
          </a:xfrm>
          <a:prstGeom prst="rect">
            <a:avLst/>
          </a:prstGeom>
          <a:noFill/>
          <a:ln/>
        </p:spPr>
        <p:txBody>
          <a:bodyPr wrap="square" lIns="0" tIns="0" rIns="0" bIns="0" rtlCol="0" anchor="ctr"/>
          <a:lstStyle/>
          <a:p>
            <a:pPr indent="0" marL="0">
              <a:buNone/>
            </a:pPr>
            <a:r>
              <a:rPr lang="en-US" sz="1050" b="1" dirty="0">
                <a:solidFill>
                  <a:srgbClr val="A10F2C"/>
                </a:solidFill>
                <a:latin typeface="Noto Sans" pitchFamily="34" charset="0"/>
                <a:ea typeface="Noto Sans" pitchFamily="34" charset="-122"/>
                <a:cs typeface="Noto Sans" pitchFamily="34" charset="-120"/>
              </a:rPr>
              <a:t>DEFER • heterogeneous scheduling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LEAD ARCHITECTURE</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Integrate at the request boundary—not inside GPU execution.</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The native ATMOS service owns attention, KV, router, experts and output for every assigned request.</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Proposed design. [S10] TT platform-plugin precedent—not ATMOS certification. [S14] Kubernetes allocation.</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04</a:t>
            </a:r>
            <a:endParaRPr lang="en-US" sz="1200" dirty="0"/>
          </a:p>
        </p:txBody>
      </p:sp>
      <p:sp>
        <p:nvSpPr>
          <p:cNvPr id="10" name="Shape 8"/>
          <p:cNvSpPr/>
          <p:nvPr/>
        </p:nvSpPr>
        <p:spPr>
          <a:xfrm>
            <a:off x="3730752" y="1920240"/>
            <a:ext cx="4709160" cy="685800"/>
          </a:xfrm>
          <a:prstGeom prst="rect">
            <a:avLst/>
          </a:prstGeom>
          <a:solidFill>
            <a:srgbClr val="22212A"/>
          </a:solidFill>
          <a:ln w="12700">
            <a:solidFill>
              <a:srgbClr val="22212A"/>
            </a:solidFill>
            <a:prstDash val="solid"/>
          </a:ln>
        </p:spPr>
      </p:sp>
      <p:sp>
        <p:nvSpPr>
          <p:cNvPr id="11" name="Text 9"/>
          <p:cNvSpPr/>
          <p:nvPr/>
        </p:nvSpPr>
        <p:spPr>
          <a:xfrm>
            <a:off x="3858768" y="2048256"/>
            <a:ext cx="4453128"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pitchFamily="34" charset="0"/>
                <a:ea typeface="Noto Sans" pitchFamily="34" charset="-122"/>
                <a:cs typeface="Noto Sans" pitchFamily="34" charset="-120"/>
              </a:rPr>
              <a:t>Existing AI gateway / job policy</a:t>
            </a:r>
            <a:endParaRPr lang="en-US" sz="1700" dirty="0"/>
          </a:p>
        </p:txBody>
      </p:sp>
      <p:sp>
        <p:nvSpPr>
          <p:cNvPr id="12" name="Shape 10"/>
          <p:cNvSpPr/>
          <p:nvPr/>
        </p:nvSpPr>
        <p:spPr>
          <a:xfrm>
            <a:off x="4572000" y="2606040"/>
            <a:ext cx="-1773936" cy="539496"/>
          </a:xfrm>
          <a:prstGeom prst="line">
            <a:avLst/>
          </a:prstGeom>
          <a:noFill/>
          <a:ln w="25400">
            <a:solidFill>
              <a:srgbClr val="5E626A"/>
            </a:solidFill>
            <a:prstDash val="solid"/>
            <a:headEnd type="none"/>
            <a:tailEnd type="triangle"/>
          </a:ln>
        </p:spPr>
      </p:sp>
      <p:sp>
        <p:nvSpPr>
          <p:cNvPr id="13" name="Shape 11"/>
          <p:cNvSpPr/>
          <p:nvPr/>
        </p:nvSpPr>
        <p:spPr>
          <a:xfrm>
            <a:off x="7498080" y="2606040"/>
            <a:ext cx="1801368" cy="539496"/>
          </a:xfrm>
          <a:prstGeom prst="line">
            <a:avLst/>
          </a:prstGeom>
          <a:noFill/>
          <a:ln w="25400">
            <a:solidFill>
              <a:srgbClr val="D7193F"/>
            </a:solidFill>
            <a:prstDash val="solid"/>
            <a:headEnd type="none"/>
            <a:tailEnd type="triangle"/>
          </a:ln>
        </p:spPr>
      </p:sp>
      <p:sp>
        <p:nvSpPr>
          <p:cNvPr id="14" name="Shape 12"/>
          <p:cNvSpPr/>
          <p:nvPr/>
        </p:nvSpPr>
        <p:spPr>
          <a:xfrm>
            <a:off x="713232" y="3182112"/>
            <a:ext cx="4251960" cy="1207008"/>
          </a:xfrm>
          <a:prstGeom prst="rect">
            <a:avLst/>
          </a:prstGeom>
          <a:solidFill>
            <a:srgbClr val="FFFFFF"/>
          </a:solidFill>
          <a:ln w="12700">
            <a:solidFill>
              <a:srgbClr val="DEDDE0"/>
            </a:solidFill>
            <a:prstDash val="solid"/>
          </a:ln>
        </p:spPr>
      </p:sp>
      <p:sp>
        <p:nvSpPr>
          <p:cNvPr id="15" name="Text 13"/>
          <p:cNvSpPr/>
          <p:nvPr/>
        </p:nvSpPr>
        <p:spPr>
          <a:xfrm>
            <a:off x="841248" y="3310128"/>
            <a:ext cx="3995928" cy="365760"/>
          </a:xfrm>
          <a:prstGeom prst="rect">
            <a:avLst/>
          </a:prstGeom>
          <a:noFill/>
          <a:ln/>
        </p:spPr>
        <p:txBody>
          <a:bodyPr wrap="square" lIns="0" tIns="0" rIns="0" bIns="0" rtlCol="0" anchor="ctr"/>
          <a:lstStyle/>
          <a:p>
            <a:pPr algn="ctr" indent="0" marL="0">
              <a:buNone/>
            </a:pPr>
            <a:r>
              <a:rPr lang="en-US" sz="1700" b="1" dirty="0">
                <a:solidFill>
                  <a:srgbClr val="202027"/>
                </a:solidFill>
                <a:latin typeface="Noto Sans" pitchFamily="34" charset="0"/>
                <a:ea typeface="Noto Sans" pitchFamily="34" charset="-122"/>
                <a:cs typeface="Noto Sans" pitchFamily="34" charset="-120"/>
              </a:rPr>
              <a:t>Existing NVIDIA / AMD service</a:t>
            </a:r>
            <a:endParaRPr lang="en-US" sz="1700" dirty="0"/>
          </a:p>
        </p:txBody>
      </p:sp>
      <p:sp>
        <p:nvSpPr>
          <p:cNvPr id="16" name="Text 14"/>
          <p:cNvSpPr/>
          <p:nvPr/>
        </p:nvSpPr>
        <p:spPr>
          <a:xfrm>
            <a:off x="841248" y="3758184"/>
            <a:ext cx="3995928" cy="548640"/>
          </a:xfrm>
          <a:prstGeom prst="rect">
            <a:avLst/>
          </a:prstGeom>
          <a:noFill/>
          <a:ln/>
        </p:spPr>
        <p:txBody>
          <a:bodyPr wrap="square" lIns="0" tIns="0" rIns="0" bIns="0" rtlCol="0" anchor="ctr"/>
          <a:lstStyle/>
          <a:p>
            <a:pPr algn="ctr" indent="0" marL="0">
              <a:buNone/>
            </a:pPr>
            <a:r>
              <a:rPr lang="en-US" sz="1300" dirty="0">
                <a:solidFill>
                  <a:srgbClr val="202027"/>
                </a:solidFill>
                <a:latin typeface="Noto Sans" pitchFamily="34" charset="0"/>
                <a:ea typeface="Noto Sans" pitchFamily="34" charset="-122"/>
                <a:cs typeface="Noto Sans" pitchFamily="34" charset="-120"/>
              </a:rPr>
              <a:t>GPU runtime and model deployment remain unchanged</a:t>
            </a:r>
            <a:endParaRPr lang="en-US" sz="1300" dirty="0"/>
          </a:p>
        </p:txBody>
      </p:sp>
      <p:sp>
        <p:nvSpPr>
          <p:cNvPr id="17" name="Shape 15"/>
          <p:cNvSpPr/>
          <p:nvPr/>
        </p:nvSpPr>
        <p:spPr>
          <a:xfrm>
            <a:off x="7059168" y="3182112"/>
            <a:ext cx="4251960" cy="1207008"/>
          </a:xfrm>
          <a:prstGeom prst="rect">
            <a:avLst/>
          </a:prstGeom>
          <a:solidFill>
            <a:srgbClr val="D7193F"/>
          </a:solidFill>
          <a:ln w="12700">
            <a:solidFill>
              <a:srgbClr val="D7193F"/>
            </a:solidFill>
            <a:prstDash val="solid"/>
          </a:ln>
        </p:spPr>
      </p:sp>
      <p:sp>
        <p:nvSpPr>
          <p:cNvPr id="18" name="Text 16"/>
          <p:cNvSpPr/>
          <p:nvPr/>
        </p:nvSpPr>
        <p:spPr>
          <a:xfrm>
            <a:off x="7187184" y="3310128"/>
            <a:ext cx="3995928"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pitchFamily="34" charset="0"/>
                <a:ea typeface="Noto Sans" pitchFamily="34" charset="-122"/>
                <a:cs typeface="Noto Sans" pitchFamily="34" charset="-120"/>
              </a:rPr>
              <a:t>New ATMOS-native MoE service</a:t>
            </a:r>
            <a:endParaRPr lang="en-US" sz="1700" dirty="0"/>
          </a:p>
        </p:txBody>
      </p:sp>
      <p:sp>
        <p:nvSpPr>
          <p:cNvPr id="19" name="Text 17"/>
          <p:cNvSpPr/>
          <p:nvPr/>
        </p:nvSpPr>
        <p:spPr>
          <a:xfrm>
            <a:off x="7187184" y="3758184"/>
            <a:ext cx="3995928" cy="548640"/>
          </a:xfrm>
          <a:prstGeom prst="rect">
            <a:avLst/>
          </a:prstGeom>
          <a:noFill/>
          <a:ln/>
        </p:spPr>
        <p:txBody>
          <a:bodyPr wrap="square" lIns="0" tIns="0" rIns="0" bIns="0" rtlCol="0" anchor="ctr"/>
          <a:lstStyle/>
          <a:p>
            <a:pPr algn="ctr" indent="0" marL="0">
              <a:buNone/>
            </a:pPr>
            <a:r>
              <a:rPr lang="en-US" sz="1300" dirty="0">
                <a:solidFill>
                  <a:srgbClr val="FFFFFF"/>
                </a:solidFill>
                <a:latin typeface="Noto Sans" pitchFamily="34" charset="0"/>
                <a:ea typeface="Noto Sans" pitchFamily="34" charset="-122"/>
                <a:cs typeface="Noto Sans" pitchFamily="34" charset="-120"/>
              </a:rPr>
              <a:t>Native prefill + decode • ATMOS-owned active KV</a:t>
            </a:r>
            <a:endParaRPr lang="en-US" sz="1300" dirty="0"/>
          </a:p>
        </p:txBody>
      </p:sp>
      <p:sp>
        <p:nvSpPr>
          <p:cNvPr id="20" name="Text 18"/>
          <p:cNvSpPr/>
          <p:nvPr/>
        </p:nvSpPr>
        <p:spPr>
          <a:xfrm>
            <a:off x="914400" y="4590288"/>
            <a:ext cx="3858768" cy="411480"/>
          </a:xfrm>
          <a:prstGeom prst="rect">
            <a:avLst/>
          </a:prstGeom>
          <a:noFill/>
          <a:ln/>
        </p:spPr>
        <p:txBody>
          <a:bodyPr wrap="square" lIns="0" tIns="0" rIns="0" bIns="0" rtlCol="0" anchor="ctr"/>
          <a:lstStyle/>
          <a:p>
            <a:pPr algn="ctr" indent="0" marL="0">
              <a:buNone/>
            </a:pPr>
            <a:r>
              <a:rPr lang="en-US" sz="1500" dirty="0">
                <a:solidFill>
                  <a:srgbClr val="5E626A"/>
                </a:solidFill>
                <a:latin typeface="Noto Sans" pitchFamily="34" charset="0"/>
                <a:ea typeface="Noto Sans" pitchFamily="34" charset="-122"/>
                <a:cs typeface="Noto Sans" pitchFamily="34" charset="-120"/>
              </a:rPr>
              <a:t>Interactive / unsupported requests</a:t>
            </a:r>
            <a:endParaRPr lang="en-US" sz="1500" dirty="0"/>
          </a:p>
        </p:txBody>
      </p:sp>
      <p:sp>
        <p:nvSpPr>
          <p:cNvPr id="21" name="Text 19"/>
          <p:cNvSpPr/>
          <p:nvPr/>
        </p:nvSpPr>
        <p:spPr>
          <a:xfrm>
            <a:off x="7296912" y="4590288"/>
            <a:ext cx="3767328" cy="411480"/>
          </a:xfrm>
          <a:prstGeom prst="rect">
            <a:avLst/>
          </a:prstGeom>
          <a:noFill/>
          <a:ln/>
        </p:spPr>
        <p:txBody>
          <a:bodyPr wrap="square" lIns="0" tIns="0" rIns="0" bIns="0" rtlCol="0" anchor="ctr"/>
          <a:lstStyle/>
          <a:p>
            <a:pPr algn="ctr" indent="0" marL="0">
              <a:buNone/>
            </a:pPr>
            <a:r>
              <a:rPr lang="en-US" sz="1500" dirty="0">
                <a:solidFill>
                  <a:srgbClr val="5E626A"/>
                </a:solidFill>
                <a:latin typeface="Noto Sans" pitchFamily="34" charset="0"/>
                <a:ea typeface="Noto Sans" pitchFamily="34" charset="-122"/>
                <a:cs typeface="Noto Sans" pitchFamily="34" charset="-120"/>
              </a:rPr>
              <a:t>Eligible model + context + deadline</a:t>
            </a:r>
            <a:endParaRPr lang="en-US" sz="1500" dirty="0"/>
          </a:p>
        </p:txBody>
      </p:sp>
      <p:sp>
        <p:nvSpPr>
          <p:cNvPr id="22" name="Shape 20"/>
          <p:cNvSpPr/>
          <p:nvPr/>
        </p:nvSpPr>
        <p:spPr>
          <a:xfrm>
            <a:off x="5989320" y="2962656"/>
            <a:ext cx="0" cy="2157984"/>
          </a:xfrm>
          <a:prstGeom prst="line">
            <a:avLst/>
          </a:prstGeom>
          <a:noFill/>
          <a:ln w="12700">
            <a:solidFill>
              <a:srgbClr val="DEDDE0"/>
            </a:solidFill>
            <a:prstDash val="dash"/>
            <a:headEnd type="none"/>
            <a:tailEnd type="none"/>
          </a:ln>
        </p:spPr>
      </p:sp>
      <p:sp>
        <p:nvSpPr>
          <p:cNvPr id="23" name="Shape 21"/>
          <p:cNvSpPr/>
          <p:nvPr/>
        </p:nvSpPr>
        <p:spPr>
          <a:xfrm>
            <a:off x="585216" y="5330952"/>
            <a:ext cx="5522976" cy="594360"/>
          </a:xfrm>
          <a:prstGeom prst="rect">
            <a:avLst/>
          </a:prstGeom>
          <a:solidFill>
            <a:srgbClr val="FFFFFF"/>
          </a:solidFill>
          <a:ln w="12700">
            <a:solidFill>
              <a:srgbClr val="DEDDE0"/>
            </a:solidFill>
            <a:prstDash val="solid"/>
          </a:ln>
        </p:spPr>
      </p:sp>
      <p:sp>
        <p:nvSpPr>
          <p:cNvPr id="24" name="Text 22"/>
          <p:cNvSpPr/>
          <p:nvPr/>
        </p:nvSpPr>
        <p:spPr>
          <a:xfrm>
            <a:off x="749808" y="5495544"/>
            <a:ext cx="5175504" cy="274320"/>
          </a:xfrm>
          <a:prstGeom prst="rect">
            <a:avLst/>
          </a:prstGeom>
          <a:noFill/>
          <a:ln/>
        </p:spPr>
        <p:txBody>
          <a:bodyPr wrap="square" lIns="0" tIns="0" rIns="0" bIns="0" rtlCol="0" anchor="ctr"/>
          <a:lstStyle/>
          <a:p>
            <a:pPr indent="0" marL="0">
              <a:buNone/>
            </a:pPr>
            <a:r>
              <a:rPr lang="en-US" sz="1600" b="1" dirty="0">
                <a:solidFill>
                  <a:srgbClr val="202027"/>
                </a:solidFill>
                <a:latin typeface="Noto Sans" pitchFamily="34" charset="0"/>
                <a:ea typeface="Noto Sans" pitchFamily="34" charset="-122"/>
                <a:cs typeface="Noto Sans" pitchFamily="34" charset="-120"/>
              </a:rPr>
              <a:t>Deploy A: separate appliance / cluster</a:t>
            </a:r>
            <a:endParaRPr lang="en-US" sz="1600" dirty="0"/>
          </a:p>
        </p:txBody>
      </p:sp>
      <p:sp>
        <p:nvSpPr>
          <p:cNvPr id="25" name="Shape 23"/>
          <p:cNvSpPr/>
          <p:nvPr/>
        </p:nvSpPr>
        <p:spPr>
          <a:xfrm>
            <a:off x="6327648" y="5330952"/>
            <a:ext cx="5230368" cy="594360"/>
          </a:xfrm>
          <a:prstGeom prst="rect">
            <a:avLst/>
          </a:prstGeom>
          <a:solidFill>
            <a:srgbClr val="FFFFFF"/>
          </a:solidFill>
          <a:ln w="12700">
            <a:solidFill>
              <a:srgbClr val="DEDDE0"/>
            </a:solidFill>
            <a:prstDash val="solid"/>
          </a:ln>
        </p:spPr>
      </p:sp>
      <p:sp>
        <p:nvSpPr>
          <p:cNvPr id="26" name="Text 24"/>
          <p:cNvSpPr/>
          <p:nvPr/>
        </p:nvSpPr>
        <p:spPr>
          <a:xfrm>
            <a:off x="6473952" y="5495544"/>
            <a:ext cx="4937760" cy="274320"/>
          </a:xfrm>
          <a:prstGeom prst="rect">
            <a:avLst/>
          </a:prstGeom>
          <a:noFill/>
          <a:ln/>
        </p:spPr>
        <p:txBody>
          <a:bodyPr wrap="square" lIns="0" tIns="0" rIns="0" bIns="0" rtlCol="0" anchor="ctr"/>
          <a:lstStyle/>
          <a:p>
            <a:pPr indent="0" marL="0">
              <a:buNone/>
            </a:pPr>
            <a:r>
              <a:rPr lang="en-US" sz="1500" b="1" dirty="0">
                <a:solidFill>
                  <a:srgbClr val="202027"/>
                </a:solidFill>
                <a:latin typeface="Noto Sans" pitchFamily="34" charset="0"/>
                <a:ea typeface="Noto Sans" pitchFamily="34" charset="-122"/>
                <a:cs typeface="Noto Sans" pitchFamily="34" charset="-120"/>
              </a:rPr>
              <a:t>Deploy B: dedicated nodes in existing K8s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OEM REFERENCE DESIGN</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Specify an ATMOS-first node. Do not pre-buy GPUs.</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OEM design study: one CPU host + eight E3.S modules. All ATMOS values remain unqualified targets.</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[S6] AMD EPYC 9355P. [I1] Internal ATMOS envelope. Chassis, routing and working-memory budgets are proposed.</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05</a:t>
            </a:r>
            <a:endParaRPr lang="en-US" sz="1200" dirty="0"/>
          </a:p>
        </p:txBody>
      </p:sp>
      <p:sp>
        <p:nvSpPr>
          <p:cNvPr id="10" name="Shape 8"/>
          <p:cNvSpPr/>
          <p:nvPr/>
        </p:nvSpPr>
        <p:spPr>
          <a:xfrm>
            <a:off x="457200" y="1901952"/>
            <a:ext cx="5596128" cy="4023360"/>
          </a:xfrm>
          <a:prstGeom prst="rect">
            <a:avLst/>
          </a:prstGeom>
          <a:solidFill>
            <a:srgbClr val="FFFFFF"/>
          </a:solidFill>
          <a:ln w="12700">
            <a:solidFill>
              <a:srgbClr val="DEDDE0"/>
            </a:solidFill>
            <a:prstDash val="solid"/>
          </a:ln>
        </p:spPr>
      </p:sp>
      <p:sp>
        <p:nvSpPr>
          <p:cNvPr id="11" name="Text 9"/>
          <p:cNvSpPr/>
          <p:nvPr/>
        </p:nvSpPr>
        <p:spPr>
          <a:xfrm>
            <a:off x="667512" y="2084832"/>
            <a:ext cx="5157216" cy="246888"/>
          </a:xfrm>
          <a:prstGeom prst="rect">
            <a:avLst/>
          </a:prstGeom>
          <a:noFill/>
          <a:ln/>
        </p:spPr>
        <p:txBody>
          <a:bodyPr wrap="square" lIns="0" tIns="0" rIns="0" bIns="0" rtlCol="0" anchor="ctr"/>
          <a:lstStyle/>
          <a:p>
            <a:pPr indent="0" marL="0">
              <a:buNone/>
            </a:pPr>
            <a:r>
              <a:rPr lang="en-US" sz="1200" b="1" dirty="0">
                <a:solidFill>
                  <a:srgbClr val="D7193F"/>
                </a:solidFill>
                <a:latin typeface="Noto Sans" pitchFamily="34" charset="0"/>
                <a:ea typeface="Noto Sans" pitchFamily="34" charset="-122"/>
                <a:cs typeface="Noto Sans" pitchFamily="34" charset="-120"/>
              </a:rPr>
              <a:t>HOST + SERVICE PLANE</a:t>
            </a:r>
            <a:endParaRPr lang="en-US" sz="1200" dirty="0"/>
          </a:p>
        </p:txBody>
      </p:sp>
      <p:sp>
        <p:nvSpPr>
          <p:cNvPr id="12" name="Text 10"/>
          <p:cNvSpPr/>
          <p:nvPr/>
        </p:nvSpPr>
        <p:spPr>
          <a:xfrm>
            <a:off x="667512" y="2560320"/>
            <a:ext cx="5175504" cy="329184"/>
          </a:xfrm>
          <a:prstGeom prst="rect">
            <a:avLst/>
          </a:prstGeom>
          <a:noFill/>
          <a:ln/>
        </p:spPr>
        <p:txBody>
          <a:bodyPr wrap="square" lIns="0" tIns="0" rIns="0" bIns="0" rtlCol="0" anchor="ctr"/>
          <a:lstStyle/>
          <a:p>
            <a:pPr indent="0" marL="0">
              <a:buNone/>
            </a:pPr>
            <a:r>
              <a:rPr lang="en-US" sz="2100" b="1" dirty="0">
                <a:solidFill>
                  <a:srgbClr val="202027"/>
                </a:solidFill>
                <a:latin typeface="Noto Sans" pitchFamily="34" charset="0"/>
                <a:ea typeface="Noto Sans" pitchFamily="34" charset="-122"/>
                <a:cs typeface="Noto Sans" pitchFamily="34" charset="-120"/>
              </a:rPr>
              <a:t>1 × EPYC 9355P reference CPU</a:t>
            </a:r>
            <a:endParaRPr lang="en-US" sz="2100" dirty="0"/>
          </a:p>
        </p:txBody>
      </p:sp>
      <p:sp>
        <p:nvSpPr>
          <p:cNvPr id="13" name="Text 11"/>
          <p:cNvSpPr/>
          <p:nvPr/>
        </p:nvSpPr>
        <p:spPr>
          <a:xfrm>
            <a:off x="667512" y="3017520"/>
            <a:ext cx="5120640" cy="292608"/>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32 cores • PCIe 5.0 ×128 • 12 DDR5 channels</a:t>
            </a:r>
            <a:endParaRPr lang="en-US" sz="1500" dirty="0"/>
          </a:p>
        </p:txBody>
      </p:sp>
      <p:sp>
        <p:nvSpPr>
          <p:cNvPr id="14" name="Text 12"/>
          <p:cNvSpPr/>
          <p:nvPr/>
        </p:nvSpPr>
        <p:spPr>
          <a:xfrm>
            <a:off x="667512" y="3593592"/>
            <a:ext cx="5102352" cy="1472184"/>
          </a:xfrm>
          <a:prstGeom prst="rect">
            <a:avLst/>
          </a:prstGeom>
          <a:noFill/>
          <a:ln/>
        </p:spPr>
        <p:txBody>
          <a:bodyPr wrap="square" lIns="0" tIns="0" rIns="0" bIns="0" rtlCol="0" anchor="ctr"/>
          <a:lstStyle/>
          <a:p>
            <a:pPr indent="0" marL="0">
              <a:buNone/>
            </a:pPr>
            <a:r>
              <a:rPr lang="en-US" sz="1700" dirty="0">
                <a:solidFill>
                  <a:srgbClr val="202027"/>
                </a:solidFill>
                <a:latin typeface="Noto Sans" pitchFamily="34" charset="0"/>
                <a:ea typeface="Noto Sans" pitchFamily="34" charset="-122"/>
                <a:cs typeface="Noto Sans" pitchFamily="34" charset="-120"/>
              </a:rPr>
              <a:t>384 GB host DDR5 (12 × 32 GB)</a:t>
            </a:r>
            <a:endParaRPr lang="en-US" sz="1700" dirty="0"/>
          </a:p>
          <a:p>
            <a:pPr indent="0" marL="0">
              <a:buNone/>
            </a:pPr>
            <a:r>
              <a:rPr lang="en-US" sz="1700" dirty="0">
                <a:solidFill>
                  <a:srgbClr val="202027"/>
                </a:solidFill>
                <a:latin typeface="Noto Sans" pitchFamily="34" charset="0"/>
                <a:ea typeface="Noto Sans" pitchFamily="34" charset="-122"/>
                <a:cs typeface="Noto Sans" pitchFamily="34" charset="-120"/>
              </a:rPr>
              <a:t>2 × 3.84 TB mirrored NVMe</a:t>
            </a:r>
            <a:endParaRPr lang="en-US" sz="1700" dirty="0"/>
          </a:p>
          <a:p>
            <a:pPr indent="0" marL="0">
              <a:buNone/>
            </a:pPr>
            <a:r>
              <a:rPr lang="en-US" sz="1700" dirty="0">
                <a:solidFill>
                  <a:srgbClr val="202027"/>
                </a:solidFill>
                <a:latin typeface="Noto Sans" pitchFamily="34" charset="0"/>
                <a:ea typeface="Noto Sans" pitchFamily="34" charset="-122"/>
                <a:cs typeface="Noto Sans" pitchFamily="34" charset="-120"/>
              </a:rPr>
              <a:t>Dual 100 GbE service / management path</a:t>
            </a:r>
            <a:endParaRPr lang="en-US" sz="1700" dirty="0"/>
          </a:p>
          <a:p>
            <a:pPr indent="0" marL="0">
              <a:buNone/>
            </a:pPr>
            <a:r>
              <a:rPr lang="en-US" sz="1700" dirty="0">
                <a:solidFill>
                  <a:srgbClr val="202027"/>
                </a:solidFill>
                <a:latin typeface="Noto Sans" pitchFamily="34" charset="0"/>
                <a:ea typeface="Noto Sans" pitchFamily="34" charset="-122"/>
                <a:cs typeface="Noto Sans" pitchFamily="34" charset="-120"/>
              </a:rPr>
              <a:t>OEM-sized chassis, BMC and redundant power</a:t>
            </a:r>
            <a:endParaRPr lang="en-US" sz="1700" dirty="0"/>
          </a:p>
        </p:txBody>
      </p:sp>
      <p:sp>
        <p:nvSpPr>
          <p:cNvPr id="15" name="Shape 13"/>
          <p:cNvSpPr/>
          <p:nvPr/>
        </p:nvSpPr>
        <p:spPr>
          <a:xfrm>
            <a:off x="667512" y="5385816"/>
            <a:ext cx="5056632" cy="274320"/>
          </a:xfrm>
          <a:prstGeom prst="rect">
            <a:avLst/>
          </a:prstGeom>
          <a:solidFill>
            <a:srgbClr val="FAE8ED"/>
          </a:solidFill>
          <a:ln w="12700">
            <a:solidFill>
              <a:srgbClr val="FAE8ED"/>
            </a:solidFill>
            <a:prstDash val="solid"/>
          </a:ln>
        </p:spPr>
      </p:sp>
      <p:sp>
        <p:nvSpPr>
          <p:cNvPr id="16" name="Text 14"/>
          <p:cNvSpPr/>
          <p:nvPr/>
        </p:nvSpPr>
        <p:spPr>
          <a:xfrm>
            <a:off x="758952" y="5436108"/>
            <a:ext cx="4873752" cy="182880"/>
          </a:xfrm>
          <a:prstGeom prst="rect">
            <a:avLst/>
          </a:prstGeom>
          <a:noFill/>
          <a:ln/>
        </p:spPr>
        <p:txBody>
          <a:bodyPr wrap="square" lIns="0" tIns="0" rIns="0" bIns="0" rtlCol="0" anchor="ctr"/>
          <a:lstStyle/>
          <a:p>
            <a:pPr indent="0" marL="0">
              <a:buNone/>
            </a:pPr>
            <a:r>
              <a:rPr lang="en-US" sz="1000" b="1" dirty="0">
                <a:solidFill>
                  <a:srgbClr val="A10F2C"/>
                </a:solidFill>
                <a:latin typeface="Noto Sans" pitchFamily="34" charset="0"/>
                <a:ea typeface="Noto Sans" pitchFamily="34" charset="-122"/>
                <a:cs typeface="Noto Sans" pitchFamily="34" charset="-120"/>
              </a:rPr>
              <a:t>Host DRAM is not automatically NPU KV memory</a:t>
            </a:r>
            <a:endParaRPr lang="en-US" sz="1000" dirty="0"/>
          </a:p>
        </p:txBody>
      </p:sp>
      <p:sp>
        <p:nvSpPr>
          <p:cNvPr id="17" name="Shape 15"/>
          <p:cNvSpPr/>
          <p:nvPr/>
        </p:nvSpPr>
        <p:spPr>
          <a:xfrm>
            <a:off x="6291072" y="1901952"/>
            <a:ext cx="5440680" cy="4023360"/>
          </a:xfrm>
          <a:prstGeom prst="rect">
            <a:avLst/>
          </a:prstGeom>
          <a:solidFill>
            <a:srgbClr val="FAE8ED"/>
          </a:solidFill>
          <a:ln w="12700">
            <a:solidFill>
              <a:srgbClr val="FAE8ED"/>
            </a:solidFill>
            <a:prstDash val="solid"/>
          </a:ln>
        </p:spPr>
      </p:sp>
      <p:sp>
        <p:nvSpPr>
          <p:cNvPr id="18" name="Text 16"/>
          <p:cNvSpPr/>
          <p:nvPr/>
        </p:nvSpPr>
        <p:spPr>
          <a:xfrm>
            <a:off x="6492240" y="2084832"/>
            <a:ext cx="5029200" cy="246888"/>
          </a:xfrm>
          <a:prstGeom prst="rect">
            <a:avLst/>
          </a:prstGeom>
          <a:noFill/>
          <a:ln/>
        </p:spPr>
        <p:txBody>
          <a:bodyPr wrap="square" lIns="0" tIns="0" rIns="0" bIns="0" rtlCol="0" anchor="ctr"/>
          <a:lstStyle/>
          <a:p>
            <a:pPr indent="0" marL="0">
              <a:buNone/>
            </a:pPr>
            <a:r>
              <a:rPr lang="en-US" sz="1200" b="1" dirty="0">
                <a:solidFill>
                  <a:srgbClr val="A10F2C"/>
                </a:solidFill>
                <a:latin typeface="Noto Sans" pitchFamily="34" charset="0"/>
                <a:ea typeface="Noto Sans" pitchFamily="34" charset="-122"/>
                <a:cs typeface="Noto Sans" pitchFamily="34" charset="-120"/>
              </a:rPr>
              <a:t>ATMOS EXECUTION PLANE</a:t>
            </a:r>
            <a:endParaRPr lang="en-US" sz="1200" dirty="0"/>
          </a:p>
        </p:txBody>
      </p:sp>
      <p:sp>
        <p:nvSpPr>
          <p:cNvPr id="19" name="Text 17"/>
          <p:cNvSpPr/>
          <p:nvPr/>
        </p:nvSpPr>
        <p:spPr>
          <a:xfrm>
            <a:off x="6492240" y="2560320"/>
            <a:ext cx="5029200" cy="329184"/>
          </a:xfrm>
          <a:prstGeom prst="rect">
            <a:avLst/>
          </a:prstGeom>
          <a:noFill/>
          <a:ln/>
        </p:spPr>
        <p:txBody>
          <a:bodyPr wrap="square" lIns="0" tIns="0" rIns="0" bIns="0" rtlCol="0" anchor="ctr"/>
          <a:lstStyle/>
          <a:p>
            <a:pPr indent="0" marL="0">
              <a:buNone/>
            </a:pPr>
            <a:r>
              <a:rPr lang="en-US" sz="2100" b="1" dirty="0">
                <a:solidFill>
                  <a:srgbClr val="202027"/>
                </a:solidFill>
                <a:latin typeface="Noto Sans" pitchFamily="34" charset="0"/>
                <a:ea typeface="Noto Sans" pitchFamily="34" charset="-122"/>
                <a:cs typeface="Noto Sans" pitchFamily="34" charset="-120"/>
              </a:rPr>
              <a:t>8 × E3.S NPU + HBF + LPDDR</a:t>
            </a:r>
            <a:endParaRPr lang="en-US" sz="2100" dirty="0"/>
          </a:p>
        </p:txBody>
      </p:sp>
      <p:sp>
        <p:nvSpPr>
          <p:cNvPr id="20" name="Shape 18"/>
          <p:cNvSpPr/>
          <p:nvPr/>
        </p:nvSpPr>
        <p:spPr>
          <a:xfrm>
            <a:off x="6519672" y="3090672"/>
            <a:ext cx="1069848" cy="438912"/>
          </a:xfrm>
          <a:prstGeom prst="rect">
            <a:avLst/>
          </a:prstGeom>
          <a:solidFill>
            <a:srgbClr val="D7193F"/>
          </a:solidFill>
          <a:ln w="12700">
            <a:solidFill>
              <a:srgbClr val="D7193F"/>
            </a:solidFill>
            <a:prstDash val="solid"/>
          </a:ln>
        </p:spPr>
      </p:sp>
      <p:sp>
        <p:nvSpPr>
          <p:cNvPr id="21" name="Text 19"/>
          <p:cNvSpPr/>
          <p:nvPr/>
        </p:nvSpPr>
        <p:spPr>
          <a:xfrm>
            <a:off x="6519672" y="3182112"/>
            <a:ext cx="1069848"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pitchFamily="34" charset="0"/>
                <a:ea typeface="Noto Sans" pitchFamily="34" charset="-122"/>
                <a:cs typeface="Noto Sans" pitchFamily="34" charset="-120"/>
              </a:rPr>
              <a:t>A0</a:t>
            </a:r>
            <a:endParaRPr lang="en-US" sz="1300" dirty="0"/>
          </a:p>
        </p:txBody>
      </p:sp>
      <p:sp>
        <p:nvSpPr>
          <p:cNvPr id="22" name="Shape 20"/>
          <p:cNvSpPr/>
          <p:nvPr/>
        </p:nvSpPr>
        <p:spPr>
          <a:xfrm>
            <a:off x="7744968" y="3090672"/>
            <a:ext cx="1069848" cy="438912"/>
          </a:xfrm>
          <a:prstGeom prst="rect">
            <a:avLst/>
          </a:prstGeom>
          <a:solidFill>
            <a:srgbClr val="D7193F"/>
          </a:solidFill>
          <a:ln w="12700">
            <a:solidFill>
              <a:srgbClr val="D7193F"/>
            </a:solidFill>
            <a:prstDash val="solid"/>
          </a:ln>
        </p:spPr>
      </p:sp>
      <p:sp>
        <p:nvSpPr>
          <p:cNvPr id="23" name="Text 21"/>
          <p:cNvSpPr/>
          <p:nvPr/>
        </p:nvSpPr>
        <p:spPr>
          <a:xfrm>
            <a:off x="7744968" y="3182112"/>
            <a:ext cx="1069848"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pitchFamily="34" charset="0"/>
                <a:ea typeface="Noto Sans" pitchFamily="34" charset="-122"/>
                <a:cs typeface="Noto Sans" pitchFamily="34" charset="-120"/>
              </a:rPr>
              <a:t>A1</a:t>
            </a:r>
            <a:endParaRPr lang="en-US" sz="1300" dirty="0"/>
          </a:p>
        </p:txBody>
      </p:sp>
      <p:sp>
        <p:nvSpPr>
          <p:cNvPr id="24" name="Shape 22"/>
          <p:cNvSpPr/>
          <p:nvPr/>
        </p:nvSpPr>
        <p:spPr>
          <a:xfrm>
            <a:off x="8970264" y="3090672"/>
            <a:ext cx="1069848" cy="438912"/>
          </a:xfrm>
          <a:prstGeom prst="rect">
            <a:avLst/>
          </a:prstGeom>
          <a:solidFill>
            <a:srgbClr val="D7193F"/>
          </a:solidFill>
          <a:ln w="12700">
            <a:solidFill>
              <a:srgbClr val="D7193F"/>
            </a:solidFill>
            <a:prstDash val="solid"/>
          </a:ln>
        </p:spPr>
      </p:sp>
      <p:sp>
        <p:nvSpPr>
          <p:cNvPr id="25" name="Text 23"/>
          <p:cNvSpPr/>
          <p:nvPr/>
        </p:nvSpPr>
        <p:spPr>
          <a:xfrm>
            <a:off x="8970264" y="3182112"/>
            <a:ext cx="1069848"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pitchFamily="34" charset="0"/>
                <a:ea typeface="Noto Sans" pitchFamily="34" charset="-122"/>
                <a:cs typeface="Noto Sans" pitchFamily="34" charset="-120"/>
              </a:rPr>
              <a:t>A2</a:t>
            </a:r>
            <a:endParaRPr lang="en-US" sz="1300" dirty="0"/>
          </a:p>
        </p:txBody>
      </p:sp>
      <p:sp>
        <p:nvSpPr>
          <p:cNvPr id="26" name="Shape 24"/>
          <p:cNvSpPr/>
          <p:nvPr/>
        </p:nvSpPr>
        <p:spPr>
          <a:xfrm>
            <a:off x="10195560" y="3090672"/>
            <a:ext cx="1069848" cy="438912"/>
          </a:xfrm>
          <a:prstGeom prst="rect">
            <a:avLst/>
          </a:prstGeom>
          <a:solidFill>
            <a:srgbClr val="D7193F"/>
          </a:solidFill>
          <a:ln w="12700">
            <a:solidFill>
              <a:srgbClr val="D7193F"/>
            </a:solidFill>
            <a:prstDash val="solid"/>
          </a:ln>
        </p:spPr>
      </p:sp>
      <p:sp>
        <p:nvSpPr>
          <p:cNvPr id="27" name="Text 25"/>
          <p:cNvSpPr/>
          <p:nvPr/>
        </p:nvSpPr>
        <p:spPr>
          <a:xfrm>
            <a:off x="10195560" y="3182112"/>
            <a:ext cx="1069848"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pitchFamily="34" charset="0"/>
                <a:ea typeface="Noto Sans" pitchFamily="34" charset="-122"/>
                <a:cs typeface="Noto Sans" pitchFamily="34" charset="-120"/>
              </a:rPr>
              <a:t>A3</a:t>
            </a:r>
            <a:endParaRPr lang="en-US" sz="1300" dirty="0"/>
          </a:p>
        </p:txBody>
      </p:sp>
      <p:sp>
        <p:nvSpPr>
          <p:cNvPr id="28" name="Shape 26"/>
          <p:cNvSpPr/>
          <p:nvPr/>
        </p:nvSpPr>
        <p:spPr>
          <a:xfrm>
            <a:off x="6519672" y="3685032"/>
            <a:ext cx="1069848" cy="438912"/>
          </a:xfrm>
          <a:prstGeom prst="rect">
            <a:avLst/>
          </a:prstGeom>
          <a:solidFill>
            <a:srgbClr val="D7193F"/>
          </a:solidFill>
          <a:ln w="12700">
            <a:solidFill>
              <a:srgbClr val="D7193F"/>
            </a:solidFill>
            <a:prstDash val="solid"/>
          </a:ln>
        </p:spPr>
      </p:sp>
      <p:sp>
        <p:nvSpPr>
          <p:cNvPr id="29" name="Text 27"/>
          <p:cNvSpPr/>
          <p:nvPr/>
        </p:nvSpPr>
        <p:spPr>
          <a:xfrm>
            <a:off x="6519672" y="3776472"/>
            <a:ext cx="1069848"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pitchFamily="34" charset="0"/>
                <a:ea typeface="Noto Sans" pitchFamily="34" charset="-122"/>
                <a:cs typeface="Noto Sans" pitchFamily="34" charset="-120"/>
              </a:rPr>
              <a:t>A4</a:t>
            </a:r>
            <a:endParaRPr lang="en-US" sz="1300" dirty="0"/>
          </a:p>
        </p:txBody>
      </p:sp>
      <p:sp>
        <p:nvSpPr>
          <p:cNvPr id="30" name="Shape 28"/>
          <p:cNvSpPr/>
          <p:nvPr/>
        </p:nvSpPr>
        <p:spPr>
          <a:xfrm>
            <a:off x="7744968" y="3685032"/>
            <a:ext cx="1069848" cy="438912"/>
          </a:xfrm>
          <a:prstGeom prst="rect">
            <a:avLst/>
          </a:prstGeom>
          <a:solidFill>
            <a:srgbClr val="D7193F"/>
          </a:solidFill>
          <a:ln w="12700">
            <a:solidFill>
              <a:srgbClr val="D7193F"/>
            </a:solidFill>
            <a:prstDash val="solid"/>
          </a:ln>
        </p:spPr>
      </p:sp>
      <p:sp>
        <p:nvSpPr>
          <p:cNvPr id="31" name="Text 29"/>
          <p:cNvSpPr/>
          <p:nvPr/>
        </p:nvSpPr>
        <p:spPr>
          <a:xfrm>
            <a:off x="7744968" y="3776472"/>
            <a:ext cx="1069848"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pitchFamily="34" charset="0"/>
                <a:ea typeface="Noto Sans" pitchFamily="34" charset="-122"/>
                <a:cs typeface="Noto Sans" pitchFamily="34" charset="-120"/>
              </a:rPr>
              <a:t>A5</a:t>
            </a:r>
            <a:endParaRPr lang="en-US" sz="1300" dirty="0"/>
          </a:p>
        </p:txBody>
      </p:sp>
      <p:sp>
        <p:nvSpPr>
          <p:cNvPr id="32" name="Shape 30"/>
          <p:cNvSpPr/>
          <p:nvPr/>
        </p:nvSpPr>
        <p:spPr>
          <a:xfrm>
            <a:off x="8970264" y="3685032"/>
            <a:ext cx="1069848" cy="438912"/>
          </a:xfrm>
          <a:prstGeom prst="rect">
            <a:avLst/>
          </a:prstGeom>
          <a:solidFill>
            <a:srgbClr val="D7193F"/>
          </a:solidFill>
          <a:ln w="12700">
            <a:solidFill>
              <a:srgbClr val="D7193F"/>
            </a:solidFill>
            <a:prstDash val="solid"/>
          </a:ln>
        </p:spPr>
      </p:sp>
      <p:sp>
        <p:nvSpPr>
          <p:cNvPr id="33" name="Text 31"/>
          <p:cNvSpPr/>
          <p:nvPr/>
        </p:nvSpPr>
        <p:spPr>
          <a:xfrm>
            <a:off x="8970264" y="3776472"/>
            <a:ext cx="1069848"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pitchFamily="34" charset="0"/>
                <a:ea typeface="Noto Sans" pitchFamily="34" charset="-122"/>
                <a:cs typeface="Noto Sans" pitchFamily="34" charset="-120"/>
              </a:rPr>
              <a:t>A6</a:t>
            </a:r>
            <a:endParaRPr lang="en-US" sz="1300" dirty="0"/>
          </a:p>
        </p:txBody>
      </p:sp>
      <p:sp>
        <p:nvSpPr>
          <p:cNvPr id="34" name="Shape 32"/>
          <p:cNvSpPr/>
          <p:nvPr/>
        </p:nvSpPr>
        <p:spPr>
          <a:xfrm>
            <a:off x="10195560" y="3685032"/>
            <a:ext cx="1069848" cy="438912"/>
          </a:xfrm>
          <a:prstGeom prst="rect">
            <a:avLst/>
          </a:prstGeom>
          <a:solidFill>
            <a:srgbClr val="D7193F"/>
          </a:solidFill>
          <a:ln w="12700">
            <a:solidFill>
              <a:srgbClr val="D7193F"/>
            </a:solidFill>
            <a:prstDash val="solid"/>
          </a:ln>
        </p:spPr>
      </p:sp>
      <p:sp>
        <p:nvSpPr>
          <p:cNvPr id="35" name="Text 33"/>
          <p:cNvSpPr/>
          <p:nvPr/>
        </p:nvSpPr>
        <p:spPr>
          <a:xfrm>
            <a:off x="10195560" y="3776472"/>
            <a:ext cx="1069848"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pitchFamily="34" charset="0"/>
                <a:ea typeface="Noto Sans" pitchFamily="34" charset="-122"/>
                <a:cs typeface="Noto Sans" pitchFamily="34" charset="-120"/>
              </a:rPr>
              <a:t>A7</a:t>
            </a:r>
            <a:endParaRPr lang="en-US" sz="1300" dirty="0"/>
          </a:p>
        </p:txBody>
      </p:sp>
      <p:sp>
        <p:nvSpPr>
          <p:cNvPr id="36" name="Text 34"/>
          <p:cNvSpPr/>
          <p:nvPr/>
        </p:nvSpPr>
        <p:spPr>
          <a:xfrm>
            <a:off x="6492240" y="4507992"/>
            <a:ext cx="5010912" cy="932688"/>
          </a:xfrm>
          <a:prstGeom prst="rect">
            <a:avLst/>
          </a:prstGeom>
          <a:noFill/>
          <a:ln/>
        </p:spPr>
        <p:txBody>
          <a:bodyPr wrap="square" lIns="0" tIns="0" rIns="0" bIns="0" rtlCol="0" anchor="ctr"/>
          <a:lstStyle/>
          <a:p>
            <a:pPr indent="0" marL="0">
              <a:buNone/>
            </a:pPr>
            <a:r>
              <a:rPr lang="en-US" sz="1500" dirty="0">
                <a:solidFill>
                  <a:srgbClr val="202027"/>
                </a:solidFill>
                <a:latin typeface="Noto Sans" pitchFamily="34" charset="0"/>
                <a:ea typeface="Noto Sans" pitchFamily="34" charset="-122"/>
                <a:cs typeface="Noto Sans" pitchFamily="34" charset="-120"/>
              </a:rPr>
              <a:t>1,024 GB HBF nominal; 800 GB study budget</a:t>
            </a:r>
            <a:endParaRPr lang="en-US" sz="1500" dirty="0"/>
          </a:p>
          <a:p>
            <a:pPr indent="0" marL="0">
              <a:buNone/>
            </a:pPr>
            <a:r>
              <a:rPr lang="en-US" sz="1500" dirty="0">
                <a:solidFill>
                  <a:srgbClr val="202027"/>
                </a:solidFill>
                <a:latin typeface="Noto Sans" pitchFamily="34" charset="0"/>
                <a:ea typeface="Noto Sans" pitchFamily="34" charset="-122"/>
                <a:cs typeface="Noto Sans" pitchFamily="34" charset="-120"/>
              </a:rPr>
              <a:t>128 GB LPDDR at 16 GB/module target</a:t>
            </a:r>
            <a:endParaRPr lang="en-US" sz="1500" dirty="0"/>
          </a:p>
          <a:p>
            <a:pPr indent="0" marL="0">
              <a:buNone/>
            </a:pPr>
            <a:r>
              <a:rPr lang="en-US" sz="1500" dirty="0">
                <a:solidFill>
                  <a:srgbClr val="202027"/>
                </a:solidFill>
                <a:latin typeface="Noto Sans" pitchFamily="34" charset="0"/>
                <a:ea typeface="Noto Sans" pitchFamily="34" charset="-122"/>
                <a:cs typeface="Noto Sans" pitchFamily="34" charset="-120"/>
              </a:rPr>
              <a:t>2 × (Gen5 x16 → 4 × Gen5 x4) domains</a:t>
            </a:r>
            <a:endParaRPr lang="en-US" sz="1500" dirty="0"/>
          </a:p>
        </p:txBody>
      </p:sp>
      <p:sp>
        <p:nvSpPr>
          <p:cNvPr id="37" name="Text 35"/>
          <p:cNvSpPr/>
          <p:nvPr/>
        </p:nvSpPr>
        <p:spPr>
          <a:xfrm>
            <a:off x="6492240" y="5513832"/>
            <a:ext cx="5010912" cy="329184"/>
          </a:xfrm>
          <a:prstGeom prst="rect">
            <a:avLst/>
          </a:prstGeom>
          <a:noFill/>
          <a:ln/>
        </p:spPr>
        <p:txBody>
          <a:bodyPr wrap="square" lIns="0" tIns="0" rIns="0" bIns="0" rtlCol="0" anchor="ctr"/>
          <a:lstStyle/>
          <a:p>
            <a:pPr indent="0" marL="0">
              <a:buNone/>
            </a:pPr>
            <a:r>
              <a:rPr lang="en-US" sz="1050" b="1" dirty="0">
                <a:solidFill>
                  <a:srgbClr val="A10F2C"/>
                </a:solidFill>
                <a:latin typeface="Noto Sans" pitchFamily="34" charset="0"/>
                <a:ea typeface="Noto Sans" pitchFamily="34" charset="-122"/>
                <a:cs typeface="Noto Sans" pitchFamily="34" charset="-120"/>
              </a:rPr>
              <a:t>Native inter-device collectives must be qualified.</a:t>
            </a:r>
            <a:endParaRPr lang="en-US" sz="1050" dirty="0"/>
          </a:p>
          <a:p>
            <a:pPr indent="0" marL="0">
              <a:buNone/>
            </a:pPr>
            <a:r>
              <a:rPr lang="en-US" sz="1050" b="1" dirty="0">
                <a:solidFill>
                  <a:srgbClr val="A10F2C"/>
                </a:solidFill>
                <a:latin typeface="Noto Sans" pitchFamily="34" charset="0"/>
                <a:ea typeface="Noto Sans" pitchFamily="34" charset="-122"/>
                <a:cs typeface="Noto Sans" pitchFamily="34" charset="-120"/>
              </a:rPr>
              <a:t>Two branches ≠ automatic HA or fabric bandwidth.</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MODEL ENVELOPE</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Model capacity is knowable. Service throughput is not yet known.</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Full-model raw weights, not only routed experts. FP8 = 1 byte/parameter; 16-bit = 2 bytes/parameter.</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[S2–S5] Publisher model cards/configs. Calculated raw bytes exclude scales, packing, replicas and runtime memory.</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06</a:t>
            </a:r>
            <a:endParaRPr lang="en-US" sz="1200" dirty="0"/>
          </a:p>
        </p:txBody>
      </p:sp>
      <p:sp>
        <p:nvSpPr>
          <p:cNvPr id="10" name="Shape 8"/>
          <p:cNvSpPr/>
          <p:nvPr/>
        </p:nvSpPr>
        <p:spPr>
          <a:xfrm>
            <a:off x="457200" y="1947672"/>
            <a:ext cx="2788920" cy="420624"/>
          </a:xfrm>
          <a:prstGeom prst="rect">
            <a:avLst/>
          </a:prstGeom>
          <a:solidFill>
            <a:srgbClr val="22212A"/>
          </a:solidFill>
          <a:ln w="12700">
            <a:solidFill>
              <a:srgbClr val="22212A"/>
            </a:solidFill>
            <a:prstDash val="solid"/>
          </a:ln>
        </p:spPr>
      </p:sp>
      <p:sp>
        <p:nvSpPr>
          <p:cNvPr id="11" name="Text 9"/>
          <p:cNvSpPr/>
          <p:nvPr/>
        </p:nvSpPr>
        <p:spPr>
          <a:xfrm>
            <a:off x="548640" y="2039112"/>
            <a:ext cx="2606040"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Model / role</a:t>
            </a:r>
            <a:endParaRPr lang="en-US" sz="1200" dirty="0"/>
          </a:p>
        </p:txBody>
      </p:sp>
      <p:sp>
        <p:nvSpPr>
          <p:cNvPr id="12" name="Shape 10"/>
          <p:cNvSpPr/>
          <p:nvPr/>
        </p:nvSpPr>
        <p:spPr>
          <a:xfrm>
            <a:off x="3246120" y="1947672"/>
            <a:ext cx="1600200" cy="420624"/>
          </a:xfrm>
          <a:prstGeom prst="rect">
            <a:avLst/>
          </a:prstGeom>
          <a:solidFill>
            <a:srgbClr val="22212A"/>
          </a:solidFill>
          <a:ln w="12700">
            <a:solidFill>
              <a:srgbClr val="22212A"/>
            </a:solidFill>
            <a:prstDash val="solid"/>
          </a:ln>
        </p:spPr>
      </p:sp>
      <p:sp>
        <p:nvSpPr>
          <p:cNvPr id="13" name="Text 11"/>
          <p:cNvSpPr/>
          <p:nvPr/>
        </p:nvSpPr>
        <p:spPr>
          <a:xfrm>
            <a:off x="3337560" y="2039112"/>
            <a:ext cx="1417320"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Total / active</a:t>
            </a:r>
            <a:endParaRPr lang="en-US" sz="1200" dirty="0"/>
          </a:p>
        </p:txBody>
      </p:sp>
      <p:sp>
        <p:nvSpPr>
          <p:cNvPr id="14" name="Shape 12"/>
          <p:cNvSpPr/>
          <p:nvPr/>
        </p:nvSpPr>
        <p:spPr>
          <a:xfrm>
            <a:off x="4846320" y="1947672"/>
            <a:ext cx="2240280" cy="420624"/>
          </a:xfrm>
          <a:prstGeom prst="rect">
            <a:avLst/>
          </a:prstGeom>
          <a:solidFill>
            <a:srgbClr val="22212A"/>
          </a:solidFill>
          <a:ln w="12700">
            <a:solidFill>
              <a:srgbClr val="22212A"/>
            </a:solidFill>
            <a:prstDash val="solid"/>
          </a:ln>
        </p:spPr>
      </p:sp>
      <p:sp>
        <p:nvSpPr>
          <p:cNvPr id="15" name="Text 13"/>
          <p:cNvSpPr/>
          <p:nvPr/>
        </p:nvSpPr>
        <p:spPr>
          <a:xfrm>
            <a:off x="4937760" y="2039112"/>
            <a:ext cx="2057400"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Routed experts</a:t>
            </a:r>
            <a:endParaRPr lang="en-US" sz="1200" dirty="0"/>
          </a:p>
        </p:txBody>
      </p:sp>
      <p:sp>
        <p:nvSpPr>
          <p:cNvPr id="16" name="Shape 14"/>
          <p:cNvSpPr/>
          <p:nvPr/>
        </p:nvSpPr>
        <p:spPr>
          <a:xfrm>
            <a:off x="7086600" y="1947672"/>
            <a:ext cx="2066544" cy="420624"/>
          </a:xfrm>
          <a:prstGeom prst="rect">
            <a:avLst/>
          </a:prstGeom>
          <a:solidFill>
            <a:srgbClr val="22212A"/>
          </a:solidFill>
          <a:ln w="12700">
            <a:solidFill>
              <a:srgbClr val="22212A"/>
            </a:solidFill>
            <a:prstDash val="solid"/>
          </a:ln>
        </p:spPr>
      </p:sp>
      <p:sp>
        <p:nvSpPr>
          <p:cNvPr id="17" name="Text 15"/>
          <p:cNvSpPr/>
          <p:nvPr/>
        </p:nvSpPr>
        <p:spPr>
          <a:xfrm>
            <a:off x="7178040" y="2039112"/>
            <a:ext cx="1883664"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Raw FP8 / 16-bit</a:t>
            </a:r>
            <a:endParaRPr lang="en-US" sz="1200" dirty="0"/>
          </a:p>
        </p:txBody>
      </p:sp>
      <p:sp>
        <p:nvSpPr>
          <p:cNvPr id="18" name="Shape 16"/>
          <p:cNvSpPr/>
          <p:nvPr/>
        </p:nvSpPr>
        <p:spPr>
          <a:xfrm>
            <a:off x="9153144" y="1947672"/>
            <a:ext cx="2578608" cy="420624"/>
          </a:xfrm>
          <a:prstGeom prst="rect">
            <a:avLst/>
          </a:prstGeom>
          <a:solidFill>
            <a:srgbClr val="22212A"/>
          </a:solidFill>
          <a:ln w="12700">
            <a:solidFill>
              <a:srgbClr val="22212A"/>
            </a:solidFill>
            <a:prstDash val="solid"/>
          </a:ln>
        </p:spPr>
      </p:sp>
      <p:sp>
        <p:nvSpPr>
          <p:cNvPr id="19" name="Text 17"/>
          <p:cNvSpPr/>
          <p:nvPr/>
        </p:nvSpPr>
        <p:spPr>
          <a:xfrm>
            <a:off x="9244584" y="2039112"/>
            <a:ext cx="2395728"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100-GB HBF minimum*</a:t>
            </a:r>
            <a:endParaRPr lang="en-US" sz="1200" dirty="0"/>
          </a:p>
        </p:txBody>
      </p:sp>
      <p:sp>
        <p:nvSpPr>
          <p:cNvPr id="20" name="Shape 18"/>
          <p:cNvSpPr/>
          <p:nvPr/>
        </p:nvSpPr>
        <p:spPr>
          <a:xfrm>
            <a:off x="457200" y="2368296"/>
            <a:ext cx="2788920" cy="786384"/>
          </a:xfrm>
          <a:prstGeom prst="rect">
            <a:avLst/>
          </a:prstGeom>
          <a:solidFill>
            <a:srgbClr val="F2F0F1"/>
          </a:solidFill>
          <a:ln w="12700">
            <a:solidFill>
              <a:srgbClr val="F2F0F1"/>
            </a:solidFill>
            <a:prstDash val="solid"/>
          </a:ln>
        </p:spPr>
      </p:sp>
      <p:sp>
        <p:nvSpPr>
          <p:cNvPr id="21" name="Text 19"/>
          <p:cNvSpPr/>
          <p:nvPr/>
        </p:nvSpPr>
        <p:spPr>
          <a:xfrm>
            <a:off x="548640" y="2468880"/>
            <a:ext cx="2606040" cy="630936"/>
          </a:xfrm>
          <a:prstGeom prst="rect">
            <a:avLst/>
          </a:prstGeom>
          <a:noFill/>
          <a:ln/>
        </p:spPr>
        <p:txBody>
          <a:bodyPr wrap="square" lIns="0" tIns="0" rIns="0" bIns="0" rtlCol="0" anchor="ctr"/>
          <a:lstStyle/>
          <a:p>
            <a:pPr algn="l" indent="0" marL="0">
              <a:buNone/>
            </a:pPr>
            <a:r>
              <a:rPr lang="en-US" sz="1400" b="1" dirty="0">
                <a:solidFill>
                  <a:srgbClr val="202027"/>
                </a:solidFill>
                <a:latin typeface="Noto Sans" pitchFamily="34" charset="0"/>
                <a:ea typeface="Noto Sans" pitchFamily="34" charset="-122"/>
                <a:cs typeface="Noto Sans" pitchFamily="34" charset="-120"/>
              </a:rPr>
              <a:t>Qwen3-30B-A3B</a:t>
            </a:r>
            <a:endParaRPr lang="en-US" sz="1400" dirty="0"/>
          </a:p>
          <a:p>
            <a:pPr algn="l" indent="0" marL="0">
              <a:buNone/>
            </a:pPr>
            <a:r>
              <a:rPr lang="en-US" sz="1400" b="1" dirty="0">
                <a:solidFill>
                  <a:srgbClr val="202027"/>
                </a:solidFill>
                <a:latin typeface="Noto Sans" pitchFamily="34" charset="0"/>
                <a:ea typeface="Noto Sans" pitchFamily="34" charset="-122"/>
                <a:cs typeface="Noto Sans" pitchFamily="34" charset="-120"/>
              </a:rPr>
              <a:t>Bring-up / smaller service</a:t>
            </a:r>
            <a:endParaRPr lang="en-US" sz="1400" dirty="0"/>
          </a:p>
        </p:txBody>
      </p:sp>
      <p:sp>
        <p:nvSpPr>
          <p:cNvPr id="22" name="Shape 20"/>
          <p:cNvSpPr/>
          <p:nvPr/>
        </p:nvSpPr>
        <p:spPr>
          <a:xfrm>
            <a:off x="3246120" y="2368296"/>
            <a:ext cx="1600200" cy="786384"/>
          </a:xfrm>
          <a:prstGeom prst="rect">
            <a:avLst/>
          </a:prstGeom>
          <a:solidFill>
            <a:srgbClr val="F2F0F1"/>
          </a:solidFill>
          <a:ln w="12700">
            <a:solidFill>
              <a:srgbClr val="F2F0F1"/>
            </a:solidFill>
            <a:prstDash val="solid"/>
          </a:ln>
        </p:spPr>
      </p:sp>
      <p:sp>
        <p:nvSpPr>
          <p:cNvPr id="23" name="Text 21"/>
          <p:cNvSpPr/>
          <p:nvPr/>
        </p:nvSpPr>
        <p:spPr>
          <a:xfrm>
            <a:off x="3337560" y="2468880"/>
            <a:ext cx="1417320" cy="630936"/>
          </a:xfrm>
          <a:prstGeom prst="rect">
            <a:avLst/>
          </a:prstGeom>
          <a:noFill/>
          <a:ln/>
        </p:spPr>
        <p:txBody>
          <a:bodyPr wrap="square" lIns="0" tIns="0" rIns="0" bIns="0" rtlCol="0" anchor="ctr"/>
          <a:lstStyle/>
          <a:p>
            <a:pPr algn="l" indent="0" marL="0">
              <a:buNone/>
            </a:pPr>
            <a:r>
              <a:rPr lang="en-US" sz="1400" dirty="0">
                <a:solidFill>
                  <a:srgbClr val="5E626A"/>
                </a:solidFill>
                <a:latin typeface="Noto Sans" pitchFamily="34" charset="0"/>
                <a:ea typeface="Noto Sans" pitchFamily="34" charset="-122"/>
                <a:cs typeface="Noto Sans" pitchFamily="34" charset="-120"/>
              </a:rPr>
              <a:t>30.5B / 3.3B</a:t>
            </a:r>
            <a:endParaRPr lang="en-US" sz="1400" dirty="0"/>
          </a:p>
        </p:txBody>
      </p:sp>
      <p:sp>
        <p:nvSpPr>
          <p:cNvPr id="24" name="Shape 22"/>
          <p:cNvSpPr/>
          <p:nvPr/>
        </p:nvSpPr>
        <p:spPr>
          <a:xfrm>
            <a:off x="4846320" y="2368296"/>
            <a:ext cx="2240280" cy="786384"/>
          </a:xfrm>
          <a:prstGeom prst="rect">
            <a:avLst/>
          </a:prstGeom>
          <a:solidFill>
            <a:srgbClr val="F2F0F1"/>
          </a:solidFill>
          <a:ln w="12700">
            <a:solidFill>
              <a:srgbClr val="F2F0F1"/>
            </a:solidFill>
            <a:prstDash val="solid"/>
          </a:ln>
        </p:spPr>
      </p:sp>
      <p:sp>
        <p:nvSpPr>
          <p:cNvPr id="25" name="Text 23"/>
          <p:cNvSpPr/>
          <p:nvPr/>
        </p:nvSpPr>
        <p:spPr>
          <a:xfrm>
            <a:off x="4937760" y="2468880"/>
            <a:ext cx="2057400" cy="630936"/>
          </a:xfrm>
          <a:prstGeom prst="rect">
            <a:avLst/>
          </a:prstGeom>
          <a:noFill/>
          <a:ln/>
        </p:spPr>
        <p:txBody>
          <a:bodyPr wrap="square" lIns="0" tIns="0" rIns="0" bIns="0" rtlCol="0" anchor="ctr"/>
          <a:lstStyle/>
          <a:p>
            <a:pPr algn="l" indent="0" marL="0">
              <a:buNone/>
            </a:pPr>
            <a:r>
              <a:rPr lang="en-US" sz="1400" dirty="0">
                <a:solidFill>
                  <a:srgbClr val="5E626A"/>
                </a:solidFill>
                <a:latin typeface="Noto Sans" pitchFamily="34" charset="0"/>
                <a:ea typeface="Noto Sans" pitchFamily="34" charset="-122"/>
                <a:cs typeface="Noto Sans" pitchFamily="34" charset="-120"/>
              </a:rPr>
              <a:t>128; top-8</a:t>
            </a:r>
            <a:endParaRPr lang="en-US" sz="1400" dirty="0"/>
          </a:p>
          <a:p>
            <a:pPr algn="l" indent="0" marL="0">
              <a:buNone/>
            </a:pPr>
            <a:r>
              <a:rPr lang="en-US" sz="1400" dirty="0">
                <a:solidFill>
                  <a:srgbClr val="5E626A"/>
                </a:solidFill>
                <a:latin typeface="Noto Sans" pitchFamily="34" charset="0"/>
                <a:ea typeface="Noto Sans" pitchFamily="34" charset="-122"/>
                <a:cs typeface="Noto Sans" pitchFamily="34" charset="-120"/>
              </a:rPr>
              <a:t>48 layers</a:t>
            </a:r>
            <a:endParaRPr lang="en-US" sz="1400" dirty="0"/>
          </a:p>
        </p:txBody>
      </p:sp>
      <p:sp>
        <p:nvSpPr>
          <p:cNvPr id="26" name="Shape 24"/>
          <p:cNvSpPr/>
          <p:nvPr/>
        </p:nvSpPr>
        <p:spPr>
          <a:xfrm>
            <a:off x="7086600" y="2368296"/>
            <a:ext cx="2066544" cy="786384"/>
          </a:xfrm>
          <a:prstGeom prst="rect">
            <a:avLst/>
          </a:prstGeom>
          <a:solidFill>
            <a:srgbClr val="F2F0F1"/>
          </a:solidFill>
          <a:ln w="12700">
            <a:solidFill>
              <a:srgbClr val="F2F0F1"/>
            </a:solidFill>
            <a:prstDash val="solid"/>
          </a:ln>
        </p:spPr>
      </p:sp>
      <p:sp>
        <p:nvSpPr>
          <p:cNvPr id="27" name="Text 25"/>
          <p:cNvSpPr/>
          <p:nvPr/>
        </p:nvSpPr>
        <p:spPr>
          <a:xfrm>
            <a:off x="7178040" y="2468880"/>
            <a:ext cx="1883664" cy="630936"/>
          </a:xfrm>
          <a:prstGeom prst="rect">
            <a:avLst/>
          </a:prstGeom>
          <a:noFill/>
          <a:ln/>
        </p:spPr>
        <p:txBody>
          <a:bodyPr wrap="square" lIns="0" tIns="0" rIns="0" bIns="0" rtlCol="0" anchor="ctr"/>
          <a:lstStyle/>
          <a:p>
            <a:pPr algn="l" indent="0" marL="0">
              <a:buNone/>
            </a:pPr>
            <a:r>
              <a:rPr lang="en-US" sz="1400" dirty="0">
                <a:solidFill>
                  <a:srgbClr val="5E626A"/>
                </a:solidFill>
                <a:latin typeface="Noto Sans" pitchFamily="34" charset="0"/>
                <a:ea typeface="Noto Sans" pitchFamily="34" charset="-122"/>
                <a:cs typeface="Noto Sans" pitchFamily="34" charset="-120"/>
              </a:rPr>
              <a:t>30.5 / 61 GB</a:t>
            </a:r>
            <a:endParaRPr lang="en-US" sz="1400" dirty="0"/>
          </a:p>
        </p:txBody>
      </p:sp>
      <p:sp>
        <p:nvSpPr>
          <p:cNvPr id="28" name="Shape 26"/>
          <p:cNvSpPr/>
          <p:nvPr/>
        </p:nvSpPr>
        <p:spPr>
          <a:xfrm>
            <a:off x="9153144" y="2368296"/>
            <a:ext cx="2578608" cy="786384"/>
          </a:xfrm>
          <a:prstGeom prst="rect">
            <a:avLst/>
          </a:prstGeom>
          <a:solidFill>
            <a:srgbClr val="F2F0F1"/>
          </a:solidFill>
          <a:ln w="12700">
            <a:solidFill>
              <a:srgbClr val="F2F0F1"/>
            </a:solidFill>
            <a:prstDash val="solid"/>
          </a:ln>
        </p:spPr>
      </p:sp>
      <p:sp>
        <p:nvSpPr>
          <p:cNvPr id="29" name="Text 27"/>
          <p:cNvSpPr/>
          <p:nvPr/>
        </p:nvSpPr>
        <p:spPr>
          <a:xfrm>
            <a:off x="9244584" y="2468880"/>
            <a:ext cx="2395728" cy="630936"/>
          </a:xfrm>
          <a:prstGeom prst="rect">
            <a:avLst/>
          </a:prstGeom>
          <a:noFill/>
          <a:ln/>
        </p:spPr>
        <p:txBody>
          <a:bodyPr wrap="square" lIns="0" tIns="0" rIns="0" bIns="0" rtlCol="0" anchor="ctr"/>
          <a:lstStyle/>
          <a:p>
            <a:pPr algn="l" indent="0" marL="0">
              <a:buNone/>
            </a:pPr>
            <a:r>
              <a:rPr lang="en-US" sz="1400" dirty="0">
                <a:solidFill>
                  <a:srgbClr val="5E626A"/>
                </a:solidFill>
                <a:latin typeface="Noto Sans" pitchFamily="34" charset="0"/>
                <a:ea typeface="Noto Sans" pitchFamily="34" charset="-122"/>
                <a:cs typeface="Noto Sans" pitchFamily="34" charset="-120"/>
              </a:rPr>
              <a:t>1 / 1 modules</a:t>
            </a:r>
            <a:endParaRPr lang="en-US" sz="1400" dirty="0"/>
          </a:p>
        </p:txBody>
      </p:sp>
      <p:sp>
        <p:nvSpPr>
          <p:cNvPr id="30" name="Shape 28"/>
          <p:cNvSpPr/>
          <p:nvPr/>
        </p:nvSpPr>
        <p:spPr>
          <a:xfrm>
            <a:off x="457200" y="3154680"/>
            <a:ext cx="2788920" cy="786384"/>
          </a:xfrm>
          <a:prstGeom prst="rect">
            <a:avLst/>
          </a:prstGeom>
          <a:solidFill>
            <a:srgbClr val="FFFFFF"/>
          </a:solidFill>
          <a:ln w="12700">
            <a:solidFill>
              <a:srgbClr val="FFFFFF"/>
            </a:solidFill>
            <a:prstDash val="solid"/>
          </a:ln>
        </p:spPr>
      </p:sp>
      <p:sp>
        <p:nvSpPr>
          <p:cNvPr id="31" name="Text 29"/>
          <p:cNvSpPr/>
          <p:nvPr/>
        </p:nvSpPr>
        <p:spPr>
          <a:xfrm>
            <a:off x="548640" y="3255264"/>
            <a:ext cx="2606040" cy="630936"/>
          </a:xfrm>
          <a:prstGeom prst="rect">
            <a:avLst/>
          </a:prstGeom>
          <a:noFill/>
          <a:ln/>
        </p:spPr>
        <p:txBody>
          <a:bodyPr wrap="square" lIns="0" tIns="0" rIns="0" bIns="0" rtlCol="0" anchor="ctr"/>
          <a:lstStyle/>
          <a:p>
            <a:pPr algn="l" indent="0" marL="0">
              <a:buNone/>
            </a:pPr>
            <a:r>
              <a:rPr lang="en-US" sz="1400" b="1" dirty="0">
                <a:solidFill>
                  <a:srgbClr val="202027"/>
                </a:solidFill>
                <a:latin typeface="Noto Sans" pitchFamily="34" charset="0"/>
                <a:ea typeface="Noto Sans" pitchFamily="34" charset="-122"/>
                <a:cs typeface="Noto Sans" pitchFamily="34" charset="-120"/>
              </a:rPr>
              <a:t>Qwen3-235B-A22B</a:t>
            </a:r>
            <a:endParaRPr lang="en-US" sz="1400" dirty="0"/>
          </a:p>
          <a:p>
            <a:pPr algn="l" indent="0" marL="0">
              <a:buNone/>
            </a:pPr>
            <a:r>
              <a:rPr lang="en-US" sz="1400" b="1" dirty="0">
                <a:solidFill>
                  <a:srgbClr val="202027"/>
                </a:solidFill>
                <a:latin typeface="Noto Sans" pitchFamily="34" charset="0"/>
                <a:ea typeface="Noto Sans" pitchFamily="34" charset="-122"/>
                <a:cs typeface="Noto Sans" pitchFamily="34" charset="-120"/>
              </a:rPr>
              <a:t>Commercial study target</a:t>
            </a:r>
            <a:endParaRPr lang="en-US" sz="1400" dirty="0"/>
          </a:p>
        </p:txBody>
      </p:sp>
      <p:sp>
        <p:nvSpPr>
          <p:cNvPr id="32" name="Shape 30"/>
          <p:cNvSpPr/>
          <p:nvPr/>
        </p:nvSpPr>
        <p:spPr>
          <a:xfrm>
            <a:off x="3246120" y="3154680"/>
            <a:ext cx="1600200" cy="786384"/>
          </a:xfrm>
          <a:prstGeom prst="rect">
            <a:avLst/>
          </a:prstGeom>
          <a:solidFill>
            <a:srgbClr val="FFFFFF"/>
          </a:solidFill>
          <a:ln w="12700">
            <a:solidFill>
              <a:srgbClr val="FFFFFF"/>
            </a:solidFill>
            <a:prstDash val="solid"/>
          </a:ln>
        </p:spPr>
      </p:sp>
      <p:sp>
        <p:nvSpPr>
          <p:cNvPr id="33" name="Text 31"/>
          <p:cNvSpPr/>
          <p:nvPr/>
        </p:nvSpPr>
        <p:spPr>
          <a:xfrm>
            <a:off x="3337560" y="3255264"/>
            <a:ext cx="1417320" cy="630936"/>
          </a:xfrm>
          <a:prstGeom prst="rect">
            <a:avLst/>
          </a:prstGeom>
          <a:noFill/>
          <a:ln/>
        </p:spPr>
        <p:txBody>
          <a:bodyPr wrap="square" lIns="0" tIns="0" rIns="0" bIns="0" rtlCol="0" anchor="ctr"/>
          <a:lstStyle/>
          <a:p>
            <a:pPr algn="l" indent="0" marL="0">
              <a:buNone/>
            </a:pPr>
            <a:r>
              <a:rPr lang="en-US" sz="1400" dirty="0">
                <a:solidFill>
                  <a:srgbClr val="5E626A"/>
                </a:solidFill>
                <a:latin typeface="Noto Sans" pitchFamily="34" charset="0"/>
                <a:ea typeface="Noto Sans" pitchFamily="34" charset="-122"/>
                <a:cs typeface="Noto Sans" pitchFamily="34" charset="-120"/>
              </a:rPr>
              <a:t>235B / 22B</a:t>
            </a:r>
            <a:endParaRPr lang="en-US" sz="1400" dirty="0"/>
          </a:p>
        </p:txBody>
      </p:sp>
      <p:sp>
        <p:nvSpPr>
          <p:cNvPr id="34" name="Shape 32"/>
          <p:cNvSpPr/>
          <p:nvPr/>
        </p:nvSpPr>
        <p:spPr>
          <a:xfrm>
            <a:off x="4846320" y="3154680"/>
            <a:ext cx="2240280" cy="786384"/>
          </a:xfrm>
          <a:prstGeom prst="rect">
            <a:avLst/>
          </a:prstGeom>
          <a:solidFill>
            <a:srgbClr val="FFFFFF"/>
          </a:solidFill>
          <a:ln w="12700">
            <a:solidFill>
              <a:srgbClr val="FFFFFF"/>
            </a:solidFill>
            <a:prstDash val="solid"/>
          </a:ln>
        </p:spPr>
      </p:sp>
      <p:sp>
        <p:nvSpPr>
          <p:cNvPr id="35" name="Text 33"/>
          <p:cNvSpPr/>
          <p:nvPr/>
        </p:nvSpPr>
        <p:spPr>
          <a:xfrm>
            <a:off x="4937760" y="3255264"/>
            <a:ext cx="2057400" cy="630936"/>
          </a:xfrm>
          <a:prstGeom prst="rect">
            <a:avLst/>
          </a:prstGeom>
          <a:noFill/>
          <a:ln/>
        </p:spPr>
        <p:txBody>
          <a:bodyPr wrap="square" lIns="0" tIns="0" rIns="0" bIns="0" rtlCol="0" anchor="ctr"/>
          <a:lstStyle/>
          <a:p>
            <a:pPr algn="l" indent="0" marL="0">
              <a:buNone/>
            </a:pPr>
            <a:r>
              <a:rPr lang="en-US" sz="1400" dirty="0">
                <a:solidFill>
                  <a:srgbClr val="5E626A"/>
                </a:solidFill>
                <a:latin typeface="Noto Sans" pitchFamily="34" charset="0"/>
                <a:ea typeface="Noto Sans" pitchFamily="34" charset="-122"/>
                <a:cs typeface="Noto Sans" pitchFamily="34" charset="-120"/>
              </a:rPr>
              <a:t>128; top-8</a:t>
            </a:r>
            <a:endParaRPr lang="en-US" sz="1400" dirty="0"/>
          </a:p>
          <a:p>
            <a:pPr algn="l" indent="0" marL="0">
              <a:buNone/>
            </a:pPr>
            <a:r>
              <a:rPr lang="en-US" sz="1400" dirty="0">
                <a:solidFill>
                  <a:srgbClr val="5E626A"/>
                </a:solidFill>
                <a:latin typeface="Noto Sans" pitchFamily="34" charset="0"/>
                <a:ea typeface="Noto Sans" pitchFamily="34" charset="-122"/>
                <a:cs typeface="Noto Sans" pitchFamily="34" charset="-120"/>
              </a:rPr>
              <a:t>94 layers</a:t>
            </a:r>
            <a:endParaRPr lang="en-US" sz="1400" dirty="0"/>
          </a:p>
        </p:txBody>
      </p:sp>
      <p:sp>
        <p:nvSpPr>
          <p:cNvPr id="36" name="Shape 34"/>
          <p:cNvSpPr/>
          <p:nvPr/>
        </p:nvSpPr>
        <p:spPr>
          <a:xfrm>
            <a:off x="7086600" y="3154680"/>
            <a:ext cx="2066544" cy="786384"/>
          </a:xfrm>
          <a:prstGeom prst="rect">
            <a:avLst/>
          </a:prstGeom>
          <a:solidFill>
            <a:srgbClr val="FFFFFF"/>
          </a:solidFill>
          <a:ln w="12700">
            <a:solidFill>
              <a:srgbClr val="FFFFFF"/>
            </a:solidFill>
            <a:prstDash val="solid"/>
          </a:ln>
        </p:spPr>
      </p:sp>
      <p:sp>
        <p:nvSpPr>
          <p:cNvPr id="37" name="Text 35"/>
          <p:cNvSpPr/>
          <p:nvPr/>
        </p:nvSpPr>
        <p:spPr>
          <a:xfrm>
            <a:off x="7178040" y="3255264"/>
            <a:ext cx="1883664" cy="630936"/>
          </a:xfrm>
          <a:prstGeom prst="rect">
            <a:avLst/>
          </a:prstGeom>
          <a:noFill/>
          <a:ln/>
        </p:spPr>
        <p:txBody>
          <a:bodyPr wrap="square" lIns="0" tIns="0" rIns="0" bIns="0" rtlCol="0" anchor="ctr"/>
          <a:lstStyle/>
          <a:p>
            <a:pPr algn="l" indent="0" marL="0">
              <a:buNone/>
            </a:pPr>
            <a:r>
              <a:rPr lang="en-US" sz="1400" dirty="0">
                <a:solidFill>
                  <a:srgbClr val="5E626A"/>
                </a:solidFill>
                <a:latin typeface="Noto Sans" pitchFamily="34" charset="0"/>
                <a:ea typeface="Noto Sans" pitchFamily="34" charset="-122"/>
                <a:cs typeface="Noto Sans" pitchFamily="34" charset="-120"/>
              </a:rPr>
              <a:t>235 / 470 GB</a:t>
            </a:r>
            <a:endParaRPr lang="en-US" sz="1400" dirty="0"/>
          </a:p>
        </p:txBody>
      </p:sp>
      <p:sp>
        <p:nvSpPr>
          <p:cNvPr id="38" name="Shape 36"/>
          <p:cNvSpPr/>
          <p:nvPr/>
        </p:nvSpPr>
        <p:spPr>
          <a:xfrm>
            <a:off x="9153144" y="3154680"/>
            <a:ext cx="2578608" cy="786384"/>
          </a:xfrm>
          <a:prstGeom prst="rect">
            <a:avLst/>
          </a:prstGeom>
          <a:solidFill>
            <a:srgbClr val="FFFFFF"/>
          </a:solidFill>
          <a:ln w="12700">
            <a:solidFill>
              <a:srgbClr val="FFFFFF"/>
            </a:solidFill>
            <a:prstDash val="solid"/>
          </a:ln>
        </p:spPr>
      </p:sp>
      <p:sp>
        <p:nvSpPr>
          <p:cNvPr id="39" name="Text 37"/>
          <p:cNvSpPr/>
          <p:nvPr/>
        </p:nvSpPr>
        <p:spPr>
          <a:xfrm>
            <a:off x="9244584" y="3255264"/>
            <a:ext cx="2395728" cy="630936"/>
          </a:xfrm>
          <a:prstGeom prst="rect">
            <a:avLst/>
          </a:prstGeom>
          <a:noFill/>
          <a:ln/>
        </p:spPr>
        <p:txBody>
          <a:bodyPr wrap="square" lIns="0" tIns="0" rIns="0" bIns="0" rtlCol="0" anchor="ctr"/>
          <a:lstStyle/>
          <a:p>
            <a:pPr algn="l" indent="0" marL="0">
              <a:buNone/>
            </a:pPr>
            <a:r>
              <a:rPr lang="en-US" sz="1400" dirty="0">
                <a:solidFill>
                  <a:srgbClr val="5E626A"/>
                </a:solidFill>
                <a:latin typeface="Noto Sans" pitchFamily="34" charset="0"/>
                <a:ea typeface="Noto Sans" pitchFamily="34" charset="-122"/>
                <a:cs typeface="Noto Sans" pitchFamily="34" charset="-120"/>
              </a:rPr>
              <a:t>3 / 5 modules</a:t>
            </a:r>
            <a:endParaRPr lang="en-US" sz="1400" dirty="0"/>
          </a:p>
        </p:txBody>
      </p:sp>
      <p:sp>
        <p:nvSpPr>
          <p:cNvPr id="40" name="Shape 38"/>
          <p:cNvSpPr/>
          <p:nvPr/>
        </p:nvSpPr>
        <p:spPr>
          <a:xfrm>
            <a:off x="457200" y="3941064"/>
            <a:ext cx="2788920" cy="841248"/>
          </a:xfrm>
          <a:prstGeom prst="rect">
            <a:avLst/>
          </a:prstGeom>
          <a:solidFill>
            <a:srgbClr val="F2F0F1"/>
          </a:solidFill>
          <a:ln w="12700">
            <a:solidFill>
              <a:srgbClr val="F2F0F1"/>
            </a:solidFill>
            <a:prstDash val="solid"/>
          </a:ln>
        </p:spPr>
      </p:sp>
      <p:sp>
        <p:nvSpPr>
          <p:cNvPr id="41" name="Text 39"/>
          <p:cNvSpPr/>
          <p:nvPr/>
        </p:nvSpPr>
        <p:spPr>
          <a:xfrm>
            <a:off x="548640" y="4041648"/>
            <a:ext cx="2606040" cy="685800"/>
          </a:xfrm>
          <a:prstGeom prst="rect">
            <a:avLst/>
          </a:prstGeom>
          <a:noFill/>
          <a:ln/>
        </p:spPr>
        <p:txBody>
          <a:bodyPr wrap="square" lIns="0" tIns="0" rIns="0" bIns="0" rtlCol="0" anchor="ctr"/>
          <a:lstStyle/>
          <a:p>
            <a:pPr algn="l" indent="0" marL="0">
              <a:buNone/>
            </a:pPr>
            <a:r>
              <a:rPr lang="en-US" sz="1400" b="1" dirty="0">
                <a:solidFill>
                  <a:srgbClr val="202027"/>
                </a:solidFill>
                <a:latin typeface="Noto Sans" pitchFamily="34" charset="0"/>
                <a:ea typeface="Noto Sans" pitchFamily="34" charset="-122"/>
                <a:cs typeface="Noto Sans" pitchFamily="34" charset="-120"/>
              </a:rPr>
              <a:t>DeepSeek-V3</a:t>
            </a:r>
            <a:endParaRPr lang="en-US" sz="1400" dirty="0"/>
          </a:p>
          <a:p>
            <a:pPr algn="l" indent="0" marL="0">
              <a:buNone/>
            </a:pPr>
            <a:r>
              <a:rPr lang="en-US" sz="1400" b="1" dirty="0">
                <a:solidFill>
                  <a:srgbClr val="202027"/>
                </a:solidFill>
                <a:latin typeface="Noto Sans" pitchFamily="34" charset="0"/>
                <a:ea typeface="Noto Sans" pitchFamily="34" charset="-122"/>
                <a:cs typeface="Noto Sans" pitchFamily="34" charset="-120"/>
              </a:rPr>
              <a:t>Large-model expansion</a:t>
            </a:r>
            <a:endParaRPr lang="en-US" sz="1400" dirty="0"/>
          </a:p>
        </p:txBody>
      </p:sp>
      <p:sp>
        <p:nvSpPr>
          <p:cNvPr id="42" name="Shape 40"/>
          <p:cNvSpPr/>
          <p:nvPr/>
        </p:nvSpPr>
        <p:spPr>
          <a:xfrm>
            <a:off x="3246120" y="3941064"/>
            <a:ext cx="1600200" cy="841248"/>
          </a:xfrm>
          <a:prstGeom prst="rect">
            <a:avLst/>
          </a:prstGeom>
          <a:solidFill>
            <a:srgbClr val="F2F0F1"/>
          </a:solidFill>
          <a:ln w="12700">
            <a:solidFill>
              <a:srgbClr val="F2F0F1"/>
            </a:solidFill>
            <a:prstDash val="solid"/>
          </a:ln>
        </p:spPr>
      </p:sp>
      <p:sp>
        <p:nvSpPr>
          <p:cNvPr id="43" name="Text 41"/>
          <p:cNvSpPr/>
          <p:nvPr/>
        </p:nvSpPr>
        <p:spPr>
          <a:xfrm>
            <a:off x="3337560" y="4041648"/>
            <a:ext cx="1417320" cy="685800"/>
          </a:xfrm>
          <a:prstGeom prst="rect">
            <a:avLst/>
          </a:prstGeom>
          <a:noFill/>
          <a:ln/>
        </p:spPr>
        <p:txBody>
          <a:bodyPr wrap="square" lIns="0" tIns="0" rIns="0" bIns="0" rtlCol="0" anchor="ctr"/>
          <a:lstStyle/>
          <a:p>
            <a:pPr algn="l" indent="0" marL="0">
              <a:buNone/>
            </a:pPr>
            <a:r>
              <a:rPr lang="en-US" sz="1400" dirty="0">
                <a:solidFill>
                  <a:srgbClr val="5E626A"/>
                </a:solidFill>
                <a:latin typeface="Noto Sans" pitchFamily="34" charset="0"/>
                <a:ea typeface="Noto Sans" pitchFamily="34" charset="-122"/>
                <a:cs typeface="Noto Sans" pitchFamily="34" charset="-120"/>
              </a:rPr>
              <a:t>671B / 37B</a:t>
            </a:r>
            <a:endParaRPr lang="en-US" sz="1400" dirty="0"/>
          </a:p>
        </p:txBody>
      </p:sp>
      <p:sp>
        <p:nvSpPr>
          <p:cNvPr id="44" name="Shape 42"/>
          <p:cNvSpPr/>
          <p:nvPr/>
        </p:nvSpPr>
        <p:spPr>
          <a:xfrm>
            <a:off x="4846320" y="3941064"/>
            <a:ext cx="2240280" cy="841248"/>
          </a:xfrm>
          <a:prstGeom prst="rect">
            <a:avLst/>
          </a:prstGeom>
          <a:solidFill>
            <a:srgbClr val="F2F0F1"/>
          </a:solidFill>
          <a:ln w="12700">
            <a:solidFill>
              <a:srgbClr val="F2F0F1"/>
            </a:solidFill>
            <a:prstDash val="solid"/>
          </a:ln>
        </p:spPr>
      </p:sp>
      <p:sp>
        <p:nvSpPr>
          <p:cNvPr id="45" name="Text 43"/>
          <p:cNvSpPr/>
          <p:nvPr/>
        </p:nvSpPr>
        <p:spPr>
          <a:xfrm>
            <a:off x="4937760" y="4041648"/>
            <a:ext cx="2057400" cy="685800"/>
          </a:xfrm>
          <a:prstGeom prst="rect">
            <a:avLst/>
          </a:prstGeom>
          <a:noFill/>
          <a:ln/>
        </p:spPr>
        <p:txBody>
          <a:bodyPr wrap="square" lIns="0" tIns="0" rIns="0" bIns="0" rtlCol="0" anchor="ctr"/>
          <a:lstStyle/>
          <a:p>
            <a:pPr algn="l" indent="0" marL="0">
              <a:buNone/>
            </a:pPr>
            <a:r>
              <a:rPr lang="en-US" sz="1400" dirty="0">
                <a:solidFill>
                  <a:srgbClr val="5E626A"/>
                </a:solidFill>
                <a:latin typeface="Noto Sans" pitchFamily="34" charset="0"/>
                <a:ea typeface="Noto Sans" pitchFamily="34" charset="-122"/>
                <a:cs typeface="Noto Sans" pitchFamily="34" charset="-120"/>
              </a:rPr>
              <a:t>256 + shared; top-8</a:t>
            </a:r>
            <a:endParaRPr lang="en-US" sz="1400" dirty="0"/>
          </a:p>
          <a:p>
            <a:pPr algn="l" indent="0" marL="0">
              <a:buNone/>
            </a:pPr>
            <a:r>
              <a:rPr lang="en-US" sz="1400" dirty="0">
                <a:solidFill>
                  <a:srgbClr val="5E626A"/>
                </a:solidFill>
                <a:latin typeface="Noto Sans" pitchFamily="34" charset="0"/>
                <a:ea typeface="Noto Sans" pitchFamily="34" charset="-122"/>
                <a:cs typeface="Noto Sans" pitchFamily="34" charset="-120"/>
              </a:rPr>
              <a:t>58 MoE + 3 dense layers</a:t>
            </a:r>
            <a:endParaRPr lang="en-US" sz="1400" dirty="0"/>
          </a:p>
        </p:txBody>
      </p:sp>
      <p:sp>
        <p:nvSpPr>
          <p:cNvPr id="46" name="Shape 44"/>
          <p:cNvSpPr/>
          <p:nvPr/>
        </p:nvSpPr>
        <p:spPr>
          <a:xfrm>
            <a:off x="7086600" y="3941064"/>
            <a:ext cx="2066544" cy="841248"/>
          </a:xfrm>
          <a:prstGeom prst="rect">
            <a:avLst/>
          </a:prstGeom>
          <a:solidFill>
            <a:srgbClr val="F2F0F1"/>
          </a:solidFill>
          <a:ln w="12700">
            <a:solidFill>
              <a:srgbClr val="F2F0F1"/>
            </a:solidFill>
            <a:prstDash val="solid"/>
          </a:ln>
        </p:spPr>
      </p:sp>
      <p:sp>
        <p:nvSpPr>
          <p:cNvPr id="47" name="Text 45"/>
          <p:cNvSpPr/>
          <p:nvPr/>
        </p:nvSpPr>
        <p:spPr>
          <a:xfrm>
            <a:off x="7178040" y="4041648"/>
            <a:ext cx="1883664" cy="685800"/>
          </a:xfrm>
          <a:prstGeom prst="rect">
            <a:avLst/>
          </a:prstGeom>
          <a:noFill/>
          <a:ln/>
        </p:spPr>
        <p:txBody>
          <a:bodyPr wrap="square" lIns="0" tIns="0" rIns="0" bIns="0" rtlCol="0" anchor="ctr"/>
          <a:lstStyle/>
          <a:p>
            <a:pPr algn="l" indent="0" marL="0">
              <a:buNone/>
            </a:pPr>
            <a:r>
              <a:rPr lang="en-US" sz="1400" dirty="0">
                <a:solidFill>
                  <a:srgbClr val="5E626A"/>
                </a:solidFill>
                <a:latin typeface="Noto Sans" pitchFamily="34" charset="0"/>
                <a:ea typeface="Noto Sans" pitchFamily="34" charset="-122"/>
                <a:cs typeface="Noto Sans" pitchFamily="34" charset="-120"/>
              </a:rPr>
              <a:t>671 / 1,342 GB</a:t>
            </a:r>
            <a:endParaRPr lang="en-US" sz="1400" dirty="0"/>
          </a:p>
        </p:txBody>
      </p:sp>
      <p:sp>
        <p:nvSpPr>
          <p:cNvPr id="48" name="Shape 46"/>
          <p:cNvSpPr/>
          <p:nvPr/>
        </p:nvSpPr>
        <p:spPr>
          <a:xfrm>
            <a:off x="9153144" y="3941064"/>
            <a:ext cx="2578608" cy="841248"/>
          </a:xfrm>
          <a:prstGeom prst="rect">
            <a:avLst/>
          </a:prstGeom>
          <a:solidFill>
            <a:srgbClr val="F2F0F1"/>
          </a:solidFill>
          <a:ln w="12700">
            <a:solidFill>
              <a:srgbClr val="F2F0F1"/>
            </a:solidFill>
            <a:prstDash val="solid"/>
          </a:ln>
        </p:spPr>
      </p:sp>
      <p:sp>
        <p:nvSpPr>
          <p:cNvPr id="49" name="Text 47"/>
          <p:cNvSpPr/>
          <p:nvPr/>
        </p:nvSpPr>
        <p:spPr>
          <a:xfrm>
            <a:off x="9244584" y="4041648"/>
            <a:ext cx="2395728" cy="685800"/>
          </a:xfrm>
          <a:prstGeom prst="rect">
            <a:avLst/>
          </a:prstGeom>
          <a:noFill/>
          <a:ln/>
        </p:spPr>
        <p:txBody>
          <a:bodyPr wrap="square" lIns="0" tIns="0" rIns="0" bIns="0" rtlCol="0" anchor="ctr"/>
          <a:lstStyle/>
          <a:p>
            <a:pPr algn="l" indent="0" marL="0">
              <a:buNone/>
            </a:pPr>
            <a:r>
              <a:rPr lang="en-US" sz="1400" dirty="0">
                <a:solidFill>
                  <a:srgbClr val="5E626A"/>
                </a:solidFill>
                <a:latin typeface="Noto Sans" pitchFamily="34" charset="0"/>
                <a:ea typeface="Noto Sans" pitchFamily="34" charset="-122"/>
                <a:cs typeface="Noto Sans" pitchFamily="34" charset="-120"/>
              </a:rPr>
              <a:t>7 / 14 modules</a:t>
            </a:r>
            <a:endParaRPr lang="en-US" sz="1400" dirty="0"/>
          </a:p>
        </p:txBody>
      </p:sp>
      <p:sp>
        <p:nvSpPr>
          <p:cNvPr id="50" name="Shape 48"/>
          <p:cNvSpPr/>
          <p:nvPr/>
        </p:nvSpPr>
        <p:spPr>
          <a:xfrm>
            <a:off x="457200" y="4919472"/>
            <a:ext cx="7388352" cy="987552"/>
          </a:xfrm>
          <a:prstGeom prst="rect">
            <a:avLst/>
          </a:prstGeom>
          <a:solidFill>
            <a:srgbClr val="FAE8ED"/>
          </a:solidFill>
          <a:ln w="12700">
            <a:solidFill>
              <a:srgbClr val="FAE8ED"/>
            </a:solidFill>
            <a:prstDash val="solid"/>
          </a:ln>
        </p:spPr>
      </p:sp>
      <p:sp>
        <p:nvSpPr>
          <p:cNvPr id="51" name="Text 49"/>
          <p:cNvSpPr/>
          <p:nvPr/>
        </p:nvSpPr>
        <p:spPr>
          <a:xfrm>
            <a:off x="658368" y="5111496"/>
            <a:ext cx="6958584" cy="365760"/>
          </a:xfrm>
          <a:prstGeom prst="rect">
            <a:avLst/>
          </a:prstGeom>
          <a:noFill/>
          <a:ln/>
        </p:spPr>
        <p:txBody>
          <a:bodyPr wrap="square" lIns="0" tIns="0" rIns="0" bIns="0" rtlCol="0" anchor="ctr"/>
          <a:lstStyle/>
          <a:p>
            <a:pPr indent="0" marL="0">
              <a:buNone/>
            </a:pPr>
            <a:r>
              <a:rPr lang="en-US" sz="1800" b="1" dirty="0">
                <a:solidFill>
                  <a:srgbClr val="A10F2C"/>
                </a:solidFill>
                <a:latin typeface="Noto Sans" pitchFamily="34" charset="0"/>
                <a:ea typeface="Noto Sans" pitchFamily="34" charset="-122"/>
                <a:cs typeface="Noto Sans" pitchFamily="34" charset="-120"/>
              </a:rPr>
              <a:t>Qwen 235B: 32 × 8K sequences need 47 GiB of KV</a:t>
            </a:r>
            <a:endParaRPr lang="en-US" sz="1800" dirty="0"/>
          </a:p>
        </p:txBody>
      </p:sp>
      <p:sp>
        <p:nvSpPr>
          <p:cNvPr id="52" name="Text 50"/>
          <p:cNvSpPr/>
          <p:nvPr/>
        </p:nvSpPr>
        <p:spPr>
          <a:xfrm>
            <a:off x="658368" y="5541264"/>
            <a:ext cx="6958584" cy="210312"/>
          </a:xfrm>
          <a:prstGeom prst="rect">
            <a:avLst/>
          </a:prstGeom>
          <a:noFill/>
          <a:ln/>
        </p:spPr>
        <p:txBody>
          <a:bodyPr wrap="square" lIns="0" tIns="0" rIns="0" bIns="0" rtlCol="0" anchor="ctr"/>
          <a:lstStyle/>
          <a:p>
            <a:pPr indent="0" marL="0">
              <a:buNone/>
            </a:pPr>
            <a:r>
              <a:rPr lang="en-US" sz="1200" dirty="0">
                <a:solidFill>
                  <a:srgbClr val="5E626A"/>
                </a:solidFill>
                <a:latin typeface="Noto Sans" pitchFamily="34" charset="0"/>
                <a:ea typeface="Noto Sans" pitchFamily="34" charset="-122"/>
                <a:cs typeface="Noto Sans" pitchFamily="34" charset="-120"/>
              </a:rPr>
              <a:t>Logical BF16 cache; validate per-device layouts and working-memory reserve.</a:t>
            </a:r>
            <a:endParaRPr lang="en-US" sz="1200" dirty="0"/>
          </a:p>
        </p:txBody>
      </p:sp>
      <p:sp>
        <p:nvSpPr>
          <p:cNvPr id="53" name="Shape 51"/>
          <p:cNvSpPr/>
          <p:nvPr/>
        </p:nvSpPr>
        <p:spPr>
          <a:xfrm>
            <a:off x="8083296" y="4919472"/>
            <a:ext cx="3639312" cy="987552"/>
          </a:xfrm>
          <a:prstGeom prst="rect">
            <a:avLst/>
          </a:prstGeom>
          <a:solidFill>
            <a:srgbClr val="FFFFFF"/>
          </a:solidFill>
          <a:ln w="12700">
            <a:solidFill>
              <a:srgbClr val="DEDDE0"/>
            </a:solidFill>
            <a:prstDash val="solid"/>
          </a:ln>
        </p:spPr>
      </p:sp>
      <p:sp>
        <p:nvSpPr>
          <p:cNvPr id="54" name="Text 52"/>
          <p:cNvSpPr/>
          <p:nvPr/>
        </p:nvSpPr>
        <p:spPr>
          <a:xfrm>
            <a:off x="8275320" y="5093208"/>
            <a:ext cx="3246120" cy="329184"/>
          </a:xfrm>
          <a:prstGeom prst="rect">
            <a:avLst/>
          </a:prstGeom>
          <a:noFill/>
          <a:ln/>
        </p:spPr>
        <p:txBody>
          <a:bodyPr wrap="square" lIns="0" tIns="0" rIns="0" bIns="0" rtlCol="0" anchor="ctr"/>
          <a:lstStyle/>
          <a:p>
            <a:pPr indent="0" marL="0">
              <a:buNone/>
            </a:pPr>
            <a:r>
              <a:rPr lang="en-US" sz="1800" b="1" dirty="0">
                <a:solidFill>
                  <a:srgbClr val="202027"/>
                </a:solidFill>
                <a:latin typeface="Noto Sans" pitchFamily="34" charset="0"/>
                <a:ea typeface="Noto Sans" pitchFamily="34" charset="-122"/>
                <a:cs typeface="Noto Sans" pitchFamily="34" charset="-120"/>
              </a:rPr>
              <a:t>*Capacity floor only</a:t>
            </a:r>
            <a:endParaRPr lang="en-US" sz="1800" dirty="0"/>
          </a:p>
        </p:txBody>
      </p:sp>
      <p:sp>
        <p:nvSpPr>
          <p:cNvPr id="55" name="Text 53"/>
          <p:cNvSpPr/>
          <p:nvPr/>
        </p:nvSpPr>
        <p:spPr>
          <a:xfrm>
            <a:off x="8275320" y="5532120"/>
            <a:ext cx="3227832" cy="219456"/>
          </a:xfrm>
          <a:prstGeom prst="rect">
            <a:avLst/>
          </a:prstGeom>
          <a:noFill/>
          <a:ln/>
        </p:spPr>
        <p:txBody>
          <a:bodyPr wrap="square" lIns="0" tIns="0" rIns="0" bIns="0" rtlCol="0" anchor="ctr"/>
          <a:lstStyle/>
          <a:p>
            <a:pPr indent="0" marL="0">
              <a:buNone/>
            </a:pPr>
            <a:r>
              <a:rPr lang="en-US" sz="1200" dirty="0">
                <a:solidFill>
                  <a:srgbClr val="5E626A"/>
                </a:solidFill>
                <a:latin typeface="Noto Sans" pitchFamily="34" charset="0"/>
                <a:ea typeface="Noto Sans" pitchFamily="34" charset="-122"/>
                <a:cs typeface="Noto Sans" pitchFamily="34" charset="-120"/>
              </a:rPr>
              <a:t>Not a validated serving-group size.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BANK-SCALE PILOT DESIGN</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Start with a bounded document workload—not “all bank AI.”</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Synthetic sizing anchored on a 20,000-user scale. These are not Lloyds workloads or measured rates.</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[S1] Public user-scale anchor only. All activity, traffic, model and service assumptions on this slide are proposed.</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07</a:t>
            </a:r>
            <a:endParaRPr lang="en-US" sz="1200" dirty="0"/>
          </a:p>
        </p:txBody>
      </p:sp>
      <p:sp>
        <p:nvSpPr>
          <p:cNvPr id="10" name="Shape 8"/>
          <p:cNvSpPr/>
          <p:nvPr/>
        </p:nvSpPr>
        <p:spPr>
          <a:xfrm>
            <a:off x="457200" y="1956816"/>
            <a:ext cx="3602736" cy="1426464"/>
          </a:xfrm>
          <a:prstGeom prst="rect">
            <a:avLst/>
          </a:prstGeom>
          <a:solidFill>
            <a:srgbClr val="FFFFFF"/>
          </a:solidFill>
          <a:ln w="12700">
            <a:solidFill>
              <a:srgbClr val="FFFFFF"/>
            </a:solidFill>
            <a:prstDash val="solid"/>
          </a:ln>
        </p:spPr>
      </p:sp>
      <p:sp>
        <p:nvSpPr>
          <p:cNvPr id="11" name="Shape 9"/>
          <p:cNvSpPr/>
          <p:nvPr/>
        </p:nvSpPr>
        <p:spPr>
          <a:xfrm>
            <a:off x="457200" y="1956816"/>
            <a:ext cx="54864" cy="1426464"/>
          </a:xfrm>
          <a:prstGeom prst="rect">
            <a:avLst/>
          </a:prstGeom>
          <a:solidFill>
            <a:srgbClr val="D7193F"/>
          </a:solidFill>
          <a:ln w="12700">
            <a:solidFill>
              <a:srgbClr val="D7193F"/>
            </a:solidFill>
            <a:prstDash val="solid"/>
          </a:ln>
        </p:spPr>
      </p:sp>
      <p:sp>
        <p:nvSpPr>
          <p:cNvPr id="12" name="Text 10"/>
          <p:cNvSpPr/>
          <p:nvPr/>
        </p:nvSpPr>
        <p:spPr>
          <a:xfrm>
            <a:off x="658368" y="2112264"/>
            <a:ext cx="3236976" cy="585216"/>
          </a:xfrm>
          <a:prstGeom prst="rect">
            <a:avLst/>
          </a:prstGeom>
          <a:noFill/>
          <a:ln/>
        </p:spPr>
        <p:txBody>
          <a:bodyPr wrap="square" lIns="0" tIns="0" rIns="0" bIns="0" rtlCol="0" anchor="ctr"/>
          <a:lstStyle/>
          <a:p>
            <a:pPr indent="0" marL="0">
              <a:buNone/>
            </a:pPr>
            <a:r>
              <a:rPr lang="en-US" sz="3900" b="1" dirty="0">
                <a:solidFill>
                  <a:srgbClr val="D7193F"/>
                </a:solidFill>
                <a:latin typeface="Noto Sans" pitchFamily="34" charset="0"/>
                <a:ea typeface="Noto Sans" pitchFamily="34" charset="-122"/>
                <a:cs typeface="Noto Sans" pitchFamily="34" charset="-120"/>
              </a:rPr>
              <a:t>20,000</a:t>
            </a:r>
            <a:endParaRPr lang="en-US" sz="3900" dirty="0"/>
          </a:p>
        </p:txBody>
      </p:sp>
      <p:sp>
        <p:nvSpPr>
          <p:cNvPr id="13" name="Text 11"/>
          <p:cNvSpPr/>
          <p:nvPr/>
        </p:nvSpPr>
        <p:spPr>
          <a:xfrm>
            <a:off x="658368" y="2743200"/>
            <a:ext cx="3236976" cy="310896"/>
          </a:xfrm>
          <a:prstGeom prst="rect">
            <a:avLst/>
          </a:prstGeom>
          <a:noFill/>
          <a:ln/>
        </p:spPr>
        <p:txBody>
          <a:bodyPr wrap="square" lIns="0" tIns="0" rIns="0" bIns="0" rtlCol="0" anchor="ctr"/>
          <a:lstStyle/>
          <a:p>
            <a:pPr indent="0" marL="0">
              <a:buNone/>
            </a:pPr>
            <a:r>
              <a:rPr lang="en-US" sz="1500" b="1" dirty="0">
                <a:solidFill>
                  <a:srgbClr val="202027"/>
                </a:solidFill>
                <a:latin typeface="Noto Sans" pitchFamily="34" charset="0"/>
                <a:ea typeface="Noto Sans" pitchFamily="34" charset="-122"/>
                <a:cs typeface="Noto Sans" pitchFamily="34" charset="-120"/>
              </a:rPr>
              <a:t>user population</a:t>
            </a:r>
            <a:endParaRPr lang="en-US" sz="1500" dirty="0"/>
          </a:p>
        </p:txBody>
      </p:sp>
      <p:sp>
        <p:nvSpPr>
          <p:cNvPr id="14" name="Shape 12"/>
          <p:cNvSpPr/>
          <p:nvPr/>
        </p:nvSpPr>
        <p:spPr>
          <a:xfrm>
            <a:off x="4288536" y="1956816"/>
            <a:ext cx="3602736" cy="1426464"/>
          </a:xfrm>
          <a:prstGeom prst="rect">
            <a:avLst/>
          </a:prstGeom>
          <a:solidFill>
            <a:srgbClr val="FFFFFF"/>
          </a:solidFill>
          <a:ln w="12700">
            <a:solidFill>
              <a:srgbClr val="FFFFFF"/>
            </a:solidFill>
            <a:prstDash val="solid"/>
          </a:ln>
        </p:spPr>
      </p:sp>
      <p:sp>
        <p:nvSpPr>
          <p:cNvPr id="15" name="Shape 13"/>
          <p:cNvSpPr/>
          <p:nvPr/>
        </p:nvSpPr>
        <p:spPr>
          <a:xfrm>
            <a:off x="4288536" y="1956816"/>
            <a:ext cx="54864" cy="1426464"/>
          </a:xfrm>
          <a:prstGeom prst="rect">
            <a:avLst/>
          </a:prstGeom>
          <a:solidFill>
            <a:srgbClr val="D7193F"/>
          </a:solidFill>
          <a:ln w="12700">
            <a:solidFill>
              <a:srgbClr val="D7193F"/>
            </a:solidFill>
            <a:prstDash val="solid"/>
          </a:ln>
        </p:spPr>
      </p:sp>
      <p:sp>
        <p:nvSpPr>
          <p:cNvPr id="16" name="Text 14"/>
          <p:cNvSpPr/>
          <p:nvPr/>
        </p:nvSpPr>
        <p:spPr>
          <a:xfrm>
            <a:off x="4489704" y="2112264"/>
            <a:ext cx="3236976" cy="585216"/>
          </a:xfrm>
          <a:prstGeom prst="rect">
            <a:avLst/>
          </a:prstGeom>
          <a:noFill/>
          <a:ln/>
        </p:spPr>
        <p:txBody>
          <a:bodyPr wrap="square" lIns="0" tIns="0" rIns="0" bIns="0" rtlCol="0" anchor="ctr"/>
          <a:lstStyle/>
          <a:p>
            <a:pPr indent="0" marL="0">
              <a:buNone/>
            </a:pPr>
            <a:r>
              <a:rPr lang="en-US" sz="3900" b="1" dirty="0">
                <a:solidFill>
                  <a:srgbClr val="D7193F"/>
                </a:solidFill>
                <a:latin typeface="Noto Sans" pitchFamily="34" charset="0"/>
                <a:ea typeface="Noto Sans" pitchFamily="34" charset="-122"/>
                <a:cs typeface="Noto Sans" pitchFamily="34" charset="-120"/>
              </a:rPr>
              <a:t>40% × 6</a:t>
            </a:r>
            <a:endParaRPr lang="en-US" sz="3900" dirty="0"/>
          </a:p>
        </p:txBody>
      </p:sp>
      <p:sp>
        <p:nvSpPr>
          <p:cNvPr id="17" name="Text 15"/>
          <p:cNvSpPr/>
          <p:nvPr/>
        </p:nvSpPr>
        <p:spPr>
          <a:xfrm>
            <a:off x="4489704" y="2743200"/>
            <a:ext cx="3236976" cy="310896"/>
          </a:xfrm>
          <a:prstGeom prst="rect">
            <a:avLst/>
          </a:prstGeom>
          <a:noFill/>
          <a:ln/>
        </p:spPr>
        <p:txBody>
          <a:bodyPr wrap="square" lIns="0" tIns="0" rIns="0" bIns="0" rtlCol="0" anchor="ctr"/>
          <a:lstStyle/>
          <a:p>
            <a:pPr indent="0" marL="0">
              <a:buNone/>
            </a:pPr>
            <a:r>
              <a:rPr lang="en-US" sz="1500" b="1" dirty="0">
                <a:solidFill>
                  <a:srgbClr val="202027"/>
                </a:solidFill>
                <a:latin typeface="Noto Sans" pitchFamily="34" charset="0"/>
                <a:ea typeface="Noto Sans" pitchFamily="34" charset="-122"/>
                <a:cs typeface="Noto Sans" pitchFamily="34" charset="-120"/>
              </a:rPr>
              <a:t>daily-active share × calls</a:t>
            </a:r>
            <a:endParaRPr lang="en-US" sz="1500" dirty="0"/>
          </a:p>
        </p:txBody>
      </p:sp>
      <p:sp>
        <p:nvSpPr>
          <p:cNvPr id="18" name="Shape 16"/>
          <p:cNvSpPr/>
          <p:nvPr/>
        </p:nvSpPr>
        <p:spPr>
          <a:xfrm>
            <a:off x="8119872" y="1956816"/>
            <a:ext cx="3602736" cy="1426464"/>
          </a:xfrm>
          <a:prstGeom prst="rect">
            <a:avLst/>
          </a:prstGeom>
          <a:solidFill>
            <a:srgbClr val="FFFFFF"/>
          </a:solidFill>
          <a:ln w="12700">
            <a:solidFill>
              <a:srgbClr val="FFFFFF"/>
            </a:solidFill>
            <a:prstDash val="solid"/>
          </a:ln>
        </p:spPr>
      </p:sp>
      <p:sp>
        <p:nvSpPr>
          <p:cNvPr id="19" name="Shape 17"/>
          <p:cNvSpPr/>
          <p:nvPr/>
        </p:nvSpPr>
        <p:spPr>
          <a:xfrm>
            <a:off x="8119872" y="1956816"/>
            <a:ext cx="54864" cy="1426464"/>
          </a:xfrm>
          <a:prstGeom prst="rect">
            <a:avLst/>
          </a:prstGeom>
          <a:solidFill>
            <a:srgbClr val="D7193F"/>
          </a:solidFill>
          <a:ln w="12700">
            <a:solidFill>
              <a:srgbClr val="D7193F"/>
            </a:solidFill>
            <a:prstDash val="solid"/>
          </a:ln>
        </p:spPr>
      </p:sp>
      <p:sp>
        <p:nvSpPr>
          <p:cNvPr id="20" name="Text 18"/>
          <p:cNvSpPr/>
          <p:nvPr/>
        </p:nvSpPr>
        <p:spPr>
          <a:xfrm>
            <a:off x="8321040" y="2112264"/>
            <a:ext cx="3236976" cy="585216"/>
          </a:xfrm>
          <a:prstGeom prst="rect">
            <a:avLst/>
          </a:prstGeom>
          <a:noFill/>
          <a:ln/>
        </p:spPr>
        <p:txBody>
          <a:bodyPr wrap="square" lIns="0" tIns="0" rIns="0" bIns="0" rtlCol="0" anchor="ctr"/>
          <a:lstStyle/>
          <a:p>
            <a:pPr indent="0" marL="0">
              <a:buNone/>
            </a:pPr>
            <a:r>
              <a:rPr lang="en-US" sz="3900" b="1" dirty="0">
                <a:solidFill>
                  <a:srgbClr val="D7193F"/>
                </a:solidFill>
                <a:latin typeface="Noto Sans" pitchFamily="34" charset="0"/>
                <a:ea typeface="Noto Sans" pitchFamily="34" charset="-122"/>
                <a:cs typeface="Noto Sans" pitchFamily="34" charset="-120"/>
              </a:rPr>
              <a:t>48,000</a:t>
            </a:r>
            <a:endParaRPr lang="en-US" sz="3900" dirty="0"/>
          </a:p>
        </p:txBody>
      </p:sp>
      <p:sp>
        <p:nvSpPr>
          <p:cNvPr id="21" name="Text 19"/>
          <p:cNvSpPr/>
          <p:nvPr/>
        </p:nvSpPr>
        <p:spPr>
          <a:xfrm>
            <a:off x="8321040" y="2743200"/>
            <a:ext cx="3236976" cy="310896"/>
          </a:xfrm>
          <a:prstGeom prst="rect">
            <a:avLst/>
          </a:prstGeom>
          <a:noFill/>
          <a:ln/>
        </p:spPr>
        <p:txBody>
          <a:bodyPr wrap="square" lIns="0" tIns="0" rIns="0" bIns="0" rtlCol="0" anchor="ctr"/>
          <a:lstStyle/>
          <a:p>
            <a:pPr indent="0" marL="0">
              <a:buNone/>
            </a:pPr>
            <a:r>
              <a:rPr lang="en-US" sz="1500" b="1" dirty="0">
                <a:solidFill>
                  <a:srgbClr val="202027"/>
                </a:solidFill>
                <a:latin typeface="Noto Sans" pitchFamily="34" charset="0"/>
                <a:ea typeface="Noto Sans" pitchFamily="34" charset="-122"/>
                <a:cs typeface="Noto Sans" pitchFamily="34" charset="-120"/>
              </a:rPr>
              <a:t>model calls per day</a:t>
            </a:r>
            <a:endParaRPr lang="en-US" sz="1500" dirty="0"/>
          </a:p>
        </p:txBody>
      </p:sp>
      <p:sp>
        <p:nvSpPr>
          <p:cNvPr id="22" name="Shape 20"/>
          <p:cNvSpPr/>
          <p:nvPr/>
        </p:nvSpPr>
        <p:spPr>
          <a:xfrm>
            <a:off x="457200" y="3666744"/>
            <a:ext cx="5486400" cy="2212848"/>
          </a:xfrm>
          <a:prstGeom prst="rect">
            <a:avLst/>
          </a:prstGeom>
          <a:solidFill>
            <a:srgbClr val="FFFFFF"/>
          </a:solidFill>
          <a:ln w="12700">
            <a:solidFill>
              <a:srgbClr val="DEDDE0"/>
            </a:solidFill>
            <a:prstDash val="solid"/>
          </a:ln>
        </p:spPr>
      </p:sp>
      <p:sp>
        <p:nvSpPr>
          <p:cNvPr id="23" name="Text 21"/>
          <p:cNvSpPr/>
          <p:nvPr/>
        </p:nvSpPr>
        <p:spPr>
          <a:xfrm>
            <a:off x="658368" y="3867912"/>
            <a:ext cx="5074920" cy="256032"/>
          </a:xfrm>
          <a:prstGeom prst="rect">
            <a:avLst/>
          </a:prstGeom>
          <a:noFill/>
          <a:ln/>
        </p:spPr>
        <p:txBody>
          <a:bodyPr wrap="square" lIns="0" tIns="0" rIns="0" bIns="0" rtlCol="0" anchor="ctr"/>
          <a:lstStyle/>
          <a:p>
            <a:pPr indent="0" marL="0">
              <a:buNone/>
            </a:pPr>
            <a:r>
              <a:rPr lang="en-US" sz="1200" b="1" dirty="0">
                <a:solidFill>
                  <a:srgbClr val="D7193F"/>
                </a:solidFill>
                <a:latin typeface="Noto Sans" pitchFamily="34" charset="0"/>
                <a:ea typeface="Noto Sans" pitchFamily="34" charset="-122"/>
                <a:cs typeface="Noto Sans" pitchFamily="34" charset="-120"/>
              </a:rPr>
              <a:t>TRAFFIC ASSUMPTIONS</a:t>
            </a:r>
            <a:endParaRPr lang="en-US" sz="1200" dirty="0"/>
          </a:p>
        </p:txBody>
      </p:sp>
      <p:sp>
        <p:nvSpPr>
          <p:cNvPr id="24" name="Text 22"/>
          <p:cNvSpPr/>
          <p:nvPr/>
        </p:nvSpPr>
        <p:spPr>
          <a:xfrm>
            <a:off x="658368" y="4389120"/>
            <a:ext cx="5010912" cy="1234440"/>
          </a:xfrm>
          <a:prstGeom prst="rect">
            <a:avLst/>
          </a:prstGeom>
          <a:noFill/>
          <a:ln/>
        </p:spPr>
        <p:txBody>
          <a:bodyPr wrap="square" lIns="0" tIns="0" rIns="0" bIns="0" rtlCol="0" anchor="ctr"/>
          <a:lstStyle/>
          <a:p>
            <a:pPr indent="0" marL="0">
              <a:buNone/>
            </a:pPr>
            <a:r>
              <a:rPr lang="en-US" sz="1700" dirty="0">
                <a:solidFill>
                  <a:srgbClr val="202027"/>
                </a:solidFill>
                <a:latin typeface="Noto Sans" pitchFamily="34" charset="0"/>
                <a:ea typeface="Noto Sans" pitchFamily="34" charset="-122"/>
                <a:cs typeface="Noto Sans" pitchFamily="34" charset="-120"/>
              </a:rPr>
              <a:t>8-hour service window → 1.67 RPS mean</a:t>
            </a:r>
            <a:endParaRPr lang="en-US" sz="1700" dirty="0"/>
          </a:p>
          <a:p>
            <a:pPr indent="0" marL="0">
              <a:buNone/>
            </a:pPr>
            <a:r>
              <a:rPr lang="en-US" sz="1700" dirty="0">
                <a:solidFill>
                  <a:srgbClr val="202027"/>
                </a:solidFill>
                <a:latin typeface="Noto Sans" pitchFamily="34" charset="0"/>
                <a:ea typeface="Noto Sans" pitchFamily="34" charset="-122"/>
                <a:cs typeface="Noto Sans" pitchFamily="34" charset="-120"/>
              </a:rPr>
              <a:t>3× peak → 5 RPS across all work</a:t>
            </a:r>
            <a:endParaRPr lang="en-US" sz="1700" dirty="0"/>
          </a:p>
          <a:p>
            <a:pPr indent="0" marL="0">
              <a:buNone/>
            </a:pPr>
            <a:r>
              <a:rPr lang="en-US" sz="1700" dirty="0">
                <a:solidFill>
                  <a:srgbClr val="202027"/>
                </a:solidFill>
                <a:latin typeface="Noto Sans" pitchFamily="34" charset="0"/>
                <a:ea typeface="Noto Sans" pitchFamily="34" charset="-122"/>
                <a:cs typeface="Noto Sans" pitchFamily="34" charset="-120"/>
              </a:rPr>
              <a:t>40% eligible → 19,200 jobs/day; 2 RPS peak</a:t>
            </a:r>
            <a:endParaRPr lang="en-US" sz="1700" dirty="0"/>
          </a:p>
        </p:txBody>
      </p:sp>
      <p:sp>
        <p:nvSpPr>
          <p:cNvPr id="25" name="Shape 23"/>
          <p:cNvSpPr/>
          <p:nvPr/>
        </p:nvSpPr>
        <p:spPr>
          <a:xfrm>
            <a:off x="6199632" y="3666744"/>
            <a:ext cx="5522976" cy="2212848"/>
          </a:xfrm>
          <a:prstGeom prst="rect">
            <a:avLst/>
          </a:prstGeom>
          <a:solidFill>
            <a:srgbClr val="FAE8ED"/>
          </a:solidFill>
          <a:ln w="12700">
            <a:solidFill>
              <a:srgbClr val="FAE8ED"/>
            </a:solidFill>
            <a:prstDash val="solid"/>
          </a:ln>
        </p:spPr>
      </p:sp>
      <p:sp>
        <p:nvSpPr>
          <p:cNvPr id="26" name="Text 24"/>
          <p:cNvSpPr/>
          <p:nvPr/>
        </p:nvSpPr>
        <p:spPr>
          <a:xfrm>
            <a:off x="6400800" y="3867912"/>
            <a:ext cx="5120640" cy="256032"/>
          </a:xfrm>
          <a:prstGeom prst="rect">
            <a:avLst/>
          </a:prstGeom>
          <a:noFill/>
          <a:ln/>
        </p:spPr>
        <p:txBody>
          <a:bodyPr wrap="square" lIns="0" tIns="0" rIns="0" bIns="0" rtlCol="0" anchor="ctr"/>
          <a:lstStyle/>
          <a:p>
            <a:pPr indent="0" marL="0">
              <a:buNone/>
            </a:pPr>
            <a:r>
              <a:rPr lang="en-US" sz="1200" b="1" dirty="0">
                <a:solidFill>
                  <a:srgbClr val="A10F2C"/>
                </a:solidFill>
                <a:latin typeface="Noto Sans" pitchFamily="34" charset="0"/>
                <a:ea typeface="Noto Sans" pitchFamily="34" charset="-122"/>
                <a:cs typeface="Noto Sans" pitchFamily="34" charset="-120"/>
              </a:rPr>
              <a:t>FIRST QUALIFICATION PROFILE</a:t>
            </a:r>
            <a:endParaRPr lang="en-US" sz="1200" dirty="0"/>
          </a:p>
        </p:txBody>
      </p:sp>
      <p:sp>
        <p:nvSpPr>
          <p:cNvPr id="27" name="Text 25"/>
          <p:cNvSpPr/>
          <p:nvPr/>
        </p:nvSpPr>
        <p:spPr>
          <a:xfrm>
            <a:off x="6400800" y="4325112"/>
            <a:ext cx="5074920" cy="1316736"/>
          </a:xfrm>
          <a:prstGeom prst="rect">
            <a:avLst/>
          </a:prstGeom>
          <a:noFill/>
          <a:ln/>
        </p:spPr>
        <p:txBody>
          <a:bodyPr wrap="square" lIns="0" tIns="0" rIns="0" bIns="0" rtlCol="0" anchor="ctr"/>
          <a:lstStyle/>
          <a:p>
            <a:pPr indent="0" marL="0">
              <a:buNone/>
            </a:pPr>
            <a:r>
              <a:rPr lang="en-US" sz="1600" dirty="0">
                <a:solidFill>
                  <a:srgbClr val="202027"/>
                </a:solidFill>
                <a:latin typeface="Noto Sans" pitchFamily="34" charset="0"/>
                <a:ea typeface="Noto Sans" pitchFamily="34" charset="-122"/>
                <a:cs typeface="Noto Sans" pitchFamily="34" charset="-120"/>
              </a:rPr>
              <a:t>Qwen3-235B; one approved FP8 pack</a:t>
            </a:r>
            <a:endParaRPr lang="en-US" sz="1600" dirty="0"/>
          </a:p>
          <a:p>
            <a:pPr indent="0" marL="0">
              <a:buNone/>
            </a:pPr>
            <a:r>
              <a:rPr lang="en-US" sz="1600" dirty="0">
                <a:solidFill>
                  <a:srgbClr val="202027"/>
                </a:solidFill>
                <a:latin typeface="Noto Sans" pitchFamily="34" charset="0"/>
                <a:ea typeface="Noto Sans" pitchFamily="34" charset="-122"/>
                <a:cs typeface="Noto Sans" pitchFamily="34" charset="-120"/>
              </a:rPr>
              <a:t>4,096 input / up to 512 output tokens; 8K cap</a:t>
            </a:r>
            <a:endParaRPr lang="en-US" sz="1600" dirty="0"/>
          </a:p>
          <a:p>
            <a:pPr indent="0" marL="0">
              <a:buNone/>
            </a:pPr>
            <a:r>
              <a:rPr lang="en-US" sz="1600" dirty="0">
                <a:solidFill>
                  <a:srgbClr val="202027"/>
                </a:solidFill>
                <a:latin typeface="Noto Sans" pitchFamily="34" charset="0"/>
                <a:ea typeface="Noto Sans" pitchFamily="34" charset="-122"/>
                <a:cs typeface="Noto Sans" pitchFamily="34" charset="-120"/>
              </a:rPr>
              <a:t>p95 completion ≤120 s; no streaming SLO</a:t>
            </a:r>
            <a:endParaRPr lang="en-US" sz="1600" dirty="0"/>
          </a:p>
          <a:p>
            <a:pPr indent="0" marL="0">
              <a:buNone/>
            </a:pPr>
            <a:r>
              <a:rPr lang="en-US" sz="1600" dirty="0">
                <a:solidFill>
                  <a:srgbClr val="202027"/>
                </a:solidFill>
                <a:latin typeface="Noto Sans" pitchFamily="34" charset="0"/>
                <a:ea typeface="Noto Sans" pitchFamily="34" charset="-122"/>
                <a:cs typeface="Noto Sans" pitchFamily="34" charset="-120"/>
              </a:rPr>
              <a:t>Factuality + extraction quality must pass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PUBLISHED COST CONTROLS</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Use real price anchors—and include a cheaper small-model control.</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Compute prices checked 1 October 2026. Annual figures = current hourly rate × 8,760 hours, not a contract.</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[S7] Lambda instance pricing. [S8–S9] AWS Capacity Blocks/specs. Taxes, support, egress and future price changes excluded.</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08</a:t>
            </a:r>
            <a:endParaRPr lang="en-US" sz="1200" dirty="0"/>
          </a:p>
        </p:txBody>
      </p:sp>
      <p:sp>
        <p:nvSpPr>
          <p:cNvPr id="10" name="Shape 8"/>
          <p:cNvSpPr/>
          <p:nvPr/>
        </p:nvSpPr>
        <p:spPr>
          <a:xfrm>
            <a:off x="457200" y="1956816"/>
            <a:ext cx="3602736" cy="3611880"/>
          </a:xfrm>
          <a:prstGeom prst="rect">
            <a:avLst/>
          </a:prstGeom>
          <a:solidFill>
            <a:srgbClr val="FFFFFF"/>
          </a:solidFill>
          <a:ln w="12700">
            <a:solidFill>
              <a:srgbClr val="DEDDE0"/>
            </a:solidFill>
            <a:prstDash val="solid"/>
          </a:ln>
        </p:spPr>
      </p:sp>
      <p:sp>
        <p:nvSpPr>
          <p:cNvPr id="11" name="Text 9"/>
          <p:cNvSpPr/>
          <p:nvPr/>
        </p:nvSpPr>
        <p:spPr>
          <a:xfrm>
            <a:off x="621792" y="2130552"/>
            <a:ext cx="3273552" cy="457200"/>
          </a:xfrm>
          <a:prstGeom prst="rect">
            <a:avLst/>
          </a:prstGeom>
          <a:noFill/>
          <a:ln/>
        </p:spPr>
        <p:txBody>
          <a:bodyPr wrap="square" lIns="0" tIns="0" rIns="0" bIns="0" rtlCol="0" anchor="ctr"/>
          <a:lstStyle/>
          <a:p>
            <a:pPr indent="0" marL="0">
              <a:buNone/>
            </a:pPr>
            <a:r>
              <a:rPr lang="en-US" sz="1050" b="1" dirty="0">
                <a:solidFill>
                  <a:srgbClr val="D7193F"/>
                </a:solidFill>
                <a:latin typeface="Noto Sans" pitchFamily="34" charset="0"/>
                <a:ea typeface="Noto Sans" pitchFamily="34" charset="-122"/>
                <a:cs typeface="Noto Sans" pitchFamily="34" charset="-120"/>
              </a:rPr>
              <a:t>LAMBDA • QWEN 235B CANDIDATE</a:t>
            </a:r>
            <a:endParaRPr lang="en-US" sz="1050" dirty="0"/>
          </a:p>
        </p:txBody>
      </p:sp>
      <p:sp>
        <p:nvSpPr>
          <p:cNvPr id="12" name="Text 10"/>
          <p:cNvSpPr/>
          <p:nvPr/>
        </p:nvSpPr>
        <p:spPr>
          <a:xfrm>
            <a:off x="621792" y="2752344"/>
            <a:ext cx="3273552" cy="402336"/>
          </a:xfrm>
          <a:prstGeom prst="rect">
            <a:avLst/>
          </a:prstGeom>
          <a:noFill/>
          <a:ln/>
        </p:spPr>
        <p:txBody>
          <a:bodyPr wrap="square" lIns="0" tIns="0" rIns="0" bIns="0" rtlCol="0" anchor="ctr"/>
          <a:lstStyle/>
          <a:p>
            <a:pPr indent="0" marL="0">
              <a:buNone/>
            </a:pPr>
            <a:r>
              <a:rPr lang="en-US" sz="2300" b="1" dirty="0">
                <a:solidFill>
                  <a:srgbClr val="202027"/>
                </a:solidFill>
                <a:latin typeface="Noto Sans" pitchFamily="34" charset="0"/>
                <a:ea typeface="Noto Sans" pitchFamily="34" charset="-122"/>
                <a:cs typeface="Noto Sans" pitchFamily="34" charset="-120"/>
              </a:rPr>
              <a:t>4 × H100 SXM</a:t>
            </a:r>
            <a:endParaRPr lang="en-US" sz="2300" dirty="0"/>
          </a:p>
        </p:txBody>
      </p:sp>
      <p:sp>
        <p:nvSpPr>
          <p:cNvPr id="13" name="Text 11"/>
          <p:cNvSpPr/>
          <p:nvPr/>
        </p:nvSpPr>
        <p:spPr>
          <a:xfrm>
            <a:off x="621792" y="3355848"/>
            <a:ext cx="3273552" cy="557784"/>
          </a:xfrm>
          <a:prstGeom prst="rect">
            <a:avLst/>
          </a:prstGeom>
          <a:noFill/>
          <a:ln/>
        </p:spPr>
        <p:txBody>
          <a:bodyPr wrap="square" lIns="0" tIns="0" rIns="0" bIns="0" rtlCol="0" anchor="ctr"/>
          <a:lstStyle/>
          <a:p>
            <a:pPr indent="0" marL="0">
              <a:buNone/>
            </a:pPr>
            <a:r>
              <a:rPr lang="en-US" sz="3300" b="1" dirty="0">
                <a:solidFill>
                  <a:srgbClr val="D7193F"/>
                </a:solidFill>
                <a:latin typeface="Noto Sans" pitchFamily="34" charset="0"/>
                <a:ea typeface="Noto Sans" pitchFamily="34" charset="-122"/>
                <a:cs typeface="Noto Sans" pitchFamily="34" charset="-120"/>
              </a:rPr>
              <a:t>$16.36/h</a:t>
            </a:r>
            <a:endParaRPr lang="en-US" sz="3300" dirty="0"/>
          </a:p>
        </p:txBody>
      </p:sp>
      <p:sp>
        <p:nvSpPr>
          <p:cNvPr id="14" name="Text 12"/>
          <p:cNvSpPr/>
          <p:nvPr/>
        </p:nvSpPr>
        <p:spPr>
          <a:xfrm>
            <a:off x="621792" y="4041648"/>
            <a:ext cx="3273552" cy="320040"/>
          </a:xfrm>
          <a:prstGeom prst="rect">
            <a:avLst/>
          </a:prstGeom>
          <a:noFill/>
          <a:ln/>
        </p:spPr>
        <p:txBody>
          <a:bodyPr wrap="square" lIns="0" tIns="0" rIns="0" bIns="0" rtlCol="0" anchor="ctr"/>
          <a:lstStyle/>
          <a:p>
            <a:pPr indent="0" marL="0">
              <a:buNone/>
            </a:pPr>
            <a:r>
              <a:rPr lang="en-US" sz="1700" b="1" dirty="0">
                <a:solidFill>
                  <a:srgbClr val="202027"/>
                </a:solidFill>
                <a:latin typeface="Noto Sans" pitchFamily="34" charset="0"/>
                <a:ea typeface="Noto Sans" pitchFamily="34" charset="-122"/>
                <a:cs typeface="Noto Sans" pitchFamily="34" charset="-120"/>
              </a:rPr>
              <a:t>$143,314 / year</a:t>
            </a:r>
            <a:endParaRPr lang="en-US" sz="1700" dirty="0"/>
          </a:p>
        </p:txBody>
      </p:sp>
      <p:sp>
        <p:nvSpPr>
          <p:cNvPr id="15" name="Text 13"/>
          <p:cNvSpPr/>
          <p:nvPr/>
        </p:nvSpPr>
        <p:spPr>
          <a:xfrm>
            <a:off x="621792" y="4599432"/>
            <a:ext cx="3273552" cy="704088"/>
          </a:xfrm>
          <a:prstGeom prst="rect">
            <a:avLst/>
          </a:prstGeom>
          <a:noFill/>
          <a:ln/>
        </p:spPr>
        <p:txBody>
          <a:bodyPr wrap="square" lIns="0" tIns="0" rIns="0" bIns="0" rtlCol="0" anchor="ctr"/>
          <a:lstStyle/>
          <a:p>
            <a:pPr indent="0" marL="0">
              <a:buNone/>
            </a:pPr>
            <a:r>
              <a:rPr lang="en-US" sz="1350" dirty="0">
                <a:solidFill>
                  <a:srgbClr val="5E626A"/>
                </a:solidFill>
                <a:latin typeface="Noto Sans" pitchFamily="34" charset="0"/>
                <a:ea typeface="Noto Sans" pitchFamily="34" charset="-122"/>
                <a:cs typeface="Noto Sans" pitchFamily="34" charset="-120"/>
              </a:rPr>
              <a:t>320 GB aggregate GPU memory</a:t>
            </a:r>
            <a:endParaRPr lang="en-US" sz="1350" dirty="0"/>
          </a:p>
          <a:p>
            <a:pPr indent="0" marL="0">
              <a:buNone/>
            </a:pPr>
            <a:r>
              <a:rPr lang="en-US" sz="1350" dirty="0">
                <a:solidFill>
                  <a:srgbClr val="5E626A"/>
                </a:solidFill>
                <a:latin typeface="Noto Sans" pitchFamily="34" charset="0"/>
                <a:ea typeface="Noto Sans" pitchFamily="34" charset="-122"/>
                <a:cs typeface="Noto Sans" pitchFamily="34" charset="-120"/>
              </a:rPr>
              <a:t>900 GiB host RAM</a:t>
            </a:r>
            <a:endParaRPr lang="en-US" sz="1350" dirty="0"/>
          </a:p>
          <a:p>
            <a:pPr indent="0" marL="0">
              <a:buNone/>
            </a:pPr>
            <a:r>
              <a:rPr lang="en-US" sz="1350" dirty="0">
                <a:solidFill>
                  <a:srgbClr val="5E626A"/>
                </a:solidFill>
                <a:latin typeface="Noto Sans" pitchFamily="34" charset="0"/>
                <a:ea typeface="Noto Sans" pitchFamily="34" charset="-122"/>
                <a:cs typeface="Noto Sans" pitchFamily="34" charset="-120"/>
              </a:rPr>
              <a:t>$4.09 per GPU-hour</a:t>
            </a:r>
            <a:endParaRPr lang="en-US" sz="1350" dirty="0"/>
          </a:p>
        </p:txBody>
      </p:sp>
      <p:sp>
        <p:nvSpPr>
          <p:cNvPr id="16" name="Text 14"/>
          <p:cNvSpPr/>
          <p:nvPr/>
        </p:nvSpPr>
        <p:spPr>
          <a:xfrm>
            <a:off x="621792" y="5614416"/>
            <a:ext cx="3273552" cy="310896"/>
          </a:xfrm>
          <a:prstGeom prst="rect">
            <a:avLst/>
          </a:prstGeom>
          <a:noFill/>
          <a:ln/>
        </p:spPr>
        <p:txBody>
          <a:bodyPr wrap="square" lIns="0" tIns="0" rIns="0" bIns="0" rtlCol="0" anchor="ctr"/>
          <a:lstStyle/>
          <a:p>
            <a:pPr indent="0" marL="0">
              <a:buNone/>
            </a:pPr>
            <a:r>
              <a:rPr lang="en-US" sz="1020" dirty="0">
                <a:solidFill>
                  <a:srgbClr val="5E626A"/>
                </a:solidFill>
                <a:latin typeface="Noto Sans" pitchFamily="34" charset="0"/>
                <a:ea typeface="Noto Sans" pitchFamily="34" charset="-122"/>
                <a:cs typeface="Noto Sans" pitchFamily="34" charset="-120"/>
              </a:rPr>
              <a:t>Weight/KV fit and service rate must be tested.</a:t>
            </a:r>
            <a:endParaRPr lang="en-US" sz="1020" dirty="0"/>
          </a:p>
        </p:txBody>
      </p:sp>
      <p:sp>
        <p:nvSpPr>
          <p:cNvPr id="17" name="Shape 15"/>
          <p:cNvSpPr/>
          <p:nvPr/>
        </p:nvSpPr>
        <p:spPr>
          <a:xfrm>
            <a:off x="4288536" y="1956816"/>
            <a:ext cx="3602736" cy="3611880"/>
          </a:xfrm>
          <a:prstGeom prst="rect">
            <a:avLst/>
          </a:prstGeom>
          <a:solidFill>
            <a:srgbClr val="FFFFFF"/>
          </a:solidFill>
          <a:ln w="12700">
            <a:solidFill>
              <a:srgbClr val="DEDDE0"/>
            </a:solidFill>
            <a:prstDash val="solid"/>
          </a:ln>
        </p:spPr>
      </p:sp>
      <p:sp>
        <p:nvSpPr>
          <p:cNvPr id="18" name="Text 16"/>
          <p:cNvSpPr/>
          <p:nvPr/>
        </p:nvSpPr>
        <p:spPr>
          <a:xfrm>
            <a:off x="4453128" y="2130552"/>
            <a:ext cx="3273552" cy="457200"/>
          </a:xfrm>
          <a:prstGeom prst="rect">
            <a:avLst/>
          </a:prstGeom>
          <a:noFill/>
          <a:ln/>
        </p:spPr>
        <p:txBody>
          <a:bodyPr wrap="square" lIns="0" tIns="0" rIns="0" bIns="0" rtlCol="0" anchor="ctr"/>
          <a:lstStyle/>
          <a:p>
            <a:pPr indent="0" marL="0">
              <a:buNone/>
            </a:pPr>
            <a:r>
              <a:rPr lang="en-US" sz="1050" b="1" dirty="0">
                <a:solidFill>
                  <a:srgbClr val="D7193F"/>
                </a:solidFill>
                <a:latin typeface="Noto Sans" pitchFamily="34" charset="0"/>
                <a:ea typeface="Noto Sans" pitchFamily="34" charset="-122"/>
                <a:cs typeface="Noto Sans" pitchFamily="34" charset="-120"/>
              </a:rPr>
              <a:t>AWS P5.48XLARGE • CAPACITY BLOCK</a:t>
            </a:r>
            <a:endParaRPr lang="en-US" sz="1050" dirty="0"/>
          </a:p>
        </p:txBody>
      </p:sp>
      <p:sp>
        <p:nvSpPr>
          <p:cNvPr id="19" name="Text 17"/>
          <p:cNvSpPr/>
          <p:nvPr/>
        </p:nvSpPr>
        <p:spPr>
          <a:xfrm>
            <a:off x="4453128" y="2752344"/>
            <a:ext cx="3273552" cy="402336"/>
          </a:xfrm>
          <a:prstGeom prst="rect">
            <a:avLst/>
          </a:prstGeom>
          <a:noFill/>
          <a:ln/>
        </p:spPr>
        <p:txBody>
          <a:bodyPr wrap="square" lIns="0" tIns="0" rIns="0" bIns="0" rtlCol="0" anchor="ctr"/>
          <a:lstStyle/>
          <a:p>
            <a:pPr indent="0" marL="0">
              <a:buNone/>
            </a:pPr>
            <a:r>
              <a:rPr lang="en-US" sz="2300" b="1" dirty="0">
                <a:solidFill>
                  <a:srgbClr val="202027"/>
                </a:solidFill>
                <a:latin typeface="Noto Sans" pitchFamily="34" charset="0"/>
                <a:ea typeface="Noto Sans" pitchFamily="34" charset="-122"/>
                <a:cs typeface="Noto Sans" pitchFamily="34" charset="-120"/>
              </a:rPr>
              <a:t>8 × H100</a:t>
            </a:r>
            <a:endParaRPr lang="en-US" sz="2300" dirty="0"/>
          </a:p>
        </p:txBody>
      </p:sp>
      <p:sp>
        <p:nvSpPr>
          <p:cNvPr id="20" name="Text 18"/>
          <p:cNvSpPr/>
          <p:nvPr/>
        </p:nvSpPr>
        <p:spPr>
          <a:xfrm>
            <a:off x="4453128" y="3355848"/>
            <a:ext cx="3273552" cy="557784"/>
          </a:xfrm>
          <a:prstGeom prst="rect">
            <a:avLst/>
          </a:prstGeom>
          <a:noFill/>
          <a:ln/>
        </p:spPr>
        <p:txBody>
          <a:bodyPr wrap="square" lIns="0" tIns="0" rIns="0" bIns="0" rtlCol="0" anchor="ctr"/>
          <a:lstStyle/>
          <a:p>
            <a:pPr indent="0" marL="0">
              <a:buNone/>
            </a:pPr>
            <a:r>
              <a:rPr lang="en-US" sz="3300" b="1" dirty="0">
                <a:solidFill>
                  <a:srgbClr val="D7193F"/>
                </a:solidFill>
                <a:latin typeface="Noto Sans" pitchFamily="34" charset="0"/>
                <a:ea typeface="Noto Sans" pitchFamily="34" charset="-122"/>
                <a:cs typeface="Noto Sans" pitchFamily="34" charset="-120"/>
              </a:rPr>
              <a:t>$41.528/h</a:t>
            </a:r>
            <a:endParaRPr lang="en-US" sz="3300" dirty="0"/>
          </a:p>
        </p:txBody>
      </p:sp>
      <p:sp>
        <p:nvSpPr>
          <p:cNvPr id="21" name="Text 19"/>
          <p:cNvSpPr/>
          <p:nvPr/>
        </p:nvSpPr>
        <p:spPr>
          <a:xfrm>
            <a:off x="4453128" y="4041648"/>
            <a:ext cx="3273552" cy="320040"/>
          </a:xfrm>
          <a:prstGeom prst="rect">
            <a:avLst/>
          </a:prstGeom>
          <a:noFill/>
          <a:ln/>
        </p:spPr>
        <p:txBody>
          <a:bodyPr wrap="square" lIns="0" tIns="0" rIns="0" bIns="0" rtlCol="0" anchor="ctr"/>
          <a:lstStyle/>
          <a:p>
            <a:pPr indent="0" marL="0">
              <a:buNone/>
            </a:pPr>
            <a:r>
              <a:rPr lang="en-US" sz="1700" b="1" dirty="0">
                <a:solidFill>
                  <a:srgbClr val="202027"/>
                </a:solidFill>
                <a:latin typeface="Noto Sans" pitchFamily="34" charset="0"/>
                <a:ea typeface="Noto Sans" pitchFamily="34" charset="-122"/>
                <a:cs typeface="Noto Sans" pitchFamily="34" charset="-120"/>
              </a:rPr>
              <a:t>$363,785 / year</a:t>
            </a:r>
            <a:endParaRPr lang="en-US" sz="1700" dirty="0"/>
          </a:p>
        </p:txBody>
      </p:sp>
      <p:sp>
        <p:nvSpPr>
          <p:cNvPr id="22" name="Text 20"/>
          <p:cNvSpPr/>
          <p:nvPr/>
        </p:nvSpPr>
        <p:spPr>
          <a:xfrm>
            <a:off x="4453128" y="4599432"/>
            <a:ext cx="3273552" cy="704088"/>
          </a:xfrm>
          <a:prstGeom prst="rect">
            <a:avLst/>
          </a:prstGeom>
          <a:noFill/>
          <a:ln/>
        </p:spPr>
        <p:txBody>
          <a:bodyPr wrap="square" lIns="0" tIns="0" rIns="0" bIns="0" rtlCol="0" anchor="ctr"/>
          <a:lstStyle/>
          <a:p>
            <a:pPr indent="0" marL="0">
              <a:buNone/>
            </a:pPr>
            <a:r>
              <a:rPr lang="en-US" sz="1350" dirty="0">
                <a:solidFill>
                  <a:srgbClr val="5E626A"/>
                </a:solidFill>
                <a:latin typeface="Noto Sans" pitchFamily="34" charset="0"/>
                <a:ea typeface="Noto Sans" pitchFamily="34" charset="-122"/>
                <a:cs typeface="Noto Sans" pitchFamily="34" charset="-120"/>
              </a:rPr>
              <a:t>640 GB aggregate GPU memory</a:t>
            </a:r>
            <a:endParaRPr lang="en-US" sz="1350" dirty="0"/>
          </a:p>
          <a:p>
            <a:pPr indent="0" marL="0">
              <a:buNone/>
            </a:pPr>
            <a:r>
              <a:rPr lang="en-US" sz="1350" dirty="0">
                <a:solidFill>
                  <a:srgbClr val="5E626A"/>
                </a:solidFill>
                <a:latin typeface="Noto Sans" pitchFamily="34" charset="0"/>
                <a:ea typeface="Noto Sans" pitchFamily="34" charset="-122"/>
                <a:cs typeface="Noto Sans" pitchFamily="34" charset="-120"/>
              </a:rPr>
              <a:t>2 TiB host RAM</a:t>
            </a:r>
            <a:endParaRPr lang="en-US" sz="1350" dirty="0"/>
          </a:p>
          <a:p>
            <a:pPr indent="0" marL="0">
              <a:buNone/>
            </a:pPr>
            <a:r>
              <a:rPr lang="en-US" sz="1350" dirty="0">
                <a:solidFill>
                  <a:srgbClr val="5E626A"/>
                </a:solidFill>
                <a:latin typeface="Noto Sans" pitchFamily="34" charset="0"/>
                <a:ea typeface="Noto Sans" pitchFamily="34" charset="-122"/>
                <a:cs typeface="Noto Sans" pitchFamily="34" charset="-120"/>
              </a:rPr>
              <a:t>US East (N. Virginia)</a:t>
            </a:r>
            <a:endParaRPr lang="en-US" sz="1350" dirty="0"/>
          </a:p>
        </p:txBody>
      </p:sp>
      <p:sp>
        <p:nvSpPr>
          <p:cNvPr id="23" name="Text 21"/>
          <p:cNvSpPr/>
          <p:nvPr/>
        </p:nvSpPr>
        <p:spPr>
          <a:xfrm>
            <a:off x="4453128" y="5614416"/>
            <a:ext cx="3273552" cy="310896"/>
          </a:xfrm>
          <a:prstGeom prst="rect">
            <a:avLst/>
          </a:prstGeom>
          <a:noFill/>
          <a:ln/>
        </p:spPr>
        <p:txBody>
          <a:bodyPr wrap="square" lIns="0" tIns="0" rIns="0" bIns="0" rtlCol="0" anchor="ctr"/>
          <a:lstStyle/>
          <a:p>
            <a:pPr indent="0" marL="0">
              <a:buNone/>
            </a:pPr>
            <a:r>
              <a:rPr lang="en-US" sz="1020" dirty="0">
                <a:solidFill>
                  <a:srgbClr val="5E626A"/>
                </a:solidFill>
                <a:latin typeface="Noto Sans" pitchFamily="34" charset="0"/>
                <a:ea typeface="Noto Sans" pitchFamily="34" charset="-122"/>
                <a:cs typeface="Noto Sans" pitchFamily="34" charset="-120"/>
              </a:rPr>
              <a:t>Reservation rate—not On-Demand pricing.</a:t>
            </a:r>
            <a:endParaRPr lang="en-US" sz="1020" dirty="0"/>
          </a:p>
        </p:txBody>
      </p:sp>
      <p:sp>
        <p:nvSpPr>
          <p:cNvPr id="24" name="Shape 22"/>
          <p:cNvSpPr/>
          <p:nvPr/>
        </p:nvSpPr>
        <p:spPr>
          <a:xfrm>
            <a:off x="8119872" y="1956816"/>
            <a:ext cx="3602736" cy="3611880"/>
          </a:xfrm>
          <a:prstGeom prst="rect">
            <a:avLst/>
          </a:prstGeom>
          <a:solidFill>
            <a:srgbClr val="FFFFFF"/>
          </a:solidFill>
          <a:ln w="12700">
            <a:solidFill>
              <a:srgbClr val="DEDDE0"/>
            </a:solidFill>
            <a:prstDash val="solid"/>
          </a:ln>
        </p:spPr>
      </p:sp>
      <p:sp>
        <p:nvSpPr>
          <p:cNvPr id="25" name="Text 23"/>
          <p:cNvSpPr/>
          <p:nvPr/>
        </p:nvSpPr>
        <p:spPr>
          <a:xfrm>
            <a:off x="8284464" y="2130552"/>
            <a:ext cx="3273552" cy="457200"/>
          </a:xfrm>
          <a:prstGeom prst="rect">
            <a:avLst/>
          </a:prstGeom>
          <a:noFill/>
          <a:ln/>
        </p:spPr>
        <p:txBody>
          <a:bodyPr wrap="square" lIns="0" tIns="0" rIns="0" bIns="0" rtlCol="0" anchor="ctr"/>
          <a:lstStyle/>
          <a:p>
            <a:pPr indent="0" marL="0">
              <a:buNone/>
            </a:pPr>
            <a:r>
              <a:rPr lang="en-US" sz="1050" b="1" dirty="0">
                <a:solidFill>
                  <a:srgbClr val="D7193F"/>
                </a:solidFill>
                <a:latin typeface="Noto Sans" pitchFamily="34" charset="0"/>
                <a:ea typeface="Noto Sans" pitchFamily="34" charset="-122"/>
                <a:cs typeface="Noto Sans" pitchFamily="34" charset="-120"/>
              </a:rPr>
              <a:t>LAMBDA • SMALL-MODEL CONTROL</a:t>
            </a:r>
            <a:endParaRPr lang="en-US" sz="1050" dirty="0"/>
          </a:p>
        </p:txBody>
      </p:sp>
      <p:sp>
        <p:nvSpPr>
          <p:cNvPr id="26" name="Text 24"/>
          <p:cNvSpPr/>
          <p:nvPr/>
        </p:nvSpPr>
        <p:spPr>
          <a:xfrm>
            <a:off x="8284464" y="2752344"/>
            <a:ext cx="3273552" cy="402336"/>
          </a:xfrm>
          <a:prstGeom prst="rect">
            <a:avLst/>
          </a:prstGeom>
          <a:noFill/>
          <a:ln/>
        </p:spPr>
        <p:txBody>
          <a:bodyPr wrap="square" lIns="0" tIns="0" rIns="0" bIns="0" rtlCol="0" anchor="ctr"/>
          <a:lstStyle/>
          <a:p>
            <a:pPr indent="0" marL="0">
              <a:buNone/>
            </a:pPr>
            <a:r>
              <a:rPr lang="en-US" sz="2300" b="1" dirty="0">
                <a:solidFill>
                  <a:srgbClr val="202027"/>
                </a:solidFill>
                <a:latin typeface="Noto Sans" pitchFamily="34" charset="0"/>
                <a:ea typeface="Noto Sans" pitchFamily="34" charset="-122"/>
                <a:cs typeface="Noto Sans" pitchFamily="34" charset="-120"/>
              </a:rPr>
              <a:t>1 × GH200</a:t>
            </a:r>
            <a:endParaRPr lang="en-US" sz="2300" dirty="0"/>
          </a:p>
        </p:txBody>
      </p:sp>
      <p:sp>
        <p:nvSpPr>
          <p:cNvPr id="27" name="Text 25"/>
          <p:cNvSpPr/>
          <p:nvPr/>
        </p:nvSpPr>
        <p:spPr>
          <a:xfrm>
            <a:off x="8284464" y="3355848"/>
            <a:ext cx="3273552" cy="557784"/>
          </a:xfrm>
          <a:prstGeom prst="rect">
            <a:avLst/>
          </a:prstGeom>
          <a:noFill/>
          <a:ln/>
        </p:spPr>
        <p:txBody>
          <a:bodyPr wrap="square" lIns="0" tIns="0" rIns="0" bIns="0" rtlCol="0" anchor="ctr"/>
          <a:lstStyle/>
          <a:p>
            <a:pPr indent="0" marL="0">
              <a:buNone/>
            </a:pPr>
            <a:r>
              <a:rPr lang="en-US" sz="3300" b="1" dirty="0">
                <a:solidFill>
                  <a:srgbClr val="D7193F"/>
                </a:solidFill>
                <a:latin typeface="Noto Sans" pitchFamily="34" charset="0"/>
                <a:ea typeface="Noto Sans" pitchFamily="34" charset="-122"/>
                <a:cs typeface="Noto Sans" pitchFamily="34" charset="-120"/>
              </a:rPr>
              <a:t>$2.29/h</a:t>
            </a:r>
            <a:endParaRPr lang="en-US" sz="3300" dirty="0"/>
          </a:p>
        </p:txBody>
      </p:sp>
      <p:sp>
        <p:nvSpPr>
          <p:cNvPr id="28" name="Text 26"/>
          <p:cNvSpPr/>
          <p:nvPr/>
        </p:nvSpPr>
        <p:spPr>
          <a:xfrm>
            <a:off x="8284464" y="4041648"/>
            <a:ext cx="3273552" cy="320040"/>
          </a:xfrm>
          <a:prstGeom prst="rect">
            <a:avLst/>
          </a:prstGeom>
          <a:noFill/>
          <a:ln/>
        </p:spPr>
        <p:txBody>
          <a:bodyPr wrap="square" lIns="0" tIns="0" rIns="0" bIns="0" rtlCol="0" anchor="ctr"/>
          <a:lstStyle/>
          <a:p>
            <a:pPr indent="0" marL="0">
              <a:buNone/>
            </a:pPr>
            <a:r>
              <a:rPr lang="en-US" sz="1700" b="1" dirty="0">
                <a:solidFill>
                  <a:srgbClr val="202027"/>
                </a:solidFill>
                <a:latin typeface="Noto Sans" pitchFamily="34" charset="0"/>
                <a:ea typeface="Noto Sans" pitchFamily="34" charset="-122"/>
                <a:cs typeface="Noto Sans" pitchFamily="34" charset="-120"/>
              </a:rPr>
              <a:t>$20,060 / year</a:t>
            </a:r>
            <a:endParaRPr lang="en-US" sz="1700" dirty="0"/>
          </a:p>
        </p:txBody>
      </p:sp>
      <p:sp>
        <p:nvSpPr>
          <p:cNvPr id="29" name="Text 27"/>
          <p:cNvSpPr/>
          <p:nvPr/>
        </p:nvSpPr>
        <p:spPr>
          <a:xfrm>
            <a:off x="8284464" y="4599432"/>
            <a:ext cx="3273552" cy="704088"/>
          </a:xfrm>
          <a:prstGeom prst="rect">
            <a:avLst/>
          </a:prstGeom>
          <a:noFill/>
          <a:ln/>
        </p:spPr>
        <p:txBody>
          <a:bodyPr wrap="square" lIns="0" tIns="0" rIns="0" bIns="0" rtlCol="0" anchor="ctr"/>
          <a:lstStyle/>
          <a:p>
            <a:pPr indent="0" marL="0">
              <a:buNone/>
            </a:pPr>
            <a:r>
              <a:rPr lang="en-US" sz="1350" dirty="0">
                <a:solidFill>
                  <a:srgbClr val="5E626A"/>
                </a:solidFill>
                <a:latin typeface="Noto Sans" pitchFamily="34" charset="0"/>
                <a:ea typeface="Noto Sans" pitchFamily="34" charset="-122"/>
                <a:cs typeface="Noto Sans" pitchFamily="34" charset="-120"/>
              </a:rPr>
              <a:t>96 GB GPU memory</a:t>
            </a:r>
            <a:endParaRPr lang="en-US" sz="1350" dirty="0"/>
          </a:p>
          <a:p>
            <a:pPr indent="0" marL="0">
              <a:buNone/>
            </a:pPr>
            <a:r>
              <a:rPr lang="en-US" sz="1350" dirty="0">
                <a:solidFill>
                  <a:srgbClr val="5E626A"/>
                </a:solidFill>
                <a:latin typeface="Noto Sans" pitchFamily="34" charset="0"/>
                <a:ea typeface="Noto Sans" pitchFamily="34" charset="-122"/>
                <a:cs typeface="Noto Sans" pitchFamily="34" charset="-120"/>
              </a:rPr>
              <a:t>432 GiB host RAM</a:t>
            </a:r>
            <a:endParaRPr lang="en-US" sz="1350" dirty="0"/>
          </a:p>
          <a:p>
            <a:pPr indent="0" marL="0">
              <a:buNone/>
            </a:pPr>
            <a:r>
              <a:rPr lang="en-US" sz="1350" dirty="0">
                <a:solidFill>
                  <a:srgbClr val="5E626A"/>
                </a:solidFill>
                <a:latin typeface="Noto Sans" pitchFamily="34" charset="0"/>
                <a:ea typeface="Noto Sans" pitchFamily="34" charset="-122"/>
                <a:cs typeface="Noto Sans" pitchFamily="34" charset="-120"/>
              </a:rPr>
              <a:t>Candidate for Qwen 30B</a:t>
            </a:r>
            <a:endParaRPr lang="en-US" sz="1350" dirty="0"/>
          </a:p>
        </p:txBody>
      </p:sp>
      <p:sp>
        <p:nvSpPr>
          <p:cNvPr id="30" name="Text 28"/>
          <p:cNvSpPr/>
          <p:nvPr/>
        </p:nvSpPr>
        <p:spPr>
          <a:xfrm>
            <a:off x="8284464" y="5614416"/>
            <a:ext cx="3273552" cy="310896"/>
          </a:xfrm>
          <a:prstGeom prst="rect">
            <a:avLst/>
          </a:prstGeom>
          <a:noFill/>
          <a:ln/>
        </p:spPr>
        <p:txBody>
          <a:bodyPr wrap="square" lIns="0" tIns="0" rIns="0" bIns="0" rtlCol="0" anchor="ctr"/>
          <a:lstStyle/>
          <a:p>
            <a:pPr indent="0" marL="0">
              <a:buNone/>
            </a:pPr>
            <a:r>
              <a:rPr lang="en-US" sz="1020" dirty="0">
                <a:solidFill>
                  <a:srgbClr val="5E626A"/>
                </a:solidFill>
                <a:latin typeface="Noto Sans" pitchFamily="34" charset="0"/>
                <a:ea typeface="Noto Sans" pitchFamily="34" charset="-122"/>
                <a:cs typeface="Noto Sans" pitchFamily="34" charset="-120"/>
              </a:rPr>
              <a:t>Do not use an eight-GPU control for every model.</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DESIGN-TO-COST GATE</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At an $80k node target, ATMOS must earn its economics.</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Qwen 235B study: compare the same model, quality, deadline and accepted output—not raw memory capacity.</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Calculated from [S7] + explicit ATMOS budget assumptions. No measured ATMOS rate or vendor quote is available.</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09</a:t>
            </a:r>
            <a:endParaRPr lang="en-US" sz="1200" dirty="0"/>
          </a:p>
        </p:txBody>
      </p:sp>
      <p:sp>
        <p:nvSpPr>
          <p:cNvPr id="10" name="Shape 8"/>
          <p:cNvSpPr/>
          <p:nvPr/>
        </p:nvSpPr>
        <p:spPr>
          <a:xfrm>
            <a:off x="457200" y="1975104"/>
            <a:ext cx="3602736" cy="1426464"/>
          </a:xfrm>
          <a:prstGeom prst="rect">
            <a:avLst/>
          </a:prstGeom>
          <a:solidFill>
            <a:srgbClr val="FFFFFF"/>
          </a:solidFill>
          <a:ln w="12700">
            <a:solidFill>
              <a:srgbClr val="FFFFFF"/>
            </a:solidFill>
            <a:prstDash val="solid"/>
          </a:ln>
        </p:spPr>
      </p:sp>
      <p:sp>
        <p:nvSpPr>
          <p:cNvPr id="11" name="Shape 9"/>
          <p:cNvSpPr/>
          <p:nvPr/>
        </p:nvSpPr>
        <p:spPr>
          <a:xfrm>
            <a:off x="457200" y="1975104"/>
            <a:ext cx="54864" cy="1426464"/>
          </a:xfrm>
          <a:prstGeom prst="rect">
            <a:avLst/>
          </a:prstGeom>
          <a:solidFill>
            <a:srgbClr val="D7193F"/>
          </a:solidFill>
          <a:ln w="12700">
            <a:solidFill>
              <a:srgbClr val="D7193F"/>
            </a:solidFill>
            <a:prstDash val="solid"/>
          </a:ln>
        </p:spPr>
      </p:sp>
      <p:sp>
        <p:nvSpPr>
          <p:cNvPr id="12" name="Text 10"/>
          <p:cNvSpPr/>
          <p:nvPr/>
        </p:nvSpPr>
        <p:spPr>
          <a:xfrm>
            <a:off x="658368" y="2130552"/>
            <a:ext cx="3236976" cy="585216"/>
          </a:xfrm>
          <a:prstGeom prst="rect">
            <a:avLst/>
          </a:prstGeom>
          <a:noFill/>
          <a:ln/>
        </p:spPr>
        <p:txBody>
          <a:bodyPr wrap="square" lIns="0" tIns="0" rIns="0" bIns="0" rtlCol="0" anchor="ctr"/>
          <a:lstStyle/>
          <a:p>
            <a:pPr indent="0" marL="0">
              <a:buNone/>
            </a:pPr>
            <a:r>
              <a:rPr lang="en-US" sz="3900" b="1" dirty="0">
                <a:solidFill>
                  <a:srgbClr val="D7193F"/>
                </a:solidFill>
                <a:latin typeface="Noto Sans" pitchFamily="34" charset="0"/>
                <a:ea typeface="Noto Sans" pitchFamily="34" charset="-122"/>
                <a:cs typeface="Noto Sans" pitchFamily="34" charset="-120"/>
              </a:rPr>
              <a:t>$80k</a:t>
            </a:r>
            <a:endParaRPr lang="en-US" sz="3900" dirty="0"/>
          </a:p>
        </p:txBody>
      </p:sp>
      <p:sp>
        <p:nvSpPr>
          <p:cNvPr id="13" name="Text 11"/>
          <p:cNvSpPr/>
          <p:nvPr/>
        </p:nvSpPr>
        <p:spPr>
          <a:xfrm>
            <a:off x="658368" y="2761488"/>
            <a:ext cx="3236976" cy="310896"/>
          </a:xfrm>
          <a:prstGeom prst="rect">
            <a:avLst/>
          </a:prstGeom>
          <a:noFill/>
          <a:ln/>
        </p:spPr>
        <p:txBody>
          <a:bodyPr wrap="square" lIns="0" tIns="0" rIns="0" bIns="0" rtlCol="0" anchor="ctr"/>
          <a:lstStyle/>
          <a:p>
            <a:pPr indent="0" marL="0">
              <a:buNone/>
            </a:pPr>
            <a:r>
              <a:rPr lang="en-US" sz="1500" b="1" dirty="0">
                <a:solidFill>
                  <a:srgbClr val="202027"/>
                </a:solidFill>
                <a:latin typeface="Noto Sans" pitchFamily="34" charset="0"/>
                <a:ea typeface="Noto Sans" pitchFamily="34" charset="-122"/>
                <a:cs typeface="Noto Sans" pitchFamily="34" charset="-120"/>
              </a:rPr>
              <a:t>appliance purchase target</a:t>
            </a:r>
            <a:endParaRPr lang="en-US" sz="1500" dirty="0"/>
          </a:p>
        </p:txBody>
      </p:sp>
      <p:sp>
        <p:nvSpPr>
          <p:cNvPr id="14" name="Text 12"/>
          <p:cNvSpPr/>
          <p:nvPr/>
        </p:nvSpPr>
        <p:spPr>
          <a:xfrm>
            <a:off x="658368" y="3090672"/>
            <a:ext cx="3236976" cy="219456"/>
          </a:xfrm>
          <a:prstGeom prst="rect">
            <a:avLst/>
          </a:prstGeom>
          <a:noFill/>
          <a:ln/>
        </p:spPr>
        <p:txBody>
          <a:bodyPr wrap="square" lIns="0" tIns="0" rIns="0" bIns="0" rtlCol="0" anchor="ctr"/>
          <a:lstStyle/>
          <a:p>
            <a:pPr indent="0" marL="0">
              <a:buNone/>
            </a:pPr>
            <a:r>
              <a:rPr lang="en-US" sz="1100" dirty="0">
                <a:solidFill>
                  <a:srgbClr val="5E626A"/>
                </a:solidFill>
                <a:latin typeface="Noto Sans" pitchFamily="34" charset="0"/>
                <a:ea typeface="Noto Sans" pitchFamily="34" charset="-122"/>
                <a:cs typeface="Noto Sans" pitchFamily="34" charset="-120"/>
              </a:rPr>
              <a:t>Design-to-cost allowance; not a selling price</a:t>
            </a:r>
            <a:endParaRPr lang="en-US" sz="1100" dirty="0"/>
          </a:p>
        </p:txBody>
      </p:sp>
      <p:sp>
        <p:nvSpPr>
          <p:cNvPr id="15" name="Shape 13"/>
          <p:cNvSpPr/>
          <p:nvPr/>
        </p:nvSpPr>
        <p:spPr>
          <a:xfrm>
            <a:off x="4288536" y="1975104"/>
            <a:ext cx="3602736" cy="1426464"/>
          </a:xfrm>
          <a:prstGeom prst="rect">
            <a:avLst/>
          </a:prstGeom>
          <a:solidFill>
            <a:srgbClr val="FFFFFF"/>
          </a:solidFill>
          <a:ln w="12700">
            <a:solidFill>
              <a:srgbClr val="FFFFFF"/>
            </a:solidFill>
            <a:prstDash val="solid"/>
          </a:ln>
        </p:spPr>
      </p:sp>
      <p:sp>
        <p:nvSpPr>
          <p:cNvPr id="16" name="Shape 14"/>
          <p:cNvSpPr/>
          <p:nvPr/>
        </p:nvSpPr>
        <p:spPr>
          <a:xfrm>
            <a:off x="4288536" y="1975104"/>
            <a:ext cx="54864" cy="1426464"/>
          </a:xfrm>
          <a:prstGeom prst="rect">
            <a:avLst/>
          </a:prstGeom>
          <a:solidFill>
            <a:srgbClr val="D7193F"/>
          </a:solidFill>
          <a:ln w="12700">
            <a:solidFill>
              <a:srgbClr val="D7193F"/>
            </a:solidFill>
            <a:prstDash val="solid"/>
          </a:ln>
        </p:spPr>
      </p:sp>
      <p:sp>
        <p:nvSpPr>
          <p:cNvPr id="17" name="Text 15"/>
          <p:cNvSpPr/>
          <p:nvPr/>
        </p:nvSpPr>
        <p:spPr>
          <a:xfrm>
            <a:off x="4489704" y="2130552"/>
            <a:ext cx="3236976" cy="585216"/>
          </a:xfrm>
          <a:prstGeom prst="rect">
            <a:avLst/>
          </a:prstGeom>
          <a:noFill/>
          <a:ln/>
        </p:spPr>
        <p:txBody>
          <a:bodyPr wrap="square" lIns="0" tIns="0" rIns="0" bIns="0" rtlCol="0" anchor="ctr"/>
          <a:lstStyle/>
          <a:p>
            <a:pPr indent="0" marL="0">
              <a:buNone/>
            </a:pPr>
            <a:r>
              <a:rPr lang="en-US" sz="3900" b="1" dirty="0">
                <a:solidFill>
                  <a:srgbClr val="D7193F"/>
                </a:solidFill>
                <a:latin typeface="Noto Sans" pitchFamily="34" charset="0"/>
                <a:ea typeface="Noto Sans" pitchFamily="34" charset="-122"/>
                <a:cs typeface="Noto Sans" pitchFamily="34" charset="-120"/>
              </a:rPr>
              <a:t>$141k</a:t>
            </a:r>
            <a:endParaRPr lang="en-US" sz="3900" dirty="0"/>
          </a:p>
        </p:txBody>
      </p:sp>
      <p:sp>
        <p:nvSpPr>
          <p:cNvPr id="18" name="Text 16"/>
          <p:cNvSpPr/>
          <p:nvPr/>
        </p:nvSpPr>
        <p:spPr>
          <a:xfrm>
            <a:off x="4489704" y="2761488"/>
            <a:ext cx="3236976" cy="310896"/>
          </a:xfrm>
          <a:prstGeom prst="rect">
            <a:avLst/>
          </a:prstGeom>
          <a:noFill/>
          <a:ln/>
        </p:spPr>
        <p:txBody>
          <a:bodyPr wrap="square" lIns="0" tIns="0" rIns="0" bIns="0" rtlCol="0" anchor="ctr"/>
          <a:lstStyle/>
          <a:p>
            <a:pPr indent="0" marL="0">
              <a:buNone/>
            </a:pPr>
            <a:r>
              <a:rPr lang="en-US" sz="1500" b="1" dirty="0">
                <a:solidFill>
                  <a:srgbClr val="202027"/>
                </a:solidFill>
                <a:latin typeface="Noto Sans" pitchFamily="34" charset="0"/>
                <a:ea typeface="Noto Sans" pitchFamily="34" charset="-122"/>
                <a:cs typeface="Noto Sans" pitchFamily="34" charset="-120"/>
              </a:rPr>
              <a:t>3-year modeled node cost</a:t>
            </a:r>
            <a:endParaRPr lang="en-US" sz="1500" dirty="0"/>
          </a:p>
        </p:txBody>
      </p:sp>
      <p:sp>
        <p:nvSpPr>
          <p:cNvPr id="19" name="Text 17"/>
          <p:cNvSpPr/>
          <p:nvPr/>
        </p:nvSpPr>
        <p:spPr>
          <a:xfrm>
            <a:off x="4489704" y="3090672"/>
            <a:ext cx="3236976" cy="219456"/>
          </a:xfrm>
          <a:prstGeom prst="rect">
            <a:avLst/>
          </a:prstGeom>
          <a:noFill/>
          <a:ln/>
        </p:spPr>
        <p:txBody>
          <a:bodyPr wrap="square" lIns="0" tIns="0" rIns="0" bIns="0" rtlCol="0" anchor="ctr"/>
          <a:lstStyle/>
          <a:p>
            <a:pPr indent="0" marL="0">
              <a:buNone/>
            </a:pPr>
            <a:r>
              <a:rPr lang="en-US" sz="1100" dirty="0">
                <a:solidFill>
                  <a:srgbClr val="5E626A"/>
                </a:solidFill>
                <a:latin typeface="Noto Sans" pitchFamily="34" charset="0"/>
                <a:ea typeface="Noto Sans" pitchFamily="34" charset="-122"/>
                <a:cs typeface="Noto Sans" pitchFamily="34" charset="-120"/>
              </a:rPr>
              <a:t>Includes support, facility/admin and energy</a:t>
            </a:r>
            <a:endParaRPr lang="en-US" sz="1100" dirty="0"/>
          </a:p>
        </p:txBody>
      </p:sp>
      <p:sp>
        <p:nvSpPr>
          <p:cNvPr id="20" name="Shape 18"/>
          <p:cNvSpPr/>
          <p:nvPr/>
        </p:nvSpPr>
        <p:spPr>
          <a:xfrm>
            <a:off x="8119872" y="1975104"/>
            <a:ext cx="3602736" cy="1426464"/>
          </a:xfrm>
          <a:prstGeom prst="rect">
            <a:avLst/>
          </a:prstGeom>
          <a:solidFill>
            <a:srgbClr val="FFFFFF"/>
          </a:solidFill>
          <a:ln w="12700">
            <a:solidFill>
              <a:srgbClr val="FFFFFF"/>
            </a:solidFill>
            <a:prstDash val="solid"/>
          </a:ln>
        </p:spPr>
      </p:sp>
      <p:sp>
        <p:nvSpPr>
          <p:cNvPr id="21" name="Shape 19"/>
          <p:cNvSpPr/>
          <p:nvPr/>
        </p:nvSpPr>
        <p:spPr>
          <a:xfrm>
            <a:off x="8119872" y="1975104"/>
            <a:ext cx="54864" cy="1426464"/>
          </a:xfrm>
          <a:prstGeom prst="rect">
            <a:avLst/>
          </a:prstGeom>
          <a:solidFill>
            <a:srgbClr val="D7193F"/>
          </a:solidFill>
          <a:ln w="12700">
            <a:solidFill>
              <a:srgbClr val="D7193F"/>
            </a:solidFill>
            <a:prstDash val="solid"/>
          </a:ln>
        </p:spPr>
      </p:sp>
      <p:sp>
        <p:nvSpPr>
          <p:cNvPr id="22" name="Text 20"/>
          <p:cNvSpPr/>
          <p:nvPr/>
        </p:nvSpPr>
        <p:spPr>
          <a:xfrm>
            <a:off x="8321040" y="2130552"/>
            <a:ext cx="3236976" cy="585216"/>
          </a:xfrm>
          <a:prstGeom prst="rect">
            <a:avLst/>
          </a:prstGeom>
          <a:noFill/>
          <a:ln/>
        </p:spPr>
        <p:txBody>
          <a:bodyPr wrap="square" lIns="0" tIns="0" rIns="0" bIns="0" rtlCol="0" anchor="ctr"/>
          <a:lstStyle/>
          <a:p>
            <a:pPr indent="0" marL="0">
              <a:buNone/>
            </a:pPr>
            <a:r>
              <a:rPr lang="en-US" sz="3900" b="1" dirty="0">
                <a:solidFill>
                  <a:srgbClr val="D7193F"/>
                </a:solidFill>
                <a:latin typeface="Noto Sans" pitchFamily="34" charset="0"/>
                <a:ea typeface="Noto Sans" pitchFamily="34" charset="-122"/>
                <a:cs typeface="Noto Sans" pitchFamily="34" charset="-120"/>
              </a:rPr>
              <a:t>≥44%</a:t>
            </a:r>
            <a:endParaRPr lang="en-US" sz="3900" dirty="0"/>
          </a:p>
        </p:txBody>
      </p:sp>
      <p:sp>
        <p:nvSpPr>
          <p:cNvPr id="23" name="Text 21"/>
          <p:cNvSpPr/>
          <p:nvPr/>
        </p:nvSpPr>
        <p:spPr>
          <a:xfrm>
            <a:off x="8321040" y="2761488"/>
            <a:ext cx="3236976" cy="310896"/>
          </a:xfrm>
          <a:prstGeom prst="rect">
            <a:avLst/>
          </a:prstGeom>
          <a:noFill/>
          <a:ln/>
        </p:spPr>
        <p:txBody>
          <a:bodyPr wrap="square" lIns="0" tIns="0" rIns="0" bIns="0" rtlCol="0" anchor="ctr"/>
          <a:lstStyle/>
          <a:p>
            <a:pPr indent="0" marL="0">
              <a:buNone/>
            </a:pPr>
            <a:r>
              <a:rPr lang="en-US" sz="1500" b="1" dirty="0">
                <a:solidFill>
                  <a:srgbClr val="202027"/>
                </a:solidFill>
                <a:latin typeface="Noto Sans" pitchFamily="34" charset="0"/>
                <a:ea typeface="Noto Sans" pitchFamily="34" charset="-122"/>
                <a:cs typeface="Noto Sans" pitchFamily="34" charset="-120"/>
              </a:rPr>
              <a:t>of 4-H100 accepted rate</a:t>
            </a:r>
            <a:endParaRPr lang="en-US" sz="1500" dirty="0"/>
          </a:p>
        </p:txBody>
      </p:sp>
      <p:sp>
        <p:nvSpPr>
          <p:cNvPr id="24" name="Text 22"/>
          <p:cNvSpPr/>
          <p:nvPr/>
        </p:nvSpPr>
        <p:spPr>
          <a:xfrm>
            <a:off x="8321040" y="3090672"/>
            <a:ext cx="3236976" cy="219456"/>
          </a:xfrm>
          <a:prstGeom prst="rect">
            <a:avLst/>
          </a:prstGeom>
          <a:noFill/>
          <a:ln/>
        </p:spPr>
        <p:txBody>
          <a:bodyPr wrap="square" lIns="0" tIns="0" rIns="0" bIns="0" rtlCol="0" anchor="ctr"/>
          <a:lstStyle/>
          <a:p>
            <a:pPr indent="0" marL="0">
              <a:buNone/>
            </a:pPr>
            <a:r>
              <a:rPr lang="en-US" sz="1100" dirty="0">
                <a:solidFill>
                  <a:srgbClr val="5E626A"/>
                </a:solidFill>
                <a:latin typeface="Noto Sans" pitchFamily="34" charset="0"/>
                <a:ea typeface="Noto Sans" pitchFamily="34" charset="-122"/>
                <a:cs typeface="Noto Sans" pitchFamily="34" charset="-120"/>
              </a:rPr>
              <a:t>For ≥25% lower cost/accepted unit*</a:t>
            </a:r>
            <a:endParaRPr lang="en-US" sz="1100" dirty="0"/>
          </a:p>
        </p:txBody>
      </p:sp>
      <p:sp>
        <p:nvSpPr>
          <p:cNvPr id="25" name="Shape 23"/>
          <p:cNvSpPr/>
          <p:nvPr/>
        </p:nvSpPr>
        <p:spPr>
          <a:xfrm>
            <a:off x="457200" y="3749040"/>
            <a:ext cx="5513832" cy="1728216"/>
          </a:xfrm>
          <a:prstGeom prst="rect">
            <a:avLst/>
          </a:prstGeom>
          <a:solidFill>
            <a:srgbClr val="FFFFFF"/>
          </a:solidFill>
          <a:ln w="12700">
            <a:solidFill>
              <a:srgbClr val="DEDDE0"/>
            </a:solidFill>
            <a:prstDash val="solid"/>
          </a:ln>
        </p:spPr>
      </p:sp>
      <p:sp>
        <p:nvSpPr>
          <p:cNvPr id="26" name="Text 24"/>
          <p:cNvSpPr/>
          <p:nvPr/>
        </p:nvSpPr>
        <p:spPr>
          <a:xfrm>
            <a:off x="658368" y="3931920"/>
            <a:ext cx="5084064" cy="265176"/>
          </a:xfrm>
          <a:prstGeom prst="rect">
            <a:avLst/>
          </a:prstGeom>
          <a:noFill/>
          <a:ln/>
        </p:spPr>
        <p:txBody>
          <a:bodyPr wrap="square" lIns="0" tIns="0" rIns="0" bIns="0" rtlCol="0" anchor="ctr"/>
          <a:lstStyle/>
          <a:p>
            <a:pPr indent="0" marL="0">
              <a:buNone/>
            </a:pPr>
            <a:r>
              <a:rPr lang="en-US" sz="1200" b="1" dirty="0">
                <a:solidFill>
                  <a:srgbClr val="D7193F"/>
                </a:solidFill>
                <a:latin typeface="Noto Sans" pitchFamily="34" charset="0"/>
                <a:ea typeface="Noto Sans" pitchFamily="34" charset="-122"/>
                <a:cs typeface="Noto Sans" pitchFamily="34" charset="-120"/>
              </a:rPr>
              <a:t>THE TESTABLE HURDLE</a:t>
            </a:r>
            <a:endParaRPr lang="en-US" sz="1200" dirty="0"/>
          </a:p>
        </p:txBody>
      </p:sp>
      <p:sp>
        <p:nvSpPr>
          <p:cNvPr id="27" name="Text 25"/>
          <p:cNvSpPr/>
          <p:nvPr/>
        </p:nvSpPr>
        <p:spPr>
          <a:xfrm>
            <a:off x="658368" y="4389120"/>
            <a:ext cx="5093208" cy="722376"/>
          </a:xfrm>
          <a:prstGeom prst="rect">
            <a:avLst/>
          </a:prstGeom>
          <a:noFill/>
          <a:ln/>
        </p:spPr>
        <p:txBody>
          <a:bodyPr wrap="square" lIns="0" tIns="0" rIns="0" bIns="0" rtlCol="0" anchor="ctr"/>
          <a:lstStyle/>
          <a:p>
            <a:pPr indent="0" marL="0">
              <a:buNone/>
            </a:pPr>
            <a:r>
              <a:rPr lang="en-US" sz="2000" b="1" dirty="0">
                <a:solidFill>
                  <a:srgbClr val="202027"/>
                </a:solidFill>
                <a:latin typeface="Noto Sans" pitchFamily="34" charset="0"/>
                <a:ea typeface="Noto Sans" pitchFamily="34" charset="-122"/>
                <a:cs typeface="Noto Sans" pitchFamily="34" charset="-120"/>
              </a:rPr>
              <a:t>Break-even: native rate &gt;33% of the</a:t>
            </a:r>
            <a:endParaRPr lang="en-US" sz="2000" dirty="0"/>
          </a:p>
          <a:p>
            <a:pPr indent="0" marL="0">
              <a:buNone/>
            </a:pPr>
            <a:r>
              <a:rPr lang="en-US" sz="2000" b="1" dirty="0">
                <a:solidFill>
                  <a:srgbClr val="202027"/>
                </a:solidFill>
                <a:latin typeface="Noto Sans" pitchFamily="34" charset="0"/>
                <a:ea typeface="Noto Sans" pitchFamily="34" charset="-122"/>
                <a:cs typeface="Noto Sans" pitchFamily="34" charset="-120"/>
              </a:rPr>
              <a:t>4-H100 control at the same service contract.</a:t>
            </a:r>
            <a:endParaRPr lang="en-US" sz="2000" dirty="0"/>
          </a:p>
        </p:txBody>
      </p:sp>
      <p:sp>
        <p:nvSpPr>
          <p:cNvPr id="28" name="Shape 26"/>
          <p:cNvSpPr/>
          <p:nvPr/>
        </p:nvSpPr>
        <p:spPr>
          <a:xfrm>
            <a:off x="6199632" y="3749040"/>
            <a:ext cx="5522976" cy="1728216"/>
          </a:xfrm>
          <a:prstGeom prst="rect">
            <a:avLst/>
          </a:prstGeom>
          <a:solidFill>
            <a:srgbClr val="FAE8ED"/>
          </a:solidFill>
          <a:ln w="12700">
            <a:solidFill>
              <a:srgbClr val="FAE8ED"/>
            </a:solidFill>
            <a:prstDash val="solid"/>
          </a:ln>
        </p:spPr>
      </p:sp>
      <p:sp>
        <p:nvSpPr>
          <p:cNvPr id="29" name="Text 27"/>
          <p:cNvSpPr/>
          <p:nvPr/>
        </p:nvSpPr>
        <p:spPr>
          <a:xfrm>
            <a:off x="6400800" y="3931920"/>
            <a:ext cx="5120640" cy="265176"/>
          </a:xfrm>
          <a:prstGeom prst="rect">
            <a:avLst/>
          </a:prstGeom>
          <a:noFill/>
          <a:ln/>
        </p:spPr>
        <p:txBody>
          <a:bodyPr wrap="square" lIns="0" tIns="0" rIns="0" bIns="0" rtlCol="0" anchor="ctr"/>
          <a:lstStyle/>
          <a:p>
            <a:pPr indent="0" marL="0">
              <a:buNone/>
            </a:pPr>
            <a:r>
              <a:rPr lang="en-US" sz="1200" b="1" dirty="0">
                <a:solidFill>
                  <a:srgbClr val="A10F2C"/>
                </a:solidFill>
                <a:latin typeface="Noto Sans" pitchFamily="34" charset="0"/>
                <a:ea typeface="Noto Sans" pitchFamily="34" charset="-122"/>
                <a:cs typeface="Noto Sans" pitchFamily="34" charset="-120"/>
              </a:rPr>
              <a:t>THE LOW-UTILIZATION WARNING</a:t>
            </a:r>
            <a:endParaRPr lang="en-US" sz="1200" dirty="0"/>
          </a:p>
        </p:txBody>
      </p:sp>
      <p:sp>
        <p:nvSpPr>
          <p:cNvPr id="30" name="Text 28"/>
          <p:cNvSpPr/>
          <p:nvPr/>
        </p:nvSpPr>
        <p:spPr>
          <a:xfrm>
            <a:off x="6400800" y="4389120"/>
            <a:ext cx="5102352" cy="722376"/>
          </a:xfrm>
          <a:prstGeom prst="rect">
            <a:avLst/>
          </a:prstGeom>
          <a:noFill/>
          <a:ln/>
        </p:spPr>
        <p:txBody>
          <a:bodyPr wrap="square" lIns="0" tIns="0" rIns="0" bIns="0" rtlCol="0" anchor="ctr"/>
          <a:lstStyle/>
          <a:p>
            <a:pPr indent="0" marL="0">
              <a:buNone/>
            </a:pPr>
            <a:r>
              <a:rPr lang="en-US" sz="1900" b="1" dirty="0">
                <a:solidFill>
                  <a:srgbClr val="202027"/>
                </a:solidFill>
                <a:latin typeface="Noto Sans" pitchFamily="34" charset="0"/>
                <a:ea typeface="Noto Sans" pitchFamily="34" charset="-122"/>
                <a:cs typeface="Noto Sans" pitchFamily="34" charset="-120"/>
              </a:rPr>
              <a:t>At 2,080 billed hours/year, the GPU control</a:t>
            </a:r>
            <a:endParaRPr lang="en-US" sz="1900" dirty="0"/>
          </a:p>
          <a:p>
            <a:pPr indent="0" marL="0">
              <a:buNone/>
            </a:pPr>
            <a:r>
              <a:rPr lang="en-US" sz="1900" b="1" dirty="0">
                <a:solidFill>
                  <a:srgbClr val="202027"/>
                </a:solidFill>
                <a:latin typeface="Noto Sans" pitchFamily="34" charset="0"/>
                <a:ea typeface="Noto Sans" pitchFamily="34" charset="-122"/>
                <a:cs typeface="Noto Sans" pitchFamily="34" charset="-120"/>
              </a:rPr>
              <a:t>is ~$102k over 3 years—below $141k.</a:t>
            </a:r>
            <a:endParaRPr lang="en-US" sz="1900" dirty="0"/>
          </a:p>
        </p:txBody>
      </p:sp>
      <p:sp>
        <p:nvSpPr>
          <p:cNvPr id="31" name="Text 29"/>
          <p:cNvSpPr/>
          <p:nvPr/>
        </p:nvSpPr>
        <p:spPr>
          <a:xfrm>
            <a:off x="484632" y="5687568"/>
            <a:ext cx="11119104" cy="320040"/>
          </a:xfrm>
          <a:prstGeom prst="rect">
            <a:avLst/>
          </a:prstGeom>
          <a:noFill/>
          <a:ln/>
        </p:spPr>
        <p:txBody>
          <a:bodyPr wrap="square" lIns="0" tIns="0" rIns="0" bIns="0" rtlCol="0" anchor="ctr"/>
          <a:lstStyle/>
          <a:p>
            <a:pPr indent="0" marL="0">
              <a:buNone/>
            </a:pPr>
            <a:r>
              <a:rPr lang="en-US" sz="1100" dirty="0">
                <a:solidFill>
                  <a:srgbClr val="5E626A"/>
                </a:solidFill>
                <a:latin typeface="Noto Sans" pitchFamily="34" charset="0"/>
                <a:ea typeface="Noto Sans" pitchFamily="34" charset="-122"/>
                <a:cs typeface="Noto Sans" pitchFamily="34" charset="-120"/>
              </a:rPr>
              <a:t>*Unit-cost screen before failure-reserve effects and migration NRE. A node is not assumed equivalent to a GPU group.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2212A"/>
        </a:solidFill>
      </p:bgPr>
    </p:bg>
    <p:spTree>
      <p:nvGrpSpPr>
        <p:cNvPr id="1" name=""/>
        <p:cNvGrpSpPr/>
        <p:nvPr/>
      </p:nvGrpSpPr>
      <p:grpSpPr>
        <a:xfrm>
          <a:off x="0" y="0"/>
          <a:ext cx="0" cy="0"/>
          <a:chOff x="0" y="0"/>
          <a:chExt cx="0" cy="0"/>
        </a:xfrm>
      </p:grpSpPr>
      <p:sp>
        <p:nvSpPr>
          <p:cNvPr id="2" name="Text 0"/>
          <p:cNvSpPr/>
          <p:nvPr/>
        </p:nvSpPr>
        <p:spPr>
          <a:xfrm>
            <a:off x="457200" y="246888"/>
            <a:ext cx="4572000" cy="228600"/>
          </a:xfrm>
          <a:prstGeom prst="rect">
            <a:avLst/>
          </a:prstGeom>
          <a:noFill/>
          <a:ln/>
        </p:spPr>
        <p:txBody>
          <a:bodyPr wrap="square" lIns="0" tIns="0" rIns="0" bIns="0" rtlCol="0" anchor="ctr"/>
          <a:lstStyle/>
          <a:p>
            <a:pPr indent="0" marL="0">
              <a:buNone/>
            </a:pPr>
            <a:r>
              <a:rPr lang="en-US" sz="1100" b="1" dirty="0">
                <a:solidFill>
                  <a:srgbClr val="FFFFF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315200" y="256032"/>
            <a:ext cx="4389120" cy="228600"/>
          </a:xfrm>
          <a:prstGeom prst="rect">
            <a:avLst/>
          </a:prstGeom>
          <a:noFill/>
          <a:ln/>
        </p:spPr>
        <p:txBody>
          <a:bodyPr wrap="square" lIns="0" tIns="0" rIns="0" bIns="0" rtlCol="0" anchor="ctr"/>
          <a:lstStyle/>
          <a:p>
            <a:pPr algn="r" indent="0" marL="0">
              <a:buNone/>
            </a:pPr>
            <a:r>
              <a:rPr lang="en-US" sz="1000" dirty="0">
                <a:solidFill>
                  <a:srgbClr val="D5CFD5"/>
                </a:solidFill>
                <a:latin typeface="Noto Sans" pitchFamily="34" charset="0"/>
                <a:ea typeface="Noto Sans" pitchFamily="34" charset="-122"/>
                <a:cs typeface="Noto Sans" pitchFamily="34" charset="-120"/>
              </a:rPr>
              <a:t>DECISION / 10-MINUTE DISCUSSION</a:t>
            </a:r>
            <a:endParaRPr lang="en-US" sz="1000" dirty="0"/>
          </a:p>
        </p:txBody>
      </p:sp>
      <p:sp>
        <p:nvSpPr>
          <p:cNvPr id="4" name="Text 2"/>
          <p:cNvSpPr/>
          <p:nvPr/>
        </p:nvSpPr>
        <p:spPr>
          <a:xfrm>
            <a:off x="457200" y="859536"/>
            <a:ext cx="11155680" cy="1060704"/>
          </a:xfrm>
          <a:prstGeom prst="rect">
            <a:avLst/>
          </a:prstGeom>
          <a:noFill/>
          <a:ln/>
        </p:spPr>
        <p:txBody>
          <a:bodyPr wrap="square" lIns="0" tIns="0" rIns="0" bIns="0" rtlCol="0" anchor="ctr"/>
          <a:lstStyle/>
          <a:p>
            <a:pPr indent="0" marL="0">
              <a:buNone/>
            </a:pPr>
            <a:r>
              <a:rPr lang="en-US" sz="3100" b="1" dirty="0">
                <a:solidFill>
                  <a:srgbClr val="FFFFFF"/>
                </a:solidFill>
                <a:latin typeface="Noto Sans" pitchFamily="34" charset="0"/>
                <a:ea typeface="Noto Sans" pitchFamily="34" charset="-122"/>
                <a:cs typeface="Noto Sans" pitchFamily="34" charset="-120"/>
              </a:rPr>
              <a:t>Approve one native product path.</a:t>
            </a:r>
            <a:endParaRPr lang="en-US" sz="3100" dirty="0"/>
          </a:p>
          <a:p>
            <a:pPr indent="0" marL="0">
              <a:buNone/>
            </a:pPr>
            <a:r>
              <a:rPr lang="en-US" sz="3100" b="1" dirty="0">
                <a:solidFill>
                  <a:srgbClr val="FFFFFF"/>
                </a:solidFill>
                <a:latin typeface="Noto Sans" pitchFamily="34" charset="0"/>
                <a:ea typeface="Noto Sans" pitchFamily="34" charset="-122"/>
                <a:cs typeface="Noto Sans" pitchFamily="34" charset="-120"/>
              </a:rPr>
              <a:t>Gate every extension on evidence.</a:t>
            </a:r>
            <a:endParaRPr lang="en-US" sz="3100" dirty="0"/>
          </a:p>
        </p:txBody>
      </p:sp>
      <p:sp>
        <p:nvSpPr>
          <p:cNvPr id="5" name="Shape 3"/>
          <p:cNvSpPr/>
          <p:nvPr/>
        </p:nvSpPr>
        <p:spPr>
          <a:xfrm>
            <a:off x="457200" y="2240280"/>
            <a:ext cx="2642616" cy="2331720"/>
          </a:xfrm>
          <a:prstGeom prst="rect">
            <a:avLst/>
          </a:prstGeom>
          <a:solidFill>
            <a:srgbClr val="34333E"/>
          </a:solidFill>
          <a:ln w="12700">
            <a:solidFill>
              <a:srgbClr val="34333E"/>
            </a:solidFill>
            <a:prstDash val="solid"/>
          </a:ln>
        </p:spPr>
      </p:sp>
      <p:sp>
        <p:nvSpPr>
          <p:cNvPr id="6" name="Text 4"/>
          <p:cNvSpPr/>
          <p:nvPr/>
        </p:nvSpPr>
        <p:spPr>
          <a:xfrm>
            <a:off x="621792" y="2368296"/>
            <a:ext cx="347472" cy="393192"/>
          </a:xfrm>
          <a:prstGeom prst="rect">
            <a:avLst/>
          </a:prstGeom>
          <a:noFill/>
          <a:ln/>
        </p:spPr>
        <p:txBody>
          <a:bodyPr wrap="square" lIns="0" tIns="0" rIns="0" bIns="0" rtlCol="0" anchor="ctr"/>
          <a:lstStyle/>
          <a:p>
            <a:pPr indent="0" marL="0">
              <a:buNone/>
            </a:pPr>
            <a:r>
              <a:rPr lang="en-US" sz="2500" b="1" dirty="0">
                <a:solidFill>
                  <a:srgbClr val="FFFFFF"/>
                </a:solidFill>
                <a:latin typeface="Noto Sans" pitchFamily="34" charset="0"/>
                <a:ea typeface="Noto Sans" pitchFamily="34" charset="-122"/>
                <a:cs typeface="Noto Sans" pitchFamily="34" charset="-120"/>
              </a:rPr>
              <a:t>1</a:t>
            </a:r>
            <a:endParaRPr lang="en-US" sz="2500" dirty="0"/>
          </a:p>
        </p:txBody>
      </p:sp>
      <p:sp>
        <p:nvSpPr>
          <p:cNvPr id="7" name="Text 5"/>
          <p:cNvSpPr/>
          <p:nvPr/>
        </p:nvSpPr>
        <p:spPr>
          <a:xfrm>
            <a:off x="1097280" y="2468880"/>
            <a:ext cx="1801368" cy="201168"/>
          </a:xfrm>
          <a:prstGeom prst="rect">
            <a:avLst/>
          </a:prstGeom>
          <a:noFill/>
          <a:ln/>
        </p:spPr>
        <p:txBody>
          <a:bodyPr wrap="square" lIns="0" tIns="0" rIns="0" bIns="0" rtlCol="0" anchor="ctr"/>
          <a:lstStyle/>
          <a:p>
            <a:pPr indent="0" marL="0">
              <a:buNone/>
            </a:pPr>
            <a:r>
              <a:rPr lang="en-US" sz="1000" b="1" dirty="0">
                <a:solidFill>
                  <a:srgbClr val="E8DFE6"/>
                </a:solidFill>
                <a:latin typeface="Noto Sans" pitchFamily="34" charset="0"/>
                <a:ea typeface="Noto Sans" pitchFamily="34" charset="-122"/>
                <a:cs typeface="Noto Sans" pitchFamily="34" charset="-120"/>
              </a:rPr>
              <a:t>MODEL</a:t>
            </a:r>
            <a:endParaRPr lang="en-US" sz="1000" dirty="0"/>
          </a:p>
        </p:txBody>
      </p:sp>
      <p:sp>
        <p:nvSpPr>
          <p:cNvPr id="8" name="Text 6"/>
          <p:cNvSpPr/>
          <p:nvPr/>
        </p:nvSpPr>
        <p:spPr>
          <a:xfrm>
            <a:off x="621792" y="2944368"/>
            <a:ext cx="2295144" cy="384048"/>
          </a:xfrm>
          <a:prstGeom prst="rect">
            <a:avLst/>
          </a:prstGeom>
          <a:noFill/>
          <a:ln/>
        </p:spPr>
        <p:txBody>
          <a:bodyPr wrap="square" lIns="0" tIns="0" rIns="0" bIns="0" rtlCol="0" anchor="ctr"/>
          <a:lstStyle/>
          <a:p>
            <a:pPr indent="0" marL="0">
              <a:buNone/>
            </a:pPr>
            <a:r>
              <a:rPr lang="en-US" sz="2000" b="1" dirty="0">
                <a:solidFill>
                  <a:srgbClr val="FFFFFF"/>
                </a:solidFill>
                <a:latin typeface="Noto Sans" pitchFamily="34" charset="0"/>
                <a:ea typeface="Noto Sans" pitchFamily="34" charset="-122"/>
                <a:cs typeface="Noto Sans" pitchFamily="34" charset="-120"/>
              </a:rPr>
              <a:t>Simulator</a:t>
            </a:r>
            <a:endParaRPr lang="en-US" sz="2000" dirty="0"/>
          </a:p>
        </p:txBody>
      </p:sp>
      <p:sp>
        <p:nvSpPr>
          <p:cNvPr id="9" name="Text 7"/>
          <p:cNvSpPr/>
          <p:nvPr/>
        </p:nvSpPr>
        <p:spPr>
          <a:xfrm>
            <a:off x="621792" y="3630168"/>
            <a:ext cx="2295144" cy="758952"/>
          </a:xfrm>
          <a:prstGeom prst="rect">
            <a:avLst/>
          </a:prstGeom>
          <a:noFill/>
          <a:ln/>
        </p:spPr>
        <p:txBody>
          <a:bodyPr wrap="square" lIns="0" tIns="0" rIns="0" bIns="0" rtlCol="0" anchor="ctr"/>
          <a:lstStyle/>
          <a:p>
            <a:pPr indent="0" marL="0">
              <a:buNone/>
            </a:pPr>
            <a:r>
              <a:rPr lang="en-US" sz="1400" dirty="0">
                <a:solidFill>
                  <a:srgbClr val="FFFFFF"/>
                </a:solidFill>
                <a:latin typeface="Noto Sans" pitchFamily="34" charset="0"/>
                <a:ea typeface="Noto Sans" pitchFamily="34" charset="-122"/>
                <a:cs typeface="Noto Sans" pitchFamily="34" charset="-120"/>
              </a:rPr>
              <a:t>Native attention + KV</a:t>
            </a:r>
            <a:endParaRPr lang="en-US" sz="1400" dirty="0"/>
          </a:p>
          <a:p>
            <a:pPr indent="0" marL="0">
              <a:buNone/>
            </a:pPr>
            <a:r>
              <a:rPr lang="en-US" sz="1400" dirty="0">
                <a:solidFill>
                  <a:srgbClr val="FFFFFF"/>
                </a:solidFill>
                <a:latin typeface="Noto Sans" pitchFamily="34" charset="0"/>
                <a:ea typeface="Noto Sans" pitchFamily="34" charset="-122"/>
                <a:cs typeface="Noto Sans" pitchFamily="34" charset="-120"/>
              </a:rPr>
              <a:t>Experts + contention</a:t>
            </a:r>
            <a:endParaRPr lang="en-US" sz="1400" dirty="0"/>
          </a:p>
          <a:p>
            <a:pPr indent="0" marL="0">
              <a:buNone/>
            </a:pPr>
            <a:r>
              <a:rPr lang="en-US" sz="1400" dirty="0">
                <a:solidFill>
                  <a:srgbClr val="FFFFFF"/>
                </a:solidFill>
                <a:latin typeface="Noto Sans" pitchFamily="34" charset="0"/>
                <a:ea typeface="Noto Sans" pitchFamily="34" charset="-122"/>
                <a:cs typeface="Noto Sans" pitchFamily="34" charset="-120"/>
              </a:rPr>
              <a:t>Feasibility envelope</a:t>
            </a:r>
            <a:endParaRPr lang="en-US" sz="1400" dirty="0"/>
          </a:p>
        </p:txBody>
      </p:sp>
      <p:sp>
        <p:nvSpPr>
          <p:cNvPr id="10" name="Shape 8"/>
          <p:cNvSpPr/>
          <p:nvPr/>
        </p:nvSpPr>
        <p:spPr>
          <a:xfrm>
            <a:off x="3108960" y="3291840"/>
            <a:ext cx="182880" cy="0"/>
          </a:xfrm>
          <a:prstGeom prst="line">
            <a:avLst/>
          </a:prstGeom>
          <a:noFill/>
          <a:ln w="17780">
            <a:solidFill>
              <a:srgbClr val="B4ABB3"/>
            </a:solidFill>
            <a:prstDash val="solid"/>
            <a:headEnd type="none"/>
            <a:tailEnd type="triangle"/>
          </a:ln>
        </p:spPr>
      </p:sp>
      <p:sp>
        <p:nvSpPr>
          <p:cNvPr id="11" name="Shape 9"/>
          <p:cNvSpPr/>
          <p:nvPr/>
        </p:nvSpPr>
        <p:spPr>
          <a:xfrm>
            <a:off x="3328416" y="2240280"/>
            <a:ext cx="2642616" cy="2331720"/>
          </a:xfrm>
          <a:prstGeom prst="rect">
            <a:avLst/>
          </a:prstGeom>
          <a:solidFill>
            <a:srgbClr val="34333E"/>
          </a:solidFill>
          <a:ln w="12700">
            <a:solidFill>
              <a:srgbClr val="34333E"/>
            </a:solidFill>
            <a:prstDash val="solid"/>
          </a:ln>
        </p:spPr>
      </p:sp>
      <p:sp>
        <p:nvSpPr>
          <p:cNvPr id="12" name="Text 10"/>
          <p:cNvSpPr/>
          <p:nvPr/>
        </p:nvSpPr>
        <p:spPr>
          <a:xfrm>
            <a:off x="3493008" y="2368296"/>
            <a:ext cx="347472" cy="393192"/>
          </a:xfrm>
          <a:prstGeom prst="rect">
            <a:avLst/>
          </a:prstGeom>
          <a:noFill/>
          <a:ln/>
        </p:spPr>
        <p:txBody>
          <a:bodyPr wrap="square" lIns="0" tIns="0" rIns="0" bIns="0" rtlCol="0" anchor="ctr"/>
          <a:lstStyle/>
          <a:p>
            <a:pPr indent="0" marL="0">
              <a:buNone/>
            </a:pPr>
            <a:r>
              <a:rPr lang="en-US" sz="2500" b="1" dirty="0">
                <a:solidFill>
                  <a:srgbClr val="FFFFFF"/>
                </a:solidFill>
                <a:latin typeface="Noto Sans" pitchFamily="34" charset="0"/>
                <a:ea typeface="Noto Sans" pitchFamily="34" charset="-122"/>
                <a:cs typeface="Noto Sans" pitchFamily="34" charset="-120"/>
              </a:rPr>
              <a:t>2</a:t>
            </a:r>
            <a:endParaRPr lang="en-US" sz="2500" dirty="0"/>
          </a:p>
        </p:txBody>
      </p:sp>
      <p:sp>
        <p:nvSpPr>
          <p:cNvPr id="13" name="Text 11"/>
          <p:cNvSpPr/>
          <p:nvPr/>
        </p:nvSpPr>
        <p:spPr>
          <a:xfrm>
            <a:off x="3968496" y="2468880"/>
            <a:ext cx="1801368" cy="201168"/>
          </a:xfrm>
          <a:prstGeom prst="rect">
            <a:avLst/>
          </a:prstGeom>
          <a:noFill/>
          <a:ln/>
        </p:spPr>
        <p:txBody>
          <a:bodyPr wrap="square" lIns="0" tIns="0" rIns="0" bIns="0" rtlCol="0" anchor="ctr"/>
          <a:lstStyle/>
          <a:p>
            <a:pPr indent="0" marL="0">
              <a:buNone/>
            </a:pPr>
            <a:r>
              <a:rPr lang="en-US" sz="1000" b="1" dirty="0">
                <a:solidFill>
                  <a:srgbClr val="E8DFE6"/>
                </a:solidFill>
                <a:latin typeface="Noto Sans" pitchFamily="34" charset="0"/>
                <a:ea typeface="Noto Sans" pitchFamily="34" charset="-122"/>
                <a:cs typeface="Noto Sans" pitchFamily="34" charset="-120"/>
              </a:rPr>
              <a:t>SOFTWARE</a:t>
            </a:r>
            <a:endParaRPr lang="en-US" sz="1000" dirty="0"/>
          </a:p>
        </p:txBody>
      </p:sp>
      <p:sp>
        <p:nvSpPr>
          <p:cNvPr id="14" name="Text 12"/>
          <p:cNvSpPr/>
          <p:nvPr/>
        </p:nvSpPr>
        <p:spPr>
          <a:xfrm>
            <a:off x="3493008" y="2944368"/>
            <a:ext cx="2295144" cy="384048"/>
          </a:xfrm>
          <a:prstGeom prst="rect">
            <a:avLst/>
          </a:prstGeom>
          <a:noFill/>
          <a:ln/>
        </p:spPr>
        <p:txBody>
          <a:bodyPr wrap="square" lIns="0" tIns="0" rIns="0" bIns="0" rtlCol="0" anchor="ctr"/>
          <a:lstStyle/>
          <a:p>
            <a:pPr indent="0" marL="0">
              <a:buNone/>
            </a:pPr>
            <a:r>
              <a:rPr lang="en-US" sz="2000" b="1" dirty="0">
                <a:solidFill>
                  <a:srgbClr val="FFFFFF"/>
                </a:solidFill>
                <a:latin typeface="Noto Sans" pitchFamily="34" charset="0"/>
                <a:ea typeface="Noto Sans" pitchFamily="34" charset="-122"/>
                <a:cs typeface="Noto Sans" pitchFamily="34" charset="-120"/>
              </a:rPr>
              <a:t>Emulator</a:t>
            </a:r>
            <a:endParaRPr lang="en-US" sz="2000" dirty="0"/>
          </a:p>
        </p:txBody>
      </p:sp>
      <p:sp>
        <p:nvSpPr>
          <p:cNvPr id="15" name="Text 13"/>
          <p:cNvSpPr/>
          <p:nvPr/>
        </p:nvSpPr>
        <p:spPr>
          <a:xfrm>
            <a:off x="3493008" y="3630168"/>
            <a:ext cx="2295144" cy="758952"/>
          </a:xfrm>
          <a:prstGeom prst="rect">
            <a:avLst/>
          </a:prstGeom>
          <a:noFill/>
          <a:ln/>
        </p:spPr>
        <p:txBody>
          <a:bodyPr wrap="square" lIns="0" tIns="0" rIns="0" bIns="0" rtlCol="0" anchor="ctr"/>
          <a:lstStyle/>
          <a:p>
            <a:pPr indent="0" marL="0">
              <a:buNone/>
            </a:pPr>
            <a:r>
              <a:rPr lang="en-US" sz="1400" dirty="0">
                <a:solidFill>
                  <a:srgbClr val="FFFFFF"/>
                </a:solidFill>
                <a:latin typeface="Noto Sans" pitchFamily="34" charset="0"/>
                <a:ea typeface="Noto Sans" pitchFamily="34" charset="-122"/>
                <a:cs typeface="Noto Sans" pitchFamily="34" charset="-120"/>
              </a:rPr>
              <a:t>Complete model/API</a:t>
            </a:r>
            <a:endParaRPr lang="en-US" sz="1400" dirty="0"/>
          </a:p>
          <a:p>
            <a:pPr indent="0" marL="0">
              <a:buNone/>
            </a:pPr>
            <a:r>
              <a:rPr lang="en-US" sz="1400" dirty="0">
                <a:solidFill>
                  <a:srgbClr val="FFFFFF"/>
                </a:solidFill>
                <a:latin typeface="Noto Sans" pitchFamily="34" charset="0"/>
                <a:ea typeface="Noto Sans" pitchFamily="34" charset="-122"/>
                <a:cs typeface="Noto Sans" pitchFamily="34" charset="-120"/>
              </a:rPr>
              <a:t>GPU surrogate + errors</a:t>
            </a:r>
            <a:endParaRPr lang="en-US" sz="1400" dirty="0"/>
          </a:p>
          <a:p>
            <a:pPr indent="0" marL="0">
              <a:buNone/>
            </a:pPr>
            <a:r>
              <a:rPr lang="en-US" sz="1400" dirty="0">
                <a:solidFill>
                  <a:srgbClr val="FFFFFF"/>
                </a:solidFill>
                <a:latin typeface="Noto Sans" pitchFamily="34" charset="0"/>
                <a:ea typeface="Noto Sans" pitchFamily="34" charset="-122"/>
                <a:cs typeface="Noto Sans" pitchFamily="34" charset="-120"/>
              </a:rPr>
              <a:t>No ATMOS speed claim</a:t>
            </a:r>
            <a:endParaRPr lang="en-US" sz="1400" dirty="0"/>
          </a:p>
        </p:txBody>
      </p:sp>
      <p:sp>
        <p:nvSpPr>
          <p:cNvPr id="16" name="Shape 14"/>
          <p:cNvSpPr/>
          <p:nvPr/>
        </p:nvSpPr>
        <p:spPr>
          <a:xfrm>
            <a:off x="5980176" y="3291840"/>
            <a:ext cx="182880" cy="0"/>
          </a:xfrm>
          <a:prstGeom prst="line">
            <a:avLst/>
          </a:prstGeom>
          <a:noFill/>
          <a:ln w="17780">
            <a:solidFill>
              <a:srgbClr val="B4ABB3"/>
            </a:solidFill>
            <a:prstDash val="solid"/>
            <a:headEnd type="none"/>
            <a:tailEnd type="triangle"/>
          </a:ln>
        </p:spPr>
      </p:sp>
      <p:sp>
        <p:nvSpPr>
          <p:cNvPr id="17" name="Shape 15"/>
          <p:cNvSpPr/>
          <p:nvPr/>
        </p:nvSpPr>
        <p:spPr>
          <a:xfrm>
            <a:off x="6199632" y="2240280"/>
            <a:ext cx="2642616" cy="2331720"/>
          </a:xfrm>
          <a:prstGeom prst="rect">
            <a:avLst/>
          </a:prstGeom>
          <a:solidFill>
            <a:srgbClr val="D7193F"/>
          </a:solidFill>
          <a:ln w="12700">
            <a:solidFill>
              <a:srgbClr val="D7193F"/>
            </a:solidFill>
            <a:prstDash val="solid"/>
          </a:ln>
        </p:spPr>
      </p:sp>
      <p:sp>
        <p:nvSpPr>
          <p:cNvPr id="18" name="Text 16"/>
          <p:cNvSpPr/>
          <p:nvPr/>
        </p:nvSpPr>
        <p:spPr>
          <a:xfrm>
            <a:off x="6364224" y="2368296"/>
            <a:ext cx="347472" cy="393192"/>
          </a:xfrm>
          <a:prstGeom prst="rect">
            <a:avLst/>
          </a:prstGeom>
          <a:noFill/>
          <a:ln/>
        </p:spPr>
        <p:txBody>
          <a:bodyPr wrap="square" lIns="0" tIns="0" rIns="0" bIns="0" rtlCol="0" anchor="ctr"/>
          <a:lstStyle/>
          <a:p>
            <a:pPr indent="0" marL="0">
              <a:buNone/>
            </a:pPr>
            <a:r>
              <a:rPr lang="en-US" sz="2500" b="1" dirty="0">
                <a:solidFill>
                  <a:srgbClr val="FFFFFF"/>
                </a:solidFill>
                <a:latin typeface="Noto Sans" pitchFamily="34" charset="0"/>
                <a:ea typeface="Noto Sans" pitchFamily="34" charset="-122"/>
                <a:cs typeface="Noto Sans" pitchFamily="34" charset="-120"/>
              </a:rPr>
              <a:t>3</a:t>
            </a:r>
            <a:endParaRPr lang="en-US" sz="2500" dirty="0"/>
          </a:p>
        </p:txBody>
      </p:sp>
      <p:sp>
        <p:nvSpPr>
          <p:cNvPr id="19" name="Text 17"/>
          <p:cNvSpPr/>
          <p:nvPr/>
        </p:nvSpPr>
        <p:spPr>
          <a:xfrm>
            <a:off x="6839712" y="2468880"/>
            <a:ext cx="1801368" cy="201168"/>
          </a:xfrm>
          <a:prstGeom prst="rect">
            <a:avLst/>
          </a:prstGeom>
          <a:noFill/>
          <a:ln/>
        </p:spPr>
        <p:txBody>
          <a:bodyPr wrap="square" lIns="0" tIns="0" rIns="0" bIns="0" rtlCol="0" anchor="ctr"/>
          <a:lstStyle/>
          <a:p>
            <a:pPr indent="0" marL="0">
              <a:buNone/>
            </a:pPr>
            <a:r>
              <a:rPr lang="en-US" sz="1000" b="1" dirty="0">
                <a:solidFill>
                  <a:srgbClr val="E8DFE6"/>
                </a:solidFill>
                <a:latin typeface="Noto Sans" pitchFamily="34" charset="0"/>
                <a:ea typeface="Noto Sans" pitchFamily="34" charset="-122"/>
                <a:cs typeface="Noto Sans" pitchFamily="34" charset="-120"/>
              </a:rPr>
              <a:t>SILICON</a:t>
            </a:r>
            <a:endParaRPr lang="en-US" sz="1000" dirty="0"/>
          </a:p>
        </p:txBody>
      </p:sp>
      <p:sp>
        <p:nvSpPr>
          <p:cNvPr id="20" name="Text 18"/>
          <p:cNvSpPr/>
          <p:nvPr/>
        </p:nvSpPr>
        <p:spPr>
          <a:xfrm>
            <a:off x="6364224" y="2944368"/>
            <a:ext cx="2295144" cy="384048"/>
          </a:xfrm>
          <a:prstGeom prst="rect">
            <a:avLst/>
          </a:prstGeom>
          <a:noFill/>
          <a:ln/>
        </p:spPr>
        <p:txBody>
          <a:bodyPr wrap="square" lIns="0" tIns="0" rIns="0" bIns="0" rtlCol="0" anchor="ctr"/>
          <a:lstStyle/>
          <a:p>
            <a:pPr indent="0" marL="0">
              <a:buNone/>
            </a:pPr>
            <a:r>
              <a:rPr lang="en-US" sz="2000" b="1" dirty="0">
                <a:solidFill>
                  <a:srgbClr val="FFFFFF"/>
                </a:solidFill>
                <a:latin typeface="Noto Sans" pitchFamily="34" charset="0"/>
                <a:ea typeface="Noto Sans" pitchFamily="34" charset="-122"/>
                <a:cs typeface="Noto Sans" pitchFamily="34" charset="-120"/>
              </a:rPr>
              <a:t>Physical node</a:t>
            </a:r>
            <a:endParaRPr lang="en-US" sz="2000" dirty="0"/>
          </a:p>
        </p:txBody>
      </p:sp>
      <p:sp>
        <p:nvSpPr>
          <p:cNvPr id="21" name="Text 19"/>
          <p:cNvSpPr/>
          <p:nvPr/>
        </p:nvSpPr>
        <p:spPr>
          <a:xfrm>
            <a:off x="6364224" y="3630168"/>
            <a:ext cx="2295144" cy="758952"/>
          </a:xfrm>
          <a:prstGeom prst="rect">
            <a:avLst/>
          </a:prstGeom>
          <a:noFill/>
          <a:ln/>
        </p:spPr>
        <p:txBody>
          <a:bodyPr wrap="square" lIns="0" tIns="0" rIns="0" bIns="0" rtlCol="0" anchor="ctr"/>
          <a:lstStyle/>
          <a:p>
            <a:pPr indent="0" marL="0">
              <a:buNone/>
            </a:pPr>
            <a:r>
              <a:rPr lang="en-US" sz="1400" dirty="0">
                <a:solidFill>
                  <a:srgbClr val="FFFFFF"/>
                </a:solidFill>
                <a:latin typeface="Noto Sans" pitchFamily="34" charset="0"/>
                <a:ea typeface="Noto Sans" pitchFamily="34" charset="-122"/>
                <a:cs typeface="Noto Sans" pitchFamily="34" charset="-120"/>
              </a:rPr>
              <a:t>Eight E3.S + host</a:t>
            </a:r>
            <a:endParaRPr lang="en-US" sz="1400" dirty="0"/>
          </a:p>
          <a:p>
            <a:pPr indent="0" marL="0">
              <a:buNone/>
            </a:pPr>
            <a:r>
              <a:rPr lang="en-US" sz="1400" dirty="0">
                <a:solidFill>
                  <a:srgbClr val="FFFFFF"/>
                </a:solidFill>
                <a:latin typeface="Noto Sans" pitchFamily="34" charset="0"/>
                <a:ea typeface="Noto Sans" pitchFamily="34" charset="-122"/>
                <a:cs typeface="Noto Sans" pitchFamily="34" charset="-120"/>
              </a:rPr>
              <a:t>Power, latency, quality</a:t>
            </a:r>
            <a:endParaRPr lang="en-US" sz="1400" dirty="0"/>
          </a:p>
          <a:p>
            <a:pPr indent="0" marL="0">
              <a:buNone/>
            </a:pPr>
            <a:r>
              <a:rPr lang="en-US" sz="1400" dirty="0">
                <a:solidFill>
                  <a:srgbClr val="FFFFFF"/>
                </a:solidFill>
                <a:latin typeface="Noto Sans" pitchFamily="34" charset="0"/>
                <a:ea typeface="Noto Sans" pitchFamily="34" charset="-122"/>
                <a:cs typeface="Noto Sans" pitchFamily="34" charset="-120"/>
              </a:rPr>
              <a:t>Real cost / throughput</a:t>
            </a:r>
            <a:endParaRPr lang="en-US" sz="1400" dirty="0"/>
          </a:p>
        </p:txBody>
      </p:sp>
      <p:sp>
        <p:nvSpPr>
          <p:cNvPr id="22" name="Shape 20"/>
          <p:cNvSpPr/>
          <p:nvPr/>
        </p:nvSpPr>
        <p:spPr>
          <a:xfrm>
            <a:off x="8851392" y="3291840"/>
            <a:ext cx="182880" cy="0"/>
          </a:xfrm>
          <a:prstGeom prst="line">
            <a:avLst/>
          </a:prstGeom>
          <a:noFill/>
          <a:ln w="17780">
            <a:solidFill>
              <a:srgbClr val="B4ABB3"/>
            </a:solidFill>
            <a:prstDash val="solid"/>
            <a:headEnd type="none"/>
            <a:tailEnd type="triangle"/>
          </a:ln>
        </p:spPr>
      </p:sp>
      <p:sp>
        <p:nvSpPr>
          <p:cNvPr id="23" name="Shape 21"/>
          <p:cNvSpPr/>
          <p:nvPr/>
        </p:nvSpPr>
        <p:spPr>
          <a:xfrm>
            <a:off x="9070848" y="2240280"/>
            <a:ext cx="2642616" cy="2331720"/>
          </a:xfrm>
          <a:prstGeom prst="rect">
            <a:avLst/>
          </a:prstGeom>
          <a:solidFill>
            <a:srgbClr val="34333E"/>
          </a:solidFill>
          <a:ln w="12700">
            <a:solidFill>
              <a:srgbClr val="34333E"/>
            </a:solidFill>
            <a:prstDash val="solid"/>
          </a:ln>
        </p:spPr>
      </p:sp>
      <p:sp>
        <p:nvSpPr>
          <p:cNvPr id="24" name="Text 22"/>
          <p:cNvSpPr/>
          <p:nvPr/>
        </p:nvSpPr>
        <p:spPr>
          <a:xfrm>
            <a:off x="9235440" y="2368296"/>
            <a:ext cx="347472" cy="393192"/>
          </a:xfrm>
          <a:prstGeom prst="rect">
            <a:avLst/>
          </a:prstGeom>
          <a:noFill/>
          <a:ln/>
        </p:spPr>
        <p:txBody>
          <a:bodyPr wrap="square" lIns="0" tIns="0" rIns="0" bIns="0" rtlCol="0" anchor="ctr"/>
          <a:lstStyle/>
          <a:p>
            <a:pPr indent="0" marL="0">
              <a:buNone/>
            </a:pPr>
            <a:r>
              <a:rPr lang="en-US" sz="2500" b="1" dirty="0">
                <a:solidFill>
                  <a:srgbClr val="FFFFFF"/>
                </a:solidFill>
                <a:latin typeface="Noto Sans" pitchFamily="34" charset="0"/>
                <a:ea typeface="Noto Sans" pitchFamily="34" charset="-122"/>
                <a:cs typeface="Noto Sans" pitchFamily="34" charset="-120"/>
              </a:rPr>
              <a:t>4</a:t>
            </a:r>
            <a:endParaRPr lang="en-US" sz="2500" dirty="0"/>
          </a:p>
        </p:txBody>
      </p:sp>
      <p:sp>
        <p:nvSpPr>
          <p:cNvPr id="25" name="Text 23"/>
          <p:cNvSpPr/>
          <p:nvPr/>
        </p:nvSpPr>
        <p:spPr>
          <a:xfrm>
            <a:off x="9710928" y="2468880"/>
            <a:ext cx="1801368" cy="201168"/>
          </a:xfrm>
          <a:prstGeom prst="rect">
            <a:avLst/>
          </a:prstGeom>
          <a:noFill/>
          <a:ln/>
        </p:spPr>
        <p:txBody>
          <a:bodyPr wrap="square" lIns="0" tIns="0" rIns="0" bIns="0" rtlCol="0" anchor="ctr"/>
          <a:lstStyle/>
          <a:p>
            <a:pPr indent="0" marL="0">
              <a:buNone/>
            </a:pPr>
            <a:r>
              <a:rPr lang="en-US" sz="1000" b="1" dirty="0">
                <a:solidFill>
                  <a:srgbClr val="E8DFE6"/>
                </a:solidFill>
                <a:latin typeface="Noto Sans" pitchFamily="34" charset="0"/>
                <a:ea typeface="Noto Sans" pitchFamily="34" charset="-122"/>
                <a:cs typeface="Noto Sans" pitchFamily="34" charset="-120"/>
              </a:rPr>
              <a:t>CUSTOMER</a:t>
            </a:r>
            <a:endParaRPr lang="en-US" sz="1000" dirty="0"/>
          </a:p>
        </p:txBody>
      </p:sp>
      <p:sp>
        <p:nvSpPr>
          <p:cNvPr id="26" name="Text 24"/>
          <p:cNvSpPr/>
          <p:nvPr/>
        </p:nvSpPr>
        <p:spPr>
          <a:xfrm>
            <a:off x="9235440" y="2944368"/>
            <a:ext cx="2295144" cy="384048"/>
          </a:xfrm>
          <a:prstGeom prst="rect">
            <a:avLst/>
          </a:prstGeom>
          <a:noFill/>
          <a:ln/>
        </p:spPr>
        <p:txBody>
          <a:bodyPr wrap="square" lIns="0" tIns="0" rIns="0" bIns="0" rtlCol="0" anchor="ctr"/>
          <a:lstStyle/>
          <a:p>
            <a:pPr indent="0" marL="0">
              <a:buNone/>
            </a:pPr>
            <a:r>
              <a:rPr lang="en-US" sz="2000" b="1" dirty="0">
                <a:solidFill>
                  <a:srgbClr val="FFFFFF"/>
                </a:solidFill>
                <a:latin typeface="Noto Sans" pitchFamily="34" charset="0"/>
                <a:ea typeface="Noto Sans" pitchFamily="34" charset="-122"/>
                <a:cs typeface="Noto Sans" pitchFamily="34" charset="-120"/>
              </a:rPr>
              <a:t>Pilot release</a:t>
            </a:r>
            <a:endParaRPr lang="en-US" sz="2000" dirty="0"/>
          </a:p>
        </p:txBody>
      </p:sp>
      <p:sp>
        <p:nvSpPr>
          <p:cNvPr id="27" name="Text 25"/>
          <p:cNvSpPr/>
          <p:nvPr/>
        </p:nvSpPr>
        <p:spPr>
          <a:xfrm>
            <a:off x="9235440" y="3630168"/>
            <a:ext cx="2295144" cy="758952"/>
          </a:xfrm>
          <a:prstGeom prst="rect">
            <a:avLst/>
          </a:prstGeom>
          <a:noFill/>
          <a:ln/>
        </p:spPr>
        <p:txBody>
          <a:bodyPr wrap="square" lIns="0" tIns="0" rIns="0" bIns="0" rtlCol="0" anchor="ctr"/>
          <a:lstStyle/>
          <a:p>
            <a:pPr indent="0" marL="0">
              <a:buNone/>
            </a:pPr>
            <a:r>
              <a:rPr lang="en-US" sz="1400" dirty="0">
                <a:solidFill>
                  <a:srgbClr val="FFFFFF"/>
                </a:solidFill>
                <a:latin typeface="Noto Sans" pitchFamily="34" charset="0"/>
                <a:ea typeface="Noto Sans" pitchFamily="34" charset="-122"/>
                <a:cs typeface="Noto Sans" pitchFamily="34" charset="-120"/>
              </a:rPr>
              <a:t>Bank trace + reserve</a:t>
            </a:r>
            <a:endParaRPr lang="en-US" sz="1400" dirty="0"/>
          </a:p>
          <a:p>
            <a:pPr indent="0" marL="0">
              <a:buNone/>
            </a:pPr>
            <a:r>
              <a:rPr lang="en-US" sz="1400" dirty="0">
                <a:solidFill>
                  <a:srgbClr val="FFFFFF"/>
                </a:solidFill>
                <a:latin typeface="Noto Sans" pitchFamily="34" charset="0"/>
                <a:ea typeface="Noto Sans" pitchFamily="34" charset="-122"/>
                <a:cs typeface="Noto Sans" pitchFamily="34" charset="-120"/>
              </a:rPr>
              <a:t>Install / recover / update</a:t>
            </a:r>
            <a:endParaRPr lang="en-US" sz="1400" dirty="0"/>
          </a:p>
          <a:p>
            <a:pPr indent="0" marL="0">
              <a:buNone/>
            </a:pPr>
            <a:r>
              <a:rPr lang="en-US" sz="1400" dirty="0">
                <a:solidFill>
                  <a:srgbClr val="FFFFFF"/>
                </a:solidFill>
                <a:latin typeface="Noto Sans" pitchFamily="34" charset="0"/>
                <a:ea typeface="Noto Sans" pitchFamily="34" charset="-122"/>
                <a:cs typeface="Noto Sans" pitchFamily="34" charset="-120"/>
              </a:rPr>
              <a:t>Reconciled economics</a:t>
            </a:r>
            <a:endParaRPr lang="en-US" sz="1400" dirty="0"/>
          </a:p>
        </p:txBody>
      </p:sp>
      <p:sp>
        <p:nvSpPr>
          <p:cNvPr id="28" name="Shape 26"/>
          <p:cNvSpPr/>
          <p:nvPr/>
        </p:nvSpPr>
        <p:spPr>
          <a:xfrm>
            <a:off x="457200" y="4983480"/>
            <a:ext cx="11265408" cy="896112"/>
          </a:xfrm>
          <a:prstGeom prst="rect">
            <a:avLst/>
          </a:prstGeom>
          <a:solidFill>
            <a:srgbClr val="41303A"/>
          </a:solidFill>
          <a:ln w="12700">
            <a:solidFill>
              <a:srgbClr val="41303A"/>
            </a:solidFill>
            <a:prstDash val="solid"/>
          </a:ln>
        </p:spPr>
      </p:sp>
      <p:sp>
        <p:nvSpPr>
          <p:cNvPr id="29" name="Text 27"/>
          <p:cNvSpPr/>
          <p:nvPr/>
        </p:nvSpPr>
        <p:spPr>
          <a:xfrm>
            <a:off x="658368" y="5148072"/>
            <a:ext cx="1097280" cy="228600"/>
          </a:xfrm>
          <a:prstGeom prst="rect">
            <a:avLst/>
          </a:prstGeom>
          <a:noFill/>
          <a:ln/>
        </p:spPr>
        <p:txBody>
          <a:bodyPr wrap="square" lIns="0" tIns="0" rIns="0" bIns="0" rtlCol="0" anchor="ctr"/>
          <a:lstStyle/>
          <a:p>
            <a:pPr indent="0" marL="0">
              <a:buNone/>
            </a:pPr>
            <a:r>
              <a:rPr lang="en-US" sz="1100" b="1" dirty="0">
                <a:solidFill>
                  <a:srgbClr val="FFD4DF"/>
                </a:solidFill>
                <a:latin typeface="Noto Sans" pitchFamily="34" charset="0"/>
                <a:ea typeface="Noto Sans" pitchFamily="34" charset="-122"/>
                <a:cs typeface="Noto Sans" pitchFamily="34" charset="-120"/>
              </a:rPr>
              <a:t>OWNERS</a:t>
            </a:r>
            <a:endParaRPr lang="en-US" sz="1100" dirty="0"/>
          </a:p>
        </p:txBody>
      </p:sp>
      <p:sp>
        <p:nvSpPr>
          <p:cNvPr id="30" name="Text 28"/>
          <p:cNvSpPr/>
          <p:nvPr/>
        </p:nvSpPr>
        <p:spPr>
          <a:xfrm>
            <a:off x="1828800" y="5138928"/>
            <a:ext cx="9601200" cy="338328"/>
          </a:xfrm>
          <a:prstGeom prst="rect">
            <a:avLst/>
          </a:prstGeom>
          <a:noFill/>
          <a:ln/>
        </p:spPr>
        <p:txBody>
          <a:bodyPr wrap="square" lIns="0" tIns="0" rIns="0" bIns="0" rtlCol="0" anchor="ctr"/>
          <a:lstStyle/>
          <a:p>
            <a:pPr indent="0" marL="0">
              <a:buNone/>
            </a:pPr>
            <a:r>
              <a:rPr lang="en-US" sz="1700" b="1" dirty="0">
                <a:solidFill>
                  <a:srgbClr val="FFFFFF"/>
                </a:solidFill>
                <a:latin typeface="Noto Sans" pitchFamily="34" charset="0"/>
                <a:ea typeface="Noto Sans" pitchFamily="34" charset="-122"/>
                <a:cs typeface="Noto Sans" pitchFamily="34" charset="-120"/>
              </a:rPr>
              <a:t>SanDisk: service &amp; product  |  Tenstorrent: native runtime  |  OEM: node &amp; lifecycle</a:t>
            </a:r>
            <a:endParaRPr lang="en-US" sz="1700" dirty="0"/>
          </a:p>
        </p:txBody>
      </p:sp>
      <p:sp>
        <p:nvSpPr>
          <p:cNvPr id="31" name="Text 29"/>
          <p:cNvSpPr/>
          <p:nvPr/>
        </p:nvSpPr>
        <p:spPr>
          <a:xfrm>
            <a:off x="658368" y="5522976"/>
            <a:ext cx="10789920" cy="219456"/>
          </a:xfrm>
          <a:prstGeom prst="rect">
            <a:avLst/>
          </a:prstGeom>
          <a:noFill/>
          <a:ln/>
        </p:spPr>
        <p:txBody>
          <a:bodyPr wrap="square" lIns="0" tIns="0" rIns="0" bIns="0" rtlCol="0" anchor="ctr"/>
          <a:lstStyle/>
          <a:p>
            <a:pPr indent="0" marL="0">
              <a:buNone/>
            </a:pPr>
            <a:r>
              <a:rPr lang="en-US" sz="1200" dirty="0">
                <a:solidFill>
                  <a:srgbClr val="E4DCE2"/>
                </a:solidFill>
                <a:latin typeface="Noto Sans" pitchFamily="34" charset="0"/>
                <a:ea typeface="Noto Sans" pitchFamily="34" charset="-122"/>
                <a:cs typeface="Noto Sans" pitchFamily="34" charset="-120"/>
              </a:rPr>
              <a:t>Request: one runtime commitment, one OEM design study, one customer workload—not a launch promise.</a:t>
            </a:r>
            <a:endParaRPr lang="en-US" sz="1200" dirty="0"/>
          </a:p>
        </p:txBody>
      </p:sp>
      <p:sp>
        <p:nvSpPr>
          <p:cNvPr id="32" name="Text 30"/>
          <p:cNvSpPr/>
          <p:nvPr/>
        </p:nvSpPr>
        <p:spPr>
          <a:xfrm>
            <a:off x="493776" y="6153912"/>
            <a:ext cx="11155680" cy="265176"/>
          </a:xfrm>
          <a:prstGeom prst="rect">
            <a:avLst/>
          </a:prstGeom>
          <a:noFill/>
          <a:ln/>
        </p:spPr>
        <p:txBody>
          <a:bodyPr wrap="square" lIns="0" tIns="0" rIns="0" bIns="0" rtlCol="0" anchor="ctr"/>
          <a:lstStyle/>
          <a:p>
            <a:pPr indent="0" marL="0">
              <a:buNone/>
            </a:pPr>
            <a:r>
              <a:rPr lang="en-US" sz="1300" b="1" dirty="0">
                <a:solidFill>
                  <a:srgbClr val="FFB7C8"/>
                </a:solidFill>
                <a:latin typeface="Noto Sans" pitchFamily="34" charset="0"/>
                <a:ea typeface="Noto Sans" pitchFamily="34" charset="-122"/>
                <a:cs typeface="Noto Sans" pitchFamily="34" charset="-120"/>
              </a:rPr>
              <a:t>STOP if native attention/KV, complete-model performance, physical integration or matched-cost economics fails.</a:t>
            </a:r>
            <a:endParaRPr lang="en-US" sz="1300" dirty="0"/>
          </a:p>
        </p:txBody>
      </p:sp>
      <p:sp>
        <p:nvSpPr>
          <p:cNvPr id="33" name="Text 31"/>
          <p:cNvSpPr/>
          <p:nvPr/>
        </p:nvSpPr>
        <p:spPr>
          <a:xfrm>
            <a:off x="475488" y="6547104"/>
            <a:ext cx="10881360" cy="146304"/>
          </a:xfrm>
          <a:prstGeom prst="rect">
            <a:avLst/>
          </a:prstGeom>
          <a:noFill/>
          <a:ln/>
        </p:spPr>
        <p:txBody>
          <a:bodyPr wrap="square" lIns="0" tIns="0" rIns="0" bIns="0" rtlCol="0" anchor="ctr"/>
          <a:lstStyle/>
          <a:p>
            <a:pPr indent="0" marL="0">
              <a:buNone/>
            </a:pPr>
            <a:r>
              <a:rPr lang="en-US" sz="850" dirty="0">
                <a:solidFill>
                  <a:srgbClr val="CCC6CD"/>
                </a:solidFill>
                <a:latin typeface="Noto Sans" pitchFamily="34" charset="0"/>
                <a:ea typeface="Noto Sans" pitchFamily="34" charset="-122"/>
                <a:cs typeface="Noto Sans" pitchFamily="34" charset="-120"/>
              </a:rPr>
              <a:t>Internal proposal • candidate partners are not commitments. [S10, S13]  |  Technical and cost backup follows.</a:t>
            </a:r>
            <a:endParaRPr lang="en-US" sz="850" dirty="0"/>
          </a:p>
        </p:txBody>
      </p:sp>
      <p:sp>
        <p:nvSpPr>
          <p:cNvPr id="34" name="Text 32"/>
          <p:cNvSpPr/>
          <p:nvPr/>
        </p:nvSpPr>
        <p:spPr>
          <a:xfrm>
            <a:off x="11329416" y="6510528"/>
            <a:ext cx="384048" cy="246888"/>
          </a:xfrm>
          <a:prstGeom prst="rect">
            <a:avLst/>
          </a:prstGeom>
          <a:noFill/>
          <a:ln/>
        </p:spPr>
        <p:txBody>
          <a:bodyPr wrap="square" lIns="0" tIns="0" rIns="0" bIns="0" rtlCol="0" anchor="ctr"/>
          <a:lstStyle/>
          <a:p>
            <a:pPr algn="r" indent="0" marL="0">
              <a:buNone/>
            </a:pPr>
            <a:r>
              <a:rPr lang="en-US" sz="1200" b="1" dirty="0">
                <a:solidFill>
                  <a:srgbClr val="FFFFFF"/>
                </a:solidFill>
                <a:latin typeface="Noto Sans" pitchFamily="34" charset="0"/>
                <a:ea typeface="Noto Sans" pitchFamily="34" charset="-122"/>
                <a:cs typeface="Noto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BACKUP A / EXTENSION BOUNDARIES</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The three extensions buy different benefits—and different obligations.</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None is a gateway-only feature. GPU cloud prices below are budgeting proxies, not OEM hardware quotations.</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[S7] Published GPU rates. [S11] Disaggregation. [S12] Speculative decoding. [S15] Pipeline parallelism.</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11</a:t>
            </a:r>
            <a:endParaRPr lang="en-US" sz="1200" dirty="0"/>
          </a:p>
        </p:txBody>
      </p:sp>
      <p:sp>
        <p:nvSpPr>
          <p:cNvPr id="10" name="Shape 8"/>
          <p:cNvSpPr/>
          <p:nvPr/>
        </p:nvSpPr>
        <p:spPr>
          <a:xfrm>
            <a:off x="457200" y="1938528"/>
            <a:ext cx="11256264" cy="1170432"/>
          </a:xfrm>
          <a:prstGeom prst="rect">
            <a:avLst/>
          </a:prstGeom>
          <a:solidFill>
            <a:srgbClr val="FFFFFF"/>
          </a:solidFill>
          <a:ln w="12700">
            <a:solidFill>
              <a:srgbClr val="DEDDE0"/>
            </a:solidFill>
            <a:prstDash val="solid"/>
          </a:ln>
        </p:spPr>
      </p:sp>
      <p:sp>
        <p:nvSpPr>
          <p:cNvPr id="11" name="Shape 9"/>
          <p:cNvSpPr/>
          <p:nvPr/>
        </p:nvSpPr>
        <p:spPr>
          <a:xfrm>
            <a:off x="457200" y="1938528"/>
            <a:ext cx="2103120" cy="1170432"/>
          </a:xfrm>
          <a:prstGeom prst="rect">
            <a:avLst/>
          </a:prstGeom>
          <a:solidFill>
            <a:srgbClr val="D7193F"/>
          </a:solidFill>
          <a:ln w="12700">
            <a:solidFill>
              <a:srgbClr val="D7193F"/>
            </a:solidFill>
            <a:prstDash val="solid"/>
          </a:ln>
        </p:spPr>
      </p:sp>
      <p:sp>
        <p:nvSpPr>
          <p:cNvPr id="12" name="Text 10"/>
          <p:cNvSpPr/>
          <p:nvPr/>
        </p:nvSpPr>
        <p:spPr>
          <a:xfrm>
            <a:off x="630936" y="2185416"/>
            <a:ext cx="1764792" cy="676656"/>
          </a:xfrm>
          <a:prstGeom prst="rect">
            <a:avLst/>
          </a:prstGeom>
          <a:noFill/>
          <a:ln/>
        </p:spPr>
        <p:txBody>
          <a:bodyPr wrap="square" lIns="0" tIns="0" rIns="0" bIns="0" rtlCol="0" anchor="ctr"/>
          <a:lstStyle/>
          <a:p>
            <a:pPr indent="0" marL="0">
              <a:buNone/>
            </a:pPr>
            <a:r>
              <a:rPr lang="en-US" sz="1700" b="1" dirty="0">
                <a:solidFill>
                  <a:srgbClr val="FFFFFF"/>
                </a:solidFill>
                <a:latin typeface="Noto Sans" pitchFamily="34" charset="0"/>
                <a:ea typeface="Noto Sans" pitchFamily="34" charset="-122"/>
                <a:cs typeface="Noto Sans" pitchFamily="34" charset="-120"/>
              </a:rPr>
              <a:t>B  PREFILL / DECODE</a:t>
            </a:r>
            <a:endParaRPr lang="en-US" sz="1700" dirty="0"/>
          </a:p>
        </p:txBody>
      </p:sp>
      <p:sp>
        <p:nvSpPr>
          <p:cNvPr id="13" name="Text 11"/>
          <p:cNvSpPr/>
          <p:nvPr/>
        </p:nvSpPr>
        <p:spPr>
          <a:xfrm>
            <a:off x="2779776" y="2075688"/>
            <a:ext cx="8714232" cy="301752"/>
          </a:xfrm>
          <a:prstGeom prst="rect">
            <a:avLst/>
          </a:prstGeom>
          <a:noFill/>
          <a:ln/>
        </p:spPr>
        <p:txBody>
          <a:bodyPr wrap="square" lIns="0" tIns="0" rIns="0" bIns="0" rtlCol="0" anchor="ctr"/>
          <a:lstStyle/>
          <a:p>
            <a:pPr indent="0" marL="0">
              <a:buNone/>
            </a:pPr>
            <a:r>
              <a:rPr lang="en-US" sz="1700" b="1" dirty="0">
                <a:solidFill>
                  <a:srgbClr val="D7193F"/>
                </a:solidFill>
                <a:latin typeface="Noto Sans" pitchFamily="34" charset="0"/>
                <a:ea typeface="Noto Sans" pitchFamily="34" charset="-122"/>
                <a:cs typeface="Noto Sans" pitchFamily="34" charset="-120"/>
              </a:rPr>
              <a:t>GPU prefill  →  KV handoff  →  ATMOS decode</a:t>
            </a:r>
            <a:endParaRPr lang="en-US" sz="1700" dirty="0"/>
          </a:p>
        </p:txBody>
      </p:sp>
      <p:sp>
        <p:nvSpPr>
          <p:cNvPr id="14" name="Text 12"/>
          <p:cNvSpPr/>
          <p:nvPr/>
        </p:nvSpPr>
        <p:spPr>
          <a:xfrm>
            <a:off x="2779776" y="2468880"/>
            <a:ext cx="8686800" cy="475488"/>
          </a:xfrm>
          <a:prstGeom prst="rect">
            <a:avLst/>
          </a:prstGeom>
          <a:noFill/>
          <a:ln/>
        </p:spPr>
        <p:txBody>
          <a:bodyPr wrap="square" lIns="0" tIns="0" rIns="0" bIns="0" rtlCol="0" anchor="ctr"/>
          <a:lstStyle/>
          <a:p>
            <a:pPr indent="0" marL="0">
              <a:buNone/>
            </a:pPr>
            <a:r>
              <a:rPr lang="en-US" sz="1350" dirty="0">
                <a:solidFill>
                  <a:srgbClr val="5E626A"/>
                </a:solidFill>
                <a:latin typeface="Noto Sans" pitchFamily="34" charset="0"/>
                <a:ea typeface="Noto Sans" pitchFamily="34" charset="-122"/>
                <a:cs typeface="Noto Sans" pitchFamily="34" charset="-120"/>
              </a:rPr>
              <a:t>4×H100 prefill reference (320 GB): $429,941 / 3 years, shared across n decoder groups. Requires a full decoder and compatible KV handoff; measure the split ratio.</a:t>
            </a:r>
            <a:endParaRPr lang="en-US" sz="1350" dirty="0"/>
          </a:p>
        </p:txBody>
      </p:sp>
      <p:sp>
        <p:nvSpPr>
          <p:cNvPr id="15" name="Shape 13"/>
          <p:cNvSpPr/>
          <p:nvPr/>
        </p:nvSpPr>
        <p:spPr>
          <a:xfrm>
            <a:off x="457200" y="3273552"/>
            <a:ext cx="11256264" cy="1170432"/>
          </a:xfrm>
          <a:prstGeom prst="rect">
            <a:avLst/>
          </a:prstGeom>
          <a:solidFill>
            <a:srgbClr val="FFFFFF"/>
          </a:solidFill>
          <a:ln w="12700">
            <a:solidFill>
              <a:srgbClr val="DEDDE0"/>
            </a:solidFill>
            <a:prstDash val="solid"/>
          </a:ln>
        </p:spPr>
      </p:sp>
      <p:sp>
        <p:nvSpPr>
          <p:cNvPr id="16" name="Shape 14"/>
          <p:cNvSpPr/>
          <p:nvPr/>
        </p:nvSpPr>
        <p:spPr>
          <a:xfrm>
            <a:off x="457200" y="3273552"/>
            <a:ext cx="2103120" cy="1170432"/>
          </a:xfrm>
          <a:prstGeom prst="rect">
            <a:avLst/>
          </a:prstGeom>
          <a:solidFill>
            <a:srgbClr val="22212A"/>
          </a:solidFill>
          <a:ln w="12700">
            <a:solidFill>
              <a:srgbClr val="22212A"/>
            </a:solidFill>
            <a:prstDash val="solid"/>
          </a:ln>
        </p:spPr>
      </p:sp>
      <p:sp>
        <p:nvSpPr>
          <p:cNvPr id="17" name="Text 15"/>
          <p:cNvSpPr/>
          <p:nvPr/>
        </p:nvSpPr>
        <p:spPr>
          <a:xfrm>
            <a:off x="630936" y="3520440"/>
            <a:ext cx="1764792" cy="676656"/>
          </a:xfrm>
          <a:prstGeom prst="rect">
            <a:avLst/>
          </a:prstGeom>
          <a:noFill/>
          <a:ln/>
        </p:spPr>
        <p:txBody>
          <a:bodyPr wrap="square" lIns="0" tIns="0" rIns="0" bIns="0" rtlCol="0" anchor="ctr"/>
          <a:lstStyle/>
          <a:p>
            <a:pPr indent="0" marL="0">
              <a:buNone/>
            </a:pPr>
            <a:r>
              <a:rPr lang="en-US" sz="1700" b="1" dirty="0">
                <a:solidFill>
                  <a:srgbClr val="FFFFFF"/>
                </a:solidFill>
                <a:latin typeface="Noto Sans" pitchFamily="34" charset="0"/>
                <a:ea typeface="Noto Sans" pitchFamily="34" charset="-122"/>
                <a:cs typeface="Noto Sans" pitchFamily="34" charset="-120"/>
              </a:rPr>
              <a:t>C  SPECULATIVE</a:t>
            </a:r>
            <a:endParaRPr lang="en-US" sz="1700" dirty="0"/>
          </a:p>
        </p:txBody>
      </p:sp>
      <p:sp>
        <p:nvSpPr>
          <p:cNvPr id="18" name="Text 16"/>
          <p:cNvSpPr/>
          <p:nvPr/>
        </p:nvSpPr>
        <p:spPr>
          <a:xfrm>
            <a:off x="2779776" y="3410712"/>
            <a:ext cx="8714232" cy="301752"/>
          </a:xfrm>
          <a:prstGeom prst="rect">
            <a:avLst/>
          </a:prstGeom>
          <a:noFill/>
          <a:ln/>
        </p:spPr>
        <p:txBody>
          <a:bodyPr wrap="square" lIns="0" tIns="0" rIns="0" bIns="0" rtlCol="0" anchor="ctr"/>
          <a:lstStyle/>
          <a:p>
            <a:pPr indent="0" marL="0">
              <a:buNone/>
            </a:pPr>
            <a:r>
              <a:rPr lang="en-US" sz="1700" b="1" dirty="0">
                <a:solidFill>
                  <a:srgbClr val="D7193F"/>
                </a:solidFill>
                <a:latin typeface="Noto Sans" pitchFamily="34" charset="0"/>
                <a:ea typeface="Noto Sans" pitchFamily="34" charset="-122"/>
                <a:cs typeface="Noto Sans" pitchFamily="34" charset="-120"/>
              </a:rPr>
              <a:t>Small GPU draft  →  token block  →  ATMOS verification</a:t>
            </a:r>
            <a:endParaRPr lang="en-US" sz="1700" dirty="0"/>
          </a:p>
        </p:txBody>
      </p:sp>
      <p:sp>
        <p:nvSpPr>
          <p:cNvPr id="19" name="Text 17"/>
          <p:cNvSpPr/>
          <p:nvPr/>
        </p:nvSpPr>
        <p:spPr>
          <a:xfrm>
            <a:off x="2779776" y="3803904"/>
            <a:ext cx="8686800" cy="475488"/>
          </a:xfrm>
          <a:prstGeom prst="rect">
            <a:avLst/>
          </a:prstGeom>
          <a:noFill/>
          <a:ln/>
        </p:spPr>
        <p:txBody>
          <a:bodyPr wrap="square" lIns="0" tIns="0" rIns="0" bIns="0" rtlCol="0" anchor="ctr"/>
          <a:lstStyle/>
          <a:p>
            <a:pPr indent="0" marL="0">
              <a:buNone/>
            </a:pPr>
            <a:r>
              <a:rPr lang="en-US" sz="1350" dirty="0">
                <a:solidFill>
                  <a:srgbClr val="5E626A"/>
                </a:solidFill>
                <a:latin typeface="Noto Sans" pitchFamily="34" charset="0"/>
                <a:ea typeface="Noto Sans" pitchFamily="34" charset="-122"/>
                <a:cs typeface="Noto Sans" pitchFamily="34" charset="-120"/>
              </a:rPr>
              <a:t>24-GB A10 draft reference: $1.29/h = $33,901 / 3 years. Needs &gt;24% extra accepted output just to offset compute, plus correct verification and KV rollback.</a:t>
            </a:r>
            <a:endParaRPr lang="en-US" sz="1350" dirty="0"/>
          </a:p>
        </p:txBody>
      </p:sp>
      <p:sp>
        <p:nvSpPr>
          <p:cNvPr id="20" name="Shape 18"/>
          <p:cNvSpPr/>
          <p:nvPr/>
        </p:nvSpPr>
        <p:spPr>
          <a:xfrm>
            <a:off x="457200" y="4608576"/>
            <a:ext cx="11256264" cy="1170432"/>
          </a:xfrm>
          <a:prstGeom prst="rect">
            <a:avLst/>
          </a:prstGeom>
          <a:solidFill>
            <a:srgbClr val="FFFFFF"/>
          </a:solidFill>
          <a:ln w="12700">
            <a:solidFill>
              <a:srgbClr val="DEDDE0"/>
            </a:solidFill>
            <a:prstDash val="solid"/>
          </a:ln>
        </p:spPr>
      </p:sp>
      <p:sp>
        <p:nvSpPr>
          <p:cNvPr id="21" name="Shape 19"/>
          <p:cNvSpPr/>
          <p:nvPr/>
        </p:nvSpPr>
        <p:spPr>
          <a:xfrm>
            <a:off x="457200" y="4608576"/>
            <a:ext cx="2103120" cy="1170432"/>
          </a:xfrm>
          <a:prstGeom prst="rect">
            <a:avLst/>
          </a:prstGeom>
          <a:solidFill>
            <a:srgbClr val="22212A"/>
          </a:solidFill>
          <a:ln w="12700">
            <a:solidFill>
              <a:srgbClr val="22212A"/>
            </a:solidFill>
            <a:prstDash val="solid"/>
          </a:ln>
        </p:spPr>
      </p:sp>
      <p:sp>
        <p:nvSpPr>
          <p:cNvPr id="22" name="Text 20"/>
          <p:cNvSpPr/>
          <p:nvPr/>
        </p:nvSpPr>
        <p:spPr>
          <a:xfrm>
            <a:off x="630936" y="4855464"/>
            <a:ext cx="1764792" cy="676656"/>
          </a:xfrm>
          <a:prstGeom prst="rect">
            <a:avLst/>
          </a:prstGeom>
          <a:noFill/>
          <a:ln/>
        </p:spPr>
        <p:txBody>
          <a:bodyPr wrap="square" lIns="0" tIns="0" rIns="0" bIns="0" rtlCol="0" anchor="ctr"/>
          <a:lstStyle/>
          <a:p>
            <a:pPr indent="0" marL="0">
              <a:buNone/>
            </a:pPr>
            <a:r>
              <a:rPr lang="en-US" sz="1700" b="1" dirty="0">
                <a:solidFill>
                  <a:srgbClr val="FFFFFF"/>
                </a:solidFill>
                <a:latin typeface="Noto Sans" pitchFamily="34" charset="0"/>
                <a:ea typeface="Noto Sans" pitchFamily="34" charset="-122"/>
                <a:cs typeface="Noto Sans" pitchFamily="34" charset="-120"/>
              </a:rPr>
              <a:t>D  WHOLE-LAYER PIPELINE</a:t>
            </a:r>
            <a:endParaRPr lang="en-US" sz="1700" dirty="0"/>
          </a:p>
        </p:txBody>
      </p:sp>
      <p:sp>
        <p:nvSpPr>
          <p:cNvPr id="23" name="Text 21"/>
          <p:cNvSpPr/>
          <p:nvPr/>
        </p:nvSpPr>
        <p:spPr>
          <a:xfrm>
            <a:off x="2779776" y="4745736"/>
            <a:ext cx="8714232" cy="301752"/>
          </a:xfrm>
          <a:prstGeom prst="rect">
            <a:avLst/>
          </a:prstGeom>
          <a:noFill/>
          <a:ln/>
        </p:spPr>
        <p:txBody>
          <a:bodyPr wrap="square" lIns="0" tIns="0" rIns="0" bIns="0" rtlCol="0" anchor="ctr"/>
          <a:lstStyle/>
          <a:p>
            <a:pPr indent="0" marL="0">
              <a:buNone/>
            </a:pPr>
            <a:r>
              <a:rPr lang="en-US" sz="1700" b="1" dirty="0">
                <a:solidFill>
                  <a:srgbClr val="D7193F"/>
                </a:solidFill>
                <a:latin typeface="Noto Sans" pitchFamily="34" charset="0"/>
                <a:ea typeface="Noto Sans" pitchFamily="34" charset="-122"/>
                <a:cs typeface="Noto Sans" pitchFamily="34" charset="-120"/>
              </a:rPr>
              <a:t>GPU layer group  →  activation  →  ATMOS layer group</a:t>
            </a:r>
            <a:endParaRPr lang="en-US" sz="1700" dirty="0"/>
          </a:p>
        </p:txBody>
      </p:sp>
      <p:sp>
        <p:nvSpPr>
          <p:cNvPr id="24" name="Text 22"/>
          <p:cNvSpPr/>
          <p:nvPr/>
        </p:nvSpPr>
        <p:spPr>
          <a:xfrm>
            <a:off x="2779776" y="5138928"/>
            <a:ext cx="8686800" cy="475488"/>
          </a:xfrm>
          <a:prstGeom prst="rect">
            <a:avLst/>
          </a:prstGeom>
          <a:noFill/>
          <a:ln/>
        </p:spPr>
        <p:txBody>
          <a:bodyPr wrap="square" lIns="0" tIns="0" rIns="0" bIns="0" rtlCol="0" anchor="ctr"/>
          <a:lstStyle/>
          <a:p>
            <a:pPr indent="0" marL="0">
              <a:buNone/>
            </a:pPr>
            <a:r>
              <a:rPr lang="en-US" sz="1350" dirty="0">
                <a:solidFill>
                  <a:srgbClr val="5E626A"/>
                </a:solidFill>
                <a:latin typeface="Noto Sans" pitchFamily="34" charset="0"/>
                <a:ea typeface="Noto Sans" pitchFamily="34" charset="-122"/>
                <a:cs typeface="Noto Sans" pitchFamily="34" charset="-120"/>
              </a:rPr>
              <a:t>GPU count and spend depend on layer partition; price after memory fit. ATMOS owns attention/KV for its stages. Balance, microbatch flow and recovery remain unproven.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BACKUP B / MEMORY AND SERVICE BUDGETS</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The native-product risk moves to attention, active KV and device fabric.</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LPDDR is a working-memory budget. HBF residency is not sufficient to operate a complete model service.</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[S3–S5] Model configurations. [I1] Internal memory targets. All budgets/calculations must be checked per device.</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12</a:t>
            </a:r>
            <a:endParaRPr lang="en-US" sz="1200" dirty="0"/>
          </a:p>
        </p:txBody>
      </p:sp>
      <p:sp>
        <p:nvSpPr>
          <p:cNvPr id="10" name="Shape 8"/>
          <p:cNvSpPr/>
          <p:nvPr/>
        </p:nvSpPr>
        <p:spPr>
          <a:xfrm>
            <a:off x="457200" y="1920240"/>
            <a:ext cx="2971800" cy="420624"/>
          </a:xfrm>
          <a:prstGeom prst="rect">
            <a:avLst/>
          </a:prstGeom>
          <a:solidFill>
            <a:srgbClr val="22212A"/>
          </a:solidFill>
          <a:ln w="12700">
            <a:solidFill>
              <a:srgbClr val="22212A"/>
            </a:solidFill>
            <a:prstDash val="solid"/>
          </a:ln>
        </p:spPr>
      </p:sp>
      <p:sp>
        <p:nvSpPr>
          <p:cNvPr id="11" name="Text 9"/>
          <p:cNvSpPr/>
          <p:nvPr/>
        </p:nvSpPr>
        <p:spPr>
          <a:xfrm>
            <a:off x="548640" y="2011680"/>
            <a:ext cx="2788920"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Qwen BF16 KV</a:t>
            </a:r>
            <a:endParaRPr lang="en-US" sz="1200" dirty="0"/>
          </a:p>
        </p:txBody>
      </p:sp>
      <p:sp>
        <p:nvSpPr>
          <p:cNvPr id="12" name="Shape 10"/>
          <p:cNvSpPr/>
          <p:nvPr/>
        </p:nvSpPr>
        <p:spPr>
          <a:xfrm>
            <a:off x="3429000" y="1920240"/>
            <a:ext cx="1874520" cy="420624"/>
          </a:xfrm>
          <a:prstGeom prst="rect">
            <a:avLst/>
          </a:prstGeom>
          <a:solidFill>
            <a:srgbClr val="22212A"/>
          </a:solidFill>
          <a:ln w="12700">
            <a:solidFill>
              <a:srgbClr val="22212A"/>
            </a:solidFill>
            <a:prstDash val="solid"/>
          </a:ln>
        </p:spPr>
      </p:sp>
      <p:sp>
        <p:nvSpPr>
          <p:cNvPr id="13" name="Text 11"/>
          <p:cNvSpPr/>
          <p:nvPr/>
        </p:nvSpPr>
        <p:spPr>
          <a:xfrm>
            <a:off x="3520440" y="2011680"/>
            <a:ext cx="1691640"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Per 8K sequence</a:t>
            </a:r>
            <a:endParaRPr lang="en-US" sz="1200" dirty="0"/>
          </a:p>
        </p:txBody>
      </p:sp>
      <p:sp>
        <p:nvSpPr>
          <p:cNvPr id="14" name="Shape 12"/>
          <p:cNvSpPr/>
          <p:nvPr/>
        </p:nvSpPr>
        <p:spPr>
          <a:xfrm>
            <a:off x="5303520" y="1920240"/>
            <a:ext cx="1920240" cy="420624"/>
          </a:xfrm>
          <a:prstGeom prst="rect">
            <a:avLst/>
          </a:prstGeom>
          <a:solidFill>
            <a:srgbClr val="22212A"/>
          </a:solidFill>
          <a:ln w="12700">
            <a:solidFill>
              <a:srgbClr val="22212A"/>
            </a:solidFill>
            <a:prstDash val="solid"/>
          </a:ln>
        </p:spPr>
      </p:sp>
      <p:sp>
        <p:nvSpPr>
          <p:cNvPr id="15" name="Text 13"/>
          <p:cNvSpPr/>
          <p:nvPr/>
        </p:nvSpPr>
        <p:spPr>
          <a:xfrm>
            <a:off x="5394960" y="2011680"/>
            <a:ext cx="1737360"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32 sequences</a:t>
            </a:r>
            <a:endParaRPr lang="en-US" sz="1200" dirty="0"/>
          </a:p>
        </p:txBody>
      </p:sp>
      <p:sp>
        <p:nvSpPr>
          <p:cNvPr id="16" name="Shape 14"/>
          <p:cNvSpPr/>
          <p:nvPr/>
        </p:nvSpPr>
        <p:spPr>
          <a:xfrm>
            <a:off x="7223760" y="1920240"/>
            <a:ext cx="4507992" cy="420624"/>
          </a:xfrm>
          <a:prstGeom prst="rect">
            <a:avLst/>
          </a:prstGeom>
          <a:solidFill>
            <a:srgbClr val="22212A"/>
          </a:solidFill>
          <a:ln w="12700">
            <a:solidFill>
              <a:srgbClr val="22212A"/>
            </a:solidFill>
            <a:prstDash val="solid"/>
          </a:ln>
        </p:spPr>
      </p:sp>
      <p:sp>
        <p:nvSpPr>
          <p:cNvPr id="17" name="Text 15"/>
          <p:cNvSpPr/>
          <p:nvPr/>
        </p:nvSpPr>
        <p:spPr>
          <a:xfrm>
            <a:off x="7315200" y="2011680"/>
            <a:ext cx="4325112"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Implication</a:t>
            </a:r>
            <a:endParaRPr lang="en-US" sz="1200" dirty="0"/>
          </a:p>
        </p:txBody>
      </p:sp>
      <p:sp>
        <p:nvSpPr>
          <p:cNvPr id="18" name="Shape 16"/>
          <p:cNvSpPr/>
          <p:nvPr/>
        </p:nvSpPr>
        <p:spPr>
          <a:xfrm>
            <a:off x="457200" y="2340864"/>
            <a:ext cx="2971800" cy="694944"/>
          </a:xfrm>
          <a:prstGeom prst="rect">
            <a:avLst/>
          </a:prstGeom>
          <a:solidFill>
            <a:srgbClr val="F2F0F1"/>
          </a:solidFill>
          <a:ln w="12700">
            <a:solidFill>
              <a:srgbClr val="F2F0F1"/>
            </a:solidFill>
            <a:prstDash val="solid"/>
          </a:ln>
        </p:spPr>
      </p:sp>
      <p:sp>
        <p:nvSpPr>
          <p:cNvPr id="19" name="Text 17"/>
          <p:cNvSpPr/>
          <p:nvPr/>
        </p:nvSpPr>
        <p:spPr>
          <a:xfrm>
            <a:off x="548640" y="2441448"/>
            <a:ext cx="2788920" cy="539496"/>
          </a:xfrm>
          <a:prstGeom prst="rect">
            <a:avLst/>
          </a:prstGeom>
          <a:noFill/>
          <a:ln/>
        </p:spPr>
        <p:txBody>
          <a:bodyPr wrap="square" lIns="0" tIns="0" rIns="0" bIns="0" rtlCol="0" anchor="ctr"/>
          <a:lstStyle/>
          <a:p>
            <a:pPr algn="l" indent="0" marL="0">
              <a:buNone/>
            </a:pPr>
            <a:r>
              <a:rPr lang="en-US" sz="1350" b="1" dirty="0">
                <a:solidFill>
                  <a:srgbClr val="202027"/>
                </a:solidFill>
                <a:latin typeface="Noto Sans" pitchFamily="34" charset="0"/>
                <a:ea typeface="Noto Sans" pitchFamily="34" charset="-122"/>
                <a:cs typeface="Noto Sans" pitchFamily="34" charset="-120"/>
              </a:rPr>
              <a:t>30B-A3B: 48 layers</a:t>
            </a:r>
            <a:endParaRPr lang="en-US" sz="1350" dirty="0"/>
          </a:p>
        </p:txBody>
      </p:sp>
      <p:sp>
        <p:nvSpPr>
          <p:cNvPr id="20" name="Shape 18"/>
          <p:cNvSpPr/>
          <p:nvPr/>
        </p:nvSpPr>
        <p:spPr>
          <a:xfrm>
            <a:off x="3429000" y="2340864"/>
            <a:ext cx="1874520" cy="694944"/>
          </a:xfrm>
          <a:prstGeom prst="rect">
            <a:avLst/>
          </a:prstGeom>
          <a:solidFill>
            <a:srgbClr val="F2F0F1"/>
          </a:solidFill>
          <a:ln w="12700">
            <a:solidFill>
              <a:srgbClr val="F2F0F1"/>
            </a:solidFill>
            <a:prstDash val="solid"/>
          </a:ln>
        </p:spPr>
      </p:sp>
      <p:sp>
        <p:nvSpPr>
          <p:cNvPr id="21" name="Text 19"/>
          <p:cNvSpPr/>
          <p:nvPr/>
        </p:nvSpPr>
        <p:spPr>
          <a:xfrm>
            <a:off x="3520440" y="2441448"/>
            <a:ext cx="1691640" cy="539496"/>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0.750 GiB</a:t>
            </a:r>
            <a:endParaRPr lang="en-US" sz="1350" dirty="0"/>
          </a:p>
        </p:txBody>
      </p:sp>
      <p:sp>
        <p:nvSpPr>
          <p:cNvPr id="22" name="Shape 20"/>
          <p:cNvSpPr/>
          <p:nvPr/>
        </p:nvSpPr>
        <p:spPr>
          <a:xfrm>
            <a:off x="5303520" y="2340864"/>
            <a:ext cx="1920240" cy="694944"/>
          </a:xfrm>
          <a:prstGeom prst="rect">
            <a:avLst/>
          </a:prstGeom>
          <a:solidFill>
            <a:srgbClr val="F2F0F1"/>
          </a:solidFill>
          <a:ln w="12700">
            <a:solidFill>
              <a:srgbClr val="F2F0F1"/>
            </a:solidFill>
            <a:prstDash val="solid"/>
          </a:ln>
        </p:spPr>
      </p:sp>
      <p:sp>
        <p:nvSpPr>
          <p:cNvPr id="23" name="Text 21"/>
          <p:cNvSpPr/>
          <p:nvPr/>
        </p:nvSpPr>
        <p:spPr>
          <a:xfrm>
            <a:off x="5394960" y="2441448"/>
            <a:ext cx="1737360" cy="539496"/>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24.0 GiB</a:t>
            </a:r>
            <a:endParaRPr lang="en-US" sz="1350" dirty="0"/>
          </a:p>
        </p:txBody>
      </p:sp>
      <p:sp>
        <p:nvSpPr>
          <p:cNvPr id="24" name="Shape 22"/>
          <p:cNvSpPr/>
          <p:nvPr/>
        </p:nvSpPr>
        <p:spPr>
          <a:xfrm>
            <a:off x="7223760" y="2340864"/>
            <a:ext cx="4507992" cy="694944"/>
          </a:xfrm>
          <a:prstGeom prst="rect">
            <a:avLst/>
          </a:prstGeom>
          <a:solidFill>
            <a:srgbClr val="F2F0F1"/>
          </a:solidFill>
          <a:ln w="12700">
            <a:solidFill>
              <a:srgbClr val="F2F0F1"/>
            </a:solidFill>
            <a:prstDash val="solid"/>
          </a:ln>
        </p:spPr>
      </p:sp>
      <p:sp>
        <p:nvSpPr>
          <p:cNvPr id="25" name="Text 23"/>
          <p:cNvSpPr/>
          <p:nvPr/>
        </p:nvSpPr>
        <p:spPr>
          <a:xfrm>
            <a:off x="7315200" y="2441448"/>
            <a:ext cx="4325112" cy="539496"/>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Smaller complete-model bring-up; quality must be qualified.</a:t>
            </a:r>
            <a:endParaRPr lang="en-US" sz="1350" dirty="0"/>
          </a:p>
        </p:txBody>
      </p:sp>
      <p:sp>
        <p:nvSpPr>
          <p:cNvPr id="26" name="Shape 24"/>
          <p:cNvSpPr/>
          <p:nvPr/>
        </p:nvSpPr>
        <p:spPr>
          <a:xfrm>
            <a:off x="457200" y="3035808"/>
            <a:ext cx="2971800" cy="694944"/>
          </a:xfrm>
          <a:prstGeom prst="rect">
            <a:avLst/>
          </a:prstGeom>
          <a:solidFill>
            <a:srgbClr val="FFFFFF"/>
          </a:solidFill>
          <a:ln w="12700">
            <a:solidFill>
              <a:srgbClr val="FFFFFF"/>
            </a:solidFill>
            <a:prstDash val="solid"/>
          </a:ln>
        </p:spPr>
      </p:sp>
      <p:sp>
        <p:nvSpPr>
          <p:cNvPr id="27" name="Text 25"/>
          <p:cNvSpPr/>
          <p:nvPr/>
        </p:nvSpPr>
        <p:spPr>
          <a:xfrm>
            <a:off x="548640" y="3136392"/>
            <a:ext cx="2788920" cy="539496"/>
          </a:xfrm>
          <a:prstGeom prst="rect">
            <a:avLst/>
          </a:prstGeom>
          <a:noFill/>
          <a:ln/>
        </p:spPr>
        <p:txBody>
          <a:bodyPr wrap="square" lIns="0" tIns="0" rIns="0" bIns="0" rtlCol="0" anchor="ctr"/>
          <a:lstStyle/>
          <a:p>
            <a:pPr algn="l" indent="0" marL="0">
              <a:buNone/>
            </a:pPr>
            <a:r>
              <a:rPr lang="en-US" sz="1350" b="1" dirty="0">
                <a:solidFill>
                  <a:srgbClr val="202027"/>
                </a:solidFill>
                <a:latin typeface="Noto Sans" pitchFamily="34" charset="0"/>
                <a:ea typeface="Noto Sans" pitchFamily="34" charset="-122"/>
                <a:cs typeface="Noto Sans" pitchFamily="34" charset="-120"/>
              </a:rPr>
              <a:t>235B-A22B: 94 layers</a:t>
            </a:r>
            <a:endParaRPr lang="en-US" sz="1350" dirty="0"/>
          </a:p>
        </p:txBody>
      </p:sp>
      <p:sp>
        <p:nvSpPr>
          <p:cNvPr id="28" name="Shape 26"/>
          <p:cNvSpPr/>
          <p:nvPr/>
        </p:nvSpPr>
        <p:spPr>
          <a:xfrm>
            <a:off x="3429000" y="3035808"/>
            <a:ext cx="1874520" cy="694944"/>
          </a:xfrm>
          <a:prstGeom prst="rect">
            <a:avLst/>
          </a:prstGeom>
          <a:solidFill>
            <a:srgbClr val="FFFFFF"/>
          </a:solidFill>
          <a:ln w="12700">
            <a:solidFill>
              <a:srgbClr val="FFFFFF"/>
            </a:solidFill>
            <a:prstDash val="solid"/>
          </a:ln>
        </p:spPr>
      </p:sp>
      <p:sp>
        <p:nvSpPr>
          <p:cNvPr id="29" name="Text 27"/>
          <p:cNvSpPr/>
          <p:nvPr/>
        </p:nvSpPr>
        <p:spPr>
          <a:xfrm>
            <a:off x="3520440" y="3136392"/>
            <a:ext cx="1691640" cy="539496"/>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1.469 GiB</a:t>
            </a:r>
            <a:endParaRPr lang="en-US" sz="1350" dirty="0"/>
          </a:p>
        </p:txBody>
      </p:sp>
      <p:sp>
        <p:nvSpPr>
          <p:cNvPr id="30" name="Shape 28"/>
          <p:cNvSpPr/>
          <p:nvPr/>
        </p:nvSpPr>
        <p:spPr>
          <a:xfrm>
            <a:off x="5303520" y="3035808"/>
            <a:ext cx="1920240" cy="694944"/>
          </a:xfrm>
          <a:prstGeom prst="rect">
            <a:avLst/>
          </a:prstGeom>
          <a:solidFill>
            <a:srgbClr val="FFFFFF"/>
          </a:solidFill>
          <a:ln w="12700">
            <a:solidFill>
              <a:srgbClr val="FFFFFF"/>
            </a:solidFill>
            <a:prstDash val="solid"/>
          </a:ln>
        </p:spPr>
      </p:sp>
      <p:sp>
        <p:nvSpPr>
          <p:cNvPr id="31" name="Text 29"/>
          <p:cNvSpPr/>
          <p:nvPr/>
        </p:nvSpPr>
        <p:spPr>
          <a:xfrm>
            <a:off x="5394960" y="3136392"/>
            <a:ext cx="1737360" cy="539496"/>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47.0 GiB</a:t>
            </a:r>
            <a:endParaRPr lang="en-US" sz="1350" dirty="0"/>
          </a:p>
        </p:txBody>
      </p:sp>
      <p:sp>
        <p:nvSpPr>
          <p:cNvPr id="32" name="Shape 30"/>
          <p:cNvSpPr/>
          <p:nvPr/>
        </p:nvSpPr>
        <p:spPr>
          <a:xfrm>
            <a:off x="7223760" y="3035808"/>
            <a:ext cx="4507992" cy="694944"/>
          </a:xfrm>
          <a:prstGeom prst="rect">
            <a:avLst/>
          </a:prstGeom>
          <a:solidFill>
            <a:srgbClr val="FFFFFF"/>
          </a:solidFill>
          <a:ln w="12700">
            <a:solidFill>
              <a:srgbClr val="FFFFFF"/>
            </a:solidFill>
            <a:prstDash val="solid"/>
          </a:ln>
        </p:spPr>
      </p:sp>
      <p:sp>
        <p:nvSpPr>
          <p:cNvPr id="33" name="Text 31"/>
          <p:cNvSpPr/>
          <p:nvPr/>
        </p:nvSpPr>
        <p:spPr>
          <a:xfrm>
            <a:off x="7315200" y="3136392"/>
            <a:ext cx="4325112" cy="539496"/>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~50.47 decimal GB; cannot be treated as one shared pool.</a:t>
            </a:r>
            <a:endParaRPr lang="en-US" sz="1350" dirty="0"/>
          </a:p>
        </p:txBody>
      </p:sp>
      <p:sp>
        <p:nvSpPr>
          <p:cNvPr id="34" name="Shape 32"/>
          <p:cNvSpPr/>
          <p:nvPr/>
        </p:nvSpPr>
        <p:spPr>
          <a:xfrm>
            <a:off x="457200" y="3730752"/>
            <a:ext cx="2971800" cy="694944"/>
          </a:xfrm>
          <a:prstGeom prst="rect">
            <a:avLst/>
          </a:prstGeom>
          <a:solidFill>
            <a:srgbClr val="F2F0F1"/>
          </a:solidFill>
          <a:ln w="12700">
            <a:solidFill>
              <a:srgbClr val="F2F0F1"/>
            </a:solidFill>
            <a:prstDash val="solid"/>
          </a:ln>
        </p:spPr>
      </p:sp>
      <p:sp>
        <p:nvSpPr>
          <p:cNvPr id="35" name="Text 33"/>
          <p:cNvSpPr/>
          <p:nvPr/>
        </p:nvSpPr>
        <p:spPr>
          <a:xfrm>
            <a:off x="548640" y="3831336"/>
            <a:ext cx="2788920" cy="539496"/>
          </a:xfrm>
          <a:prstGeom prst="rect">
            <a:avLst/>
          </a:prstGeom>
          <a:noFill/>
          <a:ln/>
        </p:spPr>
        <p:txBody>
          <a:bodyPr wrap="square" lIns="0" tIns="0" rIns="0" bIns="0" rtlCol="0" anchor="ctr"/>
          <a:lstStyle/>
          <a:p>
            <a:pPr algn="l" indent="0" marL="0">
              <a:buNone/>
            </a:pPr>
            <a:r>
              <a:rPr lang="en-US" sz="1350" b="1" dirty="0">
                <a:solidFill>
                  <a:srgbClr val="202027"/>
                </a:solidFill>
                <a:latin typeface="Noto Sans" pitchFamily="34" charset="0"/>
                <a:ea typeface="Noto Sans" pitchFamily="34" charset="-122"/>
                <a:cs typeface="Noto Sans" pitchFamily="34" charset="-120"/>
              </a:rPr>
              <a:t>235B at 32K context</a:t>
            </a:r>
            <a:endParaRPr lang="en-US" sz="1350" dirty="0"/>
          </a:p>
        </p:txBody>
      </p:sp>
      <p:sp>
        <p:nvSpPr>
          <p:cNvPr id="36" name="Shape 34"/>
          <p:cNvSpPr/>
          <p:nvPr/>
        </p:nvSpPr>
        <p:spPr>
          <a:xfrm>
            <a:off x="3429000" y="3730752"/>
            <a:ext cx="1874520" cy="694944"/>
          </a:xfrm>
          <a:prstGeom prst="rect">
            <a:avLst/>
          </a:prstGeom>
          <a:solidFill>
            <a:srgbClr val="F2F0F1"/>
          </a:solidFill>
          <a:ln w="12700">
            <a:solidFill>
              <a:srgbClr val="F2F0F1"/>
            </a:solidFill>
            <a:prstDash val="solid"/>
          </a:ln>
        </p:spPr>
      </p:sp>
      <p:sp>
        <p:nvSpPr>
          <p:cNvPr id="37" name="Text 35"/>
          <p:cNvSpPr/>
          <p:nvPr/>
        </p:nvSpPr>
        <p:spPr>
          <a:xfrm>
            <a:off x="3520440" y="3831336"/>
            <a:ext cx="1691640" cy="539496"/>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5.875 GiB</a:t>
            </a:r>
            <a:endParaRPr lang="en-US" sz="1350" dirty="0"/>
          </a:p>
        </p:txBody>
      </p:sp>
      <p:sp>
        <p:nvSpPr>
          <p:cNvPr id="38" name="Shape 36"/>
          <p:cNvSpPr/>
          <p:nvPr/>
        </p:nvSpPr>
        <p:spPr>
          <a:xfrm>
            <a:off x="5303520" y="3730752"/>
            <a:ext cx="1920240" cy="694944"/>
          </a:xfrm>
          <a:prstGeom prst="rect">
            <a:avLst/>
          </a:prstGeom>
          <a:solidFill>
            <a:srgbClr val="F2F0F1"/>
          </a:solidFill>
          <a:ln w="12700">
            <a:solidFill>
              <a:srgbClr val="F2F0F1"/>
            </a:solidFill>
            <a:prstDash val="solid"/>
          </a:ln>
        </p:spPr>
      </p:sp>
      <p:sp>
        <p:nvSpPr>
          <p:cNvPr id="39" name="Text 37"/>
          <p:cNvSpPr/>
          <p:nvPr/>
        </p:nvSpPr>
        <p:spPr>
          <a:xfrm>
            <a:off x="5394960" y="3831336"/>
            <a:ext cx="1737360" cy="539496"/>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188.0 GiB</a:t>
            </a:r>
            <a:endParaRPr lang="en-US" sz="1350" dirty="0"/>
          </a:p>
        </p:txBody>
      </p:sp>
      <p:sp>
        <p:nvSpPr>
          <p:cNvPr id="40" name="Shape 38"/>
          <p:cNvSpPr/>
          <p:nvPr/>
        </p:nvSpPr>
        <p:spPr>
          <a:xfrm>
            <a:off x="7223760" y="3730752"/>
            <a:ext cx="4507992" cy="694944"/>
          </a:xfrm>
          <a:prstGeom prst="rect">
            <a:avLst/>
          </a:prstGeom>
          <a:solidFill>
            <a:srgbClr val="F2F0F1"/>
          </a:solidFill>
          <a:ln w="12700">
            <a:solidFill>
              <a:srgbClr val="F2F0F1"/>
            </a:solidFill>
            <a:prstDash val="solid"/>
          </a:ln>
        </p:spPr>
      </p:sp>
      <p:sp>
        <p:nvSpPr>
          <p:cNvPr id="41" name="Text 39"/>
          <p:cNvSpPr/>
          <p:nvPr/>
        </p:nvSpPr>
        <p:spPr>
          <a:xfrm>
            <a:off x="7315200" y="3831336"/>
            <a:ext cx="4325112" cy="539496"/>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Exceeds 8 × 16GB nominal LPDDR before any reserve.</a:t>
            </a:r>
            <a:endParaRPr lang="en-US" sz="1350" dirty="0"/>
          </a:p>
        </p:txBody>
      </p:sp>
      <p:sp>
        <p:nvSpPr>
          <p:cNvPr id="42" name="Shape 40"/>
          <p:cNvSpPr/>
          <p:nvPr/>
        </p:nvSpPr>
        <p:spPr>
          <a:xfrm>
            <a:off x="457200" y="4636008"/>
            <a:ext cx="5486400" cy="1271016"/>
          </a:xfrm>
          <a:prstGeom prst="rect">
            <a:avLst/>
          </a:prstGeom>
          <a:solidFill>
            <a:srgbClr val="FAE8ED"/>
          </a:solidFill>
          <a:ln w="12700">
            <a:solidFill>
              <a:srgbClr val="FAE8ED"/>
            </a:solidFill>
            <a:prstDash val="solid"/>
          </a:ln>
        </p:spPr>
      </p:sp>
      <p:sp>
        <p:nvSpPr>
          <p:cNvPr id="43" name="Text 41"/>
          <p:cNvSpPr/>
          <p:nvPr/>
        </p:nvSpPr>
        <p:spPr>
          <a:xfrm>
            <a:off x="649224" y="4800600"/>
            <a:ext cx="5074920" cy="237744"/>
          </a:xfrm>
          <a:prstGeom prst="rect">
            <a:avLst/>
          </a:prstGeom>
          <a:noFill/>
          <a:ln/>
        </p:spPr>
        <p:txBody>
          <a:bodyPr wrap="square" lIns="0" tIns="0" rIns="0" bIns="0" rtlCol="0" anchor="ctr"/>
          <a:lstStyle/>
          <a:p>
            <a:pPr indent="0" marL="0">
              <a:buNone/>
            </a:pPr>
            <a:r>
              <a:rPr lang="en-US" sz="1150" b="1" dirty="0">
                <a:solidFill>
                  <a:srgbClr val="A10F2C"/>
                </a:solidFill>
                <a:latin typeface="Noto Sans" pitchFamily="34" charset="0"/>
                <a:ea typeface="Noto Sans" pitchFamily="34" charset="-122"/>
                <a:cs typeface="Noto Sans" pitchFamily="34" charset="-120"/>
              </a:rPr>
              <a:t>PROPOSED 16-GB/MODULE STUDY</a:t>
            </a:r>
            <a:endParaRPr lang="en-US" sz="1150" dirty="0"/>
          </a:p>
        </p:txBody>
      </p:sp>
      <p:sp>
        <p:nvSpPr>
          <p:cNvPr id="44" name="Text 42"/>
          <p:cNvSpPr/>
          <p:nvPr/>
        </p:nvSpPr>
        <p:spPr>
          <a:xfrm>
            <a:off x="649224" y="5285232"/>
            <a:ext cx="5074920" cy="521208"/>
          </a:xfrm>
          <a:prstGeom prst="rect">
            <a:avLst/>
          </a:prstGeom>
          <a:noFill/>
          <a:ln/>
        </p:spPr>
        <p:txBody>
          <a:bodyPr wrap="square" lIns="0" tIns="0" rIns="0" bIns="0" rtlCol="0" anchor="ctr"/>
          <a:lstStyle/>
          <a:p>
            <a:pPr indent="0" marL="0">
              <a:buNone/>
            </a:pPr>
            <a:r>
              <a:rPr lang="en-US" sz="1600" dirty="0">
                <a:solidFill>
                  <a:srgbClr val="202027"/>
                </a:solidFill>
                <a:latin typeface="Noto Sans" pitchFamily="34" charset="0"/>
                <a:ea typeface="Noto Sans" pitchFamily="34" charset="-122"/>
                <a:cs typeface="Noto Sans" pitchFamily="34" charset="-120"/>
              </a:rPr>
              <a:t>8 × (16 − 4) GB = 96 GB aggregate</a:t>
            </a:r>
            <a:endParaRPr lang="en-US" sz="1600" dirty="0"/>
          </a:p>
          <a:p>
            <a:pPr indent="0" marL="0">
              <a:buNone/>
            </a:pPr>
            <a:r>
              <a:rPr lang="en-US" sz="1600" dirty="0">
                <a:solidFill>
                  <a:srgbClr val="202027"/>
                </a:solidFill>
                <a:latin typeface="Noto Sans" pitchFamily="34" charset="0"/>
                <a:ea typeface="Noto Sans" pitchFamily="34" charset="-122"/>
                <a:cs typeface="Noto Sans" pitchFamily="34" charset="-120"/>
              </a:rPr>
              <a:t>Remaining local memory must fit KV + transient state.</a:t>
            </a:r>
            <a:endParaRPr lang="en-US" sz="1600" dirty="0"/>
          </a:p>
        </p:txBody>
      </p:sp>
      <p:sp>
        <p:nvSpPr>
          <p:cNvPr id="45" name="Shape 43"/>
          <p:cNvSpPr/>
          <p:nvPr/>
        </p:nvSpPr>
        <p:spPr>
          <a:xfrm>
            <a:off x="6208776" y="4636008"/>
            <a:ext cx="5504688" cy="1271016"/>
          </a:xfrm>
          <a:prstGeom prst="rect">
            <a:avLst/>
          </a:prstGeom>
          <a:solidFill>
            <a:srgbClr val="FFFFFF"/>
          </a:solidFill>
          <a:ln w="12700">
            <a:solidFill>
              <a:srgbClr val="DEDDE0"/>
            </a:solidFill>
            <a:prstDash val="solid"/>
          </a:ln>
        </p:spPr>
      </p:sp>
      <p:sp>
        <p:nvSpPr>
          <p:cNvPr id="46" name="Text 44"/>
          <p:cNvSpPr/>
          <p:nvPr/>
        </p:nvSpPr>
        <p:spPr>
          <a:xfrm>
            <a:off x="6400800" y="4800600"/>
            <a:ext cx="5129784" cy="237744"/>
          </a:xfrm>
          <a:prstGeom prst="rect">
            <a:avLst/>
          </a:prstGeom>
          <a:noFill/>
          <a:ln/>
        </p:spPr>
        <p:txBody>
          <a:bodyPr wrap="square" lIns="0" tIns="0" rIns="0" bIns="0" rtlCol="0" anchor="ctr"/>
          <a:lstStyle/>
          <a:p>
            <a:pPr indent="0" marL="0">
              <a:buNone/>
            </a:pPr>
            <a:r>
              <a:rPr lang="en-US" sz="1150" b="1" dirty="0">
                <a:solidFill>
                  <a:srgbClr val="D7193F"/>
                </a:solidFill>
                <a:latin typeface="Noto Sans" pitchFamily="34" charset="0"/>
                <a:ea typeface="Noto Sans" pitchFamily="34" charset="-122"/>
                <a:cs typeface="Noto Sans" pitchFamily="34" charset="-120"/>
              </a:rPr>
              <a:t>DO NOT INHERIT THE OLD P2P ASSUMPTION</a:t>
            </a:r>
            <a:endParaRPr lang="en-US" sz="1150" dirty="0"/>
          </a:p>
        </p:txBody>
      </p:sp>
      <p:sp>
        <p:nvSpPr>
          <p:cNvPr id="47" name="Text 45"/>
          <p:cNvSpPr/>
          <p:nvPr/>
        </p:nvSpPr>
        <p:spPr>
          <a:xfrm>
            <a:off x="6400800" y="5285232"/>
            <a:ext cx="5129784" cy="521208"/>
          </a:xfrm>
          <a:prstGeom prst="rect">
            <a:avLst/>
          </a:prstGeom>
          <a:noFill/>
          <a:ln/>
        </p:spPr>
        <p:txBody>
          <a:bodyPr wrap="square" lIns="0" tIns="0" rIns="0" bIns="0" rtlCol="0" anchor="ctr"/>
          <a:lstStyle/>
          <a:p>
            <a:pPr indent="0" marL="0">
              <a:buNone/>
            </a:pPr>
            <a:r>
              <a:rPr lang="en-US" sz="1600" dirty="0">
                <a:solidFill>
                  <a:srgbClr val="202027"/>
                </a:solidFill>
                <a:latin typeface="Noto Sans" pitchFamily="34" charset="0"/>
                <a:ea typeface="Noto Sans" pitchFamily="34" charset="-122"/>
                <a:cs typeface="Noto Sans" pitchFamily="34" charset="-120"/>
              </a:rPr>
              <a:t>A native multi-device model may need collectives.</a:t>
            </a:r>
            <a:endParaRPr lang="en-US" sz="1600" dirty="0"/>
          </a:p>
          <a:p>
            <a:pPr indent="0" marL="0">
              <a:buNone/>
            </a:pPr>
            <a:r>
              <a:rPr lang="en-US" sz="1600" dirty="0">
                <a:solidFill>
                  <a:srgbClr val="202027"/>
                </a:solidFill>
                <a:latin typeface="Noto Sans" pitchFamily="34" charset="0"/>
                <a:ea typeface="Noto Sans" pitchFamily="34" charset="-122"/>
                <a:cs typeface="Noto Sans" pitchFamily="34" charset="-120"/>
              </a:rPr>
              <a:t>Qualify the real path, bandwidth and synchronization.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BACKUP C / COST AUDIT</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The $141k native-node case is a budget—not a SanDisk quotation.</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Three-year model; USD; no residual value. Comparable service performance is still unknown.</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Sources: [S7] cloud compute rates. All ATMOS prices, support, power, PUE and site/admin costs are assumptions.</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13</a:t>
            </a:r>
            <a:endParaRPr lang="en-US" sz="1200" dirty="0"/>
          </a:p>
        </p:txBody>
      </p:sp>
      <p:sp>
        <p:nvSpPr>
          <p:cNvPr id="10" name="Shape 8"/>
          <p:cNvSpPr/>
          <p:nvPr/>
        </p:nvSpPr>
        <p:spPr>
          <a:xfrm>
            <a:off x="457200" y="1920240"/>
            <a:ext cx="3703320" cy="420624"/>
          </a:xfrm>
          <a:prstGeom prst="rect">
            <a:avLst/>
          </a:prstGeom>
          <a:solidFill>
            <a:srgbClr val="22212A"/>
          </a:solidFill>
          <a:ln w="12700">
            <a:solidFill>
              <a:srgbClr val="22212A"/>
            </a:solidFill>
            <a:prstDash val="solid"/>
          </a:ln>
        </p:spPr>
      </p:sp>
      <p:sp>
        <p:nvSpPr>
          <p:cNvPr id="11" name="Text 9"/>
          <p:cNvSpPr/>
          <p:nvPr/>
        </p:nvSpPr>
        <p:spPr>
          <a:xfrm>
            <a:off x="548640" y="2011680"/>
            <a:ext cx="3520440"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Native cost input</a:t>
            </a:r>
            <a:endParaRPr lang="en-US" sz="1200" dirty="0"/>
          </a:p>
        </p:txBody>
      </p:sp>
      <p:sp>
        <p:nvSpPr>
          <p:cNvPr id="12" name="Shape 10"/>
          <p:cNvSpPr/>
          <p:nvPr/>
        </p:nvSpPr>
        <p:spPr>
          <a:xfrm>
            <a:off x="4160520" y="1920240"/>
            <a:ext cx="1938528" cy="420624"/>
          </a:xfrm>
          <a:prstGeom prst="rect">
            <a:avLst/>
          </a:prstGeom>
          <a:solidFill>
            <a:srgbClr val="22212A"/>
          </a:solidFill>
          <a:ln w="12700">
            <a:solidFill>
              <a:srgbClr val="22212A"/>
            </a:solidFill>
            <a:prstDash val="solid"/>
          </a:ln>
        </p:spPr>
      </p:sp>
      <p:sp>
        <p:nvSpPr>
          <p:cNvPr id="13" name="Text 11"/>
          <p:cNvSpPr/>
          <p:nvPr/>
        </p:nvSpPr>
        <p:spPr>
          <a:xfrm>
            <a:off x="4251960" y="2011680"/>
            <a:ext cx="1755648"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Basis</a:t>
            </a:r>
            <a:endParaRPr lang="en-US" sz="1200" dirty="0"/>
          </a:p>
        </p:txBody>
      </p:sp>
      <p:sp>
        <p:nvSpPr>
          <p:cNvPr id="14" name="Shape 12"/>
          <p:cNvSpPr/>
          <p:nvPr/>
        </p:nvSpPr>
        <p:spPr>
          <a:xfrm>
            <a:off x="6099048" y="1920240"/>
            <a:ext cx="2029968" cy="420624"/>
          </a:xfrm>
          <a:prstGeom prst="rect">
            <a:avLst/>
          </a:prstGeom>
          <a:solidFill>
            <a:srgbClr val="22212A"/>
          </a:solidFill>
          <a:ln w="12700">
            <a:solidFill>
              <a:srgbClr val="22212A"/>
            </a:solidFill>
            <a:prstDash val="solid"/>
          </a:ln>
        </p:spPr>
      </p:sp>
      <p:sp>
        <p:nvSpPr>
          <p:cNvPr id="15" name="Text 13"/>
          <p:cNvSpPr/>
          <p:nvPr/>
        </p:nvSpPr>
        <p:spPr>
          <a:xfrm>
            <a:off x="6190488" y="2011680"/>
            <a:ext cx="1847088"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3-year total</a:t>
            </a:r>
            <a:endParaRPr lang="en-US" sz="1200" dirty="0"/>
          </a:p>
        </p:txBody>
      </p:sp>
      <p:sp>
        <p:nvSpPr>
          <p:cNvPr id="16" name="Shape 14"/>
          <p:cNvSpPr/>
          <p:nvPr/>
        </p:nvSpPr>
        <p:spPr>
          <a:xfrm>
            <a:off x="457200" y="2340864"/>
            <a:ext cx="3703320" cy="512064"/>
          </a:xfrm>
          <a:prstGeom prst="rect">
            <a:avLst/>
          </a:prstGeom>
          <a:solidFill>
            <a:srgbClr val="F2F0F1"/>
          </a:solidFill>
          <a:ln w="12700">
            <a:solidFill>
              <a:srgbClr val="F2F0F1"/>
            </a:solidFill>
            <a:prstDash val="solid"/>
          </a:ln>
        </p:spPr>
      </p:sp>
      <p:sp>
        <p:nvSpPr>
          <p:cNvPr id="17" name="Text 15"/>
          <p:cNvSpPr/>
          <p:nvPr/>
        </p:nvSpPr>
        <p:spPr>
          <a:xfrm>
            <a:off x="548640" y="2441448"/>
            <a:ext cx="3520440" cy="356616"/>
          </a:xfrm>
          <a:prstGeom prst="rect">
            <a:avLst/>
          </a:prstGeom>
          <a:noFill/>
          <a:ln/>
        </p:spPr>
        <p:txBody>
          <a:bodyPr wrap="square" lIns="0" tIns="0" rIns="0" bIns="0" rtlCol="0" anchor="ctr"/>
          <a:lstStyle/>
          <a:p>
            <a:pPr algn="l" indent="0" marL="0">
              <a:buNone/>
            </a:pPr>
            <a:r>
              <a:rPr lang="en-US" sz="1300" b="1" dirty="0">
                <a:solidFill>
                  <a:srgbClr val="202027"/>
                </a:solidFill>
                <a:latin typeface="Noto Sans" pitchFamily="34" charset="0"/>
                <a:ea typeface="Noto Sans" pitchFamily="34" charset="-122"/>
                <a:cs typeface="Noto Sans" pitchFamily="34" charset="-120"/>
              </a:rPr>
              <a:t>ATMOS modules + OEM host/fabric</a:t>
            </a:r>
            <a:endParaRPr lang="en-US" sz="1300" dirty="0"/>
          </a:p>
        </p:txBody>
      </p:sp>
      <p:sp>
        <p:nvSpPr>
          <p:cNvPr id="18" name="Shape 16"/>
          <p:cNvSpPr/>
          <p:nvPr/>
        </p:nvSpPr>
        <p:spPr>
          <a:xfrm>
            <a:off x="4160520" y="2340864"/>
            <a:ext cx="1938528" cy="512064"/>
          </a:xfrm>
          <a:prstGeom prst="rect">
            <a:avLst/>
          </a:prstGeom>
          <a:solidFill>
            <a:srgbClr val="F2F0F1"/>
          </a:solidFill>
          <a:ln w="12700">
            <a:solidFill>
              <a:srgbClr val="F2F0F1"/>
            </a:solidFill>
            <a:prstDash val="solid"/>
          </a:ln>
        </p:spPr>
      </p:sp>
      <p:sp>
        <p:nvSpPr>
          <p:cNvPr id="19" name="Text 17"/>
          <p:cNvSpPr/>
          <p:nvPr/>
        </p:nvSpPr>
        <p:spPr>
          <a:xfrm>
            <a:off x="4251960" y="2441448"/>
            <a:ext cx="1755648" cy="356616"/>
          </a:xfrm>
          <a:prstGeom prst="rect">
            <a:avLst/>
          </a:prstGeom>
          <a:noFill/>
          <a:ln/>
        </p:spPr>
        <p:txBody>
          <a:bodyPr wrap="square" lIns="0" tIns="0" rIns="0" bIns="0" rtlCol="0" anchor="ctr"/>
          <a:lstStyle/>
          <a:p>
            <a:pPr algn="l" indent="0" marL="0">
              <a:buNone/>
            </a:pPr>
            <a:r>
              <a:rPr lang="en-US" sz="1300" dirty="0">
                <a:solidFill>
                  <a:srgbClr val="5E626A"/>
                </a:solidFill>
                <a:latin typeface="Noto Sans" pitchFamily="34" charset="0"/>
                <a:ea typeface="Noto Sans" pitchFamily="34" charset="-122"/>
                <a:cs typeface="Noto Sans" pitchFamily="34" charset="-120"/>
              </a:rPr>
              <a:t>$80,000 target</a:t>
            </a:r>
            <a:endParaRPr lang="en-US" sz="1300" dirty="0"/>
          </a:p>
        </p:txBody>
      </p:sp>
      <p:sp>
        <p:nvSpPr>
          <p:cNvPr id="20" name="Shape 18"/>
          <p:cNvSpPr/>
          <p:nvPr/>
        </p:nvSpPr>
        <p:spPr>
          <a:xfrm>
            <a:off x="6099048" y="2340864"/>
            <a:ext cx="2029968" cy="512064"/>
          </a:xfrm>
          <a:prstGeom prst="rect">
            <a:avLst/>
          </a:prstGeom>
          <a:solidFill>
            <a:srgbClr val="F2F0F1"/>
          </a:solidFill>
          <a:ln w="12700">
            <a:solidFill>
              <a:srgbClr val="F2F0F1"/>
            </a:solidFill>
            <a:prstDash val="solid"/>
          </a:ln>
        </p:spPr>
      </p:sp>
      <p:sp>
        <p:nvSpPr>
          <p:cNvPr id="21" name="Text 19"/>
          <p:cNvSpPr/>
          <p:nvPr/>
        </p:nvSpPr>
        <p:spPr>
          <a:xfrm>
            <a:off x="6190488" y="2441448"/>
            <a:ext cx="1847088" cy="356616"/>
          </a:xfrm>
          <a:prstGeom prst="rect">
            <a:avLst/>
          </a:prstGeom>
          <a:noFill/>
          <a:ln/>
        </p:spPr>
        <p:txBody>
          <a:bodyPr wrap="square" lIns="0" tIns="0" rIns="0" bIns="0" rtlCol="0" anchor="ctr"/>
          <a:lstStyle/>
          <a:p>
            <a:pPr algn="l" indent="0" marL="0">
              <a:buNone/>
            </a:pPr>
            <a:r>
              <a:rPr lang="en-US" sz="1300" dirty="0">
                <a:solidFill>
                  <a:srgbClr val="5E626A"/>
                </a:solidFill>
                <a:latin typeface="Noto Sans" pitchFamily="34" charset="0"/>
                <a:ea typeface="Noto Sans" pitchFamily="34" charset="-122"/>
                <a:cs typeface="Noto Sans" pitchFamily="34" charset="-120"/>
              </a:rPr>
              <a:t>$80,000</a:t>
            </a:r>
            <a:endParaRPr lang="en-US" sz="1300" dirty="0"/>
          </a:p>
        </p:txBody>
      </p:sp>
      <p:sp>
        <p:nvSpPr>
          <p:cNvPr id="22" name="Shape 20"/>
          <p:cNvSpPr/>
          <p:nvPr/>
        </p:nvSpPr>
        <p:spPr>
          <a:xfrm>
            <a:off x="457200" y="2852928"/>
            <a:ext cx="3703320" cy="512064"/>
          </a:xfrm>
          <a:prstGeom prst="rect">
            <a:avLst/>
          </a:prstGeom>
          <a:solidFill>
            <a:srgbClr val="FFFFFF"/>
          </a:solidFill>
          <a:ln w="12700">
            <a:solidFill>
              <a:srgbClr val="FFFFFF"/>
            </a:solidFill>
            <a:prstDash val="solid"/>
          </a:ln>
        </p:spPr>
      </p:sp>
      <p:sp>
        <p:nvSpPr>
          <p:cNvPr id="23" name="Text 21"/>
          <p:cNvSpPr/>
          <p:nvPr/>
        </p:nvSpPr>
        <p:spPr>
          <a:xfrm>
            <a:off x="548640" y="2953512"/>
            <a:ext cx="3520440" cy="356616"/>
          </a:xfrm>
          <a:prstGeom prst="rect">
            <a:avLst/>
          </a:prstGeom>
          <a:noFill/>
          <a:ln/>
        </p:spPr>
        <p:txBody>
          <a:bodyPr wrap="square" lIns="0" tIns="0" rIns="0" bIns="0" rtlCol="0" anchor="ctr"/>
          <a:lstStyle/>
          <a:p>
            <a:pPr algn="l" indent="0" marL="0">
              <a:buNone/>
            </a:pPr>
            <a:r>
              <a:rPr lang="en-US" sz="1300" b="1" dirty="0">
                <a:solidFill>
                  <a:srgbClr val="202027"/>
                </a:solidFill>
                <a:latin typeface="Noto Sans" pitchFamily="34" charset="0"/>
                <a:ea typeface="Noto Sans" pitchFamily="34" charset="-122"/>
                <a:cs typeface="Noto Sans" pitchFamily="34" charset="-120"/>
              </a:rPr>
              <a:t>Support / runtime maintenance</a:t>
            </a:r>
            <a:endParaRPr lang="en-US" sz="1300" dirty="0"/>
          </a:p>
        </p:txBody>
      </p:sp>
      <p:sp>
        <p:nvSpPr>
          <p:cNvPr id="24" name="Shape 22"/>
          <p:cNvSpPr/>
          <p:nvPr/>
        </p:nvSpPr>
        <p:spPr>
          <a:xfrm>
            <a:off x="4160520" y="2852928"/>
            <a:ext cx="1938528" cy="512064"/>
          </a:xfrm>
          <a:prstGeom prst="rect">
            <a:avLst/>
          </a:prstGeom>
          <a:solidFill>
            <a:srgbClr val="FFFFFF"/>
          </a:solidFill>
          <a:ln w="12700">
            <a:solidFill>
              <a:srgbClr val="FFFFFF"/>
            </a:solidFill>
            <a:prstDash val="solid"/>
          </a:ln>
        </p:spPr>
      </p:sp>
      <p:sp>
        <p:nvSpPr>
          <p:cNvPr id="25" name="Text 23"/>
          <p:cNvSpPr/>
          <p:nvPr/>
        </p:nvSpPr>
        <p:spPr>
          <a:xfrm>
            <a:off x="4251960" y="2953512"/>
            <a:ext cx="1755648" cy="356616"/>
          </a:xfrm>
          <a:prstGeom prst="rect">
            <a:avLst/>
          </a:prstGeom>
          <a:noFill/>
          <a:ln/>
        </p:spPr>
        <p:txBody>
          <a:bodyPr wrap="square" lIns="0" tIns="0" rIns="0" bIns="0" rtlCol="0" anchor="ctr"/>
          <a:lstStyle/>
          <a:p>
            <a:pPr algn="l" indent="0" marL="0">
              <a:buNone/>
            </a:pPr>
            <a:r>
              <a:rPr lang="en-US" sz="1300" dirty="0">
                <a:solidFill>
                  <a:srgbClr val="5E626A"/>
                </a:solidFill>
                <a:latin typeface="Noto Sans" pitchFamily="34" charset="0"/>
                <a:ea typeface="Noto Sans" pitchFamily="34" charset="-122"/>
                <a:cs typeface="Noto Sans" pitchFamily="34" charset="-120"/>
              </a:rPr>
              <a:t>15% capex / yr</a:t>
            </a:r>
            <a:endParaRPr lang="en-US" sz="1300" dirty="0"/>
          </a:p>
        </p:txBody>
      </p:sp>
      <p:sp>
        <p:nvSpPr>
          <p:cNvPr id="26" name="Shape 24"/>
          <p:cNvSpPr/>
          <p:nvPr/>
        </p:nvSpPr>
        <p:spPr>
          <a:xfrm>
            <a:off x="6099048" y="2852928"/>
            <a:ext cx="2029968" cy="512064"/>
          </a:xfrm>
          <a:prstGeom prst="rect">
            <a:avLst/>
          </a:prstGeom>
          <a:solidFill>
            <a:srgbClr val="FFFFFF"/>
          </a:solidFill>
          <a:ln w="12700">
            <a:solidFill>
              <a:srgbClr val="FFFFFF"/>
            </a:solidFill>
            <a:prstDash val="solid"/>
          </a:ln>
        </p:spPr>
      </p:sp>
      <p:sp>
        <p:nvSpPr>
          <p:cNvPr id="27" name="Text 25"/>
          <p:cNvSpPr/>
          <p:nvPr/>
        </p:nvSpPr>
        <p:spPr>
          <a:xfrm>
            <a:off x="6190488" y="2953512"/>
            <a:ext cx="1847088" cy="356616"/>
          </a:xfrm>
          <a:prstGeom prst="rect">
            <a:avLst/>
          </a:prstGeom>
          <a:noFill/>
          <a:ln/>
        </p:spPr>
        <p:txBody>
          <a:bodyPr wrap="square" lIns="0" tIns="0" rIns="0" bIns="0" rtlCol="0" anchor="ctr"/>
          <a:lstStyle/>
          <a:p>
            <a:pPr algn="l" indent="0" marL="0">
              <a:buNone/>
            </a:pPr>
            <a:r>
              <a:rPr lang="en-US" sz="1300" dirty="0">
                <a:solidFill>
                  <a:srgbClr val="5E626A"/>
                </a:solidFill>
                <a:latin typeface="Noto Sans" pitchFamily="34" charset="0"/>
                <a:ea typeface="Noto Sans" pitchFamily="34" charset="-122"/>
                <a:cs typeface="Noto Sans" pitchFamily="34" charset="-120"/>
              </a:rPr>
              <a:t>$36,000</a:t>
            </a:r>
            <a:endParaRPr lang="en-US" sz="1300" dirty="0"/>
          </a:p>
        </p:txBody>
      </p:sp>
      <p:sp>
        <p:nvSpPr>
          <p:cNvPr id="28" name="Shape 26"/>
          <p:cNvSpPr/>
          <p:nvPr/>
        </p:nvSpPr>
        <p:spPr>
          <a:xfrm>
            <a:off x="457200" y="3364992"/>
            <a:ext cx="3703320" cy="512064"/>
          </a:xfrm>
          <a:prstGeom prst="rect">
            <a:avLst/>
          </a:prstGeom>
          <a:solidFill>
            <a:srgbClr val="F2F0F1"/>
          </a:solidFill>
          <a:ln w="12700">
            <a:solidFill>
              <a:srgbClr val="F2F0F1"/>
            </a:solidFill>
            <a:prstDash val="solid"/>
          </a:ln>
        </p:spPr>
      </p:sp>
      <p:sp>
        <p:nvSpPr>
          <p:cNvPr id="29" name="Text 27"/>
          <p:cNvSpPr/>
          <p:nvPr/>
        </p:nvSpPr>
        <p:spPr>
          <a:xfrm>
            <a:off x="548640" y="3465576"/>
            <a:ext cx="3520440" cy="356616"/>
          </a:xfrm>
          <a:prstGeom prst="rect">
            <a:avLst/>
          </a:prstGeom>
          <a:noFill/>
          <a:ln/>
        </p:spPr>
        <p:txBody>
          <a:bodyPr wrap="square" lIns="0" tIns="0" rIns="0" bIns="0" rtlCol="0" anchor="ctr"/>
          <a:lstStyle/>
          <a:p>
            <a:pPr algn="l" indent="0" marL="0">
              <a:buNone/>
            </a:pPr>
            <a:r>
              <a:rPr lang="en-US" sz="1300" b="1" dirty="0">
                <a:solidFill>
                  <a:srgbClr val="202027"/>
                </a:solidFill>
                <a:latin typeface="Noto Sans" pitchFamily="34" charset="0"/>
                <a:ea typeface="Noto Sans" pitchFamily="34" charset="-122"/>
                <a:cs typeface="Noto Sans" pitchFamily="34" charset="-120"/>
              </a:rPr>
              <a:t>Site / network / admin allowance</a:t>
            </a:r>
            <a:endParaRPr lang="en-US" sz="1300" dirty="0"/>
          </a:p>
        </p:txBody>
      </p:sp>
      <p:sp>
        <p:nvSpPr>
          <p:cNvPr id="30" name="Shape 28"/>
          <p:cNvSpPr/>
          <p:nvPr/>
        </p:nvSpPr>
        <p:spPr>
          <a:xfrm>
            <a:off x="4160520" y="3364992"/>
            <a:ext cx="1938528" cy="512064"/>
          </a:xfrm>
          <a:prstGeom prst="rect">
            <a:avLst/>
          </a:prstGeom>
          <a:solidFill>
            <a:srgbClr val="F2F0F1"/>
          </a:solidFill>
          <a:ln w="12700">
            <a:solidFill>
              <a:srgbClr val="F2F0F1"/>
            </a:solidFill>
            <a:prstDash val="solid"/>
          </a:ln>
        </p:spPr>
      </p:sp>
      <p:sp>
        <p:nvSpPr>
          <p:cNvPr id="31" name="Text 29"/>
          <p:cNvSpPr/>
          <p:nvPr/>
        </p:nvSpPr>
        <p:spPr>
          <a:xfrm>
            <a:off x="4251960" y="3465576"/>
            <a:ext cx="1755648" cy="356616"/>
          </a:xfrm>
          <a:prstGeom prst="rect">
            <a:avLst/>
          </a:prstGeom>
          <a:noFill/>
          <a:ln/>
        </p:spPr>
        <p:txBody>
          <a:bodyPr wrap="square" lIns="0" tIns="0" rIns="0" bIns="0" rtlCol="0" anchor="ctr"/>
          <a:lstStyle/>
          <a:p>
            <a:pPr algn="l" indent="0" marL="0">
              <a:buNone/>
            </a:pPr>
            <a:r>
              <a:rPr lang="en-US" sz="1300" dirty="0">
                <a:solidFill>
                  <a:srgbClr val="5E626A"/>
                </a:solidFill>
                <a:latin typeface="Noto Sans" pitchFamily="34" charset="0"/>
                <a:ea typeface="Noto Sans" pitchFamily="34" charset="-122"/>
                <a:cs typeface="Noto Sans" pitchFamily="34" charset="-120"/>
              </a:rPr>
              <a:t>$6,000 / yr</a:t>
            </a:r>
            <a:endParaRPr lang="en-US" sz="1300" dirty="0"/>
          </a:p>
        </p:txBody>
      </p:sp>
      <p:sp>
        <p:nvSpPr>
          <p:cNvPr id="32" name="Shape 30"/>
          <p:cNvSpPr/>
          <p:nvPr/>
        </p:nvSpPr>
        <p:spPr>
          <a:xfrm>
            <a:off x="6099048" y="3364992"/>
            <a:ext cx="2029968" cy="512064"/>
          </a:xfrm>
          <a:prstGeom prst="rect">
            <a:avLst/>
          </a:prstGeom>
          <a:solidFill>
            <a:srgbClr val="F2F0F1"/>
          </a:solidFill>
          <a:ln w="12700">
            <a:solidFill>
              <a:srgbClr val="F2F0F1"/>
            </a:solidFill>
            <a:prstDash val="solid"/>
          </a:ln>
        </p:spPr>
      </p:sp>
      <p:sp>
        <p:nvSpPr>
          <p:cNvPr id="33" name="Text 31"/>
          <p:cNvSpPr/>
          <p:nvPr/>
        </p:nvSpPr>
        <p:spPr>
          <a:xfrm>
            <a:off x="6190488" y="3465576"/>
            <a:ext cx="1847088" cy="356616"/>
          </a:xfrm>
          <a:prstGeom prst="rect">
            <a:avLst/>
          </a:prstGeom>
          <a:noFill/>
          <a:ln/>
        </p:spPr>
        <p:txBody>
          <a:bodyPr wrap="square" lIns="0" tIns="0" rIns="0" bIns="0" rtlCol="0" anchor="ctr"/>
          <a:lstStyle/>
          <a:p>
            <a:pPr algn="l" indent="0" marL="0">
              <a:buNone/>
            </a:pPr>
            <a:r>
              <a:rPr lang="en-US" sz="1300" dirty="0">
                <a:solidFill>
                  <a:srgbClr val="5E626A"/>
                </a:solidFill>
                <a:latin typeface="Noto Sans" pitchFamily="34" charset="0"/>
                <a:ea typeface="Noto Sans" pitchFamily="34" charset="-122"/>
                <a:cs typeface="Noto Sans" pitchFamily="34" charset="-120"/>
              </a:rPr>
              <a:t>$18,000</a:t>
            </a:r>
            <a:endParaRPr lang="en-US" sz="1300" dirty="0"/>
          </a:p>
        </p:txBody>
      </p:sp>
      <p:sp>
        <p:nvSpPr>
          <p:cNvPr id="34" name="Shape 32"/>
          <p:cNvSpPr/>
          <p:nvPr/>
        </p:nvSpPr>
        <p:spPr>
          <a:xfrm>
            <a:off x="457200" y="3877056"/>
            <a:ext cx="3703320" cy="640080"/>
          </a:xfrm>
          <a:prstGeom prst="rect">
            <a:avLst/>
          </a:prstGeom>
          <a:solidFill>
            <a:srgbClr val="FFFFFF"/>
          </a:solidFill>
          <a:ln w="12700">
            <a:solidFill>
              <a:srgbClr val="FFFFFF"/>
            </a:solidFill>
            <a:prstDash val="solid"/>
          </a:ln>
        </p:spPr>
      </p:sp>
      <p:sp>
        <p:nvSpPr>
          <p:cNvPr id="35" name="Text 33"/>
          <p:cNvSpPr/>
          <p:nvPr/>
        </p:nvSpPr>
        <p:spPr>
          <a:xfrm>
            <a:off x="548640" y="3977640"/>
            <a:ext cx="3520440" cy="484632"/>
          </a:xfrm>
          <a:prstGeom prst="rect">
            <a:avLst/>
          </a:prstGeom>
          <a:noFill/>
          <a:ln/>
        </p:spPr>
        <p:txBody>
          <a:bodyPr wrap="square" lIns="0" tIns="0" rIns="0" bIns="0" rtlCol="0" anchor="ctr"/>
          <a:lstStyle/>
          <a:p>
            <a:pPr algn="l" indent="0" marL="0">
              <a:buNone/>
            </a:pPr>
            <a:r>
              <a:rPr lang="en-US" sz="1300" b="1" dirty="0">
                <a:solidFill>
                  <a:srgbClr val="202027"/>
                </a:solidFill>
                <a:latin typeface="Noto Sans" pitchFamily="34" charset="0"/>
                <a:ea typeface="Noto Sans" pitchFamily="34" charset="-122"/>
                <a:cs typeface="Noto Sans" pitchFamily="34" charset="-120"/>
              </a:rPr>
              <a:t>Energy: 1.6kW × 1.4 × $0.12/kWh</a:t>
            </a:r>
            <a:endParaRPr lang="en-US" sz="1300" dirty="0"/>
          </a:p>
        </p:txBody>
      </p:sp>
      <p:sp>
        <p:nvSpPr>
          <p:cNvPr id="36" name="Shape 34"/>
          <p:cNvSpPr/>
          <p:nvPr/>
        </p:nvSpPr>
        <p:spPr>
          <a:xfrm>
            <a:off x="4160520" y="3877056"/>
            <a:ext cx="1938528" cy="640080"/>
          </a:xfrm>
          <a:prstGeom prst="rect">
            <a:avLst/>
          </a:prstGeom>
          <a:solidFill>
            <a:srgbClr val="FFFFFF"/>
          </a:solidFill>
          <a:ln w="12700">
            <a:solidFill>
              <a:srgbClr val="FFFFFF"/>
            </a:solidFill>
            <a:prstDash val="solid"/>
          </a:ln>
        </p:spPr>
      </p:sp>
      <p:sp>
        <p:nvSpPr>
          <p:cNvPr id="37" name="Text 35"/>
          <p:cNvSpPr/>
          <p:nvPr/>
        </p:nvSpPr>
        <p:spPr>
          <a:xfrm>
            <a:off x="4251960" y="3977640"/>
            <a:ext cx="1755648" cy="484632"/>
          </a:xfrm>
          <a:prstGeom prst="rect">
            <a:avLst/>
          </a:prstGeom>
          <a:noFill/>
          <a:ln/>
        </p:spPr>
        <p:txBody>
          <a:bodyPr wrap="square" lIns="0" tIns="0" rIns="0" bIns="0" rtlCol="0" anchor="ctr"/>
          <a:lstStyle/>
          <a:p>
            <a:pPr algn="l" indent="0" marL="0">
              <a:buNone/>
            </a:pPr>
            <a:r>
              <a:rPr lang="en-US" sz="1300" dirty="0">
                <a:solidFill>
                  <a:srgbClr val="5E626A"/>
                </a:solidFill>
                <a:latin typeface="Noto Sans" pitchFamily="34" charset="0"/>
                <a:ea typeface="Noto Sans" pitchFamily="34" charset="-122"/>
                <a:cs typeface="Noto Sans" pitchFamily="34" charset="-120"/>
              </a:rPr>
              <a:t>8,760h / yr</a:t>
            </a:r>
            <a:endParaRPr lang="en-US" sz="1300" dirty="0"/>
          </a:p>
        </p:txBody>
      </p:sp>
      <p:sp>
        <p:nvSpPr>
          <p:cNvPr id="38" name="Shape 36"/>
          <p:cNvSpPr/>
          <p:nvPr/>
        </p:nvSpPr>
        <p:spPr>
          <a:xfrm>
            <a:off x="6099048" y="3877056"/>
            <a:ext cx="2029968" cy="640080"/>
          </a:xfrm>
          <a:prstGeom prst="rect">
            <a:avLst/>
          </a:prstGeom>
          <a:solidFill>
            <a:srgbClr val="FFFFFF"/>
          </a:solidFill>
          <a:ln w="12700">
            <a:solidFill>
              <a:srgbClr val="FFFFFF"/>
            </a:solidFill>
            <a:prstDash val="solid"/>
          </a:ln>
        </p:spPr>
      </p:sp>
      <p:sp>
        <p:nvSpPr>
          <p:cNvPr id="39" name="Text 37"/>
          <p:cNvSpPr/>
          <p:nvPr/>
        </p:nvSpPr>
        <p:spPr>
          <a:xfrm>
            <a:off x="6190488" y="3977640"/>
            <a:ext cx="1847088" cy="484632"/>
          </a:xfrm>
          <a:prstGeom prst="rect">
            <a:avLst/>
          </a:prstGeom>
          <a:noFill/>
          <a:ln/>
        </p:spPr>
        <p:txBody>
          <a:bodyPr wrap="square" lIns="0" tIns="0" rIns="0" bIns="0" rtlCol="0" anchor="ctr"/>
          <a:lstStyle/>
          <a:p>
            <a:pPr algn="l" indent="0" marL="0">
              <a:buNone/>
            </a:pPr>
            <a:r>
              <a:rPr lang="en-US" sz="1300" dirty="0">
                <a:solidFill>
                  <a:srgbClr val="5E626A"/>
                </a:solidFill>
                <a:latin typeface="Noto Sans" pitchFamily="34" charset="0"/>
                <a:ea typeface="Noto Sans" pitchFamily="34" charset="-122"/>
                <a:cs typeface="Noto Sans" pitchFamily="34" charset="-120"/>
              </a:rPr>
              <a:t>$7,064</a:t>
            </a:r>
            <a:endParaRPr lang="en-US" sz="1300" dirty="0"/>
          </a:p>
        </p:txBody>
      </p:sp>
      <p:sp>
        <p:nvSpPr>
          <p:cNvPr id="40" name="Shape 38"/>
          <p:cNvSpPr/>
          <p:nvPr/>
        </p:nvSpPr>
        <p:spPr>
          <a:xfrm>
            <a:off x="457200" y="4517136"/>
            <a:ext cx="3703320" cy="530352"/>
          </a:xfrm>
          <a:prstGeom prst="rect">
            <a:avLst/>
          </a:prstGeom>
          <a:solidFill>
            <a:srgbClr val="F2F0F1"/>
          </a:solidFill>
          <a:ln w="12700">
            <a:solidFill>
              <a:srgbClr val="F2F0F1"/>
            </a:solidFill>
            <a:prstDash val="solid"/>
          </a:ln>
        </p:spPr>
      </p:sp>
      <p:sp>
        <p:nvSpPr>
          <p:cNvPr id="41" name="Text 39"/>
          <p:cNvSpPr/>
          <p:nvPr/>
        </p:nvSpPr>
        <p:spPr>
          <a:xfrm>
            <a:off x="548640" y="4617720"/>
            <a:ext cx="3520440" cy="374904"/>
          </a:xfrm>
          <a:prstGeom prst="rect">
            <a:avLst/>
          </a:prstGeom>
          <a:noFill/>
          <a:ln/>
        </p:spPr>
        <p:txBody>
          <a:bodyPr wrap="square" lIns="0" tIns="0" rIns="0" bIns="0" rtlCol="0" anchor="ctr"/>
          <a:lstStyle/>
          <a:p>
            <a:pPr algn="l" indent="0" marL="0">
              <a:buNone/>
            </a:pPr>
            <a:r>
              <a:rPr lang="en-US" sz="1300" b="1" dirty="0">
                <a:solidFill>
                  <a:srgbClr val="202027"/>
                </a:solidFill>
                <a:latin typeface="Noto Sans" pitchFamily="34" charset="0"/>
                <a:ea typeface="Noto Sans" pitchFamily="34" charset="-122"/>
                <a:cs typeface="Noto Sans" pitchFamily="34" charset="-120"/>
              </a:rPr>
              <a:t>TOTAL</a:t>
            </a:r>
            <a:endParaRPr lang="en-US" sz="1300" dirty="0"/>
          </a:p>
        </p:txBody>
      </p:sp>
      <p:sp>
        <p:nvSpPr>
          <p:cNvPr id="42" name="Shape 40"/>
          <p:cNvSpPr/>
          <p:nvPr/>
        </p:nvSpPr>
        <p:spPr>
          <a:xfrm>
            <a:off x="4160520" y="4517136"/>
            <a:ext cx="1938528" cy="530352"/>
          </a:xfrm>
          <a:prstGeom prst="rect">
            <a:avLst/>
          </a:prstGeom>
          <a:solidFill>
            <a:srgbClr val="F2F0F1"/>
          </a:solidFill>
          <a:ln w="12700">
            <a:solidFill>
              <a:srgbClr val="F2F0F1"/>
            </a:solidFill>
            <a:prstDash val="solid"/>
          </a:ln>
        </p:spPr>
      </p:sp>
      <p:sp>
        <p:nvSpPr>
          <p:cNvPr id="43" name="Text 41"/>
          <p:cNvSpPr/>
          <p:nvPr/>
        </p:nvSpPr>
        <p:spPr>
          <a:xfrm>
            <a:off x="4251960" y="4617720"/>
            <a:ext cx="1755648" cy="374904"/>
          </a:xfrm>
          <a:prstGeom prst="rect">
            <a:avLst/>
          </a:prstGeom>
          <a:noFill/>
          <a:ln/>
        </p:spPr>
        <p:txBody>
          <a:bodyPr wrap="square" lIns="0" tIns="0" rIns="0" bIns="0" rtlCol="0" anchor="ctr"/>
          <a:lstStyle/>
          <a:p>
            <a:pPr algn="l" indent="0" marL="0">
              <a:buNone/>
            </a:pPr>
            <a:r>
              <a:rPr lang="en-US" sz="1300" dirty="0">
                <a:solidFill>
                  <a:srgbClr val="5E626A"/>
                </a:solidFill>
                <a:latin typeface="Noto Sans" pitchFamily="34" charset="0"/>
                <a:ea typeface="Noto Sans" pitchFamily="34" charset="-122"/>
                <a:cs typeface="Noto Sans" pitchFamily="34" charset="-120"/>
              </a:rPr>
              <a:t>$47,021 / yr</a:t>
            </a:r>
            <a:endParaRPr lang="en-US" sz="1300" dirty="0"/>
          </a:p>
        </p:txBody>
      </p:sp>
      <p:sp>
        <p:nvSpPr>
          <p:cNvPr id="44" name="Shape 42"/>
          <p:cNvSpPr/>
          <p:nvPr/>
        </p:nvSpPr>
        <p:spPr>
          <a:xfrm>
            <a:off x="6099048" y="4517136"/>
            <a:ext cx="2029968" cy="530352"/>
          </a:xfrm>
          <a:prstGeom prst="rect">
            <a:avLst/>
          </a:prstGeom>
          <a:solidFill>
            <a:srgbClr val="F2F0F1"/>
          </a:solidFill>
          <a:ln w="12700">
            <a:solidFill>
              <a:srgbClr val="F2F0F1"/>
            </a:solidFill>
            <a:prstDash val="solid"/>
          </a:ln>
        </p:spPr>
      </p:sp>
      <p:sp>
        <p:nvSpPr>
          <p:cNvPr id="45" name="Text 43"/>
          <p:cNvSpPr/>
          <p:nvPr/>
        </p:nvSpPr>
        <p:spPr>
          <a:xfrm>
            <a:off x="6190488" y="4617720"/>
            <a:ext cx="1847088" cy="374904"/>
          </a:xfrm>
          <a:prstGeom prst="rect">
            <a:avLst/>
          </a:prstGeom>
          <a:noFill/>
          <a:ln/>
        </p:spPr>
        <p:txBody>
          <a:bodyPr wrap="square" lIns="0" tIns="0" rIns="0" bIns="0" rtlCol="0" anchor="ctr"/>
          <a:lstStyle/>
          <a:p>
            <a:pPr algn="l" indent="0" marL="0">
              <a:buNone/>
            </a:pPr>
            <a:r>
              <a:rPr lang="en-US" sz="1300" dirty="0">
                <a:solidFill>
                  <a:srgbClr val="5E626A"/>
                </a:solidFill>
                <a:latin typeface="Noto Sans" pitchFamily="34" charset="0"/>
                <a:ea typeface="Noto Sans" pitchFamily="34" charset="-122"/>
                <a:cs typeface="Noto Sans" pitchFamily="34" charset="-120"/>
              </a:rPr>
              <a:t>$141,064</a:t>
            </a:r>
            <a:endParaRPr lang="en-US" sz="1300" dirty="0"/>
          </a:p>
        </p:txBody>
      </p:sp>
      <p:sp>
        <p:nvSpPr>
          <p:cNvPr id="46" name="Shape 44"/>
          <p:cNvSpPr/>
          <p:nvPr/>
        </p:nvSpPr>
        <p:spPr>
          <a:xfrm>
            <a:off x="8394192" y="1920240"/>
            <a:ext cx="3328416" cy="3200400"/>
          </a:xfrm>
          <a:prstGeom prst="rect">
            <a:avLst/>
          </a:prstGeom>
          <a:solidFill>
            <a:srgbClr val="FAE8ED"/>
          </a:solidFill>
          <a:ln w="12700">
            <a:solidFill>
              <a:srgbClr val="FAE8ED"/>
            </a:solidFill>
            <a:prstDash val="solid"/>
          </a:ln>
        </p:spPr>
      </p:sp>
      <p:sp>
        <p:nvSpPr>
          <p:cNvPr id="47" name="Text 45"/>
          <p:cNvSpPr/>
          <p:nvPr/>
        </p:nvSpPr>
        <p:spPr>
          <a:xfrm>
            <a:off x="8595360" y="2103120"/>
            <a:ext cx="2926080" cy="237744"/>
          </a:xfrm>
          <a:prstGeom prst="rect">
            <a:avLst/>
          </a:prstGeom>
          <a:noFill/>
          <a:ln/>
        </p:spPr>
        <p:txBody>
          <a:bodyPr wrap="square" lIns="0" tIns="0" rIns="0" bIns="0" rtlCol="0" anchor="ctr"/>
          <a:lstStyle/>
          <a:p>
            <a:pPr indent="0" marL="0">
              <a:buNone/>
            </a:pPr>
            <a:r>
              <a:rPr lang="en-US" sz="1150" b="1" dirty="0">
                <a:solidFill>
                  <a:srgbClr val="A10F2C"/>
                </a:solidFill>
                <a:latin typeface="Noto Sans" pitchFamily="34" charset="0"/>
                <a:ea typeface="Noto Sans" pitchFamily="34" charset="-122"/>
                <a:cs typeface="Noto Sans" pitchFamily="34" charset="-120"/>
              </a:rPr>
              <a:t>CAPEX SENSITIVITY</a:t>
            </a:r>
            <a:endParaRPr lang="en-US" sz="1150" dirty="0"/>
          </a:p>
        </p:txBody>
      </p:sp>
      <p:sp>
        <p:nvSpPr>
          <p:cNvPr id="48" name="Text 46"/>
          <p:cNvSpPr/>
          <p:nvPr/>
        </p:nvSpPr>
        <p:spPr>
          <a:xfrm>
            <a:off x="8595360" y="2697480"/>
            <a:ext cx="2889504" cy="1042416"/>
          </a:xfrm>
          <a:prstGeom prst="rect">
            <a:avLst/>
          </a:prstGeom>
          <a:noFill/>
          <a:ln/>
        </p:spPr>
        <p:txBody>
          <a:bodyPr wrap="square" lIns="0" tIns="0" rIns="0" bIns="0" rtlCol="0" anchor="ctr"/>
          <a:lstStyle/>
          <a:p>
            <a:pPr indent="0" marL="0">
              <a:buNone/>
            </a:pPr>
            <a:r>
              <a:rPr lang="en-US" sz="1700" b="1" dirty="0">
                <a:solidFill>
                  <a:srgbClr val="202027"/>
                </a:solidFill>
                <a:latin typeface="Noto Sans" pitchFamily="34" charset="0"/>
                <a:ea typeface="Noto Sans" pitchFamily="34" charset="-122"/>
                <a:cs typeface="Noto Sans" pitchFamily="34" charset="-120"/>
              </a:rPr>
              <a:t>$60k  →  $112k TCO</a:t>
            </a:r>
            <a:endParaRPr lang="en-US" sz="1700" dirty="0"/>
          </a:p>
          <a:p>
            <a:pPr indent="0" marL="0">
              <a:buNone/>
            </a:pPr>
            <a:r>
              <a:rPr lang="en-US" sz="1700" b="1" dirty="0">
                <a:solidFill>
                  <a:srgbClr val="202027"/>
                </a:solidFill>
                <a:latin typeface="Noto Sans" pitchFamily="34" charset="0"/>
                <a:ea typeface="Noto Sans" pitchFamily="34" charset="-122"/>
                <a:cs typeface="Noto Sans" pitchFamily="34" charset="-120"/>
              </a:rPr>
              <a:t>$80k  →  $141k TCO</a:t>
            </a:r>
            <a:endParaRPr lang="en-US" sz="1700" dirty="0"/>
          </a:p>
          <a:p>
            <a:pPr indent="0" marL="0">
              <a:buNone/>
            </a:pPr>
            <a:r>
              <a:rPr lang="en-US" sz="1700" b="1" dirty="0">
                <a:solidFill>
                  <a:srgbClr val="202027"/>
                </a:solidFill>
                <a:latin typeface="Noto Sans" pitchFamily="34" charset="0"/>
                <a:ea typeface="Noto Sans" pitchFamily="34" charset="-122"/>
                <a:cs typeface="Noto Sans" pitchFamily="34" charset="-120"/>
              </a:rPr>
              <a:t>$120k →  $199k TCO</a:t>
            </a:r>
            <a:endParaRPr lang="en-US" sz="1700" dirty="0"/>
          </a:p>
        </p:txBody>
      </p:sp>
      <p:sp>
        <p:nvSpPr>
          <p:cNvPr id="49" name="Text 47"/>
          <p:cNvSpPr/>
          <p:nvPr/>
        </p:nvSpPr>
        <p:spPr>
          <a:xfrm>
            <a:off x="8595360" y="4114800"/>
            <a:ext cx="2907792" cy="640080"/>
          </a:xfrm>
          <a:prstGeom prst="rect">
            <a:avLst/>
          </a:prstGeom>
          <a:noFill/>
          <a:ln/>
        </p:spPr>
        <p:txBody>
          <a:bodyPr wrap="square" lIns="0" tIns="0" rIns="0" bIns="0" rtlCol="0" anchor="ctr"/>
          <a:lstStyle/>
          <a:p>
            <a:pPr indent="0" marL="0">
              <a:buNone/>
            </a:pPr>
            <a:r>
              <a:rPr lang="en-US" sz="1400" dirty="0">
                <a:solidFill>
                  <a:srgbClr val="5E626A"/>
                </a:solidFill>
                <a:latin typeface="Noto Sans" pitchFamily="34" charset="0"/>
                <a:ea typeface="Noto Sans" pitchFamily="34" charset="-122"/>
                <a:cs typeface="Noto Sans" pitchFamily="34" charset="-120"/>
              </a:rPr>
              <a:t>Break-even rate vs 4 H100:</a:t>
            </a:r>
            <a:endParaRPr lang="en-US" sz="1400" dirty="0"/>
          </a:p>
          <a:p>
            <a:pPr indent="0" marL="0">
              <a:buNone/>
            </a:pPr>
            <a:r>
              <a:rPr lang="en-US" sz="1400" dirty="0">
                <a:solidFill>
                  <a:srgbClr val="5E626A"/>
                </a:solidFill>
                <a:latin typeface="Noto Sans" pitchFamily="34" charset="0"/>
                <a:ea typeface="Noto Sans" pitchFamily="34" charset="-122"/>
                <a:cs typeface="Noto Sans" pitchFamily="34" charset="-120"/>
              </a:rPr>
              <a:t>26% / 33% / 47%, respectively.</a:t>
            </a:r>
            <a:endParaRPr lang="en-US" sz="1400" dirty="0"/>
          </a:p>
        </p:txBody>
      </p:sp>
      <p:sp>
        <p:nvSpPr>
          <p:cNvPr id="50" name="Text 48"/>
          <p:cNvSpPr/>
          <p:nvPr/>
        </p:nvSpPr>
        <p:spPr>
          <a:xfrm>
            <a:off x="493776" y="5330952"/>
            <a:ext cx="7708392" cy="438912"/>
          </a:xfrm>
          <a:prstGeom prst="rect">
            <a:avLst/>
          </a:prstGeom>
          <a:noFill/>
          <a:ln/>
        </p:spPr>
        <p:txBody>
          <a:bodyPr wrap="square" lIns="0" tIns="0" rIns="0" bIns="0" rtlCol="0" anchor="ctr"/>
          <a:lstStyle/>
          <a:p>
            <a:pPr indent="0" marL="0">
              <a:buNone/>
            </a:pPr>
            <a:r>
              <a:rPr lang="en-US" sz="1300" dirty="0">
                <a:solidFill>
                  <a:srgbClr val="5E626A"/>
                </a:solidFill>
                <a:latin typeface="Noto Sans" pitchFamily="34" charset="0"/>
                <a:ea typeface="Noto Sans" pitchFamily="34" charset="-122"/>
                <a:cs typeface="Noto Sans" pitchFamily="34" charset="-120"/>
              </a:rPr>
              <a:t>Design allowance: $60k for 8 modules + $20k host/fabric. Both need supplier cost validation.</a:t>
            </a:r>
            <a:endParaRPr lang="en-US" sz="1300" dirty="0"/>
          </a:p>
        </p:txBody>
      </p:sp>
      <p:sp>
        <p:nvSpPr>
          <p:cNvPr id="51" name="Text 49"/>
          <p:cNvSpPr/>
          <p:nvPr/>
        </p:nvSpPr>
        <p:spPr>
          <a:xfrm>
            <a:off x="493776" y="5779008"/>
            <a:ext cx="11155680" cy="338328"/>
          </a:xfrm>
          <a:prstGeom prst="rect">
            <a:avLst/>
          </a:prstGeom>
          <a:noFill/>
          <a:ln/>
        </p:spPr>
        <p:txBody>
          <a:bodyPr wrap="square" lIns="0" tIns="0" rIns="0" bIns="0" rtlCol="0" anchor="ctr"/>
          <a:lstStyle/>
          <a:p>
            <a:pPr indent="0" marL="0">
              <a:buNone/>
            </a:pPr>
            <a:r>
              <a:rPr lang="en-US" sz="1080" dirty="0">
                <a:solidFill>
                  <a:srgbClr val="5E626A"/>
                </a:solidFill>
                <a:latin typeface="Noto Sans" pitchFamily="34" charset="0"/>
                <a:ea typeface="Noto Sans" pitchFamily="34" charset="-122"/>
                <a:cs typeface="Noto Sans" pitchFamily="34" charset="-120"/>
              </a:rPr>
              <a:t>Excluded: taxes, financing, common application services, product R&amp;D and customer-specific migration.</a:t>
            </a:r>
            <a:endParaRPr lang="en-US" sz="1080" dirty="0"/>
          </a:p>
          <a:p>
            <a:pPr indent="0" marL="0">
              <a:buNone/>
            </a:pPr>
            <a:r>
              <a:rPr lang="en-US" sz="1080" dirty="0">
                <a:solidFill>
                  <a:srgbClr val="5E626A"/>
                </a:solidFill>
                <a:latin typeface="Noto Sans" pitchFamily="34" charset="0"/>
                <a:ea typeface="Noto Sans" pitchFamily="34" charset="-122"/>
                <a:cs typeface="Noto Sans" pitchFamily="34" charset="-120"/>
              </a:rPr>
              <a:t>Illustrative fleet model adds $100k migration NRE separately. Include these in a commercial quote.</a:t>
            </a:r>
            <a:endParaRPr lang="en-US" sz="10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BACKUP D / REVERSE-SIZING</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The same bank pilot can be a win—or a NO-GO.</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Illustration only: 2 RPS peak; GPU control assumed 0.50 RPS per 4-H100 group; one full group in reserve.</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Hypothetical service rates—not benchmarks. [S7] static cloud prices + Backup C assumptions; includes $100k ATMOS migration.</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14</a:t>
            </a:r>
            <a:endParaRPr lang="en-US" sz="1200" dirty="0"/>
          </a:p>
        </p:txBody>
      </p:sp>
      <p:sp>
        <p:nvSpPr>
          <p:cNvPr id="10" name="Shape 8"/>
          <p:cNvSpPr/>
          <p:nvPr/>
        </p:nvSpPr>
        <p:spPr>
          <a:xfrm>
            <a:off x="457200" y="1938528"/>
            <a:ext cx="2743200" cy="420624"/>
          </a:xfrm>
          <a:prstGeom prst="rect">
            <a:avLst/>
          </a:prstGeom>
          <a:solidFill>
            <a:srgbClr val="22212A"/>
          </a:solidFill>
          <a:ln w="12700">
            <a:solidFill>
              <a:srgbClr val="22212A"/>
            </a:solidFill>
            <a:prstDash val="solid"/>
          </a:ln>
        </p:spPr>
      </p:sp>
      <p:sp>
        <p:nvSpPr>
          <p:cNvPr id="11" name="Text 9"/>
          <p:cNvSpPr/>
          <p:nvPr/>
        </p:nvSpPr>
        <p:spPr>
          <a:xfrm>
            <a:off x="548640" y="2029968"/>
            <a:ext cx="2560320"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Candidate outcome</a:t>
            </a:r>
            <a:endParaRPr lang="en-US" sz="1200" dirty="0"/>
          </a:p>
        </p:txBody>
      </p:sp>
      <p:sp>
        <p:nvSpPr>
          <p:cNvPr id="12" name="Shape 10"/>
          <p:cNvSpPr/>
          <p:nvPr/>
        </p:nvSpPr>
        <p:spPr>
          <a:xfrm>
            <a:off x="3200400" y="1938528"/>
            <a:ext cx="2002536" cy="420624"/>
          </a:xfrm>
          <a:prstGeom prst="rect">
            <a:avLst/>
          </a:prstGeom>
          <a:solidFill>
            <a:srgbClr val="22212A"/>
          </a:solidFill>
          <a:ln w="12700">
            <a:solidFill>
              <a:srgbClr val="22212A"/>
            </a:solidFill>
            <a:prstDash val="solid"/>
          </a:ln>
        </p:spPr>
      </p:sp>
      <p:sp>
        <p:nvSpPr>
          <p:cNvPr id="13" name="Text 11"/>
          <p:cNvSpPr/>
          <p:nvPr/>
        </p:nvSpPr>
        <p:spPr>
          <a:xfrm>
            <a:off x="3291840" y="2029968"/>
            <a:ext cx="1819656"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Qualified RPS*</a:t>
            </a:r>
            <a:endParaRPr lang="en-US" sz="1200" dirty="0"/>
          </a:p>
        </p:txBody>
      </p:sp>
      <p:sp>
        <p:nvSpPr>
          <p:cNvPr id="14" name="Shape 12"/>
          <p:cNvSpPr/>
          <p:nvPr/>
        </p:nvSpPr>
        <p:spPr>
          <a:xfrm>
            <a:off x="5202936" y="1938528"/>
            <a:ext cx="2075688" cy="420624"/>
          </a:xfrm>
          <a:prstGeom prst="rect">
            <a:avLst/>
          </a:prstGeom>
          <a:solidFill>
            <a:srgbClr val="22212A"/>
          </a:solidFill>
          <a:ln w="12700">
            <a:solidFill>
              <a:srgbClr val="22212A"/>
            </a:solidFill>
            <a:prstDash val="solid"/>
          </a:ln>
        </p:spPr>
      </p:sp>
      <p:sp>
        <p:nvSpPr>
          <p:cNvPr id="15" name="Text 13"/>
          <p:cNvSpPr/>
          <p:nvPr/>
        </p:nvSpPr>
        <p:spPr>
          <a:xfrm>
            <a:off x="5294376" y="2029968"/>
            <a:ext cx="1892808"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Units incl. reserve</a:t>
            </a:r>
            <a:endParaRPr lang="en-US" sz="1200" dirty="0"/>
          </a:p>
        </p:txBody>
      </p:sp>
      <p:sp>
        <p:nvSpPr>
          <p:cNvPr id="16" name="Shape 14"/>
          <p:cNvSpPr/>
          <p:nvPr/>
        </p:nvSpPr>
        <p:spPr>
          <a:xfrm>
            <a:off x="7278624" y="1938528"/>
            <a:ext cx="2258568" cy="420624"/>
          </a:xfrm>
          <a:prstGeom prst="rect">
            <a:avLst/>
          </a:prstGeom>
          <a:solidFill>
            <a:srgbClr val="22212A"/>
          </a:solidFill>
          <a:ln w="12700">
            <a:solidFill>
              <a:srgbClr val="22212A"/>
            </a:solidFill>
            <a:prstDash val="solid"/>
          </a:ln>
        </p:spPr>
      </p:sp>
      <p:sp>
        <p:nvSpPr>
          <p:cNvPr id="17" name="Text 15"/>
          <p:cNvSpPr/>
          <p:nvPr/>
        </p:nvSpPr>
        <p:spPr>
          <a:xfrm>
            <a:off x="7370064" y="2029968"/>
            <a:ext cx="2075688"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3-year cost</a:t>
            </a:r>
            <a:endParaRPr lang="en-US" sz="1200" dirty="0"/>
          </a:p>
        </p:txBody>
      </p:sp>
      <p:sp>
        <p:nvSpPr>
          <p:cNvPr id="18" name="Shape 16"/>
          <p:cNvSpPr/>
          <p:nvPr/>
        </p:nvSpPr>
        <p:spPr>
          <a:xfrm>
            <a:off x="9537192" y="1938528"/>
            <a:ext cx="2194560" cy="420624"/>
          </a:xfrm>
          <a:prstGeom prst="rect">
            <a:avLst/>
          </a:prstGeom>
          <a:solidFill>
            <a:srgbClr val="22212A"/>
          </a:solidFill>
          <a:ln w="12700">
            <a:solidFill>
              <a:srgbClr val="22212A"/>
            </a:solidFill>
            <a:prstDash val="solid"/>
          </a:ln>
        </p:spPr>
      </p:sp>
      <p:sp>
        <p:nvSpPr>
          <p:cNvPr id="19" name="Text 17"/>
          <p:cNvSpPr/>
          <p:nvPr/>
        </p:nvSpPr>
        <p:spPr>
          <a:xfrm>
            <a:off x="9628632" y="2029968"/>
            <a:ext cx="2011680" cy="301752"/>
          </a:xfrm>
          <a:prstGeom prst="rect">
            <a:avLst/>
          </a:prstGeom>
          <a:noFill/>
          <a:ln/>
        </p:spPr>
        <p:txBody>
          <a:bodyPr wrap="square" lIns="0" tIns="0" rIns="0" bIns="0" rtlCol="0" anchor="ctr"/>
          <a:lstStyle/>
          <a:p>
            <a:pPr indent="0" marL="0">
              <a:buNone/>
            </a:pPr>
            <a:r>
              <a:rPr lang="en-US" sz="1200" b="1" dirty="0">
                <a:solidFill>
                  <a:srgbClr val="FFFFFF"/>
                </a:solidFill>
                <a:latin typeface="Noto Sans" pitchFamily="34" charset="0"/>
                <a:ea typeface="Noto Sans" pitchFamily="34" charset="-122"/>
                <a:cs typeface="Noto Sans" pitchFamily="34" charset="-120"/>
              </a:rPr>
              <a:t>vs GPU control</a:t>
            </a:r>
            <a:endParaRPr lang="en-US" sz="1200" dirty="0"/>
          </a:p>
        </p:txBody>
      </p:sp>
      <p:sp>
        <p:nvSpPr>
          <p:cNvPr id="20" name="Shape 18"/>
          <p:cNvSpPr/>
          <p:nvPr/>
        </p:nvSpPr>
        <p:spPr>
          <a:xfrm>
            <a:off x="457200" y="2359152"/>
            <a:ext cx="2743200" cy="640080"/>
          </a:xfrm>
          <a:prstGeom prst="rect">
            <a:avLst/>
          </a:prstGeom>
          <a:solidFill>
            <a:srgbClr val="F2F0F1"/>
          </a:solidFill>
          <a:ln w="12700">
            <a:solidFill>
              <a:srgbClr val="F2F0F1"/>
            </a:solidFill>
            <a:prstDash val="solid"/>
          </a:ln>
        </p:spPr>
      </p:sp>
      <p:sp>
        <p:nvSpPr>
          <p:cNvPr id="21" name="Text 19"/>
          <p:cNvSpPr/>
          <p:nvPr/>
        </p:nvSpPr>
        <p:spPr>
          <a:xfrm>
            <a:off x="548640" y="2459736"/>
            <a:ext cx="2560320" cy="484632"/>
          </a:xfrm>
          <a:prstGeom prst="rect">
            <a:avLst/>
          </a:prstGeom>
          <a:noFill/>
          <a:ln/>
        </p:spPr>
        <p:txBody>
          <a:bodyPr wrap="square" lIns="0" tIns="0" rIns="0" bIns="0" rtlCol="0" anchor="ctr"/>
          <a:lstStyle/>
          <a:p>
            <a:pPr algn="l" indent="0" marL="0">
              <a:buNone/>
            </a:pPr>
            <a:r>
              <a:rPr lang="en-US" sz="1350" b="1" dirty="0">
                <a:solidFill>
                  <a:srgbClr val="202027"/>
                </a:solidFill>
                <a:latin typeface="Noto Sans" pitchFamily="34" charset="0"/>
                <a:ea typeface="Noto Sans" pitchFamily="34" charset="-122"/>
                <a:cs typeface="Noto Sans" pitchFamily="34" charset="-120"/>
              </a:rPr>
              <a:t>4-H100 control</a:t>
            </a:r>
            <a:endParaRPr lang="en-US" sz="1350" dirty="0"/>
          </a:p>
        </p:txBody>
      </p:sp>
      <p:sp>
        <p:nvSpPr>
          <p:cNvPr id="22" name="Shape 20"/>
          <p:cNvSpPr/>
          <p:nvPr/>
        </p:nvSpPr>
        <p:spPr>
          <a:xfrm>
            <a:off x="3200400" y="2359152"/>
            <a:ext cx="2002536" cy="640080"/>
          </a:xfrm>
          <a:prstGeom prst="rect">
            <a:avLst/>
          </a:prstGeom>
          <a:solidFill>
            <a:srgbClr val="F2F0F1"/>
          </a:solidFill>
          <a:ln w="12700">
            <a:solidFill>
              <a:srgbClr val="F2F0F1"/>
            </a:solidFill>
            <a:prstDash val="solid"/>
          </a:ln>
        </p:spPr>
      </p:sp>
      <p:sp>
        <p:nvSpPr>
          <p:cNvPr id="23" name="Text 21"/>
          <p:cNvSpPr/>
          <p:nvPr/>
        </p:nvSpPr>
        <p:spPr>
          <a:xfrm>
            <a:off x="3291840" y="2459736"/>
            <a:ext cx="1819656"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0.50 / group</a:t>
            </a:r>
            <a:endParaRPr lang="en-US" sz="1350" dirty="0"/>
          </a:p>
        </p:txBody>
      </p:sp>
      <p:sp>
        <p:nvSpPr>
          <p:cNvPr id="24" name="Shape 22"/>
          <p:cNvSpPr/>
          <p:nvPr/>
        </p:nvSpPr>
        <p:spPr>
          <a:xfrm>
            <a:off x="5202936" y="2359152"/>
            <a:ext cx="2075688" cy="640080"/>
          </a:xfrm>
          <a:prstGeom prst="rect">
            <a:avLst/>
          </a:prstGeom>
          <a:solidFill>
            <a:srgbClr val="F2F0F1"/>
          </a:solidFill>
          <a:ln w="12700">
            <a:solidFill>
              <a:srgbClr val="F2F0F1"/>
            </a:solidFill>
            <a:prstDash val="solid"/>
          </a:ln>
        </p:spPr>
      </p:sp>
      <p:sp>
        <p:nvSpPr>
          <p:cNvPr id="25" name="Text 23"/>
          <p:cNvSpPr/>
          <p:nvPr/>
        </p:nvSpPr>
        <p:spPr>
          <a:xfrm>
            <a:off x="5294376" y="2459736"/>
            <a:ext cx="1892808"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5 groups = 20 GPUs</a:t>
            </a:r>
            <a:endParaRPr lang="en-US" sz="1350" dirty="0"/>
          </a:p>
        </p:txBody>
      </p:sp>
      <p:sp>
        <p:nvSpPr>
          <p:cNvPr id="26" name="Shape 24"/>
          <p:cNvSpPr/>
          <p:nvPr/>
        </p:nvSpPr>
        <p:spPr>
          <a:xfrm>
            <a:off x="7278624" y="2359152"/>
            <a:ext cx="2258568" cy="640080"/>
          </a:xfrm>
          <a:prstGeom prst="rect">
            <a:avLst/>
          </a:prstGeom>
          <a:solidFill>
            <a:srgbClr val="F2F0F1"/>
          </a:solidFill>
          <a:ln w="12700">
            <a:solidFill>
              <a:srgbClr val="F2F0F1"/>
            </a:solidFill>
            <a:prstDash val="solid"/>
          </a:ln>
        </p:spPr>
      </p:sp>
      <p:sp>
        <p:nvSpPr>
          <p:cNvPr id="27" name="Text 25"/>
          <p:cNvSpPr/>
          <p:nvPr/>
        </p:nvSpPr>
        <p:spPr>
          <a:xfrm>
            <a:off x="7370064" y="2459736"/>
            <a:ext cx="2075688"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$2.150m</a:t>
            </a:r>
            <a:endParaRPr lang="en-US" sz="1350" dirty="0"/>
          </a:p>
        </p:txBody>
      </p:sp>
      <p:sp>
        <p:nvSpPr>
          <p:cNvPr id="28" name="Shape 26"/>
          <p:cNvSpPr/>
          <p:nvPr/>
        </p:nvSpPr>
        <p:spPr>
          <a:xfrm>
            <a:off x="9537192" y="2359152"/>
            <a:ext cx="2194560" cy="640080"/>
          </a:xfrm>
          <a:prstGeom prst="rect">
            <a:avLst/>
          </a:prstGeom>
          <a:solidFill>
            <a:srgbClr val="F2F0F1"/>
          </a:solidFill>
          <a:ln w="12700">
            <a:solidFill>
              <a:srgbClr val="F2F0F1"/>
            </a:solidFill>
            <a:prstDash val="solid"/>
          </a:ln>
        </p:spPr>
      </p:sp>
      <p:sp>
        <p:nvSpPr>
          <p:cNvPr id="29" name="Text 27"/>
          <p:cNvSpPr/>
          <p:nvPr/>
        </p:nvSpPr>
        <p:spPr>
          <a:xfrm>
            <a:off x="9628632" y="2459736"/>
            <a:ext cx="2011680"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Reference</a:t>
            </a:r>
            <a:endParaRPr lang="en-US" sz="1350" dirty="0"/>
          </a:p>
        </p:txBody>
      </p:sp>
      <p:sp>
        <p:nvSpPr>
          <p:cNvPr id="30" name="Shape 28"/>
          <p:cNvSpPr/>
          <p:nvPr/>
        </p:nvSpPr>
        <p:spPr>
          <a:xfrm>
            <a:off x="457200" y="2999232"/>
            <a:ext cx="2743200" cy="640080"/>
          </a:xfrm>
          <a:prstGeom prst="rect">
            <a:avLst/>
          </a:prstGeom>
          <a:solidFill>
            <a:srgbClr val="FFFFFF"/>
          </a:solidFill>
          <a:ln w="12700">
            <a:solidFill>
              <a:srgbClr val="FFFFFF"/>
            </a:solidFill>
            <a:prstDash val="solid"/>
          </a:ln>
        </p:spPr>
      </p:sp>
      <p:sp>
        <p:nvSpPr>
          <p:cNvPr id="31" name="Text 29"/>
          <p:cNvSpPr/>
          <p:nvPr/>
        </p:nvSpPr>
        <p:spPr>
          <a:xfrm>
            <a:off x="548640" y="3099816"/>
            <a:ext cx="2560320" cy="484632"/>
          </a:xfrm>
          <a:prstGeom prst="rect">
            <a:avLst/>
          </a:prstGeom>
          <a:noFill/>
          <a:ln/>
        </p:spPr>
        <p:txBody>
          <a:bodyPr wrap="square" lIns="0" tIns="0" rIns="0" bIns="0" rtlCol="0" anchor="ctr"/>
          <a:lstStyle/>
          <a:p>
            <a:pPr algn="l" indent="0" marL="0">
              <a:buNone/>
            </a:pPr>
            <a:r>
              <a:rPr lang="en-US" sz="1350" b="1" dirty="0">
                <a:solidFill>
                  <a:srgbClr val="202027"/>
                </a:solidFill>
                <a:latin typeface="Noto Sans" pitchFamily="34" charset="0"/>
                <a:ea typeface="Noto Sans" pitchFamily="34" charset="-122"/>
                <a:cs typeface="Noto Sans" pitchFamily="34" charset="-120"/>
              </a:rPr>
              <a:t>ATMOS: fails economics</a:t>
            </a:r>
            <a:endParaRPr lang="en-US" sz="1350" dirty="0"/>
          </a:p>
        </p:txBody>
      </p:sp>
      <p:sp>
        <p:nvSpPr>
          <p:cNvPr id="32" name="Shape 30"/>
          <p:cNvSpPr/>
          <p:nvPr/>
        </p:nvSpPr>
        <p:spPr>
          <a:xfrm>
            <a:off x="3200400" y="2999232"/>
            <a:ext cx="2002536" cy="640080"/>
          </a:xfrm>
          <a:prstGeom prst="rect">
            <a:avLst/>
          </a:prstGeom>
          <a:solidFill>
            <a:srgbClr val="FFFFFF"/>
          </a:solidFill>
          <a:ln w="12700">
            <a:solidFill>
              <a:srgbClr val="FFFFFF"/>
            </a:solidFill>
            <a:prstDash val="solid"/>
          </a:ln>
        </p:spPr>
      </p:sp>
      <p:sp>
        <p:nvSpPr>
          <p:cNvPr id="33" name="Text 31"/>
          <p:cNvSpPr/>
          <p:nvPr/>
        </p:nvSpPr>
        <p:spPr>
          <a:xfrm>
            <a:off x="3291840" y="3099816"/>
            <a:ext cx="1819656"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0.125 / node</a:t>
            </a:r>
            <a:endParaRPr lang="en-US" sz="1350" dirty="0"/>
          </a:p>
        </p:txBody>
      </p:sp>
      <p:sp>
        <p:nvSpPr>
          <p:cNvPr id="34" name="Shape 32"/>
          <p:cNvSpPr/>
          <p:nvPr/>
        </p:nvSpPr>
        <p:spPr>
          <a:xfrm>
            <a:off x="5202936" y="2999232"/>
            <a:ext cx="2075688" cy="640080"/>
          </a:xfrm>
          <a:prstGeom prst="rect">
            <a:avLst/>
          </a:prstGeom>
          <a:solidFill>
            <a:srgbClr val="FFFFFF"/>
          </a:solidFill>
          <a:ln w="12700">
            <a:solidFill>
              <a:srgbClr val="FFFFFF"/>
            </a:solidFill>
            <a:prstDash val="solid"/>
          </a:ln>
        </p:spPr>
      </p:sp>
      <p:sp>
        <p:nvSpPr>
          <p:cNvPr id="35" name="Text 33"/>
          <p:cNvSpPr/>
          <p:nvPr/>
        </p:nvSpPr>
        <p:spPr>
          <a:xfrm>
            <a:off x="5294376" y="3099816"/>
            <a:ext cx="1892808"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17 nodes / 136 E3.S</a:t>
            </a:r>
            <a:endParaRPr lang="en-US" sz="1350" dirty="0"/>
          </a:p>
        </p:txBody>
      </p:sp>
      <p:sp>
        <p:nvSpPr>
          <p:cNvPr id="36" name="Shape 34"/>
          <p:cNvSpPr/>
          <p:nvPr/>
        </p:nvSpPr>
        <p:spPr>
          <a:xfrm>
            <a:off x="7278624" y="2999232"/>
            <a:ext cx="2258568" cy="640080"/>
          </a:xfrm>
          <a:prstGeom prst="rect">
            <a:avLst/>
          </a:prstGeom>
          <a:solidFill>
            <a:srgbClr val="FFFFFF"/>
          </a:solidFill>
          <a:ln w="12700">
            <a:solidFill>
              <a:srgbClr val="FFFFFF"/>
            </a:solidFill>
            <a:prstDash val="solid"/>
          </a:ln>
        </p:spPr>
      </p:sp>
      <p:sp>
        <p:nvSpPr>
          <p:cNvPr id="37" name="Text 35"/>
          <p:cNvSpPr/>
          <p:nvPr/>
        </p:nvSpPr>
        <p:spPr>
          <a:xfrm>
            <a:off x="7370064" y="3099816"/>
            <a:ext cx="2075688"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$2.498m</a:t>
            </a:r>
            <a:endParaRPr lang="en-US" sz="1350" dirty="0"/>
          </a:p>
        </p:txBody>
      </p:sp>
      <p:sp>
        <p:nvSpPr>
          <p:cNvPr id="38" name="Shape 36"/>
          <p:cNvSpPr/>
          <p:nvPr/>
        </p:nvSpPr>
        <p:spPr>
          <a:xfrm>
            <a:off x="9537192" y="2999232"/>
            <a:ext cx="2194560" cy="640080"/>
          </a:xfrm>
          <a:prstGeom prst="rect">
            <a:avLst/>
          </a:prstGeom>
          <a:solidFill>
            <a:srgbClr val="FFFFFF"/>
          </a:solidFill>
          <a:ln w="12700">
            <a:solidFill>
              <a:srgbClr val="FFFFFF"/>
            </a:solidFill>
            <a:prstDash val="solid"/>
          </a:ln>
        </p:spPr>
      </p:sp>
      <p:sp>
        <p:nvSpPr>
          <p:cNvPr id="39" name="Text 37"/>
          <p:cNvSpPr/>
          <p:nvPr/>
        </p:nvSpPr>
        <p:spPr>
          <a:xfrm>
            <a:off x="9628632" y="3099816"/>
            <a:ext cx="2011680"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16% MORE</a:t>
            </a:r>
            <a:endParaRPr lang="en-US" sz="1350" dirty="0"/>
          </a:p>
        </p:txBody>
      </p:sp>
      <p:sp>
        <p:nvSpPr>
          <p:cNvPr id="40" name="Shape 38"/>
          <p:cNvSpPr/>
          <p:nvPr/>
        </p:nvSpPr>
        <p:spPr>
          <a:xfrm>
            <a:off x="457200" y="3639312"/>
            <a:ext cx="2743200" cy="640080"/>
          </a:xfrm>
          <a:prstGeom prst="rect">
            <a:avLst/>
          </a:prstGeom>
          <a:solidFill>
            <a:srgbClr val="F2F0F1"/>
          </a:solidFill>
          <a:ln w="12700">
            <a:solidFill>
              <a:srgbClr val="F2F0F1"/>
            </a:solidFill>
            <a:prstDash val="solid"/>
          </a:ln>
        </p:spPr>
      </p:sp>
      <p:sp>
        <p:nvSpPr>
          <p:cNvPr id="41" name="Text 39"/>
          <p:cNvSpPr/>
          <p:nvPr/>
        </p:nvSpPr>
        <p:spPr>
          <a:xfrm>
            <a:off x="548640" y="3739896"/>
            <a:ext cx="2560320" cy="484632"/>
          </a:xfrm>
          <a:prstGeom prst="rect">
            <a:avLst/>
          </a:prstGeom>
          <a:noFill/>
          <a:ln/>
        </p:spPr>
        <p:txBody>
          <a:bodyPr wrap="square" lIns="0" tIns="0" rIns="0" bIns="0" rtlCol="0" anchor="ctr"/>
          <a:lstStyle/>
          <a:p>
            <a:pPr algn="l" indent="0" marL="0">
              <a:buNone/>
            </a:pPr>
            <a:r>
              <a:rPr lang="en-US" sz="1350" b="1" dirty="0">
                <a:solidFill>
                  <a:srgbClr val="202027"/>
                </a:solidFill>
                <a:latin typeface="Noto Sans" pitchFamily="34" charset="0"/>
                <a:ea typeface="Noto Sans" pitchFamily="34" charset="-122"/>
                <a:cs typeface="Noto Sans" pitchFamily="34" charset="-120"/>
              </a:rPr>
              <a:t>ATMOS: conditional case</a:t>
            </a:r>
            <a:endParaRPr lang="en-US" sz="1350" dirty="0"/>
          </a:p>
        </p:txBody>
      </p:sp>
      <p:sp>
        <p:nvSpPr>
          <p:cNvPr id="42" name="Shape 40"/>
          <p:cNvSpPr/>
          <p:nvPr/>
        </p:nvSpPr>
        <p:spPr>
          <a:xfrm>
            <a:off x="3200400" y="3639312"/>
            <a:ext cx="2002536" cy="640080"/>
          </a:xfrm>
          <a:prstGeom prst="rect">
            <a:avLst/>
          </a:prstGeom>
          <a:solidFill>
            <a:srgbClr val="F2F0F1"/>
          </a:solidFill>
          <a:ln w="12700">
            <a:solidFill>
              <a:srgbClr val="F2F0F1"/>
            </a:solidFill>
            <a:prstDash val="solid"/>
          </a:ln>
        </p:spPr>
      </p:sp>
      <p:sp>
        <p:nvSpPr>
          <p:cNvPr id="43" name="Text 41"/>
          <p:cNvSpPr/>
          <p:nvPr/>
        </p:nvSpPr>
        <p:spPr>
          <a:xfrm>
            <a:off x="3291840" y="3739896"/>
            <a:ext cx="1819656"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0.25 / node</a:t>
            </a:r>
            <a:endParaRPr lang="en-US" sz="1350" dirty="0"/>
          </a:p>
        </p:txBody>
      </p:sp>
      <p:sp>
        <p:nvSpPr>
          <p:cNvPr id="44" name="Shape 42"/>
          <p:cNvSpPr/>
          <p:nvPr/>
        </p:nvSpPr>
        <p:spPr>
          <a:xfrm>
            <a:off x="5202936" y="3639312"/>
            <a:ext cx="2075688" cy="640080"/>
          </a:xfrm>
          <a:prstGeom prst="rect">
            <a:avLst/>
          </a:prstGeom>
          <a:solidFill>
            <a:srgbClr val="F2F0F1"/>
          </a:solidFill>
          <a:ln w="12700">
            <a:solidFill>
              <a:srgbClr val="F2F0F1"/>
            </a:solidFill>
            <a:prstDash val="solid"/>
          </a:ln>
        </p:spPr>
      </p:sp>
      <p:sp>
        <p:nvSpPr>
          <p:cNvPr id="45" name="Text 43"/>
          <p:cNvSpPr/>
          <p:nvPr/>
        </p:nvSpPr>
        <p:spPr>
          <a:xfrm>
            <a:off x="5294376" y="3739896"/>
            <a:ext cx="1892808"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9 nodes / 72 E3.S</a:t>
            </a:r>
            <a:endParaRPr lang="en-US" sz="1350" dirty="0"/>
          </a:p>
        </p:txBody>
      </p:sp>
      <p:sp>
        <p:nvSpPr>
          <p:cNvPr id="46" name="Shape 44"/>
          <p:cNvSpPr/>
          <p:nvPr/>
        </p:nvSpPr>
        <p:spPr>
          <a:xfrm>
            <a:off x="7278624" y="3639312"/>
            <a:ext cx="2258568" cy="640080"/>
          </a:xfrm>
          <a:prstGeom prst="rect">
            <a:avLst/>
          </a:prstGeom>
          <a:solidFill>
            <a:srgbClr val="F2F0F1"/>
          </a:solidFill>
          <a:ln w="12700">
            <a:solidFill>
              <a:srgbClr val="F2F0F1"/>
            </a:solidFill>
            <a:prstDash val="solid"/>
          </a:ln>
        </p:spPr>
      </p:sp>
      <p:sp>
        <p:nvSpPr>
          <p:cNvPr id="47" name="Text 45"/>
          <p:cNvSpPr/>
          <p:nvPr/>
        </p:nvSpPr>
        <p:spPr>
          <a:xfrm>
            <a:off x="7370064" y="3739896"/>
            <a:ext cx="2075688"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$1.370m</a:t>
            </a:r>
            <a:endParaRPr lang="en-US" sz="1350" dirty="0"/>
          </a:p>
        </p:txBody>
      </p:sp>
      <p:sp>
        <p:nvSpPr>
          <p:cNvPr id="48" name="Shape 46"/>
          <p:cNvSpPr/>
          <p:nvPr/>
        </p:nvSpPr>
        <p:spPr>
          <a:xfrm>
            <a:off x="9537192" y="3639312"/>
            <a:ext cx="2194560" cy="640080"/>
          </a:xfrm>
          <a:prstGeom prst="rect">
            <a:avLst/>
          </a:prstGeom>
          <a:solidFill>
            <a:srgbClr val="F2F0F1"/>
          </a:solidFill>
          <a:ln w="12700">
            <a:solidFill>
              <a:srgbClr val="F2F0F1"/>
            </a:solidFill>
            <a:prstDash val="solid"/>
          </a:ln>
        </p:spPr>
      </p:sp>
      <p:sp>
        <p:nvSpPr>
          <p:cNvPr id="49" name="Text 47"/>
          <p:cNvSpPr/>
          <p:nvPr/>
        </p:nvSpPr>
        <p:spPr>
          <a:xfrm>
            <a:off x="9628632" y="3739896"/>
            <a:ext cx="2011680"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36% LOWER</a:t>
            </a:r>
            <a:endParaRPr lang="en-US" sz="1350" dirty="0"/>
          </a:p>
        </p:txBody>
      </p:sp>
      <p:sp>
        <p:nvSpPr>
          <p:cNvPr id="50" name="Shape 48"/>
          <p:cNvSpPr/>
          <p:nvPr/>
        </p:nvSpPr>
        <p:spPr>
          <a:xfrm>
            <a:off x="457200" y="4279392"/>
            <a:ext cx="2743200" cy="640080"/>
          </a:xfrm>
          <a:prstGeom prst="rect">
            <a:avLst/>
          </a:prstGeom>
          <a:solidFill>
            <a:srgbClr val="FFFFFF"/>
          </a:solidFill>
          <a:ln w="12700">
            <a:solidFill>
              <a:srgbClr val="FFFFFF"/>
            </a:solidFill>
            <a:prstDash val="solid"/>
          </a:ln>
        </p:spPr>
      </p:sp>
      <p:sp>
        <p:nvSpPr>
          <p:cNvPr id="51" name="Text 49"/>
          <p:cNvSpPr/>
          <p:nvPr/>
        </p:nvSpPr>
        <p:spPr>
          <a:xfrm>
            <a:off x="548640" y="4379976"/>
            <a:ext cx="2560320" cy="484632"/>
          </a:xfrm>
          <a:prstGeom prst="rect">
            <a:avLst/>
          </a:prstGeom>
          <a:noFill/>
          <a:ln/>
        </p:spPr>
        <p:txBody>
          <a:bodyPr wrap="square" lIns="0" tIns="0" rIns="0" bIns="0" rtlCol="0" anchor="ctr"/>
          <a:lstStyle/>
          <a:p>
            <a:pPr algn="l" indent="0" marL="0">
              <a:buNone/>
            </a:pPr>
            <a:r>
              <a:rPr lang="en-US" sz="1350" b="1" dirty="0">
                <a:solidFill>
                  <a:srgbClr val="202027"/>
                </a:solidFill>
                <a:latin typeface="Noto Sans" pitchFamily="34" charset="0"/>
                <a:ea typeface="Noto Sans" pitchFamily="34" charset="-122"/>
                <a:cs typeface="Noto Sans" pitchFamily="34" charset="-120"/>
              </a:rPr>
              <a:t>ATMOS: stronger case</a:t>
            </a:r>
            <a:endParaRPr lang="en-US" sz="1350" dirty="0"/>
          </a:p>
        </p:txBody>
      </p:sp>
      <p:sp>
        <p:nvSpPr>
          <p:cNvPr id="52" name="Shape 50"/>
          <p:cNvSpPr/>
          <p:nvPr/>
        </p:nvSpPr>
        <p:spPr>
          <a:xfrm>
            <a:off x="3200400" y="4279392"/>
            <a:ext cx="2002536" cy="640080"/>
          </a:xfrm>
          <a:prstGeom prst="rect">
            <a:avLst/>
          </a:prstGeom>
          <a:solidFill>
            <a:srgbClr val="FFFFFF"/>
          </a:solidFill>
          <a:ln w="12700">
            <a:solidFill>
              <a:srgbClr val="FFFFFF"/>
            </a:solidFill>
            <a:prstDash val="solid"/>
          </a:ln>
        </p:spPr>
      </p:sp>
      <p:sp>
        <p:nvSpPr>
          <p:cNvPr id="53" name="Text 51"/>
          <p:cNvSpPr/>
          <p:nvPr/>
        </p:nvSpPr>
        <p:spPr>
          <a:xfrm>
            <a:off x="3291840" y="4379976"/>
            <a:ext cx="1819656"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0.50 / node</a:t>
            </a:r>
            <a:endParaRPr lang="en-US" sz="1350" dirty="0"/>
          </a:p>
        </p:txBody>
      </p:sp>
      <p:sp>
        <p:nvSpPr>
          <p:cNvPr id="54" name="Shape 52"/>
          <p:cNvSpPr/>
          <p:nvPr/>
        </p:nvSpPr>
        <p:spPr>
          <a:xfrm>
            <a:off x="5202936" y="4279392"/>
            <a:ext cx="2075688" cy="640080"/>
          </a:xfrm>
          <a:prstGeom prst="rect">
            <a:avLst/>
          </a:prstGeom>
          <a:solidFill>
            <a:srgbClr val="FFFFFF"/>
          </a:solidFill>
          <a:ln w="12700">
            <a:solidFill>
              <a:srgbClr val="FFFFFF"/>
            </a:solidFill>
            <a:prstDash val="solid"/>
          </a:ln>
        </p:spPr>
      </p:sp>
      <p:sp>
        <p:nvSpPr>
          <p:cNvPr id="55" name="Text 53"/>
          <p:cNvSpPr/>
          <p:nvPr/>
        </p:nvSpPr>
        <p:spPr>
          <a:xfrm>
            <a:off x="5294376" y="4379976"/>
            <a:ext cx="1892808"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5 nodes / 40 E3.S</a:t>
            </a:r>
            <a:endParaRPr lang="en-US" sz="1350" dirty="0"/>
          </a:p>
        </p:txBody>
      </p:sp>
      <p:sp>
        <p:nvSpPr>
          <p:cNvPr id="56" name="Shape 54"/>
          <p:cNvSpPr/>
          <p:nvPr/>
        </p:nvSpPr>
        <p:spPr>
          <a:xfrm>
            <a:off x="7278624" y="4279392"/>
            <a:ext cx="2258568" cy="640080"/>
          </a:xfrm>
          <a:prstGeom prst="rect">
            <a:avLst/>
          </a:prstGeom>
          <a:solidFill>
            <a:srgbClr val="FFFFFF"/>
          </a:solidFill>
          <a:ln w="12700">
            <a:solidFill>
              <a:srgbClr val="FFFFFF"/>
            </a:solidFill>
            <a:prstDash val="solid"/>
          </a:ln>
        </p:spPr>
      </p:sp>
      <p:sp>
        <p:nvSpPr>
          <p:cNvPr id="57" name="Text 55"/>
          <p:cNvSpPr/>
          <p:nvPr/>
        </p:nvSpPr>
        <p:spPr>
          <a:xfrm>
            <a:off x="7370064" y="4379976"/>
            <a:ext cx="2075688"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$0.805m</a:t>
            </a:r>
            <a:endParaRPr lang="en-US" sz="1350" dirty="0"/>
          </a:p>
        </p:txBody>
      </p:sp>
      <p:sp>
        <p:nvSpPr>
          <p:cNvPr id="58" name="Shape 56"/>
          <p:cNvSpPr/>
          <p:nvPr/>
        </p:nvSpPr>
        <p:spPr>
          <a:xfrm>
            <a:off x="9537192" y="4279392"/>
            <a:ext cx="2194560" cy="640080"/>
          </a:xfrm>
          <a:prstGeom prst="rect">
            <a:avLst/>
          </a:prstGeom>
          <a:solidFill>
            <a:srgbClr val="FFFFFF"/>
          </a:solidFill>
          <a:ln w="12700">
            <a:solidFill>
              <a:srgbClr val="FFFFFF"/>
            </a:solidFill>
            <a:prstDash val="solid"/>
          </a:ln>
        </p:spPr>
      </p:sp>
      <p:sp>
        <p:nvSpPr>
          <p:cNvPr id="59" name="Text 57"/>
          <p:cNvSpPr/>
          <p:nvPr/>
        </p:nvSpPr>
        <p:spPr>
          <a:xfrm>
            <a:off x="9628632" y="4379976"/>
            <a:ext cx="2011680" cy="484632"/>
          </a:xfrm>
          <a:prstGeom prst="rect">
            <a:avLst/>
          </a:prstGeom>
          <a:noFill/>
          <a:ln/>
        </p:spPr>
        <p:txBody>
          <a:bodyPr wrap="square" lIns="0" tIns="0" rIns="0" bIns="0" rtlCol="0" anchor="ctr"/>
          <a:lstStyle/>
          <a:p>
            <a:pPr algn="l" indent="0" marL="0">
              <a:buNone/>
            </a:pPr>
            <a:r>
              <a:rPr lang="en-US" sz="1350" dirty="0">
                <a:solidFill>
                  <a:srgbClr val="5E626A"/>
                </a:solidFill>
                <a:latin typeface="Noto Sans" pitchFamily="34" charset="0"/>
                <a:ea typeface="Noto Sans" pitchFamily="34" charset="-122"/>
                <a:cs typeface="Noto Sans" pitchFamily="34" charset="-120"/>
              </a:rPr>
              <a:t>63% LOWER</a:t>
            </a:r>
            <a:endParaRPr lang="en-US" sz="1350" dirty="0"/>
          </a:p>
        </p:txBody>
      </p:sp>
      <p:sp>
        <p:nvSpPr>
          <p:cNvPr id="60" name="Shape 58"/>
          <p:cNvSpPr/>
          <p:nvPr/>
        </p:nvSpPr>
        <p:spPr>
          <a:xfrm>
            <a:off x="457200" y="5358384"/>
            <a:ext cx="11265408" cy="438912"/>
          </a:xfrm>
          <a:prstGeom prst="rect">
            <a:avLst/>
          </a:prstGeom>
          <a:solidFill>
            <a:srgbClr val="FAE8ED"/>
          </a:solidFill>
          <a:ln w="12700">
            <a:solidFill>
              <a:srgbClr val="FAE8ED"/>
            </a:solidFill>
            <a:prstDash val="solid"/>
          </a:ln>
        </p:spPr>
      </p:sp>
      <p:sp>
        <p:nvSpPr>
          <p:cNvPr id="61" name="Text 59"/>
          <p:cNvSpPr/>
          <p:nvPr/>
        </p:nvSpPr>
        <p:spPr>
          <a:xfrm>
            <a:off x="640080" y="5458968"/>
            <a:ext cx="10881360" cy="256032"/>
          </a:xfrm>
          <a:prstGeom prst="rect">
            <a:avLst/>
          </a:prstGeom>
          <a:noFill/>
          <a:ln/>
        </p:spPr>
        <p:txBody>
          <a:bodyPr wrap="square" lIns="0" tIns="0" rIns="0" bIns="0" rtlCol="0" anchor="ctr"/>
          <a:lstStyle/>
          <a:p>
            <a:pPr indent="0" marL="0">
              <a:buNone/>
            </a:pPr>
            <a:r>
              <a:rPr lang="en-US" sz="1500" b="1" dirty="0">
                <a:solidFill>
                  <a:srgbClr val="A10F2C"/>
                </a:solidFill>
                <a:latin typeface="Noto Sans" pitchFamily="34" charset="0"/>
                <a:ea typeface="Noto Sans" pitchFamily="34" charset="-122"/>
                <a:cs typeface="Noto Sans" pitchFamily="34" charset="-120"/>
              </a:rPr>
              <a:t>Required units = 1 + ceil(peak RPS / measured RPS per complete serving unit).</a:t>
            </a:r>
            <a:endParaRPr lang="en-US" sz="1500" dirty="0"/>
          </a:p>
        </p:txBody>
      </p:sp>
      <p:sp>
        <p:nvSpPr>
          <p:cNvPr id="62" name="Text 60"/>
          <p:cNvSpPr/>
          <p:nvPr/>
        </p:nvSpPr>
        <p:spPr>
          <a:xfrm>
            <a:off x="484632" y="5870448"/>
            <a:ext cx="11064240" cy="292608"/>
          </a:xfrm>
          <a:prstGeom prst="rect">
            <a:avLst/>
          </a:prstGeom>
          <a:noFill/>
          <a:ln/>
        </p:spPr>
        <p:txBody>
          <a:bodyPr wrap="square" lIns="0" tIns="0" rIns="0" bIns="0" rtlCol="0" anchor="ctr"/>
          <a:lstStyle/>
          <a:p>
            <a:pPr indent="0" marL="0">
              <a:buNone/>
            </a:pPr>
            <a:r>
              <a:rPr lang="en-US" sz="1080" dirty="0">
                <a:solidFill>
                  <a:srgbClr val="5E626A"/>
                </a:solidFill>
                <a:latin typeface="Noto Sans" pitchFamily="34" charset="0"/>
                <a:ea typeface="Noto Sans" pitchFamily="34" charset="-122"/>
                <a:cs typeface="Noto Sans" pitchFamily="34" charset="-120"/>
              </a:rPr>
              <a:t>*Each rate must meet identical model quality, 8K context cap and p95 completion ≤120s.</a:t>
            </a:r>
            <a:endParaRPr lang="en-US" sz="1080" dirty="0"/>
          </a:p>
          <a:p>
            <a:pPr indent="0" marL="0">
              <a:buNone/>
            </a:pPr>
            <a:r>
              <a:rPr lang="en-US" sz="1080" dirty="0">
                <a:solidFill>
                  <a:srgbClr val="5E626A"/>
                </a:solidFill>
                <a:latin typeface="Noto Sans" pitchFamily="34" charset="0"/>
                <a:ea typeface="Noto Sans" pitchFamily="34" charset="-122"/>
                <a:cs typeface="Noto Sans" pitchFamily="34" charset="-120"/>
              </a:rPr>
              <a:t>24/7 static rental comparison only; elastic or purchased-GPU controls can change the result substantially.</a:t>
            </a:r>
            <a:endParaRPr lang="en-US" sz="10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BACKUP E / SOURCE REGISTER</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Sources: public evidence and model geometry.</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Clickable source titles. Numerical assumptions are documented separately; no public ATMOS benchmark is asserted.</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Sources reviewed 1 October 2026. Full scope, caveats and URLs also appear in speaker notes.</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15</a:t>
            </a:r>
            <a:endParaRPr lang="en-US" sz="1200" dirty="0"/>
          </a:p>
        </p:txBody>
      </p:sp>
      <p:sp>
        <p:nvSpPr>
          <p:cNvPr id="10" name="Text 8"/>
          <p:cNvSpPr/>
          <p:nvPr/>
        </p:nvSpPr>
        <p:spPr>
          <a:xfrm>
            <a:off x="457200" y="1865376"/>
            <a:ext cx="457200" cy="256032"/>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S1</a:t>
            </a:r>
            <a:endParaRPr lang="en-US" sz="1100" dirty="0"/>
          </a:p>
        </p:txBody>
      </p:sp>
      <p:sp>
        <p:nvSpPr>
          <p:cNvPr id="11" name="Text 9">
            <a:hlinkClick r:id="rId1" tooltip=""/>
          </p:cNvPr>
          <p:cNvSpPr/>
          <p:nvPr/>
        </p:nvSpPr>
        <p:spPr>
          <a:xfrm>
            <a:off x="978408" y="1865376"/>
            <a:ext cx="10616184" cy="274320"/>
          </a:xfrm>
          <a:prstGeom prst="rect">
            <a:avLst/>
          </a:prstGeom>
          <a:noFill/>
          <a:ln/>
        </p:spPr>
        <p:txBody>
          <a:bodyPr wrap="square" lIns="0" tIns="0" rIns="0" bIns="0" rtlCol="0" anchor="ctr"/>
          <a:lstStyle/>
          <a:p>
            <a:pPr indent="0" marL="0">
              <a:buNone/>
            </a:pPr>
            <a:r>
              <a:rPr lang="en-US" sz="1400" b="1" u="sng" dirty="0">
                <a:solidFill>
                  <a:srgbClr val="202027"/>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Lloyds Banking Group — AI-driven benefits in 2025</a:t>
            </a:r>
            <a:endParaRPr lang="en-US" sz="1400" dirty="0"/>
          </a:p>
        </p:txBody>
      </p:sp>
      <p:sp>
        <p:nvSpPr>
          <p:cNvPr id="12" name="Text 10"/>
          <p:cNvSpPr/>
          <p:nvPr/>
        </p:nvSpPr>
        <p:spPr>
          <a:xfrm>
            <a:off x="978408" y="2167128"/>
            <a:ext cx="10625328" cy="228600"/>
          </a:xfrm>
          <a:prstGeom prst="rect">
            <a:avLst/>
          </a:prstGeom>
          <a:noFill/>
          <a:ln/>
        </p:spPr>
        <p:txBody>
          <a:bodyPr wrap="square" lIns="0" tIns="0" rIns="0" bIns="0" rtlCol="0" anchor="ctr"/>
          <a:lstStyle/>
          <a:p>
            <a:pPr indent="0" marL="0">
              <a:buNone/>
            </a:pPr>
            <a:r>
              <a:rPr lang="en-US" sz="1050" dirty="0">
                <a:solidFill>
                  <a:srgbClr val="5E626A"/>
                </a:solidFill>
                <a:latin typeface="Noto Sans" pitchFamily="34" charset="0"/>
                <a:ea typeface="Noto Sans" pitchFamily="34" charset="-122"/>
                <a:cs typeface="Noto Sans" pitchFamily="34" charset="-120"/>
              </a:rPr>
              <a:t>Public enterprise adoption and value; not a GPU-cost disclosure.</a:t>
            </a:r>
            <a:endParaRPr lang="en-US" sz="1050" dirty="0"/>
          </a:p>
        </p:txBody>
      </p:sp>
      <p:sp>
        <p:nvSpPr>
          <p:cNvPr id="13" name="Text 11"/>
          <p:cNvSpPr/>
          <p:nvPr/>
        </p:nvSpPr>
        <p:spPr>
          <a:xfrm>
            <a:off x="457200" y="2432304"/>
            <a:ext cx="457200" cy="256032"/>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S2</a:t>
            </a:r>
            <a:endParaRPr lang="en-US" sz="1100" dirty="0"/>
          </a:p>
        </p:txBody>
      </p:sp>
      <p:sp>
        <p:nvSpPr>
          <p:cNvPr id="14" name="Text 12">
            <a:hlinkClick r:id="rId2" tooltip=""/>
          </p:cNvPr>
          <p:cNvSpPr/>
          <p:nvPr/>
        </p:nvSpPr>
        <p:spPr>
          <a:xfrm>
            <a:off x="978408" y="2432304"/>
            <a:ext cx="10616184" cy="274320"/>
          </a:xfrm>
          <a:prstGeom prst="rect">
            <a:avLst/>
          </a:prstGeom>
          <a:noFill/>
          <a:ln/>
        </p:spPr>
        <p:txBody>
          <a:bodyPr wrap="square" lIns="0" tIns="0" rIns="0" bIns="0" rtlCol="0" anchor="ctr"/>
          <a:lstStyle/>
          <a:p>
            <a:pPr indent="0" marL="0">
              <a:buNone/>
            </a:pPr>
            <a:r>
              <a:rPr lang="en-US" sz="1400" b="1" u="sng" dirty="0">
                <a:solidFill>
                  <a:srgbClr val="202027"/>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Qwen3-30B-A3B — publisher model card</a:t>
            </a:r>
            <a:endParaRPr lang="en-US" sz="1400" dirty="0"/>
          </a:p>
        </p:txBody>
      </p:sp>
      <p:sp>
        <p:nvSpPr>
          <p:cNvPr id="15" name="Text 13"/>
          <p:cNvSpPr/>
          <p:nvPr/>
        </p:nvSpPr>
        <p:spPr>
          <a:xfrm>
            <a:off x="978408" y="2734056"/>
            <a:ext cx="10625328" cy="228600"/>
          </a:xfrm>
          <a:prstGeom prst="rect">
            <a:avLst/>
          </a:prstGeom>
          <a:noFill/>
          <a:ln/>
        </p:spPr>
        <p:txBody>
          <a:bodyPr wrap="square" lIns="0" tIns="0" rIns="0" bIns="0" rtlCol="0" anchor="ctr"/>
          <a:lstStyle/>
          <a:p>
            <a:pPr indent="0" marL="0">
              <a:buNone/>
            </a:pPr>
            <a:r>
              <a:rPr lang="en-US" sz="1050" dirty="0">
                <a:solidFill>
                  <a:srgbClr val="5E626A"/>
                </a:solidFill>
                <a:latin typeface="Noto Sans" pitchFamily="34" charset="0"/>
                <a:ea typeface="Noto Sans" pitchFamily="34" charset="-122"/>
                <a:cs typeface="Noto Sans" pitchFamily="34" charset="-120"/>
              </a:rPr>
              <a:t>Model size and sparse architecture; separate quality target from the 235B model.</a:t>
            </a:r>
            <a:endParaRPr lang="en-US" sz="1050" dirty="0"/>
          </a:p>
        </p:txBody>
      </p:sp>
      <p:sp>
        <p:nvSpPr>
          <p:cNvPr id="16" name="Text 14"/>
          <p:cNvSpPr/>
          <p:nvPr/>
        </p:nvSpPr>
        <p:spPr>
          <a:xfrm>
            <a:off x="457200" y="2999232"/>
            <a:ext cx="457200" cy="256032"/>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S3</a:t>
            </a:r>
            <a:endParaRPr lang="en-US" sz="1100" dirty="0"/>
          </a:p>
        </p:txBody>
      </p:sp>
      <p:sp>
        <p:nvSpPr>
          <p:cNvPr id="17" name="Text 15">
            <a:hlinkClick r:id="rId3" tooltip=""/>
          </p:cNvPr>
          <p:cNvSpPr/>
          <p:nvPr/>
        </p:nvSpPr>
        <p:spPr>
          <a:xfrm>
            <a:off x="978408" y="2999232"/>
            <a:ext cx="10616184" cy="274320"/>
          </a:xfrm>
          <a:prstGeom prst="rect">
            <a:avLst/>
          </a:prstGeom>
          <a:noFill/>
          <a:ln/>
        </p:spPr>
        <p:txBody>
          <a:bodyPr wrap="square" lIns="0" tIns="0" rIns="0" bIns="0" rtlCol="0" anchor="ctr"/>
          <a:lstStyle/>
          <a:p>
            <a:pPr indent="0" marL="0">
              <a:buNone/>
            </a:pPr>
            <a:r>
              <a:rPr lang="en-US" sz="1400" b="1" u="sng" dirty="0">
                <a:solidFill>
                  <a:srgbClr val="202027"/>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Qwen3-30B-A3B — configuration</a:t>
            </a:r>
            <a:endParaRPr lang="en-US" sz="1400" dirty="0"/>
          </a:p>
        </p:txBody>
      </p:sp>
      <p:sp>
        <p:nvSpPr>
          <p:cNvPr id="18" name="Text 16"/>
          <p:cNvSpPr/>
          <p:nvPr/>
        </p:nvSpPr>
        <p:spPr>
          <a:xfrm>
            <a:off x="978408" y="3300984"/>
            <a:ext cx="10625328" cy="228600"/>
          </a:xfrm>
          <a:prstGeom prst="rect">
            <a:avLst/>
          </a:prstGeom>
          <a:noFill/>
          <a:ln/>
        </p:spPr>
        <p:txBody>
          <a:bodyPr wrap="square" lIns="0" tIns="0" rIns="0" bIns="0" rtlCol="0" anchor="ctr"/>
          <a:lstStyle/>
          <a:p>
            <a:pPr indent="0" marL="0">
              <a:buNone/>
            </a:pPr>
            <a:r>
              <a:rPr lang="en-US" sz="1050" dirty="0">
                <a:solidFill>
                  <a:srgbClr val="5E626A"/>
                </a:solidFill>
                <a:latin typeface="Noto Sans" pitchFamily="34" charset="0"/>
                <a:ea typeface="Noto Sans" pitchFamily="34" charset="-122"/>
                <a:cs typeface="Noto Sans" pitchFamily="34" charset="-120"/>
              </a:rPr>
              <a:t>Cache geometry for the 30B memory calculation.</a:t>
            </a:r>
            <a:endParaRPr lang="en-US" sz="1050" dirty="0"/>
          </a:p>
        </p:txBody>
      </p:sp>
      <p:sp>
        <p:nvSpPr>
          <p:cNvPr id="19" name="Text 17"/>
          <p:cNvSpPr/>
          <p:nvPr/>
        </p:nvSpPr>
        <p:spPr>
          <a:xfrm>
            <a:off x="457200" y="3566160"/>
            <a:ext cx="457200" cy="256032"/>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S4</a:t>
            </a:r>
            <a:endParaRPr lang="en-US" sz="1100" dirty="0"/>
          </a:p>
        </p:txBody>
      </p:sp>
      <p:sp>
        <p:nvSpPr>
          <p:cNvPr id="20" name="Text 18">
            <a:hlinkClick r:id="rId4" tooltip=""/>
          </p:cNvPr>
          <p:cNvSpPr/>
          <p:nvPr/>
        </p:nvSpPr>
        <p:spPr>
          <a:xfrm>
            <a:off x="978408" y="3566160"/>
            <a:ext cx="10616184" cy="274320"/>
          </a:xfrm>
          <a:prstGeom prst="rect">
            <a:avLst/>
          </a:prstGeom>
          <a:noFill/>
          <a:ln/>
        </p:spPr>
        <p:txBody>
          <a:bodyPr wrap="square" lIns="0" tIns="0" rIns="0" bIns="0" rtlCol="0" anchor="ctr"/>
          <a:lstStyle/>
          <a:p>
            <a:pPr indent="0" marL="0">
              <a:buNone/>
            </a:pPr>
            <a:r>
              <a:rPr lang="en-US" sz="1400" b="1" u="sng" dirty="0">
                <a:solidFill>
                  <a:srgbClr val="202027"/>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Qwen3-235B-A22B — model and configuration</a:t>
            </a:r>
            <a:endParaRPr lang="en-US" sz="1400" dirty="0"/>
          </a:p>
        </p:txBody>
      </p:sp>
      <p:sp>
        <p:nvSpPr>
          <p:cNvPr id="21" name="Text 19"/>
          <p:cNvSpPr/>
          <p:nvPr/>
        </p:nvSpPr>
        <p:spPr>
          <a:xfrm>
            <a:off x="978408" y="3867912"/>
            <a:ext cx="10625328" cy="228600"/>
          </a:xfrm>
          <a:prstGeom prst="rect">
            <a:avLst/>
          </a:prstGeom>
          <a:noFill/>
          <a:ln/>
        </p:spPr>
        <p:txBody>
          <a:bodyPr wrap="square" lIns="0" tIns="0" rIns="0" bIns="0" rtlCol="0" anchor="ctr"/>
          <a:lstStyle/>
          <a:p>
            <a:pPr indent="0" marL="0">
              <a:buNone/>
            </a:pPr>
            <a:r>
              <a:rPr lang="en-US" sz="1050" dirty="0">
                <a:solidFill>
                  <a:srgbClr val="5E626A"/>
                </a:solidFill>
                <a:latin typeface="Noto Sans" pitchFamily="34" charset="0"/>
                <a:ea typeface="Noto Sans" pitchFamily="34" charset="-122"/>
                <a:cs typeface="Noto Sans" pitchFamily="34" charset="-120"/>
              </a:rPr>
              <a:t>235B model card + config: raw weights and GQA KV calculation.</a:t>
            </a:r>
            <a:endParaRPr lang="en-US" sz="1050" dirty="0"/>
          </a:p>
        </p:txBody>
      </p:sp>
      <p:sp>
        <p:nvSpPr>
          <p:cNvPr id="22" name="Text 20"/>
          <p:cNvSpPr/>
          <p:nvPr/>
        </p:nvSpPr>
        <p:spPr>
          <a:xfrm>
            <a:off x="457200" y="4133088"/>
            <a:ext cx="457200" cy="256032"/>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S5</a:t>
            </a:r>
            <a:endParaRPr lang="en-US" sz="1100" dirty="0"/>
          </a:p>
        </p:txBody>
      </p:sp>
      <p:sp>
        <p:nvSpPr>
          <p:cNvPr id="23" name="Text 21">
            <a:hlinkClick r:id="rId5" tooltip=""/>
          </p:cNvPr>
          <p:cNvSpPr/>
          <p:nvPr/>
        </p:nvSpPr>
        <p:spPr>
          <a:xfrm>
            <a:off x="978408" y="4133088"/>
            <a:ext cx="10616184" cy="274320"/>
          </a:xfrm>
          <a:prstGeom prst="rect">
            <a:avLst/>
          </a:prstGeom>
          <a:noFill/>
          <a:ln/>
        </p:spPr>
        <p:txBody>
          <a:bodyPr wrap="square" lIns="0" tIns="0" rIns="0" bIns="0" rtlCol="0" anchor="ctr"/>
          <a:lstStyle/>
          <a:p>
            <a:pPr indent="0" marL="0">
              <a:buNone/>
            </a:pPr>
            <a:r>
              <a:rPr lang="en-US" sz="1400" b="1" u="sng" dirty="0">
                <a:solidFill>
                  <a:srgbClr val="202027"/>
                </a:solidFill>
                <a:latin typeface="Noto Sans" pitchFamily="34" charset="0"/>
                <a:ea typeface="Noto Sans" pitchFamily="34" charset="-122"/>
                <a:cs typeface="Noto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DeepSeek-V3 — model and configuration</a:t>
            </a:r>
            <a:endParaRPr lang="en-US" sz="1400" dirty="0"/>
          </a:p>
        </p:txBody>
      </p:sp>
      <p:sp>
        <p:nvSpPr>
          <p:cNvPr id="24" name="Text 22"/>
          <p:cNvSpPr/>
          <p:nvPr/>
        </p:nvSpPr>
        <p:spPr>
          <a:xfrm>
            <a:off x="978408" y="4434840"/>
            <a:ext cx="10625328" cy="228600"/>
          </a:xfrm>
          <a:prstGeom prst="rect">
            <a:avLst/>
          </a:prstGeom>
          <a:noFill/>
          <a:ln/>
        </p:spPr>
        <p:txBody>
          <a:bodyPr wrap="square" lIns="0" tIns="0" rIns="0" bIns="0" rtlCol="0" anchor="ctr"/>
          <a:lstStyle/>
          <a:p>
            <a:pPr indent="0" marL="0">
              <a:buNone/>
            </a:pPr>
            <a:r>
              <a:rPr lang="en-US" sz="1050" dirty="0">
                <a:solidFill>
                  <a:srgbClr val="5E626A"/>
                </a:solidFill>
                <a:latin typeface="Noto Sans" pitchFamily="34" charset="0"/>
                <a:ea typeface="Noto Sans" pitchFamily="34" charset="-122"/>
                <a:cs typeface="Noto Sans" pitchFamily="34" charset="-120"/>
              </a:rPr>
              <a:t>671B total / 37B active; MLA needs a backend-specific state calculation.</a:t>
            </a:r>
            <a:endParaRPr lang="en-US" sz="1050" dirty="0"/>
          </a:p>
        </p:txBody>
      </p:sp>
      <p:sp>
        <p:nvSpPr>
          <p:cNvPr id="25" name="Text 23"/>
          <p:cNvSpPr/>
          <p:nvPr/>
        </p:nvSpPr>
        <p:spPr>
          <a:xfrm>
            <a:off x="457200" y="4700016"/>
            <a:ext cx="457200" cy="256032"/>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S6</a:t>
            </a:r>
            <a:endParaRPr lang="en-US" sz="1100" dirty="0"/>
          </a:p>
        </p:txBody>
      </p:sp>
      <p:sp>
        <p:nvSpPr>
          <p:cNvPr id="26" name="Text 24">
            <a:hlinkClick r:id="rId6" tooltip=""/>
          </p:cNvPr>
          <p:cNvSpPr/>
          <p:nvPr/>
        </p:nvSpPr>
        <p:spPr>
          <a:xfrm>
            <a:off x="978408" y="4700016"/>
            <a:ext cx="10616184" cy="274320"/>
          </a:xfrm>
          <a:prstGeom prst="rect">
            <a:avLst/>
          </a:prstGeom>
          <a:noFill/>
          <a:ln/>
        </p:spPr>
        <p:txBody>
          <a:bodyPr wrap="square" lIns="0" tIns="0" rIns="0" bIns="0" rtlCol="0" anchor="ctr"/>
          <a:lstStyle/>
          <a:p>
            <a:pPr indent="0" marL="0">
              <a:buNone/>
            </a:pPr>
            <a:r>
              <a:rPr lang="en-US" sz="1400" b="1" u="sng" dirty="0">
                <a:solidFill>
                  <a:srgbClr val="202027"/>
                </a:solidFill>
                <a:latin typeface="Noto Sans" pitchFamily="34" charset="0"/>
                <a:ea typeface="Noto Sans" pitchFamily="34" charset="-122"/>
                <a:cs typeface="Noto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AMD EPYC 9355P — official specifications</a:t>
            </a:r>
            <a:endParaRPr lang="en-US" sz="1400" dirty="0"/>
          </a:p>
        </p:txBody>
      </p:sp>
      <p:sp>
        <p:nvSpPr>
          <p:cNvPr id="27" name="Text 25"/>
          <p:cNvSpPr/>
          <p:nvPr/>
        </p:nvSpPr>
        <p:spPr>
          <a:xfrm>
            <a:off x="978408" y="5001768"/>
            <a:ext cx="10625328" cy="228600"/>
          </a:xfrm>
          <a:prstGeom prst="rect">
            <a:avLst/>
          </a:prstGeom>
          <a:noFill/>
          <a:ln/>
        </p:spPr>
        <p:txBody>
          <a:bodyPr wrap="square" lIns="0" tIns="0" rIns="0" bIns="0" rtlCol="0" anchor="ctr"/>
          <a:lstStyle/>
          <a:p>
            <a:pPr indent="0" marL="0">
              <a:buNone/>
            </a:pPr>
            <a:r>
              <a:rPr lang="en-US" sz="1050" dirty="0">
                <a:solidFill>
                  <a:srgbClr val="5E626A"/>
                </a:solidFill>
                <a:latin typeface="Noto Sans" pitchFamily="34" charset="0"/>
                <a:ea typeface="Noto Sans" pitchFamily="34" charset="-122"/>
                <a:cs typeface="Noto Sans" pitchFamily="34" charset="-120"/>
              </a:rPr>
              <a:t>Real CPU specification; the proposed ATMOS OEM box is not certified.</a:t>
            </a:r>
            <a:endParaRPr lang="en-US" sz="1050" dirty="0"/>
          </a:p>
        </p:txBody>
      </p:sp>
      <p:sp>
        <p:nvSpPr>
          <p:cNvPr id="28" name="Text 26"/>
          <p:cNvSpPr/>
          <p:nvPr/>
        </p:nvSpPr>
        <p:spPr>
          <a:xfrm>
            <a:off x="457200" y="5266944"/>
            <a:ext cx="457200" cy="256032"/>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I1</a:t>
            </a:r>
            <a:endParaRPr lang="en-US" sz="1100" dirty="0"/>
          </a:p>
        </p:txBody>
      </p:sp>
      <p:sp>
        <p:nvSpPr>
          <p:cNvPr id="29" name="Text 27"/>
          <p:cNvSpPr/>
          <p:nvPr/>
        </p:nvSpPr>
        <p:spPr>
          <a:xfrm>
            <a:off x="978408" y="5266944"/>
            <a:ext cx="10616184" cy="274320"/>
          </a:xfrm>
          <a:prstGeom prst="rect">
            <a:avLst/>
          </a:prstGeom>
          <a:noFill/>
          <a:ln/>
        </p:spPr>
        <p:txBody>
          <a:bodyPr wrap="square" lIns="0" tIns="0" rIns="0" bIns="0" rtlCol="0" anchor="ctr"/>
          <a:lstStyle/>
          <a:p>
            <a:pPr indent="0" marL="0">
              <a:buNone/>
            </a:pPr>
            <a:r>
              <a:rPr lang="en-US" sz="1400" b="1" dirty="0">
                <a:solidFill>
                  <a:srgbClr val="202027"/>
                </a:solidFill>
                <a:latin typeface="Noto Sans" pitchFamily="34" charset="0"/>
                <a:ea typeface="Noto Sans" pitchFamily="34" charset="-122"/>
                <a:cs typeface="Noto Sans" pitchFamily="34" charset="-120"/>
              </a:rPr>
              <a:t>Supplied ATMOS proposal — internal, unqualified device targets</a:t>
            </a:r>
            <a:endParaRPr lang="en-US" sz="1400" dirty="0"/>
          </a:p>
        </p:txBody>
      </p:sp>
      <p:sp>
        <p:nvSpPr>
          <p:cNvPr id="30" name="Text 28"/>
          <p:cNvSpPr/>
          <p:nvPr/>
        </p:nvSpPr>
        <p:spPr>
          <a:xfrm>
            <a:off x="978408" y="5568696"/>
            <a:ext cx="10625328" cy="228600"/>
          </a:xfrm>
          <a:prstGeom prst="rect">
            <a:avLst/>
          </a:prstGeom>
          <a:noFill/>
          <a:ln/>
        </p:spPr>
        <p:txBody>
          <a:bodyPr wrap="square" lIns="0" tIns="0" rIns="0" bIns="0" rtlCol="0" anchor="ctr"/>
          <a:lstStyle/>
          <a:p>
            <a:pPr indent="0" marL="0">
              <a:buNone/>
            </a:pPr>
            <a:r>
              <a:rPr lang="en-US" sz="1050" dirty="0">
                <a:solidFill>
                  <a:srgbClr val="5E626A"/>
                </a:solidFill>
                <a:latin typeface="Noto Sans" pitchFamily="34" charset="0"/>
                <a:ea typeface="Noto Sans" pitchFamily="34" charset="-122"/>
                <a:cs typeface="Noto Sans" pitchFamily="34" charset="-120"/>
              </a:rPr>
              <a:t>Supplied v1 proposal, resource envelope: HBF / LPDDR / links are planning targets.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7"/>
        </a:solidFill>
      </p:bgPr>
    </p:bg>
    <p:spTree>
      <p:nvGrpSpPr>
        <p:cNvPr id="1" name=""/>
        <p:cNvGrpSpPr/>
        <p:nvPr/>
      </p:nvGrpSpPr>
      <p:grpSpPr>
        <a:xfrm>
          <a:off x="0" y="0"/>
          <a:ext cx="0" cy="0"/>
          <a:chOff x="0" y="0"/>
          <a:chExt cx="0" cy="0"/>
        </a:xfrm>
      </p:grpSpPr>
      <p:sp>
        <p:nvSpPr>
          <p:cNvPr id="2" name="Text 0"/>
          <p:cNvSpPr/>
          <p:nvPr/>
        </p:nvSpPr>
        <p:spPr>
          <a:xfrm>
            <a:off x="438912" y="246888"/>
            <a:ext cx="4572000" cy="219456"/>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SANDISK / ATMOS</a:t>
            </a:r>
            <a:endParaRPr lang="en-US" sz="1100" dirty="0"/>
          </a:p>
        </p:txBody>
      </p:sp>
      <p:sp>
        <p:nvSpPr>
          <p:cNvPr id="3" name="Text 1"/>
          <p:cNvSpPr/>
          <p:nvPr/>
        </p:nvSpPr>
        <p:spPr>
          <a:xfrm>
            <a:off x="7543800" y="256032"/>
            <a:ext cx="4187952" cy="210312"/>
          </a:xfrm>
          <a:prstGeom prst="rect">
            <a:avLst/>
          </a:prstGeom>
          <a:noFill/>
          <a:ln/>
        </p:spPr>
        <p:txBody>
          <a:bodyPr wrap="square" lIns="0" tIns="0" rIns="0" bIns="0" rtlCol="0" anchor="ctr"/>
          <a:lstStyle/>
          <a:p>
            <a:pPr algn="r" indent="0" marL="0">
              <a:buNone/>
            </a:pPr>
            <a:r>
              <a:rPr lang="en-US" sz="1000" dirty="0">
                <a:solidFill>
                  <a:srgbClr val="5E626A"/>
                </a:solidFill>
                <a:latin typeface="Noto Sans" pitchFamily="34" charset="0"/>
                <a:ea typeface="Noto Sans" pitchFamily="34" charset="-122"/>
                <a:cs typeface="Noto Sans" pitchFamily="34" charset="-120"/>
              </a:rPr>
              <a:t>BACKUP F / SOURCE REGISTER</a:t>
            </a:r>
            <a:endParaRPr lang="en-US" sz="1000" dirty="0"/>
          </a:p>
        </p:txBody>
      </p:sp>
      <p:sp>
        <p:nvSpPr>
          <p:cNvPr id="4" name="Text 2"/>
          <p:cNvSpPr/>
          <p:nvPr/>
        </p:nvSpPr>
        <p:spPr>
          <a:xfrm>
            <a:off x="438912" y="722376"/>
            <a:ext cx="11228832" cy="749808"/>
          </a:xfrm>
          <a:prstGeom prst="rect">
            <a:avLst/>
          </a:prstGeom>
          <a:noFill/>
          <a:ln/>
        </p:spPr>
        <p:txBody>
          <a:bodyPr wrap="square" lIns="0" tIns="0" rIns="0" bIns="0" rtlCol="0" anchor="ctr"/>
          <a:lstStyle/>
          <a:p>
            <a:pPr indent="0" marL="0">
              <a:buNone/>
            </a:pPr>
            <a:r>
              <a:rPr lang="en-US" sz="2900" b="1" dirty="0">
                <a:solidFill>
                  <a:srgbClr val="202027"/>
                </a:solidFill>
                <a:latin typeface="Noto Sans" pitchFamily="34" charset="0"/>
                <a:ea typeface="Noto Sans" pitchFamily="34" charset="-122"/>
                <a:cs typeface="Noto Sans" pitchFamily="34" charset="-120"/>
              </a:rPr>
              <a:t>Sources: pricing, execution and delivery interfaces.</a:t>
            </a:r>
            <a:endParaRPr lang="en-US" sz="2900" dirty="0"/>
          </a:p>
        </p:txBody>
      </p:sp>
      <p:sp>
        <p:nvSpPr>
          <p:cNvPr id="5" name="Text 3"/>
          <p:cNvSpPr/>
          <p:nvPr/>
        </p:nvSpPr>
        <p:spPr>
          <a:xfrm>
            <a:off x="457200" y="1435608"/>
            <a:ext cx="11109960" cy="420624"/>
          </a:xfrm>
          <a:prstGeom prst="rect">
            <a:avLst/>
          </a:prstGeom>
          <a:noFill/>
          <a:ln/>
        </p:spPr>
        <p:txBody>
          <a:bodyPr wrap="square" lIns="0" tIns="0" rIns="0" bIns="0" rtlCol="0" anchor="ctr"/>
          <a:lstStyle/>
          <a:p>
            <a:pPr indent="0" marL="0">
              <a:buNone/>
            </a:pPr>
            <a:r>
              <a:rPr lang="en-US" sz="1500" dirty="0">
                <a:solidFill>
                  <a:srgbClr val="5E626A"/>
                </a:solidFill>
                <a:latin typeface="Noto Sans" pitchFamily="34" charset="0"/>
                <a:ea typeface="Noto Sans" pitchFamily="34" charset="-122"/>
                <a:cs typeface="Noto Sans" pitchFamily="34" charset="-120"/>
              </a:rPr>
              <a:t>Price snapshots require revalidation at purchase. Framework capabilities do not establish ATMOS compatibility.</a:t>
            </a:r>
            <a:endParaRPr lang="en-US" sz="1500" dirty="0"/>
          </a:p>
        </p:txBody>
      </p:sp>
      <p:sp>
        <p:nvSpPr>
          <p:cNvPr id="6" name="Shape 4"/>
          <p:cNvSpPr/>
          <p:nvPr/>
        </p:nvSpPr>
        <p:spPr>
          <a:xfrm>
            <a:off x="438912" y="6455664"/>
            <a:ext cx="11311128" cy="0"/>
          </a:xfrm>
          <a:prstGeom prst="line">
            <a:avLst/>
          </a:prstGeom>
          <a:noFill/>
          <a:ln w="10160">
            <a:solidFill>
              <a:srgbClr val="DEDDE0"/>
            </a:solidFill>
            <a:prstDash val="solid"/>
            <a:headEnd type="none"/>
            <a:tailEnd type="none"/>
          </a:ln>
        </p:spPr>
      </p:sp>
      <p:sp>
        <p:nvSpPr>
          <p:cNvPr id="7" name="Text 5"/>
          <p:cNvSpPr/>
          <p:nvPr/>
        </p:nvSpPr>
        <p:spPr>
          <a:xfrm>
            <a:off x="457200" y="6172200"/>
            <a:ext cx="11155680" cy="228600"/>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Sources reviewed 1 October 2026. AWS announces a P5 Capacity Block price change effective 7 October 2026.</a:t>
            </a:r>
            <a:endParaRPr lang="en-US" sz="900" dirty="0"/>
          </a:p>
        </p:txBody>
      </p:sp>
      <p:sp>
        <p:nvSpPr>
          <p:cNvPr id="8" name="Text 6"/>
          <p:cNvSpPr/>
          <p:nvPr/>
        </p:nvSpPr>
        <p:spPr>
          <a:xfrm>
            <a:off x="457200" y="6574536"/>
            <a:ext cx="10241280" cy="137160"/>
          </a:xfrm>
          <a:prstGeom prst="rect">
            <a:avLst/>
          </a:prstGeom>
          <a:noFill/>
          <a:ln/>
        </p:spPr>
        <p:txBody>
          <a:bodyPr wrap="square" lIns="0" tIns="0" rIns="0" bIns="0" rtlCol="0" anchor="ctr"/>
          <a:lstStyle/>
          <a:p>
            <a:pPr indent="0" marL="0">
              <a:buNone/>
            </a:pPr>
            <a:r>
              <a:rPr lang="en-US" sz="850" dirty="0">
                <a:solidFill>
                  <a:srgbClr val="5E626A"/>
                </a:solidFill>
                <a:latin typeface="Noto Sans" pitchFamily="34" charset="0"/>
                <a:ea typeface="Noto Sans" pitchFamily="34" charset="-122"/>
                <a:cs typeface="Noto Sans" pitchFamily="34" charset="-120"/>
              </a:rPr>
              <a:t>INTERNAL CONCEPT • 01 OCT 2026 • NOT A PRODUCT OR PERFORMANCE COMMITMENT</a:t>
            </a:r>
            <a:endParaRPr lang="en-US" sz="850" dirty="0"/>
          </a:p>
        </p:txBody>
      </p:sp>
      <p:sp>
        <p:nvSpPr>
          <p:cNvPr id="9" name="Text 7"/>
          <p:cNvSpPr/>
          <p:nvPr/>
        </p:nvSpPr>
        <p:spPr>
          <a:xfrm>
            <a:off x="11292840" y="6510528"/>
            <a:ext cx="411480" cy="246888"/>
          </a:xfrm>
          <a:prstGeom prst="rect">
            <a:avLst/>
          </a:prstGeom>
          <a:noFill/>
          <a:ln/>
        </p:spPr>
        <p:txBody>
          <a:bodyPr wrap="square" lIns="0" tIns="0" rIns="0" bIns="0" rtlCol="0" anchor="ctr"/>
          <a:lstStyle/>
          <a:p>
            <a:pPr algn="r" indent="0" marL="0">
              <a:buNone/>
            </a:pPr>
            <a:r>
              <a:rPr lang="en-US" sz="1200" b="1" dirty="0">
                <a:solidFill>
                  <a:srgbClr val="D7193F"/>
                </a:solidFill>
                <a:latin typeface="Noto Sans" pitchFamily="34" charset="0"/>
                <a:ea typeface="Noto Sans" pitchFamily="34" charset="-122"/>
                <a:cs typeface="Noto Sans" pitchFamily="34" charset="-120"/>
              </a:rPr>
              <a:t>16</a:t>
            </a:r>
            <a:endParaRPr lang="en-US" sz="1200" dirty="0"/>
          </a:p>
        </p:txBody>
      </p:sp>
      <p:sp>
        <p:nvSpPr>
          <p:cNvPr id="10" name="Text 8"/>
          <p:cNvSpPr/>
          <p:nvPr/>
        </p:nvSpPr>
        <p:spPr>
          <a:xfrm>
            <a:off x="457200" y="1856232"/>
            <a:ext cx="502920" cy="237744"/>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S7</a:t>
            </a:r>
            <a:endParaRPr lang="en-US" sz="1100" dirty="0"/>
          </a:p>
        </p:txBody>
      </p:sp>
      <p:sp>
        <p:nvSpPr>
          <p:cNvPr id="11" name="Text 9">
            <a:hlinkClick r:id="rId1" tooltip=""/>
          </p:cNvPr>
          <p:cNvSpPr/>
          <p:nvPr/>
        </p:nvSpPr>
        <p:spPr>
          <a:xfrm>
            <a:off x="1024128" y="1856232"/>
            <a:ext cx="10515600" cy="256032"/>
          </a:xfrm>
          <a:prstGeom prst="rect">
            <a:avLst/>
          </a:prstGeom>
          <a:noFill/>
          <a:ln/>
        </p:spPr>
        <p:txBody>
          <a:bodyPr wrap="square" lIns="0" tIns="0" rIns="0" bIns="0" rtlCol="0" anchor="ctr"/>
          <a:lstStyle/>
          <a:p>
            <a:pPr indent="0" marL="0">
              <a:buNone/>
            </a:pPr>
            <a:r>
              <a:rPr lang="en-US" sz="1300" b="1" u="sng" dirty="0">
                <a:solidFill>
                  <a:srgbClr val="202027"/>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Lambda — public instance price list</a:t>
            </a:r>
            <a:endParaRPr lang="en-US" sz="1300" dirty="0"/>
          </a:p>
        </p:txBody>
      </p:sp>
      <p:sp>
        <p:nvSpPr>
          <p:cNvPr id="12" name="Text 10"/>
          <p:cNvSpPr/>
          <p:nvPr/>
        </p:nvSpPr>
        <p:spPr>
          <a:xfrm>
            <a:off x="1024128" y="2103120"/>
            <a:ext cx="10515600" cy="192024"/>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lambda.ai/pricing</a:t>
            </a:r>
            <a:endParaRPr lang="en-US" sz="900" dirty="0"/>
          </a:p>
        </p:txBody>
      </p:sp>
      <p:sp>
        <p:nvSpPr>
          <p:cNvPr id="13" name="Text 11"/>
          <p:cNvSpPr/>
          <p:nvPr/>
        </p:nvSpPr>
        <p:spPr>
          <a:xfrm>
            <a:off x="457200" y="2295144"/>
            <a:ext cx="502920" cy="237744"/>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S8</a:t>
            </a:r>
            <a:endParaRPr lang="en-US" sz="1100" dirty="0"/>
          </a:p>
        </p:txBody>
      </p:sp>
      <p:sp>
        <p:nvSpPr>
          <p:cNvPr id="14" name="Text 12">
            <a:hlinkClick r:id="rId2" tooltip=""/>
          </p:cNvPr>
          <p:cNvSpPr/>
          <p:nvPr/>
        </p:nvSpPr>
        <p:spPr>
          <a:xfrm>
            <a:off x="1024128" y="2295144"/>
            <a:ext cx="10515600" cy="256032"/>
          </a:xfrm>
          <a:prstGeom prst="rect">
            <a:avLst/>
          </a:prstGeom>
          <a:noFill/>
          <a:ln/>
        </p:spPr>
        <p:txBody>
          <a:bodyPr wrap="square" lIns="0" tIns="0" rIns="0" bIns="0" rtlCol="0" anchor="ctr"/>
          <a:lstStyle/>
          <a:p>
            <a:pPr indent="0" marL="0">
              <a:buNone/>
            </a:pPr>
            <a:r>
              <a:rPr lang="en-US" sz="1300" b="1" u="sng" dirty="0">
                <a:solidFill>
                  <a:srgbClr val="202027"/>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AWS EC2 Capacity Blocks — public pricing</a:t>
            </a:r>
            <a:endParaRPr lang="en-US" sz="1300" dirty="0"/>
          </a:p>
        </p:txBody>
      </p:sp>
      <p:sp>
        <p:nvSpPr>
          <p:cNvPr id="15" name="Text 13"/>
          <p:cNvSpPr/>
          <p:nvPr/>
        </p:nvSpPr>
        <p:spPr>
          <a:xfrm>
            <a:off x="1024128" y="2542032"/>
            <a:ext cx="10515600" cy="192024"/>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aws.amazon.com/ec2/capacityblocks/pricing/</a:t>
            </a:r>
            <a:endParaRPr lang="en-US" sz="900" dirty="0"/>
          </a:p>
        </p:txBody>
      </p:sp>
      <p:sp>
        <p:nvSpPr>
          <p:cNvPr id="16" name="Text 14"/>
          <p:cNvSpPr/>
          <p:nvPr/>
        </p:nvSpPr>
        <p:spPr>
          <a:xfrm>
            <a:off x="457200" y="2734056"/>
            <a:ext cx="502920" cy="237744"/>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S9</a:t>
            </a:r>
            <a:endParaRPr lang="en-US" sz="1100" dirty="0"/>
          </a:p>
        </p:txBody>
      </p:sp>
      <p:sp>
        <p:nvSpPr>
          <p:cNvPr id="17" name="Text 15">
            <a:hlinkClick r:id="rId3" tooltip=""/>
          </p:cNvPr>
          <p:cNvSpPr/>
          <p:nvPr/>
        </p:nvSpPr>
        <p:spPr>
          <a:xfrm>
            <a:off x="1024128" y="2734056"/>
            <a:ext cx="10515600" cy="256032"/>
          </a:xfrm>
          <a:prstGeom prst="rect">
            <a:avLst/>
          </a:prstGeom>
          <a:noFill/>
          <a:ln/>
        </p:spPr>
        <p:txBody>
          <a:bodyPr wrap="square" lIns="0" tIns="0" rIns="0" bIns="0" rtlCol="0" anchor="ctr"/>
          <a:lstStyle/>
          <a:p>
            <a:pPr indent="0" marL="0">
              <a:buNone/>
            </a:pPr>
            <a:r>
              <a:rPr lang="en-US" sz="1300" b="1" u="sng" dirty="0">
                <a:solidFill>
                  <a:srgbClr val="202027"/>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AWS — accelerated instance specifications</a:t>
            </a:r>
            <a:endParaRPr lang="en-US" sz="1300" dirty="0"/>
          </a:p>
        </p:txBody>
      </p:sp>
      <p:sp>
        <p:nvSpPr>
          <p:cNvPr id="18" name="Text 16"/>
          <p:cNvSpPr/>
          <p:nvPr/>
        </p:nvSpPr>
        <p:spPr>
          <a:xfrm>
            <a:off x="1024128" y="2980944"/>
            <a:ext cx="10515600" cy="192024"/>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aws.amazon.com/ec2/instance-types/accelerated-computing/</a:t>
            </a:r>
            <a:endParaRPr lang="en-US" sz="900" dirty="0"/>
          </a:p>
        </p:txBody>
      </p:sp>
      <p:sp>
        <p:nvSpPr>
          <p:cNvPr id="19" name="Text 17"/>
          <p:cNvSpPr/>
          <p:nvPr/>
        </p:nvSpPr>
        <p:spPr>
          <a:xfrm>
            <a:off x="457200" y="3172968"/>
            <a:ext cx="502920" cy="237744"/>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S10</a:t>
            </a:r>
            <a:endParaRPr lang="en-US" sz="1100" dirty="0"/>
          </a:p>
        </p:txBody>
      </p:sp>
      <p:sp>
        <p:nvSpPr>
          <p:cNvPr id="20" name="Text 18">
            <a:hlinkClick r:id="rId4" tooltip=""/>
          </p:cNvPr>
          <p:cNvSpPr/>
          <p:nvPr/>
        </p:nvSpPr>
        <p:spPr>
          <a:xfrm>
            <a:off x="1024128" y="3172968"/>
            <a:ext cx="10515600" cy="256032"/>
          </a:xfrm>
          <a:prstGeom prst="rect">
            <a:avLst/>
          </a:prstGeom>
          <a:noFill/>
          <a:ln/>
        </p:spPr>
        <p:txBody>
          <a:bodyPr wrap="square" lIns="0" tIns="0" rIns="0" bIns="0" rtlCol="0" anchor="ctr"/>
          <a:lstStyle/>
          <a:p>
            <a:pPr indent="0" marL="0">
              <a:buNone/>
            </a:pPr>
            <a:r>
              <a:rPr lang="en-US" sz="1300" b="1" u="sng" dirty="0">
                <a:solidFill>
                  <a:srgbClr val="202027"/>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Tenstorrent — vLLM TT plugin</a:t>
            </a:r>
            <a:endParaRPr lang="en-US" sz="1300" dirty="0"/>
          </a:p>
        </p:txBody>
      </p:sp>
      <p:sp>
        <p:nvSpPr>
          <p:cNvPr id="21" name="Text 19"/>
          <p:cNvSpPr/>
          <p:nvPr/>
        </p:nvSpPr>
        <p:spPr>
          <a:xfrm>
            <a:off x="1024128" y="3419856"/>
            <a:ext cx="10515600" cy="192024"/>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github.com/tenstorrent/vllm-tt-plugin</a:t>
            </a:r>
            <a:endParaRPr lang="en-US" sz="900" dirty="0"/>
          </a:p>
        </p:txBody>
      </p:sp>
      <p:sp>
        <p:nvSpPr>
          <p:cNvPr id="22" name="Text 20"/>
          <p:cNvSpPr/>
          <p:nvPr/>
        </p:nvSpPr>
        <p:spPr>
          <a:xfrm>
            <a:off x="457200" y="3611880"/>
            <a:ext cx="502920" cy="237744"/>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S11</a:t>
            </a:r>
            <a:endParaRPr lang="en-US" sz="1100" dirty="0"/>
          </a:p>
        </p:txBody>
      </p:sp>
      <p:sp>
        <p:nvSpPr>
          <p:cNvPr id="23" name="Text 21">
            <a:hlinkClick r:id="rId5" tooltip=""/>
          </p:cNvPr>
          <p:cNvSpPr/>
          <p:nvPr/>
        </p:nvSpPr>
        <p:spPr>
          <a:xfrm>
            <a:off x="1024128" y="3611880"/>
            <a:ext cx="10515600" cy="256032"/>
          </a:xfrm>
          <a:prstGeom prst="rect">
            <a:avLst/>
          </a:prstGeom>
          <a:noFill/>
          <a:ln/>
        </p:spPr>
        <p:txBody>
          <a:bodyPr wrap="square" lIns="0" tIns="0" rIns="0" bIns="0" rtlCol="0" anchor="ctr"/>
          <a:lstStyle/>
          <a:p>
            <a:pPr indent="0" marL="0">
              <a:buNone/>
            </a:pPr>
            <a:r>
              <a:rPr lang="en-US" sz="1300" b="1" u="sng" dirty="0">
                <a:solidFill>
                  <a:srgbClr val="202027"/>
                </a:solidFill>
                <a:latin typeface="Noto Sans" pitchFamily="34" charset="0"/>
                <a:ea typeface="Noto Sans" pitchFamily="34" charset="-122"/>
                <a:cs typeface="Noto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NVIDIA Dynamo — disaggregated serving</a:t>
            </a:r>
            <a:endParaRPr lang="en-US" sz="1300" dirty="0"/>
          </a:p>
        </p:txBody>
      </p:sp>
      <p:sp>
        <p:nvSpPr>
          <p:cNvPr id="24" name="Text 22"/>
          <p:cNvSpPr/>
          <p:nvPr/>
        </p:nvSpPr>
        <p:spPr>
          <a:xfrm>
            <a:off x="1024128" y="3858768"/>
            <a:ext cx="10515600" cy="192024"/>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docs.nvidia.com/dynamo/components/router/disaggregated-serving</a:t>
            </a:r>
            <a:endParaRPr lang="en-US" sz="900" dirty="0"/>
          </a:p>
        </p:txBody>
      </p:sp>
      <p:sp>
        <p:nvSpPr>
          <p:cNvPr id="25" name="Text 23"/>
          <p:cNvSpPr/>
          <p:nvPr/>
        </p:nvSpPr>
        <p:spPr>
          <a:xfrm>
            <a:off x="457200" y="4050792"/>
            <a:ext cx="502920" cy="237744"/>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S12</a:t>
            </a:r>
            <a:endParaRPr lang="en-US" sz="1100" dirty="0"/>
          </a:p>
        </p:txBody>
      </p:sp>
      <p:sp>
        <p:nvSpPr>
          <p:cNvPr id="26" name="Text 24">
            <a:hlinkClick r:id="rId6" tooltip=""/>
          </p:cNvPr>
          <p:cNvSpPr/>
          <p:nvPr/>
        </p:nvSpPr>
        <p:spPr>
          <a:xfrm>
            <a:off x="1024128" y="4050792"/>
            <a:ext cx="10515600" cy="256032"/>
          </a:xfrm>
          <a:prstGeom prst="rect">
            <a:avLst/>
          </a:prstGeom>
          <a:noFill/>
          <a:ln/>
        </p:spPr>
        <p:txBody>
          <a:bodyPr wrap="square" lIns="0" tIns="0" rIns="0" bIns="0" rtlCol="0" anchor="ctr"/>
          <a:lstStyle/>
          <a:p>
            <a:pPr indent="0" marL="0">
              <a:buNone/>
            </a:pPr>
            <a:r>
              <a:rPr lang="en-US" sz="1300" b="1" u="sng" dirty="0">
                <a:solidFill>
                  <a:srgbClr val="202027"/>
                </a:solidFill>
                <a:latin typeface="Noto Sans" pitchFamily="34" charset="0"/>
                <a:ea typeface="Noto Sans" pitchFamily="34" charset="-122"/>
                <a:cs typeface="Noto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Leviathan et al. — speculative decoding, ICML 2023</a:t>
            </a:r>
            <a:endParaRPr lang="en-US" sz="1300" dirty="0"/>
          </a:p>
        </p:txBody>
      </p:sp>
      <p:sp>
        <p:nvSpPr>
          <p:cNvPr id="27" name="Text 25"/>
          <p:cNvSpPr/>
          <p:nvPr/>
        </p:nvSpPr>
        <p:spPr>
          <a:xfrm>
            <a:off x="1024128" y="4297680"/>
            <a:ext cx="10515600" cy="192024"/>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proceedings.mlr.press/v202/leviathan23a.html</a:t>
            </a:r>
            <a:endParaRPr lang="en-US" sz="900" dirty="0"/>
          </a:p>
        </p:txBody>
      </p:sp>
      <p:sp>
        <p:nvSpPr>
          <p:cNvPr id="28" name="Text 26"/>
          <p:cNvSpPr/>
          <p:nvPr/>
        </p:nvSpPr>
        <p:spPr>
          <a:xfrm>
            <a:off x="457200" y="4489704"/>
            <a:ext cx="502920" cy="237744"/>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S13</a:t>
            </a:r>
            <a:endParaRPr lang="en-US" sz="1100" dirty="0"/>
          </a:p>
        </p:txBody>
      </p:sp>
      <p:sp>
        <p:nvSpPr>
          <p:cNvPr id="29" name="Text 27">
            <a:hlinkClick r:id="rId7" tooltip=""/>
          </p:cNvPr>
          <p:cNvSpPr/>
          <p:nvPr/>
        </p:nvSpPr>
        <p:spPr>
          <a:xfrm>
            <a:off x="1024128" y="4489704"/>
            <a:ext cx="10515600" cy="256032"/>
          </a:xfrm>
          <a:prstGeom prst="rect">
            <a:avLst/>
          </a:prstGeom>
          <a:noFill/>
          <a:ln/>
        </p:spPr>
        <p:txBody>
          <a:bodyPr wrap="square" lIns="0" tIns="0" rIns="0" bIns="0" rtlCol="0" anchor="ctr"/>
          <a:lstStyle/>
          <a:p>
            <a:pPr indent="0" marL="0">
              <a:buNone/>
            </a:pPr>
            <a:r>
              <a:rPr lang="en-US" sz="1300" b="1" u="sng" dirty="0">
                <a:solidFill>
                  <a:srgbClr val="202027"/>
                </a:solidFill>
                <a:latin typeface="Noto Sans" pitchFamily="34" charset="0"/>
                <a:ea typeface="Noto Sans" pitchFamily="34" charset="-122"/>
                <a:cs typeface="Noto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Supermicro — Data Center Building Block Solutions</a:t>
            </a:r>
            <a:endParaRPr lang="en-US" sz="1300" dirty="0"/>
          </a:p>
        </p:txBody>
      </p:sp>
      <p:sp>
        <p:nvSpPr>
          <p:cNvPr id="30" name="Text 28"/>
          <p:cNvSpPr/>
          <p:nvPr/>
        </p:nvSpPr>
        <p:spPr>
          <a:xfrm>
            <a:off x="1024128" y="4736592"/>
            <a:ext cx="10515600" cy="192024"/>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www.supermicro.com/en/solutions/dcbbs</a:t>
            </a:r>
            <a:endParaRPr lang="en-US" sz="900" dirty="0"/>
          </a:p>
        </p:txBody>
      </p:sp>
      <p:sp>
        <p:nvSpPr>
          <p:cNvPr id="31" name="Text 29"/>
          <p:cNvSpPr/>
          <p:nvPr/>
        </p:nvSpPr>
        <p:spPr>
          <a:xfrm>
            <a:off x="457200" y="4928616"/>
            <a:ext cx="502920" cy="237744"/>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S14</a:t>
            </a:r>
            <a:endParaRPr lang="en-US" sz="1100" dirty="0"/>
          </a:p>
        </p:txBody>
      </p:sp>
      <p:sp>
        <p:nvSpPr>
          <p:cNvPr id="32" name="Text 30">
            <a:hlinkClick r:id="rId8" tooltip=""/>
          </p:cNvPr>
          <p:cNvSpPr/>
          <p:nvPr/>
        </p:nvSpPr>
        <p:spPr>
          <a:xfrm>
            <a:off x="1024128" y="4928616"/>
            <a:ext cx="10515600" cy="256032"/>
          </a:xfrm>
          <a:prstGeom prst="rect">
            <a:avLst/>
          </a:prstGeom>
          <a:noFill/>
          <a:ln/>
        </p:spPr>
        <p:txBody>
          <a:bodyPr wrap="square" lIns="0" tIns="0" rIns="0" bIns="0" rtlCol="0" anchor="ctr"/>
          <a:lstStyle/>
          <a:p>
            <a:pPr indent="0" marL="0">
              <a:buNone/>
            </a:pPr>
            <a:r>
              <a:rPr lang="en-US" sz="1300" b="1" u="sng" dirty="0">
                <a:solidFill>
                  <a:srgbClr val="202027"/>
                </a:solidFill>
                <a:latin typeface="Noto Sans" pitchFamily="34" charset="0"/>
                <a:ea typeface="Noto Sans" pitchFamily="34" charset="-122"/>
                <a:cs typeface="Noto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Kubernetes — device plugins</a:t>
            </a:r>
            <a:endParaRPr lang="en-US" sz="1300" dirty="0"/>
          </a:p>
        </p:txBody>
      </p:sp>
      <p:sp>
        <p:nvSpPr>
          <p:cNvPr id="33" name="Text 31"/>
          <p:cNvSpPr/>
          <p:nvPr/>
        </p:nvSpPr>
        <p:spPr>
          <a:xfrm>
            <a:off x="1024128" y="5175504"/>
            <a:ext cx="10515600" cy="192024"/>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kubernetes.io/docs/concepts/extend-kubernetes/compute-storage-net/device-plugins/</a:t>
            </a:r>
            <a:endParaRPr lang="en-US" sz="900" dirty="0"/>
          </a:p>
        </p:txBody>
      </p:sp>
      <p:sp>
        <p:nvSpPr>
          <p:cNvPr id="34" name="Text 32"/>
          <p:cNvSpPr/>
          <p:nvPr/>
        </p:nvSpPr>
        <p:spPr>
          <a:xfrm>
            <a:off x="457200" y="5367528"/>
            <a:ext cx="502920" cy="237744"/>
          </a:xfrm>
          <a:prstGeom prst="rect">
            <a:avLst/>
          </a:prstGeom>
          <a:noFill/>
          <a:ln/>
        </p:spPr>
        <p:txBody>
          <a:bodyPr wrap="square" lIns="0" tIns="0" rIns="0" bIns="0" rtlCol="0" anchor="ctr"/>
          <a:lstStyle/>
          <a:p>
            <a:pPr indent="0" marL="0">
              <a:buNone/>
            </a:pPr>
            <a:r>
              <a:rPr lang="en-US" sz="1100" b="1" dirty="0">
                <a:solidFill>
                  <a:srgbClr val="D7193F"/>
                </a:solidFill>
                <a:latin typeface="Noto Sans" pitchFamily="34" charset="0"/>
                <a:ea typeface="Noto Sans" pitchFamily="34" charset="-122"/>
                <a:cs typeface="Noto Sans" pitchFamily="34" charset="-120"/>
              </a:rPr>
              <a:t>S15</a:t>
            </a:r>
            <a:endParaRPr lang="en-US" sz="1100" dirty="0"/>
          </a:p>
        </p:txBody>
      </p:sp>
      <p:sp>
        <p:nvSpPr>
          <p:cNvPr id="35" name="Text 33">
            <a:hlinkClick r:id="rId9" tooltip=""/>
          </p:cNvPr>
          <p:cNvSpPr/>
          <p:nvPr/>
        </p:nvSpPr>
        <p:spPr>
          <a:xfrm>
            <a:off x="1024128" y="5367528"/>
            <a:ext cx="10515600" cy="256032"/>
          </a:xfrm>
          <a:prstGeom prst="rect">
            <a:avLst/>
          </a:prstGeom>
          <a:noFill/>
          <a:ln/>
        </p:spPr>
        <p:txBody>
          <a:bodyPr wrap="square" lIns="0" tIns="0" rIns="0" bIns="0" rtlCol="0" anchor="ctr"/>
          <a:lstStyle/>
          <a:p>
            <a:pPr indent="0" marL="0">
              <a:buNone/>
            </a:pPr>
            <a:r>
              <a:rPr lang="en-US" sz="1300" b="1" u="sng" dirty="0">
                <a:solidFill>
                  <a:srgbClr val="202027"/>
                </a:solidFill>
                <a:latin typeface="Noto Sans" pitchFamily="34" charset="0"/>
                <a:ea typeface="Noto Sans" pitchFamily="34" charset="-122"/>
                <a:cs typeface="Noto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vLLM — parallelism and scaling</a:t>
            </a:r>
            <a:endParaRPr lang="en-US" sz="1300" dirty="0"/>
          </a:p>
        </p:txBody>
      </p:sp>
      <p:sp>
        <p:nvSpPr>
          <p:cNvPr id="36" name="Text 34"/>
          <p:cNvSpPr/>
          <p:nvPr/>
        </p:nvSpPr>
        <p:spPr>
          <a:xfrm>
            <a:off x="1024128" y="5614416"/>
            <a:ext cx="10515600" cy="192024"/>
          </a:xfrm>
          <a:prstGeom prst="rect">
            <a:avLst/>
          </a:prstGeom>
          <a:noFill/>
          <a:ln/>
        </p:spPr>
        <p:txBody>
          <a:bodyPr wrap="square" lIns="0" tIns="0" rIns="0" bIns="0" rtlCol="0" anchor="ctr"/>
          <a:lstStyle/>
          <a:p>
            <a:pPr indent="0" marL="0">
              <a:buNone/>
            </a:pPr>
            <a:r>
              <a:rPr lang="en-US" sz="900" dirty="0">
                <a:solidFill>
                  <a:srgbClr val="5E626A"/>
                </a:solidFill>
                <a:latin typeface="Noto Sans" pitchFamily="34" charset="0"/>
                <a:ea typeface="Noto Sans" pitchFamily="34" charset="-122"/>
                <a:cs typeface="Noto Sans" pitchFamily="34" charset="-120"/>
              </a:rPr>
              <a:t>docs.vllm.ai/en/latest/serving/parallelism_scaling/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Internal strategy working draft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ATMOS Enterprise MoE Offerings — Executive Proposal</dc:title>
  <dc:subject>Enterprise MoE appliance portfolio, public bank reference, specification and economic gates</dc:subject>
  <dc:creator>SanDisk ATMOS — internal concept development</dc:creator>
  <cp:lastModifiedBy>SanDisk ATMOS — internal concept development</cp:lastModifiedBy>
  <cp:revision>1</cp:revision>
  <dcterms:created xsi:type="dcterms:W3CDTF">2026-10-02T03:51:10Z</dcterms:created>
  <dcterms:modified xsi:type="dcterms:W3CDTF">2026-10-02T03:51:10Z</dcterms:modified>
</cp:coreProperties>
</file>