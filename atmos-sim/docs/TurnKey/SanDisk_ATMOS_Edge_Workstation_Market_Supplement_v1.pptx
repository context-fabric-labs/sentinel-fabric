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Opening thesis: productize a governed local knowledge service, not a universal GPU replacement. “GPT-in-a-box” is generic shorthand for a privately deployed supported model service; it does not promise OpenAI GPT weights. Edge here includes controlled office/departmental or regional deployments, not every industrial real-time controller. Supply/logistics items are proposed delivery obligations; no GPU shortage, lead time, market CAGR or share forecast is claimed. A public HBF standards milestone does not certify an ATMOS appliance.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[S02] NVIDIA customer story — EPRI
https://www.nvidia.com/en-us/case-studies/epri/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
[S20] SanDisk / SK hynix — HBF OCP specification
https://www.sandisk.com/company/newsroom/press-releases/2026/2026-08-03-Sandisk-and-sk-hynix-advance-global-standardization-of-hbf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Keep evidence labels narrow. The EPRI hardware is a Dell GB10 implementation, not proof of a NVIDIA-branded unit purchase. Aible is explicitly a prototype-to-cloud pattern. Lowe’s has multiple execution environments; do not assign its entire GenAI stack or store estate to RTX workstation hardware. These cases establish workflow activity, not units sold or revenue.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[S02] NVIDIA customer story — EPRI
https://www.nvidia.com/en-us/case-studies/epri/
[S03] NVIDIA customer story — CYRAN AI / IIT Delhi
https://www.nvidia.com/en-us/case-studies/cyran-iit-delhi/
[S04] NVIDIA customer story — Arup
https://www.nvidia.com/en-us/case-studies/arup/
[S05] Google Cloud customer story — Aible
https://cloud.google.com/customers/aible
[S06] NVIDIA customer story — Lowe’s
https://www.nvidia.com/en-gb/case-studies/lowes/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Amounts are taken from the 10-Q market-platform table. Calculate 7198/96221×100 = 7.480696%. Edge includes a broader product scope than the proposed enterprise knowledge appliance. No vertical split is inferred. Do not add the historical Professional Visualization figure to this recast category or annualize one quarter as a forecast.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[S01] NVIDIA FY2027 Q2 Form 10-Q
https://www.sec.gov/Archives/edgar/data/1045810/000104581026000075/nvda-20260726.htm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V3’s rank is a qualitative near-term product/ROI prioritization, not market-size share or measured returns. The industrial row pairs V3’s manufacturing-knowledge priority with adjacent engineering evidence from Arup; that does not establish an Arup factory-knowledge deployment. Nasdaq names L40 hardware and self-hosted embedding services, but no Spark system or Edge revenue mapping. The rightmost column is our proposed ATMOS use-case mapping, not reported customer adoption.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[S01] NVIDIA FY2027 Q2 Form 10-Q
https://www.sec.gov/Archives/edgar/data/1045810/000104581026000075/nvda-20260726.htm
[S02] NVIDIA customer story — EPRI
https://www.nvidia.com/en-us/case-studies/epri/
[S04] NVIDIA customer story — Arup
https://www.nvidia.com/en-us/case-studies/arup/
[S06] NVIDIA customer story — Lowe’s
https://www.nvidia.com/en-gb/case-studies/lowes/
[S07] NVIDIA customer story — Nasdaq
https://www.nvidia.com/en-us/case-studies/nasdaq/
[S08] NVIDIA customer story — ThinkDeep AI
https://www.nvidia.com/en-eu/case-studies/thinkdeep-sovereign-ai-agents-automate-public-services/
[S09] NVIDIA customer story — Amdocs
https://www.nvidia.com/en-eu/case-studies/amdocs-builds-generative-ai-agents-for-telecom/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This is a qualitative positioning map, not a price/performance plot or a claim that competitors lack a capability. Mac Studio is included because the current Apple specification supports high-memory local configurations; no matched inference score is assigned. HPE/Nutanix establish that private-AI management and turnkey deployment already exist. The ATMOS opportunity remains conditional on service-level value.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
[S21] Apple — Mac Studio technical specifications
https://www.apple.com/mac-studio/specs/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Fit judgments combine the preserved PRD scope with public competitor capability categories. They are not benchmark ranks, customer demand percentages or numerical ROI scores. A GPU or managed platform can win in every row if its measured total service cost is lower. HBF only helps when the certified kernels actually exploit useful local data/model residency; storage size alone is not the benefit.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Preserve the PRD’s exact W4/D8/E8 names; there is no D4 SKU in the controlling document. Images reuse the accepted V3 hypothetical appliance illustrations, not shipping hardware. Workflow descriptions are proposed examples. R1 and G1 are separate test profiles from V3 §5 and cannot run at their maxima simultaneously by assumption. W4 is not a service-HA system. E8 does not gain throughput merely by changing its commercial support tier. Neither workflow makes autonomous legal, engineering-safety or claims-payment decisions.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Use cases follow the V3 finance and telecom catalog. They are not claims that Nasdaq or Amdocs bought ATMOS. E16 is the initial enterprise proof profile; E24 only advances after lower-density qualification. Complete service replicas, control quorum and durable source/index/audit protection are separate. A node with more unique shards does not automatically survive a node or device loss. Source KPI targets are preserved and apply separately to G1 and R1.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The two classes of memory cannot be ranked as substitutes. The heat scale colors numerical nominal capacity only. ATMOS active-state figures are sums of local LPDDR targets, not a pool transparently accessible to every NPU. GPU rows share model weights, cache and temporary state inside their execution memory; not all of it is free KV. The Station total includes CPU LPDDR. RTX Workstation data must not be mixed with RTX Server Edition specifications.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Published local-memory values are architecture specifications, not measured effective kernel delivery. HBF ~200GB/s is a target whose access pattern and NPU data path need proof. Four independent local-read targets per domain sum arithmetically; a request may not exploit the sum. Gen5 coded rate = 32GT/s ×128/130 ×16 lanes /8 ≈63.015GB/s per direction, before transaction overhead. 1/2/4/6 domains produce ~63/126/252/378 coded GB/s in independent uplinks, not one client or NPU path. One four-device domain uses the same 16 root lanes as four direct x4 links. Station 7.1TB/s applies to its HBM tier only.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All target numbers and the G1 envelope are carried from V3 §5 without reinterpretation. Freeze exact checkpoint, tokenizer, quantization, backend, context/cache state and offered load before a cross-platform run. G1 has an8192-token total context cap, BF16 activations/KV, no speculation and one complete four-device replica per ATMOS domain for the test. Concurrent sequences are not named enterprise users. Throughput and latency targets must pass together; request-average TPOT is not the same as p95 inter-token latency. The legacy G1 rates are requirements, not forecasts. Their implied scale-out feasibility must be tested.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[S02] NVIDIA customer story — EPRI
https://www.nvidia.com/en-us/case-studies/epri/
[S13] StorageReview — original RTX PRO 6000 Workstation tests
https://www.storagereview.com/review/nvidia-rtx-pro-6000-workstation-gpu-review-blackwell-architecture-and-96-gb-for-pro-workflows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Do not rank these cards against each other or against the ATMOS G1 targets. EPRI uses a120B-class model with prefix caching; the workstation test uses a49-token prompt rather than2048. StorageReview does not define a p95 TTFT/ITL distribution or full quantization protocol in the cited results table. EPRI’s approximately15-minute boot/model/document warm-up is not request TTFT. Neither dataset is an ATMOS forecast.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[S02] NVIDIA customer story — EPRI
https://www.nvidia.com/en-us/case-studies/epri/
[S13] StorageReview — original RTX PRO 6000 Workstation tests
https://www.storagereview.com/review/nvidia-rtx-pro-6000-workstation-gpu-review-blackwell-architecture-and-96-gb-for-pro-workflows
[S12] NVIDIA DGX Station development guide — system overview
https://docs.nvidia.com/dgx/dgx-station-development-guide/overview.html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Raw representation arithmetic is inherited from V3§6 and excludes indexes, metadata, copies and retained generations. The10.24GB example demonstrates why an inexpensive CPU-memory control must be included. The163.84GB representation is interesting only if it improves judged task/retrieval quality and the NPU executes a useful scoring path; do not scan the entire corpus per query by assumption. The example has5M chunks while the R1 benchmark has1M; they are separate illustrations, not one implied measured deployment. R1 targets are not automatically generation throughput or full-RAG latency.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This is a new advisory engagement recommendation layered onto V3, not a claim in the source that one vendor is inherently faster or cheaper. Supermicro’s X14 reference uses Intel CPUs and has specific storage/CXL bay variants; it is not the same as the PRD’s AMD CPU study BOM. Accept an OEM-supported equivalent only after review. Dell’s published40-drive R7725 layout is a storage topology, not the proposed downstream ATMOS switch domain. HPE’s Virtual OEM is a commercial integration route, not product-level interoperability. W4 requires its own acoustic and carrier study. No OEM agreement exists in the supplied evidence.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[S16] Supermicro — NVMe / X14 platform overview
https://www.supermicro.com/en/products/nvme
[S17] Dell — OEM Solutions
https://www.dell.com/en-us/shop/lp/oem-solutions
[S18] Dell — R7725 40-E3.S topology
https://infohub.delltechnologies.com/en-us/l/nvme-and-i-o-topologies-for-next-generation-dell-poweredge-servers-1/poweredge-r7725-populated-with-40-nvme-e3-s-drives-3/
[S19] HPE — Virtual OEM
https://www.hpe.com/us/en/oem/virtual-oem.html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The pictured supply chain is a proposed operating model. There is no supplied factory capacity, lead-time quote, inventory promise or SLA. Ask vendors to return those rather than making general supply-shortage claims. Contract components include hardware substitutions, secure bootstrap keys, model-license handling, signed factory/recovery image, spare parts, first-response ownership and coordinated escalation. OEM Ready/Virtual OEM establish viable routes for branding and delivery services but not automatically the desired ATMOS configuration.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[S16] Supermicro — NVMe / X14 platform overview
https://www.supermicro.com/en/products/nvme
[S17] Dell — OEM Solutions
https://www.dell.com/en-us/shop/lp/oem-solutions
[S19] HPE — Virtual OEM
https://www.hpe.com/us/en/oem/virtual-oem.html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This preserves the accepted V3 program emphasis. EPRI and Nasdaq are public archetypes, not named ATMOS design partners. Seek authorized customer traces and counterpart measurements before sizing a fleet. Native generation is conditional on a complete supported backend; retrieval-only can be the first service when it meets the need. Do not use known product revenue or case-study productivity outcomes as proof of obtainable SanDisk sales.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[S02] NVIDIA customer story — EPRI
https://www.nvidia.com/en-us/case-studies/epri/
[S07] NVIDIA customer story — Nasdaq
https://www.nvidia.com/en-us/case-studies/nasdaq/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Use the PPTX for editable slide insertion. Relative PRD links work when the Word file stays beside this deck; some viewers/security policies ignore local links. Exact references and URLs are in presenter notes and the following source slides. The user’s one D4 reference is interpreted as D8 because the supplied portfolio defines W4, D8/E8, E16 and E24. No existing deck or PRD is overwritten.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Source titles link directly to primary sources or original measurement authors. Research snapshot7October2026. These descriptions define what each reference actually supports; they are not additional capability claims.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[S01] NVIDIA FY2027 Q2 Form 10-Q
https://www.sec.gov/Archives/edgar/data/1045810/000104581026000075/nvda-20260726.htm
[S02] NVIDIA customer story — EPRI
https://www.nvidia.com/en-us/case-studies/epri/
[S03] NVIDIA customer story — CYRAN AI / IIT Delhi
https://www.nvidia.com/en-us/case-studies/cyran-iit-delhi/
[S04] NVIDIA customer story — Arup
https://www.nvidia.com/en-us/case-studies/arup/
[S05] Google Cloud customer story — Aible
https://cloud.google.com/customers/aible
[S06] NVIDIA customer story — Lowe’s
https://www.nvidia.com/en-gb/case-studies/lowes/
[S07] NVIDIA customer story — Nasdaq
https://www.nvidia.com/en-us/case-studies/nasdaq/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Source titles link directly to primary sources or original measurement authors. Research snapshot7October2026. These descriptions define what each reference actually supports; they are not additional capability claims.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[S08] NVIDIA customer story — ThinkDeep AI
https://www.nvidia.com/en-eu/case-studies/thinkdeep-sovereign-ai-agents-automate-public-services/
[S09] NVIDIA customer story — Amdocs
https://www.nvidia.com/en-eu/case-studies/amdocs-builds-generative-ai-agents-for-telecom/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
[S13] StorageReview — original RTX PRO 6000 Workstation tests
https://www.storagereview.com/review/nvidia-rtx-pro-6000-workstation-gpu-review-blackwell-architecture-and-96-gb-for-pro-workflows
[S21] Apple — Mac Studio technical specifications
https://www.apple.com/mac-studio/specs/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Source titles link directly to primary sources or original measurement authors. Research snapshot7October2026. These descriptions define what each reference actually supports; they are not additional capability claims.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
[S16] Supermicro — NVMe / X14 platform overview
https://www.supermicro.com/en/products/nvme
[S17] Dell — OEM Solutions
https://www.dell.com/en-us/shop/lp/oem-solutions
[S18] Dell — R7725 40-E3.S topology
https://infohub.delltechnologies.com/en-us/l/nvme-and-i-o-topologies-for-next-generation-dell-poweredge-servers-1/poweredge-r7725-populated-with-40-nvme-e3-s-drives-3/
[S19] HPE — Virtual OEM
https://www.hpe.com/us/en/oem/virtual-oem.html
[S20] SanDisk / SK hynix — HBF OCP specification
https://www.sandisk.com/company/newsroom/press-releases/2026/2026-08-03-Sandisk-and-sk-hynix-advance-global-standardization-of-hbf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hyperlink" Target="https://www.sec.gov/Archives/edgar/data/1045810/000104581026000075/nvda-20260726.htm" TargetMode="External"/><Relationship Id="rId3" Type="http://schemas.openxmlformats.org/officeDocument/2006/relationships/hyperlink" Target="https://www.nvidia.com/en-us/case-studies/epri/" TargetMode="External"/><Relationship Id="rId4" Type="http://schemas.openxmlformats.org/officeDocument/2006/relationships/hyperlink" Target="https://www.nvidia.com/en-us/case-studies/cyran-iit-delhi/" TargetMode="External"/><Relationship Id="rId5" Type="http://schemas.openxmlformats.org/officeDocument/2006/relationships/hyperlink" Target="https://www.nvidia.com/en-us/case-studies/arup/" TargetMode="External"/><Relationship Id="rId6" Type="http://schemas.openxmlformats.org/officeDocument/2006/relationships/hyperlink" Target="https://cloud.google.com/customers/aible" TargetMode="External"/><Relationship Id="rId7" Type="http://schemas.openxmlformats.org/officeDocument/2006/relationships/hyperlink" Target="https://www.nvidia.com/en-gb/case-studies/lowes/" TargetMode="External"/><Relationship Id="rId8" Type="http://schemas.openxmlformats.org/officeDocument/2006/relationships/hyperlink" Target="https://www.nvidia.com/en-us/case-studies/nasdaq/" TargetMode="External"/><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hyperlink" Target="https://www.nvidia.com/en-eu/case-studies/thinkdeep-sovereign-ai-agents-automate-public-services/" TargetMode="External"/><Relationship Id="rId3" Type="http://schemas.openxmlformats.org/officeDocument/2006/relationships/hyperlink" Target="https://www.nvidia.com/en-eu/case-studies/amdocs-builds-generative-ai-agents-for-telecom/" TargetMode="External"/><Relationship Id="rId4" Type="http://schemas.openxmlformats.org/officeDocument/2006/relationships/hyperlink" Target="https://docs.nvidia.com/dgx/dgx-spark/hardware.html" TargetMode="External"/><Relationship Id="rId5" Type="http://schemas.openxmlformats.org/officeDocument/2006/relationships/hyperlink" Target="https://www.nvidia.com/en-us/products/workstations/professional-desktop-gpus/rtx-pro-6000/" TargetMode="External"/><Relationship Id="rId6" Type="http://schemas.openxmlformats.org/officeDocument/2006/relationships/hyperlink" Target="https://docs.nvidia.com/dgx/dgx-station-development-guide/overview.html" TargetMode="External"/><Relationship Id="rId7" Type="http://schemas.openxmlformats.org/officeDocument/2006/relationships/hyperlink" Target="https://www.storagereview.com/review/nvidia-rtx-pro-6000-workstation-gpu-review-blackwell-architecture-and-96-gb-for-pro-workflows" TargetMode="External"/><Relationship Id="rId8" Type="http://schemas.openxmlformats.org/officeDocument/2006/relationships/hyperlink" Target="https://www.apple.com/mac-studio/specs/" TargetMode="External"/><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SanDisk_ATMOS_AI_Appliance_Strategy_PRD_v3.docx" TargetMode="External"/><Relationship Id="rId2" Type="http://schemas.openxmlformats.org/officeDocument/2006/relationships/hyperlink" Target="https://www.hpe.com/us/en/newsroom/press-release/2025/03/hewlett-packard-enterprise-introduces-new-enterprise-ai-solutions-with-nvidia-to-accelerate-time-to-value-for-generative-agentic-and-physical-ai-models.html" TargetMode="External"/><Relationship Id="rId3" Type="http://schemas.openxmlformats.org/officeDocument/2006/relationships/hyperlink" Target="https://www.nutanix.com/press-releases/2024/nutanix-accelerates-enterprise-adoption-of-generative-ai" TargetMode="External"/><Relationship Id="rId4" Type="http://schemas.openxmlformats.org/officeDocument/2006/relationships/hyperlink" Target="https://www.supermicro.com/en/products/nvme" TargetMode="External"/><Relationship Id="rId5" Type="http://schemas.openxmlformats.org/officeDocument/2006/relationships/hyperlink" Target="https://www.dell.com/en-us/shop/lp/oem-solutions" TargetMode="External"/><Relationship Id="rId6" Type="http://schemas.openxmlformats.org/officeDocument/2006/relationships/hyperlink" Target="https://infohub.delltechnologies.com/en-us/l/nvme-and-i-o-topologies-for-next-generation-dell-poweredge-servers-1/poweredge-r7725-populated-with-40-nvme-e3-s-drives-3/" TargetMode="External"/><Relationship Id="rId7" Type="http://schemas.openxmlformats.org/officeDocument/2006/relationships/hyperlink" Target="https://www.hpe.com/us/en/oem/virtual-oem.html" TargetMode="External"/><Relationship Id="rId8" Type="http://schemas.openxmlformats.org/officeDocument/2006/relationships/hyperlink" Target="https://www.sandisk.com/company/newsroom/press-releases/2026/2026-08-03-Sandisk-and-sk-hynix-advance-global-standardization-of-hbf" TargetMode="External"/><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BACKGROUND</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GPT-in-a-box is real. Win the workload, not the category.</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Local, governed inference is a product opportunity—not a claim that the market lacks private AI.</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SanDisk opening: resident model/data capacity + certified knowledge services + one accountable lifecycle.</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[S02] [S14] [S15] [S20]</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M01</a:t>
            </a:r>
            <a:endParaRPr lang="en-US" sz="920" dirty="0"/>
          </a:p>
        </p:txBody>
      </p:sp>
      <p:sp>
        <p:nvSpPr>
          <p:cNvPr id="14" name="Shape 12"/>
          <p:cNvSpPr/>
          <p:nvPr/>
        </p:nvSpPr>
        <p:spPr>
          <a:xfrm>
            <a:off x="502920" y="2112264"/>
            <a:ext cx="3602736" cy="2075688"/>
          </a:xfrm>
          <a:prstGeom prst="rect">
            <a:avLst>
              <a:gd name="adj" fmla="val 3524"/>
            </a:avLst>
          </a:prstGeom>
          <a:solidFill>
            <a:srgbClr val="F3F4F6"/>
          </a:solidFill>
          <a:ln w="12700">
            <a:solidFill>
              <a:srgbClr val="F3F4F6"/>
            </a:solidFill>
            <a:prstDash val="solid"/>
          </a:ln>
        </p:spPr>
      </p:sp>
      <p:sp>
        <p:nvSpPr>
          <p:cNvPr id="15" name="Shape 13"/>
          <p:cNvSpPr/>
          <p:nvPr/>
        </p:nvSpPr>
        <p:spPr>
          <a:xfrm>
            <a:off x="502920" y="2112264"/>
            <a:ext cx="41148" cy="2075688"/>
          </a:xfrm>
          <a:prstGeom prst="rect">
            <a:avLst>
              <a:gd name="adj" fmla="val 177778"/>
            </a:avLst>
          </a:prstGeom>
          <a:solidFill>
            <a:srgbClr val="E31837"/>
          </a:solidFill>
          <a:ln w="12700">
            <a:solidFill>
              <a:srgbClr val="E31837"/>
            </a:solidFill>
            <a:prstDash val="solid"/>
          </a:ln>
        </p:spPr>
      </p:sp>
      <p:sp>
        <p:nvSpPr>
          <p:cNvPr id="16" name="Text 14"/>
          <p:cNvSpPr/>
          <p:nvPr/>
        </p:nvSpPr>
        <p:spPr>
          <a:xfrm>
            <a:off x="667512" y="2276856"/>
            <a:ext cx="3273552" cy="512064"/>
          </a:xfrm>
          <a:prstGeom prst="rect">
            <a:avLst/>
          </a:prstGeom>
          <a:noFill/>
          <a:ln/>
        </p:spPr>
        <p:txBody>
          <a:bodyPr wrap="square" lIns="0" tIns="0" rIns="0" bIns="0" rtlCol="0" anchor="ctr"/>
          <a:lstStyle/>
          <a:p>
            <a:pPr indent="0" marL="0">
              <a:buNone/>
            </a:pPr>
            <a:r>
              <a:rPr lang="en-US" sz="1800" b="1" dirty="0">
                <a:solidFill>
                  <a:srgbClr val="18191D"/>
                </a:solidFill>
                <a:latin typeface="Arial" pitchFamily="34" charset="0"/>
                <a:ea typeface="Arial" pitchFamily="34" charset="-122"/>
                <a:cs typeface="Arial" pitchFamily="34" charset="-120"/>
              </a:rPr>
              <a:t>DEMAND | bring AI to the data</a:t>
            </a:r>
            <a:endParaRPr lang="en-US" sz="1800" dirty="0"/>
          </a:p>
        </p:txBody>
      </p:sp>
      <p:sp>
        <p:nvSpPr>
          <p:cNvPr id="17" name="Text 15"/>
          <p:cNvSpPr/>
          <p:nvPr/>
        </p:nvSpPr>
        <p:spPr>
          <a:xfrm>
            <a:off x="667512" y="2962656"/>
            <a:ext cx="3273552" cy="106984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Private documents, predictable service and controlled updates drive local deployments. EPRI is a documented deskside example.</a:t>
            </a:r>
            <a:endParaRPr lang="en-US" sz="1600" dirty="0"/>
          </a:p>
        </p:txBody>
      </p:sp>
      <p:sp>
        <p:nvSpPr>
          <p:cNvPr id="18" name="Shape 16"/>
          <p:cNvSpPr/>
          <p:nvPr/>
        </p:nvSpPr>
        <p:spPr>
          <a:xfrm>
            <a:off x="4261104" y="2112264"/>
            <a:ext cx="3602736" cy="2075688"/>
          </a:xfrm>
          <a:prstGeom prst="rect">
            <a:avLst>
              <a:gd name="adj" fmla="val 3524"/>
            </a:avLst>
          </a:prstGeom>
          <a:solidFill>
            <a:srgbClr val="F3F4F6"/>
          </a:solidFill>
          <a:ln w="12700">
            <a:solidFill>
              <a:srgbClr val="F3F4F6"/>
            </a:solidFill>
            <a:prstDash val="solid"/>
          </a:ln>
        </p:spPr>
      </p:sp>
      <p:sp>
        <p:nvSpPr>
          <p:cNvPr id="19" name="Shape 17"/>
          <p:cNvSpPr/>
          <p:nvPr/>
        </p:nvSpPr>
        <p:spPr>
          <a:xfrm>
            <a:off x="4261104" y="2112264"/>
            <a:ext cx="41148" cy="2075688"/>
          </a:xfrm>
          <a:prstGeom prst="rect">
            <a:avLst>
              <a:gd name="adj" fmla="val 177778"/>
            </a:avLst>
          </a:prstGeom>
          <a:solidFill>
            <a:srgbClr val="E31837"/>
          </a:solidFill>
          <a:ln w="12700">
            <a:solidFill>
              <a:srgbClr val="E31837"/>
            </a:solidFill>
            <a:prstDash val="solid"/>
          </a:ln>
        </p:spPr>
      </p:sp>
      <p:sp>
        <p:nvSpPr>
          <p:cNvPr id="20" name="Text 18"/>
          <p:cNvSpPr/>
          <p:nvPr/>
        </p:nvSpPr>
        <p:spPr>
          <a:xfrm>
            <a:off x="4425696" y="2276856"/>
            <a:ext cx="3273552" cy="512064"/>
          </a:xfrm>
          <a:prstGeom prst="rect">
            <a:avLst/>
          </a:prstGeom>
          <a:noFill/>
          <a:ln/>
        </p:spPr>
        <p:txBody>
          <a:bodyPr wrap="square" lIns="0" tIns="0" rIns="0" bIns="0" rtlCol="0" anchor="ctr"/>
          <a:lstStyle/>
          <a:p>
            <a:pPr indent="0" marL="0">
              <a:buNone/>
            </a:pPr>
            <a:r>
              <a:rPr lang="en-US" sz="1800" b="1" dirty="0">
                <a:solidFill>
                  <a:srgbClr val="18191D"/>
                </a:solidFill>
                <a:latin typeface="Arial" pitchFamily="34" charset="0"/>
                <a:ea typeface="Arial" pitchFamily="34" charset="-122"/>
                <a:cs typeface="Arial" pitchFamily="34" charset="-120"/>
              </a:rPr>
              <a:t>SUPPLY | a system, not a chip</a:t>
            </a:r>
            <a:endParaRPr lang="en-US" sz="1800" dirty="0"/>
          </a:p>
        </p:txBody>
      </p:sp>
      <p:sp>
        <p:nvSpPr>
          <p:cNvPr id="21" name="Text 19"/>
          <p:cNvSpPr/>
          <p:nvPr/>
        </p:nvSpPr>
        <p:spPr>
          <a:xfrm>
            <a:off x="4425696" y="2962656"/>
            <a:ext cx="3273552" cy="106984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Spark, RTX, Station and turnkey platforms already compete. Delivery also requires OEM qualification, certified models, inventory and field support.</a:t>
            </a:r>
            <a:endParaRPr lang="en-US" sz="1600" dirty="0"/>
          </a:p>
        </p:txBody>
      </p:sp>
      <p:sp>
        <p:nvSpPr>
          <p:cNvPr id="22" name="Shape 20"/>
          <p:cNvSpPr/>
          <p:nvPr/>
        </p:nvSpPr>
        <p:spPr>
          <a:xfrm>
            <a:off x="8019288" y="2112264"/>
            <a:ext cx="3666744" cy="2075688"/>
          </a:xfrm>
          <a:prstGeom prst="rect">
            <a:avLst>
              <a:gd name="adj" fmla="val 3524"/>
            </a:avLst>
          </a:prstGeom>
          <a:solidFill>
            <a:srgbClr val="F3F4F6"/>
          </a:solidFill>
          <a:ln w="12700">
            <a:solidFill>
              <a:srgbClr val="F3F4F6"/>
            </a:solidFill>
            <a:prstDash val="solid"/>
          </a:ln>
        </p:spPr>
      </p:sp>
      <p:sp>
        <p:nvSpPr>
          <p:cNvPr id="23" name="Shape 21"/>
          <p:cNvSpPr/>
          <p:nvPr/>
        </p:nvSpPr>
        <p:spPr>
          <a:xfrm>
            <a:off x="8019288" y="2112264"/>
            <a:ext cx="41148" cy="2075688"/>
          </a:xfrm>
          <a:prstGeom prst="rect">
            <a:avLst>
              <a:gd name="adj" fmla="val 177778"/>
            </a:avLst>
          </a:prstGeom>
          <a:solidFill>
            <a:srgbClr val="E31837"/>
          </a:solidFill>
          <a:ln w="12700">
            <a:solidFill>
              <a:srgbClr val="E31837"/>
            </a:solidFill>
            <a:prstDash val="solid"/>
          </a:ln>
        </p:spPr>
      </p:sp>
      <p:sp>
        <p:nvSpPr>
          <p:cNvPr id="24" name="Text 22"/>
          <p:cNvSpPr/>
          <p:nvPr/>
        </p:nvSpPr>
        <p:spPr>
          <a:xfrm>
            <a:off x="8183880" y="2276856"/>
            <a:ext cx="3337560" cy="512064"/>
          </a:xfrm>
          <a:prstGeom prst="rect">
            <a:avLst/>
          </a:prstGeom>
          <a:noFill/>
          <a:ln/>
        </p:spPr>
        <p:txBody>
          <a:bodyPr wrap="square" lIns="0" tIns="0" rIns="0" bIns="0" rtlCol="0" anchor="ctr"/>
          <a:lstStyle/>
          <a:p>
            <a:pPr indent="0" marL="0">
              <a:buNone/>
            </a:pPr>
            <a:r>
              <a:rPr lang="en-US" sz="1800" b="1" dirty="0">
                <a:solidFill>
                  <a:srgbClr val="18191D"/>
                </a:solidFill>
                <a:latin typeface="Arial" pitchFamily="34" charset="0"/>
                <a:ea typeface="Arial" pitchFamily="34" charset="-122"/>
                <a:cs typeface="Arial" pitchFamily="34" charset="-120"/>
              </a:rPr>
              <a:t>SCOPE | bounded enterprise AI</a:t>
            </a:r>
            <a:endParaRPr lang="en-US" sz="1800" dirty="0"/>
          </a:p>
        </p:txBody>
      </p:sp>
      <p:sp>
        <p:nvSpPr>
          <p:cNvPr id="25" name="Text 23"/>
          <p:cNvSpPr/>
          <p:nvPr/>
        </p:nvSpPr>
        <p:spPr>
          <a:xfrm>
            <a:off x="8183880" y="2962656"/>
            <a:ext cx="3337560" cy="106984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Target search, reranking, document work and qualified private generation. Exclude training, graphics and safety-critical control.</a:t>
            </a:r>
            <a:endParaRPr lang="en-US" sz="1600" dirty="0"/>
          </a:p>
        </p:txBody>
      </p:sp>
      <p:sp>
        <p:nvSpPr>
          <p:cNvPr id="26" name="Shape 24"/>
          <p:cNvSpPr/>
          <p:nvPr/>
        </p:nvSpPr>
        <p:spPr>
          <a:xfrm>
            <a:off x="502920" y="4416552"/>
            <a:ext cx="11183112" cy="1307592"/>
          </a:xfrm>
          <a:prstGeom prst="rect">
            <a:avLst>
              <a:gd name="adj" fmla="val 5594"/>
            </a:avLst>
          </a:prstGeom>
          <a:solidFill>
            <a:srgbClr val="18191D"/>
          </a:solidFill>
          <a:ln w="12700">
            <a:solidFill>
              <a:srgbClr val="18191D"/>
            </a:solidFill>
            <a:prstDash val="solid"/>
          </a:ln>
        </p:spPr>
      </p:sp>
      <p:sp>
        <p:nvSpPr>
          <p:cNvPr id="27" name="Text 25"/>
          <p:cNvSpPr/>
          <p:nvPr/>
        </p:nvSpPr>
        <p:spPr>
          <a:xfrm>
            <a:off x="713232" y="4590288"/>
            <a:ext cx="1645920" cy="237744"/>
          </a:xfrm>
          <a:prstGeom prst="rect">
            <a:avLst/>
          </a:prstGeom>
          <a:noFill/>
          <a:ln/>
        </p:spPr>
        <p:txBody>
          <a:bodyPr wrap="square" lIns="0" tIns="0" rIns="0" bIns="0" rtlCol="0" anchor="ctr"/>
          <a:lstStyle/>
          <a:p>
            <a:pPr indent="0" marL="0">
              <a:buNone/>
            </a:pPr>
            <a:r>
              <a:rPr lang="en-US" sz="1200" b="1" dirty="0">
                <a:solidFill>
                  <a:srgbClr val="F7C9D2"/>
                </a:solidFill>
                <a:latin typeface="Arial" pitchFamily="34" charset="0"/>
                <a:ea typeface="Arial" pitchFamily="34" charset="-122"/>
                <a:cs typeface="Arial" pitchFamily="34" charset="-120"/>
              </a:rPr>
              <a:t>WHY SANDISK</a:t>
            </a:r>
            <a:endParaRPr lang="en-US" sz="1200" dirty="0"/>
          </a:p>
        </p:txBody>
      </p:sp>
      <p:sp>
        <p:nvSpPr>
          <p:cNvPr id="28" name="Text 26"/>
          <p:cNvSpPr/>
          <p:nvPr/>
        </p:nvSpPr>
        <p:spPr>
          <a:xfrm>
            <a:off x="2359152" y="4562856"/>
            <a:ext cx="8933688" cy="31089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Public HBF standardization is a strategic entry point.</a:t>
            </a:r>
            <a:endParaRPr lang="en-US" sz="2000" dirty="0"/>
          </a:p>
        </p:txBody>
      </p:sp>
      <p:sp>
        <p:nvSpPr>
          <p:cNvPr id="29" name="Text 27"/>
          <p:cNvSpPr/>
          <p:nvPr/>
        </p:nvSpPr>
        <p:spPr>
          <a:xfrm>
            <a:off x="2359152" y="4965192"/>
            <a:ext cx="8869680" cy="530352"/>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The product still has to prove better service economics on capacity-oriented work—without presenting HBF as extra GPU memory.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CUSTOMER EVIDENCE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Named users show where local AI is already being used.</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Public customer stories—not purchase records, installed-base estimates or ATMOS customer commitments.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Do not turn a cloud case into an edge deployment—or a simulation result into an LLM benchmark.</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[S02] [S03] [S04] [S05] [S06]</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§15–17</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M02</a:t>
            </a:r>
            <a:endParaRPr lang="en-US" sz="920" dirty="0"/>
          </a:p>
        </p:txBody>
      </p:sp>
      <p:sp>
        <p:nvSpPr>
          <p:cNvPr id="14" name="Shape 12"/>
          <p:cNvSpPr/>
          <p:nvPr/>
        </p:nvSpPr>
        <p:spPr>
          <a:xfrm>
            <a:off x="502920" y="2112264"/>
            <a:ext cx="1508760"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76272"/>
            <a:ext cx="1325880"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Organization / vertical</a:t>
            </a:r>
            <a:endParaRPr lang="en-US" sz="1250" dirty="0"/>
          </a:p>
        </p:txBody>
      </p:sp>
      <p:sp>
        <p:nvSpPr>
          <p:cNvPr id="16" name="Shape 14"/>
          <p:cNvSpPr/>
          <p:nvPr/>
        </p:nvSpPr>
        <p:spPr>
          <a:xfrm>
            <a:off x="2011680" y="2112264"/>
            <a:ext cx="2304288"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2103120" y="2176272"/>
            <a:ext cx="2121408"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Named local platform</a:t>
            </a:r>
            <a:endParaRPr lang="en-US" sz="1250" dirty="0"/>
          </a:p>
        </p:txBody>
      </p:sp>
      <p:sp>
        <p:nvSpPr>
          <p:cNvPr id="18" name="Shape 16"/>
          <p:cNvSpPr/>
          <p:nvPr/>
        </p:nvSpPr>
        <p:spPr>
          <a:xfrm>
            <a:off x="4315968" y="2112264"/>
            <a:ext cx="3401568"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4407408" y="2176272"/>
            <a:ext cx="3218688"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Documented activity</a:t>
            </a:r>
            <a:endParaRPr lang="en-US" sz="1250" dirty="0"/>
          </a:p>
        </p:txBody>
      </p:sp>
      <p:sp>
        <p:nvSpPr>
          <p:cNvPr id="20" name="Shape 18"/>
          <p:cNvSpPr/>
          <p:nvPr/>
        </p:nvSpPr>
        <p:spPr>
          <a:xfrm>
            <a:off x="7717536" y="2112264"/>
            <a:ext cx="3968496"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7808976" y="2176272"/>
            <a:ext cx="3785616"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ATMOS-relevant boundary</a:t>
            </a:r>
            <a:endParaRPr lang="en-US" sz="1250" dirty="0"/>
          </a:p>
        </p:txBody>
      </p:sp>
      <p:sp>
        <p:nvSpPr>
          <p:cNvPr id="22" name="Shape 20"/>
          <p:cNvSpPr/>
          <p:nvPr/>
        </p:nvSpPr>
        <p:spPr>
          <a:xfrm>
            <a:off x="502920" y="2551176"/>
            <a:ext cx="1508760" cy="553212"/>
          </a:xfrm>
          <a:prstGeom prst="rect">
            <a:avLst>
              <a:gd name="adj" fmla="val 13223"/>
            </a:avLst>
          </a:prstGeom>
          <a:solidFill>
            <a:srgbClr val="F3F4F6"/>
          </a:solidFill>
          <a:ln w="8890">
            <a:solidFill>
              <a:srgbClr val="FFFFFF"/>
            </a:solidFill>
            <a:prstDash val="solid"/>
          </a:ln>
        </p:spPr>
      </p:sp>
      <p:sp>
        <p:nvSpPr>
          <p:cNvPr id="23" name="Text 21"/>
          <p:cNvSpPr/>
          <p:nvPr/>
        </p:nvSpPr>
        <p:spPr>
          <a:xfrm>
            <a:off x="594360" y="2628900"/>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EPRI / energy</a:t>
            </a:r>
            <a:endParaRPr lang="en-US" sz="1360" dirty="0"/>
          </a:p>
        </p:txBody>
      </p:sp>
      <p:sp>
        <p:nvSpPr>
          <p:cNvPr id="24" name="Shape 22"/>
          <p:cNvSpPr/>
          <p:nvPr/>
        </p:nvSpPr>
        <p:spPr>
          <a:xfrm>
            <a:off x="2011680" y="2551176"/>
            <a:ext cx="2304288" cy="553212"/>
          </a:xfrm>
          <a:prstGeom prst="rect">
            <a:avLst>
              <a:gd name="adj" fmla="val 13223"/>
            </a:avLst>
          </a:prstGeom>
          <a:solidFill>
            <a:srgbClr val="F3F4F6"/>
          </a:solidFill>
          <a:ln w="8890">
            <a:solidFill>
              <a:srgbClr val="FFFFFF"/>
            </a:solidFill>
            <a:prstDash val="solid"/>
          </a:ln>
        </p:spPr>
      </p:sp>
      <p:sp>
        <p:nvSpPr>
          <p:cNvPr id="25" name="Text 23"/>
          <p:cNvSpPr/>
          <p:nvPr/>
        </p:nvSpPr>
        <p:spPr>
          <a:xfrm>
            <a:off x="2103120" y="2628900"/>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Dell Pro Max GB10</a:t>
            </a:r>
            <a:endParaRPr lang="en-US" sz="1360" dirty="0"/>
          </a:p>
          <a:p>
            <a:pPr indent="0" marL="0">
              <a:buNone/>
            </a:pPr>
            <a:r>
              <a:rPr lang="en-US" sz="1360" dirty="0">
                <a:solidFill>
                  <a:srgbClr val="18191D"/>
                </a:solidFill>
                <a:latin typeface="Arial" pitchFamily="34" charset="0"/>
                <a:ea typeface="Arial" pitchFamily="34" charset="-122"/>
                <a:cs typeface="Arial" pitchFamily="34" charset="-120"/>
              </a:rPr>
              <a:t>DGX Spark platform</a:t>
            </a:r>
            <a:endParaRPr lang="en-US" sz="1360" dirty="0"/>
          </a:p>
        </p:txBody>
      </p:sp>
      <p:sp>
        <p:nvSpPr>
          <p:cNvPr id="26" name="Shape 24"/>
          <p:cNvSpPr/>
          <p:nvPr/>
        </p:nvSpPr>
        <p:spPr>
          <a:xfrm>
            <a:off x="4315968" y="2551176"/>
            <a:ext cx="3401568" cy="553212"/>
          </a:xfrm>
          <a:prstGeom prst="rect">
            <a:avLst>
              <a:gd name="adj" fmla="val 13223"/>
            </a:avLst>
          </a:prstGeom>
          <a:solidFill>
            <a:srgbClr val="F3F4F6"/>
          </a:solidFill>
          <a:ln w="8890">
            <a:solidFill>
              <a:srgbClr val="FFFFFF"/>
            </a:solidFill>
            <a:prstDash val="solid"/>
          </a:ln>
        </p:spPr>
      </p:sp>
      <p:sp>
        <p:nvSpPr>
          <p:cNvPr id="27" name="Text 25"/>
          <p:cNvSpPr/>
          <p:nvPr/>
        </p:nvSpPr>
        <p:spPr>
          <a:xfrm>
            <a:off x="4407408" y="2628900"/>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Power Chat local document assistant</a:t>
            </a:r>
            <a:endParaRPr lang="en-US" sz="1360" dirty="0"/>
          </a:p>
        </p:txBody>
      </p:sp>
      <p:sp>
        <p:nvSpPr>
          <p:cNvPr id="28" name="Shape 26"/>
          <p:cNvSpPr/>
          <p:nvPr/>
        </p:nvSpPr>
        <p:spPr>
          <a:xfrm>
            <a:off x="7717536" y="2551176"/>
            <a:ext cx="3968496" cy="553212"/>
          </a:xfrm>
          <a:prstGeom prst="rect">
            <a:avLst>
              <a:gd name="adj" fmla="val 13223"/>
            </a:avLst>
          </a:prstGeom>
          <a:solidFill>
            <a:srgbClr val="F3F4F6"/>
          </a:solidFill>
          <a:ln w="8890">
            <a:solidFill>
              <a:srgbClr val="FFFFFF"/>
            </a:solidFill>
            <a:prstDash val="solid"/>
          </a:ln>
        </p:spPr>
      </p:sp>
      <p:sp>
        <p:nvSpPr>
          <p:cNvPr id="29" name="Text 27"/>
          <p:cNvSpPr/>
          <p:nvPr/>
        </p:nvSpPr>
        <p:spPr>
          <a:xfrm>
            <a:off x="7808976" y="2628900"/>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Knowledge workflow is relevant; published results are on GB10.</a:t>
            </a:r>
            <a:endParaRPr lang="en-US" sz="1360" dirty="0"/>
          </a:p>
        </p:txBody>
      </p:sp>
      <p:sp>
        <p:nvSpPr>
          <p:cNvPr id="30" name="Shape 28"/>
          <p:cNvSpPr/>
          <p:nvPr/>
        </p:nvSpPr>
        <p:spPr>
          <a:xfrm>
            <a:off x="502920" y="3104388"/>
            <a:ext cx="1508760" cy="553212"/>
          </a:xfrm>
          <a:prstGeom prst="rect">
            <a:avLst>
              <a:gd name="adj" fmla="val 13223"/>
            </a:avLst>
          </a:prstGeom>
          <a:solidFill>
            <a:srgbClr val="FFFFFF"/>
          </a:solidFill>
          <a:ln w="8890">
            <a:solidFill>
              <a:srgbClr val="FFFFFF"/>
            </a:solidFill>
            <a:prstDash val="solid"/>
          </a:ln>
        </p:spPr>
      </p:sp>
      <p:sp>
        <p:nvSpPr>
          <p:cNvPr id="31" name="Text 29"/>
          <p:cNvSpPr/>
          <p:nvPr/>
        </p:nvSpPr>
        <p:spPr>
          <a:xfrm>
            <a:off x="594360" y="3182112"/>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CYRAN AI / geospatial</a:t>
            </a:r>
            <a:endParaRPr lang="en-US" sz="1360" dirty="0"/>
          </a:p>
        </p:txBody>
      </p:sp>
      <p:sp>
        <p:nvSpPr>
          <p:cNvPr id="32" name="Shape 30"/>
          <p:cNvSpPr/>
          <p:nvPr/>
        </p:nvSpPr>
        <p:spPr>
          <a:xfrm>
            <a:off x="2011680" y="3104388"/>
            <a:ext cx="2304288" cy="553212"/>
          </a:xfrm>
          <a:prstGeom prst="rect">
            <a:avLst>
              <a:gd name="adj" fmla="val 13223"/>
            </a:avLst>
          </a:prstGeom>
          <a:solidFill>
            <a:srgbClr val="FFFFFF"/>
          </a:solidFill>
          <a:ln w="8890">
            <a:solidFill>
              <a:srgbClr val="FFFFFF"/>
            </a:solidFill>
            <a:prstDash val="solid"/>
          </a:ln>
        </p:spPr>
      </p:sp>
      <p:sp>
        <p:nvSpPr>
          <p:cNvPr id="33" name="Text 31"/>
          <p:cNvSpPr/>
          <p:nvPr/>
        </p:nvSpPr>
        <p:spPr>
          <a:xfrm>
            <a:off x="2103120" y="3182112"/>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DGX Spark</a:t>
            </a:r>
            <a:endParaRPr lang="en-US" sz="1360" dirty="0"/>
          </a:p>
        </p:txBody>
      </p:sp>
      <p:sp>
        <p:nvSpPr>
          <p:cNvPr id="34" name="Shape 32"/>
          <p:cNvSpPr/>
          <p:nvPr/>
        </p:nvSpPr>
        <p:spPr>
          <a:xfrm>
            <a:off x="4315968" y="3104388"/>
            <a:ext cx="3401568" cy="553212"/>
          </a:xfrm>
          <a:prstGeom prst="rect">
            <a:avLst>
              <a:gd name="adj" fmla="val 13223"/>
            </a:avLst>
          </a:prstGeom>
          <a:solidFill>
            <a:srgbClr val="FFFFFF"/>
          </a:solidFill>
          <a:ln w="8890">
            <a:solidFill>
              <a:srgbClr val="FFFFFF"/>
            </a:solidFill>
            <a:prstDash val="solid"/>
          </a:ln>
        </p:spPr>
      </p:sp>
      <p:sp>
        <p:nvSpPr>
          <p:cNvPr id="35" name="Text 33"/>
          <p:cNvSpPr/>
          <p:nvPr/>
        </p:nvSpPr>
        <p:spPr>
          <a:xfrm>
            <a:off x="4407408" y="3182112"/>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GPU JPEG2000 processing of large satellite scenes</a:t>
            </a:r>
            <a:endParaRPr lang="en-US" sz="1360" dirty="0"/>
          </a:p>
        </p:txBody>
      </p:sp>
      <p:sp>
        <p:nvSpPr>
          <p:cNvPr id="36" name="Shape 34"/>
          <p:cNvSpPr/>
          <p:nvPr/>
        </p:nvSpPr>
        <p:spPr>
          <a:xfrm>
            <a:off x="7717536" y="3104388"/>
            <a:ext cx="3968496" cy="553212"/>
          </a:xfrm>
          <a:prstGeom prst="rect">
            <a:avLst>
              <a:gd name="adj" fmla="val 13223"/>
            </a:avLst>
          </a:prstGeom>
          <a:solidFill>
            <a:srgbClr val="FFFFFF"/>
          </a:solidFill>
          <a:ln w="8890">
            <a:solidFill>
              <a:srgbClr val="FFFFFF"/>
            </a:solidFill>
            <a:prstDash val="solid"/>
          </a:ln>
        </p:spPr>
      </p:sp>
      <p:sp>
        <p:nvSpPr>
          <p:cNvPr id="37" name="Text 35"/>
          <p:cNvSpPr/>
          <p:nvPr/>
        </p:nvSpPr>
        <p:spPr>
          <a:xfrm>
            <a:off x="7808976" y="3182112"/>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Metadata / report retrieval is a candidate; image decoding is not the launch target.</a:t>
            </a:r>
            <a:endParaRPr lang="en-US" sz="1360" dirty="0"/>
          </a:p>
        </p:txBody>
      </p:sp>
      <p:sp>
        <p:nvSpPr>
          <p:cNvPr id="38" name="Shape 36"/>
          <p:cNvSpPr/>
          <p:nvPr/>
        </p:nvSpPr>
        <p:spPr>
          <a:xfrm>
            <a:off x="502920" y="3657600"/>
            <a:ext cx="1508760" cy="553212"/>
          </a:xfrm>
          <a:prstGeom prst="rect">
            <a:avLst>
              <a:gd name="adj" fmla="val 13223"/>
            </a:avLst>
          </a:prstGeom>
          <a:solidFill>
            <a:srgbClr val="F3F4F6"/>
          </a:solidFill>
          <a:ln w="8890">
            <a:solidFill>
              <a:srgbClr val="FFFFFF"/>
            </a:solidFill>
            <a:prstDash val="solid"/>
          </a:ln>
        </p:spPr>
      </p:sp>
      <p:sp>
        <p:nvSpPr>
          <p:cNvPr id="39" name="Text 37"/>
          <p:cNvSpPr/>
          <p:nvPr/>
        </p:nvSpPr>
        <p:spPr>
          <a:xfrm>
            <a:off x="594360" y="3735324"/>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Arup / engineering</a:t>
            </a:r>
            <a:endParaRPr lang="en-US" sz="1360" dirty="0"/>
          </a:p>
        </p:txBody>
      </p:sp>
      <p:sp>
        <p:nvSpPr>
          <p:cNvPr id="40" name="Shape 38"/>
          <p:cNvSpPr/>
          <p:nvPr/>
        </p:nvSpPr>
        <p:spPr>
          <a:xfrm>
            <a:off x="2011680" y="3657600"/>
            <a:ext cx="2304288" cy="553212"/>
          </a:xfrm>
          <a:prstGeom prst="rect">
            <a:avLst>
              <a:gd name="adj" fmla="val 13223"/>
            </a:avLst>
          </a:prstGeom>
          <a:solidFill>
            <a:srgbClr val="F3F4F6"/>
          </a:solidFill>
          <a:ln w="8890">
            <a:solidFill>
              <a:srgbClr val="FFFFFF"/>
            </a:solidFill>
            <a:prstDash val="solid"/>
          </a:ln>
        </p:spPr>
      </p:sp>
      <p:sp>
        <p:nvSpPr>
          <p:cNvPr id="41" name="Text 39"/>
          <p:cNvSpPr/>
          <p:nvPr/>
        </p:nvSpPr>
        <p:spPr>
          <a:xfrm>
            <a:off x="2103120" y="3735324"/>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DGX Spark</a:t>
            </a:r>
            <a:endParaRPr lang="en-US" sz="1360" dirty="0"/>
          </a:p>
        </p:txBody>
      </p:sp>
      <p:sp>
        <p:nvSpPr>
          <p:cNvPr id="42" name="Shape 40"/>
          <p:cNvSpPr/>
          <p:nvPr/>
        </p:nvSpPr>
        <p:spPr>
          <a:xfrm>
            <a:off x="4315968" y="3657600"/>
            <a:ext cx="3401568" cy="553212"/>
          </a:xfrm>
          <a:prstGeom prst="rect">
            <a:avLst>
              <a:gd name="adj" fmla="val 13223"/>
            </a:avLst>
          </a:prstGeom>
          <a:solidFill>
            <a:srgbClr val="F3F4F6"/>
          </a:solidFill>
          <a:ln w="8890">
            <a:solidFill>
              <a:srgbClr val="FFFFFF"/>
            </a:solidFill>
            <a:prstDash val="solid"/>
          </a:ln>
        </p:spPr>
      </p:sp>
      <p:sp>
        <p:nvSpPr>
          <p:cNvPr id="43" name="Text 41"/>
          <p:cNvSpPr/>
          <p:nvPr/>
        </p:nvSpPr>
        <p:spPr>
          <a:xfrm>
            <a:off x="4407408" y="3735324"/>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GNN structural-design surrogates</a:t>
            </a:r>
            <a:endParaRPr lang="en-US" sz="1360" dirty="0"/>
          </a:p>
        </p:txBody>
      </p:sp>
      <p:sp>
        <p:nvSpPr>
          <p:cNvPr id="44" name="Shape 42"/>
          <p:cNvSpPr/>
          <p:nvPr/>
        </p:nvSpPr>
        <p:spPr>
          <a:xfrm>
            <a:off x="7717536" y="3657600"/>
            <a:ext cx="3968496" cy="553212"/>
          </a:xfrm>
          <a:prstGeom prst="rect">
            <a:avLst>
              <a:gd name="adj" fmla="val 13223"/>
            </a:avLst>
          </a:prstGeom>
          <a:solidFill>
            <a:srgbClr val="F3F4F6"/>
          </a:solidFill>
          <a:ln w="8890">
            <a:solidFill>
              <a:srgbClr val="FFFFFF"/>
            </a:solidFill>
            <a:prstDash val="solid"/>
          </a:ln>
        </p:spPr>
      </p:sp>
      <p:sp>
        <p:nvSpPr>
          <p:cNvPr id="45" name="Text 43"/>
          <p:cNvSpPr/>
          <p:nvPr/>
        </p:nvSpPr>
        <p:spPr>
          <a:xfrm>
            <a:off x="7808976" y="3735324"/>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Engineering knowledge is adjacent; do not claim simulation replacement.</a:t>
            </a:r>
            <a:endParaRPr lang="en-US" sz="1360" dirty="0"/>
          </a:p>
        </p:txBody>
      </p:sp>
      <p:sp>
        <p:nvSpPr>
          <p:cNvPr id="46" name="Shape 44"/>
          <p:cNvSpPr/>
          <p:nvPr/>
        </p:nvSpPr>
        <p:spPr>
          <a:xfrm>
            <a:off x="502920" y="4210812"/>
            <a:ext cx="1508760" cy="553212"/>
          </a:xfrm>
          <a:prstGeom prst="rect">
            <a:avLst>
              <a:gd name="adj" fmla="val 13223"/>
            </a:avLst>
          </a:prstGeom>
          <a:solidFill>
            <a:srgbClr val="FFFFFF"/>
          </a:solidFill>
          <a:ln w="8890">
            <a:solidFill>
              <a:srgbClr val="FFFFFF"/>
            </a:solidFill>
            <a:prstDash val="solid"/>
          </a:ln>
        </p:spPr>
      </p:sp>
      <p:sp>
        <p:nvSpPr>
          <p:cNvPr id="47" name="Text 45"/>
          <p:cNvSpPr/>
          <p:nvPr/>
        </p:nvSpPr>
        <p:spPr>
          <a:xfrm>
            <a:off x="594360" y="4288536"/>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Aible / enterprise AI</a:t>
            </a:r>
            <a:endParaRPr lang="en-US" sz="1360" dirty="0"/>
          </a:p>
        </p:txBody>
      </p:sp>
      <p:sp>
        <p:nvSpPr>
          <p:cNvPr id="48" name="Shape 46"/>
          <p:cNvSpPr/>
          <p:nvPr/>
        </p:nvSpPr>
        <p:spPr>
          <a:xfrm>
            <a:off x="2011680" y="4210812"/>
            <a:ext cx="2304288" cy="553212"/>
          </a:xfrm>
          <a:prstGeom prst="rect">
            <a:avLst>
              <a:gd name="adj" fmla="val 13223"/>
            </a:avLst>
          </a:prstGeom>
          <a:solidFill>
            <a:srgbClr val="FFFFFF"/>
          </a:solidFill>
          <a:ln w="8890">
            <a:solidFill>
              <a:srgbClr val="FFFFFF"/>
            </a:solidFill>
            <a:prstDash val="solid"/>
          </a:ln>
        </p:spPr>
      </p:sp>
      <p:sp>
        <p:nvSpPr>
          <p:cNvPr id="49" name="Text 47"/>
          <p:cNvSpPr/>
          <p:nvPr/>
        </p:nvSpPr>
        <p:spPr>
          <a:xfrm>
            <a:off x="2103120" y="4288536"/>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DGX Spark → Google Cloud</a:t>
            </a:r>
            <a:endParaRPr lang="en-US" sz="1360" dirty="0"/>
          </a:p>
        </p:txBody>
      </p:sp>
      <p:sp>
        <p:nvSpPr>
          <p:cNvPr id="50" name="Shape 48"/>
          <p:cNvSpPr/>
          <p:nvPr/>
        </p:nvSpPr>
        <p:spPr>
          <a:xfrm>
            <a:off x="4315968" y="4210812"/>
            <a:ext cx="3401568" cy="553212"/>
          </a:xfrm>
          <a:prstGeom prst="rect">
            <a:avLst>
              <a:gd name="adj" fmla="val 13223"/>
            </a:avLst>
          </a:prstGeom>
          <a:solidFill>
            <a:srgbClr val="FFFFFF"/>
          </a:solidFill>
          <a:ln w="8890">
            <a:solidFill>
              <a:srgbClr val="FFFFFF"/>
            </a:solidFill>
            <a:prstDash val="solid"/>
          </a:ln>
        </p:spPr>
      </p:sp>
      <p:sp>
        <p:nvSpPr>
          <p:cNvPr id="51" name="Text 49"/>
          <p:cNvSpPr/>
          <p:nvPr/>
        </p:nvSpPr>
        <p:spPr>
          <a:xfrm>
            <a:off x="4407408" y="4288536"/>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Air-gapped agent prototyping; cloud production path</a:t>
            </a:r>
            <a:endParaRPr lang="en-US" sz="1360" dirty="0"/>
          </a:p>
        </p:txBody>
      </p:sp>
      <p:sp>
        <p:nvSpPr>
          <p:cNvPr id="52" name="Shape 50"/>
          <p:cNvSpPr/>
          <p:nvPr/>
        </p:nvSpPr>
        <p:spPr>
          <a:xfrm>
            <a:off x="7717536" y="4210812"/>
            <a:ext cx="3968496" cy="553212"/>
          </a:xfrm>
          <a:prstGeom prst="rect">
            <a:avLst>
              <a:gd name="adj" fmla="val 13223"/>
            </a:avLst>
          </a:prstGeom>
          <a:solidFill>
            <a:srgbClr val="FFFFFF"/>
          </a:solidFill>
          <a:ln w="8890">
            <a:solidFill>
              <a:srgbClr val="FFFFFF"/>
            </a:solidFill>
            <a:prstDash val="solid"/>
          </a:ln>
        </p:spPr>
      </p:sp>
      <p:sp>
        <p:nvSpPr>
          <p:cNvPr id="53" name="Text 51"/>
          <p:cNvSpPr/>
          <p:nvPr/>
        </p:nvSpPr>
        <p:spPr>
          <a:xfrm>
            <a:off x="7808976" y="4288536"/>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Proof of local evaluation, not a measured on-prem production fleet.</a:t>
            </a:r>
            <a:endParaRPr lang="en-US" sz="1360" dirty="0"/>
          </a:p>
        </p:txBody>
      </p:sp>
      <p:sp>
        <p:nvSpPr>
          <p:cNvPr id="54" name="Shape 52"/>
          <p:cNvSpPr/>
          <p:nvPr/>
        </p:nvSpPr>
        <p:spPr>
          <a:xfrm>
            <a:off x="502920" y="4764024"/>
            <a:ext cx="1508760" cy="553212"/>
          </a:xfrm>
          <a:prstGeom prst="rect">
            <a:avLst>
              <a:gd name="adj" fmla="val 13223"/>
            </a:avLst>
          </a:prstGeom>
          <a:solidFill>
            <a:srgbClr val="F3F4F6"/>
          </a:solidFill>
          <a:ln w="8890">
            <a:solidFill>
              <a:srgbClr val="FFFFFF"/>
            </a:solidFill>
            <a:prstDash val="solid"/>
          </a:ln>
        </p:spPr>
      </p:sp>
      <p:sp>
        <p:nvSpPr>
          <p:cNvPr id="55" name="Text 53"/>
          <p:cNvSpPr/>
          <p:nvPr/>
        </p:nvSpPr>
        <p:spPr>
          <a:xfrm>
            <a:off x="594360" y="4841748"/>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Lowe’s / retail</a:t>
            </a:r>
            <a:endParaRPr lang="en-US" sz="1360" dirty="0"/>
          </a:p>
        </p:txBody>
      </p:sp>
      <p:sp>
        <p:nvSpPr>
          <p:cNvPr id="56" name="Shape 54"/>
          <p:cNvSpPr/>
          <p:nvPr/>
        </p:nvSpPr>
        <p:spPr>
          <a:xfrm>
            <a:off x="2011680" y="4764024"/>
            <a:ext cx="2304288" cy="553212"/>
          </a:xfrm>
          <a:prstGeom prst="rect">
            <a:avLst>
              <a:gd name="adj" fmla="val 13223"/>
            </a:avLst>
          </a:prstGeom>
          <a:solidFill>
            <a:srgbClr val="F3F4F6"/>
          </a:solidFill>
          <a:ln w="8890">
            <a:solidFill>
              <a:srgbClr val="FFFFFF"/>
            </a:solidFill>
            <a:prstDash val="solid"/>
          </a:ln>
        </p:spPr>
      </p:sp>
      <p:sp>
        <p:nvSpPr>
          <p:cNvPr id="57" name="Text 55"/>
          <p:cNvSpPr/>
          <p:nvPr/>
        </p:nvSpPr>
        <p:spPr>
          <a:xfrm>
            <a:off x="2103120" y="4841748"/>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Dell RTX workstations;</a:t>
            </a:r>
            <a:endParaRPr lang="en-US" sz="1360" dirty="0"/>
          </a:p>
          <a:p>
            <a:pPr indent="0" marL="0">
              <a:buNone/>
            </a:pPr>
            <a:r>
              <a:rPr lang="en-US" sz="1360" dirty="0">
                <a:solidFill>
                  <a:srgbClr val="18191D"/>
                </a:solidFill>
                <a:latin typeface="Arial" pitchFamily="34" charset="0"/>
                <a:ea typeface="Arial" pitchFamily="34" charset="-122"/>
                <a:cs typeface="Arial" pitchFamily="34" charset="-120"/>
              </a:rPr>
              <a:t>separate edge servers</a:t>
            </a:r>
            <a:endParaRPr lang="en-US" sz="1360" dirty="0"/>
          </a:p>
        </p:txBody>
      </p:sp>
      <p:sp>
        <p:nvSpPr>
          <p:cNvPr id="58" name="Shape 56"/>
          <p:cNvSpPr/>
          <p:nvPr/>
        </p:nvSpPr>
        <p:spPr>
          <a:xfrm>
            <a:off x="4315968" y="4764024"/>
            <a:ext cx="3401568" cy="553212"/>
          </a:xfrm>
          <a:prstGeom prst="rect">
            <a:avLst>
              <a:gd name="adj" fmla="val 13223"/>
            </a:avLst>
          </a:prstGeom>
          <a:solidFill>
            <a:srgbClr val="F3F4F6"/>
          </a:solidFill>
          <a:ln w="8890">
            <a:solidFill>
              <a:srgbClr val="FFFFFF"/>
            </a:solidFill>
            <a:prstDash val="solid"/>
          </a:ln>
        </p:spPr>
      </p:sp>
      <p:sp>
        <p:nvSpPr>
          <p:cNvPr id="59" name="Text 57"/>
          <p:cNvSpPr/>
          <p:nvPr/>
        </p:nvSpPr>
        <p:spPr>
          <a:xfrm>
            <a:off x="4407408" y="4841748"/>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Digital twins; edge computer vision</a:t>
            </a:r>
            <a:endParaRPr lang="en-US" sz="1360" dirty="0"/>
          </a:p>
        </p:txBody>
      </p:sp>
      <p:sp>
        <p:nvSpPr>
          <p:cNvPr id="60" name="Shape 58"/>
          <p:cNvSpPr/>
          <p:nvPr/>
        </p:nvSpPr>
        <p:spPr>
          <a:xfrm>
            <a:off x="7717536" y="4764024"/>
            <a:ext cx="3968496" cy="553212"/>
          </a:xfrm>
          <a:prstGeom prst="rect">
            <a:avLst>
              <a:gd name="adj" fmla="val 13223"/>
            </a:avLst>
          </a:prstGeom>
          <a:solidFill>
            <a:srgbClr val="F3F4F6"/>
          </a:solidFill>
          <a:ln w="8890">
            <a:solidFill>
              <a:srgbClr val="FFFFFF"/>
            </a:solidFill>
            <a:prstDash val="solid"/>
          </a:ln>
        </p:spPr>
      </p:sp>
      <p:sp>
        <p:nvSpPr>
          <p:cNvPr id="61" name="Text 59"/>
          <p:cNvSpPr/>
          <p:nvPr/>
        </p:nvSpPr>
        <p:spPr>
          <a:xfrm>
            <a:off x="7808976" y="4841748"/>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Product knowledge is an adjacent use; store count is not workstation count.</a:t>
            </a:r>
            <a:endParaRPr lang="en-US" sz="1360" dirty="0"/>
          </a:p>
        </p:txBody>
      </p:sp>
      <p:sp>
        <p:nvSpPr>
          <p:cNvPr id="62" name="Shape 60"/>
          <p:cNvSpPr/>
          <p:nvPr/>
        </p:nvSpPr>
        <p:spPr>
          <a:xfrm>
            <a:off x="502920" y="5317236"/>
            <a:ext cx="1508760" cy="553212"/>
          </a:xfrm>
          <a:prstGeom prst="rect">
            <a:avLst>
              <a:gd name="adj" fmla="val 13223"/>
            </a:avLst>
          </a:prstGeom>
          <a:solidFill>
            <a:srgbClr val="FFFFFF"/>
          </a:solidFill>
          <a:ln w="8890">
            <a:solidFill>
              <a:srgbClr val="FFFFFF"/>
            </a:solidFill>
            <a:prstDash val="solid"/>
          </a:ln>
        </p:spPr>
      </p:sp>
      <p:sp>
        <p:nvSpPr>
          <p:cNvPr id="63" name="Text 61"/>
          <p:cNvSpPr/>
          <p:nvPr/>
        </p:nvSpPr>
        <p:spPr>
          <a:xfrm>
            <a:off x="594360" y="5394960"/>
            <a:ext cx="1325880" cy="425196"/>
          </a:xfrm>
          <a:prstGeom prst="rect">
            <a:avLst/>
          </a:prstGeom>
          <a:noFill/>
          <a:ln/>
        </p:spPr>
        <p:txBody>
          <a:bodyPr wrap="square" lIns="0" tIns="0" rIns="0" bIns="0" rtlCol="0" anchor="ctr"/>
          <a:lstStyle/>
          <a:p>
            <a:pPr indent="0" marL="0">
              <a:buNone/>
            </a:pPr>
            <a:r>
              <a:rPr lang="en-US" sz="1360" b="1" dirty="0">
                <a:solidFill>
                  <a:srgbClr val="18191D"/>
                </a:solidFill>
                <a:latin typeface="Arial" pitchFamily="34" charset="0"/>
                <a:ea typeface="Arial" pitchFamily="34" charset="-122"/>
                <a:cs typeface="Arial" pitchFamily="34" charset="-120"/>
              </a:rPr>
              <a:t>EPRI / energy</a:t>
            </a:r>
            <a:endParaRPr lang="en-US" sz="1360" dirty="0"/>
          </a:p>
        </p:txBody>
      </p:sp>
      <p:sp>
        <p:nvSpPr>
          <p:cNvPr id="64" name="Shape 62"/>
          <p:cNvSpPr/>
          <p:nvPr/>
        </p:nvSpPr>
        <p:spPr>
          <a:xfrm>
            <a:off x="2011680" y="5317236"/>
            <a:ext cx="2304288" cy="553212"/>
          </a:xfrm>
          <a:prstGeom prst="rect">
            <a:avLst>
              <a:gd name="adj" fmla="val 13223"/>
            </a:avLst>
          </a:prstGeom>
          <a:solidFill>
            <a:srgbClr val="FFFFFF"/>
          </a:solidFill>
          <a:ln w="8890">
            <a:solidFill>
              <a:srgbClr val="FFFFFF"/>
            </a:solidFill>
            <a:prstDash val="solid"/>
          </a:ln>
        </p:spPr>
      </p:sp>
      <p:sp>
        <p:nvSpPr>
          <p:cNvPr id="65" name="Text 63"/>
          <p:cNvSpPr/>
          <p:nvPr/>
        </p:nvSpPr>
        <p:spPr>
          <a:xfrm>
            <a:off x="2103120" y="5394960"/>
            <a:ext cx="212140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DGX Station GB300</a:t>
            </a:r>
            <a:endParaRPr lang="en-US" sz="1360" dirty="0"/>
          </a:p>
        </p:txBody>
      </p:sp>
      <p:sp>
        <p:nvSpPr>
          <p:cNvPr id="66" name="Shape 64"/>
          <p:cNvSpPr/>
          <p:nvPr/>
        </p:nvSpPr>
        <p:spPr>
          <a:xfrm>
            <a:off x="4315968" y="5317236"/>
            <a:ext cx="3401568" cy="553212"/>
          </a:xfrm>
          <a:prstGeom prst="rect">
            <a:avLst>
              <a:gd name="adj" fmla="val 13223"/>
            </a:avLst>
          </a:prstGeom>
          <a:solidFill>
            <a:srgbClr val="FFFFFF"/>
          </a:solidFill>
          <a:ln w="8890">
            <a:solidFill>
              <a:srgbClr val="FFFFFF"/>
            </a:solidFill>
            <a:prstDash val="solid"/>
          </a:ln>
        </p:spPr>
      </p:sp>
      <p:sp>
        <p:nvSpPr>
          <p:cNvPr id="67" name="Text 65"/>
          <p:cNvSpPr/>
          <p:nvPr/>
        </p:nvSpPr>
        <p:spPr>
          <a:xfrm>
            <a:off x="4407408" y="5394960"/>
            <a:ext cx="3218688"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Local weather-model execution</a:t>
            </a:r>
            <a:endParaRPr lang="en-US" sz="1360" dirty="0"/>
          </a:p>
        </p:txBody>
      </p:sp>
      <p:sp>
        <p:nvSpPr>
          <p:cNvPr id="68" name="Shape 66"/>
          <p:cNvSpPr/>
          <p:nvPr/>
        </p:nvSpPr>
        <p:spPr>
          <a:xfrm>
            <a:off x="7717536" y="5317236"/>
            <a:ext cx="3968496" cy="553212"/>
          </a:xfrm>
          <a:prstGeom prst="rect">
            <a:avLst>
              <a:gd name="adj" fmla="val 13223"/>
            </a:avLst>
          </a:prstGeom>
          <a:solidFill>
            <a:srgbClr val="FFFFFF"/>
          </a:solidFill>
          <a:ln w="8890">
            <a:solidFill>
              <a:srgbClr val="FFFFFF"/>
            </a:solidFill>
            <a:prstDash val="solid"/>
          </a:ln>
        </p:spPr>
      </p:sp>
      <p:sp>
        <p:nvSpPr>
          <p:cNvPr id="69" name="Text 67"/>
          <p:cNvSpPr/>
          <p:nvPr/>
        </p:nvSpPr>
        <p:spPr>
          <a:xfrm>
            <a:off x="7808976" y="5394960"/>
            <a:ext cx="3785616" cy="425196"/>
          </a:xfrm>
          <a:prstGeom prst="rect">
            <a:avLst/>
          </a:prstGeom>
          <a:noFill/>
          <a:ln/>
        </p:spPr>
        <p:txBody>
          <a:bodyPr wrap="square" lIns="0" tIns="0" rIns="0" bIns="0" rtlCol="0" anchor="ctr"/>
          <a:lstStyle/>
          <a:p>
            <a:pPr indent="0" marL="0">
              <a:buNone/>
            </a:pPr>
            <a:r>
              <a:rPr lang="en-US" sz="1360" dirty="0">
                <a:solidFill>
                  <a:srgbClr val="18191D"/>
                </a:solidFill>
                <a:latin typeface="Arial" pitchFamily="34" charset="0"/>
                <a:ea typeface="Arial" pitchFamily="34" charset="-122"/>
                <a:cs typeface="Arial" pitchFamily="34" charset="-120"/>
              </a:rPr>
              <a:t>Confirms Station use; weather timing is not generation TTFT.</a:t>
            </a:r>
            <a:endParaRPr lang="en-US" sz="13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REVENUE BOUNDARY</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NVIDIA discloses Edge revenue—not its vertical allocation.</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Q2 FY2027 • quarter ended 26 July 2026 • market-platform reporting, USD billions.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Do not call all Edge Computing “enterprise edge AI”; do not allocate it using customer-logo counts.</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[S01]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§15</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M03</a:t>
            </a:r>
            <a:endParaRPr lang="en-US" sz="920" dirty="0"/>
          </a:p>
        </p:txBody>
      </p:sp>
      <p:sp>
        <p:nvSpPr>
          <p:cNvPr id="14" name="Shape 12"/>
          <p:cNvSpPr/>
          <p:nvPr/>
        </p:nvSpPr>
        <p:spPr>
          <a:xfrm>
            <a:off x="502920" y="2103120"/>
            <a:ext cx="3630168" cy="1170432"/>
          </a:xfrm>
          <a:prstGeom prst="rect">
            <a:avLst>
              <a:gd name="adj" fmla="val 6250"/>
            </a:avLst>
          </a:prstGeom>
          <a:solidFill>
            <a:srgbClr val="F3F4F6"/>
          </a:solidFill>
          <a:ln w="12700">
            <a:solidFill>
              <a:srgbClr val="F3F4F6"/>
            </a:solidFill>
            <a:prstDash val="solid"/>
          </a:ln>
        </p:spPr>
      </p:sp>
      <p:sp>
        <p:nvSpPr>
          <p:cNvPr id="15" name="Text 13"/>
          <p:cNvSpPr/>
          <p:nvPr/>
        </p:nvSpPr>
        <p:spPr>
          <a:xfrm>
            <a:off x="685800" y="2295144"/>
            <a:ext cx="3264408" cy="448056"/>
          </a:xfrm>
          <a:prstGeom prst="rect">
            <a:avLst/>
          </a:prstGeom>
          <a:noFill/>
          <a:ln/>
        </p:spPr>
        <p:txBody>
          <a:bodyPr wrap="square" lIns="0" tIns="0" rIns="0" bIns="0" rtlCol="0" anchor="ctr"/>
          <a:lstStyle/>
          <a:p>
            <a:pPr indent="0" marL="0">
              <a:buNone/>
            </a:pPr>
            <a:r>
              <a:rPr lang="en-US" sz="3300" b="1" dirty="0">
                <a:solidFill>
                  <a:srgbClr val="18191D"/>
                </a:solidFill>
                <a:latin typeface="Arial" pitchFamily="34" charset="0"/>
                <a:ea typeface="Arial" pitchFamily="34" charset="-122"/>
                <a:cs typeface="Arial" pitchFamily="34" charset="-120"/>
              </a:rPr>
              <a:t>$96.221B</a:t>
            </a:r>
            <a:endParaRPr lang="en-US" sz="3300" dirty="0"/>
          </a:p>
        </p:txBody>
      </p:sp>
      <p:sp>
        <p:nvSpPr>
          <p:cNvPr id="16" name="Text 14"/>
          <p:cNvSpPr/>
          <p:nvPr/>
        </p:nvSpPr>
        <p:spPr>
          <a:xfrm>
            <a:off x="685800" y="2834640"/>
            <a:ext cx="3264408" cy="228600"/>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Total revenue</a:t>
            </a:r>
            <a:endParaRPr lang="en-US" sz="1600" dirty="0"/>
          </a:p>
        </p:txBody>
      </p:sp>
      <p:sp>
        <p:nvSpPr>
          <p:cNvPr id="17" name="Shape 15"/>
          <p:cNvSpPr/>
          <p:nvPr/>
        </p:nvSpPr>
        <p:spPr>
          <a:xfrm>
            <a:off x="4279392" y="2103120"/>
            <a:ext cx="3630168" cy="1170432"/>
          </a:xfrm>
          <a:prstGeom prst="rect">
            <a:avLst>
              <a:gd name="adj" fmla="val 6250"/>
            </a:avLst>
          </a:prstGeom>
          <a:solidFill>
            <a:srgbClr val="F3F4F6"/>
          </a:solidFill>
          <a:ln w="12700">
            <a:solidFill>
              <a:srgbClr val="F3F4F6"/>
            </a:solidFill>
            <a:prstDash val="solid"/>
          </a:ln>
        </p:spPr>
      </p:sp>
      <p:sp>
        <p:nvSpPr>
          <p:cNvPr id="18" name="Text 16"/>
          <p:cNvSpPr/>
          <p:nvPr/>
        </p:nvSpPr>
        <p:spPr>
          <a:xfrm>
            <a:off x="4462272" y="2295144"/>
            <a:ext cx="3264408" cy="448056"/>
          </a:xfrm>
          <a:prstGeom prst="rect">
            <a:avLst/>
          </a:prstGeom>
          <a:noFill/>
          <a:ln/>
        </p:spPr>
        <p:txBody>
          <a:bodyPr wrap="square" lIns="0" tIns="0" rIns="0" bIns="0" rtlCol="0" anchor="ctr"/>
          <a:lstStyle/>
          <a:p>
            <a:pPr indent="0" marL="0">
              <a:buNone/>
            </a:pPr>
            <a:r>
              <a:rPr lang="en-US" sz="3300" b="1" dirty="0">
                <a:solidFill>
                  <a:srgbClr val="18191D"/>
                </a:solidFill>
                <a:latin typeface="Arial" pitchFamily="34" charset="0"/>
                <a:ea typeface="Arial" pitchFamily="34" charset="-122"/>
                <a:cs typeface="Arial" pitchFamily="34" charset="-120"/>
              </a:rPr>
              <a:t>$89.023B</a:t>
            </a:r>
            <a:endParaRPr lang="en-US" sz="3300" dirty="0"/>
          </a:p>
        </p:txBody>
      </p:sp>
      <p:sp>
        <p:nvSpPr>
          <p:cNvPr id="19" name="Text 17"/>
          <p:cNvSpPr/>
          <p:nvPr/>
        </p:nvSpPr>
        <p:spPr>
          <a:xfrm>
            <a:off x="4462272" y="2834640"/>
            <a:ext cx="3264408" cy="228600"/>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Data Center</a:t>
            </a:r>
            <a:endParaRPr lang="en-US" sz="1600" dirty="0"/>
          </a:p>
        </p:txBody>
      </p:sp>
      <p:sp>
        <p:nvSpPr>
          <p:cNvPr id="20" name="Shape 18"/>
          <p:cNvSpPr/>
          <p:nvPr/>
        </p:nvSpPr>
        <p:spPr>
          <a:xfrm>
            <a:off x="8055864" y="2103120"/>
            <a:ext cx="3630168" cy="1170432"/>
          </a:xfrm>
          <a:prstGeom prst="rect">
            <a:avLst>
              <a:gd name="adj" fmla="val 6250"/>
            </a:avLst>
          </a:prstGeom>
          <a:solidFill>
            <a:srgbClr val="E31837"/>
          </a:solidFill>
          <a:ln w="12700">
            <a:solidFill>
              <a:srgbClr val="E31837"/>
            </a:solidFill>
            <a:prstDash val="solid"/>
          </a:ln>
        </p:spPr>
      </p:sp>
      <p:sp>
        <p:nvSpPr>
          <p:cNvPr id="21" name="Text 19"/>
          <p:cNvSpPr/>
          <p:nvPr/>
        </p:nvSpPr>
        <p:spPr>
          <a:xfrm>
            <a:off x="8238744" y="2295144"/>
            <a:ext cx="3264408" cy="448056"/>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$7.198B</a:t>
            </a:r>
            <a:endParaRPr lang="en-US" sz="3300" dirty="0"/>
          </a:p>
        </p:txBody>
      </p:sp>
      <p:sp>
        <p:nvSpPr>
          <p:cNvPr id="22" name="Text 20"/>
          <p:cNvSpPr/>
          <p:nvPr/>
        </p:nvSpPr>
        <p:spPr>
          <a:xfrm>
            <a:off x="8238744" y="2834640"/>
            <a:ext cx="3264408" cy="2286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Edge Computing</a:t>
            </a:r>
            <a:endParaRPr lang="en-US" sz="1600" dirty="0"/>
          </a:p>
        </p:txBody>
      </p:sp>
      <p:sp>
        <p:nvSpPr>
          <p:cNvPr id="23" name="Text 21"/>
          <p:cNvSpPr/>
          <p:nvPr/>
        </p:nvSpPr>
        <p:spPr>
          <a:xfrm>
            <a:off x="548640" y="3557016"/>
            <a:ext cx="6400800" cy="292608"/>
          </a:xfrm>
          <a:prstGeom prst="rect">
            <a:avLst/>
          </a:prstGeom>
          <a:noFill/>
          <a:ln/>
        </p:spPr>
        <p:txBody>
          <a:bodyPr wrap="square" lIns="0" tIns="0" rIns="0" bIns="0" rtlCol="0" anchor="ctr"/>
          <a:lstStyle/>
          <a:p>
            <a:pPr indent="0" marL="0">
              <a:buNone/>
            </a:pPr>
            <a:r>
              <a:rPr lang="en-US" sz="2000" b="1" dirty="0">
                <a:solidFill>
                  <a:srgbClr val="18191D"/>
                </a:solidFill>
                <a:latin typeface="Arial" pitchFamily="34" charset="0"/>
                <a:ea typeface="Arial" pitchFamily="34" charset="-122"/>
                <a:cs typeface="Arial" pitchFamily="34" charset="-120"/>
              </a:rPr>
              <a:t>Edge = 7.48% of total (calculated)</a:t>
            </a:r>
            <a:endParaRPr lang="en-US" sz="2000" dirty="0"/>
          </a:p>
        </p:txBody>
      </p:sp>
      <p:sp>
        <p:nvSpPr>
          <p:cNvPr id="24" name="Shape 22"/>
          <p:cNvSpPr/>
          <p:nvPr/>
        </p:nvSpPr>
        <p:spPr>
          <a:xfrm>
            <a:off x="548640" y="3986784"/>
            <a:ext cx="6437376" cy="457200"/>
          </a:xfrm>
          <a:prstGeom prst="rect">
            <a:avLst>
              <a:gd name="adj" fmla="val 16000"/>
            </a:avLst>
          </a:prstGeom>
          <a:solidFill>
            <a:srgbClr val="18191D"/>
          </a:solidFill>
          <a:ln w="12700">
            <a:solidFill>
              <a:srgbClr val="18191D"/>
            </a:solidFill>
            <a:prstDash val="solid"/>
          </a:ln>
        </p:spPr>
      </p:sp>
      <p:sp>
        <p:nvSpPr>
          <p:cNvPr id="25" name="Shape 23"/>
          <p:cNvSpPr/>
          <p:nvPr/>
        </p:nvSpPr>
        <p:spPr>
          <a:xfrm>
            <a:off x="6504456" y="3986784"/>
            <a:ext cx="481560" cy="457200"/>
          </a:xfrm>
          <a:prstGeom prst="rect">
            <a:avLst>
              <a:gd name="adj" fmla="val 16000"/>
            </a:avLst>
          </a:prstGeom>
          <a:solidFill>
            <a:srgbClr val="E31837"/>
          </a:solidFill>
          <a:ln w="12700">
            <a:solidFill>
              <a:srgbClr val="E31837"/>
            </a:solidFill>
            <a:prstDash val="solid"/>
          </a:ln>
        </p:spPr>
      </p:sp>
      <p:sp>
        <p:nvSpPr>
          <p:cNvPr id="26" name="Text 24"/>
          <p:cNvSpPr/>
          <p:nvPr/>
        </p:nvSpPr>
        <p:spPr>
          <a:xfrm>
            <a:off x="548640" y="4562856"/>
            <a:ext cx="3657600" cy="274320"/>
          </a:xfrm>
          <a:prstGeom prst="rect">
            <a:avLst/>
          </a:prstGeom>
          <a:noFill/>
          <a:ln/>
        </p:spPr>
        <p:txBody>
          <a:bodyPr wrap="square" lIns="0" tIns="0" rIns="0" bIns="0" rtlCol="0" anchor="ctr"/>
          <a:lstStyle/>
          <a:p>
            <a:pPr indent="0" marL="0">
              <a:buNone/>
            </a:pPr>
            <a:r>
              <a:rPr lang="en-US" sz="1400" dirty="0">
                <a:solidFill>
                  <a:srgbClr val="5B6169"/>
                </a:solidFill>
                <a:latin typeface="Arial" pitchFamily="34" charset="0"/>
                <a:ea typeface="Arial" pitchFamily="34" charset="-122"/>
                <a:cs typeface="Arial" pitchFamily="34" charset="-120"/>
              </a:rPr>
              <a:t>Data Center</a:t>
            </a:r>
            <a:endParaRPr lang="en-US" sz="1400" dirty="0"/>
          </a:p>
        </p:txBody>
      </p:sp>
      <p:sp>
        <p:nvSpPr>
          <p:cNvPr id="27" name="Text 25"/>
          <p:cNvSpPr/>
          <p:nvPr/>
        </p:nvSpPr>
        <p:spPr>
          <a:xfrm>
            <a:off x="5897880" y="4562856"/>
            <a:ext cx="1097280" cy="274320"/>
          </a:xfrm>
          <a:prstGeom prst="rect">
            <a:avLst/>
          </a:prstGeom>
          <a:noFill/>
          <a:ln/>
        </p:spPr>
        <p:txBody>
          <a:bodyPr wrap="square" lIns="0" tIns="0" rIns="0" bIns="0" rtlCol="0" anchor="ctr"/>
          <a:lstStyle/>
          <a:p>
            <a:pPr algn="r" indent="0" marL="0">
              <a:buNone/>
            </a:pPr>
            <a:r>
              <a:rPr lang="en-US" sz="1400" b="1" dirty="0">
                <a:solidFill>
                  <a:srgbClr val="E31837"/>
                </a:solidFill>
                <a:latin typeface="Arial" pitchFamily="34" charset="0"/>
                <a:ea typeface="Arial" pitchFamily="34" charset="-122"/>
                <a:cs typeface="Arial" pitchFamily="34" charset="-120"/>
              </a:rPr>
              <a:t>Edge</a:t>
            </a:r>
            <a:endParaRPr lang="en-US" sz="1400" dirty="0"/>
          </a:p>
        </p:txBody>
      </p:sp>
      <p:sp>
        <p:nvSpPr>
          <p:cNvPr id="28" name="Shape 26"/>
          <p:cNvSpPr/>
          <p:nvPr/>
        </p:nvSpPr>
        <p:spPr>
          <a:xfrm>
            <a:off x="7351776" y="3584448"/>
            <a:ext cx="4334256" cy="2020824"/>
          </a:xfrm>
          <a:prstGeom prst="rect">
            <a:avLst>
              <a:gd name="adj" fmla="val 3620"/>
            </a:avLst>
          </a:prstGeom>
          <a:solidFill>
            <a:srgbClr val="F3F4F6"/>
          </a:solidFill>
          <a:ln w="12700">
            <a:solidFill>
              <a:srgbClr val="F3F4F6"/>
            </a:solidFill>
            <a:prstDash val="solid"/>
          </a:ln>
        </p:spPr>
      </p:sp>
      <p:sp>
        <p:nvSpPr>
          <p:cNvPr id="29" name="Text 27"/>
          <p:cNvSpPr/>
          <p:nvPr/>
        </p:nvSpPr>
        <p:spPr>
          <a:xfrm>
            <a:off x="7543800" y="3749040"/>
            <a:ext cx="3904488" cy="237744"/>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NOT DISCLOSED</a:t>
            </a:r>
            <a:endParaRPr lang="en-US" sz="1300" dirty="0"/>
          </a:p>
        </p:txBody>
      </p:sp>
      <p:sp>
        <p:nvSpPr>
          <p:cNvPr id="30" name="Text 28"/>
          <p:cNvSpPr/>
          <p:nvPr/>
        </p:nvSpPr>
        <p:spPr>
          <a:xfrm>
            <a:off x="7543800" y="4206240"/>
            <a:ext cx="3904488" cy="1106424"/>
          </a:xfrm>
          <a:prstGeom prst="rect">
            <a:avLst/>
          </a:prstGeom>
          <a:noFill/>
          <a:ln/>
        </p:spPr>
        <p:txBody>
          <a:bodyPr wrap="square" lIns="0" tIns="0" rIns="0" bIns="0" rtlCol="0" anchor="ctr"/>
          <a:lstStyle/>
          <a:p>
            <a:pPr indent="0" marL="0">
              <a:buNone/>
            </a:pPr>
            <a:r>
              <a:rPr lang="en-US" sz="1700" dirty="0">
                <a:solidFill>
                  <a:srgbClr val="18191D"/>
                </a:solidFill>
                <a:latin typeface="Arial" pitchFamily="34" charset="0"/>
                <a:ea typeface="Arial" pitchFamily="34" charset="-122"/>
                <a:cs typeface="Arial" pitchFamily="34" charset="-120"/>
              </a:rPr>
              <a:t>Banking / insurance / energy / retail shares</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Spark-only or RTX AI-workstation-only sales</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Revenue attributable to named customers</a:t>
            </a:r>
            <a:endParaRPr lang="en-US" sz="1700" dirty="0"/>
          </a:p>
        </p:txBody>
      </p:sp>
      <p:sp>
        <p:nvSpPr>
          <p:cNvPr id="31" name="Text 29"/>
          <p:cNvSpPr/>
          <p:nvPr/>
        </p:nvSpPr>
        <p:spPr>
          <a:xfrm>
            <a:off x="548640" y="5138928"/>
            <a:ext cx="6400800" cy="548640"/>
          </a:xfrm>
          <a:prstGeom prst="rect">
            <a:avLst/>
          </a:prstGeom>
          <a:noFill/>
          <a:ln/>
        </p:spPr>
        <p:txBody>
          <a:bodyPr wrap="square" lIns="0" tIns="0" rIns="0" bIns="0" rtlCol="0" anchor="ctr"/>
          <a:lstStyle/>
          <a:p>
            <a:pPr indent="0" marL="0">
              <a:buNone/>
            </a:pPr>
            <a:r>
              <a:rPr lang="en-US" sz="1500" dirty="0">
                <a:solidFill>
                  <a:srgbClr val="5B6169"/>
                </a:solidFill>
                <a:latin typeface="Arial" pitchFamily="34" charset="0"/>
                <a:ea typeface="Arial" pitchFamily="34" charset="-122"/>
                <a:cs typeface="Arial" pitchFamily="34" charset="-120"/>
              </a:rPr>
              <a:t>The filing links Edge growth to Blackwell workstations and notes consumer-PC price pressure.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VERTICAL PRIORITY</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Prioritize vertical workflows with public demand signals.</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The requested industry revenue split is unavailable. The actionable alternative is a workload-led prospect map.</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Finance, manufacturing knowledge and energy lead the V3 priority; qualification and a funded buyer decide.</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[S01] [S02] [S04] [S06] [S07] [S08] [S09]</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§16–17</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M04</a:t>
            </a:r>
            <a:endParaRPr lang="en-US" sz="920" dirty="0"/>
          </a:p>
        </p:txBody>
      </p:sp>
      <p:sp>
        <p:nvSpPr>
          <p:cNvPr id="14" name="Shape 12"/>
          <p:cNvSpPr/>
          <p:nvPr/>
        </p:nvSpPr>
        <p:spPr>
          <a:xfrm>
            <a:off x="502920" y="2103120"/>
            <a:ext cx="1645920"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67128"/>
            <a:ext cx="146304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Vertical / V3 rank</a:t>
            </a:r>
            <a:endParaRPr lang="en-US" sz="1180" dirty="0"/>
          </a:p>
        </p:txBody>
      </p:sp>
      <p:sp>
        <p:nvSpPr>
          <p:cNvPr id="16" name="Shape 14"/>
          <p:cNvSpPr/>
          <p:nvPr/>
        </p:nvSpPr>
        <p:spPr>
          <a:xfrm>
            <a:off x="2148840" y="2103120"/>
            <a:ext cx="1874520"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2240280" y="2167128"/>
            <a:ext cx="169164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Public company signal</a:t>
            </a:r>
            <a:endParaRPr lang="en-US" sz="1180" dirty="0"/>
          </a:p>
        </p:txBody>
      </p:sp>
      <p:sp>
        <p:nvSpPr>
          <p:cNvPr id="18" name="Shape 16"/>
          <p:cNvSpPr/>
          <p:nvPr/>
        </p:nvSpPr>
        <p:spPr>
          <a:xfrm>
            <a:off x="4023360" y="2103120"/>
            <a:ext cx="2990088"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4114800" y="2167128"/>
            <a:ext cx="2807208"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Platform evidence</a:t>
            </a:r>
            <a:endParaRPr lang="en-US" sz="1180" dirty="0"/>
          </a:p>
        </p:txBody>
      </p:sp>
      <p:sp>
        <p:nvSpPr>
          <p:cNvPr id="20" name="Shape 18"/>
          <p:cNvSpPr/>
          <p:nvPr/>
        </p:nvSpPr>
        <p:spPr>
          <a:xfrm>
            <a:off x="7013448" y="2103120"/>
            <a:ext cx="1508760"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7104888" y="2167128"/>
            <a:ext cx="132588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Share of NVIDIA Edge</a:t>
            </a:r>
            <a:endParaRPr lang="en-US" sz="1180" dirty="0"/>
          </a:p>
        </p:txBody>
      </p:sp>
      <p:sp>
        <p:nvSpPr>
          <p:cNvPr id="22" name="Shape 20"/>
          <p:cNvSpPr/>
          <p:nvPr/>
        </p:nvSpPr>
        <p:spPr>
          <a:xfrm>
            <a:off x="8522208" y="2103120"/>
            <a:ext cx="3163824" cy="438912"/>
          </a:xfrm>
          <a:prstGeom prst="rect">
            <a:avLst>
              <a:gd name="adj" fmla="val 16667"/>
            </a:avLst>
          </a:prstGeom>
          <a:solidFill>
            <a:srgbClr val="18191D"/>
          </a:solidFill>
          <a:ln w="12700">
            <a:solidFill>
              <a:srgbClr val="18191D"/>
            </a:solidFill>
            <a:prstDash val="solid"/>
          </a:ln>
        </p:spPr>
      </p:sp>
      <p:sp>
        <p:nvSpPr>
          <p:cNvPr id="23" name="Text 21"/>
          <p:cNvSpPr/>
          <p:nvPr/>
        </p:nvSpPr>
        <p:spPr>
          <a:xfrm>
            <a:off x="8613648" y="2167128"/>
            <a:ext cx="2980944"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Candidate ATMOS entry</a:t>
            </a:r>
            <a:endParaRPr lang="en-US" sz="1180" dirty="0"/>
          </a:p>
        </p:txBody>
      </p:sp>
      <p:sp>
        <p:nvSpPr>
          <p:cNvPr id="24" name="Shape 22"/>
          <p:cNvSpPr/>
          <p:nvPr/>
        </p:nvSpPr>
        <p:spPr>
          <a:xfrm>
            <a:off x="502920" y="2542032"/>
            <a:ext cx="1645920" cy="557784"/>
          </a:xfrm>
          <a:prstGeom prst="rect">
            <a:avLst>
              <a:gd name="adj" fmla="val 13115"/>
            </a:avLst>
          </a:prstGeom>
          <a:solidFill>
            <a:srgbClr val="F3F4F6"/>
          </a:solidFill>
          <a:ln w="8890">
            <a:solidFill>
              <a:srgbClr val="FFFFFF"/>
            </a:solidFill>
            <a:prstDash val="solid"/>
          </a:ln>
        </p:spPr>
      </p:sp>
      <p:sp>
        <p:nvSpPr>
          <p:cNvPr id="25" name="Text 23"/>
          <p:cNvSpPr/>
          <p:nvPr/>
        </p:nvSpPr>
        <p:spPr>
          <a:xfrm>
            <a:off x="594360" y="2619756"/>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Finance / insurance · 1</a:t>
            </a:r>
            <a:endParaRPr lang="en-US" sz="1300" dirty="0"/>
          </a:p>
        </p:txBody>
      </p:sp>
      <p:sp>
        <p:nvSpPr>
          <p:cNvPr id="26" name="Shape 24"/>
          <p:cNvSpPr/>
          <p:nvPr/>
        </p:nvSpPr>
        <p:spPr>
          <a:xfrm>
            <a:off x="2148840" y="2542032"/>
            <a:ext cx="1874520" cy="557784"/>
          </a:xfrm>
          <a:prstGeom prst="rect">
            <a:avLst>
              <a:gd name="adj" fmla="val 13115"/>
            </a:avLst>
          </a:prstGeom>
          <a:solidFill>
            <a:srgbClr val="F3F4F6"/>
          </a:solidFill>
          <a:ln w="8890">
            <a:solidFill>
              <a:srgbClr val="FFFFFF"/>
            </a:solidFill>
            <a:prstDash val="solid"/>
          </a:ln>
        </p:spPr>
      </p:sp>
      <p:sp>
        <p:nvSpPr>
          <p:cNvPr id="27" name="Text 25"/>
          <p:cNvSpPr/>
          <p:nvPr/>
        </p:nvSpPr>
        <p:spPr>
          <a:xfrm>
            <a:off x="2240280" y="2619756"/>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Nasdaq</a:t>
            </a:r>
            <a:endParaRPr lang="en-US" sz="1300" dirty="0"/>
          </a:p>
        </p:txBody>
      </p:sp>
      <p:sp>
        <p:nvSpPr>
          <p:cNvPr id="28" name="Shape 26"/>
          <p:cNvSpPr/>
          <p:nvPr/>
        </p:nvSpPr>
        <p:spPr>
          <a:xfrm>
            <a:off x="4023360" y="2542032"/>
            <a:ext cx="2990088" cy="557784"/>
          </a:xfrm>
          <a:prstGeom prst="rect">
            <a:avLst>
              <a:gd name="adj" fmla="val 13115"/>
            </a:avLst>
          </a:prstGeom>
          <a:solidFill>
            <a:srgbClr val="F3F4F6"/>
          </a:solidFill>
          <a:ln w="8890">
            <a:solidFill>
              <a:srgbClr val="FFFFFF"/>
            </a:solidFill>
            <a:prstDash val="solid"/>
          </a:ln>
        </p:spPr>
      </p:sp>
      <p:sp>
        <p:nvSpPr>
          <p:cNvPr id="29" name="Text 27"/>
          <p:cNvSpPr/>
          <p:nvPr/>
        </p:nvSpPr>
        <p:spPr>
          <a:xfrm>
            <a:off x="4114800" y="2619756"/>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L40 + NIM / Retriever; no Spark or edge-location proof</a:t>
            </a:r>
            <a:endParaRPr lang="en-US" sz="1300" dirty="0"/>
          </a:p>
        </p:txBody>
      </p:sp>
      <p:sp>
        <p:nvSpPr>
          <p:cNvPr id="30" name="Shape 28"/>
          <p:cNvSpPr/>
          <p:nvPr/>
        </p:nvSpPr>
        <p:spPr>
          <a:xfrm>
            <a:off x="7013448" y="2542032"/>
            <a:ext cx="1508760" cy="557784"/>
          </a:xfrm>
          <a:prstGeom prst="rect">
            <a:avLst>
              <a:gd name="adj" fmla="val 13115"/>
            </a:avLst>
          </a:prstGeom>
          <a:solidFill>
            <a:srgbClr val="F3F4F6"/>
          </a:solidFill>
          <a:ln w="8890">
            <a:solidFill>
              <a:srgbClr val="FFFFFF"/>
            </a:solidFill>
            <a:prstDash val="solid"/>
          </a:ln>
        </p:spPr>
      </p:sp>
      <p:sp>
        <p:nvSpPr>
          <p:cNvPr id="31" name="Text 29"/>
          <p:cNvSpPr/>
          <p:nvPr/>
        </p:nvSpPr>
        <p:spPr>
          <a:xfrm>
            <a:off x="7104888" y="2619756"/>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32" name="Shape 30"/>
          <p:cNvSpPr/>
          <p:nvPr/>
        </p:nvSpPr>
        <p:spPr>
          <a:xfrm>
            <a:off x="8522208" y="2542032"/>
            <a:ext cx="3163824" cy="557784"/>
          </a:xfrm>
          <a:prstGeom prst="rect">
            <a:avLst>
              <a:gd name="adj" fmla="val 13115"/>
            </a:avLst>
          </a:prstGeom>
          <a:solidFill>
            <a:srgbClr val="F3F4F6"/>
          </a:solidFill>
          <a:ln w="8890">
            <a:solidFill>
              <a:srgbClr val="FFFFFF"/>
            </a:solidFill>
            <a:prstDash val="solid"/>
          </a:ln>
        </p:spPr>
      </p:sp>
      <p:sp>
        <p:nvSpPr>
          <p:cNvPr id="33" name="Text 31"/>
          <p:cNvSpPr/>
          <p:nvPr/>
        </p:nvSpPr>
        <p:spPr>
          <a:xfrm>
            <a:off x="8613648" y="2619756"/>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E8/E16: policy, claims and investigation evidence</a:t>
            </a:r>
            <a:endParaRPr lang="en-US" sz="1300" dirty="0"/>
          </a:p>
        </p:txBody>
      </p:sp>
      <p:sp>
        <p:nvSpPr>
          <p:cNvPr id="34" name="Shape 32"/>
          <p:cNvSpPr/>
          <p:nvPr/>
        </p:nvSpPr>
        <p:spPr>
          <a:xfrm>
            <a:off x="502920" y="3099816"/>
            <a:ext cx="1645920" cy="557784"/>
          </a:xfrm>
          <a:prstGeom prst="rect">
            <a:avLst>
              <a:gd name="adj" fmla="val 13115"/>
            </a:avLst>
          </a:prstGeom>
          <a:solidFill>
            <a:srgbClr val="FFFFFF"/>
          </a:solidFill>
          <a:ln w="8890">
            <a:solidFill>
              <a:srgbClr val="FFFFFF"/>
            </a:solidFill>
            <a:prstDash val="solid"/>
          </a:ln>
        </p:spPr>
      </p:sp>
      <p:sp>
        <p:nvSpPr>
          <p:cNvPr id="35" name="Text 33"/>
          <p:cNvSpPr/>
          <p:nvPr/>
        </p:nvSpPr>
        <p:spPr>
          <a:xfrm>
            <a:off x="594360" y="3177540"/>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Industrial knowledge · 2</a:t>
            </a:r>
            <a:endParaRPr lang="en-US" sz="1300" dirty="0"/>
          </a:p>
        </p:txBody>
      </p:sp>
      <p:sp>
        <p:nvSpPr>
          <p:cNvPr id="36" name="Shape 34"/>
          <p:cNvSpPr/>
          <p:nvPr/>
        </p:nvSpPr>
        <p:spPr>
          <a:xfrm>
            <a:off x="2148840" y="3099816"/>
            <a:ext cx="1874520" cy="557784"/>
          </a:xfrm>
          <a:prstGeom prst="rect">
            <a:avLst>
              <a:gd name="adj" fmla="val 13115"/>
            </a:avLst>
          </a:prstGeom>
          <a:solidFill>
            <a:srgbClr val="FFFFFF"/>
          </a:solidFill>
          <a:ln w="8890">
            <a:solidFill>
              <a:srgbClr val="FFFFFF"/>
            </a:solidFill>
            <a:prstDash val="solid"/>
          </a:ln>
        </p:spPr>
      </p:sp>
      <p:sp>
        <p:nvSpPr>
          <p:cNvPr id="37" name="Text 35"/>
          <p:cNvSpPr/>
          <p:nvPr/>
        </p:nvSpPr>
        <p:spPr>
          <a:xfrm>
            <a:off x="2240280" y="3177540"/>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Arup (engineering)</a:t>
            </a:r>
            <a:endParaRPr lang="en-US" sz="1300" dirty="0"/>
          </a:p>
        </p:txBody>
      </p:sp>
      <p:sp>
        <p:nvSpPr>
          <p:cNvPr id="38" name="Shape 36"/>
          <p:cNvSpPr/>
          <p:nvPr/>
        </p:nvSpPr>
        <p:spPr>
          <a:xfrm>
            <a:off x="4023360" y="3099816"/>
            <a:ext cx="2990088" cy="557784"/>
          </a:xfrm>
          <a:prstGeom prst="rect">
            <a:avLst>
              <a:gd name="adj" fmla="val 13115"/>
            </a:avLst>
          </a:prstGeom>
          <a:solidFill>
            <a:srgbClr val="FFFFFF"/>
          </a:solidFill>
          <a:ln w="8890">
            <a:solidFill>
              <a:srgbClr val="FFFFFF"/>
            </a:solidFill>
            <a:prstDash val="solid"/>
          </a:ln>
        </p:spPr>
      </p:sp>
      <p:sp>
        <p:nvSpPr>
          <p:cNvPr id="39" name="Text 37"/>
          <p:cNvSpPr/>
          <p:nvPr/>
        </p:nvSpPr>
        <p:spPr>
          <a:xfrm>
            <a:off x="4114800" y="3177540"/>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Spark GNN design work; factory-knowledge fit is an adjacent hypothesis</a:t>
            </a:r>
            <a:endParaRPr lang="en-US" sz="1300" dirty="0"/>
          </a:p>
        </p:txBody>
      </p:sp>
      <p:sp>
        <p:nvSpPr>
          <p:cNvPr id="40" name="Shape 38"/>
          <p:cNvSpPr/>
          <p:nvPr/>
        </p:nvSpPr>
        <p:spPr>
          <a:xfrm>
            <a:off x="7013448" y="3099816"/>
            <a:ext cx="1508760" cy="557784"/>
          </a:xfrm>
          <a:prstGeom prst="rect">
            <a:avLst>
              <a:gd name="adj" fmla="val 13115"/>
            </a:avLst>
          </a:prstGeom>
          <a:solidFill>
            <a:srgbClr val="FFFFFF"/>
          </a:solidFill>
          <a:ln w="8890">
            <a:solidFill>
              <a:srgbClr val="FFFFFF"/>
            </a:solidFill>
            <a:prstDash val="solid"/>
          </a:ln>
        </p:spPr>
      </p:sp>
      <p:sp>
        <p:nvSpPr>
          <p:cNvPr id="41" name="Text 39"/>
          <p:cNvSpPr/>
          <p:nvPr/>
        </p:nvSpPr>
        <p:spPr>
          <a:xfrm>
            <a:off x="7104888" y="3177540"/>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42" name="Shape 40"/>
          <p:cNvSpPr/>
          <p:nvPr/>
        </p:nvSpPr>
        <p:spPr>
          <a:xfrm>
            <a:off x="8522208" y="3099816"/>
            <a:ext cx="3163824" cy="557784"/>
          </a:xfrm>
          <a:prstGeom prst="rect">
            <a:avLst>
              <a:gd name="adj" fmla="val 13115"/>
            </a:avLst>
          </a:prstGeom>
          <a:solidFill>
            <a:srgbClr val="FFFFFF"/>
          </a:solidFill>
          <a:ln w="8890">
            <a:solidFill>
              <a:srgbClr val="FFFFFF"/>
            </a:solidFill>
            <a:prstDash val="solid"/>
          </a:ln>
        </p:spPr>
      </p:sp>
      <p:sp>
        <p:nvSpPr>
          <p:cNvPr id="43" name="Text 41"/>
          <p:cNvSpPr/>
          <p:nvPr/>
        </p:nvSpPr>
        <p:spPr>
          <a:xfrm>
            <a:off x="8613648" y="3177540"/>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D8/E16: manuals and quality-record search</a:t>
            </a:r>
            <a:endParaRPr lang="en-US" sz="1300" dirty="0"/>
          </a:p>
        </p:txBody>
      </p:sp>
      <p:sp>
        <p:nvSpPr>
          <p:cNvPr id="44" name="Shape 42"/>
          <p:cNvSpPr/>
          <p:nvPr/>
        </p:nvSpPr>
        <p:spPr>
          <a:xfrm>
            <a:off x="502920" y="3657600"/>
            <a:ext cx="1645920" cy="557784"/>
          </a:xfrm>
          <a:prstGeom prst="rect">
            <a:avLst>
              <a:gd name="adj" fmla="val 13115"/>
            </a:avLst>
          </a:prstGeom>
          <a:solidFill>
            <a:srgbClr val="F3F4F6"/>
          </a:solidFill>
          <a:ln w="8890">
            <a:solidFill>
              <a:srgbClr val="FFFFFF"/>
            </a:solidFill>
            <a:prstDash val="solid"/>
          </a:ln>
        </p:spPr>
      </p:sp>
      <p:sp>
        <p:nvSpPr>
          <p:cNvPr id="45" name="Text 43"/>
          <p:cNvSpPr/>
          <p:nvPr/>
        </p:nvSpPr>
        <p:spPr>
          <a:xfrm>
            <a:off x="594360" y="3735324"/>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Energy / utilities · 3</a:t>
            </a:r>
            <a:endParaRPr lang="en-US" sz="1300" dirty="0"/>
          </a:p>
        </p:txBody>
      </p:sp>
      <p:sp>
        <p:nvSpPr>
          <p:cNvPr id="46" name="Shape 44"/>
          <p:cNvSpPr/>
          <p:nvPr/>
        </p:nvSpPr>
        <p:spPr>
          <a:xfrm>
            <a:off x="2148840" y="3657600"/>
            <a:ext cx="1874520" cy="557784"/>
          </a:xfrm>
          <a:prstGeom prst="rect">
            <a:avLst>
              <a:gd name="adj" fmla="val 13115"/>
            </a:avLst>
          </a:prstGeom>
          <a:solidFill>
            <a:srgbClr val="F3F4F6"/>
          </a:solidFill>
          <a:ln w="8890">
            <a:solidFill>
              <a:srgbClr val="FFFFFF"/>
            </a:solidFill>
            <a:prstDash val="solid"/>
          </a:ln>
        </p:spPr>
      </p:sp>
      <p:sp>
        <p:nvSpPr>
          <p:cNvPr id="47" name="Text 45"/>
          <p:cNvSpPr/>
          <p:nvPr/>
        </p:nvSpPr>
        <p:spPr>
          <a:xfrm>
            <a:off x="2240280" y="3735324"/>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EPRI</a:t>
            </a:r>
            <a:endParaRPr lang="en-US" sz="1300" dirty="0"/>
          </a:p>
        </p:txBody>
      </p:sp>
      <p:sp>
        <p:nvSpPr>
          <p:cNvPr id="48" name="Shape 46"/>
          <p:cNvSpPr/>
          <p:nvPr/>
        </p:nvSpPr>
        <p:spPr>
          <a:xfrm>
            <a:off x="4023360" y="3657600"/>
            <a:ext cx="2990088" cy="557784"/>
          </a:xfrm>
          <a:prstGeom prst="rect">
            <a:avLst>
              <a:gd name="adj" fmla="val 13115"/>
            </a:avLst>
          </a:prstGeom>
          <a:solidFill>
            <a:srgbClr val="F3F4F6"/>
          </a:solidFill>
          <a:ln w="8890">
            <a:solidFill>
              <a:srgbClr val="FFFFFF"/>
            </a:solidFill>
            <a:prstDash val="solid"/>
          </a:ln>
        </p:spPr>
      </p:sp>
      <p:sp>
        <p:nvSpPr>
          <p:cNvPr id="49" name="Text 47"/>
          <p:cNvSpPr/>
          <p:nvPr/>
        </p:nvSpPr>
        <p:spPr>
          <a:xfrm>
            <a:off x="4114800" y="3735324"/>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GB10 local knowledge service</a:t>
            </a:r>
            <a:endParaRPr lang="en-US" sz="1300" dirty="0"/>
          </a:p>
        </p:txBody>
      </p:sp>
      <p:sp>
        <p:nvSpPr>
          <p:cNvPr id="50" name="Shape 48"/>
          <p:cNvSpPr/>
          <p:nvPr/>
        </p:nvSpPr>
        <p:spPr>
          <a:xfrm>
            <a:off x="7013448" y="3657600"/>
            <a:ext cx="1508760" cy="557784"/>
          </a:xfrm>
          <a:prstGeom prst="rect">
            <a:avLst>
              <a:gd name="adj" fmla="val 13115"/>
            </a:avLst>
          </a:prstGeom>
          <a:solidFill>
            <a:srgbClr val="F3F4F6"/>
          </a:solidFill>
          <a:ln w="8890">
            <a:solidFill>
              <a:srgbClr val="FFFFFF"/>
            </a:solidFill>
            <a:prstDash val="solid"/>
          </a:ln>
        </p:spPr>
      </p:sp>
      <p:sp>
        <p:nvSpPr>
          <p:cNvPr id="51" name="Text 49"/>
          <p:cNvSpPr/>
          <p:nvPr/>
        </p:nvSpPr>
        <p:spPr>
          <a:xfrm>
            <a:off x="7104888" y="3735324"/>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52" name="Shape 50"/>
          <p:cNvSpPr/>
          <p:nvPr/>
        </p:nvSpPr>
        <p:spPr>
          <a:xfrm>
            <a:off x="8522208" y="3657600"/>
            <a:ext cx="3163824" cy="557784"/>
          </a:xfrm>
          <a:prstGeom prst="rect">
            <a:avLst>
              <a:gd name="adj" fmla="val 13115"/>
            </a:avLst>
          </a:prstGeom>
          <a:solidFill>
            <a:srgbClr val="F3F4F6"/>
          </a:solidFill>
          <a:ln w="8890">
            <a:solidFill>
              <a:srgbClr val="FFFFFF"/>
            </a:solidFill>
            <a:prstDash val="solid"/>
          </a:ln>
        </p:spPr>
      </p:sp>
      <p:sp>
        <p:nvSpPr>
          <p:cNvPr id="53" name="Text 51"/>
          <p:cNvSpPr/>
          <p:nvPr/>
        </p:nvSpPr>
        <p:spPr>
          <a:xfrm>
            <a:off x="8613648" y="3735324"/>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D8/E8: engineering / procedure assistant</a:t>
            </a:r>
            <a:endParaRPr lang="en-US" sz="1300" dirty="0"/>
          </a:p>
        </p:txBody>
      </p:sp>
      <p:sp>
        <p:nvSpPr>
          <p:cNvPr id="54" name="Shape 52"/>
          <p:cNvSpPr/>
          <p:nvPr/>
        </p:nvSpPr>
        <p:spPr>
          <a:xfrm>
            <a:off x="502920" y="4215384"/>
            <a:ext cx="1645920" cy="557784"/>
          </a:xfrm>
          <a:prstGeom prst="rect">
            <a:avLst>
              <a:gd name="adj" fmla="val 13115"/>
            </a:avLst>
          </a:prstGeom>
          <a:solidFill>
            <a:srgbClr val="FFFFFF"/>
          </a:solidFill>
          <a:ln w="8890">
            <a:solidFill>
              <a:srgbClr val="FFFFFF"/>
            </a:solidFill>
            <a:prstDash val="solid"/>
          </a:ln>
        </p:spPr>
      </p:sp>
      <p:sp>
        <p:nvSpPr>
          <p:cNvPr id="55" name="Text 53"/>
          <p:cNvSpPr/>
          <p:nvPr/>
        </p:nvSpPr>
        <p:spPr>
          <a:xfrm>
            <a:off x="594360" y="4293108"/>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Government · 5</a:t>
            </a:r>
            <a:endParaRPr lang="en-US" sz="1300" dirty="0"/>
          </a:p>
        </p:txBody>
      </p:sp>
      <p:sp>
        <p:nvSpPr>
          <p:cNvPr id="56" name="Shape 54"/>
          <p:cNvSpPr/>
          <p:nvPr/>
        </p:nvSpPr>
        <p:spPr>
          <a:xfrm>
            <a:off x="2148840" y="4215384"/>
            <a:ext cx="1874520" cy="557784"/>
          </a:xfrm>
          <a:prstGeom prst="rect">
            <a:avLst>
              <a:gd name="adj" fmla="val 13115"/>
            </a:avLst>
          </a:prstGeom>
          <a:solidFill>
            <a:srgbClr val="FFFFFF"/>
          </a:solidFill>
          <a:ln w="8890">
            <a:solidFill>
              <a:srgbClr val="FFFFFF"/>
            </a:solidFill>
            <a:prstDash val="solid"/>
          </a:ln>
        </p:spPr>
      </p:sp>
      <p:sp>
        <p:nvSpPr>
          <p:cNvPr id="57" name="Text 55"/>
          <p:cNvSpPr/>
          <p:nvPr/>
        </p:nvSpPr>
        <p:spPr>
          <a:xfrm>
            <a:off x="2240280" y="4293108"/>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ThinkDeep / French agencies</a:t>
            </a:r>
            <a:endParaRPr lang="en-US" sz="1300" dirty="0"/>
          </a:p>
        </p:txBody>
      </p:sp>
      <p:sp>
        <p:nvSpPr>
          <p:cNvPr id="58" name="Shape 56"/>
          <p:cNvSpPr/>
          <p:nvPr/>
        </p:nvSpPr>
        <p:spPr>
          <a:xfrm>
            <a:off x="4023360" y="4215384"/>
            <a:ext cx="2990088" cy="557784"/>
          </a:xfrm>
          <a:prstGeom prst="rect">
            <a:avLst>
              <a:gd name="adj" fmla="val 13115"/>
            </a:avLst>
          </a:prstGeom>
          <a:solidFill>
            <a:srgbClr val="FFFFFF"/>
          </a:solidFill>
          <a:ln w="8890">
            <a:solidFill>
              <a:srgbClr val="FFFFFF"/>
            </a:solidFill>
            <a:prstDash val="solid"/>
          </a:ln>
        </p:spPr>
      </p:sp>
      <p:sp>
        <p:nvSpPr>
          <p:cNvPr id="59" name="Text 57"/>
          <p:cNvSpPr/>
          <p:nvPr/>
        </p:nvSpPr>
        <p:spPr>
          <a:xfrm>
            <a:off x="4114800" y="4293108"/>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Sovereign document / agent platform; no Spark unit count</a:t>
            </a:r>
            <a:endParaRPr lang="en-US" sz="1300" dirty="0"/>
          </a:p>
        </p:txBody>
      </p:sp>
      <p:sp>
        <p:nvSpPr>
          <p:cNvPr id="60" name="Shape 58"/>
          <p:cNvSpPr/>
          <p:nvPr/>
        </p:nvSpPr>
        <p:spPr>
          <a:xfrm>
            <a:off x="7013448" y="4215384"/>
            <a:ext cx="1508760" cy="557784"/>
          </a:xfrm>
          <a:prstGeom prst="rect">
            <a:avLst>
              <a:gd name="adj" fmla="val 13115"/>
            </a:avLst>
          </a:prstGeom>
          <a:solidFill>
            <a:srgbClr val="FFFFFF"/>
          </a:solidFill>
          <a:ln w="8890">
            <a:solidFill>
              <a:srgbClr val="FFFFFF"/>
            </a:solidFill>
            <a:prstDash val="solid"/>
          </a:ln>
        </p:spPr>
      </p:sp>
      <p:sp>
        <p:nvSpPr>
          <p:cNvPr id="61" name="Text 59"/>
          <p:cNvSpPr/>
          <p:nvPr/>
        </p:nvSpPr>
        <p:spPr>
          <a:xfrm>
            <a:off x="7104888" y="4293108"/>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62" name="Shape 60"/>
          <p:cNvSpPr/>
          <p:nvPr/>
        </p:nvSpPr>
        <p:spPr>
          <a:xfrm>
            <a:off x="8522208" y="4215384"/>
            <a:ext cx="3163824" cy="557784"/>
          </a:xfrm>
          <a:prstGeom prst="rect">
            <a:avLst>
              <a:gd name="adj" fmla="val 13115"/>
            </a:avLst>
          </a:prstGeom>
          <a:solidFill>
            <a:srgbClr val="FFFFFF"/>
          </a:solidFill>
          <a:ln w="8890">
            <a:solidFill>
              <a:srgbClr val="FFFFFF"/>
            </a:solidFill>
            <a:prstDash val="solid"/>
          </a:ln>
        </p:spPr>
      </p:sp>
      <p:sp>
        <p:nvSpPr>
          <p:cNvPr id="63" name="Text 61"/>
          <p:cNvSpPr/>
          <p:nvPr/>
        </p:nvSpPr>
        <p:spPr>
          <a:xfrm>
            <a:off x="8613648" y="4293108"/>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E16: controlled evidence and offline operations</a:t>
            </a:r>
            <a:endParaRPr lang="en-US" sz="1300" dirty="0"/>
          </a:p>
        </p:txBody>
      </p:sp>
      <p:sp>
        <p:nvSpPr>
          <p:cNvPr id="64" name="Shape 62"/>
          <p:cNvSpPr/>
          <p:nvPr/>
        </p:nvSpPr>
        <p:spPr>
          <a:xfrm>
            <a:off x="502920" y="4773168"/>
            <a:ext cx="1645920" cy="557784"/>
          </a:xfrm>
          <a:prstGeom prst="rect">
            <a:avLst>
              <a:gd name="adj" fmla="val 13115"/>
            </a:avLst>
          </a:prstGeom>
          <a:solidFill>
            <a:srgbClr val="F3F4F6"/>
          </a:solidFill>
          <a:ln w="8890">
            <a:solidFill>
              <a:srgbClr val="FFFFFF"/>
            </a:solidFill>
            <a:prstDash val="solid"/>
          </a:ln>
        </p:spPr>
      </p:sp>
      <p:sp>
        <p:nvSpPr>
          <p:cNvPr id="65" name="Text 63"/>
          <p:cNvSpPr/>
          <p:nvPr/>
        </p:nvSpPr>
        <p:spPr>
          <a:xfrm>
            <a:off x="594360" y="4850892"/>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Telecom · 6</a:t>
            </a:r>
            <a:endParaRPr lang="en-US" sz="1300" dirty="0"/>
          </a:p>
        </p:txBody>
      </p:sp>
      <p:sp>
        <p:nvSpPr>
          <p:cNvPr id="66" name="Shape 64"/>
          <p:cNvSpPr/>
          <p:nvPr/>
        </p:nvSpPr>
        <p:spPr>
          <a:xfrm>
            <a:off x="2148840" y="4773168"/>
            <a:ext cx="1874520" cy="557784"/>
          </a:xfrm>
          <a:prstGeom prst="rect">
            <a:avLst>
              <a:gd name="adj" fmla="val 13115"/>
            </a:avLst>
          </a:prstGeom>
          <a:solidFill>
            <a:srgbClr val="F3F4F6"/>
          </a:solidFill>
          <a:ln w="8890">
            <a:solidFill>
              <a:srgbClr val="FFFFFF"/>
            </a:solidFill>
            <a:prstDash val="solid"/>
          </a:ln>
        </p:spPr>
      </p:sp>
      <p:sp>
        <p:nvSpPr>
          <p:cNvPr id="67" name="Text 65"/>
          <p:cNvSpPr/>
          <p:nvPr/>
        </p:nvSpPr>
        <p:spPr>
          <a:xfrm>
            <a:off x="2240280" y="4850892"/>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Amdocs</a:t>
            </a:r>
            <a:endParaRPr lang="en-US" sz="1300" dirty="0"/>
          </a:p>
        </p:txBody>
      </p:sp>
      <p:sp>
        <p:nvSpPr>
          <p:cNvPr id="68" name="Shape 66"/>
          <p:cNvSpPr/>
          <p:nvPr/>
        </p:nvSpPr>
        <p:spPr>
          <a:xfrm>
            <a:off x="4023360" y="4773168"/>
            <a:ext cx="2990088" cy="557784"/>
          </a:xfrm>
          <a:prstGeom prst="rect">
            <a:avLst>
              <a:gd name="adj" fmla="val 13115"/>
            </a:avLst>
          </a:prstGeom>
          <a:solidFill>
            <a:srgbClr val="F3F4F6"/>
          </a:solidFill>
          <a:ln w="8890">
            <a:solidFill>
              <a:srgbClr val="FFFFFF"/>
            </a:solidFill>
            <a:prstDash val="solid"/>
          </a:ln>
        </p:spPr>
      </p:sp>
      <p:sp>
        <p:nvSpPr>
          <p:cNvPr id="69" name="Text 67"/>
          <p:cNvSpPr/>
          <p:nvPr/>
        </p:nvSpPr>
        <p:spPr>
          <a:xfrm>
            <a:off x="4114800" y="4850892"/>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DGX Cloud / NIM agents; not proof of edge hardware</a:t>
            </a:r>
            <a:endParaRPr lang="en-US" sz="1300" dirty="0"/>
          </a:p>
        </p:txBody>
      </p:sp>
      <p:sp>
        <p:nvSpPr>
          <p:cNvPr id="70" name="Shape 68"/>
          <p:cNvSpPr/>
          <p:nvPr/>
        </p:nvSpPr>
        <p:spPr>
          <a:xfrm>
            <a:off x="7013448" y="4773168"/>
            <a:ext cx="1508760" cy="557784"/>
          </a:xfrm>
          <a:prstGeom prst="rect">
            <a:avLst>
              <a:gd name="adj" fmla="val 13115"/>
            </a:avLst>
          </a:prstGeom>
          <a:solidFill>
            <a:srgbClr val="F3F4F6"/>
          </a:solidFill>
          <a:ln w="8890">
            <a:solidFill>
              <a:srgbClr val="FFFFFF"/>
            </a:solidFill>
            <a:prstDash val="solid"/>
          </a:ln>
        </p:spPr>
      </p:sp>
      <p:sp>
        <p:nvSpPr>
          <p:cNvPr id="71" name="Text 69"/>
          <p:cNvSpPr/>
          <p:nvPr/>
        </p:nvSpPr>
        <p:spPr>
          <a:xfrm>
            <a:off x="7104888" y="4850892"/>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72" name="Shape 70"/>
          <p:cNvSpPr/>
          <p:nvPr/>
        </p:nvSpPr>
        <p:spPr>
          <a:xfrm>
            <a:off x="8522208" y="4773168"/>
            <a:ext cx="3163824" cy="557784"/>
          </a:xfrm>
          <a:prstGeom prst="rect">
            <a:avLst>
              <a:gd name="adj" fmla="val 13115"/>
            </a:avLst>
          </a:prstGeom>
          <a:solidFill>
            <a:srgbClr val="F3F4F6"/>
          </a:solidFill>
          <a:ln w="8890">
            <a:solidFill>
              <a:srgbClr val="FFFFFF"/>
            </a:solidFill>
            <a:prstDash val="solid"/>
          </a:ln>
        </p:spPr>
      </p:sp>
      <p:sp>
        <p:nvSpPr>
          <p:cNvPr id="73" name="Text 71"/>
          <p:cNvSpPr/>
          <p:nvPr/>
        </p:nvSpPr>
        <p:spPr>
          <a:xfrm>
            <a:off x="8613648" y="4850892"/>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E16/E24: regional ticket and runbook catalog</a:t>
            </a:r>
            <a:endParaRPr lang="en-US" sz="1300" dirty="0"/>
          </a:p>
        </p:txBody>
      </p:sp>
      <p:sp>
        <p:nvSpPr>
          <p:cNvPr id="74" name="Shape 72"/>
          <p:cNvSpPr/>
          <p:nvPr/>
        </p:nvSpPr>
        <p:spPr>
          <a:xfrm>
            <a:off x="502920" y="5330952"/>
            <a:ext cx="1645920" cy="557784"/>
          </a:xfrm>
          <a:prstGeom prst="rect">
            <a:avLst>
              <a:gd name="adj" fmla="val 13115"/>
            </a:avLst>
          </a:prstGeom>
          <a:solidFill>
            <a:srgbClr val="FFFFFF"/>
          </a:solidFill>
          <a:ln w="8890">
            <a:solidFill>
              <a:srgbClr val="FFFFFF"/>
            </a:solidFill>
            <a:prstDash val="solid"/>
          </a:ln>
        </p:spPr>
      </p:sp>
      <p:sp>
        <p:nvSpPr>
          <p:cNvPr id="75" name="Text 73"/>
          <p:cNvSpPr/>
          <p:nvPr/>
        </p:nvSpPr>
        <p:spPr>
          <a:xfrm>
            <a:off x="594360" y="5408676"/>
            <a:ext cx="1463040" cy="429768"/>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Retail · 7</a:t>
            </a:r>
            <a:endParaRPr lang="en-US" sz="1300" dirty="0"/>
          </a:p>
        </p:txBody>
      </p:sp>
      <p:sp>
        <p:nvSpPr>
          <p:cNvPr id="76" name="Shape 74"/>
          <p:cNvSpPr/>
          <p:nvPr/>
        </p:nvSpPr>
        <p:spPr>
          <a:xfrm>
            <a:off x="2148840" y="5330952"/>
            <a:ext cx="1874520" cy="557784"/>
          </a:xfrm>
          <a:prstGeom prst="rect">
            <a:avLst>
              <a:gd name="adj" fmla="val 13115"/>
            </a:avLst>
          </a:prstGeom>
          <a:solidFill>
            <a:srgbClr val="FFFFFF"/>
          </a:solidFill>
          <a:ln w="8890">
            <a:solidFill>
              <a:srgbClr val="FFFFFF"/>
            </a:solidFill>
            <a:prstDash val="solid"/>
          </a:ln>
        </p:spPr>
      </p:sp>
      <p:sp>
        <p:nvSpPr>
          <p:cNvPr id="77" name="Text 75"/>
          <p:cNvSpPr/>
          <p:nvPr/>
        </p:nvSpPr>
        <p:spPr>
          <a:xfrm>
            <a:off x="2240280" y="5408676"/>
            <a:ext cx="169164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Lowe’s</a:t>
            </a:r>
            <a:endParaRPr lang="en-US" sz="1300" dirty="0"/>
          </a:p>
        </p:txBody>
      </p:sp>
      <p:sp>
        <p:nvSpPr>
          <p:cNvPr id="78" name="Shape 76"/>
          <p:cNvSpPr/>
          <p:nvPr/>
        </p:nvSpPr>
        <p:spPr>
          <a:xfrm>
            <a:off x="4023360" y="5330952"/>
            <a:ext cx="2990088" cy="557784"/>
          </a:xfrm>
          <a:prstGeom prst="rect">
            <a:avLst>
              <a:gd name="adj" fmla="val 13115"/>
            </a:avLst>
          </a:prstGeom>
          <a:solidFill>
            <a:srgbClr val="FFFFFF"/>
          </a:solidFill>
          <a:ln w="8890">
            <a:solidFill>
              <a:srgbClr val="FFFFFF"/>
            </a:solidFill>
            <a:prstDash val="solid"/>
          </a:ln>
        </p:spPr>
      </p:sp>
      <p:sp>
        <p:nvSpPr>
          <p:cNvPr id="79" name="Text 77"/>
          <p:cNvSpPr/>
          <p:nvPr/>
        </p:nvSpPr>
        <p:spPr>
          <a:xfrm>
            <a:off x="4114800" y="5408676"/>
            <a:ext cx="2807208"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RTX workstations + store-edge systems; mixed workloads</a:t>
            </a:r>
            <a:endParaRPr lang="en-US" sz="1300" dirty="0"/>
          </a:p>
        </p:txBody>
      </p:sp>
      <p:sp>
        <p:nvSpPr>
          <p:cNvPr id="80" name="Shape 78"/>
          <p:cNvSpPr/>
          <p:nvPr/>
        </p:nvSpPr>
        <p:spPr>
          <a:xfrm>
            <a:off x="7013448" y="5330952"/>
            <a:ext cx="1508760" cy="557784"/>
          </a:xfrm>
          <a:prstGeom prst="rect">
            <a:avLst>
              <a:gd name="adj" fmla="val 13115"/>
            </a:avLst>
          </a:prstGeom>
          <a:solidFill>
            <a:srgbClr val="FFFFFF"/>
          </a:solidFill>
          <a:ln w="8890">
            <a:solidFill>
              <a:srgbClr val="FFFFFF"/>
            </a:solidFill>
            <a:prstDash val="solid"/>
          </a:ln>
        </p:spPr>
      </p:sp>
      <p:sp>
        <p:nvSpPr>
          <p:cNvPr id="81" name="Text 79"/>
          <p:cNvSpPr/>
          <p:nvPr/>
        </p:nvSpPr>
        <p:spPr>
          <a:xfrm>
            <a:off x="7104888" y="5408676"/>
            <a:ext cx="1325880"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Not disclosed</a:t>
            </a:r>
            <a:endParaRPr lang="en-US" sz="1300" dirty="0"/>
          </a:p>
        </p:txBody>
      </p:sp>
      <p:sp>
        <p:nvSpPr>
          <p:cNvPr id="82" name="Shape 80"/>
          <p:cNvSpPr/>
          <p:nvPr/>
        </p:nvSpPr>
        <p:spPr>
          <a:xfrm>
            <a:off x="8522208" y="5330952"/>
            <a:ext cx="3163824" cy="557784"/>
          </a:xfrm>
          <a:prstGeom prst="rect">
            <a:avLst>
              <a:gd name="adj" fmla="val 13115"/>
            </a:avLst>
          </a:prstGeom>
          <a:solidFill>
            <a:srgbClr val="FFFFFF"/>
          </a:solidFill>
          <a:ln w="8890">
            <a:solidFill>
              <a:srgbClr val="FFFFFF"/>
            </a:solidFill>
            <a:prstDash val="solid"/>
          </a:ln>
        </p:spPr>
      </p:sp>
      <p:sp>
        <p:nvSpPr>
          <p:cNvPr id="83" name="Text 81"/>
          <p:cNvSpPr/>
          <p:nvPr/>
        </p:nvSpPr>
        <p:spPr>
          <a:xfrm>
            <a:off x="8613648" y="5408676"/>
            <a:ext cx="2980944" cy="429768"/>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D8/E16: product / associate knowledge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COMPETITIVE GAP 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The opportunity: capacity economics inside a managed service.</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An occupied market: privacy, local models, high memory and turnkey operations are already available.</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Position ATMOS as a candidate for resident knowledge capacity—not as the fastest or only private-AI box.</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[S10] [S11] [S12] [S14] [S15] [S21]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§1,15</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M05</a:t>
            </a:r>
            <a:endParaRPr lang="en-US" sz="920" dirty="0"/>
          </a:p>
        </p:txBody>
      </p:sp>
      <p:sp>
        <p:nvSpPr>
          <p:cNvPr id="14" name="Shape 12"/>
          <p:cNvSpPr/>
          <p:nvPr/>
        </p:nvSpPr>
        <p:spPr>
          <a:xfrm>
            <a:off x="502920" y="2121408"/>
            <a:ext cx="3630168" cy="1920240"/>
          </a:xfrm>
          <a:prstGeom prst="rect">
            <a:avLst>
              <a:gd name="adj" fmla="val 3810"/>
            </a:avLst>
          </a:prstGeom>
          <a:solidFill>
            <a:srgbClr val="F3F4F6"/>
          </a:solidFill>
          <a:ln w="12700">
            <a:solidFill>
              <a:srgbClr val="F3F4F6"/>
            </a:solidFill>
            <a:prstDash val="solid"/>
          </a:ln>
        </p:spPr>
      </p:sp>
      <p:sp>
        <p:nvSpPr>
          <p:cNvPr id="15" name="Text 13"/>
          <p:cNvSpPr/>
          <p:nvPr/>
        </p:nvSpPr>
        <p:spPr>
          <a:xfrm>
            <a:off x="658368" y="2295144"/>
            <a:ext cx="3291840" cy="22860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LOCAL DEVELOPER</a:t>
            </a:r>
            <a:endParaRPr lang="en-US" sz="1200" dirty="0"/>
          </a:p>
        </p:txBody>
      </p:sp>
      <p:sp>
        <p:nvSpPr>
          <p:cNvPr id="16" name="Text 14"/>
          <p:cNvSpPr/>
          <p:nvPr/>
        </p:nvSpPr>
        <p:spPr>
          <a:xfrm>
            <a:off x="658368" y="2715768"/>
            <a:ext cx="3291840" cy="576072"/>
          </a:xfrm>
          <a:prstGeom prst="rect">
            <a:avLst/>
          </a:prstGeom>
          <a:noFill/>
          <a:ln/>
        </p:spPr>
        <p:txBody>
          <a:bodyPr wrap="square" lIns="0" tIns="0" rIns="0" bIns="0" rtlCol="0" anchor="ctr"/>
          <a:lstStyle/>
          <a:p>
            <a:pPr indent="0" marL="0">
              <a:buNone/>
            </a:pPr>
            <a:r>
              <a:rPr lang="en-US" sz="1900" b="1" dirty="0">
                <a:solidFill>
                  <a:srgbClr val="18191D"/>
                </a:solidFill>
                <a:latin typeface="Arial" pitchFamily="34" charset="0"/>
                <a:ea typeface="Arial" pitchFamily="34" charset="-122"/>
                <a:cs typeface="Arial" pitchFamily="34" charset="-120"/>
              </a:rPr>
              <a:t>DGX Spark / GB10</a:t>
            </a:r>
            <a:endParaRPr lang="en-US" sz="1900" dirty="0"/>
          </a:p>
          <a:p>
            <a:pPr indent="0" marL="0">
              <a:buNone/>
            </a:pPr>
            <a:r>
              <a:rPr lang="en-US" sz="1900" b="1" dirty="0">
                <a:solidFill>
                  <a:srgbClr val="18191D"/>
                </a:solidFill>
                <a:latin typeface="Arial" pitchFamily="34" charset="0"/>
                <a:ea typeface="Arial" pitchFamily="34" charset="-122"/>
                <a:cs typeface="Arial" pitchFamily="34" charset="-120"/>
              </a:rPr>
              <a:t>RTX workstations</a:t>
            </a:r>
            <a:endParaRPr lang="en-US" sz="1900" dirty="0"/>
          </a:p>
        </p:txBody>
      </p:sp>
      <p:sp>
        <p:nvSpPr>
          <p:cNvPr id="17" name="Text 15"/>
          <p:cNvSpPr/>
          <p:nvPr/>
        </p:nvSpPr>
        <p:spPr>
          <a:xfrm>
            <a:off x="658368" y="3392424"/>
            <a:ext cx="3291840" cy="493776"/>
          </a:xfrm>
          <a:prstGeom prst="rect">
            <a:avLst/>
          </a:prstGeom>
          <a:noFill/>
          <a:ln/>
        </p:spPr>
        <p:txBody>
          <a:bodyPr wrap="square" lIns="0" tIns="0" rIns="0" bIns="0" rtlCol="0" anchor="ctr"/>
          <a:lstStyle/>
          <a:p>
            <a:pPr indent="0" marL="0">
              <a:buNone/>
            </a:pPr>
            <a:r>
              <a:rPr lang="en-US" sz="1420" dirty="0">
                <a:solidFill>
                  <a:srgbClr val="5B6169"/>
                </a:solidFill>
                <a:latin typeface="Arial" pitchFamily="34" charset="0"/>
                <a:ea typeface="Arial" pitchFamily="34" charset="-122"/>
                <a:cs typeface="Arial" pitchFamily="34" charset="-120"/>
              </a:rPr>
              <a:t>Fast iteration and broad GPU software.</a:t>
            </a:r>
            <a:endParaRPr lang="en-US" sz="1420" dirty="0"/>
          </a:p>
          <a:p>
            <a:pPr indent="0" marL="0">
              <a:buNone/>
            </a:pPr>
            <a:r>
              <a:rPr lang="en-US" sz="1420" dirty="0">
                <a:solidFill>
                  <a:srgbClr val="5B6169"/>
                </a:solidFill>
                <a:latin typeface="Arial" pitchFamily="34" charset="0"/>
                <a:ea typeface="Arial" pitchFamily="34" charset="-122"/>
                <a:cs typeface="Arial" pitchFamily="34" charset="-120"/>
              </a:rPr>
              <a:t>A strong control for small, active models.</a:t>
            </a:r>
            <a:endParaRPr lang="en-US" sz="1420" dirty="0"/>
          </a:p>
        </p:txBody>
      </p:sp>
      <p:sp>
        <p:nvSpPr>
          <p:cNvPr id="18" name="Shape 16"/>
          <p:cNvSpPr/>
          <p:nvPr/>
        </p:nvSpPr>
        <p:spPr>
          <a:xfrm>
            <a:off x="4279392" y="2121408"/>
            <a:ext cx="3630168" cy="1920240"/>
          </a:xfrm>
          <a:prstGeom prst="rect">
            <a:avLst>
              <a:gd name="adj" fmla="val 3810"/>
            </a:avLst>
          </a:prstGeom>
          <a:solidFill>
            <a:srgbClr val="F3F4F6"/>
          </a:solidFill>
          <a:ln w="12700">
            <a:solidFill>
              <a:srgbClr val="F3F4F6"/>
            </a:solidFill>
            <a:prstDash val="solid"/>
          </a:ln>
        </p:spPr>
      </p:sp>
      <p:sp>
        <p:nvSpPr>
          <p:cNvPr id="19" name="Text 17"/>
          <p:cNvSpPr/>
          <p:nvPr/>
        </p:nvSpPr>
        <p:spPr>
          <a:xfrm>
            <a:off x="4434840" y="2295144"/>
            <a:ext cx="3291840" cy="22860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LARGE LOCAL COMPUTE</a:t>
            </a:r>
            <a:endParaRPr lang="en-US" sz="1200" dirty="0"/>
          </a:p>
        </p:txBody>
      </p:sp>
      <p:sp>
        <p:nvSpPr>
          <p:cNvPr id="20" name="Text 18"/>
          <p:cNvSpPr/>
          <p:nvPr/>
        </p:nvSpPr>
        <p:spPr>
          <a:xfrm>
            <a:off x="4434840" y="2715768"/>
            <a:ext cx="3291840" cy="576072"/>
          </a:xfrm>
          <a:prstGeom prst="rect">
            <a:avLst/>
          </a:prstGeom>
          <a:noFill/>
          <a:ln/>
        </p:spPr>
        <p:txBody>
          <a:bodyPr wrap="square" lIns="0" tIns="0" rIns="0" bIns="0" rtlCol="0" anchor="ctr"/>
          <a:lstStyle/>
          <a:p>
            <a:pPr indent="0" marL="0">
              <a:buNone/>
            </a:pPr>
            <a:r>
              <a:rPr lang="en-US" sz="1900" b="1" dirty="0">
                <a:solidFill>
                  <a:srgbClr val="18191D"/>
                </a:solidFill>
                <a:latin typeface="Arial" pitchFamily="34" charset="0"/>
                <a:ea typeface="Arial" pitchFamily="34" charset="-122"/>
                <a:cs typeface="Arial" pitchFamily="34" charset="-120"/>
              </a:rPr>
              <a:t>DGX Station</a:t>
            </a:r>
            <a:endParaRPr lang="en-US" sz="1900" dirty="0"/>
          </a:p>
          <a:p>
            <a:pPr indent="0" marL="0">
              <a:buNone/>
            </a:pPr>
            <a:r>
              <a:rPr lang="en-US" sz="1900" b="1" dirty="0">
                <a:solidFill>
                  <a:srgbClr val="18191D"/>
                </a:solidFill>
                <a:latin typeface="Arial" pitchFamily="34" charset="0"/>
                <a:ea typeface="Arial" pitchFamily="34" charset="-122"/>
                <a:cs typeface="Arial" pitchFamily="34" charset="-120"/>
              </a:rPr>
              <a:t>High-memory Mac Studio</a:t>
            </a:r>
            <a:endParaRPr lang="en-US" sz="1900" dirty="0"/>
          </a:p>
        </p:txBody>
      </p:sp>
      <p:sp>
        <p:nvSpPr>
          <p:cNvPr id="21" name="Text 19"/>
          <p:cNvSpPr/>
          <p:nvPr/>
        </p:nvSpPr>
        <p:spPr>
          <a:xfrm>
            <a:off x="4434840" y="3392424"/>
            <a:ext cx="3291840" cy="493776"/>
          </a:xfrm>
          <a:prstGeom prst="rect">
            <a:avLst/>
          </a:prstGeom>
          <a:noFill/>
          <a:ln/>
        </p:spPr>
        <p:txBody>
          <a:bodyPr wrap="square" lIns="0" tIns="0" rIns="0" bIns="0" rtlCol="0" anchor="ctr"/>
          <a:lstStyle/>
          <a:p>
            <a:pPr indent="0" marL="0">
              <a:buNone/>
            </a:pPr>
            <a:r>
              <a:rPr lang="en-US" sz="1420" dirty="0">
                <a:solidFill>
                  <a:srgbClr val="5B6169"/>
                </a:solidFill>
                <a:latin typeface="Arial" pitchFamily="34" charset="0"/>
                <a:ea typeface="Arial" pitchFamily="34" charset="-122"/>
                <a:cs typeface="Arial" pitchFamily="34" charset="-120"/>
              </a:rPr>
              <a:t>Large working memory and local model capability.</a:t>
            </a:r>
            <a:endParaRPr lang="en-US" sz="1420" dirty="0"/>
          </a:p>
          <a:p>
            <a:pPr indent="0" marL="0">
              <a:buNone/>
            </a:pPr>
            <a:r>
              <a:rPr lang="en-US" sz="1420" dirty="0">
                <a:solidFill>
                  <a:srgbClr val="5B6169"/>
                </a:solidFill>
                <a:latin typeface="Arial" pitchFamily="34" charset="0"/>
                <a:ea typeface="Arial" pitchFamily="34" charset="-122"/>
                <a:cs typeface="Arial" pitchFamily="34" charset="-120"/>
              </a:rPr>
              <a:t>Capacity is not an empty category.</a:t>
            </a:r>
            <a:endParaRPr lang="en-US" sz="1420" dirty="0"/>
          </a:p>
        </p:txBody>
      </p:sp>
      <p:sp>
        <p:nvSpPr>
          <p:cNvPr id="22" name="Shape 20"/>
          <p:cNvSpPr/>
          <p:nvPr/>
        </p:nvSpPr>
        <p:spPr>
          <a:xfrm>
            <a:off x="8055864" y="2121408"/>
            <a:ext cx="3630168" cy="1920240"/>
          </a:xfrm>
          <a:prstGeom prst="rect">
            <a:avLst>
              <a:gd name="adj" fmla="val 3810"/>
            </a:avLst>
          </a:prstGeom>
          <a:solidFill>
            <a:srgbClr val="F3F4F6"/>
          </a:solidFill>
          <a:ln w="12700">
            <a:solidFill>
              <a:srgbClr val="F3F4F6"/>
            </a:solidFill>
            <a:prstDash val="solid"/>
          </a:ln>
        </p:spPr>
      </p:sp>
      <p:sp>
        <p:nvSpPr>
          <p:cNvPr id="23" name="Text 21"/>
          <p:cNvSpPr/>
          <p:nvPr/>
        </p:nvSpPr>
        <p:spPr>
          <a:xfrm>
            <a:off x="8211312" y="2295144"/>
            <a:ext cx="3291840" cy="22860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MANAGED ENTERPRISE</a:t>
            </a:r>
            <a:endParaRPr lang="en-US" sz="1200" dirty="0"/>
          </a:p>
        </p:txBody>
      </p:sp>
      <p:sp>
        <p:nvSpPr>
          <p:cNvPr id="24" name="Text 22"/>
          <p:cNvSpPr/>
          <p:nvPr/>
        </p:nvSpPr>
        <p:spPr>
          <a:xfrm>
            <a:off x="8211312" y="2715768"/>
            <a:ext cx="3291840" cy="576072"/>
          </a:xfrm>
          <a:prstGeom prst="rect">
            <a:avLst/>
          </a:prstGeom>
          <a:noFill/>
          <a:ln/>
        </p:spPr>
        <p:txBody>
          <a:bodyPr wrap="square" lIns="0" tIns="0" rIns="0" bIns="0" rtlCol="0" anchor="ctr"/>
          <a:lstStyle/>
          <a:p>
            <a:pPr indent="0" marL="0">
              <a:buNone/>
            </a:pPr>
            <a:r>
              <a:rPr lang="en-US" sz="1900" b="1" dirty="0">
                <a:solidFill>
                  <a:srgbClr val="18191D"/>
                </a:solidFill>
                <a:latin typeface="Arial" pitchFamily="34" charset="0"/>
                <a:ea typeface="Arial" pitchFamily="34" charset="-122"/>
                <a:cs typeface="Arial" pitchFamily="34" charset="-120"/>
              </a:rPr>
              <a:t>HPE Private Cloud AI</a:t>
            </a:r>
            <a:endParaRPr lang="en-US" sz="1900" dirty="0"/>
          </a:p>
          <a:p>
            <a:pPr indent="0" marL="0">
              <a:buNone/>
            </a:pPr>
            <a:r>
              <a:rPr lang="en-US" sz="1900" b="1" dirty="0">
                <a:solidFill>
                  <a:srgbClr val="18191D"/>
                </a:solidFill>
                <a:latin typeface="Arial" pitchFamily="34" charset="0"/>
                <a:ea typeface="Arial" pitchFamily="34" charset="-122"/>
                <a:cs typeface="Arial" pitchFamily="34" charset="-120"/>
              </a:rPr>
              <a:t>Nutanix GPT-in-a-Box</a:t>
            </a:r>
            <a:endParaRPr lang="en-US" sz="1900" dirty="0"/>
          </a:p>
        </p:txBody>
      </p:sp>
      <p:sp>
        <p:nvSpPr>
          <p:cNvPr id="25" name="Text 23"/>
          <p:cNvSpPr/>
          <p:nvPr/>
        </p:nvSpPr>
        <p:spPr>
          <a:xfrm>
            <a:off x="8211312" y="3392424"/>
            <a:ext cx="3291840" cy="493776"/>
          </a:xfrm>
          <a:prstGeom prst="rect">
            <a:avLst/>
          </a:prstGeom>
          <a:noFill/>
          <a:ln/>
        </p:spPr>
        <p:txBody>
          <a:bodyPr wrap="square" lIns="0" tIns="0" rIns="0" bIns="0" rtlCol="0" anchor="ctr"/>
          <a:lstStyle/>
          <a:p>
            <a:pPr indent="0" marL="0">
              <a:buNone/>
            </a:pPr>
            <a:r>
              <a:rPr lang="en-US" sz="1420" dirty="0">
                <a:solidFill>
                  <a:srgbClr val="5B6169"/>
                </a:solidFill>
                <a:latin typeface="Arial" pitchFamily="34" charset="0"/>
                <a:ea typeface="Arial" pitchFamily="34" charset="-122"/>
                <a:cs typeface="Arial" pitchFamily="34" charset="-120"/>
              </a:rPr>
              <a:t>Integrated operations, serving and lifecycle.</a:t>
            </a:r>
            <a:endParaRPr lang="en-US" sz="1420" dirty="0"/>
          </a:p>
          <a:p>
            <a:pPr indent="0" marL="0">
              <a:buNone/>
            </a:pPr>
            <a:r>
              <a:rPr lang="en-US" sz="1420" dirty="0">
                <a:solidFill>
                  <a:srgbClr val="5B6169"/>
                </a:solidFill>
                <a:latin typeface="Arial" pitchFamily="34" charset="0"/>
                <a:ea typeface="Arial" pitchFamily="34" charset="-122"/>
                <a:cs typeface="Arial" pitchFamily="34" charset="-120"/>
              </a:rPr>
              <a:t>Turnkey is table stakes.</a:t>
            </a:r>
            <a:endParaRPr lang="en-US" sz="1420" dirty="0"/>
          </a:p>
        </p:txBody>
      </p:sp>
      <p:sp>
        <p:nvSpPr>
          <p:cNvPr id="26" name="Shape 24"/>
          <p:cNvSpPr/>
          <p:nvPr/>
        </p:nvSpPr>
        <p:spPr>
          <a:xfrm>
            <a:off x="2295144" y="4096512"/>
            <a:ext cx="0" cy="274320"/>
          </a:xfrm>
          <a:prstGeom prst="line">
            <a:avLst/>
          </a:prstGeom>
          <a:noFill/>
          <a:ln w="12700">
            <a:solidFill>
              <a:srgbClr val="5B6169"/>
            </a:solidFill>
            <a:prstDash val="solid"/>
            <a:headEnd type="none"/>
            <a:tailEnd type="triangle"/>
          </a:ln>
        </p:spPr>
      </p:sp>
      <p:sp>
        <p:nvSpPr>
          <p:cNvPr id="27" name="Shape 25"/>
          <p:cNvSpPr/>
          <p:nvPr/>
        </p:nvSpPr>
        <p:spPr>
          <a:xfrm>
            <a:off x="6071616" y="4096512"/>
            <a:ext cx="0" cy="274320"/>
          </a:xfrm>
          <a:prstGeom prst="line">
            <a:avLst/>
          </a:prstGeom>
          <a:noFill/>
          <a:ln w="12700">
            <a:solidFill>
              <a:srgbClr val="5B6169"/>
            </a:solidFill>
            <a:prstDash val="solid"/>
            <a:headEnd type="none"/>
            <a:tailEnd type="triangle"/>
          </a:ln>
        </p:spPr>
      </p:sp>
      <p:sp>
        <p:nvSpPr>
          <p:cNvPr id="28" name="Shape 26"/>
          <p:cNvSpPr/>
          <p:nvPr/>
        </p:nvSpPr>
        <p:spPr>
          <a:xfrm>
            <a:off x="9848088" y="4096512"/>
            <a:ext cx="0" cy="274320"/>
          </a:xfrm>
          <a:prstGeom prst="line">
            <a:avLst/>
          </a:prstGeom>
          <a:noFill/>
          <a:ln w="12700">
            <a:solidFill>
              <a:srgbClr val="5B6169"/>
            </a:solidFill>
            <a:prstDash val="solid"/>
            <a:headEnd type="none"/>
            <a:tailEnd type="triangle"/>
          </a:ln>
        </p:spPr>
      </p:sp>
      <p:sp>
        <p:nvSpPr>
          <p:cNvPr id="29" name="Shape 27"/>
          <p:cNvSpPr/>
          <p:nvPr/>
        </p:nvSpPr>
        <p:spPr>
          <a:xfrm>
            <a:off x="502920" y="4489704"/>
            <a:ext cx="11183112" cy="1179576"/>
          </a:xfrm>
          <a:prstGeom prst="rect">
            <a:avLst>
              <a:gd name="adj" fmla="val 6202"/>
            </a:avLst>
          </a:prstGeom>
          <a:solidFill>
            <a:srgbClr val="18191D"/>
          </a:solidFill>
          <a:ln w="12700">
            <a:solidFill>
              <a:srgbClr val="18191D"/>
            </a:solidFill>
            <a:prstDash val="solid"/>
          </a:ln>
        </p:spPr>
      </p:sp>
      <p:sp>
        <p:nvSpPr>
          <p:cNvPr id="30" name="Text 28"/>
          <p:cNvSpPr/>
          <p:nvPr/>
        </p:nvSpPr>
        <p:spPr>
          <a:xfrm>
            <a:off x="704088" y="4681728"/>
            <a:ext cx="2441448" cy="219456"/>
          </a:xfrm>
          <a:prstGeom prst="rect">
            <a:avLst/>
          </a:prstGeom>
          <a:noFill/>
          <a:ln/>
        </p:spPr>
        <p:txBody>
          <a:bodyPr wrap="square" lIns="0" tIns="0" rIns="0" bIns="0" rtlCol="0" anchor="ctr"/>
          <a:lstStyle/>
          <a:p>
            <a:pPr indent="0" marL="0">
              <a:buNone/>
            </a:pPr>
            <a:r>
              <a:rPr lang="en-US" sz="1200" b="1" dirty="0">
                <a:solidFill>
                  <a:srgbClr val="F7C9D2"/>
                </a:solidFill>
                <a:latin typeface="Arial" pitchFamily="34" charset="0"/>
                <a:ea typeface="Arial" pitchFamily="34" charset="-122"/>
                <a:cs typeface="Arial" pitchFamily="34" charset="-120"/>
              </a:rPr>
              <a:t>ATMOS GAP TO PROVE</a:t>
            </a:r>
            <a:endParaRPr lang="en-US" sz="1200" dirty="0"/>
          </a:p>
        </p:txBody>
      </p:sp>
      <p:sp>
        <p:nvSpPr>
          <p:cNvPr id="31" name="Text 29"/>
          <p:cNvSpPr/>
          <p:nvPr/>
        </p:nvSpPr>
        <p:spPr>
          <a:xfrm>
            <a:off x="3099816" y="4626864"/>
            <a:ext cx="8220456" cy="32004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Larger resident catalog / richer evidence at moderate query demand</a:t>
            </a:r>
            <a:endParaRPr lang="en-US" sz="2000" dirty="0"/>
          </a:p>
        </p:txBody>
      </p:sp>
      <p:sp>
        <p:nvSpPr>
          <p:cNvPr id="32" name="Text 30"/>
          <p:cNvSpPr/>
          <p:nvPr/>
        </p:nvSpPr>
        <p:spPr>
          <a:xfrm>
            <a:off x="3099816" y="5084064"/>
            <a:ext cx="8138160" cy="347472"/>
          </a:xfrm>
          <a:prstGeom prst="rect">
            <a:avLst/>
          </a:prstGeom>
          <a:noFill/>
          <a:ln/>
        </p:spPr>
        <p:txBody>
          <a:bodyPr wrap="square" lIns="0" tIns="0" rIns="0" bIns="0" rtlCol="0" anchor="ctr"/>
          <a:lstStyle/>
          <a:p>
            <a:pPr indent="0" marL="0">
              <a:buNone/>
            </a:pPr>
            <a:r>
              <a:rPr lang="en-US" sz="1550" dirty="0">
                <a:solidFill>
                  <a:srgbClr val="FFFFFF"/>
                </a:solidFill>
                <a:latin typeface="Arial" pitchFamily="34" charset="0"/>
                <a:ea typeface="Arial" pitchFamily="34" charset="-122"/>
                <a:cs typeface="Arial" pitchFamily="34" charset="-120"/>
              </a:rPr>
              <a:t>Certified CPU + NPU work allocation, local governance, modular capacity and a supported OEM appliance.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WORKLOAD FIT HEATMAP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Choose the workload where extra resident capacity has a job.</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Qualitative fit screen: “candidate” means a pilot is justified—not that ATMOS is faster or cheaper.</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Keep an optimized CPU/DRAM control. Small indexes often do not justify another accelerator tier.</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[S10] [S11] [S12] [S14] [S15]</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§6,16–17</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M06</a:t>
            </a:r>
            <a:endParaRPr lang="en-US" sz="920" dirty="0"/>
          </a:p>
        </p:txBody>
      </p:sp>
      <p:sp>
        <p:nvSpPr>
          <p:cNvPr id="14" name="Shape 12"/>
          <p:cNvSpPr/>
          <p:nvPr/>
        </p:nvSpPr>
        <p:spPr>
          <a:xfrm>
            <a:off x="502920" y="2121408"/>
            <a:ext cx="2761488"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85416"/>
            <a:ext cx="2578608"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Workload</a:t>
            </a:r>
            <a:endParaRPr lang="en-US" sz="1200" dirty="0"/>
          </a:p>
        </p:txBody>
      </p:sp>
      <p:sp>
        <p:nvSpPr>
          <p:cNvPr id="16" name="Shape 14"/>
          <p:cNvSpPr/>
          <p:nvPr/>
        </p:nvSpPr>
        <p:spPr>
          <a:xfrm>
            <a:off x="3264408" y="2121408"/>
            <a:ext cx="1865376"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3355848" y="2185416"/>
            <a:ext cx="1682496"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Spark / RTX</a:t>
            </a:r>
            <a:endParaRPr lang="en-US" sz="1200" dirty="0"/>
          </a:p>
        </p:txBody>
      </p:sp>
      <p:sp>
        <p:nvSpPr>
          <p:cNvPr id="18" name="Shape 16"/>
          <p:cNvSpPr/>
          <p:nvPr/>
        </p:nvSpPr>
        <p:spPr>
          <a:xfrm>
            <a:off x="5129784" y="2121408"/>
            <a:ext cx="2157984"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5221224" y="2185416"/>
            <a:ext cx="1975104"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Station / GPU server</a:t>
            </a:r>
            <a:endParaRPr lang="en-US" sz="1200" dirty="0"/>
          </a:p>
        </p:txBody>
      </p:sp>
      <p:sp>
        <p:nvSpPr>
          <p:cNvPr id="20" name="Shape 18"/>
          <p:cNvSpPr/>
          <p:nvPr/>
        </p:nvSpPr>
        <p:spPr>
          <a:xfrm>
            <a:off x="7287768" y="2121408"/>
            <a:ext cx="2203704"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7379208" y="2185416"/>
            <a:ext cx="2020824"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Managed private AI</a:t>
            </a:r>
            <a:endParaRPr lang="en-US" sz="1200" dirty="0"/>
          </a:p>
        </p:txBody>
      </p:sp>
      <p:sp>
        <p:nvSpPr>
          <p:cNvPr id="22" name="Shape 20"/>
          <p:cNvSpPr/>
          <p:nvPr/>
        </p:nvSpPr>
        <p:spPr>
          <a:xfrm>
            <a:off x="9491472" y="2121408"/>
            <a:ext cx="2194560" cy="438912"/>
          </a:xfrm>
          <a:prstGeom prst="rect">
            <a:avLst>
              <a:gd name="adj" fmla="val 16667"/>
            </a:avLst>
          </a:prstGeom>
          <a:solidFill>
            <a:srgbClr val="18191D"/>
          </a:solidFill>
          <a:ln w="12700">
            <a:solidFill>
              <a:srgbClr val="18191D"/>
            </a:solidFill>
            <a:prstDash val="solid"/>
          </a:ln>
        </p:spPr>
      </p:sp>
      <p:sp>
        <p:nvSpPr>
          <p:cNvPr id="23" name="Text 21"/>
          <p:cNvSpPr/>
          <p:nvPr/>
        </p:nvSpPr>
        <p:spPr>
          <a:xfrm>
            <a:off x="9582912" y="2185416"/>
            <a:ext cx="2011680"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ATMOS W4–E24</a:t>
            </a:r>
            <a:endParaRPr lang="en-US" sz="1200" dirty="0"/>
          </a:p>
        </p:txBody>
      </p:sp>
      <p:sp>
        <p:nvSpPr>
          <p:cNvPr id="24" name="Shape 22"/>
          <p:cNvSpPr/>
          <p:nvPr/>
        </p:nvSpPr>
        <p:spPr>
          <a:xfrm>
            <a:off x="502920" y="2560320"/>
            <a:ext cx="2761488" cy="512064"/>
          </a:xfrm>
          <a:prstGeom prst="rect">
            <a:avLst>
              <a:gd name="adj" fmla="val 14286"/>
            </a:avLst>
          </a:prstGeom>
          <a:solidFill>
            <a:srgbClr val="F3F4F6"/>
          </a:solidFill>
          <a:ln w="8890">
            <a:solidFill>
              <a:srgbClr val="FFFFFF"/>
            </a:solidFill>
            <a:prstDash val="solid"/>
          </a:ln>
        </p:spPr>
      </p:sp>
      <p:sp>
        <p:nvSpPr>
          <p:cNvPr id="25" name="Text 23"/>
          <p:cNvSpPr/>
          <p:nvPr/>
        </p:nvSpPr>
        <p:spPr>
          <a:xfrm>
            <a:off x="594360" y="2638044"/>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One small interactive model</a:t>
            </a:r>
            <a:endParaRPr lang="en-US" sz="1400" dirty="0"/>
          </a:p>
        </p:txBody>
      </p:sp>
      <p:sp>
        <p:nvSpPr>
          <p:cNvPr id="26" name="Shape 24"/>
          <p:cNvSpPr/>
          <p:nvPr/>
        </p:nvSpPr>
        <p:spPr>
          <a:xfrm>
            <a:off x="3264408" y="2560320"/>
            <a:ext cx="1865376" cy="512064"/>
          </a:xfrm>
          <a:prstGeom prst="rect">
            <a:avLst>
              <a:gd name="adj" fmla="val 14286"/>
            </a:avLst>
          </a:prstGeom>
          <a:solidFill>
            <a:srgbClr val="E2E4E8"/>
          </a:solidFill>
          <a:ln w="8890">
            <a:solidFill>
              <a:srgbClr val="FFFFFF"/>
            </a:solidFill>
            <a:prstDash val="solid"/>
          </a:ln>
        </p:spPr>
      </p:sp>
      <p:sp>
        <p:nvSpPr>
          <p:cNvPr id="27" name="Text 25"/>
          <p:cNvSpPr/>
          <p:nvPr/>
        </p:nvSpPr>
        <p:spPr>
          <a:xfrm>
            <a:off x="3355848" y="2638044"/>
            <a:ext cx="1682496"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28" name="Shape 26"/>
          <p:cNvSpPr/>
          <p:nvPr/>
        </p:nvSpPr>
        <p:spPr>
          <a:xfrm>
            <a:off x="5129784" y="2560320"/>
            <a:ext cx="2157984" cy="512064"/>
          </a:xfrm>
          <a:prstGeom prst="rect">
            <a:avLst>
              <a:gd name="adj" fmla="val 14286"/>
            </a:avLst>
          </a:prstGeom>
          <a:solidFill>
            <a:srgbClr val="E2E4E8"/>
          </a:solidFill>
          <a:ln w="8890">
            <a:solidFill>
              <a:srgbClr val="FFFFFF"/>
            </a:solidFill>
            <a:prstDash val="solid"/>
          </a:ln>
        </p:spPr>
      </p:sp>
      <p:sp>
        <p:nvSpPr>
          <p:cNvPr id="29" name="Text 27"/>
          <p:cNvSpPr/>
          <p:nvPr/>
        </p:nvSpPr>
        <p:spPr>
          <a:xfrm>
            <a:off x="5221224" y="2638044"/>
            <a:ext cx="197510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30" name="Shape 28"/>
          <p:cNvSpPr/>
          <p:nvPr/>
        </p:nvSpPr>
        <p:spPr>
          <a:xfrm>
            <a:off x="7287768" y="2560320"/>
            <a:ext cx="2203704" cy="512064"/>
          </a:xfrm>
          <a:prstGeom prst="rect">
            <a:avLst>
              <a:gd name="adj" fmla="val 14286"/>
            </a:avLst>
          </a:prstGeom>
          <a:solidFill>
            <a:srgbClr val="E2E4E8"/>
          </a:solidFill>
          <a:ln w="8890">
            <a:solidFill>
              <a:srgbClr val="FFFFFF"/>
            </a:solidFill>
            <a:prstDash val="solid"/>
          </a:ln>
        </p:spPr>
      </p:sp>
      <p:sp>
        <p:nvSpPr>
          <p:cNvPr id="31" name="Text 29"/>
          <p:cNvSpPr/>
          <p:nvPr/>
        </p:nvSpPr>
        <p:spPr>
          <a:xfrm>
            <a:off x="7379208" y="2638044"/>
            <a:ext cx="202082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32" name="Shape 30"/>
          <p:cNvSpPr/>
          <p:nvPr/>
        </p:nvSpPr>
        <p:spPr>
          <a:xfrm>
            <a:off x="9491472" y="2560320"/>
            <a:ext cx="2194560" cy="512064"/>
          </a:xfrm>
          <a:prstGeom prst="rect">
            <a:avLst>
              <a:gd name="adj" fmla="val 14286"/>
            </a:avLst>
          </a:prstGeom>
          <a:solidFill>
            <a:srgbClr val="FCECF0"/>
          </a:solidFill>
          <a:ln w="8890">
            <a:solidFill>
              <a:srgbClr val="FFFFFF"/>
            </a:solidFill>
            <a:prstDash val="solid"/>
          </a:ln>
        </p:spPr>
      </p:sp>
      <p:sp>
        <p:nvSpPr>
          <p:cNvPr id="33" name="Text 31"/>
          <p:cNvSpPr/>
          <p:nvPr/>
        </p:nvSpPr>
        <p:spPr>
          <a:xfrm>
            <a:off x="9582912" y="2638044"/>
            <a:ext cx="2011680"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Must beat a</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low-cost control</a:t>
            </a:r>
            <a:endParaRPr lang="en-US" sz="1400" dirty="0"/>
          </a:p>
        </p:txBody>
      </p:sp>
      <p:sp>
        <p:nvSpPr>
          <p:cNvPr id="34" name="Shape 32"/>
          <p:cNvSpPr/>
          <p:nvPr/>
        </p:nvSpPr>
        <p:spPr>
          <a:xfrm>
            <a:off x="502920" y="3072384"/>
            <a:ext cx="2761488" cy="512064"/>
          </a:xfrm>
          <a:prstGeom prst="rect">
            <a:avLst>
              <a:gd name="adj" fmla="val 14286"/>
            </a:avLst>
          </a:prstGeom>
          <a:solidFill>
            <a:srgbClr val="FFFFFF"/>
          </a:solidFill>
          <a:ln w="8890">
            <a:solidFill>
              <a:srgbClr val="FFFFFF"/>
            </a:solidFill>
            <a:prstDash val="solid"/>
          </a:ln>
        </p:spPr>
      </p:sp>
      <p:sp>
        <p:nvSpPr>
          <p:cNvPr id="35" name="Text 33"/>
          <p:cNvSpPr/>
          <p:nvPr/>
        </p:nvSpPr>
        <p:spPr>
          <a:xfrm>
            <a:off x="594360" y="3150108"/>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Graphics, training, simulation</a:t>
            </a:r>
            <a:endParaRPr lang="en-US" sz="1400" dirty="0"/>
          </a:p>
        </p:txBody>
      </p:sp>
      <p:sp>
        <p:nvSpPr>
          <p:cNvPr id="36" name="Shape 34"/>
          <p:cNvSpPr/>
          <p:nvPr/>
        </p:nvSpPr>
        <p:spPr>
          <a:xfrm>
            <a:off x="3264408" y="3072384"/>
            <a:ext cx="1865376" cy="512064"/>
          </a:xfrm>
          <a:prstGeom prst="rect">
            <a:avLst>
              <a:gd name="adj" fmla="val 14286"/>
            </a:avLst>
          </a:prstGeom>
          <a:solidFill>
            <a:srgbClr val="E2E4E8"/>
          </a:solidFill>
          <a:ln w="8890">
            <a:solidFill>
              <a:srgbClr val="FFFFFF"/>
            </a:solidFill>
            <a:prstDash val="solid"/>
          </a:ln>
        </p:spPr>
      </p:sp>
      <p:sp>
        <p:nvSpPr>
          <p:cNvPr id="37" name="Text 35"/>
          <p:cNvSpPr/>
          <p:nvPr/>
        </p:nvSpPr>
        <p:spPr>
          <a:xfrm>
            <a:off x="3355848" y="3150108"/>
            <a:ext cx="1682496"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38" name="Shape 36"/>
          <p:cNvSpPr/>
          <p:nvPr/>
        </p:nvSpPr>
        <p:spPr>
          <a:xfrm>
            <a:off x="5129784" y="3072384"/>
            <a:ext cx="2157984" cy="512064"/>
          </a:xfrm>
          <a:prstGeom prst="rect">
            <a:avLst>
              <a:gd name="adj" fmla="val 14286"/>
            </a:avLst>
          </a:prstGeom>
          <a:solidFill>
            <a:srgbClr val="E2E4E8"/>
          </a:solidFill>
          <a:ln w="8890">
            <a:solidFill>
              <a:srgbClr val="FFFFFF"/>
            </a:solidFill>
            <a:prstDash val="solid"/>
          </a:ln>
        </p:spPr>
      </p:sp>
      <p:sp>
        <p:nvSpPr>
          <p:cNvPr id="39" name="Text 37"/>
          <p:cNvSpPr/>
          <p:nvPr/>
        </p:nvSpPr>
        <p:spPr>
          <a:xfrm>
            <a:off x="5221224" y="3150108"/>
            <a:ext cx="197510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40" name="Shape 38"/>
          <p:cNvSpPr/>
          <p:nvPr/>
        </p:nvSpPr>
        <p:spPr>
          <a:xfrm>
            <a:off x="7287768" y="3072384"/>
            <a:ext cx="2203704" cy="512064"/>
          </a:xfrm>
          <a:prstGeom prst="rect">
            <a:avLst>
              <a:gd name="adj" fmla="val 14286"/>
            </a:avLst>
          </a:prstGeom>
          <a:solidFill>
            <a:srgbClr val="F3F4F6"/>
          </a:solidFill>
          <a:ln w="8890">
            <a:solidFill>
              <a:srgbClr val="FFFFFF"/>
            </a:solidFill>
            <a:prstDash val="solid"/>
          </a:ln>
        </p:spPr>
      </p:sp>
      <p:sp>
        <p:nvSpPr>
          <p:cNvPr id="41" name="Text 39"/>
          <p:cNvSpPr/>
          <p:nvPr/>
        </p:nvSpPr>
        <p:spPr>
          <a:xfrm>
            <a:off x="7379208" y="3150108"/>
            <a:ext cx="2020824"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Platform dependent</a:t>
            </a:r>
            <a:endParaRPr lang="en-US" sz="1400" dirty="0"/>
          </a:p>
        </p:txBody>
      </p:sp>
      <p:sp>
        <p:nvSpPr>
          <p:cNvPr id="42" name="Shape 40"/>
          <p:cNvSpPr/>
          <p:nvPr/>
        </p:nvSpPr>
        <p:spPr>
          <a:xfrm>
            <a:off x="9491472" y="3072384"/>
            <a:ext cx="2194560" cy="512064"/>
          </a:xfrm>
          <a:prstGeom prst="rect">
            <a:avLst>
              <a:gd name="adj" fmla="val 14286"/>
            </a:avLst>
          </a:prstGeom>
          <a:solidFill>
            <a:srgbClr val="F5F5F5"/>
          </a:solidFill>
          <a:ln w="8890">
            <a:solidFill>
              <a:srgbClr val="FFFFFF"/>
            </a:solidFill>
            <a:prstDash val="solid"/>
          </a:ln>
        </p:spPr>
      </p:sp>
      <p:sp>
        <p:nvSpPr>
          <p:cNvPr id="43" name="Text 41"/>
          <p:cNvSpPr/>
          <p:nvPr/>
        </p:nvSpPr>
        <p:spPr>
          <a:xfrm>
            <a:off x="9582912" y="3150108"/>
            <a:ext cx="2011680" cy="384048"/>
          </a:xfrm>
          <a:prstGeom prst="rect">
            <a:avLst/>
          </a:prstGeom>
          <a:noFill/>
          <a:ln/>
        </p:spPr>
        <p:txBody>
          <a:bodyPr wrap="square" lIns="0" tIns="0" rIns="0" bIns="0" rtlCol="0" anchor="ctr"/>
          <a:lstStyle/>
          <a:p>
            <a:pPr indent="0" marL="0">
              <a:buNone/>
            </a:pPr>
            <a:r>
              <a:rPr lang="en-US" sz="1400" dirty="0">
                <a:solidFill>
                  <a:srgbClr val="5B6169"/>
                </a:solidFill>
                <a:latin typeface="Arial" pitchFamily="34" charset="0"/>
                <a:ea typeface="Arial" pitchFamily="34" charset="-122"/>
                <a:cs typeface="Arial" pitchFamily="34" charset="-120"/>
              </a:rPr>
              <a:t>Outside</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launch scope</a:t>
            </a:r>
            <a:endParaRPr lang="en-US" sz="1400" dirty="0"/>
          </a:p>
        </p:txBody>
      </p:sp>
      <p:sp>
        <p:nvSpPr>
          <p:cNvPr id="44" name="Shape 42"/>
          <p:cNvSpPr/>
          <p:nvPr/>
        </p:nvSpPr>
        <p:spPr>
          <a:xfrm>
            <a:off x="502920" y="3584448"/>
            <a:ext cx="2761488" cy="512064"/>
          </a:xfrm>
          <a:prstGeom prst="rect">
            <a:avLst>
              <a:gd name="adj" fmla="val 14286"/>
            </a:avLst>
          </a:prstGeom>
          <a:solidFill>
            <a:srgbClr val="F3F4F6"/>
          </a:solidFill>
          <a:ln w="8890">
            <a:solidFill>
              <a:srgbClr val="FFFFFF"/>
            </a:solidFill>
            <a:prstDash val="solid"/>
          </a:ln>
        </p:spPr>
      </p:sp>
      <p:sp>
        <p:nvSpPr>
          <p:cNvPr id="45" name="Text 43"/>
          <p:cNvSpPr/>
          <p:nvPr/>
        </p:nvSpPr>
        <p:spPr>
          <a:xfrm>
            <a:off x="594360" y="3662172"/>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Large resident model / evidence catalog</a:t>
            </a:r>
            <a:endParaRPr lang="en-US" sz="1400" dirty="0"/>
          </a:p>
        </p:txBody>
      </p:sp>
      <p:sp>
        <p:nvSpPr>
          <p:cNvPr id="46" name="Shape 44"/>
          <p:cNvSpPr/>
          <p:nvPr/>
        </p:nvSpPr>
        <p:spPr>
          <a:xfrm>
            <a:off x="3264408" y="3584448"/>
            <a:ext cx="1865376" cy="512064"/>
          </a:xfrm>
          <a:prstGeom prst="rect">
            <a:avLst>
              <a:gd name="adj" fmla="val 14286"/>
            </a:avLst>
          </a:prstGeom>
          <a:solidFill>
            <a:srgbClr val="F3F4F6"/>
          </a:solidFill>
          <a:ln w="8890">
            <a:solidFill>
              <a:srgbClr val="FFFFFF"/>
            </a:solidFill>
            <a:prstDash val="solid"/>
          </a:ln>
        </p:spPr>
      </p:sp>
      <p:sp>
        <p:nvSpPr>
          <p:cNvPr id="47" name="Text 45"/>
          <p:cNvSpPr/>
          <p:nvPr/>
        </p:nvSpPr>
        <p:spPr>
          <a:xfrm>
            <a:off x="3355848" y="3662172"/>
            <a:ext cx="1682496"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Capacity/config</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dependent</a:t>
            </a:r>
            <a:endParaRPr lang="en-US" sz="1400" dirty="0"/>
          </a:p>
        </p:txBody>
      </p:sp>
      <p:sp>
        <p:nvSpPr>
          <p:cNvPr id="48" name="Shape 46"/>
          <p:cNvSpPr/>
          <p:nvPr/>
        </p:nvSpPr>
        <p:spPr>
          <a:xfrm>
            <a:off x="5129784" y="3584448"/>
            <a:ext cx="2157984" cy="512064"/>
          </a:xfrm>
          <a:prstGeom prst="rect">
            <a:avLst>
              <a:gd name="adj" fmla="val 14286"/>
            </a:avLst>
          </a:prstGeom>
          <a:solidFill>
            <a:srgbClr val="E2E4E8"/>
          </a:solidFill>
          <a:ln w="8890">
            <a:solidFill>
              <a:srgbClr val="FFFFFF"/>
            </a:solidFill>
            <a:prstDash val="solid"/>
          </a:ln>
        </p:spPr>
      </p:sp>
      <p:sp>
        <p:nvSpPr>
          <p:cNvPr id="49" name="Text 47"/>
          <p:cNvSpPr/>
          <p:nvPr/>
        </p:nvSpPr>
        <p:spPr>
          <a:xfrm>
            <a:off x="5221224" y="3662172"/>
            <a:ext cx="197510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50" name="Shape 48"/>
          <p:cNvSpPr/>
          <p:nvPr/>
        </p:nvSpPr>
        <p:spPr>
          <a:xfrm>
            <a:off x="7287768" y="3584448"/>
            <a:ext cx="2203704" cy="512064"/>
          </a:xfrm>
          <a:prstGeom prst="rect">
            <a:avLst>
              <a:gd name="adj" fmla="val 14286"/>
            </a:avLst>
          </a:prstGeom>
          <a:solidFill>
            <a:srgbClr val="E2E4E8"/>
          </a:solidFill>
          <a:ln w="8890">
            <a:solidFill>
              <a:srgbClr val="FFFFFF"/>
            </a:solidFill>
            <a:prstDash val="solid"/>
          </a:ln>
        </p:spPr>
      </p:sp>
      <p:sp>
        <p:nvSpPr>
          <p:cNvPr id="51" name="Text 49"/>
          <p:cNvSpPr/>
          <p:nvPr/>
        </p:nvSpPr>
        <p:spPr>
          <a:xfrm>
            <a:off x="7379208" y="3662172"/>
            <a:ext cx="202082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52" name="Shape 50"/>
          <p:cNvSpPr/>
          <p:nvPr/>
        </p:nvSpPr>
        <p:spPr>
          <a:xfrm>
            <a:off x="9491472" y="3584448"/>
            <a:ext cx="2194560" cy="512064"/>
          </a:xfrm>
          <a:prstGeom prst="rect">
            <a:avLst>
              <a:gd name="adj" fmla="val 14286"/>
            </a:avLst>
          </a:prstGeom>
          <a:solidFill>
            <a:srgbClr val="F7C9D2"/>
          </a:solidFill>
          <a:ln w="8890">
            <a:solidFill>
              <a:srgbClr val="FFFFFF"/>
            </a:solidFill>
            <a:prstDash val="solid"/>
          </a:ln>
        </p:spPr>
      </p:sp>
      <p:sp>
        <p:nvSpPr>
          <p:cNvPr id="53" name="Text 51"/>
          <p:cNvSpPr/>
          <p:nvPr/>
        </p:nvSpPr>
        <p:spPr>
          <a:xfrm>
            <a:off x="9582912" y="3662172"/>
            <a:ext cx="2011680"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ATMOS</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candidate</a:t>
            </a:r>
            <a:endParaRPr lang="en-US" sz="1400" dirty="0"/>
          </a:p>
        </p:txBody>
      </p:sp>
      <p:sp>
        <p:nvSpPr>
          <p:cNvPr id="54" name="Shape 52"/>
          <p:cNvSpPr/>
          <p:nvPr/>
        </p:nvSpPr>
        <p:spPr>
          <a:xfrm>
            <a:off x="502920" y="4096512"/>
            <a:ext cx="2761488" cy="512064"/>
          </a:xfrm>
          <a:prstGeom prst="rect">
            <a:avLst>
              <a:gd name="adj" fmla="val 14286"/>
            </a:avLst>
          </a:prstGeom>
          <a:solidFill>
            <a:srgbClr val="FFFFFF"/>
          </a:solidFill>
          <a:ln w="8890">
            <a:solidFill>
              <a:srgbClr val="FFFFFF"/>
            </a:solidFill>
            <a:prstDash val="solid"/>
          </a:ln>
        </p:spPr>
      </p:sp>
      <p:sp>
        <p:nvSpPr>
          <p:cNvPr id="55" name="Text 53"/>
          <p:cNvSpPr/>
          <p:nvPr/>
        </p:nvSpPr>
        <p:spPr>
          <a:xfrm>
            <a:off x="594360" y="4174236"/>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Governed departmental RAG</a:t>
            </a:r>
            <a:endParaRPr lang="en-US" sz="1400" dirty="0"/>
          </a:p>
        </p:txBody>
      </p:sp>
      <p:sp>
        <p:nvSpPr>
          <p:cNvPr id="56" name="Shape 54"/>
          <p:cNvSpPr/>
          <p:nvPr/>
        </p:nvSpPr>
        <p:spPr>
          <a:xfrm>
            <a:off x="3264408" y="4096512"/>
            <a:ext cx="1865376" cy="512064"/>
          </a:xfrm>
          <a:prstGeom prst="rect">
            <a:avLst>
              <a:gd name="adj" fmla="val 14286"/>
            </a:avLst>
          </a:prstGeom>
          <a:solidFill>
            <a:srgbClr val="F3F4F6"/>
          </a:solidFill>
          <a:ln w="8890">
            <a:solidFill>
              <a:srgbClr val="FFFFFF"/>
            </a:solidFill>
            <a:prstDash val="solid"/>
          </a:ln>
        </p:spPr>
      </p:sp>
      <p:sp>
        <p:nvSpPr>
          <p:cNvPr id="57" name="Text 55"/>
          <p:cNvSpPr/>
          <p:nvPr/>
        </p:nvSpPr>
        <p:spPr>
          <a:xfrm>
            <a:off x="3355848" y="4174236"/>
            <a:ext cx="1682496"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Application stack</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required</a:t>
            </a:r>
            <a:endParaRPr lang="en-US" sz="1400" dirty="0"/>
          </a:p>
        </p:txBody>
      </p:sp>
      <p:sp>
        <p:nvSpPr>
          <p:cNvPr id="58" name="Shape 56"/>
          <p:cNvSpPr/>
          <p:nvPr/>
        </p:nvSpPr>
        <p:spPr>
          <a:xfrm>
            <a:off x="5129784" y="4096512"/>
            <a:ext cx="2157984" cy="512064"/>
          </a:xfrm>
          <a:prstGeom prst="rect">
            <a:avLst>
              <a:gd name="adj" fmla="val 14286"/>
            </a:avLst>
          </a:prstGeom>
          <a:solidFill>
            <a:srgbClr val="F3F4F6"/>
          </a:solidFill>
          <a:ln w="8890">
            <a:solidFill>
              <a:srgbClr val="FFFFFF"/>
            </a:solidFill>
            <a:prstDash val="solid"/>
          </a:ln>
        </p:spPr>
      </p:sp>
      <p:sp>
        <p:nvSpPr>
          <p:cNvPr id="59" name="Text 57"/>
          <p:cNvSpPr/>
          <p:nvPr/>
        </p:nvSpPr>
        <p:spPr>
          <a:xfrm>
            <a:off x="5221224" y="4174236"/>
            <a:ext cx="1975104"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Application stack</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required</a:t>
            </a:r>
            <a:endParaRPr lang="en-US" sz="1400" dirty="0"/>
          </a:p>
        </p:txBody>
      </p:sp>
      <p:sp>
        <p:nvSpPr>
          <p:cNvPr id="60" name="Shape 58"/>
          <p:cNvSpPr/>
          <p:nvPr/>
        </p:nvSpPr>
        <p:spPr>
          <a:xfrm>
            <a:off x="7287768" y="4096512"/>
            <a:ext cx="2203704" cy="512064"/>
          </a:xfrm>
          <a:prstGeom prst="rect">
            <a:avLst>
              <a:gd name="adj" fmla="val 14286"/>
            </a:avLst>
          </a:prstGeom>
          <a:solidFill>
            <a:srgbClr val="E2E4E8"/>
          </a:solidFill>
          <a:ln w="8890">
            <a:solidFill>
              <a:srgbClr val="FFFFFF"/>
            </a:solidFill>
            <a:prstDash val="solid"/>
          </a:ln>
        </p:spPr>
      </p:sp>
      <p:sp>
        <p:nvSpPr>
          <p:cNvPr id="61" name="Text 59"/>
          <p:cNvSpPr/>
          <p:nvPr/>
        </p:nvSpPr>
        <p:spPr>
          <a:xfrm>
            <a:off x="7379208" y="4174236"/>
            <a:ext cx="202082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62" name="Shape 60"/>
          <p:cNvSpPr/>
          <p:nvPr/>
        </p:nvSpPr>
        <p:spPr>
          <a:xfrm>
            <a:off x="9491472" y="4096512"/>
            <a:ext cx="2194560" cy="512064"/>
          </a:xfrm>
          <a:prstGeom prst="rect">
            <a:avLst>
              <a:gd name="adj" fmla="val 14286"/>
            </a:avLst>
          </a:prstGeom>
          <a:solidFill>
            <a:srgbClr val="F7C9D2"/>
          </a:solidFill>
          <a:ln w="8890">
            <a:solidFill>
              <a:srgbClr val="FFFFFF"/>
            </a:solidFill>
            <a:prstDash val="solid"/>
          </a:ln>
        </p:spPr>
      </p:sp>
      <p:sp>
        <p:nvSpPr>
          <p:cNvPr id="63" name="Text 61"/>
          <p:cNvSpPr/>
          <p:nvPr/>
        </p:nvSpPr>
        <p:spPr>
          <a:xfrm>
            <a:off x="9582912" y="4174236"/>
            <a:ext cx="2011680"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ATMOS</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candidate</a:t>
            </a:r>
            <a:endParaRPr lang="en-US" sz="1400" dirty="0"/>
          </a:p>
        </p:txBody>
      </p:sp>
      <p:sp>
        <p:nvSpPr>
          <p:cNvPr id="64" name="Shape 62"/>
          <p:cNvSpPr/>
          <p:nvPr/>
        </p:nvSpPr>
        <p:spPr>
          <a:xfrm>
            <a:off x="502920" y="4608576"/>
            <a:ext cx="2761488" cy="512064"/>
          </a:xfrm>
          <a:prstGeom prst="rect">
            <a:avLst>
              <a:gd name="adj" fmla="val 14286"/>
            </a:avLst>
          </a:prstGeom>
          <a:solidFill>
            <a:srgbClr val="F3F4F6"/>
          </a:solidFill>
          <a:ln w="8890">
            <a:solidFill>
              <a:srgbClr val="FFFFFF"/>
            </a:solidFill>
            <a:prstDash val="solid"/>
          </a:ln>
        </p:spPr>
      </p:sp>
      <p:sp>
        <p:nvSpPr>
          <p:cNvPr id="65" name="Text 63"/>
          <p:cNvSpPr/>
          <p:nvPr/>
        </p:nvSpPr>
        <p:spPr>
          <a:xfrm>
            <a:off x="594360" y="4686300"/>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Rich reranking / batch document work</a:t>
            </a:r>
            <a:endParaRPr lang="en-US" sz="1400" dirty="0"/>
          </a:p>
        </p:txBody>
      </p:sp>
      <p:sp>
        <p:nvSpPr>
          <p:cNvPr id="66" name="Shape 64"/>
          <p:cNvSpPr/>
          <p:nvPr/>
        </p:nvSpPr>
        <p:spPr>
          <a:xfrm>
            <a:off x="3264408" y="4608576"/>
            <a:ext cx="1865376" cy="512064"/>
          </a:xfrm>
          <a:prstGeom prst="rect">
            <a:avLst>
              <a:gd name="adj" fmla="val 14286"/>
            </a:avLst>
          </a:prstGeom>
          <a:solidFill>
            <a:srgbClr val="F3F4F6"/>
          </a:solidFill>
          <a:ln w="8890">
            <a:solidFill>
              <a:srgbClr val="FFFFFF"/>
            </a:solidFill>
            <a:prstDash val="solid"/>
          </a:ln>
        </p:spPr>
      </p:sp>
      <p:sp>
        <p:nvSpPr>
          <p:cNvPr id="67" name="Text 65"/>
          <p:cNvSpPr/>
          <p:nvPr/>
        </p:nvSpPr>
        <p:spPr>
          <a:xfrm>
            <a:off x="3355848" y="4686300"/>
            <a:ext cx="1682496"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Benchmark</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required</a:t>
            </a:r>
            <a:endParaRPr lang="en-US" sz="1400" dirty="0"/>
          </a:p>
        </p:txBody>
      </p:sp>
      <p:sp>
        <p:nvSpPr>
          <p:cNvPr id="68" name="Shape 66"/>
          <p:cNvSpPr/>
          <p:nvPr/>
        </p:nvSpPr>
        <p:spPr>
          <a:xfrm>
            <a:off x="5129784" y="4608576"/>
            <a:ext cx="2157984" cy="512064"/>
          </a:xfrm>
          <a:prstGeom prst="rect">
            <a:avLst>
              <a:gd name="adj" fmla="val 14286"/>
            </a:avLst>
          </a:prstGeom>
          <a:solidFill>
            <a:srgbClr val="E2E4E8"/>
          </a:solidFill>
          <a:ln w="8890">
            <a:solidFill>
              <a:srgbClr val="FFFFFF"/>
            </a:solidFill>
            <a:prstDash val="solid"/>
          </a:ln>
        </p:spPr>
      </p:sp>
      <p:sp>
        <p:nvSpPr>
          <p:cNvPr id="69" name="Text 67"/>
          <p:cNvSpPr/>
          <p:nvPr/>
        </p:nvSpPr>
        <p:spPr>
          <a:xfrm>
            <a:off x="5221224" y="4686300"/>
            <a:ext cx="197510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70" name="Shape 68"/>
          <p:cNvSpPr/>
          <p:nvPr/>
        </p:nvSpPr>
        <p:spPr>
          <a:xfrm>
            <a:off x="7287768" y="4608576"/>
            <a:ext cx="2203704" cy="512064"/>
          </a:xfrm>
          <a:prstGeom prst="rect">
            <a:avLst>
              <a:gd name="adj" fmla="val 14286"/>
            </a:avLst>
          </a:prstGeom>
          <a:solidFill>
            <a:srgbClr val="E2E4E8"/>
          </a:solidFill>
          <a:ln w="8890">
            <a:solidFill>
              <a:srgbClr val="FFFFFF"/>
            </a:solidFill>
            <a:prstDash val="solid"/>
          </a:ln>
        </p:spPr>
      </p:sp>
      <p:sp>
        <p:nvSpPr>
          <p:cNvPr id="71" name="Text 69"/>
          <p:cNvSpPr/>
          <p:nvPr/>
        </p:nvSpPr>
        <p:spPr>
          <a:xfrm>
            <a:off x="7379208" y="4686300"/>
            <a:ext cx="202082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72" name="Shape 70"/>
          <p:cNvSpPr/>
          <p:nvPr/>
        </p:nvSpPr>
        <p:spPr>
          <a:xfrm>
            <a:off x="9491472" y="4608576"/>
            <a:ext cx="2194560" cy="512064"/>
          </a:xfrm>
          <a:prstGeom prst="rect">
            <a:avLst>
              <a:gd name="adj" fmla="val 14286"/>
            </a:avLst>
          </a:prstGeom>
          <a:solidFill>
            <a:srgbClr val="F7C9D2"/>
          </a:solidFill>
          <a:ln w="8890">
            <a:solidFill>
              <a:srgbClr val="FFFFFF"/>
            </a:solidFill>
            <a:prstDash val="solid"/>
          </a:ln>
        </p:spPr>
      </p:sp>
      <p:sp>
        <p:nvSpPr>
          <p:cNvPr id="73" name="Text 71"/>
          <p:cNvSpPr/>
          <p:nvPr/>
        </p:nvSpPr>
        <p:spPr>
          <a:xfrm>
            <a:off x="9582912" y="4686300"/>
            <a:ext cx="2011680"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ATMOS</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candidate</a:t>
            </a:r>
            <a:endParaRPr lang="en-US" sz="1400" dirty="0"/>
          </a:p>
        </p:txBody>
      </p:sp>
      <p:sp>
        <p:nvSpPr>
          <p:cNvPr id="74" name="Shape 72"/>
          <p:cNvSpPr/>
          <p:nvPr/>
        </p:nvSpPr>
        <p:spPr>
          <a:xfrm>
            <a:off x="502920" y="5120640"/>
            <a:ext cx="2761488" cy="512064"/>
          </a:xfrm>
          <a:prstGeom prst="rect">
            <a:avLst>
              <a:gd name="adj" fmla="val 14286"/>
            </a:avLst>
          </a:prstGeom>
          <a:solidFill>
            <a:srgbClr val="FFFFFF"/>
          </a:solidFill>
          <a:ln w="8890">
            <a:solidFill>
              <a:srgbClr val="FFFFFF"/>
            </a:solidFill>
            <a:prstDash val="solid"/>
          </a:ln>
        </p:spPr>
      </p:sp>
      <p:sp>
        <p:nvSpPr>
          <p:cNvPr id="75" name="Text 73"/>
          <p:cNvSpPr/>
          <p:nvPr/>
        </p:nvSpPr>
        <p:spPr>
          <a:xfrm>
            <a:off x="594360" y="5198364"/>
            <a:ext cx="2578608"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Ultra-low token latency at large context</a:t>
            </a:r>
            <a:endParaRPr lang="en-US" sz="1400" dirty="0"/>
          </a:p>
        </p:txBody>
      </p:sp>
      <p:sp>
        <p:nvSpPr>
          <p:cNvPr id="76" name="Shape 74"/>
          <p:cNvSpPr/>
          <p:nvPr/>
        </p:nvSpPr>
        <p:spPr>
          <a:xfrm>
            <a:off x="3264408" y="5120640"/>
            <a:ext cx="1865376" cy="512064"/>
          </a:xfrm>
          <a:prstGeom prst="rect">
            <a:avLst>
              <a:gd name="adj" fmla="val 14286"/>
            </a:avLst>
          </a:prstGeom>
          <a:solidFill>
            <a:srgbClr val="F3F4F6"/>
          </a:solidFill>
          <a:ln w="8890">
            <a:solidFill>
              <a:srgbClr val="FFFFFF"/>
            </a:solidFill>
            <a:prstDash val="solid"/>
          </a:ln>
        </p:spPr>
      </p:sp>
      <p:sp>
        <p:nvSpPr>
          <p:cNvPr id="77" name="Text 75"/>
          <p:cNvSpPr/>
          <p:nvPr/>
        </p:nvSpPr>
        <p:spPr>
          <a:xfrm>
            <a:off x="3355848" y="5198364"/>
            <a:ext cx="1682496"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Model / load</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dependent</a:t>
            </a:r>
            <a:endParaRPr lang="en-US" sz="1400" dirty="0"/>
          </a:p>
        </p:txBody>
      </p:sp>
      <p:sp>
        <p:nvSpPr>
          <p:cNvPr id="78" name="Shape 76"/>
          <p:cNvSpPr/>
          <p:nvPr/>
        </p:nvSpPr>
        <p:spPr>
          <a:xfrm>
            <a:off x="5129784" y="5120640"/>
            <a:ext cx="2157984" cy="512064"/>
          </a:xfrm>
          <a:prstGeom prst="rect">
            <a:avLst>
              <a:gd name="adj" fmla="val 14286"/>
            </a:avLst>
          </a:prstGeom>
          <a:solidFill>
            <a:srgbClr val="E2E4E8"/>
          </a:solidFill>
          <a:ln w="8890">
            <a:solidFill>
              <a:srgbClr val="FFFFFF"/>
            </a:solidFill>
            <a:prstDash val="solid"/>
          </a:ln>
        </p:spPr>
      </p:sp>
      <p:sp>
        <p:nvSpPr>
          <p:cNvPr id="79" name="Text 77"/>
          <p:cNvSpPr/>
          <p:nvPr/>
        </p:nvSpPr>
        <p:spPr>
          <a:xfrm>
            <a:off x="5221224" y="5198364"/>
            <a:ext cx="1975104" cy="384048"/>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Established</a:t>
            </a:r>
            <a:endParaRPr lang="en-US" sz="1400" dirty="0"/>
          </a:p>
          <a:p>
            <a:pPr indent="0" marL="0">
              <a:buNone/>
            </a:pPr>
            <a:r>
              <a:rPr lang="en-US" sz="1400" b="1" dirty="0">
                <a:solidFill>
                  <a:srgbClr val="18191D"/>
                </a:solidFill>
                <a:latin typeface="Arial" pitchFamily="34" charset="0"/>
                <a:ea typeface="Arial" pitchFamily="34" charset="-122"/>
                <a:cs typeface="Arial" pitchFamily="34" charset="-120"/>
              </a:rPr>
              <a:t>control</a:t>
            </a:r>
            <a:endParaRPr lang="en-US" sz="1400" dirty="0"/>
          </a:p>
        </p:txBody>
      </p:sp>
      <p:sp>
        <p:nvSpPr>
          <p:cNvPr id="80" name="Shape 78"/>
          <p:cNvSpPr/>
          <p:nvPr/>
        </p:nvSpPr>
        <p:spPr>
          <a:xfrm>
            <a:off x="7287768" y="5120640"/>
            <a:ext cx="2203704" cy="512064"/>
          </a:xfrm>
          <a:prstGeom prst="rect">
            <a:avLst>
              <a:gd name="adj" fmla="val 14286"/>
            </a:avLst>
          </a:prstGeom>
          <a:solidFill>
            <a:srgbClr val="F3F4F6"/>
          </a:solidFill>
          <a:ln w="8890">
            <a:solidFill>
              <a:srgbClr val="FFFFFF"/>
            </a:solidFill>
            <a:prstDash val="solid"/>
          </a:ln>
        </p:spPr>
      </p:sp>
      <p:sp>
        <p:nvSpPr>
          <p:cNvPr id="81" name="Text 79"/>
          <p:cNvSpPr/>
          <p:nvPr/>
        </p:nvSpPr>
        <p:spPr>
          <a:xfrm>
            <a:off x="7379208" y="5198364"/>
            <a:ext cx="2020824" cy="384048"/>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Backend</a:t>
            </a:r>
            <a:endParaRPr lang="en-US" sz="1400" dirty="0"/>
          </a:p>
          <a:p>
            <a:pPr indent="0" marL="0">
              <a:buNone/>
            </a:pPr>
            <a:r>
              <a:rPr lang="en-US" sz="1400" dirty="0">
                <a:solidFill>
                  <a:srgbClr val="18191D"/>
                </a:solidFill>
                <a:latin typeface="Arial" pitchFamily="34" charset="0"/>
                <a:ea typeface="Arial" pitchFamily="34" charset="-122"/>
                <a:cs typeface="Arial" pitchFamily="34" charset="-120"/>
              </a:rPr>
              <a:t>dependent</a:t>
            </a:r>
            <a:endParaRPr lang="en-US" sz="1400" dirty="0"/>
          </a:p>
        </p:txBody>
      </p:sp>
      <p:sp>
        <p:nvSpPr>
          <p:cNvPr id="82" name="Shape 80"/>
          <p:cNvSpPr/>
          <p:nvPr/>
        </p:nvSpPr>
        <p:spPr>
          <a:xfrm>
            <a:off x="9491472" y="5120640"/>
            <a:ext cx="2194560" cy="512064"/>
          </a:xfrm>
          <a:prstGeom prst="rect">
            <a:avLst>
              <a:gd name="adj" fmla="val 14286"/>
            </a:avLst>
          </a:prstGeom>
          <a:solidFill>
            <a:srgbClr val="F3F4F6"/>
          </a:solidFill>
          <a:ln w="8890">
            <a:solidFill>
              <a:srgbClr val="FFFFFF"/>
            </a:solidFill>
            <a:prstDash val="solid"/>
          </a:ln>
        </p:spPr>
      </p:sp>
      <p:sp>
        <p:nvSpPr>
          <p:cNvPr id="83" name="Text 81"/>
          <p:cNvSpPr/>
          <p:nvPr/>
        </p:nvSpPr>
        <p:spPr>
          <a:xfrm>
            <a:off x="9582912" y="5198364"/>
            <a:ext cx="2011680" cy="384048"/>
          </a:xfrm>
          <a:prstGeom prst="rect">
            <a:avLst/>
          </a:prstGeom>
          <a:noFill/>
          <a:ln/>
        </p:spPr>
        <p:txBody>
          <a:bodyPr wrap="square" lIns="0" tIns="0" rIns="0" bIns="0" rtlCol="0" anchor="ctr"/>
          <a:lstStyle/>
          <a:p>
            <a:pPr indent="0" marL="0">
              <a:buNone/>
            </a:pPr>
            <a:r>
              <a:rPr lang="en-US" sz="1400" dirty="0">
                <a:solidFill>
                  <a:srgbClr val="5B6169"/>
                </a:solidFill>
                <a:latin typeface="Arial" pitchFamily="34" charset="0"/>
                <a:ea typeface="Arial" pitchFamily="34" charset="-122"/>
                <a:cs typeface="Arial" pitchFamily="34" charset="-120"/>
              </a:rPr>
              <a:t>Not a broad</a:t>
            </a:r>
            <a:endParaRPr lang="en-US" sz="1400" dirty="0"/>
          </a:p>
          <a:p>
            <a:pPr indent="0" marL="0">
              <a:buNone/>
            </a:pPr>
            <a:r>
              <a:rPr lang="en-US" sz="1400" dirty="0">
                <a:solidFill>
                  <a:srgbClr val="5B6169"/>
                </a:solidFill>
                <a:latin typeface="Arial" pitchFamily="34" charset="0"/>
                <a:ea typeface="Arial" pitchFamily="34" charset="-122"/>
                <a:cs typeface="Arial" pitchFamily="34" charset="-120"/>
              </a:rPr>
              <a:t>launch promise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SKU → CUSTOMER OUTCOME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W4 and D8/E8 serve different operational scales.</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Proposed example workflows derived from the PRD—not deployments attributed to the named NVIDIA customers.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D8 and E8 have the same capacity/performance envelope; E8 adds the production integration and support profile.</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§2,5,16</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M07</a:t>
            </a:r>
            <a:endParaRPr lang="en-US" sz="920" dirty="0"/>
          </a:p>
        </p:txBody>
      </p:sp>
      <p:sp>
        <p:nvSpPr>
          <p:cNvPr id="14" name="Shape 12"/>
          <p:cNvSpPr/>
          <p:nvPr/>
        </p:nvSpPr>
        <p:spPr>
          <a:xfrm>
            <a:off x="502920" y="2112264"/>
            <a:ext cx="5495544" cy="3657600"/>
          </a:xfrm>
          <a:prstGeom prst="rect">
            <a:avLst>
              <a:gd name="adj" fmla="val 2000"/>
            </a:avLst>
          </a:prstGeom>
          <a:solidFill>
            <a:srgbClr val="F3F4F6"/>
          </a:solidFill>
          <a:ln w="12700">
            <a:solidFill>
              <a:srgbClr val="F3F4F6"/>
            </a:solidFill>
            <a:prstDash val="solid"/>
          </a:ln>
        </p:spPr>
      </p:sp>
      <p:sp>
        <p:nvSpPr>
          <p:cNvPr id="15" name="Text 13"/>
          <p:cNvSpPr/>
          <p:nvPr/>
        </p:nvSpPr>
        <p:spPr>
          <a:xfrm>
            <a:off x="667512" y="2258568"/>
            <a:ext cx="5157216" cy="338328"/>
          </a:xfrm>
          <a:prstGeom prst="rect">
            <a:avLst/>
          </a:prstGeom>
          <a:noFill/>
          <a:ln/>
        </p:spPr>
        <p:txBody>
          <a:bodyPr wrap="square" lIns="0" tIns="0" rIns="0" bIns="0" rtlCol="0" anchor="ctr"/>
          <a:lstStyle/>
          <a:p>
            <a:pPr indent="0" marL="0">
              <a:buNone/>
            </a:pPr>
            <a:r>
              <a:rPr lang="en-US" sz="1800" b="1" dirty="0">
                <a:solidFill>
                  <a:srgbClr val="18191D"/>
                </a:solidFill>
                <a:latin typeface="Arial" pitchFamily="34" charset="0"/>
                <a:ea typeface="Arial" pitchFamily="34" charset="-122"/>
                <a:cs typeface="Arial" pitchFamily="34" charset="-120"/>
              </a:rPr>
              <a:t>W4 | private matter / engineering desk</a:t>
            </a:r>
            <a:endParaRPr lang="en-US" sz="1800" dirty="0"/>
          </a:p>
        </p:txBody>
      </p:sp>
      <p:pic>
        <p:nvPicPr>
          <p:cNvPr id="16" name="Image 0" descr="/mnt/data/atmos_market_work/v3_slide5_image0.png">    </p:cNvPr>
          <p:cNvPicPr>
            <a:picLocks noChangeAspect="1"/>
          </p:cNvPicPr>
          <p:nvPr/>
        </p:nvPicPr>
        <p:blipFill>
          <a:blip r:embed="rId2"/>
          <a:stretch>
            <a:fillRect/>
          </a:stretch>
        </p:blipFill>
        <p:spPr>
          <a:xfrm>
            <a:off x="4279392" y="2660904"/>
            <a:ext cx="1417320" cy="768096"/>
          </a:xfrm>
          <a:prstGeom prst="rect">
            <a:avLst/>
          </a:prstGeom>
        </p:spPr>
      </p:pic>
      <p:sp>
        <p:nvSpPr>
          <p:cNvPr id="17" name="Text 14"/>
          <p:cNvSpPr/>
          <p:nvPr/>
        </p:nvSpPr>
        <p:spPr>
          <a:xfrm>
            <a:off x="667512" y="2752344"/>
            <a:ext cx="3273552" cy="512064"/>
          </a:xfrm>
          <a:prstGeom prst="rect">
            <a:avLst/>
          </a:prstGeom>
          <a:noFill/>
          <a:ln/>
        </p:spPr>
        <p:txBody>
          <a:bodyPr wrap="square" lIns="0" tIns="0" rIns="0" bIns="0" rtlCol="0" anchor="ctr"/>
          <a:lstStyle/>
          <a:p>
            <a:pPr indent="0" marL="0">
              <a:buNone/>
            </a:pPr>
            <a:r>
              <a:rPr lang="en-US" sz="1600" b="1" dirty="0">
                <a:solidFill>
                  <a:srgbClr val="E31837"/>
                </a:solidFill>
                <a:latin typeface="Arial" pitchFamily="34" charset="0"/>
                <a:ea typeface="Arial" pitchFamily="34" charset="-122"/>
                <a:cs typeface="Arial" pitchFamily="34" charset="-120"/>
              </a:rPr>
              <a:t>4 modules • 400 GB HBF study allocation</a:t>
            </a:r>
            <a:endParaRPr lang="en-US" sz="1600" dirty="0"/>
          </a:p>
        </p:txBody>
      </p:sp>
      <p:sp>
        <p:nvSpPr>
          <p:cNvPr id="18" name="Text 15"/>
          <p:cNvSpPr/>
          <p:nvPr/>
        </p:nvSpPr>
        <p:spPr>
          <a:xfrm>
            <a:off x="667512" y="3511296"/>
            <a:ext cx="5120640" cy="685800"/>
          </a:xfrm>
          <a:prstGeom prst="rect">
            <a:avLst/>
          </a:prstGeom>
          <a:noFill/>
          <a:ln/>
        </p:spPr>
        <p:txBody>
          <a:bodyPr wrap="square" lIns="0" tIns="0" rIns="0" bIns="0" rtlCol="0" anchor="ctr"/>
          <a:lstStyle/>
          <a:p>
            <a:pPr indent="0" marL="0">
              <a:buNone/>
            </a:pPr>
            <a:r>
              <a:rPr lang="en-US" sz="1560" dirty="0">
                <a:solidFill>
                  <a:srgbClr val="5B6169"/>
                </a:solidFill>
                <a:latin typeface="Arial" pitchFamily="34" charset="0"/>
                <a:ea typeface="Arial" pitchFamily="34" charset="-122"/>
                <a:cs typeface="Arial" pitchFamily="34" charset="-120"/>
              </a:rPr>
              <a:t>A specialist keeps confidential reference collections local. Start with retrieval-only; add a certified generator when useful.</a:t>
            </a:r>
            <a:endParaRPr lang="en-US" sz="1560" dirty="0"/>
          </a:p>
        </p:txBody>
      </p:sp>
      <p:sp>
        <p:nvSpPr>
          <p:cNvPr id="19" name="Shape 16"/>
          <p:cNvSpPr/>
          <p:nvPr/>
        </p:nvSpPr>
        <p:spPr>
          <a:xfrm>
            <a:off x="667512" y="4288536"/>
            <a:ext cx="5157216" cy="402336"/>
          </a:xfrm>
          <a:prstGeom prst="rect">
            <a:avLst>
              <a:gd name="adj" fmla="val 18182"/>
            </a:avLst>
          </a:prstGeom>
          <a:solidFill>
            <a:srgbClr val="18191D"/>
          </a:solidFill>
          <a:ln w="12700">
            <a:solidFill>
              <a:srgbClr val="18191D"/>
            </a:solidFill>
            <a:prstDash val="solid"/>
          </a:ln>
        </p:spPr>
      </p:sp>
      <p:sp>
        <p:nvSpPr>
          <p:cNvPr id="20" name="Text 17"/>
          <p:cNvSpPr/>
          <p:nvPr/>
        </p:nvSpPr>
        <p:spPr>
          <a:xfrm>
            <a:off x="768096" y="4361688"/>
            <a:ext cx="4946904" cy="21945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Approved files → cited search → draft summary</a:t>
            </a:r>
            <a:endParaRPr lang="en-US" sz="1350" dirty="0"/>
          </a:p>
        </p:txBody>
      </p:sp>
      <p:sp>
        <p:nvSpPr>
          <p:cNvPr id="21" name="Text 18"/>
          <p:cNvSpPr/>
          <p:nvPr/>
        </p:nvSpPr>
        <p:spPr>
          <a:xfrm>
            <a:off x="667512" y="4882896"/>
            <a:ext cx="5138928" cy="493776"/>
          </a:xfrm>
          <a:prstGeom prst="rect">
            <a:avLst/>
          </a:prstGeom>
          <a:noFill/>
          <a:ln/>
        </p:spPr>
        <p:txBody>
          <a:bodyPr wrap="square" lIns="0" tIns="0" rIns="0" bIns="0" rtlCol="0" anchor="ctr"/>
          <a:lstStyle/>
          <a:p>
            <a:pPr indent="0" marL="0">
              <a:buNone/>
            </a:pPr>
            <a:r>
              <a:rPr lang="en-US" sz="1510" dirty="0">
                <a:solidFill>
                  <a:srgbClr val="18191D"/>
                </a:solidFill>
                <a:latin typeface="Arial" pitchFamily="34" charset="0"/>
                <a:ea typeface="Arial" pitchFamily="34" charset="-122"/>
                <a:cs typeface="Arial" pitchFamily="34" charset="-120"/>
              </a:rPr>
              <a:t>Prove: time to accepted evidence, ACL correctness,</a:t>
            </a:r>
            <a:endParaRPr lang="en-US" sz="1510" dirty="0"/>
          </a:p>
          <a:p>
            <a:pPr indent="0" marL="0">
              <a:buNone/>
            </a:pPr>
            <a:r>
              <a:rPr lang="en-US" sz="1510" dirty="0">
                <a:solidFill>
                  <a:srgbClr val="18191D"/>
                </a:solidFill>
                <a:latin typeface="Arial" pitchFamily="34" charset="0"/>
                <a:ea typeface="Arial" pitchFamily="34" charset="-122"/>
                <a:cs typeface="Arial" pitchFamily="34" charset="-120"/>
              </a:rPr>
              <a:t>local operation and acceptable office acoustics.</a:t>
            </a:r>
            <a:endParaRPr lang="en-US" sz="1510" dirty="0"/>
          </a:p>
        </p:txBody>
      </p:sp>
      <p:sp>
        <p:nvSpPr>
          <p:cNvPr id="22" name="Text 19"/>
          <p:cNvSpPr/>
          <p:nvPr/>
        </p:nvSpPr>
        <p:spPr>
          <a:xfrm>
            <a:off x="667512" y="5513832"/>
            <a:ext cx="5138928" cy="182880"/>
          </a:xfrm>
          <a:prstGeom prst="rect">
            <a:avLst/>
          </a:prstGeom>
          <a:noFill/>
          <a:ln/>
        </p:spPr>
        <p:txBody>
          <a:bodyPr wrap="square" lIns="0" tIns="0" rIns="0" bIns="0" rtlCol="0" anchor="ctr"/>
          <a:lstStyle/>
          <a:p>
            <a:pPr indent="0" marL="0">
              <a:buNone/>
            </a:pPr>
            <a:r>
              <a:rPr lang="en-US" sz="1260" b="1" dirty="0">
                <a:solidFill>
                  <a:srgbClr val="E31837"/>
                </a:solidFill>
                <a:latin typeface="Arial" pitchFamily="34" charset="0"/>
                <a:ea typeface="Arial" pitchFamily="34" charset="-122"/>
                <a:cs typeface="Arial" pitchFamily="34" charset="-120"/>
              </a:rPr>
              <a:t>R1 target ≥5 QPS • G1 target ≥40 output tok/s</a:t>
            </a:r>
            <a:endParaRPr lang="en-US" sz="1260" dirty="0"/>
          </a:p>
        </p:txBody>
      </p:sp>
      <p:sp>
        <p:nvSpPr>
          <p:cNvPr id="23" name="Shape 20"/>
          <p:cNvSpPr/>
          <p:nvPr/>
        </p:nvSpPr>
        <p:spPr>
          <a:xfrm>
            <a:off x="6190488" y="2112264"/>
            <a:ext cx="5495544" cy="3657600"/>
          </a:xfrm>
          <a:prstGeom prst="rect">
            <a:avLst>
              <a:gd name="adj" fmla="val 2000"/>
            </a:avLst>
          </a:prstGeom>
          <a:solidFill>
            <a:srgbClr val="F3F4F6"/>
          </a:solidFill>
          <a:ln w="12700">
            <a:solidFill>
              <a:srgbClr val="F3F4F6"/>
            </a:solidFill>
            <a:prstDash val="solid"/>
          </a:ln>
        </p:spPr>
      </p:sp>
      <p:sp>
        <p:nvSpPr>
          <p:cNvPr id="24" name="Text 21"/>
          <p:cNvSpPr/>
          <p:nvPr/>
        </p:nvSpPr>
        <p:spPr>
          <a:xfrm>
            <a:off x="6355080" y="2258568"/>
            <a:ext cx="5157216" cy="338328"/>
          </a:xfrm>
          <a:prstGeom prst="rect">
            <a:avLst/>
          </a:prstGeom>
          <a:noFill/>
          <a:ln/>
        </p:spPr>
        <p:txBody>
          <a:bodyPr wrap="square" lIns="0" tIns="0" rIns="0" bIns="0" rtlCol="0" anchor="ctr"/>
          <a:lstStyle/>
          <a:p>
            <a:pPr indent="0" marL="0">
              <a:buNone/>
            </a:pPr>
            <a:r>
              <a:rPr lang="en-US" sz="1800" b="1" dirty="0">
                <a:solidFill>
                  <a:srgbClr val="18191D"/>
                </a:solidFill>
                <a:latin typeface="Arial" pitchFamily="34" charset="0"/>
                <a:ea typeface="Arial" pitchFamily="34" charset="-122"/>
                <a:cs typeface="Arial" pitchFamily="34" charset="-120"/>
              </a:rPr>
              <a:t>D8 / E8 | insurance claims evidence</a:t>
            </a:r>
            <a:endParaRPr lang="en-US" sz="1800" dirty="0"/>
          </a:p>
        </p:txBody>
      </p:sp>
      <p:pic>
        <p:nvPicPr>
          <p:cNvPr id="25" name="Image 1" descr="/mnt/data/atmos_market_work/v3_slide5_image1.png">    </p:cNvPr>
          <p:cNvPicPr>
            <a:picLocks noChangeAspect="1"/>
          </p:cNvPicPr>
          <p:nvPr/>
        </p:nvPicPr>
        <p:blipFill>
          <a:blip r:embed="rId3"/>
          <a:stretch>
            <a:fillRect/>
          </a:stretch>
        </p:blipFill>
        <p:spPr>
          <a:xfrm>
            <a:off x="9966960" y="2660904"/>
            <a:ext cx="1417320" cy="768096"/>
          </a:xfrm>
          <a:prstGeom prst="rect">
            <a:avLst/>
          </a:prstGeom>
        </p:spPr>
      </p:pic>
      <p:sp>
        <p:nvSpPr>
          <p:cNvPr id="26" name="Text 22"/>
          <p:cNvSpPr/>
          <p:nvPr/>
        </p:nvSpPr>
        <p:spPr>
          <a:xfrm>
            <a:off x="6355080" y="2752344"/>
            <a:ext cx="3273552" cy="512064"/>
          </a:xfrm>
          <a:prstGeom prst="rect">
            <a:avLst/>
          </a:prstGeom>
          <a:noFill/>
          <a:ln/>
        </p:spPr>
        <p:txBody>
          <a:bodyPr wrap="square" lIns="0" tIns="0" rIns="0" bIns="0" rtlCol="0" anchor="ctr"/>
          <a:lstStyle/>
          <a:p>
            <a:pPr indent="0" marL="0">
              <a:buNone/>
            </a:pPr>
            <a:r>
              <a:rPr lang="en-US" sz="1600" b="1" dirty="0">
                <a:solidFill>
                  <a:srgbClr val="E31837"/>
                </a:solidFill>
                <a:latin typeface="Arial" pitchFamily="34" charset="0"/>
                <a:ea typeface="Arial" pitchFamily="34" charset="-122"/>
                <a:cs typeface="Arial" pitchFamily="34" charset="-120"/>
              </a:rPr>
              <a:t>8 modules • 800 GB HBF study allocation</a:t>
            </a:r>
            <a:endParaRPr lang="en-US" sz="1600" dirty="0"/>
          </a:p>
        </p:txBody>
      </p:sp>
      <p:sp>
        <p:nvSpPr>
          <p:cNvPr id="27" name="Text 23"/>
          <p:cNvSpPr/>
          <p:nvPr/>
        </p:nvSpPr>
        <p:spPr>
          <a:xfrm>
            <a:off x="6355080" y="3511296"/>
            <a:ext cx="5120640" cy="685800"/>
          </a:xfrm>
          <a:prstGeom prst="rect">
            <a:avLst/>
          </a:prstGeom>
          <a:noFill/>
          <a:ln/>
        </p:spPr>
        <p:txBody>
          <a:bodyPr wrap="square" lIns="0" tIns="0" rIns="0" bIns="0" rtlCol="0" anchor="ctr"/>
          <a:lstStyle/>
          <a:p>
            <a:pPr indent="0" marL="0">
              <a:buNone/>
            </a:pPr>
            <a:r>
              <a:rPr lang="en-US" sz="1560" dirty="0">
                <a:solidFill>
                  <a:srgbClr val="5B6169"/>
                </a:solidFill>
                <a:latin typeface="Arial" pitchFamily="34" charset="0"/>
                <a:ea typeface="Arial" pitchFamily="34" charset="-122"/>
                <a:cs typeface="Arial" pitchFamily="34" charset="-120"/>
              </a:rPr>
              <a:t>A department shares policy and document intelligence through quotas, versioned collections and controlled queues.</a:t>
            </a:r>
            <a:endParaRPr lang="en-US" sz="1560" dirty="0"/>
          </a:p>
        </p:txBody>
      </p:sp>
      <p:sp>
        <p:nvSpPr>
          <p:cNvPr id="28" name="Shape 24"/>
          <p:cNvSpPr/>
          <p:nvPr/>
        </p:nvSpPr>
        <p:spPr>
          <a:xfrm>
            <a:off x="6355080" y="4288536"/>
            <a:ext cx="5157216" cy="402336"/>
          </a:xfrm>
          <a:prstGeom prst="rect">
            <a:avLst>
              <a:gd name="adj" fmla="val 18182"/>
            </a:avLst>
          </a:prstGeom>
          <a:solidFill>
            <a:srgbClr val="18191D"/>
          </a:solidFill>
          <a:ln w="12700">
            <a:solidFill>
              <a:srgbClr val="18191D"/>
            </a:solidFill>
            <a:prstDash val="solid"/>
          </a:ln>
        </p:spPr>
      </p:sp>
      <p:sp>
        <p:nvSpPr>
          <p:cNvPr id="29" name="Text 25"/>
          <p:cNvSpPr/>
          <p:nvPr/>
        </p:nvSpPr>
        <p:spPr>
          <a:xfrm>
            <a:off x="6455664" y="4361688"/>
            <a:ext cx="4946904" cy="21945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Claim file + policy → rerank → reviewer evidence</a:t>
            </a:r>
            <a:endParaRPr lang="en-US" sz="1350" dirty="0"/>
          </a:p>
        </p:txBody>
      </p:sp>
      <p:sp>
        <p:nvSpPr>
          <p:cNvPr id="30" name="Text 26"/>
          <p:cNvSpPr/>
          <p:nvPr/>
        </p:nvSpPr>
        <p:spPr>
          <a:xfrm>
            <a:off x="6355080" y="4882896"/>
            <a:ext cx="5138928" cy="493776"/>
          </a:xfrm>
          <a:prstGeom prst="rect">
            <a:avLst/>
          </a:prstGeom>
          <a:noFill/>
          <a:ln/>
        </p:spPr>
        <p:txBody>
          <a:bodyPr wrap="square" lIns="0" tIns="0" rIns="0" bIns="0" rtlCol="0" anchor="ctr"/>
          <a:lstStyle/>
          <a:p>
            <a:pPr indent="0" marL="0">
              <a:buNone/>
            </a:pPr>
            <a:r>
              <a:rPr lang="en-US" sz="1510" dirty="0">
                <a:solidFill>
                  <a:srgbClr val="18191D"/>
                </a:solidFill>
                <a:latin typeface="Arial" pitchFamily="34" charset="0"/>
                <a:ea typeface="Arial" pitchFamily="34" charset="-122"/>
                <a:cs typeface="Arial" pitchFamily="34" charset="-120"/>
              </a:rPr>
              <a:t>Prove: reviewer acceptance, citation quality,</a:t>
            </a:r>
            <a:endParaRPr lang="en-US" sz="1510" dirty="0"/>
          </a:p>
          <a:p>
            <a:pPr indent="0" marL="0">
              <a:buNone/>
            </a:pPr>
            <a:r>
              <a:rPr lang="en-US" sz="1510" dirty="0">
                <a:solidFill>
                  <a:srgbClr val="18191D"/>
                </a:solidFill>
                <a:latin typeface="Arial" pitchFamily="34" charset="0"/>
                <a:ea typeface="Arial" pitchFamily="34" charset="-122"/>
                <a:cs typeface="Arial" pitchFamily="34" charset="-120"/>
              </a:rPr>
              <a:t>case-preparation time and recovery behavior.</a:t>
            </a:r>
            <a:endParaRPr lang="en-US" sz="1510" dirty="0"/>
          </a:p>
        </p:txBody>
      </p:sp>
      <p:sp>
        <p:nvSpPr>
          <p:cNvPr id="31" name="Text 27"/>
          <p:cNvSpPr/>
          <p:nvPr/>
        </p:nvSpPr>
        <p:spPr>
          <a:xfrm>
            <a:off x="6355080" y="5513832"/>
            <a:ext cx="5138928" cy="182880"/>
          </a:xfrm>
          <a:prstGeom prst="rect">
            <a:avLst/>
          </a:prstGeom>
          <a:noFill/>
          <a:ln/>
        </p:spPr>
        <p:txBody>
          <a:bodyPr wrap="square" lIns="0" tIns="0" rIns="0" bIns="0" rtlCol="0" anchor="ctr"/>
          <a:lstStyle/>
          <a:p>
            <a:pPr indent="0" marL="0">
              <a:buNone/>
            </a:pPr>
            <a:r>
              <a:rPr lang="en-US" sz="1260" b="1" dirty="0">
                <a:solidFill>
                  <a:srgbClr val="E31837"/>
                </a:solidFill>
                <a:latin typeface="Arial" pitchFamily="34" charset="0"/>
                <a:ea typeface="Arial" pitchFamily="34" charset="-122"/>
                <a:cs typeface="Arial" pitchFamily="34" charset="-120"/>
              </a:rPr>
              <a:t>R1 target ≥10 QPS • G1 target ≥80 output tok/s</a:t>
            </a:r>
            <a:endParaRPr lang="en-US" sz="1260" dirty="0"/>
          </a:p>
        </p:txBody>
      </p:sp>
      <p:sp>
        <p:nvSpPr>
          <p:cNvPr id="32" name="Text 28"/>
          <p:cNvSpPr/>
          <p:nvPr/>
        </p:nvSpPr>
        <p:spPr>
          <a:xfrm>
            <a:off x="548640" y="5843016"/>
            <a:ext cx="11027664" cy="146304"/>
          </a:xfrm>
          <a:prstGeom prst="rect">
            <a:avLst/>
          </a:prstGeom>
          <a:noFill/>
          <a:ln/>
        </p:spPr>
        <p:txBody>
          <a:bodyPr wrap="square" lIns="0" tIns="0" rIns="0" bIns="0" rtlCol="0" anchor="ctr"/>
          <a:lstStyle/>
          <a:p>
            <a:pPr indent="0" marL="0">
              <a:buNone/>
            </a:pPr>
            <a:r>
              <a:rPr lang="en-US" sz="950" dirty="0">
                <a:solidFill>
                  <a:srgbClr val="5B6169"/>
                </a:solidFill>
                <a:latin typeface="Arial" pitchFamily="34" charset="0"/>
                <a:ea typeface="Arial" pitchFamily="34" charset="-122"/>
                <a:cs typeface="Arial" pitchFamily="34" charset="-120"/>
              </a:rPr>
              <a:t>Appliance images: V3 concepts only. R1 and G1 are separate qualification profiles—not combined workload results.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SKU → CUSTOMER OUTCOME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E16 and E24 scale shared services—not single-token speed.</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Add complete serving groups and durable operations. Device count is not user count or an HA guarantee.</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E24 is a gated stretch profile. Confirm six-domain communication, thermals, real demand and service economics.</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§2,5,9,16</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M08</a:t>
            </a:r>
            <a:endParaRPr lang="en-US" sz="920" dirty="0"/>
          </a:p>
        </p:txBody>
      </p:sp>
      <p:sp>
        <p:nvSpPr>
          <p:cNvPr id="14" name="Shape 12"/>
          <p:cNvSpPr/>
          <p:nvPr/>
        </p:nvSpPr>
        <p:spPr>
          <a:xfrm>
            <a:off x="502920" y="2112264"/>
            <a:ext cx="5495544" cy="3657600"/>
          </a:xfrm>
          <a:prstGeom prst="rect">
            <a:avLst>
              <a:gd name="adj" fmla="val 2000"/>
            </a:avLst>
          </a:prstGeom>
          <a:solidFill>
            <a:srgbClr val="F3F4F6"/>
          </a:solidFill>
          <a:ln w="12700">
            <a:solidFill>
              <a:srgbClr val="F3F4F6"/>
            </a:solidFill>
            <a:prstDash val="solid"/>
          </a:ln>
        </p:spPr>
      </p:sp>
      <p:sp>
        <p:nvSpPr>
          <p:cNvPr id="15" name="Text 13"/>
          <p:cNvSpPr/>
          <p:nvPr/>
        </p:nvSpPr>
        <p:spPr>
          <a:xfrm>
            <a:off x="667512" y="2258568"/>
            <a:ext cx="5157216" cy="384048"/>
          </a:xfrm>
          <a:prstGeom prst="rect">
            <a:avLst/>
          </a:prstGeom>
          <a:noFill/>
          <a:ln/>
        </p:spPr>
        <p:txBody>
          <a:bodyPr wrap="square" lIns="0" tIns="0" rIns="0" bIns="0" rtlCol="0" anchor="ctr"/>
          <a:lstStyle/>
          <a:p>
            <a:pPr indent="0" marL="0">
              <a:buNone/>
            </a:pPr>
            <a:r>
              <a:rPr lang="en-US" sz="1750" b="1" dirty="0">
                <a:solidFill>
                  <a:srgbClr val="18191D"/>
                </a:solidFill>
                <a:latin typeface="Arial" pitchFamily="34" charset="0"/>
                <a:ea typeface="Arial" pitchFamily="34" charset="-122"/>
                <a:cs typeface="Arial" pitchFamily="34" charset="-120"/>
              </a:rPr>
              <a:t>E16 | bank policy and investigation service</a:t>
            </a:r>
            <a:endParaRPr lang="en-US" sz="1750" dirty="0"/>
          </a:p>
        </p:txBody>
      </p:sp>
      <p:pic>
        <p:nvPicPr>
          <p:cNvPr id="16" name="Image 0" descr="/mnt/data/atmos_market_work/v3_slide5_image2.png">    </p:cNvPr>
          <p:cNvPicPr>
            <a:picLocks noChangeAspect="1"/>
          </p:cNvPicPr>
          <p:nvPr/>
        </p:nvPicPr>
        <p:blipFill>
          <a:blip r:embed="rId2"/>
          <a:stretch>
            <a:fillRect/>
          </a:stretch>
        </p:blipFill>
        <p:spPr>
          <a:xfrm>
            <a:off x="4279392" y="2660904"/>
            <a:ext cx="1417320" cy="768096"/>
          </a:xfrm>
          <a:prstGeom prst="rect">
            <a:avLst/>
          </a:prstGeom>
        </p:spPr>
      </p:pic>
      <p:sp>
        <p:nvSpPr>
          <p:cNvPr id="17" name="Text 14"/>
          <p:cNvSpPr/>
          <p:nvPr/>
        </p:nvSpPr>
        <p:spPr>
          <a:xfrm>
            <a:off x="667512" y="2752344"/>
            <a:ext cx="3273552" cy="530352"/>
          </a:xfrm>
          <a:prstGeom prst="rect">
            <a:avLst/>
          </a:prstGeom>
          <a:noFill/>
          <a:ln/>
        </p:spPr>
        <p:txBody>
          <a:bodyPr wrap="square" lIns="0" tIns="0" rIns="0" bIns="0" rtlCol="0" anchor="ctr"/>
          <a:lstStyle/>
          <a:p>
            <a:pPr indent="0" marL="0">
              <a:buNone/>
            </a:pPr>
            <a:r>
              <a:rPr lang="en-US" sz="1600" b="1" dirty="0">
                <a:solidFill>
                  <a:srgbClr val="E31837"/>
                </a:solidFill>
                <a:latin typeface="Arial" pitchFamily="34" charset="0"/>
                <a:ea typeface="Arial" pitchFamily="34" charset="-122"/>
                <a:cs typeface="Arial" pitchFamily="34" charset="-120"/>
              </a:rPr>
              <a:t>16 modules • 1.6 TB HBF study allocation</a:t>
            </a:r>
            <a:endParaRPr lang="en-US" sz="1600" dirty="0"/>
          </a:p>
        </p:txBody>
      </p:sp>
      <p:sp>
        <p:nvSpPr>
          <p:cNvPr id="18" name="Text 15"/>
          <p:cNvSpPr/>
          <p:nvPr/>
        </p:nvSpPr>
        <p:spPr>
          <a:xfrm>
            <a:off x="667512" y="3511296"/>
            <a:ext cx="5120640" cy="685800"/>
          </a:xfrm>
          <a:prstGeom prst="rect">
            <a:avLst/>
          </a:prstGeom>
          <a:noFill/>
          <a:ln/>
        </p:spPr>
        <p:txBody>
          <a:bodyPr wrap="square" lIns="0" tIns="0" rIns="0" bIns="0" rtlCol="0" anchor="ctr"/>
          <a:lstStyle/>
          <a:p>
            <a:pPr indent="0" marL="0">
              <a:buNone/>
            </a:pPr>
            <a:r>
              <a:rPr lang="en-US" sz="1560" dirty="0">
                <a:solidFill>
                  <a:srgbClr val="5B6169"/>
                </a:solidFill>
                <a:latin typeface="Arial" pitchFamily="34" charset="0"/>
                <a:ea typeface="Arial" pitchFamily="34" charset="-122"/>
                <a:cs typeface="Arial" pitchFamily="34" charset="-120"/>
              </a:rPr>
              <a:t>Multiple business teams share approved policy, KYC and investigation knowledge with tenant isolation and audit.</a:t>
            </a:r>
            <a:endParaRPr lang="en-US" sz="1560" dirty="0"/>
          </a:p>
        </p:txBody>
      </p:sp>
      <p:sp>
        <p:nvSpPr>
          <p:cNvPr id="19" name="Shape 16"/>
          <p:cNvSpPr/>
          <p:nvPr/>
        </p:nvSpPr>
        <p:spPr>
          <a:xfrm>
            <a:off x="667512" y="4288536"/>
            <a:ext cx="5157216" cy="402336"/>
          </a:xfrm>
          <a:prstGeom prst="rect">
            <a:avLst>
              <a:gd name="adj" fmla="val 18182"/>
            </a:avLst>
          </a:prstGeom>
          <a:solidFill>
            <a:srgbClr val="18191D"/>
          </a:solidFill>
          <a:ln w="12700">
            <a:solidFill>
              <a:srgbClr val="18191D"/>
            </a:solidFill>
            <a:prstDash val="solid"/>
          </a:ln>
        </p:spPr>
      </p:sp>
      <p:sp>
        <p:nvSpPr>
          <p:cNvPr id="20" name="Text 17"/>
          <p:cNvSpPr/>
          <p:nvPr/>
        </p:nvSpPr>
        <p:spPr>
          <a:xfrm>
            <a:off x="768096" y="4361688"/>
            <a:ext cx="4946904" cy="219456"/>
          </a:xfrm>
          <a:prstGeom prst="rect">
            <a:avLst/>
          </a:prstGeom>
          <a:noFill/>
          <a:ln/>
        </p:spPr>
        <p:txBody>
          <a:bodyPr wrap="square" lIns="0" tIns="0" rIns="0" bIns="0" rtlCol="0" anchor="ctr"/>
          <a:lstStyle/>
          <a:p>
            <a:pPr indent="0" marL="0">
              <a:buNone/>
            </a:pPr>
            <a:r>
              <a:rPr lang="en-US" sz="1320" b="1" dirty="0">
                <a:solidFill>
                  <a:srgbClr val="FFFFFF"/>
                </a:solidFill>
                <a:latin typeface="Arial" pitchFamily="34" charset="0"/>
                <a:ea typeface="Arial" pitchFamily="34" charset="-122"/>
                <a:cs typeface="Arial" pitchFamily="34" charset="-120"/>
              </a:rPr>
              <a:t>Tenant identity → governed evidence → cited answer</a:t>
            </a:r>
            <a:endParaRPr lang="en-US" sz="1320" dirty="0"/>
          </a:p>
        </p:txBody>
      </p:sp>
      <p:sp>
        <p:nvSpPr>
          <p:cNvPr id="21" name="Text 18"/>
          <p:cNvSpPr/>
          <p:nvPr/>
        </p:nvSpPr>
        <p:spPr>
          <a:xfrm>
            <a:off x="667512" y="4882896"/>
            <a:ext cx="5138928" cy="493776"/>
          </a:xfrm>
          <a:prstGeom prst="rect">
            <a:avLst/>
          </a:prstGeom>
          <a:noFill/>
          <a:ln/>
        </p:spPr>
        <p:txBody>
          <a:bodyPr wrap="square" lIns="0" tIns="0" rIns="0" bIns="0" rtlCol="0" anchor="ctr"/>
          <a:lstStyle/>
          <a:p>
            <a:pPr indent="0" marL="0">
              <a:buNone/>
            </a:pPr>
            <a:r>
              <a:rPr lang="en-US" sz="1510" dirty="0">
                <a:solidFill>
                  <a:srgbClr val="18191D"/>
                </a:solidFill>
                <a:latin typeface="Arial" pitchFamily="34" charset="0"/>
                <a:ea typeface="Arial" pitchFamily="34" charset="-122"/>
                <a:cs typeface="Arial" pitchFamily="34" charset="-120"/>
              </a:rPr>
              <a:t>Use complete replicas across nodes for N+1.</a:t>
            </a:r>
            <a:endParaRPr lang="en-US" sz="1510" dirty="0"/>
          </a:p>
          <a:p>
            <a:pPr indent="0" marL="0">
              <a:buNone/>
            </a:pPr>
            <a:r>
              <a:rPr lang="en-US" sz="1510" dirty="0">
                <a:solidFill>
                  <a:srgbClr val="18191D"/>
                </a:solidFill>
                <a:latin typeface="Arial" pitchFamily="34" charset="0"/>
                <a:ea typeface="Arial" pitchFamily="34" charset="-122"/>
                <a:cs typeface="Arial" pitchFamily="34" charset="-120"/>
              </a:rPr>
              <a:t>Measure retained peak capacity after a failure.</a:t>
            </a:r>
            <a:endParaRPr lang="en-US" sz="1510" dirty="0"/>
          </a:p>
        </p:txBody>
      </p:sp>
      <p:sp>
        <p:nvSpPr>
          <p:cNvPr id="22" name="Text 19"/>
          <p:cNvSpPr/>
          <p:nvPr/>
        </p:nvSpPr>
        <p:spPr>
          <a:xfrm>
            <a:off x="667512" y="5513832"/>
            <a:ext cx="5138928" cy="182880"/>
          </a:xfrm>
          <a:prstGeom prst="rect">
            <a:avLst/>
          </a:prstGeom>
          <a:noFill/>
          <a:ln/>
        </p:spPr>
        <p:txBody>
          <a:bodyPr wrap="square" lIns="0" tIns="0" rIns="0" bIns="0" rtlCol="0" anchor="ctr"/>
          <a:lstStyle/>
          <a:p>
            <a:pPr indent="0" marL="0">
              <a:buNone/>
            </a:pPr>
            <a:r>
              <a:rPr lang="en-US" sz="1260" b="1" dirty="0">
                <a:solidFill>
                  <a:srgbClr val="E31837"/>
                </a:solidFill>
                <a:latin typeface="Arial" pitchFamily="34" charset="0"/>
                <a:ea typeface="Arial" pitchFamily="34" charset="-122"/>
                <a:cs typeface="Arial" pitchFamily="34" charset="-120"/>
              </a:rPr>
              <a:t>R1 target ≥20 QPS • G1 target ≥160 output tok/s</a:t>
            </a:r>
            <a:endParaRPr lang="en-US" sz="1260" dirty="0"/>
          </a:p>
        </p:txBody>
      </p:sp>
      <p:sp>
        <p:nvSpPr>
          <p:cNvPr id="23" name="Shape 20"/>
          <p:cNvSpPr/>
          <p:nvPr/>
        </p:nvSpPr>
        <p:spPr>
          <a:xfrm>
            <a:off x="6190488" y="2112264"/>
            <a:ext cx="5495544" cy="3657600"/>
          </a:xfrm>
          <a:prstGeom prst="rect">
            <a:avLst>
              <a:gd name="adj" fmla="val 2000"/>
            </a:avLst>
          </a:prstGeom>
          <a:solidFill>
            <a:srgbClr val="F3F4F6"/>
          </a:solidFill>
          <a:ln w="12700">
            <a:solidFill>
              <a:srgbClr val="F3F4F6"/>
            </a:solidFill>
            <a:prstDash val="solid"/>
          </a:ln>
        </p:spPr>
      </p:sp>
      <p:sp>
        <p:nvSpPr>
          <p:cNvPr id="24" name="Text 21"/>
          <p:cNvSpPr/>
          <p:nvPr/>
        </p:nvSpPr>
        <p:spPr>
          <a:xfrm>
            <a:off x="6355080" y="2258568"/>
            <a:ext cx="5157216" cy="384048"/>
          </a:xfrm>
          <a:prstGeom prst="rect">
            <a:avLst/>
          </a:prstGeom>
          <a:noFill/>
          <a:ln/>
        </p:spPr>
        <p:txBody>
          <a:bodyPr wrap="square" lIns="0" tIns="0" rIns="0" bIns="0" rtlCol="0" anchor="ctr"/>
          <a:lstStyle/>
          <a:p>
            <a:pPr indent="0" marL="0">
              <a:buNone/>
            </a:pPr>
            <a:r>
              <a:rPr lang="en-US" sz="1750" b="1" dirty="0">
                <a:solidFill>
                  <a:srgbClr val="18191D"/>
                </a:solidFill>
                <a:latin typeface="Arial" pitchFamily="34" charset="0"/>
                <a:ea typeface="Arial" pitchFamily="34" charset="-122"/>
                <a:cs typeface="Arial" pitchFamily="34" charset="-120"/>
              </a:rPr>
              <a:t>E24 | regional telecom knowledge hub</a:t>
            </a:r>
            <a:endParaRPr lang="en-US" sz="1750" dirty="0"/>
          </a:p>
        </p:txBody>
      </p:sp>
      <p:pic>
        <p:nvPicPr>
          <p:cNvPr id="25" name="Image 1" descr="/mnt/data/atmos_market_work/v3_slide5_image3.png">    </p:cNvPr>
          <p:cNvPicPr>
            <a:picLocks noChangeAspect="1"/>
          </p:cNvPicPr>
          <p:nvPr/>
        </p:nvPicPr>
        <p:blipFill>
          <a:blip r:embed="rId3"/>
          <a:stretch>
            <a:fillRect/>
          </a:stretch>
        </p:blipFill>
        <p:spPr>
          <a:xfrm>
            <a:off x="9966960" y="2660904"/>
            <a:ext cx="1417320" cy="768096"/>
          </a:xfrm>
          <a:prstGeom prst="rect">
            <a:avLst/>
          </a:prstGeom>
        </p:spPr>
      </p:pic>
      <p:sp>
        <p:nvSpPr>
          <p:cNvPr id="26" name="Text 22"/>
          <p:cNvSpPr/>
          <p:nvPr/>
        </p:nvSpPr>
        <p:spPr>
          <a:xfrm>
            <a:off x="6355080" y="2752344"/>
            <a:ext cx="3273552" cy="530352"/>
          </a:xfrm>
          <a:prstGeom prst="rect">
            <a:avLst/>
          </a:prstGeom>
          <a:noFill/>
          <a:ln/>
        </p:spPr>
        <p:txBody>
          <a:bodyPr wrap="square" lIns="0" tIns="0" rIns="0" bIns="0" rtlCol="0" anchor="ctr"/>
          <a:lstStyle/>
          <a:p>
            <a:pPr indent="0" marL="0">
              <a:buNone/>
            </a:pPr>
            <a:r>
              <a:rPr lang="en-US" sz="1600" b="1" dirty="0">
                <a:solidFill>
                  <a:srgbClr val="E31837"/>
                </a:solidFill>
                <a:latin typeface="Arial" pitchFamily="34" charset="0"/>
                <a:ea typeface="Arial" pitchFamily="34" charset="-122"/>
                <a:cs typeface="Arial" pitchFamily="34" charset="-120"/>
              </a:rPr>
              <a:t>24 modules • 2.4 TB HBF study allocation</a:t>
            </a:r>
            <a:endParaRPr lang="en-US" sz="1600" dirty="0"/>
          </a:p>
        </p:txBody>
      </p:sp>
      <p:sp>
        <p:nvSpPr>
          <p:cNvPr id="27" name="Text 23"/>
          <p:cNvSpPr/>
          <p:nvPr/>
        </p:nvSpPr>
        <p:spPr>
          <a:xfrm>
            <a:off x="6355080" y="3511296"/>
            <a:ext cx="5120640" cy="685800"/>
          </a:xfrm>
          <a:prstGeom prst="rect">
            <a:avLst/>
          </a:prstGeom>
          <a:noFill/>
          <a:ln/>
        </p:spPr>
        <p:txBody>
          <a:bodyPr wrap="square" lIns="0" tIns="0" rIns="0" bIns="0" rtlCol="0" anchor="ctr"/>
          <a:lstStyle/>
          <a:p>
            <a:pPr indent="0" marL="0">
              <a:buNone/>
            </a:pPr>
            <a:r>
              <a:rPr lang="en-US" sz="1560" dirty="0">
                <a:solidFill>
                  <a:srgbClr val="5B6169"/>
                </a:solidFill>
                <a:latin typeface="Arial" pitchFamily="34" charset="0"/>
                <a:ea typeface="Arial" pitchFamily="34" charset="-122"/>
                <a:cs typeface="Arial" pitchFamily="34" charset="-120"/>
              </a:rPr>
              <a:t>Several service catalogs and retained generations support regional runbooks, ticket similarity and batch summaries.</a:t>
            </a:r>
            <a:endParaRPr lang="en-US" sz="1560" dirty="0"/>
          </a:p>
        </p:txBody>
      </p:sp>
      <p:sp>
        <p:nvSpPr>
          <p:cNvPr id="28" name="Shape 24"/>
          <p:cNvSpPr/>
          <p:nvPr/>
        </p:nvSpPr>
        <p:spPr>
          <a:xfrm>
            <a:off x="6355080" y="4288536"/>
            <a:ext cx="5157216" cy="402336"/>
          </a:xfrm>
          <a:prstGeom prst="rect">
            <a:avLst>
              <a:gd name="adj" fmla="val 18182"/>
            </a:avLst>
          </a:prstGeom>
          <a:solidFill>
            <a:srgbClr val="18191D"/>
          </a:solidFill>
          <a:ln w="12700">
            <a:solidFill>
              <a:srgbClr val="18191D"/>
            </a:solidFill>
            <a:prstDash val="solid"/>
          </a:ln>
        </p:spPr>
      </p:sp>
      <p:sp>
        <p:nvSpPr>
          <p:cNvPr id="29" name="Text 25"/>
          <p:cNvSpPr/>
          <p:nvPr/>
        </p:nvSpPr>
        <p:spPr>
          <a:xfrm>
            <a:off x="6455664" y="4361688"/>
            <a:ext cx="4946904" cy="219456"/>
          </a:xfrm>
          <a:prstGeom prst="rect">
            <a:avLst/>
          </a:prstGeom>
          <a:noFill/>
          <a:ln/>
        </p:spPr>
        <p:txBody>
          <a:bodyPr wrap="square" lIns="0" tIns="0" rIns="0" bIns="0" rtlCol="0" anchor="ctr"/>
          <a:lstStyle/>
          <a:p>
            <a:pPr indent="0" marL="0">
              <a:buNone/>
            </a:pPr>
            <a:r>
              <a:rPr lang="en-US" sz="1320" b="1" dirty="0">
                <a:solidFill>
                  <a:srgbClr val="FFFFFF"/>
                </a:solidFill>
                <a:latin typeface="Arial" pitchFamily="34" charset="0"/>
                <a:ea typeface="Arial" pitchFamily="34" charset="-122"/>
                <a:cs typeface="Arial" pitchFamily="34" charset="-120"/>
              </a:rPr>
              <a:t>Tickets + manuals → evidence → operator draft</a:t>
            </a:r>
            <a:endParaRPr lang="en-US" sz="1320" dirty="0"/>
          </a:p>
        </p:txBody>
      </p:sp>
      <p:sp>
        <p:nvSpPr>
          <p:cNvPr id="30" name="Text 26"/>
          <p:cNvSpPr/>
          <p:nvPr/>
        </p:nvSpPr>
        <p:spPr>
          <a:xfrm>
            <a:off x="6355080" y="4882896"/>
            <a:ext cx="5138928" cy="493776"/>
          </a:xfrm>
          <a:prstGeom prst="rect">
            <a:avLst/>
          </a:prstGeom>
          <a:noFill/>
          <a:ln/>
        </p:spPr>
        <p:txBody>
          <a:bodyPr wrap="square" lIns="0" tIns="0" rIns="0" bIns="0" rtlCol="0" anchor="ctr"/>
          <a:lstStyle/>
          <a:p>
            <a:pPr indent="0" marL="0">
              <a:buNone/>
            </a:pPr>
            <a:r>
              <a:rPr lang="en-US" sz="1510" dirty="0">
                <a:solidFill>
                  <a:srgbClr val="18191D"/>
                </a:solidFill>
                <a:latin typeface="Arial" pitchFamily="34" charset="0"/>
                <a:ea typeface="Arial" pitchFamily="34" charset="-122"/>
                <a:cs typeface="Arial" pitchFamily="34" charset="-120"/>
              </a:rPr>
              <a:t>Prove catalog residency, freshness, handle time</a:t>
            </a:r>
            <a:endParaRPr lang="en-US" sz="1510" dirty="0"/>
          </a:p>
          <a:p>
            <a:pPr indent="0" marL="0">
              <a:buNone/>
            </a:pPr>
            <a:r>
              <a:rPr lang="en-US" sz="1510" dirty="0">
                <a:solidFill>
                  <a:srgbClr val="18191D"/>
                </a:solidFill>
                <a:latin typeface="Arial" pitchFamily="34" charset="0"/>
                <a:ea typeface="Arial" pitchFamily="34" charset="-122"/>
                <a:cs typeface="Arial" pitchFamily="34" charset="-120"/>
              </a:rPr>
              <a:t>and safe upgrades—not network control.</a:t>
            </a:r>
            <a:endParaRPr lang="en-US" sz="1510" dirty="0"/>
          </a:p>
        </p:txBody>
      </p:sp>
      <p:sp>
        <p:nvSpPr>
          <p:cNvPr id="31" name="Text 27"/>
          <p:cNvSpPr/>
          <p:nvPr/>
        </p:nvSpPr>
        <p:spPr>
          <a:xfrm>
            <a:off x="6355080" y="5513832"/>
            <a:ext cx="5138928" cy="182880"/>
          </a:xfrm>
          <a:prstGeom prst="rect">
            <a:avLst/>
          </a:prstGeom>
          <a:noFill/>
          <a:ln/>
        </p:spPr>
        <p:txBody>
          <a:bodyPr wrap="square" lIns="0" tIns="0" rIns="0" bIns="0" rtlCol="0" anchor="ctr"/>
          <a:lstStyle/>
          <a:p>
            <a:pPr indent="0" marL="0">
              <a:buNone/>
            </a:pPr>
            <a:r>
              <a:rPr lang="en-US" sz="1260" b="1" dirty="0">
                <a:solidFill>
                  <a:srgbClr val="E31837"/>
                </a:solidFill>
                <a:latin typeface="Arial" pitchFamily="34" charset="0"/>
                <a:ea typeface="Arial" pitchFamily="34" charset="-122"/>
                <a:cs typeface="Arial" pitchFamily="34" charset="-120"/>
              </a:rPr>
              <a:t>R1 target ≥30 QPS • G1 target ≥240 output tok/s</a:t>
            </a:r>
            <a:endParaRPr lang="en-US" sz="1260" dirty="0"/>
          </a:p>
        </p:txBody>
      </p:sp>
      <p:sp>
        <p:nvSpPr>
          <p:cNvPr id="32" name="Text 28"/>
          <p:cNvSpPr/>
          <p:nvPr/>
        </p:nvSpPr>
        <p:spPr>
          <a:xfrm>
            <a:off x="548640" y="5843016"/>
            <a:ext cx="11027664" cy="146304"/>
          </a:xfrm>
          <a:prstGeom prst="rect">
            <a:avLst/>
          </a:prstGeom>
          <a:noFill/>
          <a:ln/>
        </p:spPr>
        <p:txBody>
          <a:bodyPr wrap="square" lIns="0" tIns="0" rIns="0" bIns="0" rtlCol="0" anchor="ctr"/>
          <a:lstStyle/>
          <a:p>
            <a:pPr indent="0" marL="0">
              <a:buNone/>
            </a:pPr>
            <a:r>
              <a:rPr lang="en-US" sz="950" dirty="0">
                <a:solidFill>
                  <a:srgbClr val="5B6169"/>
                </a:solidFill>
                <a:latin typeface="Arial" pitchFamily="34" charset="0"/>
                <a:ea typeface="Arial" pitchFamily="34" charset="-122"/>
                <a:cs typeface="Arial" pitchFamily="34" charset="-120"/>
              </a:rPr>
              <a:t>Appliance images: V3 concepts only. R1 and G1 are separate qualification profiles—not combined workload results.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RESOURCE HEATMAP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Memory heatmap: resident capacity ≠ active working memory.</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P = published hardware specification. T = internal target. Shading indicates volume only—not performance.</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Do not sum HBF + LPDDR + host DRAM into “GPU memory.” Placement, reserve and the native runtime still decide fit.</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[S10] [S11] [S12]</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§2–3,6</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M09</a:t>
            </a:r>
            <a:endParaRPr lang="en-US" sz="920" dirty="0"/>
          </a:p>
        </p:txBody>
      </p:sp>
      <p:sp>
        <p:nvSpPr>
          <p:cNvPr id="14" name="Shape 12"/>
          <p:cNvSpPr/>
          <p:nvPr/>
        </p:nvSpPr>
        <p:spPr>
          <a:xfrm>
            <a:off x="502920" y="2103120"/>
            <a:ext cx="2194560"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67128"/>
            <a:ext cx="201168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System / evidence</a:t>
            </a:r>
            <a:endParaRPr lang="en-US" sz="1180" dirty="0"/>
          </a:p>
        </p:txBody>
      </p:sp>
      <p:sp>
        <p:nvSpPr>
          <p:cNvPr id="16" name="Shape 14"/>
          <p:cNvSpPr/>
          <p:nvPr/>
        </p:nvSpPr>
        <p:spPr>
          <a:xfrm>
            <a:off x="2697480" y="2103120"/>
            <a:ext cx="2670048"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2788920" y="2167128"/>
            <a:ext cx="2487168"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Resident / main memory</a:t>
            </a:r>
            <a:endParaRPr lang="en-US" sz="1180" dirty="0"/>
          </a:p>
        </p:txBody>
      </p:sp>
      <p:sp>
        <p:nvSpPr>
          <p:cNvPr id="18" name="Shape 16"/>
          <p:cNvSpPr/>
          <p:nvPr/>
        </p:nvSpPr>
        <p:spPr>
          <a:xfrm>
            <a:off x="5367528" y="2103120"/>
            <a:ext cx="2651760"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5458968" y="2167128"/>
            <a:ext cx="246888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Active-state memory</a:t>
            </a:r>
            <a:endParaRPr lang="en-US" sz="1180" dirty="0"/>
          </a:p>
        </p:txBody>
      </p:sp>
      <p:sp>
        <p:nvSpPr>
          <p:cNvPr id="20" name="Shape 18"/>
          <p:cNvSpPr/>
          <p:nvPr/>
        </p:nvSpPr>
        <p:spPr>
          <a:xfrm>
            <a:off x="8019288" y="2103120"/>
            <a:ext cx="1700784"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8110728" y="2167128"/>
            <a:ext cx="1517904"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Host / system DRAM</a:t>
            </a:r>
            <a:endParaRPr lang="en-US" sz="1180" dirty="0"/>
          </a:p>
        </p:txBody>
      </p:sp>
      <p:sp>
        <p:nvSpPr>
          <p:cNvPr id="22" name="Shape 20"/>
          <p:cNvSpPr/>
          <p:nvPr/>
        </p:nvSpPr>
        <p:spPr>
          <a:xfrm>
            <a:off x="9720072" y="2103120"/>
            <a:ext cx="1965960" cy="438912"/>
          </a:xfrm>
          <a:prstGeom prst="rect">
            <a:avLst>
              <a:gd name="adj" fmla="val 16667"/>
            </a:avLst>
          </a:prstGeom>
          <a:solidFill>
            <a:srgbClr val="18191D"/>
          </a:solidFill>
          <a:ln w="12700">
            <a:solidFill>
              <a:srgbClr val="18191D"/>
            </a:solidFill>
            <a:prstDash val="solid"/>
          </a:ln>
        </p:spPr>
      </p:sp>
      <p:sp>
        <p:nvSpPr>
          <p:cNvPr id="23" name="Text 21"/>
          <p:cNvSpPr/>
          <p:nvPr/>
        </p:nvSpPr>
        <p:spPr>
          <a:xfrm>
            <a:off x="9811512" y="2167128"/>
            <a:ext cx="1783080" cy="329184"/>
          </a:xfrm>
          <a:prstGeom prst="rect">
            <a:avLst/>
          </a:prstGeom>
          <a:noFill/>
          <a:ln/>
        </p:spPr>
        <p:txBody>
          <a:bodyPr wrap="square" lIns="0" tIns="0" rIns="0" bIns="0" rtlCol="0" anchor="ctr"/>
          <a:lstStyle/>
          <a:p>
            <a:pPr indent="0" marL="0">
              <a:buNone/>
            </a:pPr>
            <a:r>
              <a:rPr lang="en-US" sz="1180" b="1" dirty="0">
                <a:solidFill>
                  <a:srgbClr val="FFFFFF"/>
                </a:solidFill>
                <a:latin typeface="Arial" pitchFamily="34" charset="0"/>
                <a:ea typeface="Arial" pitchFamily="34" charset="-122"/>
                <a:cs typeface="Arial" pitchFamily="34" charset="-120"/>
              </a:rPr>
              <a:t>Meaning</a:t>
            </a:r>
            <a:endParaRPr lang="en-US" sz="1180" dirty="0"/>
          </a:p>
        </p:txBody>
      </p:sp>
      <p:sp>
        <p:nvSpPr>
          <p:cNvPr id="24" name="Shape 22"/>
          <p:cNvSpPr/>
          <p:nvPr/>
        </p:nvSpPr>
        <p:spPr>
          <a:xfrm>
            <a:off x="502920" y="2542032"/>
            <a:ext cx="2194560" cy="450799"/>
          </a:xfrm>
          <a:prstGeom prst="rect">
            <a:avLst>
              <a:gd name="adj" fmla="val 16227"/>
            </a:avLst>
          </a:prstGeom>
          <a:solidFill>
            <a:srgbClr val="F3F4F6"/>
          </a:solidFill>
          <a:ln w="8890">
            <a:solidFill>
              <a:srgbClr val="FFFFFF"/>
            </a:solidFill>
            <a:prstDash val="solid"/>
          </a:ln>
        </p:spPr>
      </p:sp>
      <p:sp>
        <p:nvSpPr>
          <p:cNvPr id="25" name="Text 23"/>
          <p:cNvSpPr/>
          <p:nvPr/>
        </p:nvSpPr>
        <p:spPr>
          <a:xfrm>
            <a:off x="594360" y="2619756"/>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DGX Spark / GB10 · P</a:t>
            </a:r>
            <a:endParaRPr lang="en-US" sz="1330" dirty="0"/>
          </a:p>
        </p:txBody>
      </p:sp>
      <p:sp>
        <p:nvSpPr>
          <p:cNvPr id="26" name="Shape 24"/>
          <p:cNvSpPr/>
          <p:nvPr/>
        </p:nvSpPr>
        <p:spPr>
          <a:xfrm>
            <a:off x="2697480" y="2542032"/>
            <a:ext cx="2670048" cy="450799"/>
          </a:xfrm>
          <a:prstGeom prst="rect">
            <a:avLst>
              <a:gd name="adj" fmla="val 16227"/>
            </a:avLst>
          </a:prstGeom>
          <a:solidFill>
            <a:srgbClr val="FDF0F3"/>
          </a:solidFill>
          <a:ln w="8890">
            <a:solidFill>
              <a:srgbClr val="FFFFFF"/>
            </a:solidFill>
            <a:prstDash val="solid"/>
          </a:ln>
        </p:spPr>
      </p:sp>
      <p:sp>
        <p:nvSpPr>
          <p:cNvPr id="27" name="Text 25"/>
          <p:cNvSpPr/>
          <p:nvPr/>
        </p:nvSpPr>
        <p:spPr>
          <a:xfrm>
            <a:off x="2788920" y="2619756"/>
            <a:ext cx="2487168"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128 GB unified</a:t>
            </a:r>
            <a:endParaRPr lang="en-US" sz="1330" dirty="0"/>
          </a:p>
        </p:txBody>
      </p:sp>
      <p:sp>
        <p:nvSpPr>
          <p:cNvPr id="28" name="Shape 26"/>
          <p:cNvSpPr/>
          <p:nvPr/>
        </p:nvSpPr>
        <p:spPr>
          <a:xfrm>
            <a:off x="5367528" y="2542032"/>
            <a:ext cx="2651760" cy="450799"/>
          </a:xfrm>
          <a:prstGeom prst="rect">
            <a:avLst>
              <a:gd name="adj" fmla="val 16227"/>
            </a:avLst>
          </a:prstGeom>
          <a:solidFill>
            <a:srgbClr val="F3F4F6"/>
          </a:solidFill>
          <a:ln w="8890">
            <a:solidFill>
              <a:srgbClr val="FFFFFF"/>
            </a:solidFill>
            <a:prstDash val="solid"/>
          </a:ln>
        </p:spPr>
      </p:sp>
      <p:sp>
        <p:nvSpPr>
          <p:cNvPr id="29" name="Text 27"/>
          <p:cNvSpPr/>
          <p:nvPr/>
        </p:nvSpPr>
        <p:spPr>
          <a:xfrm>
            <a:off x="5458968" y="2619756"/>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Shares the 128 GB</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LPDDR5x pool</a:t>
            </a:r>
            <a:endParaRPr lang="en-US" sz="1330" dirty="0"/>
          </a:p>
        </p:txBody>
      </p:sp>
      <p:sp>
        <p:nvSpPr>
          <p:cNvPr id="30" name="Shape 28"/>
          <p:cNvSpPr/>
          <p:nvPr/>
        </p:nvSpPr>
        <p:spPr>
          <a:xfrm>
            <a:off x="8019288" y="2542032"/>
            <a:ext cx="1700784" cy="450799"/>
          </a:xfrm>
          <a:prstGeom prst="rect">
            <a:avLst>
              <a:gd name="adj" fmla="val 16227"/>
            </a:avLst>
          </a:prstGeom>
          <a:solidFill>
            <a:srgbClr val="F3F4F6"/>
          </a:solidFill>
          <a:ln w="8890">
            <a:solidFill>
              <a:srgbClr val="FFFFFF"/>
            </a:solidFill>
            <a:prstDash val="solid"/>
          </a:ln>
        </p:spPr>
      </p:sp>
      <p:sp>
        <p:nvSpPr>
          <p:cNvPr id="31" name="Text 29"/>
          <p:cNvSpPr/>
          <p:nvPr/>
        </p:nvSpPr>
        <p:spPr>
          <a:xfrm>
            <a:off x="8110728" y="2619756"/>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Same unified pool</a:t>
            </a:r>
            <a:endParaRPr lang="en-US" sz="1330" dirty="0"/>
          </a:p>
        </p:txBody>
      </p:sp>
      <p:sp>
        <p:nvSpPr>
          <p:cNvPr id="32" name="Shape 30"/>
          <p:cNvSpPr/>
          <p:nvPr/>
        </p:nvSpPr>
        <p:spPr>
          <a:xfrm>
            <a:off x="9720072" y="2542032"/>
            <a:ext cx="1965960" cy="450799"/>
          </a:xfrm>
          <a:prstGeom prst="rect">
            <a:avLst>
              <a:gd name="adj" fmla="val 16227"/>
            </a:avLst>
          </a:prstGeom>
          <a:solidFill>
            <a:srgbClr val="F3F4F6"/>
          </a:solidFill>
          <a:ln w="8890">
            <a:solidFill>
              <a:srgbClr val="FFFFFF"/>
            </a:solidFill>
            <a:prstDash val="solid"/>
          </a:ln>
        </p:spPr>
      </p:sp>
      <p:sp>
        <p:nvSpPr>
          <p:cNvPr id="33" name="Text 31"/>
          <p:cNvSpPr/>
          <p:nvPr/>
        </p:nvSpPr>
        <p:spPr>
          <a:xfrm>
            <a:off x="9811512" y="2619756"/>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One CPU/GPU memory architecture</a:t>
            </a:r>
            <a:endParaRPr lang="en-US" sz="1330" dirty="0"/>
          </a:p>
        </p:txBody>
      </p:sp>
      <p:sp>
        <p:nvSpPr>
          <p:cNvPr id="34" name="Shape 32"/>
          <p:cNvSpPr/>
          <p:nvPr/>
        </p:nvSpPr>
        <p:spPr>
          <a:xfrm>
            <a:off x="502920" y="2992831"/>
            <a:ext cx="2194560" cy="450799"/>
          </a:xfrm>
          <a:prstGeom prst="rect">
            <a:avLst>
              <a:gd name="adj" fmla="val 16227"/>
            </a:avLst>
          </a:prstGeom>
          <a:solidFill>
            <a:srgbClr val="FFFFFF"/>
          </a:solidFill>
          <a:ln w="8890">
            <a:solidFill>
              <a:srgbClr val="FFFFFF"/>
            </a:solidFill>
            <a:prstDash val="solid"/>
          </a:ln>
        </p:spPr>
      </p:sp>
      <p:sp>
        <p:nvSpPr>
          <p:cNvPr id="35" name="Text 33"/>
          <p:cNvSpPr/>
          <p:nvPr/>
        </p:nvSpPr>
        <p:spPr>
          <a:xfrm>
            <a:off x="594360" y="3070555"/>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RTX PRO 6000 WS · P</a:t>
            </a:r>
            <a:endParaRPr lang="en-US" sz="1330" dirty="0"/>
          </a:p>
        </p:txBody>
      </p:sp>
      <p:sp>
        <p:nvSpPr>
          <p:cNvPr id="36" name="Shape 34"/>
          <p:cNvSpPr/>
          <p:nvPr/>
        </p:nvSpPr>
        <p:spPr>
          <a:xfrm>
            <a:off x="2697480" y="2992831"/>
            <a:ext cx="2670048" cy="450799"/>
          </a:xfrm>
          <a:prstGeom prst="rect">
            <a:avLst>
              <a:gd name="adj" fmla="val 16227"/>
            </a:avLst>
          </a:prstGeom>
          <a:solidFill>
            <a:srgbClr val="FDF0F3"/>
          </a:solidFill>
          <a:ln w="8890">
            <a:solidFill>
              <a:srgbClr val="FFFFFF"/>
            </a:solidFill>
            <a:prstDash val="solid"/>
          </a:ln>
        </p:spPr>
      </p:sp>
      <p:sp>
        <p:nvSpPr>
          <p:cNvPr id="37" name="Text 35"/>
          <p:cNvSpPr/>
          <p:nvPr/>
        </p:nvSpPr>
        <p:spPr>
          <a:xfrm>
            <a:off x="2788920" y="3070555"/>
            <a:ext cx="2487168"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96 GB GDDR7</a:t>
            </a:r>
            <a:endParaRPr lang="en-US" sz="1330" dirty="0"/>
          </a:p>
        </p:txBody>
      </p:sp>
      <p:sp>
        <p:nvSpPr>
          <p:cNvPr id="38" name="Shape 36"/>
          <p:cNvSpPr/>
          <p:nvPr/>
        </p:nvSpPr>
        <p:spPr>
          <a:xfrm>
            <a:off x="5367528" y="2992831"/>
            <a:ext cx="2651760" cy="450799"/>
          </a:xfrm>
          <a:prstGeom prst="rect">
            <a:avLst>
              <a:gd name="adj" fmla="val 16227"/>
            </a:avLst>
          </a:prstGeom>
          <a:solidFill>
            <a:srgbClr val="F3F4F6"/>
          </a:solidFill>
          <a:ln w="8890">
            <a:solidFill>
              <a:srgbClr val="FFFFFF"/>
            </a:solidFill>
            <a:prstDash val="solid"/>
          </a:ln>
        </p:spPr>
      </p:sp>
      <p:sp>
        <p:nvSpPr>
          <p:cNvPr id="39" name="Text 37"/>
          <p:cNvSpPr/>
          <p:nvPr/>
        </p:nvSpPr>
        <p:spPr>
          <a:xfrm>
            <a:off x="5458968" y="3070555"/>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Same 96 GB GPU</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pool; less weights</a:t>
            </a:r>
            <a:endParaRPr lang="en-US" sz="1330" dirty="0"/>
          </a:p>
        </p:txBody>
      </p:sp>
      <p:sp>
        <p:nvSpPr>
          <p:cNvPr id="40" name="Shape 38"/>
          <p:cNvSpPr/>
          <p:nvPr/>
        </p:nvSpPr>
        <p:spPr>
          <a:xfrm>
            <a:off x="8019288" y="2992831"/>
            <a:ext cx="1700784" cy="450799"/>
          </a:xfrm>
          <a:prstGeom prst="rect">
            <a:avLst>
              <a:gd name="adj" fmla="val 16227"/>
            </a:avLst>
          </a:prstGeom>
          <a:solidFill>
            <a:srgbClr val="FFFFFF"/>
          </a:solidFill>
          <a:ln w="8890">
            <a:solidFill>
              <a:srgbClr val="FFFFFF"/>
            </a:solidFill>
            <a:prstDash val="solid"/>
          </a:ln>
        </p:spPr>
      </p:sp>
      <p:sp>
        <p:nvSpPr>
          <p:cNvPr id="41" name="Text 39"/>
          <p:cNvSpPr/>
          <p:nvPr/>
        </p:nvSpPr>
        <p:spPr>
          <a:xfrm>
            <a:off x="8110728" y="3070555"/>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OEM host RAM</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separate</a:t>
            </a:r>
            <a:endParaRPr lang="en-US" sz="1330" dirty="0"/>
          </a:p>
        </p:txBody>
      </p:sp>
      <p:sp>
        <p:nvSpPr>
          <p:cNvPr id="42" name="Shape 40"/>
          <p:cNvSpPr/>
          <p:nvPr/>
        </p:nvSpPr>
        <p:spPr>
          <a:xfrm>
            <a:off x="9720072" y="2992831"/>
            <a:ext cx="1965960" cy="450799"/>
          </a:xfrm>
          <a:prstGeom prst="rect">
            <a:avLst>
              <a:gd name="adj" fmla="val 16227"/>
            </a:avLst>
          </a:prstGeom>
          <a:solidFill>
            <a:srgbClr val="FFFFFF"/>
          </a:solidFill>
          <a:ln w="8890">
            <a:solidFill>
              <a:srgbClr val="FFFFFF"/>
            </a:solidFill>
            <a:prstDash val="solid"/>
          </a:ln>
        </p:spPr>
      </p:sp>
      <p:sp>
        <p:nvSpPr>
          <p:cNvPr id="43" name="Text 41"/>
          <p:cNvSpPr/>
          <p:nvPr/>
        </p:nvSpPr>
        <p:spPr>
          <a:xfrm>
            <a:off x="9811512" y="3070555"/>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Workstation Edition reference</a:t>
            </a:r>
            <a:endParaRPr lang="en-US" sz="1330" dirty="0"/>
          </a:p>
        </p:txBody>
      </p:sp>
      <p:sp>
        <p:nvSpPr>
          <p:cNvPr id="44" name="Shape 42"/>
          <p:cNvSpPr/>
          <p:nvPr/>
        </p:nvSpPr>
        <p:spPr>
          <a:xfrm>
            <a:off x="502920" y="3443630"/>
            <a:ext cx="2194560" cy="450799"/>
          </a:xfrm>
          <a:prstGeom prst="rect">
            <a:avLst>
              <a:gd name="adj" fmla="val 16227"/>
            </a:avLst>
          </a:prstGeom>
          <a:solidFill>
            <a:srgbClr val="F3F4F6"/>
          </a:solidFill>
          <a:ln w="8890">
            <a:solidFill>
              <a:srgbClr val="FFFFFF"/>
            </a:solidFill>
            <a:prstDash val="solid"/>
          </a:ln>
        </p:spPr>
      </p:sp>
      <p:sp>
        <p:nvSpPr>
          <p:cNvPr id="45" name="Text 43"/>
          <p:cNvSpPr/>
          <p:nvPr/>
        </p:nvSpPr>
        <p:spPr>
          <a:xfrm>
            <a:off x="594360" y="3521354"/>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DGX Station GB300 · P</a:t>
            </a:r>
            <a:endParaRPr lang="en-US" sz="1330" dirty="0"/>
          </a:p>
        </p:txBody>
      </p:sp>
      <p:sp>
        <p:nvSpPr>
          <p:cNvPr id="46" name="Shape 44"/>
          <p:cNvSpPr/>
          <p:nvPr/>
        </p:nvSpPr>
        <p:spPr>
          <a:xfrm>
            <a:off x="2697480" y="3443630"/>
            <a:ext cx="2670048" cy="450799"/>
          </a:xfrm>
          <a:prstGeom prst="rect">
            <a:avLst>
              <a:gd name="adj" fmla="val 16227"/>
            </a:avLst>
          </a:prstGeom>
          <a:solidFill>
            <a:srgbClr val="F8D4DB"/>
          </a:solidFill>
          <a:ln w="8890">
            <a:solidFill>
              <a:srgbClr val="FFFFFF"/>
            </a:solidFill>
            <a:prstDash val="solid"/>
          </a:ln>
        </p:spPr>
      </p:sp>
      <p:sp>
        <p:nvSpPr>
          <p:cNvPr id="47" name="Text 45"/>
          <p:cNvSpPr/>
          <p:nvPr/>
        </p:nvSpPr>
        <p:spPr>
          <a:xfrm>
            <a:off x="2788920" y="3521354"/>
            <a:ext cx="2487168"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748 GB coherent total</a:t>
            </a:r>
            <a:endParaRPr lang="en-US" sz="1330" dirty="0"/>
          </a:p>
        </p:txBody>
      </p:sp>
      <p:sp>
        <p:nvSpPr>
          <p:cNvPr id="48" name="Shape 46"/>
          <p:cNvSpPr/>
          <p:nvPr/>
        </p:nvSpPr>
        <p:spPr>
          <a:xfrm>
            <a:off x="5367528" y="3443630"/>
            <a:ext cx="2651760" cy="450799"/>
          </a:xfrm>
          <a:prstGeom prst="rect">
            <a:avLst>
              <a:gd name="adj" fmla="val 16227"/>
            </a:avLst>
          </a:prstGeom>
          <a:solidFill>
            <a:srgbClr val="F3F4F6"/>
          </a:solidFill>
          <a:ln w="8890">
            <a:solidFill>
              <a:srgbClr val="FFFFFF"/>
            </a:solidFill>
            <a:prstDash val="solid"/>
          </a:ln>
        </p:spPr>
      </p:sp>
      <p:sp>
        <p:nvSpPr>
          <p:cNvPr id="49" name="Text 47"/>
          <p:cNvSpPr/>
          <p:nvPr/>
        </p:nvSpPr>
        <p:spPr>
          <a:xfrm>
            <a:off x="5458968" y="3521354"/>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252 GB HBM3e +</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496 GB CPU LPDDR5x</a:t>
            </a:r>
            <a:endParaRPr lang="en-US" sz="1330" dirty="0"/>
          </a:p>
        </p:txBody>
      </p:sp>
      <p:sp>
        <p:nvSpPr>
          <p:cNvPr id="50" name="Shape 48"/>
          <p:cNvSpPr/>
          <p:nvPr/>
        </p:nvSpPr>
        <p:spPr>
          <a:xfrm>
            <a:off x="8019288" y="3443630"/>
            <a:ext cx="1700784" cy="450799"/>
          </a:xfrm>
          <a:prstGeom prst="rect">
            <a:avLst>
              <a:gd name="adj" fmla="val 16227"/>
            </a:avLst>
          </a:prstGeom>
          <a:solidFill>
            <a:srgbClr val="F3F4F6"/>
          </a:solidFill>
          <a:ln w="8890">
            <a:solidFill>
              <a:srgbClr val="FFFFFF"/>
            </a:solidFill>
            <a:prstDash val="solid"/>
          </a:ln>
        </p:spPr>
      </p:sp>
      <p:sp>
        <p:nvSpPr>
          <p:cNvPr id="51" name="Text 49"/>
          <p:cNvSpPr/>
          <p:nvPr/>
        </p:nvSpPr>
        <p:spPr>
          <a:xfrm>
            <a:off x="8110728" y="3521354"/>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Included in</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748 GB total</a:t>
            </a:r>
            <a:endParaRPr lang="en-US" sz="1330" dirty="0"/>
          </a:p>
        </p:txBody>
      </p:sp>
      <p:sp>
        <p:nvSpPr>
          <p:cNvPr id="52" name="Shape 50"/>
          <p:cNvSpPr/>
          <p:nvPr/>
        </p:nvSpPr>
        <p:spPr>
          <a:xfrm>
            <a:off x="9720072" y="3443630"/>
            <a:ext cx="1965960" cy="450799"/>
          </a:xfrm>
          <a:prstGeom prst="rect">
            <a:avLst>
              <a:gd name="adj" fmla="val 16227"/>
            </a:avLst>
          </a:prstGeom>
          <a:solidFill>
            <a:srgbClr val="F3F4F6"/>
          </a:solidFill>
          <a:ln w="8890">
            <a:solidFill>
              <a:srgbClr val="FFFFFF"/>
            </a:solidFill>
            <a:prstDash val="solid"/>
          </a:ln>
        </p:spPr>
      </p:sp>
      <p:sp>
        <p:nvSpPr>
          <p:cNvPr id="53" name="Text 51"/>
          <p:cNvSpPr/>
          <p:nvPr/>
        </p:nvSpPr>
        <p:spPr>
          <a:xfrm>
            <a:off x="9811512" y="3521354"/>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HBM and CPU tiers differ</a:t>
            </a:r>
            <a:endParaRPr lang="en-US" sz="1330" dirty="0"/>
          </a:p>
        </p:txBody>
      </p:sp>
      <p:sp>
        <p:nvSpPr>
          <p:cNvPr id="54" name="Shape 52"/>
          <p:cNvSpPr/>
          <p:nvPr/>
        </p:nvSpPr>
        <p:spPr>
          <a:xfrm>
            <a:off x="502920" y="3894430"/>
            <a:ext cx="2194560" cy="450799"/>
          </a:xfrm>
          <a:prstGeom prst="rect">
            <a:avLst>
              <a:gd name="adj" fmla="val 16227"/>
            </a:avLst>
          </a:prstGeom>
          <a:solidFill>
            <a:srgbClr val="FFFFFF"/>
          </a:solidFill>
          <a:ln w="8890">
            <a:solidFill>
              <a:srgbClr val="FFFFFF"/>
            </a:solidFill>
            <a:prstDash val="solid"/>
          </a:ln>
        </p:spPr>
      </p:sp>
      <p:sp>
        <p:nvSpPr>
          <p:cNvPr id="55" name="Text 53"/>
          <p:cNvSpPr/>
          <p:nvPr/>
        </p:nvSpPr>
        <p:spPr>
          <a:xfrm>
            <a:off x="594360" y="3972154"/>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ATMOS W4 · T</a:t>
            </a:r>
            <a:endParaRPr lang="en-US" sz="1330" dirty="0"/>
          </a:p>
        </p:txBody>
      </p:sp>
      <p:sp>
        <p:nvSpPr>
          <p:cNvPr id="56" name="Shape 54"/>
          <p:cNvSpPr/>
          <p:nvPr/>
        </p:nvSpPr>
        <p:spPr>
          <a:xfrm>
            <a:off x="2697480" y="3894430"/>
            <a:ext cx="2670048" cy="450799"/>
          </a:xfrm>
          <a:prstGeom prst="rect">
            <a:avLst>
              <a:gd name="adj" fmla="val 16227"/>
            </a:avLst>
          </a:prstGeom>
          <a:solidFill>
            <a:srgbClr val="FDF0F3"/>
          </a:solidFill>
          <a:ln w="8890">
            <a:solidFill>
              <a:srgbClr val="FFFFFF"/>
            </a:solidFill>
            <a:prstDash val="solid"/>
          </a:ln>
        </p:spPr>
      </p:sp>
      <p:sp>
        <p:nvSpPr>
          <p:cNvPr id="57" name="Text 55"/>
          <p:cNvSpPr/>
          <p:nvPr/>
        </p:nvSpPr>
        <p:spPr>
          <a:xfrm>
            <a:off x="2788920" y="3972154"/>
            <a:ext cx="2487168"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512 / 400 GB HBF*</a:t>
            </a:r>
            <a:endParaRPr lang="en-US" sz="1330" dirty="0"/>
          </a:p>
        </p:txBody>
      </p:sp>
      <p:sp>
        <p:nvSpPr>
          <p:cNvPr id="58" name="Shape 56"/>
          <p:cNvSpPr/>
          <p:nvPr/>
        </p:nvSpPr>
        <p:spPr>
          <a:xfrm>
            <a:off x="5367528" y="3894430"/>
            <a:ext cx="2651760" cy="450799"/>
          </a:xfrm>
          <a:prstGeom prst="rect">
            <a:avLst>
              <a:gd name="adj" fmla="val 16227"/>
            </a:avLst>
          </a:prstGeom>
          <a:solidFill>
            <a:srgbClr val="FFFFFF"/>
          </a:solidFill>
          <a:ln w="8890">
            <a:solidFill>
              <a:srgbClr val="FFFFFF"/>
            </a:solidFill>
            <a:prstDash val="solid"/>
          </a:ln>
        </p:spPr>
      </p:sp>
      <p:sp>
        <p:nvSpPr>
          <p:cNvPr id="59" name="Text 57"/>
          <p:cNvSpPr/>
          <p:nvPr/>
        </p:nvSpPr>
        <p:spPr>
          <a:xfrm>
            <a:off x="5458968" y="3972154"/>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32–64 GB LPDDR</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aggregate</a:t>
            </a:r>
            <a:endParaRPr lang="en-US" sz="1330" dirty="0"/>
          </a:p>
        </p:txBody>
      </p:sp>
      <p:sp>
        <p:nvSpPr>
          <p:cNvPr id="60" name="Shape 58"/>
          <p:cNvSpPr/>
          <p:nvPr/>
        </p:nvSpPr>
        <p:spPr>
          <a:xfrm>
            <a:off x="8019288" y="3894430"/>
            <a:ext cx="1700784" cy="450799"/>
          </a:xfrm>
          <a:prstGeom prst="rect">
            <a:avLst>
              <a:gd name="adj" fmla="val 16227"/>
            </a:avLst>
          </a:prstGeom>
          <a:solidFill>
            <a:srgbClr val="FFFFFF"/>
          </a:solidFill>
          <a:ln w="8890">
            <a:solidFill>
              <a:srgbClr val="FFFFFF"/>
            </a:solidFill>
            <a:prstDash val="solid"/>
          </a:ln>
        </p:spPr>
      </p:sp>
      <p:sp>
        <p:nvSpPr>
          <p:cNvPr id="61" name="Text 59"/>
          <p:cNvSpPr/>
          <p:nvPr/>
        </p:nvSpPr>
        <p:spPr>
          <a:xfrm>
            <a:off x="8110728" y="3972154"/>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128–256 GB</a:t>
            </a:r>
            <a:endParaRPr lang="en-US" sz="1330" dirty="0"/>
          </a:p>
        </p:txBody>
      </p:sp>
      <p:sp>
        <p:nvSpPr>
          <p:cNvPr id="62" name="Shape 60"/>
          <p:cNvSpPr/>
          <p:nvPr/>
        </p:nvSpPr>
        <p:spPr>
          <a:xfrm>
            <a:off x="9720072" y="3894430"/>
            <a:ext cx="1965960" cy="450799"/>
          </a:xfrm>
          <a:prstGeom prst="rect">
            <a:avLst>
              <a:gd name="adj" fmla="val 16227"/>
            </a:avLst>
          </a:prstGeom>
          <a:solidFill>
            <a:srgbClr val="FFFFFF"/>
          </a:solidFill>
          <a:ln w="8890">
            <a:solidFill>
              <a:srgbClr val="FFFFFF"/>
            </a:solidFill>
            <a:prstDash val="solid"/>
          </a:ln>
        </p:spPr>
      </p:sp>
      <p:sp>
        <p:nvSpPr>
          <p:cNvPr id="63" name="Text 61"/>
          <p:cNvSpPr/>
          <p:nvPr/>
        </p:nvSpPr>
        <p:spPr>
          <a:xfrm>
            <a:off x="9811512" y="3972154"/>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4 devices; 1 domain</a:t>
            </a:r>
            <a:endParaRPr lang="en-US" sz="1330" dirty="0"/>
          </a:p>
        </p:txBody>
      </p:sp>
      <p:sp>
        <p:nvSpPr>
          <p:cNvPr id="64" name="Shape 62"/>
          <p:cNvSpPr/>
          <p:nvPr/>
        </p:nvSpPr>
        <p:spPr>
          <a:xfrm>
            <a:off x="502920" y="4345229"/>
            <a:ext cx="2194560" cy="450799"/>
          </a:xfrm>
          <a:prstGeom prst="rect">
            <a:avLst>
              <a:gd name="adj" fmla="val 16227"/>
            </a:avLst>
          </a:prstGeom>
          <a:solidFill>
            <a:srgbClr val="F3F4F6"/>
          </a:solidFill>
          <a:ln w="8890">
            <a:solidFill>
              <a:srgbClr val="FFFFFF"/>
            </a:solidFill>
            <a:prstDash val="solid"/>
          </a:ln>
        </p:spPr>
      </p:sp>
      <p:sp>
        <p:nvSpPr>
          <p:cNvPr id="65" name="Text 63"/>
          <p:cNvSpPr/>
          <p:nvPr/>
        </p:nvSpPr>
        <p:spPr>
          <a:xfrm>
            <a:off x="594360" y="4422953"/>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ATMOS D8 / E8 · T</a:t>
            </a:r>
            <a:endParaRPr lang="en-US" sz="1330" dirty="0"/>
          </a:p>
        </p:txBody>
      </p:sp>
      <p:sp>
        <p:nvSpPr>
          <p:cNvPr id="66" name="Shape 64"/>
          <p:cNvSpPr/>
          <p:nvPr/>
        </p:nvSpPr>
        <p:spPr>
          <a:xfrm>
            <a:off x="2697480" y="4345229"/>
            <a:ext cx="2670048" cy="450799"/>
          </a:xfrm>
          <a:prstGeom prst="rect">
            <a:avLst>
              <a:gd name="adj" fmla="val 16227"/>
            </a:avLst>
          </a:prstGeom>
          <a:solidFill>
            <a:srgbClr val="F8D4DB"/>
          </a:solidFill>
          <a:ln w="8890">
            <a:solidFill>
              <a:srgbClr val="FFFFFF"/>
            </a:solidFill>
            <a:prstDash val="solid"/>
          </a:ln>
        </p:spPr>
      </p:sp>
      <p:sp>
        <p:nvSpPr>
          <p:cNvPr id="67" name="Text 65"/>
          <p:cNvSpPr/>
          <p:nvPr/>
        </p:nvSpPr>
        <p:spPr>
          <a:xfrm>
            <a:off x="2788920" y="4422953"/>
            <a:ext cx="2487168"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1,024 / 800 GB HBF*</a:t>
            </a:r>
            <a:endParaRPr lang="en-US" sz="1330" dirty="0"/>
          </a:p>
        </p:txBody>
      </p:sp>
      <p:sp>
        <p:nvSpPr>
          <p:cNvPr id="68" name="Shape 66"/>
          <p:cNvSpPr/>
          <p:nvPr/>
        </p:nvSpPr>
        <p:spPr>
          <a:xfrm>
            <a:off x="5367528" y="4345229"/>
            <a:ext cx="2651760" cy="450799"/>
          </a:xfrm>
          <a:prstGeom prst="rect">
            <a:avLst>
              <a:gd name="adj" fmla="val 16227"/>
            </a:avLst>
          </a:prstGeom>
          <a:solidFill>
            <a:srgbClr val="F3F4F6"/>
          </a:solidFill>
          <a:ln w="8890">
            <a:solidFill>
              <a:srgbClr val="FFFFFF"/>
            </a:solidFill>
            <a:prstDash val="solid"/>
          </a:ln>
        </p:spPr>
      </p:sp>
      <p:sp>
        <p:nvSpPr>
          <p:cNvPr id="69" name="Text 67"/>
          <p:cNvSpPr/>
          <p:nvPr/>
        </p:nvSpPr>
        <p:spPr>
          <a:xfrm>
            <a:off x="5458968" y="4422953"/>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64–128 GB LPDDR</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aggregate</a:t>
            </a:r>
            <a:endParaRPr lang="en-US" sz="1330" dirty="0"/>
          </a:p>
        </p:txBody>
      </p:sp>
      <p:sp>
        <p:nvSpPr>
          <p:cNvPr id="70" name="Shape 68"/>
          <p:cNvSpPr/>
          <p:nvPr/>
        </p:nvSpPr>
        <p:spPr>
          <a:xfrm>
            <a:off x="8019288" y="4345229"/>
            <a:ext cx="1700784" cy="450799"/>
          </a:xfrm>
          <a:prstGeom prst="rect">
            <a:avLst>
              <a:gd name="adj" fmla="val 16227"/>
            </a:avLst>
          </a:prstGeom>
          <a:solidFill>
            <a:srgbClr val="F3F4F6"/>
          </a:solidFill>
          <a:ln w="8890">
            <a:solidFill>
              <a:srgbClr val="FFFFFF"/>
            </a:solidFill>
            <a:prstDash val="solid"/>
          </a:ln>
        </p:spPr>
      </p:sp>
      <p:sp>
        <p:nvSpPr>
          <p:cNvPr id="71" name="Text 69"/>
          <p:cNvSpPr/>
          <p:nvPr/>
        </p:nvSpPr>
        <p:spPr>
          <a:xfrm>
            <a:off x="8110728" y="4422953"/>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256–512 GB</a:t>
            </a:r>
            <a:endParaRPr lang="en-US" sz="1330" dirty="0"/>
          </a:p>
        </p:txBody>
      </p:sp>
      <p:sp>
        <p:nvSpPr>
          <p:cNvPr id="72" name="Shape 70"/>
          <p:cNvSpPr/>
          <p:nvPr/>
        </p:nvSpPr>
        <p:spPr>
          <a:xfrm>
            <a:off x="9720072" y="4345229"/>
            <a:ext cx="1965960" cy="450799"/>
          </a:xfrm>
          <a:prstGeom prst="rect">
            <a:avLst>
              <a:gd name="adj" fmla="val 16227"/>
            </a:avLst>
          </a:prstGeom>
          <a:solidFill>
            <a:srgbClr val="F3F4F6"/>
          </a:solidFill>
          <a:ln w="8890">
            <a:solidFill>
              <a:srgbClr val="FFFFFF"/>
            </a:solidFill>
            <a:prstDash val="solid"/>
          </a:ln>
        </p:spPr>
      </p:sp>
      <p:sp>
        <p:nvSpPr>
          <p:cNvPr id="73" name="Text 71"/>
          <p:cNvSpPr/>
          <p:nvPr/>
        </p:nvSpPr>
        <p:spPr>
          <a:xfrm>
            <a:off x="9811512" y="4422953"/>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8 devices; 2 domains</a:t>
            </a:r>
            <a:endParaRPr lang="en-US" sz="1330" dirty="0"/>
          </a:p>
        </p:txBody>
      </p:sp>
      <p:sp>
        <p:nvSpPr>
          <p:cNvPr id="74" name="Shape 72"/>
          <p:cNvSpPr/>
          <p:nvPr/>
        </p:nvSpPr>
        <p:spPr>
          <a:xfrm>
            <a:off x="502920" y="4796028"/>
            <a:ext cx="2194560" cy="450799"/>
          </a:xfrm>
          <a:prstGeom prst="rect">
            <a:avLst>
              <a:gd name="adj" fmla="val 16227"/>
            </a:avLst>
          </a:prstGeom>
          <a:solidFill>
            <a:srgbClr val="FFFFFF"/>
          </a:solidFill>
          <a:ln w="8890">
            <a:solidFill>
              <a:srgbClr val="FFFFFF"/>
            </a:solidFill>
            <a:prstDash val="solid"/>
          </a:ln>
        </p:spPr>
      </p:sp>
      <p:sp>
        <p:nvSpPr>
          <p:cNvPr id="75" name="Text 73"/>
          <p:cNvSpPr/>
          <p:nvPr/>
        </p:nvSpPr>
        <p:spPr>
          <a:xfrm>
            <a:off x="594360" y="4873752"/>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ATMOS E16 · T</a:t>
            </a:r>
            <a:endParaRPr lang="en-US" sz="1330" dirty="0"/>
          </a:p>
        </p:txBody>
      </p:sp>
      <p:sp>
        <p:nvSpPr>
          <p:cNvPr id="76" name="Shape 74"/>
          <p:cNvSpPr/>
          <p:nvPr/>
        </p:nvSpPr>
        <p:spPr>
          <a:xfrm>
            <a:off x="2697480" y="4796028"/>
            <a:ext cx="2670048" cy="450799"/>
          </a:xfrm>
          <a:prstGeom prst="rect">
            <a:avLst>
              <a:gd name="adj" fmla="val 16227"/>
            </a:avLst>
          </a:prstGeom>
          <a:solidFill>
            <a:srgbClr val="DF4F6B"/>
          </a:solidFill>
          <a:ln w="8890">
            <a:solidFill>
              <a:srgbClr val="FFFFFF"/>
            </a:solidFill>
            <a:prstDash val="solid"/>
          </a:ln>
        </p:spPr>
      </p:sp>
      <p:sp>
        <p:nvSpPr>
          <p:cNvPr id="77" name="Text 75"/>
          <p:cNvSpPr/>
          <p:nvPr/>
        </p:nvSpPr>
        <p:spPr>
          <a:xfrm>
            <a:off x="2788920" y="4873752"/>
            <a:ext cx="2487168" cy="322783"/>
          </a:xfrm>
          <a:prstGeom prst="rect">
            <a:avLst/>
          </a:prstGeom>
          <a:noFill/>
          <a:ln/>
        </p:spPr>
        <p:txBody>
          <a:bodyPr wrap="square" lIns="0" tIns="0" rIns="0" bIns="0" rtlCol="0" anchor="ctr"/>
          <a:lstStyle/>
          <a:p>
            <a:pPr indent="0" marL="0">
              <a:buNone/>
            </a:pPr>
            <a:r>
              <a:rPr lang="en-US" sz="1330" b="1" dirty="0">
                <a:solidFill>
                  <a:srgbClr val="FFFFFF"/>
                </a:solidFill>
                <a:latin typeface="Arial" pitchFamily="34" charset="0"/>
                <a:ea typeface="Arial" pitchFamily="34" charset="-122"/>
                <a:cs typeface="Arial" pitchFamily="34" charset="-120"/>
              </a:rPr>
              <a:t>2,048 / 1,600 GB HBF*</a:t>
            </a:r>
            <a:endParaRPr lang="en-US" sz="1330" dirty="0"/>
          </a:p>
        </p:txBody>
      </p:sp>
      <p:sp>
        <p:nvSpPr>
          <p:cNvPr id="78" name="Shape 76"/>
          <p:cNvSpPr/>
          <p:nvPr/>
        </p:nvSpPr>
        <p:spPr>
          <a:xfrm>
            <a:off x="5367528" y="4796028"/>
            <a:ext cx="2651760" cy="450799"/>
          </a:xfrm>
          <a:prstGeom prst="rect">
            <a:avLst>
              <a:gd name="adj" fmla="val 16227"/>
            </a:avLst>
          </a:prstGeom>
          <a:solidFill>
            <a:srgbClr val="FFFFFF"/>
          </a:solidFill>
          <a:ln w="8890">
            <a:solidFill>
              <a:srgbClr val="FFFFFF"/>
            </a:solidFill>
            <a:prstDash val="solid"/>
          </a:ln>
        </p:spPr>
      </p:sp>
      <p:sp>
        <p:nvSpPr>
          <p:cNvPr id="79" name="Text 77"/>
          <p:cNvSpPr/>
          <p:nvPr/>
        </p:nvSpPr>
        <p:spPr>
          <a:xfrm>
            <a:off x="5458968" y="4873752"/>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128–256 GB LPDDR</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aggregate</a:t>
            </a:r>
            <a:endParaRPr lang="en-US" sz="1330" dirty="0"/>
          </a:p>
        </p:txBody>
      </p:sp>
      <p:sp>
        <p:nvSpPr>
          <p:cNvPr id="80" name="Shape 78"/>
          <p:cNvSpPr/>
          <p:nvPr/>
        </p:nvSpPr>
        <p:spPr>
          <a:xfrm>
            <a:off x="8019288" y="4796028"/>
            <a:ext cx="1700784" cy="450799"/>
          </a:xfrm>
          <a:prstGeom prst="rect">
            <a:avLst>
              <a:gd name="adj" fmla="val 16227"/>
            </a:avLst>
          </a:prstGeom>
          <a:solidFill>
            <a:srgbClr val="FFFFFF"/>
          </a:solidFill>
          <a:ln w="8890">
            <a:solidFill>
              <a:srgbClr val="FFFFFF"/>
            </a:solidFill>
            <a:prstDash val="solid"/>
          </a:ln>
        </p:spPr>
      </p:sp>
      <p:sp>
        <p:nvSpPr>
          <p:cNvPr id="81" name="Text 79"/>
          <p:cNvSpPr/>
          <p:nvPr/>
        </p:nvSpPr>
        <p:spPr>
          <a:xfrm>
            <a:off x="8110728" y="4873752"/>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512 GB–1 TB</a:t>
            </a:r>
            <a:endParaRPr lang="en-US" sz="1330" dirty="0"/>
          </a:p>
        </p:txBody>
      </p:sp>
      <p:sp>
        <p:nvSpPr>
          <p:cNvPr id="82" name="Shape 80"/>
          <p:cNvSpPr/>
          <p:nvPr/>
        </p:nvSpPr>
        <p:spPr>
          <a:xfrm>
            <a:off x="9720072" y="4796028"/>
            <a:ext cx="1965960" cy="450799"/>
          </a:xfrm>
          <a:prstGeom prst="rect">
            <a:avLst>
              <a:gd name="adj" fmla="val 16227"/>
            </a:avLst>
          </a:prstGeom>
          <a:solidFill>
            <a:srgbClr val="FFFFFF"/>
          </a:solidFill>
          <a:ln w="8890">
            <a:solidFill>
              <a:srgbClr val="FFFFFF"/>
            </a:solidFill>
            <a:prstDash val="solid"/>
          </a:ln>
        </p:spPr>
      </p:sp>
      <p:sp>
        <p:nvSpPr>
          <p:cNvPr id="83" name="Text 81"/>
          <p:cNvSpPr/>
          <p:nvPr/>
        </p:nvSpPr>
        <p:spPr>
          <a:xfrm>
            <a:off x="9811512" y="4873752"/>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16 devices; 4 domains</a:t>
            </a:r>
            <a:endParaRPr lang="en-US" sz="1330" dirty="0"/>
          </a:p>
        </p:txBody>
      </p:sp>
      <p:sp>
        <p:nvSpPr>
          <p:cNvPr id="84" name="Shape 82"/>
          <p:cNvSpPr/>
          <p:nvPr/>
        </p:nvSpPr>
        <p:spPr>
          <a:xfrm>
            <a:off x="502920" y="5246827"/>
            <a:ext cx="2194560" cy="450799"/>
          </a:xfrm>
          <a:prstGeom prst="rect">
            <a:avLst>
              <a:gd name="adj" fmla="val 16227"/>
            </a:avLst>
          </a:prstGeom>
          <a:solidFill>
            <a:srgbClr val="F3F4F6"/>
          </a:solidFill>
          <a:ln w="8890">
            <a:solidFill>
              <a:srgbClr val="FFFFFF"/>
            </a:solidFill>
            <a:prstDash val="solid"/>
          </a:ln>
        </p:spPr>
      </p:sp>
      <p:sp>
        <p:nvSpPr>
          <p:cNvPr id="85" name="Text 83"/>
          <p:cNvSpPr/>
          <p:nvPr/>
        </p:nvSpPr>
        <p:spPr>
          <a:xfrm>
            <a:off x="594360" y="5324551"/>
            <a:ext cx="2011680" cy="322783"/>
          </a:xfrm>
          <a:prstGeom prst="rect">
            <a:avLst/>
          </a:prstGeom>
          <a:noFill/>
          <a:ln/>
        </p:spPr>
        <p:txBody>
          <a:bodyPr wrap="square" lIns="0" tIns="0" rIns="0" bIns="0" rtlCol="0" anchor="ctr"/>
          <a:lstStyle/>
          <a:p>
            <a:pPr indent="0" marL="0">
              <a:buNone/>
            </a:pPr>
            <a:r>
              <a:rPr lang="en-US" sz="1330" b="1" dirty="0">
                <a:solidFill>
                  <a:srgbClr val="18191D"/>
                </a:solidFill>
                <a:latin typeface="Arial" pitchFamily="34" charset="0"/>
                <a:ea typeface="Arial" pitchFamily="34" charset="-122"/>
                <a:cs typeface="Arial" pitchFamily="34" charset="-120"/>
              </a:rPr>
              <a:t>ATMOS E24 · T</a:t>
            </a:r>
            <a:endParaRPr lang="en-US" sz="1330" dirty="0"/>
          </a:p>
        </p:txBody>
      </p:sp>
      <p:sp>
        <p:nvSpPr>
          <p:cNvPr id="86" name="Shape 84"/>
          <p:cNvSpPr/>
          <p:nvPr/>
        </p:nvSpPr>
        <p:spPr>
          <a:xfrm>
            <a:off x="2697480" y="5246827"/>
            <a:ext cx="2670048" cy="450799"/>
          </a:xfrm>
          <a:prstGeom prst="rect">
            <a:avLst>
              <a:gd name="adj" fmla="val 16227"/>
            </a:avLst>
          </a:prstGeom>
          <a:solidFill>
            <a:srgbClr val="B91839"/>
          </a:solidFill>
          <a:ln w="8890">
            <a:solidFill>
              <a:srgbClr val="FFFFFF"/>
            </a:solidFill>
            <a:prstDash val="solid"/>
          </a:ln>
        </p:spPr>
      </p:sp>
      <p:sp>
        <p:nvSpPr>
          <p:cNvPr id="87" name="Text 85"/>
          <p:cNvSpPr/>
          <p:nvPr/>
        </p:nvSpPr>
        <p:spPr>
          <a:xfrm>
            <a:off x="2788920" y="5324551"/>
            <a:ext cx="2487168" cy="322783"/>
          </a:xfrm>
          <a:prstGeom prst="rect">
            <a:avLst/>
          </a:prstGeom>
          <a:noFill/>
          <a:ln/>
        </p:spPr>
        <p:txBody>
          <a:bodyPr wrap="square" lIns="0" tIns="0" rIns="0" bIns="0" rtlCol="0" anchor="ctr"/>
          <a:lstStyle/>
          <a:p>
            <a:pPr indent="0" marL="0">
              <a:buNone/>
            </a:pPr>
            <a:r>
              <a:rPr lang="en-US" sz="1330" b="1" dirty="0">
                <a:solidFill>
                  <a:srgbClr val="FFFFFF"/>
                </a:solidFill>
                <a:latin typeface="Arial" pitchFamily="34" charset="0"/>
                <a:ea typeface="Arial" pitchFamily="34" charset="-122"/>
                <a:cs typeface="Arial" pitchFamily="34" charset="-120"/>
              </a:rPr>
              <a:t>3,072 / 2,400 GB HBF*</a:t>
            </a:r>
            <a:endParaRPr lang="en-US" sz="1330" dirty="0"/>
          </a:p>
        </p:txBody>
      </p:sp>
      <p:sp>
        <p:nvSpPr>
          <p:cNvPr id="88" name="Shape 86"/>
          <p:cNvSpPr/>
          <p:nvPr/>
        </p:nvSpPr>
        <p:spPr>
          <a:xfrm>
            <a:off x="5367528" y="5246827"/>
            <a:ext cx="2651760" cy="450799"/>
          </a:xfrm>
          <a:prstGeom prst="rect">
            <a:avLst>
              <a:gd name="adj" fmla="val 16227"/>
            </a:avLst>
          </a:prstGeom>
          <a:solidFill>
            <a:srgbClr val="F3F4F6"/>
          </a:solidFill>
          <a:ln w="8890">
            <a:solidFill>
              <a:srgbClr val="FFFFFF"/>
            </a:solidFill>
            <a:prstDash val="solid"/>
          </a:ln>
        </p:spPr>
      </p:sp>
      <p:sp>
        <p:nvSpPr>
          <p:cNvPr id="89" name="Text 87"/>
          <p:cNvSpPr/>
          <p:nvPr/>
        </p:nvSpPr>
        <p:spPr>
          <a:xfrm>
            <a:off x="5458968" y="5324551"/>
            <a:ext cx="24688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192–384 GB LPDDR</a:t>
            </a:r>
            <a:endParaRPr lang="en-US" sz="1330" dirty="0"/>
          </a:p>
          <a:p>
            <a:pPr indent="0" marL="0">
              <a:buNone/>
            </a:pPr>
            <a:r>
              <a:rPr lang="en-US" sz="1330" dirty="0">
                <a:solidFill>
                  <a:srgbClr val="18191D"/>
                </a:solidFill>
                <a:latin typeface="Arial" pitchFamily="34" charset="0"/>
                <a:ea typeface="Arial" pitchFamily="34" charset="-122"/>
                <a:cs typeface="Arial" pitchFamily="34" charset="-120"/>
              </a:rPr>
              <a:t>aggregate</a:t>
            </a:r>
            <a:endParaRPr lang="en-US" sz="1330" dirty="0"/>
          </a:p>
        </p:txBody>
      </p:sp>
      <p:sp>
        <p:nvSpPr>
          <p:cNvPr id="90" name="Shape 88"/>
          <p:cNvSpPr/>
          <p:nvPr/>
        </p:nvSpPr>
        <p:spPr>
          <a:xfrm>
            <a:off x="8019288" y="5246827"/>
            <a:ext cx="1700784" cy="450799"/>
          </a:xfrm>
          <a:prstGeom prst="rect">
            <a:avLst>
              <a:gd name="adj" fmla="val 16227"/>
            </a:avLst>
          </a:prstGeom>
          <a:solidFill>
            <a:srgbClr val="F3F4F6"/>
          </a:solidFill>
          <a:ln w="8890">
            <a:solidFill>
              <a:srgbClr val="FFFFFF"/>
            </a:solidFill>
            <a:prstDash val="solid"/>
          </a:ln>
        </p:spPr>
      </p:sp>
      <p:sp>
        <p:nvSpPr>
          <p:cNvPr id="91" name="Text 89"/>
          <p:cNvSpPr/>
          <p:nvPr/>
        </p:nvSpPr>
        <p:spPr>
          <a:xfrm>
            <a:off x="8110728" y="5324551"/>
            <a:ext cx="1517904"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1 TB+</a:t>
            </a:r>
            <a:endParaRPr lang="en-US" sz="1330" dirty="0"/>
          </a:p>
        </p:txBody>
      </p:sp>
      <p:sp>
        <p:nvSpPr>
          <p:cNvPr id="92" name="Shape 90"/>
          <p:cNvSpPr/>
          <p:nvPr/>
        </p:nvSpPr>
        <p:spPr>
          <a:xfrm>
            <a:off x="9720072" y="5246827"/>
            <a:ext cx="1965960" cy="450799"/>
          </a:xfrm>
          <a:prstGeom prst="rect">
            <a:avLst>
              <a:gd name="adj" fmla="val 16227"/>
            </a:avLst>
          </a:prstGeom>
          <a:solidFill>
            <a:srgbClr val="F3F4F6"/>
          </a:solidFill>
          <a:ln w="8890">
            <a:solidFill>
              <a:srgbClr val="FFFFFF"/>
            </a:solidFill>
            <a:prstDash val="solid"/>
          </a:ln>
        </p:spPr>
      </p:sp>
      <p:sp>
        <p:nvSpPr>
          <p:cNvPr id="93" name="Text 91"/>
          <p:cNvSpPr/>
          <p:nvPr/>
        </p:nvSpPr>
        <p:spPr>
          <a:xfrm>
            <a:off x="9811512" y="5324551"/>
            <a:ext cx="1783080" cy="322783"/>
          </a:xfrm>
          <a:prstGeom prst="rect">
            <a:avLst/>
          </a:prstGeom>
          <a:noFill/>
          <a:ln/>
        </p:spPr>
        <p:txBody>
          <a:bodyPr wrap="square" lIns="0" tIns="0" rIns="0" bIns="0" rtlCol="0" anchor="ctr"/>
          <a:lstStyle/>
          <a:p>
            <a:pPr indent="0" marL="0">
              <a:buNone/>
            </a:pPr>
            <a:r>
              <a:rPr lang="en-US" sz="1330" dirty="0">
                <a:solidFill>
                  <a:srgbClr val="18191D"/>
                </a:solidFill>
                <a:latin typeface="Arial" pitchFamily="34" charset="0"/>
                <a:ea typeface="Arial" pitchFamily="34" charset="-122"/>
                <a:cs typeface="Arial" pitchFamily="34" charset="-120"/>
              </a:rPr>
              <a:t>24 devices; 6 domains; stretch</a:t>
            </a:r>
            <a:endParaRPr lang="en-US" sz="1330" dirty="0"/>
          </a:p>
        </p:txBody>
      </p:sp>
      <p:sp>
        <p:nvSpPr>
          <p:cNvPr id="94" name="Text 92"/>
          <p:cNvSpPr/>
          <p:nvPr/>
        </p:nvSpPr>
        <p:spPr>
          <a:xfrm>
            <a:off x="548640" y="5769864"/>
            <a:ext cx="11045952" cy="182880"/>
          </a:xfrm>
          <a:prstGeom prst="rect">
            <a:avLst/>
          </a:prstGeom>
          <a:noFill/>
          <a:ln/>
        </p:spPr>
        <p:txBody>
          <a:bodyPr wrap="square" lIns="0" tIns="0" rIns="0" bIns="0" rtlCol="0" anchor="ctr"/>
          <a:lstStyle/>
          <a:p>
            <a:pPr indent="0" marL="0">
              <a:buNone/>
            </a:pPr>
            <a:r>
              <a:rPr lang="en-US" sz="1050" dirty="0">
                <a:solidFill>
                  <a:srgbClr val="5B6169"/>
                </a:solidFill>
                <a:latin typeface="Arial" pitchFamily="34" charset="0"/>
                <a:ea typeface="Arial" pitchFamily="34" charset="-122"/>
                <a:cs typeface="Arial" pitchFamily="34" charset="-120"/>
              </a:rPr>
              <a:t>*Nominal / application study allocation. LPDDR range = 8–16 GB per module; all ATMOS capacities are distributed.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BANDWIDTH HEATMAP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Bandwidth heatmap: local feed, device fabric and network.</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Local memory feed, device transport and service Ethernet are different resources; none is LLM throughput.</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Adding ATMOS modules increases independent resource capacity; it does not make one coherent high-bandwidth memory.</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[S10] [S11] [S12]</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§3,6</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M10</a:t>
            </a:r>
            <a:endParaRPr lang="en-US" sz="920" dirty="0"/>
          </a:p>
        </p:txBody>
      </p:sp>
      <p:sp>
        <p:nvSpPr>
          <p:cNvPr id="14" name="Text 12"/>
          <p:cNvSpPr/>
          <p:nvPr/>
        </p:nvSpPr>
        <p:spPr>
          <a:xfrm>
            <a:off x="502920" y="2103120"/>
            <a:ext cx="5212080"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LOCAL MEMORY / ONE ENGINE</a:t>
            </a:r>
            <a:endParaRPr lang="en-US" sz="1250" dirty="0"/>
          </a:p>
        </p:txBody>
      </p:sp>
      <p:sp>
        <p:nvSpPr>
          <p:cNvPr id="15" name="Text 13"/>
          <p:cNvSpPr/>
          <p:nvPr/>
        </p:nvSpPr>
        <p:spPr>
          <a:xfrm>
            <a:off x="548640" y="2633472"/>
            <a:ext cx="4114800" cy="228600"/>
          </a:xfrm>
          <a:prstGeom prst="rect">
            <a:avLst/>
          </a:prstGeom>
          <a:noFill/>
          <a:ln/>
        </p:spPr>
        <p:txBody>
          <a:bodyPr wrap="square" lIns="0" tIns="0" rIns="0" bIns="0" rtlCol="0" anchor="ctr"/>
          <a:lstStyle/>
          <a:p>
            <a:pPr indent="0" marL="0">
              <a:buNone/>
            </a:pPr>
            <a:r>
              <a:rPr lang="en-US" sz="1480" b="1" dirty="0">
                <a:solidFill>
                  <a:srgbClr val="18191D"/>
                </a:solidFill>
                <a:latin typeface="Arial" pitchFamily="34" charset="0"/>
                <a:ea typeface="Arial" pitchFamily="34" charset="-122"/>
                <a:cs typeface="Arial" pitchFamily="34" charset="-120"/>
              </a:rPr>
              <a:t>Spark LPDDR5x · P</a:t>
            </a:r>
            <a:endParaRPr lang="en-US" sz="1480" dirty="0"/>
          </a:p>
        </p:txBody>
      </p:sp>
      <p:sp>
        <p:nvSpPr>
          <p:cNvPr id="16" name="Shape 14"/>
          <p:cNvSpPr/>
          <p:nvPr/>
        </p:nvSpPr>
        <p:spPr>
          <a:xfrm>
            <a:off x="548640" y="2962656"/>
            <a:ext cx="3703320" cy="128016"/>
          </a:xfrm>
          <a:prstGeom prst="rect">
            <a:avLst>
              <a:gd name="adj" fmla="val 57143"/>
            </a:avLst>
          </a:prstGeom>
          <a:solidFill>
            <a:srgbClr val="F3F4F6"/>
          </a:solidFill>
          <a:ln w="12700">
            <a:solidFill>
              <a:srgbClr val="F3F4F6"/>
            </a:solidFill>
            <a:prstDash val="solid"/>
          </a:ln>
        </p:spPr>
      </p:sp>
      <p:sp>
        <p:nvSpPr>
          <p:cNvPr id="17" name="Shape 15"/>
          <p:cNvSpPr/>
          <p:nvPr/>
        </p:nvSpPr>
        <p:spPr>
          <a:xfrm>
            <a:off x="548640" y="2962656"/>
            <a:ext cx="142395" cy="128016"/>
          </a:xfrm>
          <a:prstGeom prst="rect">
            <a:avLst>
              <a:gd name="adj" fmla="val 57143"/>
            </a:avLst>
          </a:prstGeom>
          <a:solidFill>
            <a:srgbClr val="5B6169"/>
          </a:solidFill>
          <a:ln w="12700">
            <a:solidFill>
              <a:srgbClr val="5B6169"/>
            </a:solidFill>
            <a:prstDash val="solid"/>
          </a:ln>
        </p:spPr>
      </p:sp>
      <p:sp>
        <p:nvSpPr>
          <p:cNvPr id="18" name="Text 16"/>
          <p:cNvSpPr/>
          <p:nvPr/>
        </p:nvSpPr>
        <p:spPr>
          <a:xfrm>
            <a:off x="4389120" y="2907792"/>
            <a:ext cx="1024128" cy="210312"/>
          </a:xfrm>
          <a:prstGeom prst="rect">
            <a:avLst/>
          </a:prstGeom>
          <a:noFill/>
          <a:ln/>
        </p:spPr>
        <p:txBody>
          <a:bodyPr wrap="square" lIns="0" tIns="0" rIns="0" bIns="0" rtlCol="0" anchor="ctr"/>
          <a:lstStyle/>
          <a:p>
            <a:pPr algn="r" indent="0" marL="0">
              <a:buNone/>
            </a:pPr>
            <a:r>
              <a:rPr lang="en-US" sz="1140" dirty="0">
                <a:solidFill>
                  <a:srgbClr val="5B6169"/>
                </a:solidFill>
                <a:latin typeface="Arial" pitchFamily="34" charset="0"/>
                <a:ea typeface="Arial" pitchFamily="34" charset="-122"/>
                <a:cs typeface="Arial" pitchFamily="34" charset="-120"/>
              </a:rPr>
              <a:t>0.273 TB/s</a:t>
            </a:r>
            <a:endParaRPr lang="en-US" sz="1140" dirty="0"/>
          </a:p>
        </p:txBody>
      </p:sp>
      <p:sp>
        <p:nvSpPr>
          <p:cNvPr id="19" name="Text 17"/>
          <p:cNvSpPr/>
          <p:nvPr/>
        </p:nvSpPr>
        <p:spPr>
          <a:xfrm>
            <a:off x="548640" y="3264408"/>
            <a:ext cx="4114800" cy="228600"/>
          </a:xfrm>
          <a:prstGeom prst="rect">
            <a:avLst/>
          </a:prstGeom>
          <a:noFill/>
          <a:ln/>
        </p:spPr>
        <p:txBody>
          <a:bodyPr wrap="square" lIns="0" tIns="0" rIns="0" bIns="0" rtlCol="0" anchor="ctr"/>
          <a:lstStyle/>
          <a:p>
            <a:pPr indent="0" marL="0">
              <a:buNone/>
            </a:pPr>
            <a:r>
              <a:rPr lang="en-US" sz="1480" b="1" dirty="0">
                <a:solidFill>
                  <a:srgbClr val="18191D"/>
                </a:solidFill>
                <a:latin typeface="Arial" pitchFamily="34" charset="0"/>
                <a:ea typeface="Arial" pitchFamily="34" charset="-122"/>
                <a:cs typeface="Arial" pitchFamily="34" charset="-120"/>
              </a:rPr>
              <a:t>RTX WS GDDR7 · P</a:t>
            </a:r>
            <a:endParaRPr lang="en-US" sz="1480" dirty="0"/>
          </a:p>
        </p:txBody>
      </p:sp>
      <p:sp>
        <p:nvSpPr>
          <p:cNvPr id="20" name="Shape 18"/>
          <p:cNvSpPr/>
          <p:nvPr/>
        </p:nvSpPr>
        <p:spPr>
          <a:xfrm>
            <a:off x="548640" y="3593592"/>
            <a:ext cx="3703320" cy="128016"/>
          </a:xfrm>
          <a:prstGeom prst="rect">
            <a:avLst>
              <a:gd name="adj" fmla="val 57143"/>
            </a:avLst>
          </a:prstGeom>
          <a:solidFill>
            <a:srgbClr val="F3F4F6"/>
          </a:solidFill>
          <a:ln w="12700">
            <a:solidFill>
              <a:srgbClr val="F3F4F6"/>
            </a:solidFill>
            <a:prstDash val="solid"/>
          </a:ln>
        </p:spPr>
      </p:sp>
      <p:sp>
        <p:nvSpPr>
          <p:cNvPr id="21" name="Shape 19"/>
          <p:cNvSpPr/>
          <p:nvPr/>
        </p:nvSpPr>
        <p:spPr>
          <a:xfrm>
            <a:off x="548640" y="3593592"/>
            <a:ext cx="934697" cy="128016"/>
          </a:xfrm>
          <a:prstGeom prst="rect">
            <a:avLst>
              <a:gd name="adj" fmla="val 57143"/>
            </a:avLst>
          </a:prstGeom>
          <a:solidFill>
            <a:srgbClr val="5B6169"/>
          </a:solidFill>
          <a:ln w="12700">
            <a:solidFill>
              <a:srgbClr val="5B6169"/>
            </a:solidFill>
            <a:prstDash val="solid"/>
          </a:ln>
        </p:spPr>
      </p:sp>
      <p:sp>
        <p:nvSpPr>
          <p:cNvPr id="22" name="Text 20"/>
          <p:cNvSpPr/>
          <p:nvPr/>
        </p:nvSpPr>
        <p:spPr>
          <a:xfrm>
            <a:off x="4389120" y="3538728"/>
            <a:ext cx="1024128" cy="210312"/>
          </a:xfrm>
          <a:prstGeom prst="rect">
            <a:avLst/>
          </a:prstGeom>
          <a:noFill/>
          <a:ln/>
        </p:spPr>
        <p:txBody>
          <a:bodyPr wrap="square" lIns="0" tIns="0" rIns="0" bIns="0" rtlCol="0" anchor="ctr"/>
          <a:lstStyle/>
          <a:p>
            <a:pPr algn="r" indent="0" marL="0">
              <a:buNone/>
            </a:pPr>
            <a:r>
              <a:rPr lang="en-US" sz="1140" dirty="0">
                <a:solidFill>
                  <a:srgbClr val="5B6169"/>
                </a:solidFill>
                <a:latin typeface="Arial" pitchFamily="34" charset="0"/>
                <a:ea typeface="Arial" pitchFamily="34" charset="-122"/>
                <a:cs typeface="Arial" pitchFamily="34" charset="-120"/>
              </a:rPr>
              <a:t>1.792 TB/s</a:t>
            </a:r>
            <a:endParaRPr lang="en-US" sz="1140" dirty="0"/>
          </a:p>
        </p:txBody>
      </p:sp>
      <p:sp>
        <p:nvSpPr>
          <p:cNvPr id="23" name="Text 21"/>
          <p:cNvSpPr/>
          <p:nvPr/>
        </p:nvSpPr>
        <p:spPr>
          <a:xfrm>
            <a:off x="548640" y="3895344"/>
            <a:ext cx="4114800" cy="228600"/>
          </a:xfrm>
          <a:prstGeom prst="rect">
            <a:avLst/>
          </a:prstGeom>
          <a:noFill/>
          <a:ln/>
        </p:spPr>
        <p:txBody>
          <a:bodyPr wrap="square" lIns="0" tIns="0" rIns="0" bIns="0" rtlCol="0" anchor="ctr"/>
          <a:lstStyle/>
          <a:p>
            <a:pPr indent="0" marL="0">
              <a:buNone/>
            </a:pPr>
            <a:r>
              <a:rPr lang="en-US" sz="1480" b="1" dirty="0">
                <a:solidFill>
                  <a:srgbClr val="18191D"/>
                </a:solidFill>
                <a:latin typeface="Arial" pitchFamily="34" charset="0"/>
                <a:ea typeface="Arial" pitchFamily="34" charset="-122"/>
                <a:cs typeface="Arial" pitchFamily="34" charset="-120"/>
              </a:rPr>
              <a:t>Station GPU HBM · P</a:t>
            </a:r>
            <a:endParaRPr lang="en-US" sz="1480" dirty="0"/>
          </a:p>
        </p:txBody>
      </p:sp>
      <p:sp>
        <p:nvSpPr>
          <p:cNvPr id="24" name="Shape 22"/>
          <p:cNvSpPr/>
          <p:nvPr/>
        </p:nvSpPr>
        <p:spPr>
          <a:xfrm>
            <a:off x="548640" y="4224528"/>
            <a:ext cx="3703320" cy="128016"/>
          </a:xfrm>
          <a:prstGeom prst="rect">
            <a:avLst>
              <a:gd name="adj" fmla="val 57143"/>
            </a:avLst>
          </a:prstGeom>
          <a:solidFill>
            <a:srgbClr val="F3F4F6"/>
          </a:solidFill>
          <a:ln w="12700">
            <a:solidFill>
              <a:srgbClr val="F3F4F6"/>
            </a:solidFill>
            <a:prstDash val="solid"/>
          </a:ln>
        </p:spPr>
      </p:sp>
      <p:sp>
        <p:nvSpPr>
          <p:cNvPr id="25" name="Shape 23"/>
          <p:cNvSpPr/>
          <p:nvPr/>
        </p:nvSpPr>
        <p:spPr>
          <a:xfrm>
            <a:off x="548640" y="4224528"/>
            <a:ext cx="3703320" cy="128016"/>
          </a:xfrm>
          <a:prstGeom prst="rect">
            <a:avLst>
              <a:gd name="adj" fmla="val 57143"/>
            </a:avLst>
          </a:prstGeom>
          <a:solidFill>
            <a:srgbClr val="5B6169"/>
          </a:solidFill>
          <a:ln w="12700">
            <a:solidFill>
              <a:srgbClr val="5B6169"/>
            </a:solidFill>
            <a:prstDash val="solid"/>
          </a:ln>
        </p:spPr>
      </p:sp>
      <p:sp>
        <p:nvSpPr>
          <p:cNvPr id="26" name="Text 24"/>
          <p:cNvSpPr/>
          <p:nvPr/>
        </p:nvSpPr>
        <p:spPr>
          <a:xfrm>
            <a:off x="4389120" y="4169664"/>
            <a:ext cx="1024128" cy="210312"/>
          </a:xfrm>
          <a:prstGeom prst="rect">
            <a:avLst/>
          </a:prstGeom>
          <a:noFill/>
          <a:ln/>
        </p:spPr>
        <p:txBody>
          <a:bodyPr wrap="square" lIns="0" tIns="0" rIns="0" bIns="0" rtlCol="0" anchor="ctr"/>
          <a:lstStyle/>
          <a:p>
            <a:pPr algn="r" indent="0" marL="0">
              <a:buNone/>
            </a:pPr>
            <a:r>
              <a:rPr lang="en-US" sz="1140" dirty="0">
                <a:solidFill>
                  <a:srgbClr val="5B6169"/>
                </a:solidFill>
                <a:latin typeface="Arial" pitchFamily="34" charset="0"/>
                <a:ea typeface="Arial" pitchFamily="34" charset="-122"/>
                <a:cs typeface="Arial" pitchFamily="34" charset="-120"/>
              </a:rPr>
              <a:t>up to 7.1 TB/s</a:t>
            </a:r>
            <a:endParaRPr lang="en-US" sz="1140" dirty="0"/>
          </a:p>
        </p:txBody>
      </p:sp>
      <p:sp>
        <p:nvSpPr>
          <p:cNvPr id="27" name="Text 25"/>
          <p:cNvSpPr/>
          <p:nvPr/>
        </p:nvSpPr>
        <p:spPr>
          <a:xfrm>
            <a:off x="548640" y="4526280"/>
            <a:ext cx="4114800" cy="228600"/>
          </a:xfrm>
          <a:prstGeom prst="rect">
            <a:avLst/>
          </a:prstGeom>
          <a:noFill/>
          <a:ln/>
        </p:spPr>
        <p:txBody>
          <a:bodyPr wrap="square" lIns="0" tIns="0" rIns="0" bIns="0" rtlCol="0" anchor="ctr"/>
          <a:lstStyle/>
          <a:p>
            <a:pPr indent="0" marL="0">
              <a:buNone/>
            </a:pPr>
            <a:r>
              <a:rPr lang="en-US" sz="1480" b="1" dirty="0">
                <a:solidFill>
                  <a:srgbClr val="18191D"/>
                </a:solidFill>
                <a:latin typeface="Arial" pitchFamily="34" charset="0"/>
                <a:ea typeface="Arial" pitchFamily="34" charset="-122"/>
                <a:cs typeface="Arial" pitchFamily="34" charset="-120"/>
              </a:rPr>
              <a:t>ATMOS HBF / module · T</a:t>
            </a:r>
            <a:endParaRPr lang="en-US" sz="1480" dirty="0"/>
          </a:p>
        </p:txBody>
      </p:sp>
      <p:sp>
        <p:nvSpPr>
          <p:cNvPr id="28" name="Shape 26"/>
          <p:cNvSpPr/>
          <p:nvPr/>
        </p:nvSpPr>
        <p:spPr>
          <a:xfrm>
            <a:off x="548640" y="4855464"/>
            <a:ext cx="3703320" cy="128016"/>
          </a:xfrm>
          <a:prstGeom prst="rect">
            <a:avLst>
              <a:gd name="adj" fmla="val 57143"/>
            </a:avLst>
          </a:prstGeom>
          <a:solidFill>
            <a:srgbClr val="F3F4F6"/>
          </a:solidFill>
          <a:ln w="12700">
            <a:solidFill>
              <a:srgbClr val="F3F4F6"/>
            </a:solidFill>
            <a:prstDash val="solid"/>
          </a:ln>
        </p:spPr>
      </p:sp>
      <p:sp>
        <p:nvSpPr>
          <p:cNvPr id="29" name="Shape 27"/>
          <p:cNvSpPr/>
          <p:nvPr/>
        </p:nvSpPr>
        <p:spPr>
          <a:xfrm>
            <a:off x="548640" y="4855464"/>
            <a:ext cx="104319" cy="128016"/>
          </a:xfrm>
          <a:prstGeom prst="rect">
            <a:avLst>
              <a:gd name="adj" fmla="val 70123"/>
            </a:avLst>
          </a:prstGeom>
          <a:solidFill>
            <a:srgbClr val="E31837"/>
          </a:solidFill>
          <a:ln w="12700">
            <a:solidFill>
              <a:srgbClr val="E31837"/>
            </a:solidFill>
            <a:prstDash val="solid"/>
          </a:ln>
        </p:spPr>
      </p:sp>
      <p:sp>
        <p:nvSpPr>
          <p:cNvPr id="30" name="Text 28"/>
          <p:cNvSpPr/>
          <p:nvPr/>
        </p:nvSpPr>
        <p:spPr>
          <a:xfrm>
            <a:off x="4389120" y="4800600"/>
            <a:ext cx="1024128" cy="210312"/>
          </a:xfrm>
          <a:prstGeom prst="rect">
            <a:avLst/>
          </a:prstGeom>
          <a:noFill/>
          <a:ln/>
        </p:spPr>
        <p:txBody>
          <a:bodyPr wrap="square" lIns="0" tIns="0" rIns="0" bIns="0" rtlCol="0" anchor="ctr"/>
          <a:lstStyle/>
          <a:p>
            <a:pPr algn="r" indent="0" marL="0">
              <a:buNone/>
            </a:pPr>
            <a:r>
              <a:rPr lang="en-US" sz="1140" dirty="0">
                <a:solidFill>
                  <a:srgbClr val="5B6169"/>
                </a:solidFill>
                <a:latin typeface="Arial" pitchFamily="34" charset="0"/>
                <a:ea typeface="Arial" pitchFamily="34" charset="-122"/>
                <a:cs typeface="Arial" pitchFamily="34" charset="-120"/>
              </a:rPr>
              <a:t>~0.200 TB/s</a:t>
            </a:r>
            <a:endParaRPr lang="en-US" sz="1140" dirty="0"/>
          </a:p>
        </p:txBody>
      </p:sp>
      <p:sp>
        <p:nvSpPr>
          <p:cNvPr id="31" name="Text 29"/>
          <p:cNvSpPr/>
          <p:nvPr/>
        </p:nvSpPr>
        <p:spPr>
          <a:xfrm>
            <a:off x="5733288" y="2103120"/>
            <a:ext cx="5943600"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ATMOS / INDEPENDENT DOMAIN SUMS (T)</a:t>
            </a:r>
            <a:endParaRPr lang="en-US" sz="1250" dirty="0"/>
          </a:p>
        </p:txBody>
      </p:sp>
      <p:sp>
        <p:nvSpPr>
          <p:cNvPr id="32" name="Shape 30"/>
          <p:cNvSpPr/>
          <p:nvPr/>
        </p:nvSpPr>
        <p:spPr>
          <a:xfrm>
            <a:off x="5733288" y="2560320"/>
            <a:ext cx="941832" cy="539496"/>
          </a:xfrm>
          <a:prstGeom prst="rect">
            <a:avLst>
              <a:gd name="adj" fmla="val 13559"/>
            </a:avLst>
          </a:prstGeom>
          <a:solidFill>
            <a:srgbClr val="18191D"/>
          </a:solidFill>
          <a:ln w="12700">
            <a:solidFill>
              <a:srgbClr val="18191D"/>
            </a:solidFill>
            <a:prstDash val="solid"/>
          </a:ln>
        </p:spPr>
      </p:sp>
      <p:sp>
        <p:nvSpPr>
          <p:cNvPr id="33" name="Text 31"/>
          <p:cNvSpPr/>
          <p:nvPr/>
        </p:nvSpPr>
        <p:spPr>
          <a:xfrm>
            <a:off x="5824728" y="2624328"/>
            <a:ext cx="758952" cy="429768"/>
          </a:xfrm>
          <a:prstGeom prst="rect">
            <a:avLst/>
          </a:prstGeom>
          <a:noFill/>
          <a:ln/>
        </p:spPr>
        <p:txBody>
          <a:bodyPr wrap="square" lIns="0" tIns="0" rIns="0" bIns="0" rtlCol="0" anchor="ctr"/>
          <a:lstStyle/>
          <a:p>
            <a:pPr indent="0" marL="0">
              <a:buNone/>
            </a:pPr>
            <a:r>
              <a:rPr lang="en-US" sz="1110" b="1" dirty="0">
                <a:solidFill>
                  <a:srgbClr val="FFFFFF"/>
                </a:solidFill>
                <a:latin typeface="Arial" pitchFamily="34" charset="0"/>
                <a:ea typeface="Arial" pitchFamily="34" charset="-122"/>
                <a:cs typeface="Arial" pitchFamily="34" charset="-120"/>
              </a:rPr>
              <a:t>SKU</a:t>
            </a:r>
            <a:endParaRPr lang="en-US" sz="1110" dirty="0"/>
          </a:p>
        </p:txBody>
      </p:sp>
      <p:sp>
        <p:nvSpPr>
          <p:cNvPr id="34" name="Shape 32"/>
          <p:cNvSpPr/>
          <p:nvPr/>
        </p:nvSpPr>
        <p:spPr>
          <a:xfrm>
            <a:off x="6675120" y="2560320"/>
            <a:ext cx="1444752" cy="539496"/>
          </a:xfrm>
          <a:prstGeom prst="rect">
            <a:avLst>
              <a:gd name="adj" fmla="val 13559"/>
            </a:avLst>
          </a:prstGeom>
          <a:solidFill>
            <a:srgbClr val="18191D"/>
          </a:solidFill>
          <a:ln w="12700">
            <a:solidFill>
              <a:srgbClr val="18191D"/>
            </a:solidFill>
            <a:prstDash val="solid"/>
          </a:ln>
        </p:spPr>
      </p:sp>
      <p:sp>
        <p:nvSpPr>
          <p:cNvPr id="35" name="Text 33"/>
          <p:cNvSpPr/>
          <p:nvPr/>
        </p:nvSpPr>
        <p:spPr>
          <a:xfrm>
            <a:off x="6766560" y="2624328"/>
            <a:ext cx="1261872" cy="429768"/>
          </a:xfrm>
          <a:prstGeom prst="rect">
            <a:avLst/>
          </a:prstGeom>
          <a:noFill/>
          <a:ln/>
        </p:spPr>
        <p:txBody>
          <a:bodyPr wrap="square" lIns="0" tIns="0" rIns="0" bIns="0" rtlCol="0" anchor="ctr"/>
          <a:lstStyle/>
          <a:p>
            <a:pPr indent="0" marL="0">
              <a:buNone/>
            </a:pPr>
            <a:r>
              <a:rPr lang="en-US" sz="1110" b="1" dirty="0">
                <a:solidFill>
                  <a:srgbClr val="FFFFFF"/>
                </a:solidFill>
                <a:latin typeface="Arial" pitchFamily="34" charset="0"/>
                <a:ea typeface="Arial" pitchFamily="34" charset="-122"/>
                <a:cs typeface="Arial" pitchFamily="34" charset="-120"/>
              </a:rPr>
              <a:t>Local HBF</a:t>
            </a:r>
            <a:endParaRPr lang="en-US" sz="1110" dirty="0"/>
          </a:p>
          <a:p>
            <a:pPr indent="0" marL="0">
              <a:buNone/>
            </a:pPr>
            <a:r>
              <a:rPr lang="en-US" sz="1110" b="1" dirty="0">
                <a:solidFill>
                  <a:srgbClr val="FFFFFF"/>
                </a:solidFill>
                <a:latin typeface="Arial" pitchFamily="34" charset="0"/>
                <a:ea typeface="Arial" pitchFamily="34" charset="-122"/>
                <a:cs typeface="Arial" pitchFamily="34" charset="-120"/>
              </a:rPr>
              <a:t>read sum</a:t>
            </a:r>
            <a:endParaRPr lang="en-US" sz="1110" dirty="0"/>
          </a:p>
        </p:txBody>
      </p:sp>
      <p:sp>
        <p:nvSpPr>
          <p:cNvPr id="36" name="Shape 34"/>
          <p:cNvSpPr/>
          <p:nvPr/>
        </p:nvSpPr>
        <p:spPr>
          <a:xfrm>
            <a:off x="8119872" y="2560320"/>
            <a:ext cx="1645920" cy="539496"/>
          </a:xfrm>
          <a:prstGeom prst="rect">
            <a:avLst>
              <a:gd name="adj" fmla="val 13559"/>
            </a:avLst>
          </a:prstGeom>
          <a:solidFill>
            <a:srgbClr val="18191D"/>
          </a:solidFill>
          <a:ln w="12700">
            <a:solidFill>
              <a:srgbClr val="18191D"/>
            </a:solidFill>
            <a:prstDash val="solid"/>
          </a:ln>
        </p:spPr>
      </p:sp>
      <p:sp>
        <p:nvSpPr>
          <p:cNvPr id="37" name="Text 35"/>
          <p:cNvSpPr/>
          <p:nvPr/>
        </p:nvSpPr>
        <p:spPr>
          <a:xfrm>
            <a:off x="8211312" y="2624328"/>
            <a:ext cx="1463040" cy="429768"/>
          </a:xfrm>
          <a:prstGeom prst="rect">
            <a:avLst/>
          </a:prstGeom>
          <a:noFill/>
          <a:ln/>
        </p:spPr>
        <p:txBody>
          <a:bodyPr wrap="square" lIns="0" tIns="0" rIns="0" bIns="0" rtlCol="0" anchor="ctr"/>
          <a:lstStyle/>
          <a:p>
            <a:pPr indent="0" marL="0">
              <a:buNone/>
            </a:pPr>
            <a:r>
              <a:rPr lang="en-US" sz="1110" b="1" dirty="0">
                <a:solidFill>
                  <a:srgbClr val="FFFFFF"/>
                </a:solidFill>
                <a:latin typeface="Arial" pitchFamily="34" charset="0"/>
                <a:ea typeface="Arial" pitchFamily="34" charset="-122"/>
                <a:cs typeface="Arial" pitchFamily="34" charset="-120"/>
              </a:rPr>
              <a:t>Host uplinks</a:t>
            </a:r>
            <a:endParaRPr lang="en-US" sz="1110" dirty="0"/>
          </a:p>
          <a:p>
            <a:pPr indent="0" marL="0">
              <a:buNone/>
            </a:pPr>
            <a:r>
              <a:rPr lang="en-US" sz="1110" b="1" dirty="0">
                <a:solidFill>
                  <a:srgbClr val="FFFFFF"/>
                </a:solidFill>
                <a:latin typeface="Arial" pitchFamily="34" charset="0"/>
                <a:ea typeface="Arial" pitchFamily="34" charset="-122"/>
                <a:cs typeface="Arial" pitchFamily="34" charset="-120"/>
              </a:rPr>
              <a:t>coded sum</a:t>
            </a:r>
            <a:endParaRPr lang="en-US" sz="1110" dirty="0"/>
          </a:p>
        </p:txBody>
      </p:sp>
      <p:sp>
        <p:nvSpPr>
          <p:cNvPr id="38" name="Shape 36"/>
          <p:cNvSpPr/>
          <p:nvPr/>
        </p:nvSpPr>
        <p:spPr>
          <a:xfrm>
            <a:off x="9765792" y="2560320"/>
            <a:ext cx="1920240" cy="539496"/>
          </a:xfrm>
          <a:prstGeom prst="rect">
            <a:avLst>
              <a:gd name="adj" fmla="val 13559"/>
            </a:avLst>
          </a:prstGeom>
          <a:solidFill>
            <a:srgbClr val="18191D"/>
          </a:solidFill>
          <a:ln w="12700">
            <a:solidFill>
              <a:srgbClr val="18191D"/>
            </a:solidFill>
            <a:prstDash val="solid"/>
          </a:ln>
        </p:spPr>
      </p:sp>
      <p:sp>
        <p:nvSpPr>
          <p:cNvPr id="39" name="Text 37"/>
          <p:cNvSpPr/>
          <p:nvPr/>
        </p:nvSpPr>
        <p:spPr>
          <a:xfrm>
            <a:off x="9857232" y="2624328"/>
            <a:ext cx="1737360" cy="429768"/>
          </a:xfrm>
          <a:prstGeom prst="rect">
            <a:avLst/>
          </a:prstGeom>
          <a:noFill/>
          <a:ln/>
        </p:spPr>
        <p:txBody>
          <a:bodyPr wrap="square" lIns="0" tIns="0" rIns="0" bIns="0" rtlCol="0" anchor="ctr"/>
          <a:lstStyle/>
          <a:p>
            <a:pPr indent="0" marL="0">
              <a:buNone/>
            </a:pPr>
            <a:r>
              <a:rPr lang="en-US" sz="1110" b="1" dirty="0">
                <a:solidFill>
                  <a:srgbClr val="FFFFFF"/>
                </a:solidFill>
                <a:latin typeface="Arial" pitchFamily="34" charset="0"/>
                <a:ea typeface="Arial" pitchFamily="34" charset="-122"/>
                <a:cs typeface="Arial" pitchFamily="34" charset="-120"/>
              </a:rPr>
              <a:t>Service network</a:t>
            </a:r>
            <a:endParaRPr lang="en-US" sz="1110" dirty="0"/>
          </a:p>
          <a:p>
            <a:pPr indent="0" marL="0">
              <a:buNone/>
            </a:pPr>
            <a:r>
              <a:rPr lang="en-US" sz="1110" b="1" dirty="0">
                <a:solidFill>
                  <a:srgbClr val="FFFFFF"/>
                </a:solidFill>
                <a:latin typeface="Arial" pitchFamily="34" charset="0"/>
                <a:ea typeface="Arial" pitchFamily="34" charset="-122"/>
                <a:cs typeface="Arial" pitchFamily="34" charset="-120"/>
              </a:rPr>
              <a:t>(GbE)</a:t>
            </a:r>
            <a:endParaRPr lang="en-US" sz="1110" dirty="0"/>
          </a:p>
        </p:txBody>
      </p:sp>
      <p:sp>
        <p:nvSpPr>
          <p:cNvPr id="40" name="Shape 38"/>
          <p:cNvSpPr/>
          <p:nvPr/>
        </p:nvSpPr>
        <p:spPr>
          <a:xfrm>
            <a:off x="5733288" y="3099816"/>
            <a:ext cx="941832" cy="521208"/>
          </a:xfrm>
          <a:prstGeom prst="rect">
            <a:avLst>
              <a:gd name="adj" fmla="val 14035"/>
            </a:avLst>
          </a:prstGeom>
          <a:solidFill>
            <a:srgbClr val="F3F4F6"/>
          </a:solidFill>
          <a:ln w="8890">
            <a:solidFill>
              <a:srgbClr val="FFFFFF"/>
            </a:solidFill>
            <a:prstDash val="solid"/>
          </a:ln>
        </p:spPr>
      </p:sp>
      <p:sp>
        <p:nvSpPr>
          <p:cNvPr id="41" name="Text 39"/>
          <p:cNvSpPr/>
          <p:nvPr/>
        </p:nvSpPr>
        <p:spPr>
          <a:xfrm>
            <a:off x="5824728" y="3177540"/>
            <a:ext cx="75895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W4</a:t>
            </a:r>
            <a:endParaRPr lang="en-US" sz="1300" dirty="0"/>
          </a:p>
        </p:txBody>
      </p:sp>
      <p:sp>
        <p:nvSpPr>
          <p:cNvPr id="42" name="Shape 40"/>
          <p:cNvSpPr/>
          <p:nvPr/>
        </p:nvSpPr>
        <p:spPr>
          <a:xfrm>
            <a:off x="6675120" y="3099816"/>
            <a:ext cx="1444752" cy="521208"/>
          </a:xfrm>
          <a:prstGeom prst="rect">
            <a:avLst>
              <a:gd name="adj" fmla="val 14035"/>
            </a:avLst>
          </a:prstGeom>
          <a:solidFill>
            <a:srgbClr val="FDF0F3"/>
          </a:solidFill>
          <a:ln w="8890">
            <a:solidFill>
              <a:srgbClr val="FFFFFF"/>
            </a:solidFill>
            <a:prstDash val="solid"/>
          </a:ln>
        </p:spPr>
      </p:sp>
      <p:sp>
        <p:nvSpPr>
          <p:cNvPr id="43" name="Text 41"/>
          <p:cNvSpPr/>
          <p:nvPr/>
        </p:nvSpPr>
        <p:spPr>
          <a:xfrm>
            <a:off x="6766560" y="3177540"/>
            <a:ext cx="126187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0.8 TB/s</a:t>
            </a:r>
            <a:endParaRPr lang="en-US" sz="1300" dirty="0"/>
          </a:p>
        </p:txBody>
      </p:sp>
      <p:sp>
        <p:nvSpPr>
          <p:cNvPr id="44" name="Shape 42"/>
          <p:cNvSpPr/>
          <p:nvPr/>
        </p:nvSpPr>
        <p:spPr>
          <a:xfrm>
            <a:off x="8119872" y="3099816"/>
            <a:ext cx="1645920" cy="521208"/>
          </a:xfrm>
          <a:prstGeom prst="rect">
            <a:avLst>
              <a:gd name="adj" fmla="val 14035"/>
            </a:avLst>
          </a:prstGeom>
          <a:solidFill>
            <a:srgbClr val="F3F4F6"/>
          </a:solidFill>
          <a:ln w="8890">
            <a:solidFill>
              <a:srgbClr val="FFFFFF"/>
            </a:solidFill>
            <a:prstDash val="solid"/>
          </a:ln>
        </p:spPr>
      </p:sp>
      <p:sp>
        <p:nvSpPr>
          <p:cNvPr id="45" name="Text 43"/>
          <p:cNvSpPr/>
          <p:nvPr/>
        </p:nvSpPr>
        <p:spPr>
          <a:xfrm>
            <a:off x="8211312" y="3177540"/>
            <a:ext cx="146304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~63 GB/s</a:t>
            </a:r>
            <a:endParaRPr lang="en-US" sz="1300" dirty="0"/>
          </a:p>
        </p:txBody>
      </p:sp>
      <p:sp>
        <p:nvSpPr>
          <p:cNvPr id="46" name="Shape 44"/>
          <p:cNvSpPr/>
          <p:nvPr/>
        </p:nvSpPr>
        <p:spPr>
          <a:xfrm>
            <a:off x="9765792" y="3099816"/>
            <a:ext cx="1920240" cy="521208"/>
          </a:xfrm>
          <a:prstGeom prst="rect">
            <a:avLst>
              <a:gd name="adj" fmla="val 14035"/>
            </a:avLst>
          </a:prstGeom>
          <a:solidFill>
            <a:srgbClr val="F3F4F6"/>
          </a:solidFill>
          <a:ln w="8890">
            <a:solidFill>
              <a:srgbClr val="FFFFFF"/>
            </a:solidFill>
            <a:prstDash val="solid"/>
          </a:ln>
        </p:spPr>
      </p:sp>
      <p:sp>
        <p:nvSpPr>
          <p:cNvPr id="47" name="Text 45"/>
          <p:cNvSpPr/>
          <p:nvPr/>
        </p:nvSpPr>
        <p:spPr>
          <a:xfrm>
            <a:off x="9857232" y="3177540"/>
            <a:ext cx="173736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25 / 100</a:t>
            </a:r>
            <a:endParaRPr lang="en-US" sz="1300" dirty="0"/>
          </a:p>
        </p:txBody>
      </p:sp>
      <p:sp>
        <p:nvSpPr>
          <p:cNvPr id="48" name="Shape 46"/>
          <p:cNvSpPr/>
          <p:nvPr/>
        </p:nvSpPr>
        <p:spPr>
          <a:xfrm>
            <a:off x="5733288" y="3621024"/>
            <a:ext cx="941832" cy="521208"/>
          </a:xfrm>
          <a:prstGeom prst="rect">
            <a:avLst>
              <a:gd name="adj" fmla="val 14035"/>
            </a:avLst>
          </a:prstGeom>
          <a:solidFill>
            <a:srgbClr val="FFFFFF"/>
          </a:solidFill>
          <a:ln w="8890">
            <a:solidFill>
              <a:srgbClr val="FFFFFF"/>
            </a:solidFill>
            <a:prstDash val="solid"/>
          </a:ln>
        </p:spPr>
      </p:sp>
      <p:sp>
        <p:nvSpPr>
          <p:cNvPr id="49" name="Text 47"/>
          <p:cNvSpPr/>
          <p:nvPr/>
        </p:nvSpPr>
        <p:spPr>
          <a:xfrm>
            <a:off x="5824728" y="3698748"/>
            <a:ext cx="75895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D8 / E8</a:t>
            </a:r>
            <a:endParaRPr lang="en-US" sz="1300" dirty="0"/>
          </a:p>
        </p:txBody>
      </p:sp>
      <p:sp>
        <p:nvSpPr>
          <p:cNvPr id="50" name="Shape 48"/>
          <p:cNvSpPr/>
          <p:nvPr/>
        </p:nvSpPr>
        <p:spPr>
          <a:xfrm>
            <a:off x="6675120" y="3621024"/>
            <a:ext cx="1444752" cy="521208"/>
          </a:xfrm>
          <a:prstGeom prst="rect">
            <a:avLst>
              <a:gd name="adj" fmla="val 14035"/>
            </a:avLst>
          </a:prstGeom>
          <a:solidFill>
            <a:srgbClr val="F8D4DB"/>
          </a:solidFill>
          <a:ln w="8890">
            <a:solidFill>
              <a:srgbClr val="FFFFFF"/>
            </a:solidFill>
            <a:prstDash val="solid"/>
          </a:ln>
        </p:spPr>
      </p:sp>
      <p:sp>
        <p:nvSpPr>
          <p:cNvPr id="51" name="Text 49"/>
          <p:cNvSpPr/>
          <p:nvPr/>
        </p:nvSpPr>
        <p:spPr>
          <a:xfrm>
            <a:off x="6766560" y="3698748"/>
            <a:ext cx="126187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1.6 TB/s</a:t>
            </a:r>
            <a:endParaRPr lang="en-US" sz="1300" dirty="0"/>
          </a:p>
        </p:txBody>
      </p:sp>
      <p:sp>
        <p:nvSpPr>
          <p:cNvPr id="52" name="Shape 50"/>
          <p:cNvSpPr/>
          <p:nvPr/>
        </p:nvSpPr>
        <p:spPr>
          <a:xfrm>
            <a:off x="8119872" y="3621024"/>
            <a:ext cx="1645920" cy="521208"/>
          </a:xfrm>
          <a:prstGeom prst="rect">
            <a:avLst>
              <a:gd name="adj" fmla="val 14035"/>
            </a:avLst>
          </a:prstGeom>
          <a:solidFill>
            <a:srgbClr val="FFFFFF"/>
          </a:solidFill>
          <a:ln w="8890">
            <a:solidFill>
              <a:srgbClr val="FFFFFF"/>
            </a:solidFill>
            <a:prstDash val="solid"/>
          </a:ln>
        </p:spPr>
      </p:sp>
      <p:sp>
        <p:nvSpPr>
          <p:cNvPr id="53" name="Text 51"/>
          <p:cNvSpPr/>
          <p:nvPr/>
        </p:nvSpPr>
        <p:spPr>
          <a:xfrm>
            <a:off x="8211312" y="3698748"/>
            <a:ext cx="146304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~126 GB/s</a:t>
            </a:r>
            <a:endParaRPr lang="en-US" sz="1300" dirty="0"/>
          </a:p>
        </p:txBody>
      </p:sp>
      <p:sp>
        <p:nvSpPr>
          <p:cNvPr id="54" name="Shape 52"/>
          <p:cNvSpPr/>
          <p:nvPr/>
        </p:nvSpPr>
        <p:spPr>
          <a:xfrm>
            <a:off x="9765792" y="3621024"/>
            <a:ext cx="1920240" cy="521208"/>
          </a:xfrm>
          <a:prstGeom prst="rect">
            <a:avLst>
              <a:gd name="adj" fmla="val 14035"/>
            </a:avLst>
          </a:prstGeom>
          <a:solidFill>
            <a:srgbClr val="FFFFFF"/>
          </a:solidFill>
          <a:ln w="8890">
            <a:solidFill>
              <a:srgbClr val="FFFFFF"/>
            </a:solidFill>
            <a:prstDash val="solid"/>
          </a:ln>
        </p:spPr>
      </p:sp>
      <p:sp>
        <p:nvSpPr>
          <p:cNvPr id="55" name="Text 53"/>
          <p:cNvSpPr/>
          <p:nvPr/>
        </p:nvSpPr>
        <p:spPr>
          <a:xfrm>
            <a:off x="9857232" y="3698748"/>
            <a:ext cx="173736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100*</a:t>
            </a:r>
            <a:endParaRPr lang="en-US" sz="1300" dirty="0"/>
          </a:p>
        </p:txBody>
      </p:sp>
      <p:sp>
        <p:nvSpPr>
          <p:cNvPr id="56" name="Shape 54"/>
          <p:cNvSpPr/>
          <p:nvPr/>
        </p:nvSpPr>
        <p:spPr>
          <a:xfrm>
            <a:off x="5733288" y="4142232"/>
            <a:ext cx="941832" cy="521208"/>
          </a:xfrm>
          <a:prstGeom prst="rect">
            <a:avLst>
              <a:gd name="adj" fmla="val 14035"/>
            </a:avLst>
          </a:prstGeom>
          <a:solidFill>
            <a:srgbClr val="F3F4F6"/>
          </a:solidFill>
          <a:ln w="8890">
            <a:solidFill>
              <a:srgbClr val="FFFFFF"/>
            </a:solidFill>
            <a:prstDash val="solid"/>
          </a:ln>
        </p:spPr>
      </p:sp>
      <p:sp>
        <p:nvSpPr>
          <p:cNvPr id="57" name="Text 55"/>
          <p:cNvSpPr/>
          <p:nvPr/>
        </p:nvSpPr>
        <p:spPr>
          <a:xfrm>
            <a:off x="5824728" y="4219956"/>
            <a:ext cx="75895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E16</a:t>
            </a:r>
            <a:endParaRPr lang="en-US" sz="1300" dirty="0"/>
          </a:p>
        </p:txBody>
      </p:sp>
      <p:sp>
        <p:nvSpPr>
          <p:cNvPr id="58" name="Shape 56"/>
          <p:cNvSpPr/>
          <p:nvPr/>
        </p:nvSpPr>
        <p:spPr>
          <a:xfrm>
            <a:off x="6675120" y="4142232"/>
            <a:ext cx="1444752" cy="521208"/>
          </a:xfrm>
          <a:prstGeom prst="rect">
            <a:avLst>
              <a:gd name="adj" fmla="val 14035"/>
            </a:avLst>
          </a:prstGeom>
          <a:solidFill>
            <a:srgbClr val="DF4F6B"/>
          </a:solidFill>
          <a:ln w="8890">
            <a:solidFill>
              <a:srgbClr val="FFFFFF"/>
            </a:solidFill>
            <a:prstDash val="solid"/>
          </a:ln>
        </p:spPr>
      </p:sp>
      <p:sp>
        <p:nvSpPr>
          <p:cNvPr id="59" name="Text 57"/>
          <p:cNvSpPr/>
          <p:nvPr/>
        </p:nvSpPr>
        <p:spPr>
          <a:xfrm>
            <a:off x="6766560" y="4219956"/>
            <a:ext cx="1261872" cy="39319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3.2 TB/s</a:t>
            </a:r>
            <a:endParaRPr lang="en-US" sz="1300" dirty="0"/>
          </a:p>
        </p:txBody>
      </p:sp>
      <p:sp>
        <p:nvSpPr>
          <p:cNvPr id="60" name="Shape 58"/>
          <p:cNvSpPr/>
          <p:nvPr/>
        </p:nvSpPr>
        <p:spPr>
          <a:xfrm>
            <a:off x="8119872" y="4142232"/>
            <a:ext cx="1645920" cy="521208"/>
          </a:xfrm>
          <a:prstGeom prst="rect">
            <a:avLst>
              <a:gd name="adj" fmla="val 14035"/>
            </a:avLst>
          </a:prstGeom>
          <a:solidFill>
            <a:srgbClr val="F3F4F6"/>
          </a:solidFill>
          <a:ln w="8890">
            <a:solidFill>
              <a:srgbClr val="FFFFFF"/>
            </a:solidFill>
            <a:prstDash val="solid"/>
          </a:ln>
        </p:spPr>
      </p:sp>
      <p:sp>
        <p:nvSpPr>
          <p:cNvPr id="61" name="Text 59"/>
          <p:cNvSpPr/>
          <p:nvPr/>
        </p:nvSpPr>
        <p:spPr>
          <a:xfrm>
            <a:off x="8211312" y="4219956"/>
            <a:ext cx="146304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~252 GB/s</a:t>
            </a:r>
            <a:endParaRPr lang="en-US" sz="1300" dirty="0"/>
          </a:p>
        </p:txBody>
      </p:sp>
      <p:sp>
        <p:nvSpPr>
          <p:cNvPr id="62" name="Shape 60"/>
          <p:cNvSpPr/>
          <p:nvPr/>
        </p:nvSpPr>
        <p:spPr>
          <a:xfrm>
            <a:off x="9765792" y="4142232"/>
            <a:ext cx="1920240" cy="521208"/>
          </a:xfrm>
          <a:prstGeom prst="rect">
            <a:avLst>
              <a:gd name="adj" fmla="val 14035"/>
            </a:avLst>
          </a:prstGeom>
          <a:solidFill>
            <a:srgbClr val="F3F4F6"/>
          </a:solidFill>
          <a:ln w="8890">
            <a:solidFill>
              <a:srgbClr val="FFFFFF"/>
            </a:solidFill>
            <a:prstDash val="solid"/>
          </a:ln>
        </p:spPr>
      </p:sp>
      <p:sp>
        <p:nvSpPr>
          <p:cNvPr id="63" name="Text 61"/>
          <p:cNvSpPr/>
          <p:nvPr/>
        </p:nvSpPr>
        <p:spPr>
          <a:xfrm>
            <a:off x="9857232" y="4219956"/>
            <a:ext cx="173736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2 × 100/200</a:t>
            </a:r>
            <a:endParaRPr lang="en-US" sz="1300" dirty="0"/>
          </a:p>
        </p:txBody>
      </p:sp>
      <p:sp>
        <p:nvSpPr>
          <p:cNvPr id="64" name="Shape 62"/>
          <p:cNvSpPr/>
          <p:nvPr/>
        </p:nvSpPr>
        <p:spPr>
          <a:xfrm>
            <a:off x="5733288" y="4663440"/>
            <a:ext cx="941832" cy="521208"/>
          </a:xfrm>
          <a:prstGeom prst="rect">
            <a:avLst>
              <a:gd name="adj" fmla="val 14035"/>
            </a:avLst>
          </a:prstGeom>
          <a:solidFill>
            <a:srgbClr val="FFFFFF"/>
          </a:solidFill>
          <a:ln w="8890">
            <a:solidFill>
              <a:srgbClr val="FFFFFF"/>
            </a:solidFill>
            <a:prstDash val="solid"/>
          </a:ln>
        </p:spPr>
      </p:sp>
      <p:sp>
        <p:nvSpPr>
          <p:cNvPr id="65" name="Text 63"/>
          <p:cNvSpPr/>
          <p:nvPr/>
        </p:nvSpPr>
        <p:spPr>
          <a:xfrm>
            <a:off x="5824728" y="4741164"/>
            <a:ext cx="758952" cy="393192"/>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E24</a:t>
            </a:r>
            <a:endParaRPr lang="en-US" sz="1300" dirty="0"/>
          </a:p>
        </p:txBody>
      </p:sp>
      <p:sp>
        <p:nvSpPr>
          <p:cNvPr id="66" name="Shape 64"/>
          <p:cNvSpPr/>
          <p:nvPr/>
        </p:nvSpPr>
        <p:spPr>
          <a:xfrm>
            <a:off x="6675120" y="4663440"/>
            <a:ext cx="1444752" cy="521208"/>
          </a:xfrm>
          <a:prstGeom prst="rect">
            <a:avLst>
              <a:gd name="adj" fmla="val 14035"/>
            </a:avLst>
          </a:prstGeom>
          <a:solidFill>
            <a:srgbClr val="B91839"/>
          </a:solidFill>
          <a:ln w="8890">
            <a:solidFill>
              <a:srgbClr val="FFFFFF"/>
            </a:solidFill>
            <a:prstDash val="solid"/>
          </a:ln>
        </p:spPr>
      </p:sp>
      <p:sp>
        <p:nvSpPr>
          <p:cNvPr id="67" name="Text 65"/>
          <p:cNvSpPr/>
          <p:nvPr/>
        </p:nvSpPr>
        <p:spPr>
          <a:xfrm>
            <a:off x="6766560" y="4741164"/>
            <a:ext cx="1261872" cy="39319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4.8 TB/s</a:t>
            </a:r>
            <a:endParaRPr lang="en-US" sz="1300" dirty="0"/>
          </a:p>
        </p:txBody>
      </p:sp>
      <p:sp>
        <p:nvSpPr>
          <p:cNvPr id="68" name="Shape 66"/>
          <p:cNvSpPr/>
          <p:nvPr/>
        </p:nvSpPr>
        <p:spPr>
          <a:xfrm>
            <a:off x="8119872" y="4663440"/>
            <a:ext cx="1645920" cy="521208"/>
          </a:xfrm>
          <a:prstGeom prst="rect">
            <a:avLst>
              <a:gd name="adj" fmla="val 14035"/>
            </a:avLst>
          </a:prstGeom>
          <a:solidFill>
            <a:srgbClr val="FFFFFF"/>
          </a:solidFill>
          <a:ln w="8890">
            <a:solidFill>
              <a:srgbClr val="FFFFFF"/>
            </a:solidFill>
            <a:prstDash val="solid"/>
          </a:ln>
        </p:spPr>
      </p:sp>
      <p:sp>
        <p:nvSpPr>
          <p:cNvPr id="69" name="Text 67"/>
          <p:cNvSpPr/>
          <p:nvPr/>
        </p:nvSpPr>
        <p:spPr>
          <a:xfrm>
            <a:off x="8211312" y="4741164"/>
            <a:ext cx="146304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~378 GB/s</a:t>
            </a:r>
            <a:endParaRPr lang="en-US" sz="1300" dirty="0"/>
          </a:p>
        </p:txBody>
      </p:sp>
      <p:sp>
        <p:nvSpPr>
          <p:cNvPr id="70" name="Shape 68"/>
          <p:cNvSpPr/>
          <p:nvPr/>
        </p:nvSpPr>
        <p:spPr>
          <a:xfrm>
            <a:off x="9765792" y="4663440"/>
            <a:ext cx="1920240" cy="521208"/>
          </a:xfrm>
          <a:prstGeom prst="rect">
            <a:avLst>
              <a:gd name="adj" fmla="val 14035"/>
            </a:avLst>
          </a:prstGeom>
          <a:solidFill>
            <a:srgbClr val="FFFFFF"/>
          </a:solidFill>
          <a:ln w="8890">
            <a:solidFill>
              <a:srgbClr val="FFFFFF"/>
            </a:solidFill>
            <a:prstDash val="solid"/>
          </a:ln>
        </p:spPr>
      </p:sp>
      <p:sp>
        <p:nvSpPr>
          <p:cNvPr id="71" name="Text 69"/>
          <p:cNvSpPr/>
          <p:nvPr/>
        </p:nvSpPr>
        <p:spPr>
          <a:xfrm>
            <a:off x="9857232" y="4741164"/>
            <a:ext cx="1737360" cy="393192"/>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2 × 200/400</a:t>
            </a:r>
            <a:endParaRPr lang="en-US" sz="1300" dirty="0"/>
          </a:p>
        </p:txBody>
      </p:sp>
      <p:sp>
        <p:nvSpPr>
          <p:cNvPr id="72" name="Shape 70"/>
          <p:cNvSpPr/>
          <p:nvPr/>
        </p:nvSpPr>
        <p:spPr>
          <a:xfrm>
            <a:off x="502920" y="5431536"/>
            <a:ext cx="11183112" cy="374904"/>
          </a:xfrm>
          <a:prstGeom prst="rect">
            <a:avLst>
              <a:gd name="adj" fmla="val 19512"/>
            </a:avLst>
          </a:prstGeom>
          <a:solidFill>
            <a:srgbClr val="F3F4F6"/>
          </a:solidFill>
          <a:ln w="12700">
            <a:solidFill>
              <a:srgbClr val="F3F4F6"/>
            </a:solidFill>
            <a:prstDash val="solid"/>
          </a:ln>
        </p:spPr>
      </p:sp>
      <p:sp>
        <p:nvSpPr>
          <p:cNvPr id="73" name="Text 71"/>
          <p:cNvSpPr/>
          <p:nvPr/>
        </p:nvSpPr>
        <p:spPr>
          <a:xfrm>
            <a:off x="658368" y="5504688"/>
            <a:ext cx="10872216" cy="210312"/>
          </a:xfrm>
          <a:prstGeom prst="rect">
            <a:avLst/>
          </a:prstGeom>
          <a:noFill/>
          <a:ln/>
        </p:spPr>
        <p:txBody>
          <a:bodyPr wrap="square" lIns="0" tIns="0" rIns="0" bIns="0" rtlCol="0" anchor="ctr"/>
          <a:lstStyle/>
          <a:p>
            <a:pPr indent="0" marL="0">
              <a:buNone/>
            </a:pPr>
            <a:r>
              <a:rPr lang="en-US" sz="1230" dirty="0">
                <a:solidFill>
                  <a:srgbClr val="5B6169"/>
                </a:solidFill>
                <a:latin typeface="Arial" pitchFamily="34" charset="0"/>
                <a:ea typeface="Arial" pitchFamily="34" charset="-122"/>
                <a:cs typeface="Arial" pitchFamily="34" charset="-120"/>
              </a:rPr>
              <a:t>PCIe screen: 1 domain = Gen5 x16 → 4 × Gen5 x4.  *E8 adds redundant network paths; E24 remains stretch.</a:t>
            </a:r>
            <a:endParaRPr lang="en-US" sz="12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GENERATION HEATMAP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Service heatmap: targets and the benchmarks to run.</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G1: 8B-class model to freeze at G0 • FP8 weights • 2,048 input / 256 output • warm model • no prefix hit.</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Gray = no matching benchmark supplied. Red shades = ATMOS scale-out requirements, not measured wins.</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[S02] [S13]</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§5</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M11</a:t>
            </a:r>
            <a:endParaRPr lang="en-US" sz="920" dirty="0"/>
          </a:p>
        </p:txBody>
      </p:sp>
      <p:sp>
        <p:nvSpPr>
          <p:cNvPr id="14" name="Shape 12"/>
          <p:cNvSpPr/>
          <p:nvPr/>
        </p:nvSpPr>
        <p:spPr>
          <a:xfrm>
            <a:off x="502920" y="2121408"/>
            <a:ext cx="2194560" cy="484632"/>
          </a:xfrm>
          <a:prstGeom prst="rect">
            <a:avLst>
              <a:gd name="adj" fmla="val 15094"/>
            </a:avLst>
          </a:prstGeom>
          <a:solidFill>
            <a:srgbClr val="18191D"/>
          </a:solidFill>
          <a:ln w="12700">
            <a:solidFill>
              <a:srgbClr val="18191D"/>
            </a:solidFill>
            <a:prstDash val="solid"/>
          </a:ln>
        </p:spPr>
      </p:sp>
      <p:sp>
        <p:nvSpPr>
          <p:cNvPr id="15" name="Text 13"/>
          <p:cNvSpPr/>
          <p:nvPr/>
        </p:nvSpPr>
        <p:spPr>
          <a:xfrm>
            <a:off x="594360" y="2185416"/>
            <a:ext cx="2011680"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System</a:t>
            </a:r>
            <a:endParaRPr lang="en-US" sz="1150" dirty="0"/>
          </a:p>
        </p:txBody>
      </p:sp>
      <p:sp>
        <p:nvSpPr>
          <p:cNvPr id="16" name="Shape 14"/>
          <p:cNvSpPr/>
          <p:nvPr/>
        </p:nvSpPr>
        <p:spPr>
          <a:xfrm>
            <a:off x="2697480" y="2121408"/>
            <a:ext cx="1408176" cy="484632"/>
          </a:xfrm>
          <a:prstGeom prst="rect">
            <a:avLst>
              <a:gd name="adj" fmla="val 15094"/>
            </a:avLst>
          </a:prstGeom>
          <a:solidFill>
            <a:srgbClr val="18191D"/>
          </a:solidFill>
          <a:ln w="12700">
            <a:solidFill>
              <a:srgbClr val="18191D"/>
            </a:solidFill>
            <a:prstDash val="solid"/>
          </a:ln>
        </p:spPr>
      </p:sp>
      <p:sp>
        <p:nvSpPr>
          <p:cNvPr id="17" name="Text 15"/>
          <p:cNvSpPr/>
          <p:nvPr/>
        </p:nvSpPr>
        <p:spPr>
          <a:xfrm>
            <a:off x="2788920" y="2185416"/>
            <a:ext cx="1225296"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p95 TTFT</a:t>
            </a:r>
            <a:endParaRPr lang="en-US" sz="1150" dirty="0"/>
          </a:p>
        </p:txBody>
      </p:sp>
      <p:sp>
        <p:nvSpPr>
          <p:cNvPr id="18" name="Shape 16"/>
          <p:cNvSpPr/>
          <p:nvPr/>
        </p:nvSpPr>
        <p:spPr>
          <a:xfrm>
            <a:off x="4105656" y="2121408"/>
            <a:ext cx="1938528" cy="484632"/>
          </a:xfrm>
          <a:prstGeom prst="rect">
            <a:avLst>
              <a:gd name="adj" fmla="val 15094"/>
            </a:avLst>
          </a:prstGeom>
          <a:solidFill>
            <a:srgbClr val="18191D"/>
          </a:solidFill>
          <a:ln w="12700">
            <a:solidFill>
              <a:srgbClr val="18191D"/>
            </a:solidFill>
            <a:prstDash val="solid"/>
          </a:ln>
        </p:spPr>
      </p:sp>
      <p:sp>
        <p:nvSpPr>
          <p:cNvPr id="19" name="Text 17"/>
          <p:cNvSpPr/>
          <p:nvPr/>
        </p:nvSpPr>
        <p:spPr>
          <a:xfrm>
            <a:off x="4197096" y="2185416"/>
            <a:ext cx="1755648"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p95 inter-token</a:t>
            </a:r>
            <a:endParaRPr lang="en-US" sz="1150" dirty="0"/>
          </a:p>
          <a:p>
            <a:pPr indent="0" marL="0">
              <a:buNone/>
            </a:pPr>
            <a:r>
              <a:rPr lang="en-US" sz="1150" b="1" dirty="0">
                <a:solidFill>
                  <a:srgbClr val="FFFFFF"/>
                </a:solidFill>
                <a:latin typeface="Arial" pitchFamily="34" charset="0"/>
                <a:ea typeface="Arial" pitchFamily="34" charset="-122"/>
                <a:cs typeface="Arial" pitchFamily="34" charset="-120"/>
              </a:rPr>
              <a:t>latency</a:t>
            </a:r>
            <a:endParaRPr lang="en-US" sz="1150" dirty="0"/>
          </a:p>
        </p:txBody>
      </p:sp>
      <p:sp>
        <p:nvSpPr>
          <p:cNvPr id="20" name="Shape 18"/>
          <p:cNvSpPr/>
          <p:nvPr/>
        </p:nvSpPr>
        <p:spPr>
          <a:xfrm>
            <a:off x="6044184" y="2121408"/>
            <a:ext cx="1965960" cy="484632"/>
          </a:xfrm>
          <a:prstGeom prst="rect">
            <a:avLst>
              <a:gd name="adj" fmla="val 15094"/>
            </a:avLst>
          </a:prstGeom>
          <a:solidFill>
            <a:srgbClr val="18191D"/>
          </a:solidFill>
          <a:ln w="12700">
            <a:solidFill>
              <a:srgbClr val="18191D"/>
            </a:solidFill>
            <a:prstDash val="solid"/>
          </a:ln>
        </p:spPr>
      </p:sp>
      <p:sp>
        <p:nvSpPr>
          <p:cNvPr id="21" name="Text 19"/>
          <p:cNvSpPr/>
          <p:nvPr/>
        </p:nvSpPr>
        <p:spPr>
          <a:xfrm>
            <a:off x="6135624" y="2185416"/>
            <a:ext cx="1783080"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Aggregate output</a:t>
            </a:r>
            <a:endParaRPr lang="en-US" sz="1150" dirty="0"/>
          </a:p>
          <a:p>
            <a:pPr indent="0" marL="0">
              <a:buNone/>
            </a:pPr>
            <a:r>
              <a:rPr lang="en-US" sz="1150" b="1" dirty="0">
                <a:solidFill>
                  <a:srgbClr val="FFFFFF"/>
                </a:solidFill>
                <a:latin typeface="Arial" pitchFamily="34" charset="0"/>
                <a:ea typeface="Arial" pitchFamily="34" charset="-122"/>
                <a:cs typeface="Arial" pitchFamily="34" charset="-120"/>
              </a:rPr>
              <a:t>tokens/s</a:t>
            </a:r>
            <a:endParaRPr lang="en-US" sz="1150" dirty="0"/>
          </a:p>
        </p:txBody>
      </p:sp>
      <p:sp>
        <p:nvSpPr>
          <p:cNvPr id="22" name="Shape 20"/>
          <p:cNvSpPr/>
          <p:nvPr/>
        </p:nvSpPr>
        <p:spPr>
          <a:xfrm>
            <a:off x="8010144" y="2121408"/>
            <a:ext cx="2020824" cy="484632"/>
          </a:xfrm>
          <a:prstGeom prst="rect">
            <a:avLst>
              <a:gd name="adj" fmla="val 15094"/>
            </a:avLst>
          </a:prstGeom>
          <a:solidFill>
            <a:srgbClr val="18191D"/>
          </a:solidFill>
          <a:ln w="12700">
            <a:solidFill>
              <a:srgbClr val="18191D"/>
            </a:solidFill>
            <a:prstDash val="solid"/>
          </a:ln>
        </p:spPr>
      </p:sp>
      <p:sp>
        <p:nvSpPr>
          <p:cNvPr id="23" name="Text 21"/>
          <p:cNvSpPr/>
          <p:nvPr/>
        </p:nvSpPr>
        <p:spPr>
          <a:xfrm>
            <a:off x="8101584" y="2185416"/>
            <a:ext cx="1837944"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Concurrent decode</a:t>
            </a:r>
            <a:endParaRPr lang="en-US" sz="1150" dirty="0"/>
          </a:p>
          <a:p>
            <a:pPr indent="0" marL="0">
              <a:buNone/>
            </a:pPr>
            <a:r>
              <a:rPr lang="en-US" sz="1150" b="1" dirty="0">
                <a:solidFill>
                  <a:srgbClr val="FFFFFF"/>
                </a:solidFill>
                <a:latin typeface="Arial" pitchFamily="34" charset="0"/>
                <a:ea typeface="Arial" pitchFamily="34" charset="-122"/>
                <a:cs typeface="Arial" pitchFamily="34" charset="-120"/>
              </a:rPr>
              <a:t>sequences</a:t>
            </a:r>
            <a:endParaRPr lang="en-US" sz="1150" dirty="0"/>
          </a:p>
        </p:txBody>
      </p:sp>
      <p:sp>
        <p:nvSpPr>
          <p:cNvPr id="24" name="Shape 22"/>
          <p:cNvSpPr/>
          <p:nvPr/>
        </p:nvSpPr>
        <p:spPr>
          <a:xfrm>
            <a:off x="10030968" y="2121408"/>
            <a:ext cx="1655064" cy="484632"/>
          </a:xfrm>
          <a:prstGeom prst="rect">
            <a:avLst>
              <a:gd name="adj" fmla="val 15094"/>
            </a:avLst>
          </a:prstGeom>
          <a:solidFill>
            <a:srgbClr val="18191D"/>
          </a:solidFill>
          <a:ln w="12700">
            <a:solidFill>
              <a:srgbClr val="18191D"/>
            </a:solidFill>
            <a:prstDash val="solid"/>
          </a:ln>
        </p:spPr>
      </p:sp>
      <p:sp>
        <p:nvSpPr>
          <p:cNvPr id="25" name="Text 23"/>
          <p:cNvSpPr/>
          <p:nvPr/>
        </p:nvSpPr>
        <p:spPr>
          <a:xfrm>
            <a:off x="10122408" y="2185416"/>
            <a:ext cx="1472184" cy="37490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Evidence</a:t>
            </a:r>
            <a:endParaRPr lang="en-US" sz="1150" dirty="0"/>
          </a:p>
        </p:txBody>
      </p:sp>
      <p:sp>
        <p:nvSpPr>
          <p:cNvPr id="26" name="Shape 24"/>
          <p:cNvSpPr/>
          <p:nvPr/>
        </p:nvSpPr>
        <p:spPr>
          <a:xfrm>
            <a:off x="502920" y="2606040"/>
            <a:ext cx="2194560" cy="461772"/>
          </a:xfrm>
          <a:prstGeom prst="rect">
            <a:avLst>
              <a:gd name="adj" fmla="val 15842"/>
            </a:avLst>
          </a:prstGeom>
          <a:solidFill>
            <a:srgbClr val="F3F4F6"/>
          </a:solidFill>
          <a:ln w="8890">
            <a:solidFill>
              <a:srgbClr val="FFFFFF"/>
            </a:solidFill>
            <a:prstDash val="solid"/>
          </a:ln>
        </p:spPr>
      </p:sp>
      <p:sp>
        <p:nvSpPr>
          <p:cNvPr id="27" name="Text 25"/>
          <p:cNvSpPr/>
          <p:nvPr/>
        </p:nvSpPr>
        <p:spPr>
          <a:xfrm>
            <a:off x="594360" y="2683764"/>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DGX Spark / GB10</a:t>
            </a:r>
            <a:endParaRPr lang="en-US" sz="1340" dirty="0"/>
          </a:p>
        </p:txBody>
      </p:sp>
      <p:sp>
        <p:nvSpPr>
          <p:cNvPr id="28" name="Shape 26"/>
          <p:cNvSpPr/>
          <p:nvPr/>
        </p:nvSpPr>
        <p:spPr>
          <a:xfrm>
            <a:off x="2697480" y="2606040"/>
            <a:ext cx="1408176" cy="461772"/>
          </a:xfrm>
          <a:prstGeom prst="rect">
            <a:avLst>
              <a:gd name="adj" fmla="val 15842"/>
            </a:avLst>
          </a:prstGeom>
          <a:solidFill>
            <a:srgbClr val="F3F4F6"/>
          </a:solidFill>
          <a:ln w="8890">
            <a:solidFill>
              <a:srgbClr val="FFFFFF"/>
            </a:solidFill>
            <a:prstDash val="solid"/>
          </a:ln>
        </p:spPr>
      </p:sp>
      <p:sp>
        <p:nvSpPr>
          <p:cNvPr id="29" name="Text 27"/>
          <p:cNvSpPr/>
          <p:nvPr/>
        </p:nvSpPr>
        <p:spPr>
          <a:xfrm>
            <a:off x="2788920" y="2683764"/>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30" name="Shape 28"/>
          <p:cNvSpPr/>
          <p:nvPr/>
        </p:nvSpPr>
        <p:spPr>
          <a:xfrm>
            <a:off x="4105656" y="2606040"/>
            <a:ext cx="1938528" cy="461772"/>
          </a:xfrm>
          <a:prstGeom prst="rect">
            <a:avLst>
              <a:gd name="adj" fmla="val 15842"/>
            </a:avLst>
          </a:prstGeom>
          <a:solidFill>
            <a:srgbClr val="F3F4F6"/>
          </a:solidFill>
          <a:ln w="8890">
            <a:solidFill>
              <a:srgbClr val="FFFFFF"/>
            </a:solidFill>
            <a:prstDash val="solid"/>
          </a:ln>
        </p:spPr>
      </p:sp>
      <p:sp>
        <p:nvSpPr>
          <p:cNvPr id="31" name="Text 29"/>
          <p:cNvSpPr/>
          <p:nvPr/>
        </p:nvSpPr>
        <p:spPr>
          <a:xfrm>
            <a:off x="4197096" y="2683764"/>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32" name="Shape 30"/>
          <p:cNvSpPr/>
          <p:nvPr/>
        </p:nvSpPr>
        <p:spPr>
          <a:xfrm>
            <a:off x="6044184" y="2606040"/>
            <a:ext cx="1965960" cy="461772"/>
          </a:xfrm>
          <a:prstGeom prst="rect">
            <a:avLst>
              <a:gd name="adj" fmla="val 15842"/>
            </a:avLst>
          </a:prstGeom>
          <a:solidFill>
            <a:srgbClr val="F3F4F6"/>
          </a:solidFill>
          <a:ln w="8890">
            <a:solidFill>
              <a:srgbClr val="FFFFFF"/>
            </a:solidFill>
            <a:prstDash val="solid"/>
          </a:ln>
        </p:spPr>
      </p:sp>
      <p:sp>
        <p:nvSpPr>
          <p:cNvPr id="33" name="Text 31"/>
          <p:cNvSpPr/>
          <p:nvPr/>
        </p:nvSpPr>
        <p:spPr>
          <a:xfrm>
            <a:off x="6135624" y="2683764"/>
            <a:ext cx="1783080"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34" name="Shape 32"/>
          <p:cNvSpPr/>
          <p:nvPr/>
        </p:nvSpPr>
        <p:spPr>
          <a:xfrm>
            <a:off x="8010144" y="2606040"/>
            <a:ext cx="2020824" cy="461772"/>
          </a:xfrm>
          <a:prstGeom prst="rect">
            <a:avLst>
              <a:gd name="adj" fmla="val 15842"/>
            </a:avLst>
          </a:prstGeom>
          <a:solidFill>
            <a:srgbClr val="F3F4F6"/>
          </a:solidFill>
          <a:ln w="8890">
            <a:solidFill>
              <a:srgbClr val="FFFFFF"/>
            </a:solidFill>
            <a:prstDash val="solid"/>
          </a:ln>
        </p:spPr>
      </p:sp>
      <p:sp>
        <p:nvSpPr>
          <p:cNvPr id="35" name="Text 33"/>
          <p:cNvSpPr/>
          <p:nvPr/>
        </p:nvSpPr>
        <p:spPr>
          <a:xfrm>
            <a:off x="8101584" y="2683764"/>
            <a:ext cx="183794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36" name="Shape 34"/>
          <p:cNvSpPr/>
          <p:nvPr/>
        </p:nvSpPr>
        <p:spPr>
          <a:xfrm>
            <a:off x="10030968" y="2606040"/>
            <a:ext cx="1655064" cy="461772"/>
          </a:xfrm>
          <a:prstGeom prst="rect">
            <a:avLst>
              <a:gd name="adj" fmla="val 15842"/>
            </a:avLst>
          </a:prstGeom>
          <a:solidFill>
            <a:srgbClr val="F3F4F6"/>
          </a:solidFill>
          <a:ln w="8890">
            <a:solidFill>
              <a:srgbClr val="FFFFFF"/>
            </a:solidFill>
            <a:prstDash val="solid"/>
          </a:ln>
        </p:spPr>
      </p:sp>
      <p:sp>
        <p:nvSpPr>
          <p:cNvPr id="37" name="Text 35"/>
          <p:cNvSpPr/>
          <p:nvPr/>
        </p:nvSpPr>
        <p:spPr>
          <a:xfrm>
            <a:off x="10122408" y="2683764"/>
            <a:ext cx="1472184" cy="333756"/>
          </a:xfrm>
          <a:prstGeom prst="rect">
            <a:avLst/>
          </a:prstGeom>
          <a:noFill/>
          <a:ln/>
        </p:spPr>
        <p:txBody>
          <a:bodyPr wrap="square" lIns="0" tIns="0" rIns="0" bIns="0" rtlCol="0" anchor="ctr"/>
          <a:lstStyle/>
          <a:p>
            <a:pPr indent="0" marL="0">
              <a:buNone/>
            </a:pPr>
            <a:r>
              <a:rPr lang="en-US" sz="1340" dirty="0">
                <a:solidFill>
                  <a:srgbClr val="5B6169"/>
                </a:solidFill>
                <a:latin typeface="Arial" pitchFamily="34" charset="0"/>
                <a:ea typeface="Arial" pitchFamily="34" charset="-122"/>
                <a:cs typeface="Arial" pitchFamily="34" charset="-120"/>
              </a:rPr>
              <a:t>Different public</a:t>
            </a:r>
            <a:endParaRPr lang="en-US" sz="1340" dirty="0"/>
          </a:p>
          <a:p>
            <a:pPr indent="0" marL="0">
              <a:buNone/>
            </a:pPr>
            <a:r>
              <a:rPr lang="en-US" sz="1340" dirty="0">
                <a:solidFill>
                  <a:srgbClr val="5B6169"/>
                </a:solidFill>
                <a:latin typeface="Arial" pitchFamily="34" charset="0"/>
                <a:ea typeface="Arial" pitchFamily="34" charset="-122"/>
                <a:cs typeface="Arial" pitchFamily="34" charset="-120"/>
              </a:rPr>
              <a:t>case on M12</a:t>
            </a:r>
            <a:endParaRPr lang="en-US" sz="1340" dirty="0"/>
          </a:p>
        </p:txBody>
      </p:sp>
      <p:sp>
        <p:nvSpPr>
          <p:cNvPr id="38" name="Shape 36"/>
          <p:cNvSpPr/>
          <p:nvPr/>
        </p:nvSpPr>
        <p:spPr>
          <a:xfrm>
            <a:off x="502920" y="3067812"/>
            <a:ext cx="2194560" cy="461772"/>
          </a:xfrm>
          <a:prstGeom prst="rect">
            <a:avLst>
              <a:gd name="adj" fmla="val 15842"/>
            </a:avLst>
          </a:prstGeom>
          <a:solidFill>
            <a:srgbClr val="FFFFFF"/>
          </a:solidFill>
          <a:ln w="8890">
            <a:solidFill>
              <a:srgbClr val="FFFFFF"/>
            </a:solidFill>
            <a:prstDash val="solid"/>
          </a:ln>
        </p:spPr>
      </p:sp>
      <p:sp>
        <p:nvSpPr>
          <p:cNvPr id="39" name="Text 37"/>
          <p:cNvSpPr/>
          <p:nvPr/>
        </p:nvSpPr>
        <p:spPr>
          <a:xfrm>
            <a:off x="594360" y="3145536"/>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RTX PRO 6000 WS</a:t>
            </a:r>
            <a:endParaRPr lang="en-US" sz="1340" dirty="0"/>
          </a:p>
        </p:txBody>
      </p:sp>
      <p:sp>
        <p:nvSpPr>
          <p:cNvPr id="40" name="Shape 38"/>
          <p:cNvSpPr/>
          <p:nvPr/>
        </p:nvSpPr>
        <p:spPr>
          <a:xfrm>
            <a:off x="2697480" y="3067812"/>
            <a:ext cx="1408176" cy="461772"/>
          </a:xfrm>
          <a:prstGeom prst="rect">
            <a:avLst>
              <a:gd name="adj" fmla="val 15842"/>
            </a:avLst>
          </a:prstGeom>
          <a:solidFill>
            <a:srgbClr val="FFFFFF"/>
          </a:solidFill>
          <a:ln w="8890">
            <a:solidFill>
              <a:srgbClr val="FFFFFF"/>
            </a:solidFill>
            <a:prstDash val="solid"/>
          </a:ln>
        </p:spPr>
      </p:sp>
      <p:sp>
        <p:nvSpPr>
          <p:cNvPr id="41" name="Text 39"/>
          <p:cNvSpPr/>
          <p:nvPr/>
        </p:nvSpPr>
        <p:spPr>
          <a:xfrm>
            <a:off x="2788920" y="3145536"/>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42" name="Shape 40"/>
          <p:cNvSpPr/>
          <p:nvPr/>
        </p:nvSpPr>
        <p:spPr>
          <a:xfrm>
            <a:off x="4105656" y="3067812"/>
            <a:ext cx="1938528" cy="461772"/>
          </a:xfrm>
          <a:prstGeom prst="rect">
            <a:avLst>
              <a:gd name="adj" fmla="val 15842"/>
            </a:avLst>
          </a:prstGeom>
          <a:solidFill>
            <a:srgbClr val="FFFFFF"/>
          </a:solidFill>
          <a:ln w="8890">
            <a:solidFill>
              <a:srgbClr val="FFFFFF"/>
            </a:solidFill>
            <a:prstDash val="solid"/>
          </a:ln>
        </p:spPr>
      </p:sp>
      <p:sp>
        <p:nvSpPr>
          <p:cNvPr id="43" name="Text 41"/>
          <p:cNvSpPr/>
          <p:nvPr/>
        </p:nvSpPr>
        <p:spPr>
          <a:xfrm>
            <a:off x="4197096" y="3145536"/>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44" name="Shape 42"/>
          <p:cNvSpPr/>
          <p:nvPr/>
        </p:nvSpPr>
        <p:spPr>
          <a:xfrm>
            <a:off x="6044184" y="3067812"/>
            <a:ext cx="1965960" cy="461772"/>
          </a:xfrm>
          <a:prstGeom prst="rect">
            <a:avLst>
              <a:gd name="adj" fmla="val 15842"/>
            </a:avLst>
          </a:prstGeom>
          <a:solidFill>
            <a:srgbClr val="FFFFFF"/>
          </a:solidFill>
          <a:ln w="8890">
            <a:solidFill>
              <a:srgbClr val="FFFFFF"/>
            </a:solidFill>
            <a:prstDash val="solid"/>
          </a:ln>
        </p:spPr>
      </p:sp>
      <p:sp>
        <p:nvSpPr>
          <p:cNvPr id="45" name="Text 43"/>
          <p:cNvSpPr/>
          <p:nvPr/>
        </p:nvSpPr>
        <p:spPr>
          <a:xfrm>
            <a:off x="6135624" y="3145536"/>
            <a:ext cx="1783080"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46" name="Shape 44"/>
          <p:cNvSpPr/>
          <p:nvPr/>
        </p:nvSpPr>
        <p:spPr>
          <a:xfrm>
            <a:off x="8010144" y="3067812"/>
            <a:ext cx="2020824" cy="461772"/>
          </a:xfrm>
          <a:prstGeom prst="rect">
            <a:avLst>
              <a:gd name="adj" fmla="val 15842"/>
            </a:avLst>
          </a:prstGeom>
          <a:solidFill>
            <a:srgbClr val="FFFFFF"/>
          </a:solidFill>
          <a:ln w="8890">
            <a:solidFill>
              <a:srgbClr val="FFFFFF"/>
            </a:solidFill>
            <a:prstDash val="solid"/>
          </a:ln>
        </p:spPr>
      </p:sp>
      <p:sp>
        <p:nvSpPr>
          <p:cNvPr id="47" name="Text 45"/>
          <p:cNvSpPr/>
          <p:nvPr/>
        </p:nvSpPr>
        <p:spPr>
          <a:xfrm>
            <a:off x="8101584" y="3145536"/>
            <a:ext cx="183794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48" name="Shape 46"/>
          <p:cNvSpPr/>
          <p:nvPr/>
        </p:nvSpPr>
        <p:spPr>
          <a:xfrm>
            <a:off x="10030968" y="3067812"/>
            <a:ext cx="1655064" cy="461772"/>
          </a:xfrm>
          <a:prstGeom prst="rect">
            <a:avLst>
              <a:gd name="adj" fmla="val 15842"/>
            </a:avLst>
          </a:prstGeom>
          <a:solidFill>
            <a:srgbClr val="F3F4F6"/>
          </a:solidFill>
          <a:ln w="8890">
            <a:solidFill>
              <a:srgbClr val="FFFFFF"/>
            </a:solidFill>
            <a:prstDash val="solid"/>
          </a:ln>
        </p:spPr>
      </p:sp>
      <p:sp>
        <p:nvSpPr>
          <p:cNvPr id="49" name="Text 47"/>
          <p:cNvSpPr/>
          <p:nvPr/>
        </p:nvSpPr>
        <p:spPr>
          <a:xfrm>
            <a:off x="10122408" y="3145536"/>
            <a:ext cx="1472184" cy="333756"/>
          </a:xfrm>
          <a:prstGeom prst="rect">
            <a:avLst/>
          </a:prstGeom>
          <a:noFill/>
          <a:ln/>
        </p:spPr>
        <p:txBody>
          <a:bodyPr wrap="square" lIns="0" tIns="0" rIns="0" bIns="0" rtlCol="0" anchor="ctr"/>
          <a:lstStyle/>
          <a:p>
            <a:pPr indent="0" marL="0">
              <a:buNone/>
            </a:pPr>
            <a:r>
              <a:rPr lang="en-US" sz="1340" dirty="0">
                <a:solidFill>
                  <a:srgbClr val="5B6169"/>
                </a:solidFill>
                <a:latin typeface="Arial" pitchFamily="34" charset="0"/>
                <a:ea typeface="Arial" pitchFamily="34" charset="-122"/>
                <a:cs typeface="Arial" pitchFamily="34" charset="-120"/>
              </a:rPr>
              <a:t>Different public</a:t>
            </a:r>
            <a:endParaRPr lang="en-US" sz="1340" dirty="0"/>
          </a:p>
          <a:p>
            <a:pPr indent="0" marL="0">
              <a:buNone/>
            </a:pPr>
            <a:r>
              <a:rPr lang="en-US" sz="1340" dirty="0">
                <a:solidFill>
                  <a:srgbClr val="5B6169"/>
                </a:solidFill>
                <a:latin typeface="Arial" pitchFamily="34" charset="0"/>
                <a:ea typeface="Arial" pitchFamily="34" charset="-122"/>
                <a:cs typeface="Arial" pitchFamily="34" charset="-120"/>
              </a:rPr>
              <a:t>test on M12</a:t>
            </a:r>
            <a:endParaRPr lang="en-US" sz="1340" dirty="0"/>
          </a:p>
        </p:txBody>
      </p:sp>
      <p:sp>
        <p:nvSpPr>
          <p:cNvPr id="50" name="Shape 48"/>
          <p:cNvSpPr/>
          <p:nvPr/>
        </p:nvSpPr>
        <p:spPr>
          <a:xfrm>
            <a:off x="502920" y="3529584"/>
            <a:ext cx="2194560" cy="461772"/>
          </a:xfrm>
          <a:prstGeom prst="rect">
            <a:avLst>
              <a:gd name="adj" fmla="val 15842"/>
            </a:avLst>
          </a:prstGeom>
          <a:solidFill>
            <a:srgbClr val="F3F4F6"/>
          </a:solidFill>
          <a:ln w="8890">
            <a:solidFill>
              <a:srgbClr val="FFFFFF"/>
            </a:solidFill>
            <a:prstDash val="solid"/>
          </a:ln>
        </p:spPr>
      </p:sp>
      <p:sp>
        <p:nvSpPr>
          <p:cNvPr id="51" name="Text 49"/>
          <p:cNvSpPr/>
          <p:nvPr/>
        </p:nvSpPr>
        <p:spPr>
          <a:xfrm>
            <a:off x="594360" y="3607308"/>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DGX Station GB300</a:t>
            </a:r>
            <a:endParaRPr lang="en-US" sz="1340" dirty="0"/>
          </a:p>
        </p:txBody>
      </p:sp>
      <p:sp>
        <p:nvSpPr>
          <p:cNvPr id="52" name="Shape 50"/>
          <p:cNvSpPr/>
          <p:nvPr/>
        </p:nvSpPr>
        <p:spPr>
          <a:xfrm>
            <a:off x="2697480" y="3529584"/>
            <a:ext cx="1408176" cy="461772"/>
          </a:xfrm>
          <a:prstGeom prst="rect">
            <a:avLst>
              <a:gd name="adj" fmla="val 15842"/>
            </a:avLst>
          </a:prstGeom>
          <a:solidFill>
            <a:srgbClr val="F3F4F6"/>
          </a:solidFill>
          <a:ln w="8890">
            <a:solidFill>
              <a:srgbClr val="FFFFFF"/>
            </a:solidFill>
            <a:prstDash val="solid"/>
          </a:ln>
        </p:spPr>
      </p:sp>
      <p:sp>
        <p:nvSpPr>
          <p:cNvPr id="53" name="Text 51"/>
          <p:cNvSpPr/>
          <p:nvPr/>
        </p:nvSpPr>
        <p:spPr>
          <a:xfrm>
            <a:off x="2788920" y="3607308"/>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54" name="Shape 52"/>
          <p:cNvSpPr/>
          <p:nvPr/>
        </p:nvSpPr>
        <p:spPr>
          <a:xfrm>
            <a:off x="4105656" y="3529584"/>
            <a:ext cx="1938528" cy="461772"/>
          </a:xfrm>
          <a:prstGeom prst="rect">
            <a:avLst>
              <a:gd name="adj" fmla="val 15842"/>
            </a:avLst>
          </a:prstGeom>
          <a:solidFill>
            <a:srgbClr val="F3F4F6"/>
          </a:solidFill>
          <a:ln w="8890">
            <a:solidFill>
              <a:srgbClr val="FFFFFF"/>
            </a:solidFill>
            <a:prstDash val="solid"/>
          </a:ln>
        </p:spPr>
      </p:sp>
      <p:sp>
        <p:nvSpPr>
          <p:cNvPr id="55" name="Text 53"/>
          <p:cNvSpPr/>
          <p:nvPr/>
        </p:nvSpPr>
        <p:spPr>
          <a:xfrm>
            <a:off x="4197096" y="3607308"/>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56" name="Shape 54"/>
          <p:cNvSpPr/>
          <p:nvPr/>
        </p:nvSpPr>
        <p:spPr>
          <a:xfrm>
            <a:off x="6044184" y="3529584"/>
            <a:ext cx="1965960" cy="461772"/>
          </a:xfrm>
          <a:prstGeom prst="rect">
            <a:avLst>
              <a:gd name="adj" fmla="val 15842"/>
            </a:avLst>
          </a:prstGeom>
          <a:solidFill>
            <a:srgbClr val="F3F4F6"/>
          </a:solidFill>
          <a:ln w="8890">
            <a:solidFill>
              <a:srgbClr val="FFFFFF"/>
            </a:solidFill>
            <a:prstDash val="solid"/>
          </a:ln>
        </p:spPr>
      </p:sp>
      <p:sp>
        <p:nvSpPr>
          <p:cNvPr id="57" name="Text 55"/>
          <p:cNvSpPr/>
          <p:nvPr/>
        </p:nvSpPr>
        <p:spPr>
          <a:xfrm>
            <a:off x="6135624" y="3607308"/>
            <a:ext cx="1783080"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58" name="Shape 56"/>
          <p:cNvSpPr/>
          <p:nvPr/>
        </p:nvSpPr>
        <p:spPr>
          <a:xfrm>
            <a:off x="8010144" y="3529584"/>
            <a:ext cx="2020824" cy="461772"/>
          </a:xfrm>
          <a:prstGeom prst="rect">
            <a:avLst>
              <a:gd name="adj" fmla="val 15842"/>
            </a:avLst>
          </a:prstGeom>
          <a:solidFill>
            <a:srgbClr val="F3F4F6"/>
          </a:solidFill>
          <a:ln w="8890">
            <a:solidFill>
              <a:srgbClr val="FFFFFF"/>
            </a:solidFill>
            <a:prstDash val="solid"/>
          </a:ln>
        </p:spPr>
      </p:sp>
      <p:sp>
        <p:nvSpPr>
          <p:cNvPr id="59" name="Text 57"/>
          <p:cNvSpPr/>
          <p:nvPr/>
        </p:nvSpPr>
        <p:spPr>
          <a:xfrm>
            <a:off x="8101584" y="3607308"/>
            <a:ext cx="183794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NB</a:t>
            </a:r>
            <a:endParaRPr lang="en-US" sz="1340" dirty="0"/>
          </a:p>
        </p:txBody>
      </p:sp>
      <p:sp>
        <p:nvSpPr>
          <p:cNvPr id="60" name="Shape 58"/>
          <p:cNvSpPr/>
          <p:nvPr/>
        </p:nvSpPr>
        <p:spPr>
          <a:xfrm>
            <a:off x="10030968" y="3529584"/>
            <a:ext cx="1655064" cy="461772"/>
          </a:xfrm>
          <a:prstGeom prst="rect">
            <a:avLst>
              <a:gd name="adj" fmla="val 15842"/>
            </a:avLst>
          </a:prstGeom>
          <a:solidFill>
            <a:srgbClr val="F3F4F6"/>
          </a:solidFill>
          <a:ln w="8890">
            <a:solidFill>
              <a:srgbClr val="FFFFFF"/>
            </a:solidFill>
            <a:prstDash val="solid"/>
          </a:ln>
        </p:spPr>
      </p:sp>
      <p:sp>
        <p:nvSpPr>
          <p:cNvPr id="61" name="Text 59"/>
          <p:cNvSpPr/>
          <p:nvPr/>
        </p:nvSpPr>
        <p:spPr>
          <a:xfrm>
            <a:off x="10122408" y="3607308"/>
            <a:ext cx="1472184" cy="333756"/>
          </a:xfrm>
          <a:prstGeom prst="rect">
            <a:avLst/>
          </a:prstGeom>
          <a:noFill/>
          <a:ln/>
        </p:spPr>
        <p:txBody>
          <a:bodyPr wrap="square" lIns="0" tIns="0" rIns="0" bIns="0" rtlCol="0" anchor="ctr"/>
          <a:lstStyle/>
          <a:p>
            <a:pPr indent="0" marL="0">
              <a:buNone/>
            </a:pPr>
            <a:r>
              <a:rPr lang="en-US" sz="1340" dirty="0">
                <a:solidFill>
                  <a:srgbClr val="5B6169"/>
                </a:solidFill>
                <a:latin typeface="Arial" pitchFamily="34" charset="0"/>
                <a:ea typeface="Arial" pitchFamily="34" charset="-122"/>
                <a:cs typeface="Arial" pitchFamily="34" charset="-120"/>
              </a:rPr>
              <a:t>No common-profile</a:t>
            </a:r>
            <a:endParaRPr lang="en-US" sz="1340" dirty="0"/>
          </a:p>
          <a:p>
            <a:pPr indent="0" marL="0">
              <a:buNone/>
            </a:pPr>
            <a:r>
              <a:rPr lang="en-US" sz="1340" dirty="0">
                <a:solidFill>
                  <a:srgbClr val="5B6169"/>
                </a:solidFill>
                <a:latin typeface="Arial" pitchFamily="34" charset="0"/>
                <a:ea typeface="Arial" pitchFamily="34" charset="-122"/>
                <a:cs typeface="Arial" pitchFamily="34" charset="-120"/>
              </a:rPr>
              <a:t>result sourced</a:t>
            </a:r>
            <a:endParaRPr lang="en-US" sz="1340" dirty="0"/>
          </a:p>
        </p:txBody>
      </p:sp>
      <p:sp>
        <p:nvSpPr>
          <p:cNvPr id="62" name="Shape 60"/>
          <p:cNvSpPr/>
          <p:nvPr/>
        </p:nvSpPr>
        <p:spPr>
          <a:xfrm>
            <a:off x="502920" y="3991356"/>
            <a:ext cx="2194560" cy="461772"/>
          </a:xfrm>
          <a:prstGeom prst="rect">
            <a:avLst>
              <a:gd name="adj" fmla="val 15842"/>
            </a:avLst>
          </a:prstGeom>
          <a:solidFill>
            <a:srgbClr val="FFFFFF"/>
          </a:solidFill>
          <a:ln w="8890">
            <a:solidFill>
              <a:srgbClr val="FFFFFF"/>
            </a:solidFill>
            <a:prstDash val="solid"/>
          </a:ln>
        </p:spPr>
      </p:sp>
      <p:sp>
        <p:nvSpPr>
          <p:cNvPr id="63" name="Text 61"/>
          <p:cNvSpPr/>
          <p:nvPr/>
        </p:nvSpPr>
        <p:spPr>
          <a:xfrm>
            <a:off x="594360" y="4069080"/>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ATMOS W4</a:t>
            </a:r>
            <a:endParaRPr lang="en-US" sz="1340" dirty="0"/>
          </a:p>
        </p:txBody>
      </p:sp>
      <p:sp>
        <p:nvSpPr>
          <p:cNvPr id="64" name="Shape 62"/>
          <p:cNvSpPr/>
          <p:nvPr/>
        </p:nvSpPr>
        <p:spPr>
          <a:xfrm>
            <a:off x="2697480" y="3991356"/>
            <a:ext cx="1408176" cy="461772"/>
          </a:xfrm>
          <a:prstGeom prst="rect">
            <a:avLst>
              <a:gd name="adj" fmla="val 15842"/>
            </a:avLst>
          </a:prstGeom>
          <a:solidFill>
            <a:srgbClr val="FCECF0"/>
          </a:solidFill>
          <a:ln w="8890">
            <a:solidFill>
              <a:srgbClr val="FFFFFF"/>
            </a:solidFill>
            <a:prstDash val="solid"/>
          </a:ln>
        </p:spPr>
      </p:sp>
      <p:sp>
        <p:nvSpPr>
          <p:cNvPr id="65" name="Text 63"/>
          <p:cNvSpPr/>
          <p:nvPr/>
        </p:nvSpPr>
        <p:spPr>
          <a:xfrm>
            <a:off x="2788920" y="4069080"/>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≤3 s · T</a:t>
            </a:r>
            <a:endParaRPr lang="en-US" sz="1340" dirty="0"/>
          </a:p>
        </p:txBody>
      </p:sp>
      <p:sp>
        <p:nvSpPr>
          <p:cNvPr id="66" name="Shape 64"/>
          <p:cNvSpPr/>
          <p:nvPr/>
        </p:nvSpPr>
        <p:spPr>
          <a:xfrm>
            <a:off x="4105656" y="3991356"/>
            <a:ext cx="1938528" cy="461772"/>
          </a:xfrm>
          <a:prstGeom prst="rect">
            <a:avLst>
              <a:gd name="adj" fmla="val 15842"/>
            </a:avLst>
          </a:prstGeom>
          <a:solidFill>
            <a:srgbClr val="FCECF0"/>
          </a:solidFill>
          <a:ln w="8890">
            <a:solidFill>
              <a:srgbClr val="FFFFFF"/>
            </a:solidFill>
            <a:prstDash val="solid"/>
          </a:ln>
        </p:spPr>
      </p:sp>
      <p:sp>
        <p:nvSpPr>
          <p:cNvPr id="67" name="Text 65"/>
          <p:cNvSpPr/>
          <p:nvPr/>
        </p:nvSpPr>
        <p:spPr>
          <a:xfrm>
            <a:off x="4197096" y="4069080"/>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≤80 ms · T</a:t>
            </a:r>
            <a:endParaRPr lang="en-US" sz="1340" dirty="0"/>
          </a:p>
        </p:txBody>
      </p:sp>
      <p:sp>
        <p:nvSpPr>
          <p:cNvPr id="68" name="Shape 66"/>
          <p:cNvSpPr/>
          <p:nvPr/>
        </p:nvSpPr>
        <p:spPr>
          <a:xfrm>
            <a:off x="6044184" y="3991356"/>
            <a:ext cx="1965960" cy="461772"/>
          </a:xfrm>
          <a:prstGeom prst="rect">
            <a:avLst>
              <a:gd name="adj" fmla="val 15842"/>
            </a:avLst>
          </a:prstGeom>
          <a:solidFill>
            <a:srgbClr val="FDF0F3"/>
          </a:solidFill>
          <a:ln w="8890">
            <a:solidFill>
              <a:srgbClr val="FFFFFF"/>
            </a:solidFill>
            <a:prstDash val="solid"/>
          </a:ln>
        </p:spPr>
      </p:sp>
      <p:sp>
        <p:nvSpPr>
          <p:cNvPr id="69" name="Text 67"/>
          <p:cNvSpPr/>
          <p:nvPr/>
        </p:nvSpPr>
        <p:spPr>
          <a:xfrm>
            <a:off x="6135624" y="4069080"/>
            <a:ext cx="17830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≥40 · T</a:t>
            </a:r>
            <a:endParaRPr lang="en-US" sz="1340" dirty="0"/>
          </a:p>
        </p:txBody>
      </p:sp>
      <p:sp>
        <p:nvSpPr>
          <p:cNvPr id="70" name="Shape 68"/>
          <p:cNvSpPr/>
          <p:nvPr/>
        </p:nvSpPr>
        <p:spPr>
          <a:xfrm>
            <a:off x="8010144" y="3991356"/>
            <a:ext cx="2020824" cy="461772"/>
          </a:xfrm>
          <a:prstGeom prst="rect">
            <a:avLst>
              <a:gd name="adj" fmla="val 15842"/>
            </a:avLst>
          </a:prstGeom>
          <a:solidFill>
            <a:srgbClr val="FDF0F3"/>
          </a:solidFill>
          <a:ln w="8890">
            <a:solidFill>
              <a:srgbClr val="FFFFFF"/>
            </a:solidFill>
            <a:prstDash val="solid"/>
          </a:ln>
        </p:spPr>
      </p:sp>
      <p:sp>
        <p:nvSpPr>
          <p:cNvPr id="71" name="Text 69"/>
          <p:cNvSpPr/>
          <p:nvPr/>
        </p:nvSpPr>
        <p:spPr>
          <a:xfrm>
            <a:off x="8101584" y="4069080"/>
            <a:ext cx="1837944"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4 · T</a:t>
            </a:r>
            <a:endParaRPr lang="en-US" sz="1340" dirty="0"/>
          </a:p>
        </p:txBody>
      </p:sp>
      <p:sp>
        <p:nvSpPr>
          <p:cNvPr id="72" name="Shape 70"/>
          <p:cNvSpPr/>
          <p:nvPr/>
        </p:nvSpPr>
        <p:spPr>
          <a:xfrm>
            <a:off x="10030968" y="3991356"/>
            <a:ext cx="1655064" cy="461772"/>
          </a:xfrm>
          <a:prstGeom prst="rect">
            <a:avLst>
              <a:gd name="adj" fmla="val 15842"/>
            </a:avLst>
          </a:prstGeom>
          <a:solidFill>
            <a:srgbClr val="FFFFFF"/>
          </a:solidFill>
          <a:ln w="8890">
            <a:solidFill>
              <a:srgbClr val="FFFFFF"/>
            </a:solidFill>
            <a:prstDash val="solid"/>
          </a:ln>
        </p:spPr>
      </p:sp>
      <p:sp>
        <p:nvSpPr>
          <p:cNvPr id="73" name="Text 71"/>
          <p:cNvSpPr/>
          <p:nvPr/>
        </p:nvSpPr>
        <p:spPr>
          <a:xfrm>
            <a:off x="10122408" y="4069080"/>
            <a:ext cx="147218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V3 G1 target</a:t>
            </a:r>
            <a:endParaRPr lang="en-US" sz="1340" dirty="0"/>
          </a:p>
        </p:txBody>
      </p:sp>
      <p:sp>
        <p:nvSpPr>
          <p:cNvPr id="74" name="Shape 72"/>
          <p:cNvSpPr/>
          <p:nvPr/>
        </p:nvSpPr>
        <p:spPr>
          <a:xfrm>
            <a:off x="502920" y="4453128"/>
            <a:ext cx="2194560" cy="461772"/>
          </a:xfrm>
          <a:prstGeom prst="rect">
            <a:avLst>
              <a:gd name="adj" fmla="val 15842"/>
            </a:avLst>
          </a:prstGeom>
          <a:solidFill>
            <a:srgbClr val="F3F4F6"/>
          </a:solidFill>
          <a:ln w="8890">
            <a:solidFill>
              <a:srgbClr val="FFFFFF"/>
            </a:solidFill>
            <a:prstDash val="solid"/>
          </a:ln>
        </p:spPr>
      </p:sp>
      <p:sp>
        <p:nvSpPr>
          <p:cNvPr id="75" name="Text 73"/>
          <p:cNvSpPr/>
          <p:nvPr/>
        </p:nvSpPr>
        <p:spPr>
          <a:xfrm>
            <a:off x="594360" y="4530852"/>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ATMOS D8 / E8</a:t>
            </a:r>
            <a:endParaRPr lang="en-US" sz="1340" dirty="0"/>
          </a:p>
        </p:txBody>
      </p:sp>
      <p:sp>
        <p:nvSpPr>
          <p:cNvPr id="76" name="Shape 74"/>
          <p:cNvSpPr/>
          <p:nvPr/>
        </p:nvSpPr>
        <p:spPr>
          <a:xfrm>
            <a:off x="2697480" y="4453128"/>
            <a:ext cx="1408176" cy="461772"/>
          </a:xfrm>
          <a:prstGeom prst="rect">
            <a:avLst>
              <a:gd name="adj" fmla="val 15842"/>
            </a:avLst>
          </a:prstGeom>
          <a:solidFill>
            <a:srgbClr val="FCECF0"/>
          </a:solidFill>
          <a:ln w="8890">
            <a:solidFill>
              <a:srgbClr val="FFFFFF"/>
            </a:solidFill>
            <a:prstDash val="solid"/>
          </a:ln>
        </p:spPr>
      </p:sp>
      <p:sp>
        <p:nvSpPr>
          <p:cNvPr id="77" name="Text 75"/>
          <p:cNvSpPr/>
          <p:nvPr/>
        </p:nvSpPr>
        <p:spPr>
          <a:xfrm>
            <a:off x="2788920" y="4530852"/>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≤3 s · T</a:t>
            </a:r>
            <a:endParaRPr lang="en-US" sz="1340" dirty="0"/>
          </a:p>
        </p:txBody>
      </p:sp>
      <p:sp>
        <p:nvSpPr>
          <p:cNvPr id="78" name="Shape 76"/>
          <p:cNvSpPr/>
          <p:nvPr/>
        </p:nvSpPr>
        <p:spPr>
          <a:xfrm>
            <a:off x="4105656" y="4453128"/>
            <a:ext cx="1938528" cy="461772"/>
          </a:xfrm>
          <a:prstGeom prst="rect">
            <a:avLst>
              <a:gd name="adj" fmla="val 15842"/>
            </a:avLst>
          </a:prstGeom>
          <a:solidFill>
            <a:srgbClr val="FCECF0"/>
          </a:solidFill>
          <a:ln w="8890">
            <a:solidFill>
              <a:srgbClr val="FFFFFF"/>
            </a:solidFill>
            <a:prstDash val="solid"/>
          </a:ln>
        </p:spPr>
      </p:sp>
      <p:sp>
        <p:nvSpPr>
          <p:cNvPr id="79" name="Text 77"/>
          <p:cNvSpPr/>
          <p:nvPr/>
        </p:nvSpPr>
        <p:spPr>
          <a:xfrm>
            <a:off x="4197096" y="4530852"/>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≤80 ms · T</a:t>
            </a:r>
            <a:endParaRPr lang="en-US" sz="1340" dirty="0"/>
          </a:p>
        </p:txBody>
      </p:sp>
      <p:sp>
        <p:nvSpPr>
          <p:cNvPr id="80" name="Shape 78"/>
          <p:cNvSpPr/>
          <p:nvPr/>
        </p:nvSpPr>
        <p:spPr>
          <a:xfrm>
            <a:off x="6044184" y="4453128"/>
            <a:ext cx="1965960" cy="461772"/>
          </a:xfrm>
          <a:prstGeom prst="rect">
            <a:avLst>
              <a:gd name="adj" fmla="val 15842"/>
            </a:avLst>
          </a:prstGeom>
          <a:solidFill>
            <a:srgbClr val="F8D4DB"/>
          </a:solidFill>
          <a:ln w="8890">
            <a:solidFill>
              <a:srgbClr val="FFFFFF"/>
            </a:solidFill>
            <a:prstDash val="solid"/>
          </a:ln>
        </p:spPr>
      </p:sp>
      <p:sp>
        <p:nvSpPr>
          <p:cNvPr id="81" name="Text 79"/>
          <p:cNvSpPr/>
          <p:nvPr/>
        </p:nvSpPr>
        <p:spPr>
          <a:xfrm>
            <a:off x="6135624" y="4530852"/>
            <a:ext cx="17830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≥80 · T</a:t>
            </a:r>
            <a:endParaRPr lang="en-US" sz="1340" dirty="0"/>
          </a:p>
        </p:txBody>
      </p:sp>
      <p:sp>
        <p:nvSpPr>
          <p:cNvPr id="82" name="Shape 80"/>
          <p:cNvSpPr/>
          <p:nvPr/>
        </p:nvSpPr>
        <p:spPr>
          <a:xfrm>
            <a:off x="8010144" y="4453128"/>
            <a:ext cx="2020824" cy="461772"/>
          </a:xfrm>
          <a:prstGeom prst="rect">
            <a:avLst>
              <a:gd name="adj" fmla="val 15842"/>
            </a:avLst>
          </a:prstGeom>
          <a:solidFill>
            <a:srgbClr val="F8D4DB"/>
          </a:solidFill>
          <a:ln w="8890">
            <a:solidFill>
              <a:srgbClr val="FFFFFF"/>
            </a:solidFill>
            <a:prstDash val="solid"/>
          </a:ln>
        </p:spPr>
      </p:sp>
      <p:sp>
        <p:nvSpPr>
          <p:cNvPr id="83" name="Text 81"/>
          <p:cNvSpPr/>
          <p:nvPr/>
        </p:nvSpPr>
        <p:spPr>
          <a:xfrm>
            <a:off x="8101584" y="4530852"/>
            <a:ext cx="1837944"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8 · T</a:t>
            </a:r>
            <a:endParaRPr lang="en-US" sz="1340" dirty="0"/>
          </a:p>
        </p:txBody>
      </p:sp>
      <p:sp>
        <p:nvSpPr>
          <p:cNvPr id="84" name="Shape 82"/>
          <p:cNvSpPr/>
          <p:nvPr/>
        </p:nvSpPr>
        <p:spPr>
          <a:xfrm>
            <a:off x="10030968" y="4453128"/>
            <a:ext cx="1655064" cy="461772"/>
          </a:xfrm>
          <a:prstGeom prst="rect">
            <a:avLst>
              <a:gd name="adj" fmla="val 15842"/>
            </a:avLst>
          </a:prstGeom>
          <a:solidFill>
            <a:srgbClr val="F3F4F6"/>
          </a:solidFill>
          <a:ln w="8890">
            <a:solidFill>
              <a:srgbClr val="FFFFFF"/>
            </a:solidFill>
            <a:prstDash val="solid"/>
          </a:ln>
        </p:spPr>
      </p:sp>
      <p:sp>
        <p:nvSpPr>
          <p:cNvPr id="85" name="Text 83"/>
          <p:cNvSpPr/>
          <p:nvPr/>
        </p:nvSpPr>
        <p:spPr>
          <a:xfrm>
            <a:off x="10122408" y="4530852"/>
            <a:ext cx="147218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V3 G1 target</a:t>
            </a:r>
            <a:endParaRPr lang="en-US" sz="1340" dirty="0"/>
          </a:p>
        </p:txBody>
      </p:sp>
      <p:sp>
        <p:nvSpPr>
          <p:cNvPr id="86" name="Shape 84"/>
          <p:cNvSpPr/>
          <p:nvPr/>
        </p:nvSpPr>
        <p:spPr>
          <a:xfrm>
            <a:off x="502920" y="4914900"/>
            <a:ext cx="2194560" cy="461772"/>
          </a:xfrm>
          <a:prstGeom prst="rect">
            <a:avLst>
              <a:gd name="adj" fmla="val 15842"/>
            </a:avLst>
          </a:prstGeom>
          <a:solidFill>
            <a:srgbClr val="FFFFFF"/>
          </a:solidFill>
          <a:ln w="8890">
            <a:solidFill>
              <a:srgbClr val="FFFFFF"/>
            </a:solidFill>
            <a:prstDash val="solid"/>
          </a:ln>
        </p:spPr>
      </p:sp>
      <p:sp>
        <p:nvSpPr>
          <p:cNvPr id="87" name="Text 85"/>
          <p:cNvSpPr/>
          <p:nvPr/>
        </p:nvSpPr>
        <p:spPr>
          <a:xfrm>
            <a:off x="594360" y="4992624"/>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ATMOS E16</a:t>
            </a:r>
            <a:endParaRPr lang="en-US" sz="1340" dirty="0"/>
          </a:p>
        </p:txBody>
      </p:sp>
      <p:sp>
        <p:nvSpPr>
          <p:cNvPr id="88" name="Shape 86"/>
          <p:cNvSpPr/>
          <p:nvPr/>
        </p:nvSpPr>
        <p:spPr>
          <a:xfrm>
            <a:off x="2697480" y="4914900"/>
            <a:ext cx="1408176" cy="461772"/>
          </a:xfrm>
          <a:prstGeom prst="rect">
            <a:avLst>
              <a:gd name="adj" fmla="val 15842"/>
            </a:avLst>
          </a:prstGeom>
          <a:solidFill>
            <a:srgbClr val="FCECF0"/>
          </a:solidFill>
          <a:ln w="8890">
            <a:solidFill>
              <a:srgbClr val="FFFFFF"/>
            </a:solidFill>
            <a:prstDash val="solid"/>
          </a:ln>
        </p:spPr>
      </p:sp>
      <p:sp>
        <p:nvSpPr>
          <p:cNvPr id="89" name="Text 87"/>
          <p:cNvSpPr/>
          <p:nvPr/>
        </p:nvSpPr>
        <p:spPr>
          <a:xfrm>
            <a:off x="2788920" y="4992624"/>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≤3 s · T</a:t>
            </a:r>
            <a:endParaRPr lang="en-US" sz="1340" dirty="0"/>
          </a:p>
        </p:txBody>
      </p:sp>
      <p:sp>
        <p:nvSpPr>
          <p:cNvPr id="90" name="Shape 88"/>
          <p:cNvSpPr/>
          <p:nvPr/>
        </p:nvSpPr>
        <p:spPr>
          <a:xfrm>
            <a:off x="4105656" y="4914900"/>
            <a:ext cx="1938528" cy="461772"/>
          </a:xfrm>
          <a:prstGeom prst="rect">
            <a:avLst>
              <a:gd name="adj" fmla="val 15842"/>
            </a:avLst>
          </a:prstGeom>
          <a:solidFill>
            <a:srgbClr val="FCECF0"/>
          </a:solidFill>
          <a:ln w="8890">
            <a:solidFill>
              <a:srgbClr val="FFFFFF"/>
            </a:solidFill>
            <a:prstDash val="solid"/>
          </a:ln>
        </p:spPr>
      </p:sp>
      <p:sp>
        <p:nvSpPr>
          <p:cNvPr id="91" name="Text 89"/>
          <p:cNvSpPr/>
          <p:nvPr/>
        </p:nvSpPr>
        <p:spPr>
          <a:xfrm>
            <a:off x="4197096" y="4992624"/>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≤80 ms · T</a:t>
            </a:r>
            <a:endParaRPr lang="en-US" sz="1340" dirty="0"/>
          </a:p>
        </p:txBody>
      </p:sp>
      <p:sp>
        <p:nvSpPr>
          <p:cNvPr id="92" name="Shape 90"/>
          <p:cNvSpPr/>
          <p:nvPr/>
        </p:nvSpPr>
        <p:spPr>
          <a:xfrm>
            <a:off x="6044184" y="4914900"/>
            <a:ext cx="1965960" cy="461772"/>
          </a:xfrm>
          <a:prstGeom prst="rect">
            <a:avLst>
              <a:gd name="adj" fmla="val 15842"/>
            </a:avLst>
          </a:prstGeom>
          <a:solidFill>
            <a:srgbClr val="DF4F6B"/>
          </a:solidFill>
          <a:ln w="8890">
            <a:solidFill>
              <a:srgbClr val="FFFFFF"/>
            </a:solidFill>
            <a:prstDash val="solid"/>
          </a:ln>
        </p:spPr>
      </p:sp>
      <p:sp>
        <p:nvSpPr>
          <p:cNvPr id="93" name="Text 91"/>
          <p:cNvSpPr/>
          <p:nvPr/>
        </p:nvSpPr>
        <p:spPr>
          <a:xfrm>
            <a:off x="6135624" y="4992624"/>
            <a:ext cx="1783080" cy="333756"/>
          </a:xfrm>
          <a:prstGeom prst="rect">
            <a:avLst/>
          </a:prstGeom>
          <a:noFill/>
          <a:ln/>
        </p:spPr>
        <p:txBody>
          <a:bodyPr wrap="square" lIns="0" tIns="0" rIns="0" bIns="0" rtlCol="0" anchor="ctr"/>
          <a:lstStyle/>
          <a:p>
            <a:pPr indent="0" marL="0">
              <a:buNone/>
            </a:pPr>
            <a:r>
              <a:rPr lang="en-US" sz="1340" b="1" dirty="0">
                <a:solidFill>
                  <a:srgbClr val="FFFFFF"/>
                </a:solidFill>
                <a:latin typeface="Arial" pitchFamily="34" charset="0"/>
                <a:ea typeface="Arial" pitchFamily="34" charset="-122"/>
                <a:cs typeface="Arial" pitchFamily="34" charset="-120"/>
              </a:rPr>
              <a:t>≥160 · T</a:t>
            </a:r>
            <a:endParaRPr lang="en-US" sz="1340" dirty="0"/>
          </a:p>
        </p:txBody>
      </p:sp>
      <p:sp>
        <p:nvSpPr>
          <p:cNvPr id="94" name="Shape 92"/>
          <p:cNvSpPr/>
          <p:nvPr/>
        </p:nvSpPr>
        <p:spPr>
          <a:xfrm>
            <a:off x="8010144" y="4914900"/>
            <a:ext cx="2020824" cy="461772"/>
          </a:xfrm>
          <a:prstGeom prst="rect">
            <a:avLst>
              <a:gd name="adj" fmla="val 15842"/>
            </a:avLst>
          </a:prstGeom>
          <a:solidFill>
            <a:srgbClr val="DF4F6B"/>
          </a:solidFill>
          <a:ln w="8890">
            <a:solidFill>
              <a:srgbClr val="FFFFFF"/>
            </a:solidFill>
            <a:prstDash val="solid"/>
          </a:ln>
        </p:spPr>
      </p:sp>
      <p:sp>
        <p:nvSpPr>
          <p:cNvPr id="95" name="Text 93"/>
          <p:cNvSpPr/>
          <p:nvPr/>
        </p:nvSpPr>
        <p:spPr>
          <a:xfrm>
            <a:off x="8101584" y="4992624"/>
            <a:ext cx="1837944" cy="333756"/>
          </a:xfrm>
          <a:prstGeom prst="rect">
            <a:avLst/>
          </a:prstGeom>
          <a:noFill/>
          <a:ln/>
        </p:spPr>
        <p:txBody>
          <a:bodyPr wrap="square" lIns="0" tIns="0" rIns="0" bIns="0" rtlCol="0" anchor="ctr"/>
          <a:lstStyle/>
          <a:p>
            <a:pPr indent="0" marL="0">
              <a:buNone/>
            </a:pPr>
            <a:r>
              <a:rPr lang="en-US" sz="1340" b="1" dirty="0">
                <a:solidFill>
                  <a:srgbClr val="FFFFFF"/>
                </a:solidFill>
                <a:latin typeface="Arial" pitchFamily="34" charset="0"/>
                <a:ea typeface="Arial" pitchFamily="34" charset="-122"/>
                <a:cs typeface="Arial" pitchFamily="34" charset="-120"/>
              </a:rPr>
              <a:t>16 · T</a:t>
            </a:r>
            <a:endParaRPr lang="en-US" sz="1340" dirty="0"/>
          </a:p>
        </p:txBody>
      </p:sp>
      <p:sp>
        <p:nvSpPr>
          <p:cNvPr id="96" name="Shape 94"/>
          <p:cNvSpPr/>
          <p:nvPr/>
        </p:nvSpPr>
        <p:spPr>
          <a:xfrm>
            <a:off x="10030968" y="4914900"/>
            <a:ext cx="1655064" cy="461772"/>
          </a:xfrm>
          <a:prstGeom prst="rect">
            <a:avLst>
              <a:gd name="adj" fmla="val 15842"/>
            </a:avLst>
          </a:prstGeom>
          <a:solidFill>
            <a:srgbClr val="FFFFFF"/>
          </a:solidFill>
          <a:ln w="8890">
            <a:solidFill>
              <a:srgbClr val="FFFFFF"/>
            </a:solidFill>
            <a:prstDash val="solid"/>
          </a:ln>
        </p:spPr>
      </p:sp>
      <p:sp>
        <p:nvSpPr>
          <p:cNvPr id="97" name="Text 95"/>
          <p:cNvSpPr/>
          <p:nvPr/>
        </p:nvSpPr>
        <p:spPr>
          <a:xfrm>
            <a:off x="10122408" y="4992624"/>
            <a:ext cx="147218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V3 G1 target</a:t>
            </a:r>
            <a:endParaRPr lang="en-US" sz="1340" dirty="0"/>
          </a:p>
        </p:txBody>
      </p:sp>
      <p:sp>
        <p:nvSpPr>
          <p:cNvPr id="98" name="Shape 96"/>
          <p:cNvSpPr/>
          <p:nvPr/>
        </p:nvSpPr>
        <p:spPr>
          <a:xfrm>
            <a:off x="502920" y="5376672"/>
            <a:ext cx="2194560" cy="461772"/>
          </a:xfrm>
          <a:prstGeom prst="rect">
            <a:avLst>
              <a:gd name="adj" fmla="val 15842"/>
            </a:avLst>
          </a:prstGeom>
          <a:solidFill>
            <a:srgbClr val="F3F4F6"/>
          </a:solidFill>
          <a:ln w="8890">
            <a:solidFill>
              <a:srgbClr val="FFFFFF"/>
            </a:solidFill>
            <a:prstDash val="solid"/>
          </a:ln>
        </p:spPr>
      </p:sp>
      <p:sp>
        <p:nvSpPr>
          <p:cNvPr id="99" name="Text 97"/>
          <p:cNvSpPr/>
          <p:nvPr/>
        </p:nvSpPr>
        <p:spPr>
          <a:xfrm>
            <a:off x="594360" y="5454396"/>
            <a:ext cx="2011680" cy="333756"/>
          </a:xfrm>
          <a:prstGeom prst="rect">
            <a:avLst/>
          </a:prstGeom>
          <a:noFill/>
          <a:ln/>
        </p:spPr>
        <p:txBody>
          <a:bodyPr wrap="square" lIns="0" tIns="0" rIns="0" bIns="0" rtlCol="0" anchor="ctr"/>
          <a:lstStyle/>
          <a:p>
            <a:pPr indent="0" marL="0">
              <a:buNone/>
            </a:pPr>
            <a:r>
              <a:rPr lang="en-US" sz="1340" b="1" dirty="0">
                <a:solidFill>
                  <a:srgbClr val="18191D"/>
                </a:solidFill>
                <a:latin typeface="Arial" pitchFamily="34" charset="0"/>
                <a:ea typeface="Arial" pitchFamily="34" charset="-122"/>
                <a:cs typeface="Arial" pitchFamily="34" charset="-120"/>
              </a:rPr>
              <a:t>ATMOS E24</a:t>
            </a:r>
            <a:endParaRPr lang="en-US" sz="1340" dirty="0"/>
          </a:p>
        </p:txBody>
      </p:sp>
      <p:sp>
        <p:nvSpPr>
          <p:cNvPr id="100" name="Shape 98"/>
          <p:cNvSpPr/>
          <p:nvPr/>
        </p:nvSpPr>
        <p:spPr>
          <a:xfrm>
            <a:off x="2697480" y="5376672"/>
            <a:ext cx="1408176" cy="461772"/>
          </a:xfrm>
          <a:prstGeom prst="rect">
            <a:avLst>
              <a:gd name="adj" fmla="val 15842"/>
            </a:avLst>
          </a:prstGeom>
          <a:solidFill>
            <a:srgbClr val="FCECF0"/>
          </a:solidFill>
          <a:ln w="8890">
            <a:solidFill>
              <a:srgbClr val="FFFFFF"/>
            </a:solidFill>
            <a:prstDash val="solid"/>
          </a:ln>
        </p:spPr>
      </p:sp>
      <p:sp>
        <p:nvSpPr>
          <p:cNvPr id="101" name="Text 99"/>
          <p:cNvSpPr/>
          <p:nvPr/>
        </p:nvSpPr>
        <p:spPr>
          <a:xfrm>
            <a:off x="2788920" y="5454396"/>
            <a:ext cx="1225296"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≤3 s · T</a:t>
            </a:r>
            <a:endParaRPr lang="en-US" sz="1340" dirty="0"/>
          </a:p>
        </p:txBody>
      </p:sp>
      <p:sp>
        <p:nvSpPr>
          <p:cNvPr id="102" name="Shape 100"/>
          <p:cNvSpPr/>
          <p:nvPr/>
        </p:nvSpPr>
        <p:spPr>
          <a:xfrm>
            <a:off x="4105656" y="5376672"/>
            <a:ext cx="1938528" cy="461772"/>
          </a:xfrm>
          <a:prstGeom prst="rect">
            <a:avLst>
              <a:gd name="adj" fmla="val 15842"/>
            </a:avLst>
          </a:prstGeom>
          <a:solidFill>
            <a:srgbClr val="FCECF0"/>
          </a:solidFill>
          <a:ln w="8890">
            <a:solidFill>
              <a:srgbClr val="FFFFFF"/>
            </a:solidFill>
            <a:prstDash val="solid"/>
          </a:ln>
        </p:spPr>
      </p:sp>
      <p:sp>
        <p:nvSpPr>
          <p:cNvPr id="103" name="Text 101"/>
          <p:cNvSpPr/>
          <p:nvPr/>
        </p:nvSpPr>
        <p:spPr>
          <a:xfrm>
            <a:off x="4197096" y="5454396"/>
            <a:ext cx="1755648"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≤80 ms · T</a:t>
            </a:r>
            <a:endParaRPr lang="en-US" sz="1340" dirty="0"/>
          </a:p>
        </p:txBody>
      </p:sp>
      <p:sp>
        <p:nvSpPr>
          <p:cNvPr id="104" name="Shape 102"/>
          <p:cNvSpPr/>
          <p:nvPr/>
        </p:nvSpPr>
        <p:spPr>
          <a:xfrm>
            <a:off x="6044184" y="5376672"/>
            <a:ext cx="1965960" cy="461772"/>
          </a:xfrm>
          <a:prstGeom prst="rect">
            <a:avLst>
              <a:gd name="adj" fmla="val 15842"/>
            </a:avLst>
          </a:prstGeom>
          <a:solidFill>
            <a:srgbClr val="B91839"/>
          </a:solidFill>
          <a:ln w="8890">
            <a:solidFill>
              <a:srgbClr val="FFFFFF"/>
            </a:solidFill>
            <a:prstDash val="solid"/>
          </a:ln>
        </p:spPr>
      </p:sp>
      <p:sp>
        <p:nvSpPr>
          <p:cNvPr id="105" name="Text 103"/>
          <p:cNvSpPr/>
          <p:nvPr/>
        </p:nvSpPr>
        <p:spPr>
          <a:xfrm>
            <a:off x="6135624" y="5454396"/>
            <a:ext cx="1783080" cy="333756"/>
          </a:xfrm>
          <a:prstGeom prst="rect">
            <a:avLst/>
          </a:prstGeom>
          <a:noFill/>
          <a:ln/>
        </p:spPr>
        <p:txBody>
          <a:bodyPr wrap="square" lIns="0" tIns="0" rIns="0" bIns="0" rtlCol="0" anchor="ctr"/>
          <a:lstStyle/>
          <a:p>
            <a:pPr indent="0" marL="0">
              <a:buNone/>
            </a:pPr>
            <a:r>
              <a:rPr lang="en-US" sz="1340" b="1" dirty="0">
                <a:solidFill>
                  <a:srgbClr val="FFFFFF"/>
                </a:solidFill>
                <a:latin typeface="Arial" pitchFamily="34" charset="0"/>
                <a:ea typeface="Arial" pitchFamily="34" charset="-122"/>
                <a:cs typeface="Arial" pitchFamily="34" charset="-120"/>
              </a:rPr>
              <a:t>≥240 · T</a:t>
            </a:r>
            <a:endParaRPr lang="en-US" sz="1340" dirty="0"/>
          </a:p>
        </p:txBody>
      </p:sp>
      <p:sp>
        <p:nvSpPr>
          <p:cNvPr id="106" name="Shape 104"/>
          <p:cNvSpPr/>
          <p:nvPr/>
        </p:nvSpPr>
        <p:spPr>
          <a:xfrm>
            <a:off x="8010144" y="5376672"/>
            <a:ext cx="2020824" cy="461772"/>
          </a:xfrm>
          <a:prstGeom prst="rect">
            <a:avLst>
              <a:gd name="adj" fmla="val 15842"/>
            </a:avLst>
          </a:prstGeom>
          <a:solidFill>
            <a:srgbClr val="B91839"/>
          </a:solidFill>
          <a:ln w="8890">
            <a:solidFill>
              <a:srgbClr val="FFFFFF"/>
            </a:solidFill>
            <a:prstDash val="solid"/>
          </a:ln>
        </p:spPr>
      </p:sp>
      <p:sp>
        <p:nvSpPr>
          <p:cNvPr id="107" name="Text 105"/>
          <p:cNvSpPr/>
          <p:nvPr/>
        </p:nvSpPr>
        <p:spPr>
          <a:xfrm>
            <a:off x="8101584" y="5454396"/>
            <a:ext cx="1837944" cy="333756"/>
          </a:xfrm>
          <a:prstGeom prst="rect">
            <a:avLst/>
          </a:prstGeom>
          <a:noFill/>
          <a:ln/>
        </p:spPr>
        <p:txBody>
          <a:bodyPr wrap="square" lIns="0" tIns="0" rIns="0" bIns="0" rtlCol="0" anchor="ctr"/>
          <a:lstStyle/>
          <a:p>
            <a:pPr indent="0" marL="0">
              <a:buNone/>
            </a:pPr>
            <a:r>
              <a:rPr lang="en-US" sz="1340" b="1" dirty="0">
                <a:solidFill>
                  <a:srgbClr val="FFFFFF"/>
                </a:solidFill>
                <a:latin typeface="Arial" pitchFamily="34" charset="0"/>
                <a:ea typeface="Arial" pitchFamily="34" charset="-122"/>
                <a:cs typeface="Arial" pitchFamily="34" charset="-120"/>
              </a:rPr>
              <a:t>24 · T</a:t>
            </a:r>
            <a:endParaRPr lang="en-US" sz="1340" dirty="0"/>
          </a:p>
        </p:txBody>
      </p:sp>
      <p:sp>
        <p:nvSpPr>
          <p:cNvPr id="108" name="Shape 106"/>
          <p:cNvSpPr/>
          <p:nvPr/>
        </p:nvSpPr>
        <p:spPr>
          <a:xfrm>
            <a:off x="10030968" y="5376672"/>
            <a:ext cx="1655064" cy="461772"/>
          </a:xfrm>
          <a:prstGeom prst="rect">
            <a:avLst>
              <a:gd name="adj" fmla="val 15842"/>
            </a:avLst>
          </a:prstGeom>
          <a:solidFill>
            <a:srgbClr val="F3F4F6"/>
          </a:solidFill>
          <a:ln w="8890">
            <a:solidFill>
              <a:srgbClr val="FFFFFF"/>
            </a:solidFill>
            <a:prstDash val="solid"/>
          </a:ln>
        </p:spPr>
      </p:sp>
      <p:sp>
        <p:nvSpPr>
          <p:cNvPr id="109" name="Text 107"/>
          <p:cNvSpPr/>
          <p:nvPr/>
        </p:nvSpPr>
        <p:spPr>
          <a:xfrm>
            <a:off x="10122408" y="5454396"/>
            <a:ext cx="1472184" cy="333756"/>
          </a:xfrm>
          <a:prstGeom prst="rect">
            <a:avLst/>
          </a:prstGeom>
          <a:noFill/>
          <a:ln/>
        </p:spPr>
        <p:txBody>
          <a:bodyPr wrap="square" lIns="0" tIns="0" rIns="0" bIns="0" rtlCol="0" anchor="ctr"/>
          <a:lstStyle/>
          <a:p>
            <a:pPr indent="0" marL="0">
              <a:buNone/>
            </a:pPr>
            <a:r>
              <a:rPr lang="en-US" sz="1340" dirty="0">
                <a:solidFill>
                  <a:srgbClr val="18191D"/>
                </a:solidFill>
                <a:latin typeface="Arial" pitchFamily="34" charset="0"/>
                <a:ea typeface="Arial" pitchFamily="34" charset="-122"/>
                <a:cs typeface="Arial" pitchFamily="34" charset="-120"/>
              </a:rPr>
              <a:t>Stretch G1 target</a:t>
            </a:r>
            <a:endParaRPr lang="en-US" sz="1340" dirty="0"/>
          </a:p>
        </p:txBody>
      </p:sp>
      <p:sp>
        <p:nvSpPr>
          <p:cNvPr id="110" name="Text 108"/>
          <p:cNvSpPr/>
          <p:nvPr/>
        </p:nvSpPr>
        <p:spPr>
          <a:xfrm>
            <a:off x="539496" y="5843016"/>
            <a:ext cx="11064240" cy="146304"/>
          </a:xfrm>
          <a:prstGeom prst="rect">
            <a:avLst/>
          </a:prstGeom>
          <a:noFill/>
          <a:ln/>
        </p:spPr>
        <p:txBody>
          <a:bodyPr wrap="square" lIns="0" tIns="0" rIns="0" bIns="0" rtlCol="0" anchor="ctr"/>
          <a:lstStyle/>
          <a:p>
            <a:pPr indent="0" marL="0">
              <a:buNone/>
            </a:pPr>
            <a:r>
              <a:rPr lang="en-US" sz="940" dirty="0">
                <a:solidFill>
                  <a:srgbClr val="5B6169"/>
                </a:solidFill>
                <a:latin typeface="Arial" pitchFamily="34" charset="0"/>
                <a:ea typeface="Arial" pitchFamily="34" charset="-122"/>
                <a:cs typeface="Arial" pitchFamily="34" charset="-120"/>
              </a:rPr>
              <a:t>NB = not benchmarked on this common profile, not “unsupported.” T = target. p99 target: TTFT ≤5 s; inter-token ≤120 ms.</a:t>
            </a:r>
            <a:endParaRPr lang="en-US" sz="9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MEASURED / REPORTED CONTEXT</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Public benchmarks establish the local-AI baseline.</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Different models, prompts, precision and caching. These results are reference points, not a comparative leaderboard.</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ATMOS must run the same frozen workload before claiming better TTFT, throughput, energy or total service cost.</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[S02] [S13] [S12]</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§5,15</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M12</a:t>
            </a:r>
            <a:endParaRPr lang="en-US" sz="920" dirty="0"/>
          </a:p>
        </p:txBody>
      </p:sp>
      <p:sp>
        <p:nvSpPr>
          <p:cNvPr id="14" name="Shape 12"/>
          <p:cNvSpPr/>
          <p:nvPr/>
        </p:nvSpPr>
        <p:spPr>
          <a:xfrm>
            <a:off x="502920" y="2103120"/>
            <a:ext cx="5495544" cy="3227832"/>
          </a:xfrm>
          <a:prstGeom prst="rect">
            <a:avLst>
              <a:gd name="adj" fmla="val 2266"/>
            </a:avLst>
          </a:prstGeom>
          <a:solidFill>
            <a:srgbClr val="F3F4F6"/>
          </a:solidFill>
          <a:ln w="12700">
            <a:solidFill>
              <a:srgbClr val="F3F4F6"/>
            </a:solidFill>
            <a:prstDash val="solid"/>
          </a:ln>
        </p:spPr>
      </p:sp>
      <p:sp>
        <p:nvSpPr>
          <p:cNvPr id="15" name="Shape 13"/>
          <p:cNvSpPr/>
          <p:nvPr/>
        </p:nvSpPr>
        <p:spPr>
          <a:xfrm>
            <a:off x="685800" y="2286000"/>
            <a:ext cx="3044952" cy="237744"/>
          </a:xfrm>
          <a:prstGeom prst="rect">
            <a:avLst>
              <a:gd name="adj" fmla="val 30769"/>
            </a:avLst>
          </a:prstGeom>
          <a:solidFill>
            <a:srgbClr val="FCECF0"/>
          </a:solidFill>
          <a:ln w="12700">
            <a:solidFill>
              <a:srgbClr val="FCECF0"/>
            </a:solidFill>
            <a:prstDash val="solid"/>
          </a:ln>
        </p:spPr>
      </p:sp>
      <p:sp>
        <p:nvSpPr>
          <p:cNvPr id="16" name="Text 14"/>
          <p:cNvSpPr/>
          <p:nvPr/>
        </p:nvSpPr>
        <p:spPr>
          <a:xfrm>
            <a:off x="758952" y="2308860"/>
            <a:ext cx="2898648"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CUSTOMER / VENDOR REPORTED</a:t>
            </a:r>
            <a:endParaRPr lang="en-US" sz="1050" dirty="0"/>
          </a:p>
        </p:txBody>
      </p:sp>
      <p:sp>
        <p:nvSpPr>
          <p:cNvPr id="17" name="Text 15"/>
          <p:cNvSpPr/>
          <p:nvPr/>
        </p:nvSpPr>
        <p:spPr>
          <a:xfrm>
            <a:off x="685800" y="2734056"/>
            <a:ext cx="5074920" cy="329184"/>
          </a:xfrm>
          <a:prstGeom prst="rect">
            <a:avLst/>
          </a:prstGeom>
          <a:noFill/>
          <a:ln/>
        </p:spPr>
        <p:txBody>
          <a:bodyPr wrap="square" lIns="0" tIns="0" rIns="0" bIns="0" rtlCol="0" anchor="ctr"/>
          <a:lstStyle/>
          <a:p>
            <a:pPr indent="0" marL="0">
              <a:buNone/>
            </a:pPr>
            <a:r>
              <a:rPr lang="en-US" sz="2200" b="1" dirty="0">
                <a:solidFill>
                  <a:srgbClr val="18191D"/>
                </a:solidFill>
                <a:latin typeface="Arial" pitchFamily="34" charset="0"/>
                <a:ea typeface="Arial" pitchFamily="34" charset="-122"/>
                <a:cs typeface="Arial" pitchFamily="34" charset="-120"/>
              </a:rPr>
              <a:t>EPRI • Dell GB10</a:t>
            </a:r>
            <a:endParaRPr lang="en-US" sz="2200" dirty="0"/>
          </a:p>
        </p:txBody>
      </p:sp>
      <p:sp>
        <p:nvSpPr>
          <p:cNvPr id="18" name="Text 16"/>
          <p:cNvSpPr/>
          <p:nvPr/>
        </p:nvSpPr>
        <p:spPr>
          <a:xfrm>
            <a:off x="685800" y="3246120"/>
            <a:ext cx="2011680" cy="566928"/>
          </a:xfrm>
          <a:prstGeom prst="rect">
            <a:avLst/>
          </a:prstGeom>
          <a:noFill/>
          <a:ln/>
        </p:spPr>
        <p:txBody>
          <a:bodyPr wrap="square" lIns="0" tIns="0" rIns="0" bIns="0" rtlCol="0" anchor="ctr"/>
          <a:lstStyle/>
          <a:p>
            <a:pPr indent="0" marL="0">
              <a:buNone/>
            </a:pPr>
            <a:r>
              <a:rPr lang="en-US" sz="4000" b="1" dirty="0">
                <a:solidFill>
                  <a:srgbClr val="E31837"/>
                </a:solidFill>
                <a:latin typeface="Arial" pitchFamily="34" charset="0"/>
                <a:ea typeface="Arial" pitchFamily="34" charset="-122"/>
                <a:cs typeface="Arial" pitchFamily="34" charset="-120"/>
              </a:rPr>
              <a:t>35</a:t>
            </a:r>
            <a:endParaRPr lang="en-US" sz="4000" dirty="0"/>
          </a:p>
        </p:txBody>
      </p:sp>
      <p:sp>
        <p:nvSpPr>
          <p:cNvPr id="19" name="Text 17"/>
          <p:cNvSpPr/>
          <p:nvPr/>
        </p:nvSpPr>
        <p:spPr>
          <a:xfrm>
            <a:off x="685800" y="3813048"/>
            <a:ext cx="2377440" cy="292608"/>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tok/s, single user</a:t>
            </a:r>
            <a:endParaRPr lang="en-US" sz="1600" dirty="0"/>
          </a:p>
        </p:txBody>
      </p:sp>
      <p:sp>
        <p:nvSpPr>
          <p:cNvPr id="20" name="Text 18"/>
          <p:cNvSpPr/>
          <p:nvPr/>
        </p:nvSpPr>
        <p:spPr>
          <a:xfrm>
            <a:off x="3282696" y="3246120"/>
            <a:ext cx="2194560" cy="566928"/>
          </a:xfrm>
          <a:prstGeom prst="rect">
            <a:avLst/>
          </a:prstGeom>
          <a:noFill/>
          <a:ln/>
        </p:spPr>
        <p:txBody>
          <a:bodyPr wrap="square" lIns="0" tIns="0" rIns="0" bIns="0" rtlCol="0" anchor="ctr"/>
          <a:lstStyle/>
          <a:p>
            <a:pPr indent="0" marL="0">
              <a:buNone/>
            </a:pPr>
            <a:r>
              <a:rPr lang="en-US" sz="4000" b="1" dirty="0">
                <a:solidFill>
                  <a:srgbClr val="E31837"/>
                </a:solidFill>
                <a:latin typeface="Arial" pitchFamily="34" charset="0"/>
                <a:ea typeface="Arial" pitchFamily="34" charset="-122"/>
                <a:cs typeface="Arial" pitchFamily="34" charset="-120"/>
              </a:rPr>
              <a:t>~150</a:t>
            </a:r>
            <a:endParaRPr lang="en-US" sz="4000" dirty="0"/>
          </a:p>
        </p:txBody>
      </p:sp>
      <p:sp>
        <p:nvSpPr>
          <p:cNvPr id="21" name="Text 19"/>
          <p:cNvSpPr/>
          <p:nvPr/>
        </p:nvSpPr>
        <p:spPr>
          <a:xfrm>
            <a:off x="3282696" y="3813048"/>
            <a:ext cx="2377440" cy="320040"/>
          </a:xfrm>
          <a:prstGeom prst="rect">
            <a:avLst/>
          </a:prstGeom>
          <a:noFill/>
          <a:ln/>
        </p:spPr>
        <p:txBody>
          <a:bodyPr wrap="square" lIns="0" tIns="0" rIns="0" bIns="0" rtlCol="0" anchor="ctr"/>
          <a:lstStyle/>
          <a:p>
            <a:pPr indent="0" marL="0">
              <a:buNone/>
            </a:pPr>
            <a:r>
              <a:rPr lang="en-US" sz="1500" dirty="0">
                <a:solidFill>
                  <a:srgbClr val="5B6169"/>
                </a:solidFill>
                <a:latin typeface="Arial" pitchFamily="34" charset="0"/>
                <a:ea typeface="Arial" pitchFamily="34" charset="-122"/>
                <a:cs typeface="Arial" pitchFamily="34" charset="-120"/>
              </a:rPr>
              <a:t>aggregate at 10 users</a:t>
            </a:r>
            <a:endParaRPr lang="en-US" sz="1500" dirty="0"/>
          </a:p>
        </p:txBody>
      </p:sp>
      <p:sp>
        <p:nvSpPr>
          <p:cNvPr id="22" name="Text 20"/>
          <p:cNvSpPr/>
          <p:nvPr/>
        </p:nvSpPr>
        <p:spPr>
          <a:xfrm>
            <a:off x="685800" y="4389120"/>
            <a:ext cx="5020056" cy="585216"/>
          </a:xfrm>
          <a:prstGeom prst="rect">
            <a:avLst/>
          </a:prstGeom>
          <a:noFill/>
          <a:ln/>
        </p:spPr>
        <p:txBody>
          <a:bodyPr wrap="square" lIns="0" tIns="0" rIns="0" bIns="0" rtlCol="0" anchor="ctr"/>
          <a:lstStyle/>
          <a:p>
            <a:pPr indent="0" marL="0">
              <a:buNone/>
            </a:pPr>
            <a:r>
              <a:rPr lang="en-US" sz="1700" dirty="0">
                <a:solidFill>
                  <a:srgbClr val="18191D"/>
                </a:solidFill>
                <a:latin typeface="Arial" pitchFamily="34" charset="0"/>
                <a:ea typeface="Arial" pitchFamily="34" charset="-122"/>
                <a:cs typeface="Arial" pitchFamily="34" charset="-120"/>
              </a:rPr>
              <a:t>gpt-oss-120b • prefix caching</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Post-warmup; no p95 TTFT disclosed.</a:t>
            </a:r>
            <a:endParaRPr lang="en-US" sz="1700" dirty="0"/>
          </a:p>
        </p:txBody>
      </p:sp>
      <p:sp>
        <p:nvSpPr>
          <p:cNvPr id="23" name="Shape 21"/>
          <p:cNvSpPr/>
          <p:nvPr/>
        </p:nvSpPr>
        <p:spPr>
          <a:xfrm>
            <a:off x="6190488" y="2103120"/>
            <a:ext cx="5495544" cy="3227832"/>
          </a:xfrm>
          <a:prstGeom prst="rect">
            <a:avLst>
              <a:gd name="adj" fmla="val 2266"/>
            </a:avLst>
          </a:prstGeom>
          <a:solidFill>
            <a:srgbClr val="F3F4F6"/>
          </a:solidFill>
          <a:ln w="12700">
            <a:solidFill>
              <a:srgbClr val="F3F4F6"/>
            </a:solidFill>
            <a:prstDash val="solid"/>
          </a:ln>
        </p:spPr>
      </p:sp>
      <p:sp>
        <p:nvSpPr>
          <p:cNvPr id="24" name="Shape 22"/>
          <p:cNvSpPr/>
          <p:nvPr/>
        </p:nvSpPr>
        <p:spPr>
          <a:xfrm>
            <a:off x="6373368" y="2286000"/>
            <a:ext cx="3054096" cy="237744"/>
          </a:xfrm>
          <a:prstGeom prst="rect">
            <a:avLst>
              <a:gd name="adj" fmla="val 30769"/>
            </a:avLst>
          </a:prstGeom>
          <a:solidFill>
            <a:srgbClr val="FCECF0"/>
          </a:solidFill>
          <a:ln w="12700">
            <a:solidFill>
              <a:srgbClr val="FCECF0"/>
            </a:solidFill>
            <a:prstDash val="solid"/>
          </a:ln>
        </p:spPr>
      </p:sp>
      <p:sp>
        <p:nvSpPr>
          <p:cNvPr id="25" name="Text 23"/>
          <p:cNvSpPr/>
          <p:nvPr/>
        </p:nvSpPr>
        <p:spPr>
          <a:xfrm>
            <a:off x="6446520" y="2308860"/>
            <a:ext cx="290779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INDEPENDENT ORIGINAL TEST</a:t>
            </a:r>
            <a:endParaRPr lang="en-US" sz="1050" dirty="0"/>
          </a:p>
        </p:txBody>
      </p:sp>
      <p:sp>
        <p:nvSpPr>
          <p:cNvPr id="26" name="Text 24"/>
          <p:cNvSpPr/>
          <p:nvPr/>
        </p:nvSpPr>
        <p:spPr>
          <a:xfrm>
            <a:off x="6373368" y="2734056"/>
            <a:ext cx="5056632" cy="384048"/>
          </a:xfrm>
          <a:prstGeom prst="rect">
            <a:avLst/>
          </a:prstGeom>
          <a:noFill/>
          <a:ln/>
        </p:spPr>
        <p:txBody>
          <a:bodyPr wrap="square" lIns="0" tIns="0" rIns="0" bIns="0" rtlCol="0" anchor="ctr"/>
          <a:lstStyle/>
          <a:p>
            <a:pPr indent="0" marL="0">
              <a:buNone/>
            </a:pPr>
            <a:r>
              <a:rPr lang="en-US" sz="2000" b="1" dirty="0">
                <a:solidFill>
                  <a:srgbClr val="18191D"/>
                </a:solidFill>
                <a:latin typeface="Arial" pitchFamily="34" charset="0"/>
                <a:ea typeface="Arial" pitchFamily="34" charset="-122"/>
                <a:cs typeface="Arial" pitchFamily="34" charset="-120"/>
              </a:rPr>
              <a:t>StorageReview • RTX PRO 6000 WS</a:t>
            </a:r>
            <a:endParaRPr lang="en-US" sz="2000" dirty="0"/>
          </a:p>
        </p:txBody>
      </p:sp>
      <p:sp>
        <p:nvSpPr>
          <p:cNvPr id="27" name="Text 25"/>
          <p:cNvSpPr/>
          <p:nvPr/>
        </p:nvSpPr>
        <p:spPr>
          <a:xfrm>
            <a:off x="6373368" y="3246120"/>
            <a:ext cx="2505456" cy="566928"/>
          </a:xfrm>
          <a:prstGeom prst="rect">
            <a:avLst/>
          </a:prstGeom>
          <a:noFill/>
          <a:ln/>
        </p:spPr>
        <p:txBody>
          <a:bodyPr wrap="square" lIns="0" tIns="0" rIns="0" bIns="0" rtlCol="0" anchor="ctr"/>
          <a:lstStyle/>
          <a:p>
            <a:pPr indent="0" marL="0">
              <a:buNone/>
            </a:pPr>
            <a:r>
              <a:rPr lang="en-US" sz="3600" b="1" dirty="0">
                <a:solidFill>
                  <a:srgbClr val="E31837"/>
                </a:solidFill>
                <a:latin typeface="Arial" pitchFamily="34" charset="0"/>
                <a:ea typeface="Arial" pitchFamily="34" charset="-122"/>
                <a:cs typeface="Arial" pitchFamily="34" charset="-120"/>
              </a:rPr>
              <a:t>197.07</a:t>
            </a:r>
            <a:endParaRPr lang="en-US" sz="3600" dirty="0"/>
          </a:p>
        </p:txBody>
      </p:sp>
      <p:sp>
        <p:nvSpPr>
          <p:cNvPr id="28" name="Text 26"/>
          <p:cNvSpPr/>
          <p:nvPr/>
        </p:nvSpPr>
        <p:spPr>
          <a:xfrm>
            <a:off x="6373368" y="3813048"/>
            <a:ext cx="2377440" cy="292608"/>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output tok/s</a:t>
            </a:r>
            <a:endParaRPr lang="en-US" sz="1600" dirty="0"/>
          </a:p>
        </p:txBody>
      </p:sp>
      <p:sp>
        <p:nvSpPr>
          <p:cNvPr id="29" name="Text 27"/>
          <p:cNvSpPr/>
          <p:nvPr/>
        </p:nvSpPr>
        <p:spPr>
          <a:xfrm>
            <a:off x="9089136" y="3246120"/>
            <a:ext cx="2286000" cy="566928"/>
          </a:xfrm>
          <a:prstGeom prst="rect">
            <a:avLst/>
          </a:prstGeom>
          <a:noFill/>
          <a:ln/>
        </p:spPr>
        <p:txBody>
          <a:bodyPr wrap="square" lIns="0" tIns="0" rIns="0" bIns="0" rtlCol="0" anchor="ctr"/>
          <a:lstStyle/>
          <a:p>
            <a:pPr indent="0" marL="0">
              <a:buNone/>
            </a:pPr>
            <a:r>
              <a:rPr lang="en-US" sz="3400" b="1" dirty="0">
                <a:solidFill>
                  <a:srgbClr val="E31837"/>
                </a:solidFill>
                <a:latin typeface="Arial" pitchFamily="34" charset="0"/>
                <a:ea typeface="Arial" pitchFamily="34" charset="-122"/>
                <a:cs typeface="Arial" pitchFamily="34" charset="-120"/>
              </a:rPr>
              <a:t>0.062 s</a:t>
            </a:r>
            <a:endParaRPr lang="en-US" sz="3400" dirty="0"/>
          </a:p>
        </p:txBody>
      </p:sp>
      <p:sp>
        <p:nvSpPr>
          <p:cNvPr id="30" name="Text 28"/>
          <p:cNvSpPr/>
          <p:nvPr/>
        </p:nvSpPr>
        <p:spPr>
          <a:xfrm>
            <a:off x="9089136" y="3813048"/>
            <a:ext cx="2377440" cy="292608"/>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reported TTFT</a:t>
            </a:r>
            <a:endParaRPr lang="en-US" sz="1600" dirty="0"/>
          </a:p>
        </p:txBody>
      </p:sp>
      <p:sp>
        <p:nvSpPr>
          <p:cNvPr id="31" name="Text 29"/>
          <p:cNvSpPr/>
          <p:nvPr/>
        </p:nvSpPr>
        <p:spPr>
          <a:xfrm>
            <a:off x="6373368" y="4389120"/>
            <a:ext cx="5020056" cy="585216"/>
          </a:xfrm>
          <a:prstGeom prst="rect">
            <a:avLst/>
          </a:prstGeom>
          <a:noFill/>
          <a:ln/>
        </p:spPr>
        <p:txBody>
          <a:bodyPr wrap="square" lIns="0" tIns="0" rIns="0" bIns="0" rtlCol="0" anchor="ctr"/>
          <a:lstStyle/>
          <a:p>
            <a:pPr indent="0" marL="0">
              <a:buNone/>
            </a:pPr>
            <a:r>
              <a:rPr lang="en-US" sz="1700" dirty="0">
                <a:solidFill>
                  <a:srgbClr val="18191D"/>
                </a:solidFill>
                <a:latin typeface="Arial" pitchFamily="34" charset="0"/>
                <a:ea typeface="Arial" pitchFamily="34" charset="-122"/>
                <a:cs typeface="Arial" pitchFamily="34" charset="-120"/>
              </a:rPr>
              <a:t>LM Studio • Llama 3.1 8B Instruct</a:t>
            </a:r>
            <a:endParaRPr lang="en-US" sz="1700" dirty="0"/>
          </a:p>
          <a:p>
            <a:pPr indent="0" marL="0">
              <a:buNone/>
            </a:pPr>
            <a:r>
              <a:rPr lang="en-US" sz="1700" dirty="0">
                <a:solidFill>
                  <a:srgbClr val="18191D"/>
                </a:solidFill>
                <a:latin typeface="Arial" pitchFamily="34" charset="0"/>
                <a:ea typeface="Arial" pitchFamily="34" charset="-122"/>
                <a:cs typeface="Arial" pitchFamily="34" charset="-120"/>
              </a:rPr>
              <a:t>49 prompt / 822 generated tokens.</a:t>
            </a:r>
            <a:endParaRPr lang="en-US" sz="1700" dirty="0"/>
          </a:p>
        </p:txBody>
      </p:sp>
      <p:sp>
        <p:nvSpPr>
          <p:cNvPr id="32" name="Text 30"/>
          <p:cNvSpPr/>
          <p:nvPr/>
        </p:nvSpPr>
        <p:spPr>
          <a:xfrm>
            <a:off x="557784" y="5504688"/>
            <a:ext cx="10972800" cy="338328"/>
          </a:xfrm>
          <a:prstGeom prst="rect">
            <a:avLst/>
          </a:prstGeom>
          <a:noFill/>
          <a:ln/>
        </p:spPr>
        <p:txBody>
          <a:bodyPr wrap="square" lIns="0" tIns="0" rIns="0" bIns="0" rtlCol="0" anchor="ctr"/>
          <a:lstStyle/>
          <a:p>
            <a:pPr indent="0" marL="0">
              <a:buNone/>
            </a:pPr>
            <a:r>
              <a:rPr lang="en-US" sz="1500" dirty="0">
                <a:solidFill>
                  <a:srgbClr val="5B6169"/>
                </a:solidFill>
                <a:latin typeface="Arial" pitchFamily="34" charset="0"/>
                <a:ea typeface="Arial" pitchFamily="34" charset="-122"/>
                <a:cs typeface="Arial" pitchFamily="34" charset="-120"/>
              </a:rPr>
              <a:t>DGX Station: public hardware and customer use are documented; no matched G1 LLM result is established here.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RETRIEVAL HEATMAP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Retrieval and reranking: a focused ATMOS entry point.</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R1 and G1 are separate service profiles. Full RAG latency and mixed-load capacity require their own test.</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Sell richer accepted evidence or lower service cost—not more bytes for a workload already served cheaply.</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§5–6,17</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M13</a:t>
            </a:r>
            <a:endParaRPr lang="en-US" sz="920" dirty="0"/>
          </a:p>
        </p:txBody>
      </p:sp>
      <p:sp>
        <p:nvSpPr>
          <p:cNvPr id="14" name="Shape 12"/>
          <p:cNvSpPr/>
          <p:nvPr/>
        </p:nvSpPr>
        <p:spPr>
          <a:xfrm>
            <a:off x="502920" y="2112264"/>
            <a:ext cx="3383280"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76272"/>
            <a:ext cx="3200400"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R1 qualification target</a:t>
            </a:r>
            <a:endParaRPr lang="en-US" sz="1250" dirty="0"/>
          </a:p>
        </p:txBody>
      </p:sp>
      <p:sp>
        <p:nvSpPr>
          <p:cNvPr id="16" name="Shape 14"/>
          <p:cNvSpPr/>
          <p:nvPr/>
        </p:nvSpPr>
        <p:spPr>
          <a:xfrm>
            <a:off x="3886200" y="2112264"/>
            <a:ext cx="1947672"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3977640" y="2176272"/>
            <a:ext cx="1764792"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W4</a:t>
            </a:r>
            <a:endParaRPr lang="en-US" sz="1250" dirty="0"/>
          </a:p>
        </p:txBody>
      </p:sp>
      <p:sp>
        <p:nvSpPr>
          <p:cNvPr id="18" name="Shape 16"/>
          <p:cNvSpPr/>
          <p:nvPr/>
        </p:nvSpPr>
        <p:spPr>
          <a:xfrm>
            <a:off x="5833872" y="2112264"/>
            <a:ext cx="1947672"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5925312" y="2176272"/>
            <a:ext cx="1764792"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D8 / E8</a:t>
            </a:r>
            <a:endParaRPr lang="en-US" sz="1250" dirty="0"/>
          </a:p>
        </p:txBody>
      </p:sp>
      <p:sp>
        <p:nvSpPr>
          <p:cNvPr id="20" name="Shape 18"/>
          <p:cNvSpPr/>
          <p:nvPr/>
        </p:nvSpPr>
        <p:spPr>
          <a:xfrm>
            <a:off x="7781544" y="2112264"/>
            <a:ext cx="1947672"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7872984" y="2176272"/>
            <a:ext cx="1764792"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E16</a:t>
            </a:r>
            <a:endParaRPr lang="en-US" sz="1250" dirty="0"/>
          </a:p>
        </p:txBody>
      </p:sp>
      <p:sp>
        <p:nvSpPr>
          <p:cNvPr id="22" name="Shape 20"/>
          <p:cNvSpPr/>
          <p:nvPr/>
        </p:nvSpPr>
        <p:spPr>
          <a:xfrm>
            <a:off x="9729216" y="2112264"/>
            <a:ext cx="1956816" cy="438912"/>
          </a:xfrm>
          <a:prstGeom prst="rect">
            <a:avLst>
              <a:gd name="adj" fmla="val 16667"/>
            </a:avLst>
          </a:prstGeom>
          <a:solidFill>
            <a:srgbClr val="18191D"/>
          </a:solidFill>
          <a:ln w="12700">
            <a:solidFill>
              <a:srgbClr val="18191D"/>
            </a:solidFill>
            <a:prstDash val="solid"/>
          </a:ln>
        </p:spPr>
      </p:sp>
      <p:sp>
        <p:nvSpPr>
          <p:cNvPr id="23" name="Text 21"/>
          <p:cNvSpPr/>
          <p:nvPr/>
        </p:nvSpPr>
        <p:spPr>
          <a:xfrm>
            <a:off x="9820656" y="2176272"/>
            <a:ext cx="1773936"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E24</a:t>
            </a:r>
            <a:endParaRPr lang="en-US" sz="1250" dirty="0"/>
          </a:p>
        </p:txBody>
      </p:sp>
      <p:sp>
        <p:nvSpPr>
          <p:cNvPr id="24" name="Shape 22"/>
          <p:cNvSpPr/>
          <p:nvPr/>
        </p:nvSpPr>
        <p:spPr>
          <a:xfrm>
            <a:off x="502920" y="2551176"/>
            <a:ext cx="3383280" cy="438912"/>
          </a:xfrm>
          <a:prstGeom prst="rect">
            <a:avLst>
              <a:gd name="adj" fmla="val 16667"/>
            </a:avLst>
          </a:prstGeom>
          <a:solidFill>
            <a:srgbClr val="F3F4F6"/>
          </a:solidFill>
          <a:ln w="8890">
            <a:solidFill>
              <a:srgbClr val="FFFFFF"/>
            </a:solidFill>
            <a:prstDash val="solid"/>
          </a:ln>
        </p:spPr>
      </p:sp>
      <p:sp>
        <p:nvSpPr>
          <p:cNvPr id="25" name="Text 23"/>
          <p:cNvSpPr/>
          <p:nvPr/>
        </p:nvSpPr>
        <p:spPr>
          <a:xfrm>
            <a:off x="594360" y="2628900"/>
            <a:ext cx="3200400" cy="310896"/>
          </a:xfrm>
          <a:prstGeom prst="rect">
            <a:avLst/>
          </a:prstGeom>
          <a:noFill/>
          <a:ln/>
        </p:spPr>
        <p:txBody>
          <a:bodyPr wrap="square" lIns="0" tIns="0" rIns="0" bIns="0" rtlCol="0" anchor="ctr"/>
          <a:lstStyle/>
          <a:p>
            <a:pPr indent="0" marL="0">
              <a:buNone/>
            </a:pPr>
            <a:r>
              <a:rPr lang="en-US" sz="1450" b="1" dirty="0">
                <a:solidFill>
                  <a:srgbClr val="18191D"/>
                </a:solidFill>
                <a:latin typeface="Arial" pitchFamily="34" charset="0"/>
                <a:ea typeface="Arial" pitchFamily="34" charset="-122"/>
                <a:cs typeface="Arial" pitchFamily="34" charset="-120"/>
              </a:rPr>
              <a:t>Accepted queries/s</a:t>
            </a:r>
            <a:endParaRPr lang="en-US" sz="1450" dirty="0"/>
          </a:p>
        </p:txBody>
      </p:sp>
      <p:sp>
        <p:nvSpPr>
          <p:cNvPr id="26" name="Shape 24"/>
          <p:cNvSpPr/>
          <p:nvPr/>
        </p:nvSpPr>
        <p:spPr>
          <a:xfrm>
            <a:off x="3886200" y="2551176"/>
            <a:ext cx="1947672" cy="438912"/>
          </a:xfrm>
          <a:prstGeom prst="rect">
            <a:avLst>
              <a:gd name="adj" fmla="val 16667"/>
            </a:avLst>
          </a:prstGeom>
          <a:solidFill>
            <a:srgbClr val="FDF0F3"/>
          </a:solidFill>
          <a:ln w="8890">
            <a:solidFill>
              <a:srgbClr val="FFFFFF"/>
            </a:solidFill>
            <a:prstDash val="solid"/>
          </a:ln>
        </p:spPr>
      </p:sp>
      <p:sp>
        <p:nvSpPr>
          <p:cNvPr id="27" name="Text 25"/>
          <p:cNvSpPr/>
          <p:nvPr/>
        </p:nvSpPr>
        <p:spPr>
          <a:xfrm>
            <a:off x="3977640" y="2628900"/>
            <a:ext cx="1764792" cy="310896"/>
          </a:xfrm>
          <a:prstGeom prst="rect">
            <a:avLst/>
          </a:prstGeom>
          <a:noFill/>
          <a:ln/>
        </p:spPr>
        <p:txBody>
          <a:bodyPr wrap="square" lIns="0" tIns="0" rIns="0" bIns="0" rtlCol="0" anchor="ctr"/>
          <a:lstStyle/>
          <a:p>
            <a:pPr indent="0" marL="0">
              <a:buNone/>
            </a:pPr>
            <a:r>
              <a:rPr lang="en-US" sz="1450" b="1" dirty="0">
                <a:solidFill>
                  <a:srgbClr val="18191D"/>
                </a:solidFill>
                <a:latin typeface="Arial" pitchFamily="34" charset="0"/>
                <a:ea typeface="Arial" pitchFamily="34" charset="-122"/>
                <a:cs typeface="Arial" pitchFamily="34" charset="-120"/>
              </a:rPr>
              <a:t>≥5</a:t>
            </a:r>
            <a:endParaRPr lang="en-US" sz="1450" dirty="0"/>
          </a:p>
        </p:txBody>
      </p:sp>
      <p:sp>
        <p:nvSpPr>
          <p:cNvPr id="28" name="Shape 26"/>
          <p:cNvSpPr/>
          <p:nvPr/>
        </p:nvSpPr>
        <p:spPr>
          <a:xfrm>
            <a:off x="5833872" y="2551176"/>
            <a:ext cx="1947672" cy="438912"/>
          </a:xfrm>
          <a:prstGeom prst="rect">
            <a:avLst>
              <a:gd name="adj" fmla="val 16667"/>
            </a:avLst>
          </a:prstGeom>
          <a:solidFill>
            <a:srgbClr val="F8D4DB"/>
          </a:solidFill>
          <a:ln w="8890">
            <a:solidFill>
              <a:srgbClr val="FFFFFF"/>
            </a:solidFill>
            <a:prstDash val="solid"/>
          </a:ln>
        </p:spPr>
      </p:sp>
      <p:sp>
        <p:nvSpPr>
          <p:cNvPr id="29" name="Text 27"/>
          <p:cNvSpPr/>
          <p:nvPr/>
        </p:nvSpPr>
        <p:spPr>
          <a:xfrm>
            <a:off x="5925312" y="2628900"/>
            <a:ext cx="1764792" cy="310896"/>
          </a:xfrm>
          <a:prstGeom prst="rect">
            <a:avLst/>
          </a:prstGeom>
          <a:noFill/>
          <a:ln/>
        </p:spPr>
        <p:txBody>
          <a:bodyPr wrap="square" lIns="0" tIns="0" rIns="0" bIns="0" rtlCol="0" anchor="ctr"/>
          <a:lstStyle/>
          <a:p>
            <a:pPr indent="0" marL="0">
              <a:buNone/>
            </a:pPr>
            <a:r>
              <a:rPr lang="en-US" sz="1450" b="1" dirty="0">
                <a:solidFill>
                  <a:srgbClr val="18191D"/>
                </a:solidFill>
                <a:latin typeface="Arial" pitchFamily="34" charset="0"/>
                <a:ea typeface="Arial" pitchFamily="34" charset="-122"/>
                <a:cs typeface="Arial" pitchFamily="34" charset="-120"/>
              </a:rPr>
              <a:t>≥10</a:t>
            </a:r>
            <a:endParaRPr lang="en-US" sz="1450" dirty="0"/>
          </a:p>
        </p:txBody>
      </p:sp>
      <p:sp>
        <p:nvSpPr>
          <p:cNvPr id="30" name="Shape 28"/>
          <p:cNvSpPr/>
          <p:nvPr/>
        </p:nvSpPr>
        <p:spPr>
          <a:xfrm>
            <a:off x="7781544" y="2551176"/>
            <a:ext cx="1947672" cy="438912"/>
          </a:xfrm>
          <a:prstGeom prst="rect">
            <a:avLst>
              <a:gd name="adj" fmla="val 16667"/>
            </a:avLst>
          </a:prstGeom>
          <a:solidFill>
            <a:srgbClr val="DF4F6B"/>
          </a:solidFill>
          <a:ln w="8890">
            <a:solidFill>
              <a:srgbClr val="FFFFFF"/>
            </a:solidFill>
            <a:prstDash val="solid"/>
          </a:ln>
        </p:spPr>
      </p:sp>
      <p:sp>
        <p:nvSpPr>
          <p:cNvPr id="31" name="Text 29"/>
          <p:cNvSpPr/>
          <p:nvPr/>
        </p:nvSpPr>
        <p:spPr>
          <a:xfrm>
            <a:off x="7872984" y="2628900"/>
            <a:ext cx="1764792"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≥20</a:t>
            </a:r>
            <a:endParaRPr lang="en-US" sz="1450" dirty="0"/>
          </a:p>
        </p:txBody>
      </p:sp>
      <p:sp>
        <p:nvSpPr>
          <p:cNvPr id="32" name="Shape 30"/>
          <p:cNvSpPr/>
          <p:nvPr/>
        </p:nvSpPr>
        <p:spPr>
          <a:xfrm>
            <a:off x="9729216" y="2551176"/>
            <a:ext cx="1956816" cy="438912"/>
          </a:xfrm>
          <a:prstGeom prst="rect">
            <a:avLst>
              <a:gd name="adj" fmla="val 16667"/>
            </a:avLst>
          </a:prstGeom>
          <a:solidFill>
            <a:srgbClr val="B91839"/>
          </a:solidFill>
          <a:ln w="8890">
            <a:solidFill>
              <a:srgbClr val="FFFFFF"/>
            </a:solidFill>
            <a:prstDash val="solid"/>
          </a:ln>
        </p:spPr>
      </p:sp>
      <p:sp>
        <p:nvSpPr>
          <p:cNvPr id="33" name="Text 31"/>
          <p:cNvSpPr/>
          <p:nvPr/>
        </p:nvSpPr>
        <p:spPr>
          <a:xfrm>
            <a:off x="9820656" y="2628900"/>
            <a:ext cx="1773936" cy="31089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≥30</a:t>
            </a:r>
            <a:endParaRPr lang="en-US" sz="1450" dirty="0"/>
          </a:p>
        </p:txBody>
      </p:sp>
      <p:sp>
        <p:nvSpPr>
          <p:cNvPr id="34" name="Shape 32"/>
          <p:cNvSpPr/>
          <p:nvPr/>
        </p:nvSpPr>
        <p:spPr>
          <a:xfrm>
            <a:off x="502920" y="2990088"/>
            <a:ext cx="3383280" cy="438912"/>
          </a:xfrm>
          <a:prstGeom prst="rect">
            <a:avLst>
              <a:gd name="adj" fmla="val 16667"/>
            </a:avLst>
          </a:prstGeom>
          <a:solidFill>
            <a:srgbClr val="FFFFFF"/>
          </a:solidFill>
          <a:ln w="8890">
            <a:solidFill>
              <a:srgbClr val="FFFFFF"/>
            </a:solidFill>
            <a:prstDash val="solid"/>
          </a:ln>
        </p:spPr>
      </p:sp>
      <p:sp>
        <p:nvSpPr>
          <p:cNvPr id="35" name="Text 33"/>
          <p:cNvSpPr/>
          <p:nvPr/>
        </p:nvSpPr>
        <p:spPr>
          <a:xfrm>
            <a:off x="594360" y="3067812"/>
            <a:ext cx="3200400" cy="310896"/>
          </a:xfrm>
          <a:prstGeom prst="rect">
            <a:avLst/>
          </a:prstGeom>
          <a:noFill/>
          <a:ln/>
        </p:spPr>
        <p:txBody>
          <a:bodyPr wrap="square" lIns="0" tIns="0" rIns="0" bIns="0" rtlCol="0" anchor="ctr"/>
          <a:lstStyle/>
          <a:p>
            <a:pPr indent="0" marL="0">
              <a:buNone/>
            </a:pPr>
            <a:r>
              <a:rPr lang="en-US" sz="1450" b="1" dirty="0">
                <a:solidFill>
                  <a:srgbClr val="18191D"/>
                </a:solidFill>
                <a:latin typeface="Arial" pitchFamily="34" charset="0"/>
                <a:ea typeface="Arial" pitchFamily="34" charset="-122"/>
                <a:cs typeface="Arial" pitchFamily="34" charset="-120"/>
              </a:rPr>
              <a:t>p95 / p99 retrieval + rerank</a:t>
            </a:r>
            <a:endParaRPr lang="en-US" sz="1450" dirty="0"/>
          </a:p>
        </p:txBody>
      </p:sp>
      <p:sp>
        <p:nvSpPr>
          <p:cNvPr id="36" name="Shape 34"/>
          <p:cNvSpPr/>
          <p:nvPr/>
        </p:nvSpPr>
        <p:spPr>
          <a:xfrm>
            <a:off x="3886200" y="2990088"/>
            <a:ext cx="1947672" cy="438912"/>
          </a:xfrm>
          <a:prstGeom prst="rect">
            <a:avLst>
              <a:gd name="adj" fmla="val 16667"/>
            </a:avLst>
          </a:prstGeom>
          <a:solidFill>
            <a:srgbClr val="FFFFFF"/>
          </a:solidFill>
          <a:ln w="8890">
            <a:solidFill>
              <a:srgbClr val="FFFFFF"/>
            </a:solidFill>
            <a:prstDash val="solid"/>
          </a:ln>
        </p:spPr>
      </p:sp>
      <p:sp>
        <p:nvSpPr>
          <p:cNvPr id="37" name="Text 35"/>
          <p:cNvSpPr/>
          <p:nvPr/>
        </p:nvSpPr>
        <p:spPr>
          <a:xfrm>
            <a:off x="3977640" y="3067812"/>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≤0.5 / 1 s</a:t>
            </a:r>
            <a:endParaRPr lang="en-US" sz="1450" dirty="0"/>
          </a:p>
        </p:txBody>
      </p:sp>
      <p:sp>
        <p:nvSpPr>
          <p:cNvPr id="38" name="Shape 36"/>
          <p:cNvSpPr/>
          <p:nvPr/>
        </p:nvSpPr>
        <p:spPr>
          <a:xfrm>
            <a:off x="5833872" y="2990088"/>
            <a:ext cx="1947672" cy="438912"/>
          </a:xfrm>
          <a:prstGeom prst="rect">
            <a:avLst>
              <a:gd name="adj" fmla="val 16667"/>
            </a:avLst>
          </a:prstGeom>
          <a:solidFill>
            <a:srgbClr val="FFFFFF"/>
          </a:solidFill>
          <a:ln w="8890">
            <a:solidFill>
              <a:srgbClr val="FFFFFF"/>
            </a:solidFill>
            <a:prstDash val="solid"/>
          </a:ln>
        </p:spPr>
      </p:sp>
      <p:sp>
        <p:nvSpPr>
          <p:cNvPr id="39" name="Text 37"/>
          <p:cNvSpPr/>
          <p:nvPr/>
        </p:nvSpPr>
        <p:spPr>
          <a:xfrm>
            <a:off x="5925312" y="3067812"/>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≤0.5 / 1 s</a:t>
            </a:r>
            <a:endParaRPr lang="en-US" sz="1450" dirty="0"/>
          </a:p>
        </p:txBody>
      </p:sp>
      <p:sp>
        <p:nvSpPr>
          <p:cNvPr id="40" name="Shape 38"/>
          <p:cNvSpPr/>
          <p:nvPr/>
        </p:nvSpPr>
        <p:spPr>
          <a:xfrm>
            <a:off x="7781544" y="2990088"/>
            <a:ext cx="1947672" cy="438912"/>
          </a:xfrm>
          <a:prstGeom prst="rect">
            <a:avLst>
              <a:gd name="adj" fmla="val 16667"/>
            </a:avLst>
          </a:prstGeom>
          <a:solidFill>
            <a:srgbClr val="FFFFFF"/>
          </a:solidFill>
          <a:ln w="8890">
            <a:solidFill>
              <a:srgbClr val="FFFFFF"/>
            </a:solidFill>
            <a:prstDash val="solid"/>
          </a:ln>
        </p:spPr>
      </p:sp>
      <p:sp>
        <p:nvSpPr>
          <p:cNvPr id="41" name="Text 39"/>
          <p:cNvSpPr/>
          <p:nvPr/>
        </p:nvSpPr>
        <p:spPr>
          <a:xfrm>
            <a:off x="7872984" y="3067812"/>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≤0.5 / 1 s</a:t>
            </a:r>
            <a:endParaRPr lang="en-US" sz="1450" dirty="0"/>
          </a:p>
        </p:txBody>
      </p:sp>
      <p:sp>
        <p:nvSpPr>
          <p:cNvPr id="42" name="Shape 40"/>
          <p:cNvSpPr/>
          <p:nvPr/>
        </p:nvSpPr>
        <p:spPr>
          <a:xfrm>
            <a:off x="9729216" y="2990088"/>
            <a:ext cx="1956816" cy="438912"/>
          </a:xfrm>
          <a:prstGeom prst="rect">
            <a:avLst>
              <a:gd name="adj" fmla="val 16667"/>
            </a:avLst>
          </a:prstGeom>
          <a:solidFill>
            <a:srgbClr val="FFFFFF"/>
          </a:solidFill>
          <a:ln w="8890">
            <a:solidFill>
              <a:srgbClr val="FFFFFF"/>
            </a:solidFill>
            <a:prstDash val="solid"/>
          </a:ln>
        </p:spPr>
      </p:sp>
      <p:sp>
        <p:nvSpPr>
          <p:cNvPr id="43" name="Text 41"/>
          <p:cNvSpPr/>
          <p:nvPr/>
        </p:nvSpPr>
        <p:spPr>
          <a:xfrm>
            <a:off x="9820656" y="3067812"/>
            <a:ext cx="1773936"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≤0.5 / 1 s</a:t>
            </a:r>
            <a:endParaRPr lang="en-US" sz="1450" dirty="0"/>
          </a:p>
        </p:txBody>
      </p:sp>
      <p:sp>
        <p:nvSpPr>
          <p:cNvPr id="44" name="Shape 42"/>
          <p:cNvSpPr/>
          <p:nvPr/>
        </p:nvSpPr>
        <p:spPr>
          <a:xfrm>
            <a:off x="502920" y="3429000"/>
            <a:ext cx="3383280" cy="438912"/>
          </a:xfrm>
          <a:prstGeom prst="rect">
            <a:avLst>
              <a:gd name="adj" fmla="val 16667"/>
            </a:avLst>
          </a:prstGeom>
          <a:solidFill>
            <a:srgbClr val="F3F4F6"/>
          </a:solidFill>
          <a:ln w="8890">
            <a:solidFill>
              <a:srgbClr val="FFFFFF"/>
            </a:solidFill>
            <a:prstDash val="solid"/>
          </a:ln>
        </p:spPr>
      </p:sp>
      <p:sp>
        <p:nvSpPr>
          <p:cNvPr id="45" name="Text 43"/>
          <p:cNvSpPr/>
          <p:nvPr/>
        </p:nvSpPr>
        <p:spPr>
          <a:xfrm>
            <a:off x="594360" y="3506724"/>
            <a:ext cx="3200400" cy="310896"/>
          </a:xfrm>
          <a:prstGeom prst="rect">
            <a:avLst/>
          </a:prstGeom>
          <a:noFill/>
          <a:ln/>
        </p:spPr>
        <p:txBody>
          <a:bodyPr wrap="square" lIns="0" tIns="0" rIns="0" bIns="0" rtlCol="0" anchor="ctr"/>
          <a:lstStyle/>
          <a:p>
            <a:pPr indent="0" marL="0">
              <a:buNone/>
            </a:pPr>
            <a:r>
              <a:rPr lang="en-US" sz="1450" b="1" dirty="0">
                <a:solidFill>
                  <a:srgbClr val="18191D"/>
                </a:solidFill>
                <a:latin typeface="Arial" pitchFamily="34" charset="0"/>
                <a:ea typeface="Arial" pitchFamily="34" charset="-122"/>
                <a:cs typeface="Arial" pitchFamily="34" charset="-120"/>
              </a:rPr>
              <a:t>Evidence status</a:t>
            </a:r>
            <a:endParaRPr lang="en-US" sz="1450" dirty="0"/>
          </a:p>
        </p:txBody>
      </p:sp>
      <p:sp>
        <p:nvSpPr>
          <p:cNvPr id="46" name="Shape 44"/>
          <p:cNvSpPr/>
          <p:nvPr/>
        </p:nvSpPr>
        <p:spPr>
          <a:xfrm>
            <a:off x="3886200" y="3429000"/>
            <a:ext cx="1947672" cy="438912"/>
          </a:xfrm>
          <a:prstGeom prst="rect">
            <a:avLst>
              <a:gd name="adj" fmla="val 16667"/>
            </a:avLst>
          </a:prstGeom>
          <a:solidFill>
            <a:srgbClr val="F3F4F6"/>
          </a:solidFill>
          <a:ln w="8890">
            <a:solidFill>
              <a:srgbClr val="FFFFFF"/>
            </a:solidFill>
            <a:prstDash val="solid"/>
          </a:ln>
        </p:spPr>
      </p:sp>
      <p:sp>
        <p:nvSpPr>
          <p:cNvPr id="47" name="Text 45"/>
          <p:cNvSpPr/>
          <p:nvPr/>
        </p:nvSpPr>
        <p:spPr>
          <a:xfrm>
            <a:off x="3977640" y="3506724"/>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Target only</a:t>
            </a:r>
            <a:endParaRPr lang="en-US" sz="1450" dirty="0"/>
          </a:p>
        </p:txBody>
      </p:sp>
      <p:sp>
        <p:nvSpPr>
          <p:cNvPr id="48" name="Shape 46"/>
          <p:cNvSpPr/>
          <p:nvPr/>
        </p:nvSpPr>
        <p:spPr>
          <a:xfrm>
            <a:off x="5833872" y="3429000"/>
            <a:ext cx="1947672" cy="438912"/>
          </a:xfrm>
          <a:prstGeom prst="rect">
            <a:avLst>
              <a:gd name="adj" fmla="val 16667"/>
            </a:avLst>
          </a:prstGeom>
          <a:solidFill>
            <a:srgbClr val="F3F4F6"/>
          </a:solidFill>
          <a:ln w="8890">
            <a:solidFill>
              <a:srgbClr val="FFFFFF"/>
            </a:solidFill>
            <a:prstDash val="solid"/>
          </a:ln>
        </p:spPr>
      </p:sp>
      <p:sp>
        <p:nvSpPr>
          <p:cNvPr id="49" name="Text 47"/>
          <p:cNvSpPr/>
          <p:nvPr/>
        </p:nvSpPr>
        <p:spPr>
          <a:xfrm>
            <a:off x="5925312" y="3506724"/>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Target only</a:t>
            </a:r>
            <a:endParaRPr lang="en-US" sz="1450" dirty="0"/>
          </a:p>
        </p:txBody>
      </p:sp>
      <p:sp>
        <p:nvSpPr>
          <p:cNvPr id="50" name="Shape 48"/>
          <p:cNvSpPr/>
          <p:nvPr/>
        </p:nvSpPr>
        <p:spPr>
          <a:xfrm>
            <a:off x="7781544" y="3429000"/>
            <a:ext cx="1947672" cy="438912"/>
          </a:xfrm>
          <a:prstGeom prst="rect">
            <a:avLst>
              <a:gd name="adj" fmla="val 16667"/>
            </a:avLst>
          </a:prstGeom>
          <a:solidFill>
            <a:srgbClr val="F3F4F6"/>
          </a:solidFill>
          <a:ln w="8890">
            <a:solidFill>
              <a:srgbClr val="FFFFFF"/>
            </a:solidFill>
            <a:prstDash val="solid"/>
          </a:ln>
        </p:spPr>
      </p:sp>
      <p:sp>
        <p:nvSpPr>
          <p:cNvPr id="51" name="Text 49"/>
          <p:cNvSpPr/>
          <p:nvPr/>
        </p:nvSpPr>
        <p:spPr>
          <a:xfrm>
            <a:off x="7872984" y="3506724"/>
            <a:ext cx="1764792"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Target only</a:t>
            </a:r>
            <a:endParaRPr lang="en-US" sz="1450" dirty="0"/>
          </a:p>
        </p:txBody>
      </p:sp>
      <p:sp>
        <p:nvSpPr>
          <p:cNvPr id="52" name="Shape 50"/>
          <p:cNvSpPr/>
          <p:nvPr/>
        </p:nvSpPr>
        <p:spPr>
          <a:xfrm>
            <a:off x="9729216" y="3429000"/>
            <a:ext cx="1956816" cy="438912"/>
          </a:xfrm>
          <a:prstGeom prst="rect">
            <a:avLst>
              <a:gd name="adj" fmla="val 16667"/>
            </a:avLst>
          </a:prstGeom>
          <a:solidFill>
            <a:srgbClr val="F3F4F6"/>
          </a:solidFill>
          <a:ln w="8890">
            <a:solidFill>
              <a:srgbClr val="FFFFFF"/>
            </a:solidFill>
            <a:prstDash val="solid"/>
          </a:ln>
        </p:spPr>
      </p:sp>
      <p:sp>
        <p:nvSpPr>
          <p:cNvPr id="53" name="Text 51"/>
          <p:cNvSpPr/>
          <p:nvPr/>
        </p:nvSpPr>
        <p:spPr>
          <a:xfrm>
            <a:off x="9820656" y="3506724"/>
            <a:ext cx="1773936" cy="310896"/>
          </a:xfrm>
          <a:prstGeom prst="rect">
            <a:avLst/>
          </a:prstGeom>
          <a:noFill/>
          <a:ln/>
        </p:spPr>
        <p:txBody>
          <a:bodyPr wrap="square" lIns="0" tIns="0" rIns="0" bIns="0" rtlCol="0" anchor="ctr"/>
          <a:lstStyle/>
          <a:p>
            <a:pPr indent="0" marL="0">
              <a:buNone/>
            </a:pPr>
            <a:r>
              <a:rPr lang="en-US" sz="1450" dirty="0">
                <a:solidFill>
                  <a:srgbClr val="18191D"/>
                </a:solidFill>
                <a:latin typeface="Arial" pitchFamily="34" charset="0"/>
                <a:ea typeface="Arial" pitchFamily="34" charset="-122"/>
                <a:cs typeface="Arial" pitchFamily="34" charset="-120"/>
              </a:rPr>
              <a:t>Stretch target</a:t>
            </a:r>
            <a:endParaRPr lang="en-US" sz="1450" dirty="0"/>
          </a:p>
        </p:txBody>
      </p:sp>
      <p:sp>
        <p:nvSpPr>
          <p:cNvPr id="54" name="Text 52"/>
          <p:cNvSpPr/>
          <p:nvPr/>
        </p:nvSpPr>
        <p:spPr>
          <a:xfrm>
            <a:off x="548640" y="3995928"/>
            <a:ext cx="11055096" cy="411480"/>
          </a:xfrm>
          <a:prstGeom prst="rect">
            <a:avLst/>
          </a:prstGeom>
          <a:noFill/>
          <a:ln/>
        </p:spPr>
        <p:txBody>
          <a:bodyPr wrap="square" lIns="0" tIns="0" rIns="0" bIns="0" rtlCol="0" anchor="ctr"/>
          <a:lstStyle/>
          <a:p>
            <a:pPr indent="0" marL="0">
              <a:buNone/>
            </a:pPr>
            <a:r>
              <a:rPr lang="en-US" sz="1420" dirty="0">
                <a:solidFill>
                  <a:srgbClr val="5B6169"/>
                </a:solidFill>
                <a:latin typeface="Arial" pitchFamily="34" charset="0"/>
                <a:ea typeface="Arial" pitchFamily="34" charset="-122"/>
                <a:cs typeface="Arial" pitchFamily="34" charset="-120"/>
              </a:rPr>
              <a:t>Frozen R1: 1M × 512-token chunks; 128-token query; CPU shortlist; ≤100 rerank candidates, each ≤384 tokens.</a:t>
            </a:r>
            <a:endParaRPr lang="en-US" sz="1420" dirty="0"/>
          </a:p>
        </p:txBody>
      </p:sp>
      <p:sp>
        <p:nvSpPr>
          <p:cNvPr id="55" name="Shape 53"/>
          <p:cNvSpPr/>
          <p:nvPr/>
        </p:nvSpPr>
        <p:spPr>
          <a:xfrm>
            <a:off x="502920" y="4572000"/>
            <a:ext cx="5477256" cy="1097280"/>
          </a:xfrm>
          <a:prstGeom prst="rect">
            <a:avLst>
              <a:gd name="adj" fmla="val 6667"/>
            </a:avLst>
          </a:prstGeom>
          <a:solidFill>
            <a:srgbClr val="F3F4F6"/>
          </a:solidFill>
          <a:ln w="12700">
            <a:solidFill>
              <a:srgbClr val="F3F4F6"/>
            </a:solidFill>
            <a:prstDash val="solid"/>
          </a:ln>
        </p:spPr>
      </p:sp>
      <p:sp>
        <p:nvSpPr>
          <p:cNvPr id="56" name="Text 54"/>
          <p:cNvSpPr/>
          <p:nvPr/>
        </p:nvSpPr>
        <p:spPr>
          <a:xfrm>
            <a:off x="694944" y="4736592"/>
            <a:ext cx="2331720" cy="374904"/>
          </a:xfrm>
          <a:prstGeom prst="rect">
            <a:avLst/>
          </a:prstGeom>
          <a:noFill/>
          <a:ln/>
        </p:spPr>
        <p:txBody>
          <a:bodyPr wrap="square" lIns="0" tIns="0" rIns="0" bIns="0" rtlCol="0" anchor="ctr"/>
          <a:lstStyle/>
          <a:p>
            <a:pPr indent="0" marL="0">
              <a:buNone/>
            </a:pPr>
            <a:r>
              <a:rPr lang="en-US" sz="2700" b="1" dirty="0">
                <a:solidFill>
                  <a:srgbClr val="18191D"/>
                </a:solidFill>
                <a:latin typeface="Arial" pitchFamily="34" charset="0"/>
                <a:ea typeface="Arial" pitchFamily="34" charset="-122"/>
                <a:cs typeface="Arial" pitchFamily="34" charset="-120"/>
              </a:rPr>
              <a:t>10.24 GB</a:t>
            </a:r>
            <a:endParaRPr lang="en-US" sz="2700" dirty="0"/>
          </a:p>
        </p:txBody>
      </p:sp>
      <p:sp>
        <p:nvSpPr>
          <p:cNvPr id="57" name="Text 55"/>
          <p:cNvSpPr/>
          <p:nvPr/>
        </p:nvSpPr>
        <p:spPr>
          <a:xfrm>
            <a:off x="2834640" y="4745736"/>
            <a:ext cx="2798064" cy="594360"/>
          </a:xfrm>
          <a:prstGeom prst="rect">
            <a:avLst/>
          </a:prstGeom>
          <a:noFill/>
          <a:ln/>
        </p:spPr>
        <p:txBody>
          <a:bodyPr wrap="square" lIns="0" tIns="0" rIns="0" bIns="0" rtlCol="0" anchor="ctr"/>
          <a:lstStyle/>
          <a:p>
            <a:pPr indent="0" marL="0">
              <a:buNone/>
            </a:pPr>
            <a:r>
              <a:rPr lang="en-US" sz="1500" dirty="0">
                <a:solidFill>
                  <a:srgbClr val="5B6169"/>
                </a:solidFill>
                <a:latin typeface="Arial" pitchFamily="34" charset="0"/>
                <a:ea typeface="Arial" pitchFamily="34" charset="-122"/>
                <a:cs typeface="Arial" pitchFamily="34" charset="-120"/>
              </a:rPr>
              <a:t>5M chunks × one</a:t>
            </a:r>
            <a:endParaRPr lang="en-US" sz="1500" dirty="0"/>
          </a:p>
          <a:p>
            <a:pPr indent="0" marL="0">
              <a:buNone/>
            </a:pPr>
            <a:r>
              <a:rPr lang="en-US" sz="1500" dirty="0">
                <a:solidFill>
                  <a:srgbClr val="5B6169"/>
                </a:solidFill>
                <a:latin typeface="Arial" pitchFamily="34" charset="0"/>
                <a:ea typeface="Arial" pitchFamily="34" charset="-122"/>
                <a:cs typeface="Arial" pitchFamily="34" charset="-120"/>
              </a:rPr>
              <a:t>1,024-d FP16 vector</a:t>
            </a:r>
            <a:endParaRPr lang="en-US" sz="1500" dirty="0"/>
          </a:p>
        </p:txBody>
      </p:sp>
      <p:sp>
        <p:nvSpPr>
          <p:cNvPr id="58" name="Shape 56"/>
          <p:cNvSpPr/>
          <p:nvPr/>
        </p:nvSpPr>
        <p:spPr>
          <a:xfrm>
            <a:off x="6199632" y="4572000"/>
            <a:ext cx="5486400" cy="1097280"/>
          </a:xfrm>
          <a:prstGeom prst="rect">
            <a:avLst>
              <a:gd name="adj" fmla="val 6667"/>
            </a:avLst>
          </a:prstGeom>
          <a:solidFill>
            <a:srgbClr val="FCECF0"/>
          </a:solidFill>
          <a:ln w="12700">
            <a:solidFill>
              <a:srgbClr val="FCECF0"/>
            </a:solidFill>
            <a:prstDash val="solid"/>
          </a:ln>
        </p:spPr>
      </p:sp>
      <p:sp>
        <p:nvSpPr>
          <p:cNvPr id="59" name="Text 57"/>
          <p:cNvSpPr/>
          <p:nvPr/>
        </p:nvSpPr>
        <p:spPr>
          <a:xfrm>
            <a:off x="6391656" y="4736592"/>
            <a:ext cx="2670048" cy="374904"/>
          </a:xfrm>
          <a:prstGeom prst="rect">
            <a:avLst/>
          </a:prstGeom>
          <a:noFill/>
          <a:ln/>
        </p:spPr>
        <p:txBody>
          <a:bodyPr wrap="square" lIns="0" tIns="0" rIns="0" bIns="0" rtlCol="0" anchor="ctr"/>
          <a:lstStyle/>
          <a:p>
            <a:pPr indent="0" marL="0">
              <a:buNone/>
            </a:pPr>
            <a:r>
              <a:rPr lang="en-US" sz="2700" b="1" dirty="0">
                <a:solidFill>
                  <a:srgbClr val="E31837"/>
                </a:solidFill>
                <a:latin typeface="Arial" pitchFamily="34" charset="0"/>
                <a:ea typeface="Arial" pitchFamily="34" charset="-122"/>
                <a:cs typeface="Arial" pitchFamily="34" charset="-120"/>
              </a:rPr>
              <a:t>163.84 GB</a:t>
            </a:r>
            <a:endParaRPr lang="en-US" sz="2700" dirty="0"/>
          </a:p>
        </p:txBody>
      </p:sp>
      <p:sp>
        <p:nvSpPr>
          <p:cNvPr id="60" name="Text 58"/>
          <p:cNvSpPr/>
          <p:nvPr/>
        </p:nvSpPr>
        <p:spPr>
          <a:xfrm>
            <a:off x="9171432" y="4745736"/>
            <a:ext cx="2322576" cy="594360"/>
          </a:xfrm>
          <a:prstGeom prst="rect">
            <a:avLst/>
          </a:prstGeom>
          <a:noFill/>
          <a:ln/>
        </p:spPr>
        <p:txBody>
          <a:bodyPr wrap="square" lIns="0" tIns="0" rIns="0" bIns="0" rtlCol="0" anchor="ctr"/>
          <a:lstStyle/>
          <a:p>
            <a:pPr indent="0" marL="0">
              <a:buNone/>
            </a:pPr>
            <a:r>
              <a:rPr lang="en-US" sz="1500" dirty="0">
                <a:solidFill>
                  <a:srgbClr val="5B6169"/>
                </a:solidFill>
                <a:latin typeface="Arial" pitchFamily="34" charset="0"/>
                <a:ea typeface="Arial" pitchFamily="34" charset="-122"/>
                <a:cs typeface="Arial" pitchFamily="34" charset="-120"/>
              </a:rPr>
              <a:t>5M × 128 vectors</a:t>
            </a:r>
            <a:endParaRPr lang="en-US" sz="1500" dirty="0"/>
          </a:p>
          <a:p>
            <a:pPr indent="0" marL="0">
              <a:buNone/>
            </a:pPr>
            <a:r>
              <a:rPr lang="en-US" sz="1500" dirty="0">
                <a:solidFill>
                  <a:srgbClr val="5B6169"/>
                </a:solidFill>
                <a:latin typeface="Arial" pitchFamily="34" charset="0"/>
                <a:ea typeface="Arial" pitchFamily="34" charset="-122"/>
                <a:cs typeface="Arial" pitchFamily="34" charset="-120"/>
              </a:rPr>
              <a:t>× 128-d FP16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PARTNERSHIP PREFERENCE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Match each SKU to an OEM qualification strategy.</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Recommended engagement order, not a supplier ranking by measured performance, price or committed delivery.</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Use one common RFI. Every candidate must prove E3.S 2T/x4, sustained thermals, topology, firmware and support.</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[S16] [S17] [S18] [S19]</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§3,13</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M14</a:t>
            </a:r>
            <a:endParaRPr lang="en-US" sz="920" dirty="0"/>
          </a:p>
        </p:txBody>
      </p:sp>
      <p:sp>
        <p:nvSpPr>
          <p:cNvPr id="14" name="Shape 12"/>
          <p:cNvSpPr/>
          <p:nvPr/>
        </p:nvSpPr>
        <p:spPr>
          <a:xfrm>
            <a:off x="502920" y="2103120"/>
            <a:ext cx="1463040"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67128"/>
            <a:ext cx="1280160"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SKU / stage</a:t>
            </a:r>
            <a:endParaRPr lang="en-US" sz="1200" dirty="0"/>
          </a:p>
        </p:txBody>
      </p:sp>
      <p:sp>
        <p:nvSpPr>
          <p:cNvPr id="16" name="Shape 14"/>
          <p:cNvSpPr/>
          <p:nvPr/>
        </p:nvSpPr>
        <p:spPr>
          <a:xfrm>
            <a:off x="1965960" y="2103120"/>
            <a:ext cx="1947672"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2057400" y="2167128"/>
            <a:ext cx="1764792"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First inquiry</a:t>
            </a:r>
            <a:endParaRPr lang="en-US" sz="1200" dirty="0"/>
          </a:p>
        </p:txBody>
      </p:sp>
      <p:sp>
        <p:nvSpPr>
          <p:cNvPr id="18" name="Shape 16"/>
          <p:cNvSpPr/>
          <p:nvPr/>
        </p:nvSpPr>
        <p:spPr>
          <a:xfrm>
            <a:off x="3913632" y="2103120"/>
            <a:ext cx="2258568"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4005072" y="2167128"/>
            <a:ext cx="2075688"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Parallel / alternate</a:t>
            </a:r>
            <a:endParaRPr lang="en-US" sz="1200" dirty="0"/>
          </a:p>
        </p:txBody>
      </p:sp>
      <p:sp>
        <p:nvSpPr>
          <p:cNvPr id="20" name="Shape 18"/>
          <p:cNvSpPr/>
          <p:nvPr/>
        </p:nvSpPr>
        <p:spPr>
          <a:xfrm>
            <a:off x="6172200" y="2103120"/>
            <a:ext cx="3172968"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6263640" y="2167128"/>
            <a:ext cx="2990088"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Why this order</a:t>
            </a:r>
            <a:endParaRPr lang="en-US" sz="1200" dirty="0"/>
          </a:p>
        </p:txBody>
      </p:sp>
      <p:sp>
        <p:nvSpPr>
          <p:cNvPr id="22" name="Shape 20"/>
          <p:cNvSpPr/>
          <p:nvPr/>
        </p:nvSpPr>
        <p:spPr>
          <a:xfrm>
            <a:off x="9345168" y="2103120"/>
            <a:ext cx="2340864" cy="438912"/>
          </a:xfrm>
          <a:prstGeom prst="rect">
            <a:avLst>
              <a:gd name="adj" fmla="val 16667"/>
            </a:avLst>
          </a:prstGeom>
          <a:solidFill>
            <a:srgbClr val="18191D"/>
          </a:solidFill>
          <a:ln w="12700">
            <a:solidFill>
              <a:srgbClr val="18191D"/>
            </a:solidFill>
            <a:prstDash val="solid"/>
          </a:ln>
        </p:spPr>
      </p:sp>
      <p:sp>
        <p:nvSpPr>
          <p:cNvPr id="23" name="Text 21"/>
          <p:cNvSpPr/>
          <p:nvPr/>
        </p:nvSpPr>
        <p:spPr>
          <a:xfrm>
            <a:off x="9436608" y="2167128"/>
            <a:ext cx="2157984" cy="32918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Hard condition</a:t>
            </a:r>
            <a:endParaRPr lang="en-US" sz="1200" dirty="0"/>
          </a:p>
        </p:txBody>
      </p:sp>
      <p:sp>
        <p:nvSpPr>
          <p:cNvPr id="24" name="Shape 22"/>
          <p:cNvSpPr/>
          <p:nvPr/>
        </p:nvSpPr>
        <p:spPr>
          <a:xfrm>
            <a:off x="502920" y="2542032"/>
            <a:ext cx="1463040" cy="640080"/>
          </a:xfrm>
          <a:prstGeom prst="rect">
            <a:avLst>
              <a:gd name="adj" fmla="val 11429"/>
            </a:avLst>
          </a:prstGeom>
          <a:solidFill>
            <a:srgbClr val="F3F4F6"/>
          </a:solidFill>
          <a:ln w="8890">
            <a:solidFill>
              <a:srgbClr val="FFFFFF"/>
            </a:solidFill>
            <a:prstDash val="solid"/>
          </a:ln>
        </p:spPr>
      </p:sp>
      <p:sp>
        <p:nvSpPr>
          <p:cNvPr id="25" name="Text 23"/>
          <p:cNvSpPr/>
          <p:nvPr/>
        </p:nvSpPr>
        <p:spPr>
          <a:xfrm>
            <a:off x="594360" y="2619756"/>
            <a:ext cx="1280160" cy="512064"/>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W4 / derivative</a:t>
            </a:r>
            <a:endParaRPr lang="en-US" sz="1300" dirty="0"/>
          </a:p>
        </p:txBody>
      </p:sp>
      <p:sp>
        <p:nvSpPr>
          <p:cNvPr id="26" name="Shape 24"/>
          <p:cNvSpPr/>
          <p:nvPr/>
        </p:nvSpPr>
        <p:spPr>
          <a:xfrm>
            <a:off x="1965960" y="2542032"/>
            <a:ext cx="1947672" cy="640080"/>
          </a:xfrm>
          <a:prstGeom prst="rect">
            <a:avLst>
              <a:gd name="adj" fmla="val 11429"/>
            </a:avLst>
          </a:prstGeom>
          <a:solidFill>
            <a:srgbClr val="F3F4F6"/>
          </a:solidFill>
          <a:ln w="8890">
            <a:solidFill>
              <a:srgbClr val="FFFFFF"/>
            </a:solidFill>
            <a:prstDash val="solid"/>
          </a:ln>
        </p:spPr>
      </p:sp>
      <p:sp>
        <p:nvSpPr>
          <p:cNvPr id="27" name="Text 25"/>
          <p:cNvSpPr/>
          <p:nvPr/>
        </p:nvSpPr>
        <p:spPr>
          <a:xfrm>
            <a:off x="2057400" y="2619756"/>
            <a:ext cx="1764792"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Supermicro +</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qualified integrator</a:t>
            </a:r>
            <a:endParaRPr lang="en-US" sz="1300" dirty="0"/>
          </a:p>
        </p:txBody>
      </p:sp>
      <p:sp>
        <p:nvSpPr>
          <p:cNvPr id="28" name="Shape 26"/>
          <p:cNvSpPr/>
          <p:nvPr/>
        </p:nvSpPr>
        <p:spPr>
          <a:xfrm>
            <a:off x="3913632" y="2542032"/>
            <a:ext cx="2258568" cy="640080"/>
          </a:xfrm>
          <a:prstGeom prst="rect">
            <a:avLst>
              <a:gd name="adj" fmla="val 11429"/>
            </a:avLst>
          </a:prstGeom>
          <a:solidFill>
            <a:srgbClr val="F3F4F6"/>
          </a:solidFill>
          <a:ln w="8890">
            <a:solidFill>
              <a:srgbClr val="FFFFFF"/>
            </a:solidFill>
            <a:prstDash val="solid"/>
          </a:ln>
        </p:spPr>
      </p:sp>
      <p:sp>
        <p:nvSpPr>
          <p:cNvPr id="29" name="Text 27"/>
          <p:cNvSpPr/>
          <p:nvPr/>
        </p:nvSpPr>
        <p:spPr>
          <a:xfrm>
            <a:off x="4005072" y="2619756"/>
            <a:ext cx="20756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Dell OEM; HPE OEM</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when customer-aligned</a:t>
            </a:r>
            <a:endParaRPr lang="en-US" sz="1300" dirty="0"/>
          </a:p>
        </p:txBody>
      </p:sp>
      <p:sp>
        <p:nvSpPr>
          <p:cNvPr id="30" name="Shape 28"/>
          <p:cNvSpPr/>
          <p:nvPr/>
        </p:nvSpPr>
        <p:spPr>
          <a:xfrm>
            <a:off x="6172200" y="2542032"/>
            <a:ext cx="3172968" cy="640080"/>
          </a:xfrm>
          <a:prstGeom prst="rect">
            <a:avLst>
              <a:gd name="adj" fmla="val 11429"/>
            </a:avLst>
          </a:prstGeom>
          <a:solidFill>
            <a:srgbClr val="F3F4F6"/>
          </a:solidFill>
          <a:ln w="8890">
            <a:solidFill>
              <a:srgbClr val="FFFFFF"/>
            </a:solidFill>
            <a:prstDash val="solid"/>
          </a:ln>
        </p:spPr>
      </p:sp>
      <p:sp>
        <p:nvSpPr>
          <p:cNvPr id="31" name="Text 29"/>
          <p:cNvSpPr/>
          <p:nvPr/>
        </p:nvSpPr>
        <p:spPr>
          <a:xfrm>
            <a:off x="6263640" y="2619756"/>
            <a:ext cx="29900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Investigate a purpose-built pedestal / short-depth carrier</a:t>
            </a:r>
            <a:endParaRPr lang="en-US" sz="1300" dirty="0"/>
          </a:p>
        </p:txBody>
      </p:sp>
      <p:sp>
        <p:nvSpPr>
          <p:cNvPr id="32" name="Shape 30"/>
          <p:cNvSpPr/>
          <p:nvPr/>
        </p:nvSpPr>
        <p:spPr>
          <a:xfrm>
            <a:off x="9345168" y="2542032"/>
            <a:ext cx="2340864" cy="640080"/>
          </a:xfrm>
          <a:prstGeom prst="rect">
            <a:avLst>
              <a:gd name="adj" fmla="val 11429"/>
            </a:avLst>
          </a:prstGeom>
          <a:solidFill>
            <a:srgbClr val="F3F4F6"/>
          </a:solidFill>
          <a:ln w="8890">
            <a:solidFill>
              <a:srgbClr val="FFFFFF"/>
            </a:solidFill>
            <a:prstDash val="solid"/>
          </a:ln>
        </p:spPr>
      </p:sp>
      <p:sp>
        <p:nvSpPr>
          <p:cNvPr id="33" name="Text 31"/>
          <p:cNvSpPr/>
          <p:nvPr/>
        </p:nvSpPr>
        <p:spPr>
          <a:xfrm>
            <a:off x="9436608" y="2619756"/>
            <a:ext cx="2157984"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No assumption that a normal workstation has four ATMOS bays</a:t>
            </a:r>
            <a:endParaRPr lang="en-US" sz="1300" dirty="0"/>
          </a:p>
        </p:txBody>
      </p:sp>
      <p:sp>
        <p:nvSpPr>
          <p:cNvPr id="34" name="Shape 32"/>
          <p:cNvSpPr/>
          <p:nvPr/>
        </p:nvSpPr>
        <p:spPr>
          <a:xfrm>
            <a:off x="502920" y="3182112"/>
            <a:ext cx="1463040" cy="640080"/>
          </a:xfrm>
          <a:prstGeom prst="rect">
            <a:avLst>
              <a:gd name="adj" fmla="val 11429"/>
            </a:avLst>
          </a:prstGeom>
          <a:solidFill>
            <a:srgbClr val="FFFFFF"/>
          </a:solidFill>
          <a:ln w="8890">
            <a:solidFill>
              <a:srgbClr val="FFFFFF"/>
            </a:solidFill>
            <a:prstDash val="solid"/>
          </a:ln>
        </p:spPr>
      </p:sp>
      <p:sp>
        <p:nvSpPr>
          <p:cNvPr id="35" name="Text 33"/>
          <p:cNvSpPr/>
          <p:nvPr/>
        </p:nvSpPr>
        <p:spPr>
          <a:xfrm>
            <a:off x="594360" y="3259836"/>
            <a:ext cx="1280160" cy="512064"/>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D8 / engineering lead</a:t>
            </a:r>
            <a:endParaRPr lang="en-US" sz="1300" dirty="0"/>
          </a:p>
        </p:txBody>
      </p:sp>
      <p:sp>
        <p:nvSpPr>
          <p:cNvPr id="36" name="Shape 34"/>
          <p:cNvSpPr/>
          <p:nvPr/>
        </p:nvSpPr>
        <p:spPr>
          <a:xfrm>
            <a:off x="1965960" y="3182112"/>
            <a:ext cx="1947672" cy="640080"/>
          </a:xfrm>
          <a:prstGeom prst="rect">
            <a:avLst>
              <a:gd name="adj" fmla="val 11429"/>
            </a:avLst>
          </a:prstGeom>
          <a:solidFill>
            <a:srgbClr val="FFFFFF"/>
          </a:solidFill>
          <a:ln w="8890">
            <a:solidFill>
              <a:srgbClr val="FFFFFF"/>
            </a:solidFill>
            <a:prstDash val="solid"/>
          </a:ln>
        </p:spPr>
      </p:sp>
      <p:sp>
        <p:nvSpPr>
          <p:cNvPr id="37" name="Text 35"/>
          <p:cNvSpPr/>
          <p:nvPr/>
        </p:nvSpPr>
        <p:spPr>
          <a:xfrm>
            <a:off x="2057400" y="3259836"/>
            <a:ext cx="1764792"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Supermicro</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X14-family study</a:t>
            </a:r>
            <a:endParaRPr lang="en-US" sz="1300" dirty="0"/>
          </a:p>
        </p:txBody>
      </p:sp>
      <p:sp>
        <p:nvSpPr>
          <p:cNvPr id="38" name="Shape 36"/>
          <p:cNvSpPr/>
          <p:nvPr/>
        </p:nvSpPr>
        <p:spPr>
          <a:xfrm>
            <a:off x="3913632" y="3182112"/>
            <a:ext cx="2258568" cy="640080"/>
          </a:xfrm>
          <a:prstGeom prst="rect">
            <a:avLst>
              <a:gd name="adj" fmla="val 11429"/>
            </a:avLst>
          </a:prstGeom>
          <a:solidFill>
            <a:srgbClr val="FFFFFF"/>
          </a:solidFill>
          <a:ln w="8890">
            <a:solidFill>
              <a:srgbClr val="FFFFFF"/>
            </a:solidFill>
            <a:prstDash val="solid"/>
          </a:ln>
        </p:spPr>
      </p:sp>
      <p:sp>
        <p:nvSpPr>
          <p:cNvPr id="39" name="Text 37"/>
          <p:cNvSpPr/>
          <p:nvPr/>
        </p:nvSpPr>
        <p:spPr>
          <a:xfrm>
            <a:off x="4005072" y="3259836"/>
            <a:ext cx="20756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Dell OEM / R7725</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feasibility</a:t>
            </a:r>
            <a:endParaRPr lang="en-US" sz="1300" dirty="0"/>
          </a:p>
        </p:txBody>
      </p:sp>
      <p:sp>
        <p:nvSpPr>
          <p:cNvPr id="40" name="Shape 38"/>
          <p:cNvSpPr/>
          <p:nvPr/>
        </p:nvSpPr>
        <p:spPr>
          <a:xfrm>
            <a:off x="6172200" y="3182112"/>
            <a:ext cx="3172968" cy="640080"/>
          </a:xfrm>
          <a:prstGeom prst="rect">
            <a:avLst>
              <a:gd name="adj" fmla="val 11429"/>
            </a:avLst>
          </a:prstGeom>
          <a:solidFill>
            <a:srgbClr val="FFFFFF"/>
          </a:solidFill>
          <a:ln w="8890">
            <a:solidFill>
              <a:srgbClr val="FFFFFF"/>
            </a:solidFill>
            <a:prstDash val="solid"/>
          </a:ln>
        </p:spPr>
      </p:sp>
      <p:sp>
        <p:nvSpPr>
          <p:cNvPr id="41" name="Text 39"/>
          <p:cNvSpPr/>
          <p:nvPr/>
        </p:nvSpPr>
        <p:spPr>
          <a:xfrm>
            <a:off x="6263640" y="3259836"/>
            <a:ext cx="29900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Public E3.S / 2T CXL design experience supports a technical inquiry</a:t>
            </a:r>
            <a:endParaRPr lang="en-US" sz="1300" dirty="0"/>
          </a:p>
        </p:txBody>
      </p:sp>
      <p:sp>
        <p:nvSpPr>
          <p:cNvPr id="42" name="Shape 40"/>
          <p:cNvSpPr/>
          <p:nvPr/>
        </p:nvSpPr>
        <p:spPr>
          <a:xfrm>
            <a:off x="9345168" y="3182112"/>
            <a:ext cx="2340864" cy="640080"/>
          </a:xfrm>
          <a:prstGeom prst="rect">
            <a:avLst>
              <a:gd name="adj" fmla="val 11429"/>
            </a:avLst>
          </a:prstGeom>
          <a:solidFill>
            <a:srgbClr val="FFFFFF"/>
          </a:solidFill>
          <a:ln w="8890">
            <a:solidFill>
              <a:srgbClr val="FFFFFF"/>
            </a:solidFill>
            <a:prstDash val="solid"/>
          </a:ln>
        </p:spPr>
      </p:sp>
      <p:sp>
        <p:nvSpPr>
          <p:cNvPr id="43" name="Text 41"/>
          <p:cNvSpPr/>
          <p:nvPr/>
        </p:nvSpPr>
        <p:spPr>
          <a:xfrm>
            <a:off x="9436608" y="3259836"/>
            <a:ext cx="2157984"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Storage or CXL fit is not NPU certification</a:t>
            </a:r>
            <a:endParaRPr lang="en-US" sz="1300" dirty="0"/>
          </a:p>
        </p:txBody>
      </p:sp>
      <p:sp>
        <p:nvSpPr>
          <p:cNvPr id="44" name="Shape 42"/>
          <p:cNvSpPr/>
          <p:nvPr/>
        </p:nvSpPr>
        <p:spPr>
          <a:xfrm>
            <a:off x="502920" y="3822192"/>
            <a:ext cx="1463040" cy="640080"/>
          </a:xfrm>
          <a:prstGeom prst="rect">
            <a:avLst>
              <a:gd name="adj" fmla="val 11429"/>
            </a:avLst>
          </a:prstGeom>
          <a:solidFill>
            <a:srgbClr val="F3F4F6"/>
          </a:solidFill>
          <a:ln w="8890">
            <a:solidFill>
              <a:srgbClr val="FFFFFF"/>
            </a:solidFill>
            <a:prstDash val="solid"/>
          </a:ln>
        </p:spPr>
      </p:sp>
      <p:sp>
        <p:nvSpPr>
          <p:cNvPr id="45" name="Text 43"/>
          <p:cNvSpPr/>
          <p:nvPr/>
        </p:nvSpPr>
        <p:spPr>
          <a:xfrm>
            <a:off x="594360" y="3899916"/>
            <a:ext cx="1280160" cy="512064"/>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E8 / entry production</a:t>
            </a:r>
            <a:endParaRPr lang="en-US" sz="1300" dirty="0"/>
          </a:p>
        </p:txBody>
      </p:sp>
      <p:sp>
        <p:nvSpPr>
          <p:cNvPr id="46" name="Shape 44"/>
          <p:cNvSpPr/>
          <p:nvPr/>
        </p:nvSpPr>
        <p:spPr>
          <a:xfrm>
            <a:off x="1965960" y="3822192"/>
            <a:ext cx="1947672" cy="640080"/>
          </a:xfrm>
          <a:prstGeom prst="rect">
            <a:avLst>
              <a:gd name="adj" fmla="val 11429"/>
            </a:avLst>
          </a:prstGeom>
          <a:solidFill>
            <a:srgbClr val="F3F4F6"/>
          </a:solidFill>
          <a:ln w="8890">
            <a:solidFill>
              <a:srgbClr val="FFFFFF"/>
            </a:solidFill>
            <a:prstDash val="solid"/>
          </a:ln>
        </p:spPr>
      </p:sp>
      <p:sp>
        <p:nvSpPr>
          <p:cNvPr id="47" name="Text 45"/>
          <p:cNvSpPr/>
          <p:nvPr/>
        </p:nvSpPr>
        <p:spPr>
          <a:xfrm>
            <a:off x="2057400" y="3899916"/>
            <a:ext cx="1764792"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Dell OEM</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enterprise inquiry</a:t>
            </a:r>
            <a:endParaRPr lang="en-US" sz="1300" dirty="0"/>
          </a:p>
        </p:txBody>
      </p:sp>
      <p:sp>
        <p:nvSpPr>
          <p:cNvPr id="48" name="Shape 46"/>
          <p:cNvSpPr/>
          <p:nvPr/>
        </p:nvSpPr>
        <p:spPr>
          <a:xfrm>
            <a:off x="3913632" y="3822192"/>
            <a:ext cx="2258568" cy="640080"/>
          </a:xfrm>
          <a:prstGeom prst="rect">
            <a:avLst>
              <a:gd name="adj" fmla="val 11429"/>
            </a:avLst>
          </a:prstGeom>
          <a:solidFill>
            <a:srgbClr val="F3F4F6"/>
          </a:solidFill>
          <a:ln w="8890">
            <a:solidFill>
              <a:srgbClr val="FFFFFF"/>
            </a:solidFill>
            <a:prstDash val="solid"/>
          </a:ln>
        </p:spPr>
      </p:sp>
      <p:sp>
        <p:nvSpPr>
          <p:cNvPr id="49" name="Text 47"/>
          <p:cNvSpPr/>
          <p:nvPr/>
        </p:nvSpPr>
        <p:spPr>
          <a:xfrm>
            <a:off x="4005072" y="3899916"/>
            <a:ext cx="20756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Supermicro; HPE where</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installed-base-led</a:t>
            </a:r>
            <a:endParaRPr lang="en-US" sz="1300" dirty="0"/>
          </a:p>
        </p:txBody>
      </p:sp>
      <p:sp>
        <p:nvSpPr>
          <p:cNvPr id="50" name="Shape 48"/>
          <p:cNvSpPr/>
          <p:nvPr/>
        </p:nvSpPr>
        <p:spPr>
          <a:xfrm>
            <a:off x="6172200" y="3822192"/>
            <a:ext cx="3172968" cy="640080"/>
          </a:xfrm>
          <a:prstGeom prst="rect">
            <a:avLst>
              <a:gd name="adj" fmla="val 11429"/>
            </a:avLst>
          </a:prstGeom>
          <a:solidFill>
            <a:srgbClr val="F3F4F6"/>
          </a:solidFill>
          <a:ln w="8890">
            <a:solidFill>
              <a:srgbClr val="FFFFFF"/>
            </a:solidFill>
            <a:prstDash val="solid"/>
          </a:ln>
        </p:spPr>
      </p:sp>
      <p:sp>
        <p:nvSpPr>
          <p:cNvPr id="51" name="Text 49"/>
          <p:cNvSpPr/>
          <p:nvPr/>
        </p:nvSpPr>
        <p:spPr>
          <a:xfrm>
            <a:off x="6263640" y="3899916"/>
            <a:ext cx="29900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Branding, lifecycle and field-support contract are central</a:t>
            </a:r>
            <a:endParaRPr lang="en-US" sz="1300" dirty="0"/>
          </a:p>
        </p:txBody>
      </p:sp>
      <p:sp>
        <p:nvSpPr>
          <p:cNvPr id="52" name="Shape 50"/>
          <p:cNvSpPr/>
          <p:nvPr/>
        </p:nvSpPr>
        <p:spPr>
          <a:xfrm>
            <a:off x="9345168" y="3822192"/>
            <a:ext cx="2340864" cy="640080"/>
          </a:xfrm>
          <a:prstGeom prst="rect">
            <a:avLst>
              <a:gd name="adj" fmla="val 11429"/>
            </a:avLst>
          </a:prstGeom>
          <a:solidFill>
            <a:srgbClr val="F3F4F6"/>
          </a:solidFill>
          <a:ln w="8890">
            <a:solidFill>
              <a:srgbClr val="FFFFFF"/>
            </a:solidFill>
            <a:prstDash val="solid"/>
          </a:ln>
        </p:spPr>
      </p:sp>
      <p:sp>
        <p:nvSpPr>
          <p:cNvPr id="53" name="Text 51"/>
          <p:cNvSpPr/>
          <p:nvPr/>
        </p:nvSpPr>
        <p:spPr>
          <a:xfrm>
            <a:off x="9436608" y="3899916"/>
            <a:ext cx="2157984"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Same device envelope as D8; no invented speed uplift</a:t>
            </a:r>
            <a:endParaRPr lang="en-US" sz="1300" dirty="0"/>
          </a:p>
        </p:txBody>
      </p:sp>
      <p:sp>
        <p:nvSpPr>
          <p:cNvPr id="54" name="Shape 52"/>
          <p:cNvSpPr/>
          <p:nvPr/>
        </p:nvSpPr>
        <p:spPr>
          <a:xfrm>
            <a:off x="502920" y="4462272"/>
            <a:ext cx="1463040" cy="640080"/>
          </a:xfrm>
          <a:prstGeom prst="rect">
            <a:avLst>
              <a:gd name="adj" fmla="val 11429"/>
            </a:avLst>
          </a:prstGeom>
          <a:solidFill>
            <a:srgbClr val="FFFFFF"/>
          </a:solidFill>
          <a:ln w="8890">
            <a:solidFill>
              <a:srgbClr val="FFFFFF"/>
            </a:solidFill>
            <a:prstDash val="solid"/>
          </a:ln>
        </p:spPr>
      </p:sp>
      <p:sp>
        <p:nvSpPr>
          <p:cNvPr id="55" name="Text 53"/>
          <p:cNvSpPr/>
          <p:nvPr/>
        </p:nvSpPr>
        <p:spPr>
          <a:xfrm>
            <a:off x="594360" y="4539996"/>
            <a:ext cx="1280160" cy="512064"/>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E16 / enterprise lead</a:t>
            </a:r>
            <a:endParaRPr lang="en-US" sz="1300" dirty="0"/>
          </a:p>
        </p:txBody>
      </p:sp>
      <p:sp>
        <p:nvSpPr>
          <p:cNvPr id="56" name="Shape 54"/>
          <p:cNvSpPr/>
          <p:nvPr/>
        </p:nvSpPr>
        <p:spPr>
          <a:xfrm>
            <a:off x="1965960" y="4462272"/>
            <a:ext cx="1947672" cy="640080"/>
          </a:xfrm>
          <a:prstGeom prst="rect">
            <a:avLst>
              <a:gd name="adj" fmla="val 11429"/>
            </a:avLst>
          </a:prstGeom>
          <a:solidFill>
            <a:srgbClr val="FFFFFF"/>
          </a:solidFill>
          <a:ln w="8890">
            <a:solidFill>
              <a:srgbClr val="FFFFFF"/>
            </a:solidFill>
            <a:prstDash val="solid"/>
          </a:ln>
        </p:spPr>
      </p:sp>
      <p:sp>
        <p:nvSpPr>
          <p:cNvPr id="57" name="Text 55"/>
          <p:cNvSpPr/>
          <p:nvPr/>
        </p:nvSpPr>
        <p:spPr>
          <a:xfrm>
            <a:off x="2057400" y="4539996"/>
            <a:ext cx="1764792"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Dell OEM +</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Supermicro finalist</a:t>
            </a:r>
            <a:endParaRPr lang="en-US" sz="1300" dirty="0"/>
          </a:p>
        </p:txBody>
      </p:sp>
      <p:sp>
        <p:nvSpPr>
          <p:cNvPr id="58" name="Shape 56"/>
          <p:cNvSpPr/>
          <p:nvPr/>
        </p:nvSpPr>
        <p:spPr>
          <a:xfrm>
            <a:off x="3913632" y="4462272"/>
            <a:ext cx="2258568" cy="640080"/>
          </a:xfrm>
          <a:prstGeom prst="rect">
            <a:avLst>
              <a:gd name="adj" fmla="val 11429"/>
            </a:avLst>
          </a:prstGeom>
          <a:solidFill>
            <a:srgbClr val="FFFFFF"/>
          </a:solidFill>
          <a:ln w="8890">
            <a:solidFill>
              <a:srgbClr val="FFFFFF"/>
            </a:solidFill>
            <a:prstDash val="solid"/>
          </a:ln>
        </p:spPr>
      </p:sp>
      <p:sp>
        <p:nvSpPr>
          <p:cNvPr id="59" name="Text 57"/>
          <p:cNvSpPr/>
          <p:nvPr/>
        </p:nvSpPr>
        <p:spPr>
          <a:xfrm>
            <a:off x="4005072" y="4539996"/>
            <a:ext cx="20756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HPE Virtual OEM for</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customer-standard estates</a:t>
            </a:r>
            <a:endParaRPr lang="en-US" sz="1300" dirty="0"/>
          </a:p>
        </p:txBody>
      </p:sp>
      <p:sp>
        <p:nvSpPr>
          <p:cNvPr id="60" name="Shape 58"/>
          <p:cNvSpPr/>
          <p:nvPr/>
        </p:nvSpPr>
        <p:spPr>
          <a:xfrm>
            <a:off x="6172200" y="4462272"/>
            <a:ext cx="3172968" cy="640080"/>
          </a:xfrm>
          <a:prstGeom prst="rect">
            <a:avLst>
              <a:gd name="adj" fmla="val 11429"/>
            </a:avLst>
          </a:prstGeom>
          <a:solidFill>
            <a:srgbClr val="FFFFFF"/>
          </a:solidFill>
          <a:ln w="8890">
            <a:solidFill>
              <a:srgbClr val="FFFFFF"/>
            </a:solidFill>
            <a:prstDash val="solid"/>
          </a:ln>
        </p:spPr>
      </p:sp>
      <p:sp>
        <p:nvSpPr>
          <p:cNvPr id="61" name="Text 59"/>
          <p:cNvSpPr/>
          <p:nvPr/>
        </p:nvSpPr>
        <p:spPr>
          <a:xfrm>
            <a:off x="6263640" y="4539996"/>
            <a:ext cx="29900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Select on complete 16-device evidence and support scope</a:t>
            </a:r>
            <a:endParaRPr lang="en-US" sz="1300" dirty="0"/>
          </a:p>
        </p:txBody>
      </p:sp>
      <p:sp>
        <p:nvSpPr>
          <p:cNvPr id="62" name="Shape 60"/>
          <p:cNvSpPr/>
          <p:nvPr/>
        </p:nvSpPr>
        <p:spPr>
          <a:xfrm>
            <a:off x="9345168" y="4462272"/>
            <a:ext cx="2340864" cy="640080"/>
          </a:xfrm>
          <a:prstGeom prst="rect">
            <a:avLst>
              <a:gd name="adj" fmla="val 11429"/>
            </a:avLst>
          </a:prstGeom>
          <a:solidFill>
            <a:srgbClr val="FFFFFF"/>
          </a:solidFill>
          <a:ln w="8890">
            <a:solidFill>
              <a:srgbClr val="FFFFFF"/>
            </a:solidFill>
            <a:prstDash val="solid"/>
          </a:ln>
        </p:spPr>
      </p:sp>
      <p:sp>
        <p:nvSpPr>
          <p:cNvPr id="63" name="Text 61"/>
          <p:cNvSpPr/>
          <p:nvPr/>
        </p:nvSpPr>
        <p:spPr>
          <a:xfrm>
            <a:off x="9436608" y="4539996"/>
            <a:ext cx="2157984"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Per-domain isolation and full-load N+1 validation</a:t>
            </a:r>
            <a:endParaRPr lang="en-US" sz="1300" dirty="0"/>
          </a:p>
        </p:txBody>
      </p:sp>
      <p:sp>
        <p:nvSpPr>
          <p:cNvPr id="64" name="Shape 62"/>
          <p:cNvSpPr/>
          <p:nvPr/>
        </p:nvSpPr>
        <p:spPr>
          <a:xfrm>
            <a:off x="502920" y="5102352"/>
            <a:ext cx="1463040" cy="640080"/>
          </a:xfrm>
          <a:prstGeom prst="rect">
            <a:avLst>
              <a:gd name="adj" fmla="val 11429"/>
            </a:avLst>
          </a:prstGeom>
          <a:solidFill>
            <a:srgbClr val="F3F4F6"/>
          </a:solidFill>
          <a:ln w="8890">
            <a:solidFill>
              <a:srgbClr val="FFFFFF"/>
            </a:solidFill>
            <a:prstDash val="solid"/>
          </a:ln>
        </p:spPr>
      </p:sp>
      <p:sp>
        <p:nvSpPr>
          <p:cNvPr id="65" name="Text 63"/>
          <p:cNvSpPr/>
          <p:nvPr/>
        </p:nvSpPr>
        <p:spPr>
          <a:xfrm>
            <a:off x="594360" y="5180076"/>
            <a:ext cx="1280160" cy="512064"/>
          </a:xfrm>
          <a:prstGeom prst="rect">
            <a:avLst/>
          </a:prstGeom>
          <a:noFill/>
          <a:ln/>
        </p:spPr>
        <p:txBody>
          <a:bodyPr wrap="square" lIns="0" tIns="0" rIns="0" bIns="0" rtlCol="0" anchor="ctr"/>
          <a:lstStyle/>
          <a:p>
            <a:pPr indent="0" marL="0">
              <a:buNone/>
            </a:pPr>
            <a:r>
              <a:rPr lang="en-US" sz="1300" b="1" dirty="0">
                <a:solidFill>
                  <a:srgbClr val="18191D"/>
                </a:solidFill>
                <a:latin typeface="Arial" pitchFamily="34" charset="0"/>
                <a:ea typeface="Arial" pitchFamily="34" charset="-122"/>
                <a:cs typeface="Arial" pitchFamily="34" charset="-120"/>
              </a:rPr>
              <a:t>E24 / stretch</a:t>
            </a:r>
            <a:endParaRPr lang="en-US" sz="1300" dirty="0"/>
          </a:p>
        </p:txBody>
      </p:sp>
      <p:sp>
        <p:nvSpPr>
          <p:cNvPr id="66" name="Shape 64"/>
          <p:cNvSpPr/>
          <p:nvPr/>
        </p:nvSpPr>
        <p:spPr>
          <a:xfrm>
            <a:off x="1965960" y="5102352"/>
            <a:ext cx="1947672" cy="640080"/>
          </a:xfrm>
          <a:prstGeom prst="rect">
            <a:avLst>
              <a:gd name="adj" fmla="val 11429"/>
            </a:avLst>
          </a:prstGeom>
          <a:solidFill>
            <a:srgbClr val="F3F4F6"/>
          </a:solidFill>
          <a:ln w="8890">
            <a:solidFill>
              <a:srgbClr val="FFFFFF"/>
            </a:solidFill>
            <a:prstDash val="solid"/>
          </a:ln>
        </p:spPr>
      </p:sp>
      <p:sp>
        <p:nvSpPr>
          <p:cNvPr id="67" name="Text 65"/>
          <p:cNvSpPr/>
          <p:nvPr/>
        </p:nvSpPr>
        <p:spPr>
          <a:xfrm>
            <a:off x="2057400" y="5180076"/>
            <a:ext cx="1764792"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Supermicro</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co-design inquiry</a:t>
            </a:r>
            <a:endParaRPr lang="en-US" sz="1300" dirty="0"/>
          </a:p>
        </p:txBody>
      </p:sp>
      <p:sp>
        <p:nvSpPr>
          <p:cNvPr id="68" name="Shape 66"/>
          <p:cNvSpPr/>
          <p:nvPr/>
        </p:nvSpPr>
        <p:spPr>
          <a:xfrm>
            <a:off x="3913632" y="5102352"/>
            <a:ext cx="2258568" cy="640080"/>
          </a:xfrm>
          <a:prstGeom prst="rect">
            <a:avLst>
              <a:gd name="adj" fmla="val 11429"/>
            </a:avLst>
          </a:prstGeom>
          <a:solidFill>
            <a:srgbClr val="F3F4F6"/>
          </a:solidFill>
          <a:ln w="8890">
            <a:solidFill>
              <a:srgbClr val="FFFFFF"/>
            </a:solidFill>
            <a:prstDash val="solid"/>
          </a:ln>
        </p:spPr>
      </p:sp>
      <p:sp>
        <p:nvSpPr>
          <p:cNvPr id="69" name="Text 67"/>
          <p:cNvSpPr/>
          <p:nvPr/>
        </p:nvSpPr>
        <p:spPr>
          <a:xfrm>
            <a:off x="4005072" y="5180076"/>
            <a:ext cx="20756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Dell / HPE only with</a:t>
            </a:r>
            <a:endParaRPr lang="en-US" sz="1300" dirty="0"/>
          </a:p>
          <a:p>
            <a:pPr indent="0" marL="0">
              <a:buNone/>
            </a:pPr>
            <a:r>
              <a:rPr lang="en-US" sz="1300" dirty="0">
                <a:solidFill>
                  <a:srgbClr val="18191D"/>
                </a:solidFill>
                <a:latin typeface="Arial" pitchFamily="34" charset="0"/>
                <a:ea typeface="Arial" pitchFamily="34" charset="-122"/>
                <a:cs typeface="Arial" pitchFamily="34" charset="-120"/>
              </a:rPr>
              <a:t>qualified 24-device path</a:t>
            </a:r>
            <a:endParaRPr lang="en-US" sz="1300" dirty="0"/>
          </a:p>
        </p:txBody>
      </p:sp>
      <p:sp>
        <p:nvSpPr>
          <p:cNvPr id="70" name="Shape 68"/>
          <p:cNvSpPr/>
          <p:nvPr/>
        </p:nvSpPr>
        <p:spPr>
          <a:xfrm>
            <a:off x="6172200" y="5102352"/>
            <a:ext cx="3172968" cy="640080"/>
          </a:xfrm>
          <a:prstGeom prst="rect">
            <a:avLst>
              <a:gd name="adj" fmla="val 11429"/>
            </a:avLst>
          </a:prstGeom>
          <a:solidFill>
            <a:srgbClr val="F3F4F6"/>
          </a:solidFill>
          <a:ln w="8890">
            <a:solidFill>
              <a:srgbClr val="FFFFFF"/>
            </a:solidFill>
            <a:prstDash val="solid"/>
          </a:ln>
        </p:spPr>
      </p:sp>
      <p:sp>
        <p:nvSpPr>
          <p:cNvPr id="71" name="Text 69"/>
          <p:cNvSpPr/>
          <p:nvPr/>
        </p:nvSpPr>
        <p:spPr>
          <a:xfrm>
            <a:off x="6263640" y="5180076"/>
            <a:ext cx="2990088"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Six-domain density is a new qualification, not a slot-count upgrade</a:t>
            </a:r>
            <a:endParaRPr lang="en-US" sz="1300" dirty="0"/>
          </a:p>
        </p:txBody>
      </p:sp>
      <p:sp>
        <p:nvSpPr>
          <p:cNvPr id="72" name="Shape 70"/>
          <p:cNvSpPr/>
          <p:nvPr/>
        </p:nvSpPr>
        <p:spPr>
          <a:xfrm>
            <a:off x="9345168" y="5102352"/>
            <a:ext cx="2340864" cy="640080"/>
          </a:xfrm>
          <a:prstGeom prst="rect">
            <a:avLst>
              <a:gd name="adj" fmla="val 11429"/>
            </a:avLst>
          </a:prstGeom>
          <a:solidFill>
            <a:srgbClr val="F3F4F6"/>
          </a:solidFill>
          <a:ln w="8890">
            <a:solidFill>
              <a:srgbClr val="FFFFFF"/>
            </a:solidFill>
            <a:prstDash val="solid"/>
          </a:ln>
        </p:spPr>
      </p:sp>
      <p:sp>
        <p:nvSpPr>
          <p:cNvPr id="73" name="Text 71"/>
          <p:cNvSpPr/>
          <p:nvPr/>
        </p:nvSpPr>
        <p:spPr>
          <a:xfrm>
            <a:off x="9436608" y="5180076"/>
            <a:ext cx="2157984" cy="512064"/>
          </a:xfrm>
          <a:prstGeom prst="rect">
            <a:avLst/>
          </a:prstGeom>
          <a:noFill/>
          <a:ln/>
        </p:spPr>
        <p:txBody>
          <a:bodyPr wrap="square" lIns="0" tIns="0" rIns="0" bIns="0" rtlCol="0" anchor="ctr"/>
          <a:lstStyle/>
          <a:p>
            <a:pPr indent="0" marL="0">
              <a:buNone/>
            </a:pPr>
            <a:r>
              <a:rPr lang="en-US" sz="1300" dirty="0">
                <a:solidFill>
                  <a:srgbClr val="18191D"/>
                </a:solidFill>
                <a:latin typeface="Arial" pitchFamily="34" charset="0"/>
                <a:ea typeface="Arial" pitchFamily="34" charset="-122"/>
                <a:cs typeface="Arial" pitchFamily="34" charset="-120"/>
              </a:rPr>
              <a:t>Hold until E16, power, service and demand gates pass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SUPPLY / DELIVERY CONTRACT</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An OEM-built appliance. A SanDisk-owned customer experience.</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SanDisk can own the AI brand and customer outcome while the OEM owns proven platform manufacturing and field service.</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OEM reuse lowers some platform work. SanDisk still owns native runtime, certified services, releases and prime support.</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[S16] [S17] [S19]</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§3,10–14</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M15</a:t>
            </a:r>
            <a:endParaRPr lang="en-US" sz="920" dirty="0"/>
          </a:p>
        </p:txBody>
      </p:sp>
      <p:sp>
        <p:nvSpPr>
          <p:cNvPr id="14" name="Shape 12"/>
          <p:cNvSpPr/>
          <p:nvPr/>
        </p:nvSpPr>
        <p:spPr>
          <a:xfrm>
            <a:off x="502920" y="2121408"/>
            <a:ext cx="2104949" cy="704088"/>
          </a:xfrm>
          <a:prstGeom prst="roundRect">
            <a:avLst>
              <a:gd name="adj" fmla="val 10390"/>
            </a:avLst>
          </a:prstGeom>
          <a:solidFill>
            <a:srgbClr val="18191D"/>
          </a:solidFill>
          <a:ln w="12700">
            <a:solidFill>
              <a:srgbClr val="18191D"/>
            </a:solidFill>
            <a:prstDash val="solid"/>
          </a:ln>
        </p:spPr>
      </p:sp>
      <p:sp>
        <p:nvSpPr>
          <p:cNvPr id="15" name="Text 13"/>
          <p:cNvSpPr/>
          <p:nvPr/>
        </p:nvSpPr>
        <p:spPr>
          <a:xfrm>
            <a:off x="576072" y="2185416"/>
            <a:ext cx="1958645" cy="5760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SanDisk</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service specification</a:t>
            </a:r>
            <a:endParaRPr lang="en-US" sz="1300" dirty="0"/>
          </a:p>
        </p:txBody>
      </p:sp>
      <p:sp>
        <p:nvSpPr>
          <p:cNvPr id="16" name="Shape 14"/>
          <p:cNvSpPr/>
          <p:nvPr/>
        </p:nvSpPr>
        <p:spPr>
          <a:xfrm>
            <a:off x="2630729" y="2473452"/>
            <a:ext cx="118872" cy="0"/>
          </a:xfrm>
          <a:prstGeom prst="line">
            <a:avLst/>
          </a:prstGeom>
          <a:noFill/>
          <a:ln w="15240">
            <a:solidFill>
              <a:srgbClr val="5B6169"/>
            </a:solidFill>
            <a:prstDash val="solid"/>
            <a:headEnd type="none"/>
            <a:tailEnd type="triangle"/>
          </a:ln>
        </p:spPr>
      </p:sp>
      <p:sp>
        <p:nvSpPr>
          <p:cNvPr id="17" name="Shape 15"/>
          <p:cNvSpPr/>
          <p:nvPr/>
        </p:nvSpPr>
        <p:spPr>
          <a:xfrm>
            <a:off x="2772461" y="2121408"/>
            <a:ext cx="2104949" cy="704088"/>
          </a:xfrm>
          <a:prstGeom prst="roundRect">
            <a:avLst>
              <a:gd name="adj" fmla="val 10390"/>
            </a:avLst>
          </a:prstGeom>
          <a:solidFill>
            <a:srgbClr val="18191D"/>
          </a:solidFill>
          <a:ln w="12700">
            <a:solidFill>
              <a:srgbClr val="18191D"/>
            </a:solidFill>
            <a:prstDash val="solid"/>
          </a:ln>
        </p:spPr>
      </p:sp>
      <p:sp>
        <p:nvSpPr>
          <p:cNvPr id="18" name="Text 16"/>
          <p:cNvSpPr/>
          <p:nvPr/>
        </p:nvSpPr>
        <p:spPr>
          <a:xfrm>
            <a:off x="2845613" y="2185416"/>
            <a:ext cx="1958645" cy="5760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OEM + ATMOS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BOM qualification</a:t>
            </a:r>
            <a:endParaRPr lang="en-US" sz="1300" dirty="0"/>
          </a:p>
        </p:txBody>
      </p:sp>
      <p:sp>
        <p:nvSpPr>
          <p:cNvPr id="19" name="Shape 17"/>
          <p:cNvSpPr/>
          <p:nvPr/>
        </p:nvSpPr>
        <p:spPr>
          <a:xfrm>
            <a:off x="4900270" y="2473452"/>
            <a:ext cx="118872" cy="0"/>
          </a:xfrm>
          <a:prstGeom prst="line">
            <a:avLst/>
          </a:prstGeom>
          <a:noFill/>
          <a:ln w="15240">
            <a:solidFill>
              <a:srgbClr val="5B6169"/>
            </a:solidFill>
            <a:prstDash val="solid"/>
            <a:headEnd type="none"/>
            <a:tailEnd type="triangle"/>
          </a:ln>
        </p:spPr>
      </p:sp>
      <p:sp>
        <p:nvSpPr>
          <p:cNvPr id="20" name="Shape 18"/>
          <p:cNvSpPr/>
          <p:nvPr/>
        </p:nvSpPr>
        <p:spPr>
          <a:xfrm>
            <a:off x="5042002" y="2121408"/>
            <a:ext cx="2104949" cy="704088"/>
          </a:xfrm>
          <a:prstGeom prst="roundRect">
            <a:avLst>
              <a:gd name="adj" fmla="val 10390"/>
            </a:avLst>
          </a:prstGeom>
          <a:solidFill>
            <a:srgbClr val="18191D"/>
          </a:solidFill>
          <a:ln w="12700">
            <a:solidFill>
              <a:srgbClr val="18191D"/>
            </a:solidFill>
            <a:prstDash val="solid"/>
          </a:ln>
        </p:spPr>
      </p:sp>
      <p:sp>
        <p:nvSpPr>
          <p:cNvPr id="21" name="Text 19"/>
          <p:cNvSpPr/>
          <p:nvPr/>
        </p:nvSpPr>
        <p:spPr>
          <a:xfrm>
            <a:off x="5115154" y="2185416"/>
            <a:ext cx="1958645" cy="5760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Factory image</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keys + burn-in</a:t>
            </a:r>
            <a:endParaRPr lang="en-US" sz="1300" dirty="0"/>
          </a:p>
        </p:txBody>
      </p:sp>
      <p:sp>
        <p:nvSpPr>
          <p:cNvPr id="22" name="Shape 20"/>
          <p:cNvSpPr/>
          <p:nvPr/>
        </p:nvSpPr>
        <p:spPr>
          <a:xfrm>
            <a:off x="7169810" y="2473452"/>
            <a:ext cx="118872" cy="0"/>
          </a:xfrm>
          <a:prstGeom prst="line">
            <a:avLst/>
          </a:prstGeom>
          <a:noFill/>
          <a:ln w="15240">
            <a:solidFill>
              <a:srgbClr val="5B6169"/>
            </a:solidFill>
            <a:prstDash val="solid"/>
            <a:headEnd type="none"/>
            <a:tailEnd type="triangle"/>
          </a:ln>
        </p:spPr>
      </p:sp>
      <p:sp>
        <p:nvSpPr>
          <p:cNvPr id="23" name="Shape 21"/>
          <p:cNvSpPr/>
          <p:nvPr/>
        </p:nvSpPr>
        <p:spPr>
          <a:xfrm>
            <a:off x="7311542" y="2121408"/>
            <a:ext cx="2104949" cy="704088"/>
          </a:xfrm>
          <a:prstGeom prst="roundRect">
            <a:avLst>
              <a:gd name="adj" fmla="val 10390"/>
            </a:avLst>
          </a:prstGeom>
          <a:solidFill>
            <a:srgbClr val="18191D"/>
          </a:solidFill>
          <a:ln w="12700">
            <a:solidFill>
              <a:srgbClr val="18191D"/>
            </a:solidFill>
            <a:prstDash val="solid"/>
          </a:ln>
        </p:spPr>
      </p:sp>
      <p:sp>
        <p:nvSpPr>
          <p:cNvPr id="24" name="Text 22"/>
          <p:cNvSpPr/>
          <p:nvPr/>
        </p:nvSpPr>
        <p:spPr>
          <a:xfrm>
            <a:off x="7384694" y="2185416"/>
            <a:ext cx="1958645" cy="5760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Customer</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site acceptance</a:t>
            </a:r>
            <a:endParaRPr lang="en-US" sz="1300" dirty="0"/>
          </a:p>
        </p:txBody>
      </p:sp>
      <p:sp>
        <p:nvSpPr>
          <p:cNvPr id="25" name="Shape 23"/>
          <p:cNvSpPr/>
          <p:nvPr/>
        </p:nvSpPr>
        <p:spPr>
          <a:xfrm>
            <a:off x="9439351" y="2473452"/>
            <a:ext cx="118872" cy="0"/>
          </a:xfrm>
          <a:prstGeom prst="line">
            <a:avLst/>
          </a:prstGeom>
          <a:noFill/>
          <a:ln w="15240">
            <a:solidFill>
              <a:srgbClr val="5B6169"/>
            </a:solidFill>
            <a:prstDash val="solid"/>
            <a:headEnd type="none"/>
            <a:tailEnd type="triangle"/>
          </a:ln>
        </p:spPr>
      </p:sp>
      <p:sp>
        <p:nvSpPr>
          <p:cNvPr id="26" name="Shape 24"/>
          <p:cNvSpPr/>
          <p:nvPr/>
        </p:nvSpPr>
        <p:spPr>
          <a:xfrm>
            <a:off x="9581083" y="2121408"/>
            <a:ext cx="2104949" cy="704088"/>
          </a:xfrm>
          <a:prstGeom prst="roundRect">
            <a:avLst>
              <a:gd name="adj" fmla="val 10390"/>
            </a:avLst>
          </a:prstGeom>
          <a:solidFill>
            <a:srgbClr val="18191D"/>
          </a:solidFill>
          <a:ln w="12700">
            <a:solidFill>
              <a:srgbClr val="18191D"/>
            </a:solidFill>
            <a:prstDash val="solid"/>
          </a:ln>
        </p:spPr>
      </p:sp>
      <p:sp>
        <p:nvSpPr>
          <p:cNvPr id="27" name="Text 25"/>
          <p:cNvSpPr/>
          <p:nvPr/>
        </p:nvSpPr>
        <p:spPr>
          <a:xfrm>
            <a:off x="9654235" y="2185416"/>
            <a:ext cx="1958645" cy="5760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SanDisk support</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OEM field action</a:t>
            </a:r>
            <a:endParaRPr lang="en-US" sz="1300" dirty="0"/>
          </a:p>
        </p:txBody>
      </p:sp>
      <p:sp>
        <p:nvSpPr>
          <p:cNvPr id="28" name="Shape 26"/>
          <p:cNvSpPr/>
          <p:nvPr/>
        </p:nvSpPr>
        <p:spPr>
          <a:xfrm>
            <a:off x="502920" y="3191256"/>
            <a:ext cx="3630168" cy="2441448"/>
          </a:xfrm>
          <a:prstGeom prst="rect">
            <a:avLst>
              <a:gd name="adj" fmla="val 2996"/>
            </a:avLst>
          </a:prstGeom>
          <a:solidFill>
            <a:srgbClr val="F3F4F6"/>
          </a:solidFill>
          <a:ln w="12700">
            <a:solidFill>
              <a:srgbClr val="F3F4F6"/>
            </a:solidFill>
            <a:prstDash val="solid"/>
          </a:ln>
        </p:spPr>
      </p:sp>
      <p:sp>
        <p:nvSpPr>
          <p:cNvPr id="29" name="Shape 27"/>
          <p:cNvSpPr/>
          <p:nvPr/>
        </p:nvSpPr>
        <p:spPr>
          <a:xfrm>
            <a:off x="502920" y="3191256"/>
            <a:ext cx="41148" cy="2441448"/>
          </a:xfrm>
          <a:prstGeom prst="rect">
            <a:avLst>
              <a:gd name="adj" fmla="val 177778"/>
            </a:avLst>
          </a:prstGeom>
          <a:solidFill>
            <a:srgbClr val="E31837"/>
          </a:solidFill>
          <a:ln w="12700">
            <a:solidFill>
              <a:srgbClr val="E31837"/>
            </a:solidFill>
            <a:prstDash val="solid"/>
          </a:ln>
        </p:spPr>
      </p:sp>
      <p:sp>
        <p:nvSpPr>
          <p:cNvPr id="30" name="Text 28"/>
          <p:cNvSpPr/>
          <p:nvPr/>
        </p:nvSpPr>
        <p:spPr>
          <a:xfrm>
            <a:off x="667512" y="3355848"/>
            <a:ext cx="3300984" cy="512064"/>
          </a:xfrm>
          <a:prstGeom prst="rect">
            <a:avLst/>
          </a:prstGeom>
          <a:noFill/>
          <a:ln/>
        </p:spPr>
        <p:txBody>
          <a:bodyPr wrap="square" lIns="0" tIns="0" rIns="0" bIns="0" rtlCol="0" anchor="ctr"/>
          <a:lstStyle/>
          <a:p>
            <a:pPr indent="0" marL="0">
              <a:buNone/>
            </a:pPr>
            <a:r>
              <a:rPr lang="en-US" sz="1530" b="1" dirty="0">
                <a:solidFill>
                  <a:srgbClr val="18191D"/>
                </a:solidFill>
                <a:latin typeface="Arial" pitchFamily="34" charset="0"/>
                <a:ea typeface="Arial" pitchFamily="34" charset="-122"/>
                <a:cs typeface="Arial" pitchFamily="34" charset="-120"/>
              </a:rPr>
              <a:t>TECHNICAL RETURN</a:t>
            </a:r>
            <a:endParaRPr lang="en-US" sz="1530" dirty="0"/>
          </a:p>
        </p:txBody>
      </p:sp>
      <p:sp>
        <p:nvSpPr>
          <p:cNvPr id="31" name="Text 29"/>
          <p:cNvSpPr/>
          <p:nvPr/>
        </p:nvSpPr>
        <p:spPr>
          <a:xfrm>
            <a:off x="667512" y="4041648"/>
            <a:ext cx="3300984" cy="143560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2T/x4 bay map; DMA/IOMMU and reset matrix; NUMA; mixed CPU/NIC/NPU thermals.</a:t>
            </a:r>
            <a:endParaRPr lang="en-US" sz="1600" dirty="0"/>
          </a:p>
        </p:txBody>
      </p:sp>
      <p:sp>
        <p:nvSpPr>
          <p:cNvPr id="32" name="Shape 30"/>
          <p:cNvSpPr/>
          <p:nvPr/>
        </p:nvSpPr>
        <p:spPr>
          <a:xfrm>
            <a:off x="4279392" y="3191256"/>
            <a:ext cx="3630168" cy="2441448"/>
          </a:xfrm>
          <a:prstGeom prst="rect">
            <a:avLst>
              <a:gd name="adj" fmla="val 2996"/>
            </a:avLst>
          </a:prstGeom>
          <a:solidFill>
            <a:srgbClr val="F3F4F6"/>
          </a:solidFill>
          <a:ln w="12700">
            <a:solidFill>
              <a:srgbClr val="F3F4F6"/>
            </a:solidFill>
            <a:prstDash val="solid"/>
          </a:ln>
        </p:spPr>
      </p:sp>
      <p:sp>
        <p:nvSpPr>
          <p:cNvPr id="33" name="Shape 31"/>
          <p:cNvSpPr/>
          <p:nvPr/>
        </p:nvSpPr>
        <p:spPr>
          <a:xfrm>
            <a:off x="4279392" y="3191256"/>
            <a:ext cx="41148" cy="2441448"/>
          </a:xfrm>
          <a:prstGeom prst="rect">
            <a:avLst>
              <a:gd name="adj" fmla="val 177778"/>
            </a:avLst>
          </a:prstGeom>
          <a:solidFill>
            <a:srgbClr val="E31837"/>
          </a:solidFill>
          <a:ln w="12700">
            <a:solidFill>
              <a:srgbClr val="E31837"/>
            </a:solidFill>
            <a:prstDash val="solid"/>
          </a:ln>
        </p:spPr>
      </p:sp>
      <p:sp>
        <p:nvSpPr>
          <p:cNvPr id="34" name="Text 32"/>
          <p:cNvSpPr/>
          <p:nvPr/>
        </p:nvSpPr>
        <p:spPr>
          <a:xfrm>
            <a:off x="4443984" y="3355848"/>
            <a:ext cx="3300984" cy="512064"/>
          </a:xfrm>
          <a:prstGeom prst="rect">
            <a:avLst/>
          </a:prstGeom>
          <a:noFill/>
          <a:ln/>
        </p:spPr>
        <p:txBody>
          <a:bodyPr wrap="square" lIns="0" tIns="0" rIns="0" bIns="0" rtlCol="0" anchor="ctr"/>
          <a:lstStyle/>
          <a:p>
            <a:pPr indent="0" marL="0">
              <a:buNone/>
            </a:pPr>
            <a:r>
              <a:rPr lang="en-US" sz="1530" b="1" dirty="0">
                <a:solidFill>
                  <a:srgbClr val="18191D"/>
                </a:solidFill>
                <a:latin typeface="Arial" pitchFamily="34" charset="0"/>
                <a:ea typeface="Arial" pitchFamily="34" charset="-122"/>
                <a:cs typeface="Arial" pitchFamily="34" charset="-120"/>
              </a:rPr>
              <a:t>COMMERCIAL RETURN</a:t>
            </a:r>
            <a:endParaRPr lang="en-US" sz="1530" dirty="0"/>
          </a:p>
        </p:txBody>
      </p:sp>
      <p:sp>
        <p:nvSpPr>
          <p:cNvPr id="35" name="Text 33"/>
          <p:cNvSpPr/>
          <p:nvPr/>
        </p:nvSpPr>
        <p:spPr>
          <a:xfrm>
            <a:off x="4443984" y="4041648"/>
            <a:ext cx="3300984" cy="143560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Landed configuration quote; NRE; MOQ/lead-time response; warranty and spares geography.</a:t>
            </a:r>
            <a:endParaRPr lang="en-US" sz="1600" dirty="0"/>
          </a:p>
        </p:txBody>
      </p:sp>
      <p:sp>
        <p:nvSpPr>
          <p:cNvPr id="36" name="Shape 34"/>
          <p:cNvSpPr/>
          <p:nvPr/>
        </p:nvSpPr>
        <p:spPr>
          <a:xfrm>
            <a:off x="8055864" y="3191256"/>
            <a:ext cx="3630168" cy="2441448"/>
          </a:xfrm>
          <a:prstGeom prst="rect">
            <a:avLst>
              <a:gd name="adj" fmla="val 2996"/>
            </a:avLst>
          </a:prstGeom>
          <a:solidFill>
            <a:srgbClr val="F3F4F6"/>
          </a:solidFill>
          <a:ln w="12700">
            <a:solidFill>
              <a:srgbClr val="F3F4F6"/>
            </a:solidFill>
            <a:prstDash val="solid"/>
          </a:ln>
        </p:spPr>
      </p:sp>
      <p:sp>
        <p:nvSpPr>
          <p:cNvPr id="37" name="Shape 35"/>
          <p:cNvSpPr/>
          <p:nvPr/>
        </p:nvSpPr>
        <p:spPr>
          <a:xfrm>
            <a:off x="8055864" y="3191256"/>
            <a:ext cx="41148" cy="2441448"/>
          </a:xfrm>
          <a:prstGeom prst="rect">
            <a:avLst>
              <a:gd name="adj" fmla="val 177778"/>
            </a:avLst>
          </a:prstGeom>
          <a:solidFill>
            <a:srgbClr val="E31837"/>
          </a:solidFill>
          <a:ln w="12700">
            <a:solidFill>
              <a:srgbClr val="E31837"/>
            </a:solidFill>
            <a:prstDash val="solid"/>
          </a:ln>
        </p:spPr>
      </p:sp>
      <p:sp>
        <p:nvSpPr>
          <p:cNvPr id="38" name="Text 36"/>
          <p:cNvSpPr/>
          <p:nvPr/>
        </p:nvSpPr>
        <p:spPr>
          <a:xfrm>
            <a:off x="8220456" y="3355848"/>
            <a:ext cx="3300984" cy="512064"/>
          </a:xfrm>
          <a:prstGeom prst="rect">
            <a:avLst/>
          </a:prstGeom>
          <a:noFill/>
          <a:ln/>
        </p:spPr>
        <p:txBody>
          <a:bodyPr wrap="square" lIns="0" tIns="0" rIns="0" bIns="0" rtlCol="0" anchor="ctr"/>
          <a:lstStyle/>
          <a:p>
            <a:pPr indent="0" marL="0">
              <a:buNone/>
            </a:pPr>
            <a:r>
              <a:rPr lang="en-US" sz="1530" b="1" dirty="0">
                <a:solidFill>
                  <a:srgbClr val="18191D"/>
                </a:solidFill>
                <a:latin typeface="Arial" pitchFamily="34" charset="0"/>
                <a:ea typeface="Arial" pitchFamily="34" charset="-122"/>
                <a:cs typeface="Arial" pitchFamily="34" charset="-120"/>
              </a:rPr>
              <a:t>BRAND + LIFECYCLE</a:t>
            </a:r>
            <a:endParaRPr lang="en-US" sz="1530" dirty="0"/>
          </a:p>
        </p:txBody>
      </p:sp>
      <p:sp>
        <p:nvSpPr>
          <p:cNvPr id="39" name="Text 37"/>
          <p:cNvSpPr/>
          <p:nvPr/>
        </p:nvSpPr>
        <p:spPr>
          <a:xfrm>
            <a:off x="8220456" y="4041648"/>
            <a:ext cx="3300984" cy="1435608"/>
          </a:xfrm>
          <a:prstGeom prst="rect">
            <a:avLst/>
          </a:prstGeom>
          <a:noFill/>
          <a:ln/>
        </p:spPr>
        <p:txBody>
          <a:bodyPr wrap="square" lIns="0" tIns="0" rIns="0" bIns="0" rtlCol="0" anchor="t"/>
          <a:lstStyle/>
          <a:p>
            <a:pPr indent="0" marL="0">
              <a:buNone/>
            </a:pPr>
            <a:r>
              <a:rPr lang="en-US" sz="1600" dirty="0">
                <a:solidFill>
                  <a:srgbClr val="5B6169"/>
                </a:solidFill>
                <a:latin typeface="Arial" pitchFamily="34" charset="0"/>
                <a:ea typeface="Arial" pitchFamily="34" charset="-122"/>
                <a:cs typeface="Arial" pitchFamily="34" charset="-120"/>
              </a:rPr>
              <a:t>SanDisk bezel / console / catalog identity; signing ownership; approved substitution and end-of-life notice.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EXECUTIVE NEXT STEP</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Lead with D8 and E16 evidence. Keep W4 selective and E24 gated.</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Three design-partner briefs turn market interest into a workload, acceptance contract and buying decision.</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Approval requested: customer traces, a native-runtime commitment, two OEM responses and a matched benchmark—not a launch claim.</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 [S02] [S07]</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§16–17</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M16</a:t>
            </a:r>
            <a:endParaRPr lang="en-US" sz="920" dirty="0"/>
          </a:p>
        </p:txBody>
      </p:sp>
      <p:sp>
        <p:nvSpPr>
          <p:cNvPr id="14" name="Shape 12"/>
          <p:cNvSpPr/>
          <p:nvPr/>
        </p:nvSpPr>
        <p:spPr>
          <a:xfrm>
            <a:off x="502920" y="2112264"/>
            <a:ext cx="3630168" cy="3566160"/>
          </a:xfrm>
          <a:prstGeom prst="rect">
            <a:avLst>
              <a:gd name="adj" fmla="val 2051"/>
            </a:avLst>
          </a:prstGeom>
          <a:solidFill>
            <a:srgbClr val="F3F4F6"/>
          </a:solidFill>
          <a:ln w="12700">
            <a:solidFill>
              <a:srgbClr val="F3F4F6"/>
            </a:solidFill>
            <a:prstDash val="solid"/>
          </a:ln>
        </p:spPr>
      </p:sp>
      <p:sp>
        <p:nvSpPr>
          <p:cNvPr id="15" name="Shape 13"/>
          <p:cNvSpPr/>
          <p:nvPr/>
        </p:nvSpPr>
        <p:spPr>
          <a:xfrm>
            <a:off x="667512" y="2295144"/>
            <a:ext cx="1371600" cy="237744"/>
          </a:xfrm>
          <a:prstGeom prst="rect">
            <a:avLst>
              <a:gd name="adj" fmla="val 30769"/>
            </a:avLst>
          </a:prstGeom>
          <a:solidFill>
            <a:srgbClr val="FCECF0"/>
          </a:solidFill>
          <a:ln w="12700">
            <a:solidFill>
              <a:srgbClr val="FCECF0"/>
            </a:solidFill>
            <a:prstDash val="solid"/>
          </a:ln>
        </p:spPr>
      </p:sp>
      <p:sp>
        <p:nvSpPr>
          <p:cNvPr id="16" name="Text 14"/>
          <p:cNvSpPr/>
          <p:nvPr/>
        </p:nvSpPr>
        <p:spPr>
          <a:xfrm>
            <a:off x="740664" y="2318004"/>
            <a:ext cx="1225296"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D8 / E8</a:t>
            </a:r>
            <a:endParaRPr lang="en-US" sz="1050" dirty="0"/>
          </a:p>
        </p:txBody>
      </p:sp>
      <p:sp>
        <p:nvSpPr>
          <p:cNvPr id="17" name="Text 15"/>
          <p:cNvSpPr/>
          <p:nvPr/>
        </p:nvSpPr>
        <p:spPr>
          <a:xfrm>
            <a:off x="667512" y="2779776"/>
            <a:ext cx="3300984" cy="594360"/>
          </a:xfrm>
          <a:prstGeom prst="rect">
            <a:avLst/>
          </a:prstGeom>
          <a:noFill/>
          <a:ln/>
        </p:spPr>
        <p:txBody>
          <a:bodyPr wrap="square" lIns="0" tIns="0" rIns="0" bIns="0" rtlCol="0" anchor="ctr"/>
          <a:lstStyle/>
          <a:p>
            <a:pPr indent="0" marL="0">
              <a:buNone/>
            </a:pPr>
            <a:r>
              <a:rPr lang="en-US" sz="2000" b="1" dirty="0">
                <a:solidFill>
                  <a:srgbClr val="18191D"/>
                </a:solidFill>
                <a:latin typeface="Arial" pitchFamily="34" charset="0"/>
                <a:ea typeface="Arial" pitchFamily="34" charset="-122"/>
                <a:cs typeface="Arial" pitchFamily="34" charset="-120"/>
              </a:rPr>
              <a:t>Utility or insurer knowledge team</a:t>
            </a:r>
            <a:endParaRPr lang="en-US" sz="2000" dirty="0"/>
          </a:p>
        </p:txBody>
      </p:sp>
      <p:sp>
        <p:nvSpPr>
          <p:cNvPr id="18" name="Text 16"/>
          <p:cNvSpPr/>
          <p:nvPr/>
        </p:nvSpPr>
        <p:spPr>
          <a:xfrm>
            <a:off x="667512" y="3575304"/>
            <a:ext cx="3300984" cy="996696"/>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Cited engineering / policy evidence. Compare CPU search and an existing local GPU endpoint.</a:t>
            </a:r>
            <a:endParaRPr lang="en-US" sz="1600" dirty="0"/>
          </a:p>
        </p:txBody>
      </p:sp>
      <p:sp>
        <p:nvSpPr>
          <p:cNvPr id="19" name="Shape 17"/>
          <p:cNvSpPr/>
          <p:nvPr/>
        </p:nvSpPr>
        <p:spPr>
          <a:xfrm>
            <a:off x="667512" y="4782312"/>
            <a:ext cx="3282696" cy="0"/>
          </a:xfrm>
          <a:prstGeom prst="line">
            <a:avLst/>
          </a:prstGeom>
          <a:noFill/>
          <a:ln w="12700">
            <a:solidFill>
              <a:srgbClr val="D6D9DE"/>
            </a:solidFill>
            <a:prstDash val="solid"/>
            <a:headEnd type="none"/>
            <a:tailEnd type="none"/>
          </a:ln>
        </p:spPr>
      </p:sp>
      <p:sp>
        <p:nvSpPr>
          <p:cNvPr id="20" name="Text 18"/>
          <p:cNvSpPr/>
          <p:nvPr/>
        </p:nvSpPr>
        <p:spPr>
          <a:xfrm>
            <a:off x="667512" y="5010912"/>
            <a:ext cx="3300984" cy="548640"/>
          </a:xfrm>
          <a:prstGeom prst="rect">
            <a:avLst/>
          </a:prstGeom>
          <a:noFill/>
          <a:ln/>
        </p:spPr>
        <p:txBody>
          <a:bodyPr wrap="square" lIns="0" tIns="0" rIns="0" bIns="0" rtlCol="0" anchor="ctr"/>
          <a:lstStyle/>
          <a:p>
            <a:pPr indent="0" marL="0">
              <a:buNone/>
            </a:pPr>
            <a:r>
              <a:rPr lang="en-US" sz="1500" b="1" dirty="0">
                <a:solidFill>
                  <a:srgbClr val="18191D"/>
                </a:solidFill>
                <a:latin typeface="Arial" pitchFamily="34" charset="0"/>
                <a:ea typeface="Arial" pitchFamily="34" charset="-122"/>
                <a:cs typeface="Arial" pitchFamily="34" charset="-120"/>
              </a:rPr>
              <a:t>Measure quality, reviewer time, response tails and operating effort.</a:t>
            </a:r>
            <a:endParaRPr lang="en-US" sz="1500" dirty="0"/>
          </a:p>
        </p:txBody>
      </p:sp>
      <p:sp>
        <p:nvSpPr>
          <p:cNvPr id="21" name="Shape 19"/>
          <p:cNvSpPr/>
          <p:nvPr/>
        </p:nvSpPr>
        <p:spPr>
          <a:xfrm>
            <a:off x="4279392" y="2112264"/>
            <a:ext cx="3630168" cy="3566160"/>
          </a:xfrm>
          <a:prstGeom prst="rect">
            <a:avLst>
              <a:gd name="adj" fmla="val 2051"/>
            </a:avLst>
          </a:prstGeom>
          <a:solidFill>
            <a:srgbClr val="F3F4F6"/>
          </a:solidFill>
          <a:ln w="12700">
            <a:solidFill>
              <a:srgbClr val="F3F4F6"/>
            </a:solidFill>
            <a:prstDash val="solid"/>
          </a:ln>
        </p:spPr>
      </p:sp>
      <p:sp>
        <p:nvSpPr>
          <p:cNvPr id="22" name="Shape 20"/>
          <p:cNvSpPr/>
          <p:nvPr/>
        </p:nvSpPr>
        <p:spPr>
          <a:xfrm>
            <a:off x="4443984" y="2295144"/>
            <a:ext cx="1371600" cy="237744"/>
          </a:xfrm>
          <a:prstGeom prst="rect">
            <a:avLst>
              <a:gd name="adj" fmla="val 30769"/>
            </a:avLst>
          </a:prstGeom>
          <a:solidFill>
            <a:srgbClr val="FCECF0"/>
          </a:solidFill>
          <a:ln w="12700">
            <a:solidFill>
              <a:srgbClr val="FCECF0"/>
            </a:solidFill>
            <a:prstDash val="solid"/>
          </a:ln>
        </p:spPr>
      </p:sp>
      <p:sp>
        <p:nvSpPr>
          <p:cNvPr id="23" name="Text 21"/>
          <p:cNvSpPr/>
          <p:nvPr/>
        </p:nvSpPr>
        <p:spPr>
          <a:xfrm>
            <a:off x="4517136" y="2318004"/>
            <a:ext cx="1225296"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E16</a:t>
            </a:r>
            <a:endParaRPr lang="en-US" sz="1050" dirty="0"/>
          </a:p>
        </p:txBody>
      </p:sp>
      <p:sp>
        <p:nvSpPr>
          <p:cNvPr id="24" name="Text 22"/>
          <p:cNvSpPr/>
          <p:nvPr/>
        </p:nvSpPr>
        <p:spPr>
          <a:xfrm>
            <a:off x="4443984" y="2779776"/>
            <a:ext cx="3300984" cy="594360"/>
          </a:xfrm>
          <a:prstGeom prst="rect">
            <a:avLst/>
          </a:prstGeom>
          <a:noFill/>
          <a:ln/>
        </p:spPr>
        <p:txBody>
          <a:bodyPr wrap="square" lIns="0" tIns="0" rIns="0" bIns="0" rtlCol="0" anchor="ctr"/>
          <a:lstStyle/>
          <a:p>
            <a:pPr indent="0" marL="0">
              <a:buNone/>
            </a:pPr>
            <a:r>
              <a:rPr lang="en-US" sz="2000" b="1" dirty="0">
                <a:solidFill>
                  <a:srgbClr val="18191D"/>
                </a:solidFill>
                <a:latin typeface="Arial" pitchFamily="34" charset="0"/>
                <a:ea typeface="Arial" pitchFamily="34" charset="-122"/>
                <a:cs typeface="Arial" pitchFamily="34" charset="-120"/>
              </a:rPr>
              <a:t>Bank / regulated shared service</a:t>
            </a:r>
            <a:endParaRPr lang="en-US" sz="2000" dirty="0"/>
          </a:p>
        </p:txBody>
      </p:sp>
      <p:sp>
        <p:nvSpPr>
          <p:cNvPr id="25" name="Text 23"/>
          <p:cNvSpPr/>
          <p:nvPr/>
        </p:nvSpPr>
        <p:spPr>
          <a:xfrm>
            <a:off x="4443984" y="3575304"/>
            <a:ext cx="3300984" cy="996696"/>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Tenant-aware document and investigation service, with complete replicas and controlled upgrades.</a:t>
            </a:r>
            <a:endParaRPr lang="en-US" sz="1600" dirty="0"/>
          </a:p>
        </p:txBody>
      </p:sp>
      <p:sp>
        <p:nvSpPr>
          <p:cNvPr id="26" name="Shape 24"/>
          <p:cNvSpPr/>
          <p:nvPr/>
        </p:nvSpPr>
        <p:spPr>
          <a:xfrm>
            <a:off x="4443984" y="4782312"/>
            <a:ext cx="3282696" cy="0"/>
          </a:xfrm>
          <a:prstGeom prst="line">
            <a:avLst/>
          </a:prstGeom>
          <a:noFill/>
          <a:ln w="12700">
            <a:solidFill>
              <a:srgbClr val="D6D9DE"/>
            </a:solidFill>
            <a:prstDash val="solid"/>
            <a:headEnd type="none"/>
            <a:tailEnd type="none"/>
          </a:ln>
        </p:spPr>
      </p:sp>
      <p:sp>
        <p:nvSpPr>
          <p:cNvPr id="27" name="Text 25"/>
          <p:cNvSpPr/>
          <p:nvPr/>
        </p:nvSpPr>
        <p:spPr>
          <a:xfrm>
            <a:off x="4443984" y="5010912"/>
            <a:ext cx="3300984" cy="548640"/>
          </a:xfrm>
          <a:prstGeom prst="rect">
            <a:avLst/>
          </a:prstGeom>
          <a:noFill/>
          <a:ln/>
        </p:spPr>
        <p:txBody>
          <a:bodyPr wrap="square" lIns="0" tIns="0" rIns="0" bIns="0" rtlCol="0" anchor="ctr"/>
          <a:lstStyle/>
          <a:p>
            <a:pPr indent="0" marL="0">
              <a:buNone/>
            </a:pPr>
            <a:r>
              <a:rPr lang="en-US" sz="1500" b="1" dirty="0">
                <a:solidFill>
                  <a:srgbClr val="18191D"/>
                </a:solidFill>
                <a:latin typeface="Arial" pitchFamily="34" charset="0"/>
                <a:ea typeface="Arial" pitchFamily="34" charset="-122"/>
                <a:cs typeface="Arial" pitchFamily="34" charset="-120"/>
              </a:rPr>
              <a:t>Prove peak demand after one failure and cost per accepted task.</a:t>
            </a:r>
            <a:endParaRPr lang="en-US" sz="1500" dirty="0"/>
          </a:p>
        </p:txBody>
      </p:sp>
      <p:sp>
        <p:nvSpPr>
          <p:cNvPr id="28" name="Shape 26"/>
          <p:cNvSpPr/>
          <p:nvPr/>
        </p:nvSpPr>
        <p:spPr>
          <a:xfrm>
            <a:off x="8055864" y="2112264"/>
            <a:ext cx="3630168" cy="3566160"/>
          </a:xfrm>
          <a:prstGeom prst="rect">
            <a:avLst>
              <a:gd name="adj" fmla="val 2051"/>
            </a:avLst>
          </a:prstGeom>
          <a:solidFill>
            <a:srgbClr val="F3F4F6"/>
          </a:solidFill>
          <a:ln w="12700">
            <a:solidFill>
              <a:srgbClr val="F3F4F6"/>
            </a:solidFill>
            <a:prstDash val="solid"/>
          </a:ln>
        </p:spPr>
      </p:sp>
      <p:sp>
        <p:nvSpPr>
          <p:cNvPr id="29" name="Shape 27"/>
          <p:cNvSpPr/>
          <p:nvPr/>
        </p:nvSpPr>
        <p:spPr>
          <a:xfrm>
            <a:off x="8220456" y="2295144"/>
            <a:ext cx="1371600" cy="237744"/>
          </a:xfrm>
          <a:prstGeom prst="rect">
            <a:avLst>
              <a:gd name="adj" fmla="val 30769"/>
            </a:avLst>
          </a:prstGeom>
          <a:solidFill>
            <a:srgbClr val="FCECF0"/>
          </a:solidFill>
          <a:ln w="12700">
            <a:solidFill>
              <a:srgbClr val="FCECF0"/>
            </a:solidFill>
            <a:prstDash val="solid"/>
          </a:ln>
        </p:spPr>
      </p:sp>
      <p:sp>
        <p:nvSpPr>
          <p:cNvPr id="30" name="Text 28"/>
          <p:cNvSpPr/>
          <p:nvPr/>
        </p:nvSpPr>
        <p:spPr>
          <a:xfrm>
            <a:off x="8293608" y="2318004"/>
            <a:ext cx="1225296"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W4 → E24</a:t>
            </a:r>
            <a:endParaRPr lang="en-US" sz="1050" dirty="0"/>
          </a:p>
        </p:txBody>
      </p:sp>
      <p:sp>
        <p:nvSpPr>
          <p:cNvPr id="31" name="Text 29"/>
          <p:cNvSpPr/>
          <p:nvPr/>
        </p:nvSpPr>
        <p:spPr>
          <a:xfrm>
            <a:off x="8220456" y="2779776"/>
            <a:ext cx="3300984" cy="594360"/>
          </a:xfrm>
          <a:prstGeom prst="rect">
            <a:avLst/>
          </a:prstGeom>
          <a:noFill/>
          <a:ln/>
        </p:spPr>
        <p:txBody>
          <a:bodyPr wrap="square" lIns="0" tIns="0" rIns="0" bIns="0" rtlCol="0" anchor="ctr"/>
          <a:lstStyle/>
          <a:p>
            <a:pPr indent="0" marL="0">
              <a:buNone/>
            </a:pPr>
            <a:r>
              <a:rPr lang="en-US" sz="2000" b="1" dirty="0">
                <a:solidFill>
                  <a:srgbClr val="18191D"/>
                </a:solidFill>
                <a:latin typeface="Arial" pitchFamily="34" charset="0"/>
                <a:ea typeface="Arial" pitchFamily="34" charset="-122"/>
                <a:cs typeface="Arial" pitchFamily="34" charset="-120"/>
              </a:rPr>
              <a:t>Derivative and expansion gates</a:t>
            </a:r>
            <a:endParaRPr lang="en-US" sz="2000" dirty="0"/>
          </a:p>
        </p:txBody>
      </p:sp>
      <p:sp>
        <p:nvSpPr>
          <p:cNvPr id="32" name="Text 30"/>
          <p:cNvSpPr/>
          <p:nvPr/>
        </p:nvSpPr>
        <p:spPr>
          <a:xfrm>
            <a:off x="8220456" y="3575304"/>
            <a:ext cx="3300984" cy="996696"/>
          </a:xfrm>
          <a:prstGeom prst="rect">
            <a:avLst/>
          </a:prstGeom>
          <a:noFill/>
          <a:ln/>
        </p:spPr>
        <p:txBody>
          <a:bodyPr wrap="square" lIns="0" tIns="0" rIns="0" bIns="0" rtlCol="0" anchor="ctr"/>
          <a:lstStyle/>
          <a:p>
            <a:pPr indent="0" marL="0">
              <a:buNone/>
            </a:pPr>
            <a:r>
              <a:rPr lang="en-US" sz="1600" dirty="0">
                <a:solidFill>
                  <a:srgbClr val="5B6169"/>
                </a:solidFill>
                <a:latin typeface="Arial" pitchFamily="34" charset="0"/>
                <a:ea typeface="Arial" pitchFamily="34" charset="-122"/>
                <a:cs typeface="Arial" pitchFamily="34" charset="-120"/>
              </a:rPr>
              <a:t>W4 must justify itself against capable compact systems. E24 must show a priced catalog/concurrency need.</a:t>
            </a:r>
            <a:endParaRPr lang="en-US" sz="1600" dirty="0"/>
          </a:p>
        </p:txBody>
      </p:sp>
      <p:sp>
        <p:nvSpPr>
          <p:cNvPr id="33" name="Shape 31"/>
          <p:cNvSpPr/>
          <p:nvPr/>
        </p:nvSpPr>
        <p:spPr>
          <a:xfrm>
            <a:off x="8220456" y="4782312"/>
            <a:ext cx="3282696" cy="0"/>
          </a:xfrm>
          <a:prstGeom prst="line">
            <a:avLst/>
          </a:prstGeom>
          <a:noFill/>
          <a:ln w="12700">
            <a:solidFill>
              <a:srgbClr val="D6D9DE"/>
            </a:solidFill>
            <a:prstDash val="solid"/>
            <a:headEnd type="none"/>
            <a:tailEnd type="none"/>
          </a:ln>
        </p:spPr>
      </p:sp>
      <p:sp>
        <p:nvSpPr>
          <p:cNvPr id="34" name="Text 32"/>
          <p:cNvSpPr/>
          <p:nvPr/>
        </p:nvSpPr>
        <p:spPr>
          <a:xfrm>
            <a:off x="8220456" y="5010912"/>
            <a:ext cx="3300984" cy="548640"/>
          </a:xfrm>
          <a:prstGeom prst="rect">
            <a:avLst/>
          </a:prstGeom>
          <a:noFill/>
          <a:ln/>
        </p:spPr>
        <p:txBody>
          <a:bodyPr wrap="square" lIns="0" tIns="0" rIns="0" bIns="0" rtlCol="0" anchor="ctr"/>
          <a:lstStyle/>
          <a:p>
            <a:pPr indent="0" marL="0">
              <a:buNone/>
            </a:pPr>
            <a:r>
              <a:rPr lang="en-US" sz="1500" b="1" dirty="0">
                <a:solidFill>
                  <a:srgbClr val="18191D"/>
                </a:solidFill>
                <a:latin typeface="Arial" pitchFamily="34" charset="0"/>
                <a:ea typeface="Arial" pitchFamily="34" charset="-122"/>
                <a:cs typeface="Arial" pitchFamily="34" charset="-120"/>
              </a:rPr>
              <a:t>No density or HBF-only rationale for either SKU.</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ASSEMBLY GUIDE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Insert these modules without changing the accepted V3.</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All slides are self-contained. Use source/notes for evidence; preserve the target labels when combining decks.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V3 remains the controlling proposal. New public findings and recommendations are additions—not silent specification changes.</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[I1]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§all</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M17</a:t>
            </a:r>
            <a:endParaRPr lang="en-US" sz="920" dirty="0"/>
          </a:p>
        </p:txBody>
      </p:sp>
      <p:sp>
        <p:nvSpPr>
          <p:cNvPr id="14" name="Shape 12"/>
          <p:cNvSpPr/>
          <p:nvPr/>
        </p:nvSpPr>
        <p:spPr>
          <a:xfrm>
            <a:off x="502920" y="2112264"/>
            <a:ext cx="2258568" cy="438912"/>
          </a:xfrm>
          <a:prstGeom prst="rect">
            <a:avLst>
              <a:gd name="adj" fmla="val 16667"/>
            </a:avLst>
          </a:prstGeom>
          <a:solidFill>
            <a:srgbClr val="18191D"/>
          </a:solidFill>
          <a:ln w="12700">
            <a:solidFill>
              <a:srgbClr val="18191D"/>
            </a:solidFill>
            <a:prstDash val="solid"/>
          </a:ln>
        </p:spPr>
      </p:sp>
      <p:sp>
        <p:nvSpPr>
          <p:cNvPr id="15" name="Text 13"/>
          <p:cNvSpPr/>
          <p:nvPr/>
        </p:nvSpPr>
        <p:spPr>
          <a:xfrm>
            <a:off x="594360" y="2176272"/>
            <a:ext cx="2075688"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Module</a:t>
            </a:r>
            <a:endParaRPr lang="en-US" sz="1250" dirty="0"/>
          </a:p>
        </p:txBody>
      </p:sp>
      <p:sp>
        <p:nvSpPr>
          <p:cNvPr id="16" name="Shape 14"/>
          <p:cNvSpPr/>
          <p:nvPr/>
        </p:nvSpPr>
        <p:spPr>
          <a:xfrm>
            <a:off x="2761488" y="2112264"/>
            <a:ext cx="1316736" cy="438912"/>
          </a:xfrm>
          <a:prstGeom prst="rect">
            <a:avLst>
              <a:gd name="adj" fmla="val 16667"/>
            </a:avLst>
          </a:prstGeom>
          <a:solidFill>
            <a:srgbClr val="18191D"/>
          </a:solidFill>
          <a:ln w="12700">
            <a:solidFill>
              <a:srgbClr val="18191D"/>
            </a:solidFill>
            <a:prstDash val="solid"/>
          </a:ln>
        </p:spPr>
      </p:sp>
      <p:sp>
        <p:nvSpPr>
          <p:cNvPr id="17" name="Text 15"/>
          <p:cNvSpPr/>
          <p:nvPr/>
        </p:nvSpPr>
        <p:spPr>
          <a:xfrm>
            <a:off x="2852928" y="2176272"/>
            <a:ext cx="1133856"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New slides</a:t>
            </a:r>
            <a:endParaRPr lang="en-US" sz="1250" dirty="0"/>
          </a:p>
        </p:txBody>
      </p:sp>
      <p:sp>
        <p:nvSpPr>
          <p:cNvPr id="18" name="Shape 16"/>
          <p:cNvSpPr/>
          <p:nvPr/>
        </p:nvSpPr>
        <p:spPr>
          <a:xfrm>
            <a:off x="4078224" y="2112264"/>
            <a:ext cx="3950208" cy="438912"/>
          </a:xfrm>
          <a:prstGeom prst="rect">
            <a:avLst>
              <a:gd name="adj" fmla="val 16667"/>
            </a:avLst>
          </a:prstGeom>
          <a:solidFill>
            <a:srgbClr val="18191D"/>
          </a:solidFill>
          <a:ln w="12700">
            <a:solidFill>
              <a:srgbClr val="18191D"/>
            </a:solidFill>
            <a:prstDash val="solid"/>
          </a:ln>
        </p:spPr>
      </p:sp>
      <p:sp>
        <p:nvSpPr>
          <p:cNvPr id="19" name="Text 17"/>
          <p:cNvSpPr/>
          <p:nvPr/>
        </p:nvSpPr>
        <p:spPr>
          <a:xfrm>
            <a:off x="4169664" y="2176272"/>
            <a:ext cx="3767328"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Suggested placement in V3</a:t>
            </a:r>
            <a:endParaRPr lang="en-US" sz="1250" dirty="0"/>
          </a:p>
        </p:txBody>
      </p:sp>
      <p:sp>
        <p:nvSpPr>
          <p:cNvPr id="20" name="Shape 18"/>
          <p:cNvSpPr/>
          <p:nvPr/>
        </p:nvSpPr>
        <p:spPr>
          <a:xfrm>
            <a:off x="8028432" y="2112264"/>
            <a:ext cx="3657600" cy="438912"/>
          </a:xfrm>
          <a:prstGeom prst="rect">
            <a:avLst>
              <a:gd name="adj" fmla="val 16667"/>
            </a:avLst>
          </a:prstGeom>
          <a:solidFill>
            <a:srgbClr val="18191D"/>
          </a:solidFill>
          <a:ln w="12700">
            <a:solidFill>
              <a:srgbClr val="18191D"/>
            </a:solidFill>
            <a:prstDash val="solid"/>
          </a:ln>
        </p:spPr>
      </p:sp>
      <p:sp>
        <p:nvSpPr>
          <p:cNvPr id="21" name="Text 19"/>
          <p:cNvSpPr/>
          <p:nvPr/>
        </p:nvSpPr>
        <p:spPr>
          <a:xfrm>
            <a:off x="8119872" y="2176272"/>
            <a:ext cx="3474720" cy="32918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What it adds</a:t>
            </a:r>
            <a:endParaRPr lang="en-US" sz="1250" dirty="0"/>
          </a:p>
        </p:txBody>
      </p:sp>
      <p:sp>
        <p:nvSpPr>
          <p:cNvPr id="22" name="Shape 20"/>
          <p:cNvSpPr/>
          <p:nvPr/>
        </p:nvSpPr>
        <p:spPr>
          <a:xfrm>
            <a:off x="502920" y="2551176"/>
            <a:ext cx="2258568" cy="530352"/>
          </a:xfrm>
          <a:prstGeom prst="rect">
            <a:avLst>
              <a:gd name="adj" fmla="val 13793"/>
            </a:avLst>
          </a:prstGeom>
          <a:solidFill>
            <a:srgbClr val="F3F4F6"/>
          </a:solidFill>
          <a:ln w="8890">
            <a:solidFill>
              <a:srgbClr val="FFFFFF"/>
            </a:solidFill>
            <a:prstDash val="solid"/>
          </a:ln>
        </p:spPr>
      </p:sp>
      <p:sp>
        <p:nvSpPr>
          <p:cNvPr id="23" name="Text 21"/>
          <p:cNvSpPr/>
          <p:nvPr/>
        </p:nvSpPr>
        <p:spPr>
          <a:xfrm>
            <a:off x="594360" y="2628900"/>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Opening / market evidence</a:t>
            </a:r>
            <a:endParaRPr lang="en-US" sz="1400" dirty="0"/>
          </a:p>
        </p:txBody>
      </p:sp>
      <p:sp>
        <p:nvSpPr>
          <p:cNvPr id="24" name="Shape 22"/>
          <p:cNvSpPr/>
          <p:nvPr/>
        </p:nvSpPr>
        <p:spPr>
          <a:xfrm>
            <a:off x="2761488" y="2551176"/>
            <a:ext cx="1316736" cy="530352"/>
          </a:xfrm>
          <a:prstGeom prst="rect">
            <a:avLst>
              <a:gd name="adj" fmla="val 13793"/>
            </a:avLst>
          </a:prstGeom>
          <a:solidFill>
            <a:srgbClr val="F3F4F6"/>
          </a:solidFill>
          <a:ln w="8890">
            <a:solidFill>
              <a:srgbClr val="FFFFFF"/>
            </a:solidFill>
            <a:prstDash val="solid"/>
          </a:ln>
        </p:spPr>
      </p:sp>
      <p:sp>
        <p:nvSpPr>
          <p:cNvPr id="25" name="Text 23"/>
          <p:cNvSpPr/>
          <p:nvPr/>
        </p:nvSpPr>
        <p:spPr>
          <a:xfrm>
            <a:off x="2852928" y="2628900"/>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M01–M04</a:t>
            </a:r>
            <a:endParaRPr lang="en-US" sz="1400" dirty="0"/>
          </a:p>
        </p:txBody>
      </p:sp>
      <p:sp>
        <p:nvSpPr>
          <p:cNvPr id="26" name="Shape 24"/>
          <p:cNvSpPr/>
          <p:nvPr/>
        </p:nvSpPr>
        <p:spPr>
          <a:xfrm>
            <a:off x="4078224" y="2551176"/>
            <a:ext cx="3950208" cy="530352"/>
          </a:xfrm>
          <a:prstGeom prst="rect">
            <a:avLst>
              <a:gd name="adj" fmla="val 13793"/>
            </a:avLst>
          </a:prstGeom>
          <a:solidFill>
            <a:srgbClr val="F3F4F6"/>
          </a:solidFill>
          <a:ln w="8890">
            <a:solidFill>
              <a:srgbClr val="FFFFFF"/>
            </a:solidFill>
            <a:prstDash val="solid"/>
          </a:ln>
        </p:spPr>
      </p:sp>
      <p:sp>
        <p:nvSpPr>
          <p:cNvPr id="27" name="Text 25"/>
          <p:cNvSpPr/>
          <p:nvPr/>
        </p:nvSpPr>
        <p:spPr>
          <a:xfrm>
            <a:off x="4169664" y="2628900"/>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After the cover / before product portfolio</a:t>
            </a:r>
            <a:endParaRPr lang="en-US" sz="1400" dirty="0"/>
          </a:p>
        </p:txBody>
      </p:sp>
      <p:sp>
        <p:nvSpPr>
          <p:cNvPr id="28" name="Shape 26"/>
          <p:cNvSpPr/>
          <p:nvPr/>
        </p:nvSpPr>
        <p:spPr>
          <a:xfrm>
            <a:off x="8028432" y="2551176"/>
            <a:ext cx="3657600" cy="530352"/>
          </a:xfrm>
          <a:prstGeom prst="rect">
            <a:avLst>
              <a:gd name="adj" fmla="val 13793"/>
            </a:avLst>
          </a:prstGeom>
          <a:solidFill>
            <a:srgbClr val="F3F4F6"/>
          </a:solidFill>
          <a:ln w="8890">
            <a:solidFill>
              <a:srgbClr val="FFFFFF"/>
            </a:solidFill>
            <a:prstDash val="solid"/>
          </a:ln>
        </p:spPr>
      </p:sp>
      <p:sp>
        <p:nvSpPr>
          <p:cNvPr id="29" name="Text 27"/>
          <p:cNvSpPr/>
          <p:nvPr/>
        </p:nvSpPr>
        <p:spPr>
          <a:xfrm>
            <a:off x="8119872" y="2628900"/>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Background, actual users, revenue limits and vertical prospects</a:t>
            </a:r>
            <a:endParaRPr lang="en-US" sz="1400" dirty="0"/>
          </a:p>
        </p:txBody>
      </p:sp>
      <p:sp>
        <p:nvSpPr>
          <p:cNvPr id="30" name="Shape 28"/>
          <p:cNvSpPr/>
          <p:nvPr/>
        </p:nvSpPr>
        <p:spPr>
          <a:xfrm>
            <a:off x="502920" y="3081528"/>
            <a:ext cx="2258568" cy="530352"/>
          </a:xfrm>
          <a:prstGeom prst="rect">
            <a:avLst>
              <a:gd name="adj" fmla="val 13793"/>
            </a:avLst>
          </a:prstGeom>
          <a:solidFill>
            <a:srgbClr val="FFFFFF"/>
          </a:solidFill>
          <a:ln w="8890">
            <a:solidFill>
              <a:srgbClr val="FFFFFF"/>
            </a:solidFill>
            <a:prstDash val="solid"/>
          </a:ln>
        </p:spPr>
      </p:sp>
      <p:sp>
        <p:nvSpPr>
          <p:cNvPr id="31" name="Text 29"/>
          <p:cNvSpPr/>
          <p:nvPr/>
        </p:nvSpPr>
        <p:spPr>
          <a:xfrm>
            <a:off x="594360" y="3159252"/>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Competitive gap</a:t>
            </a:r>
            <a:endParaRPr lang="en-US" sz="1400" dirty="0"/>
          </a:p>
        </p:txBody>
      </p:sp>
      <p:sp>
        <p:nvSpPr>
          <p:cNvPr id="32" name="Shape 30"/>
          <p:cNvSpPr/>
          <p:nvPr/>
        </p:nvSpPr>
        <p:spPr>
          <a:xfrm>
            <a:off x="2761488" y="3081528"/>
            <a:ext cx="1316736" cy="530352"/>
          </a:xfrm>
          <a:prstGeom prst="rect">
            <a:avLst>
              <a:gd name="adj" fmla="val 13793"/>
            </a:avLst>
          </a:prstGeom>
          <a:solidFill>
            <a:srgbClr val="FFFFFF"/>
          </a:solidFill>
          <a:ln w="8890">
            <a:solidFill>
              <a:srgbClr val="FFFFFF"/>
            </a:solidFill>
            <a:prstDash val="solid"/>
          </a:ln>
        </p:spPr>
      </p:sp>
      <p:sp>
        <p:nvSpPr>
          <p:cNvPr id="33" name="Text 31"/>
          <p:cNvSpPr/>
          <p:nvPr/>
        </p:nvSpPr>
        <p:spPr>
          <a:xfrm>
            <a:off x="2852928" y="3159252"/>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M05–M06</a:t>
            </a:r>
            <a:endParaRPr lang="en-US" sz="1400" dirty="0"/>
          </a:p>
        </p:txBody>
      </p:sp>
      <p:sp>
        <p:nvSpPr>
          <p:cNvPr id="34" name="Shape 32"/>
          <p:cNvSpPr/>
          <p:nvPr/>
        </p:nvSpPr>
        <p:spPr>
          <a:xfrm>
            <a:off x="4078224" y="3081528"/>
            <a:ext cx="3950208" cy="530352"/>
          </a:xfrm>
          <a:prstGeom prst="rect">
            <a:avLst>
              <a:gd name="adj" fmla="val 13793"/>
            </a:avLst>
          </a:prstGeom>
          <a:solidFill>
            <a:srgbClr val="FFFFFF"/>
          </a:solidFill>
          <a:ln w="8890">
            <a:solidFill>
              <a:srgbClr val="FFFFFF"/>
            </a:solidFill>
            <a:prstDash val="solid"/>
          </a:ln>
        </p:spPr>
      </p:sp>
      <p:sp>
        <p:nvSpPr>
          <p:cNvPr id="35" name="Text 33"/>
          <p:cNvSpPr/>
          <p:nvPr/>
        </p:nvSpPr>
        <p:spPr>
          <a:xfrm>
            <a:off x="4169664" y="3159252"/>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After the market opening</a:t>
            </a:r>
            <a:endParaRPr lang="en-US" sz="1400" dirty="0"/>
          </a:p>
        </p:txBody>
      </p:sp>
      <p:sp>
        <p:nvSpPr>
          <p:cNvPr id="36" name="Shape 34"/>
          <p:cNvSpPr/>
          <p:nvPr/>
        </p:nvSpPr>
        <p:spPr>
          <a:xfrm>
            <a:off x="8028432" y="3081528"/>
            <a:ext cx="3657600" cy="530352"/>
          </a:xfrm>
          <a:prstGeom prst="rect">
            <a:avLst>
              <a:gd name="adj" fmla="val 13793"/>
            </a:avLst>
          </a:prstGeom>
          <a:solidFill>
            <a:srgbClr val="FFFFFF"/>
          </a:solidFill>
          <a:ln w="8890">
            <a:solidFill>
              <a:srgbClr val="FFFFFF"/>
            </a:solidFill>
            <a:prstDash val="solid"/>
          </a:ln>
        </p:spPr>
      </p:sp>
      <p:sp>
        <p:nvSpPr>
          <p:cNvPr id="37" name="Text 35"/>
          <p:cNvSpPr/>
          <p:nvPr/>
        </p:nvSpPr>
        <p:spPr>
          <a:xfrm>
            <a:off x="8119872" y="3159252"/>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Occupied segments and the precise workload gap to prove</a:t>
            </a:r>
            <a:endParaRPr lang="en-US" sz="1400" dirty="0"/>
          </a:p>
        </p:txBody>
      </p:sp>
      <p:sp>
        <p:nvSpPr>
          <p:cNvPr id="38" name="Shape 36"/>
          <p:cNvSpPr/>
          <p:nvPr/>
        </p:nvSpPr>
        <p:spPr>
          <a:xfrm>
            <a:off x="502920" y="3611880"/>
            <a:ext cx="2258568" cy="530352"/>
          </a:xfrm>
          <a:prstGeom prst="rect">
            <a:avLst>
              <a:gd name="adj" fmla="val 13793"/>
            </a:avLst>
          </a:prstGeom>
          <a:solidFill>
            <a:srgbClr val="F3F4F6"/>
          </a:solidFill>
          <a:ln w="8890">
            <a:solidFill>
              <a:srgbClr val="FFFFFF"/>
            </a:solidFill>
            <a:prstDash val="solid"/>
          </a:ln>
        </p:spPr>
      </p:sp>
      <p:sp>
        <p:nvSpPr>
          <p:cNvPr id="39" name="Text 37"/>
          <p:cNvSpPr/>
          <p:nvPr/>
        </p:nvSpPr>
        <p:spPr>
          <a:xfrm>
            <a:off x="594360" y="3689604"/>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SKU stories</a:t>
            </a:r>
            <a:endParaRPr lang="en-US" sz="1400" dirty="0"/>
          </a:p>
        </p:txBody>
      </p:sp>
      <p:sp>
        <p:nvSpPr>
          <p:cNvPr id="40" name="Shape 38"/>
          <p:cNvSpPr/>
          <p:nvPr/>
        </p:nvSpPr>
        <p:spPr>
          <a:xfrm>
            <a:off x="2761488" y="3611880"/>
            <a:ext cx="1316736" cy="530352"/>
          </a:xfrm>
          <a:prstGeom prst="rect">
            <a:avLst>
              <a:gd name="adj" fmla="val 13793"/>
            </a:avLst>
          </a:prstGeom>
          <a:solidFill>
            <a:srgbClr val="F3F4F6"/>
          </a:solidFill>
          <a:ln w="8890">
            <a:solidFill>
              <a:srgbClr val="FFFFFF"/>
            </a:solidFill>
            <a:prstDash val="solid"/>
          </a:ln>
        </p:spPr>
      </p:sp>
      <p:sp>
        <p:nvSpPr>
          <p:cNvPr id="41" name="Text 39"/>
          <p:cNvSpPr/>
          <p:nvPr/>
        </p:nvSpPr>
        <p:spPr>
          <a:xfrm>
            <a:off x="2852928" y="3689604"/>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M07–M08</a:t>
            </a:r>
            <a:endParaRPr lang="en-US" sz="1400" dirty="0"/>
          </a:p>
        </p:txBody>
      </p:sp>
      <p:sp>
        <p:nvSpPr>
          <p:cNvPr id="42" name="Shape 40"/>
          <p:cNvSpPr/>
          <p:nvPr/>
        </p:nvSpPr>
        <p:spPr>
          <a:xfrm>
            <a:off x="4078224" y="3611880"/>
            <a:ext cx="3950208" cy="530352"/>
          </a:xfrm>
          <a:prstGeom prst="rect">
            <a:avLst>
              <a:gd name="adj" fmla="val 13793"/>
            </a:avLst>
          </a:prstGeom>
          <a:solidFill>
            <a:srgbClr val="F3F4F6"/>
          </a:solidFill>
          <a:ln w="8890">
            <a:solidFill>
              <a:srgbClr val="FFFFFF"/>
            </a:solidFill>
            <a:prstDash val="solid"/>
          </a:ln>
        </p:spPr>
      </p:sp>
      <p:sp>
        <p:nvSpPr>
          <p:cNvPr id="43" name="Text 41"/>
          <p:cNvSpPr/>
          <p:nvPr/>
        </p:nvSpPr>
        <p:spPr>
          <a:xfrm>
            <a:off x="4169664" y="3689604"/>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Beside the five-profile portfolio slide</a:t>
            </a:r>
            <a:endParaRPr lang="en-US" sz="1400" dirty="0"/>
          </a:p>
        </p:txBody>
      </p:sp>
      <p:sp>
        <p:nvSpPr>
          <p:cNvPr id="44" name="Shape 42"/>
          <p:cNvSpPr/>
          <p:nvPr/>
        </p:nvSpPr>
        <p:spPr>
          <a:xfrm>
            <a:off x="8028432" y="3611880"/>
            <a:ext cx="3657600" cy="530352"/>
          </a:xfrm>
          <a:prstGeom prst="rect">
            <a:avLst>
              <a:gd name="adj" fmla="val 13793"/>
            </a:avLst>
          </a:prstGeom>
          <a:solidFill>
            <a:srgbClr val="F3F4F6"/>
          </a:solidFill>
          <a:ln w="8890">
            <a:solidFill>
              <a:srgbClr val="FFFFFF"/>
            </a:solidFill>
            <a:prstDash val="solid"/>
          </a:ln>
        </p:spPr>
      </p:sp>
      <p:sp>
        <p:nvSpPr>
          <p:cNvPr id="45" name="Text 43"/>
          <p:cNvSpPr/>
          <p:nvPr/>
        </p:nvSpPr>
        <p:spPr>
          <a:xfrm>
            <a:off x="8119872" y="3689604"/>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A concrete workflow and customer outcome for every density</a:t>
            </a:r>
            <a:endParaRPr lang="en-US" sz="1400" dirty="0"/>
          </a:p>
        </p:txBody>
      </p:sp>
      <p:sp>
        <p:nvSpPr>
          <p:cNvPr id="46" name="Shape 44"/>
          <p:cNvSpPr/>
          <p:nvPr/>
        </p:nvSpPr>
        <p:spPr>
          <a:xfrm>
            <a:off x="502920" y="4142232"/>
            <a:ext cx="2258568" cy="530352"/>
          </a:xfrm>
          <a:prstGeom prst="rect">
            <a:avLst>
              <a:gd name="adj" fmla="val 13793"/>
            </a:avLst>
          </a:prstGeom>
          <a:solidFill>
            <a:srgbClr val="FFFFFF"/>
          </a:solidFill>
          <a:ln w="8890">
            <a:solidFill>
              <a:srgbClr val="FFFFFF"/>
            </a:solidFill>
            <a:prstDash val="solid"/>
          </a:ln>
        </p:spPr>
      </p:sp>
      <p:sp>
        <p:nvSpPr>
          <p:cNvPr id="47" name="Text 45"/>
          <p:cNvSpPr/>
          <p:nvPr/>
        </p:nvSpPr>
        <p:spPr>
          <a:xfrm>
            <a:off x="594360" y="4219956"/>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Resources / performance</a:t>
            </a:r>
            <a:endParaRPr lang="en-US" sz="1400" dirty="0"/>
          </a:p>
        </p:txBody>
      </p:sp>
      <p:sp>
        <p:nvSpPr>
          <p:cNvPr id="48" name="Shape 46"/>
          <p:cNvSpPr/>
          <p:nvPr/>
        </p:nvSpPr>
        <p:spPr>
          <a:xfrm>
            <a:off x="2761488" y="4142232"/>
            <a:ext cx="1316736" cy="530352"/>
          </a:xfrm>
          <a:prstGeom prst="rect">
            <a:avLst>
              <a:gd name="adj" fmla="val 13793"/>
            </a:avLst>
          </a:prstGeom>
          <a:solidFill>
            <a:srgbClr val="FFFFFF"/>
          </a:solidFill>
          <a:ln w="8890">
            <a:solidFill>
              <a:srgbClr val="FFFFFF"/>
            </a:solidFill>
            <a:prstDash val="solid"/>
          </a:ln>
        </p:spPr>
      </p:sp>
      <p:sp>
        <p:nvSpPr>
          <p:cNvPr id="49" name="Text 47"/>
          <p:cNvSpPr/>
          <p:nvPr/>
        </p:nvSpPr>
        <p:spPr>
          <a:xfrm>
            <a:off x="2852928" y="4219956"/>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M09–M13</a:t>
            </a:r>
            <a:endParaRPr lang="en-US" sz="1400" dirty="0"/>
          </a:p>
        </p:txBody>
      </p:sp>
      <p:sp>
        <p:nvSpPr>
          <p:cNvPr id="50" name="Shape 48"/>
          <p:cNvSpPr/>
          <p:nvPr/>
        </p:nvSpPr>
        <p:spPr>
          <a:xfrm>
            <a:off x="4078224" y="4142232"/>
            <a:ext cx="3950208" cy="530352"/>
          </a:xfrm>
          <a:prstGeom prst="rect">
            <a:avLst>
              <a:gd name="adj" fmla="val 13793"/>
            </a:avLst>
          </a:prstGeom>
          <a:solidFill>
            <a:srgbClr val="FFFFFF"/>
          </a:solidFill>
          <a:ln w="8890">
            <a:solidFill>
              <a:srgbClr val="FFFFFF"/>
            </a:solidFill>
            <a:prstDash val="solid"/>
          </a:ln>
        </p:spPr>
      </p:sp>
      <p:sp>
        <p:nvSpPr>
          <p:cNvPr id="51" name="Text 49"/>
          <p:cNvSpPr/>
          <p:nvPr/>
        </p:nvSpPr>
        <p:spPr>
          <a:xfrm>
            <a:off x="4169664" y="4219956"/>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Beside specification and performance slides</a:t>
            </a:r>
            <a:endParaRPr lang="en-US" sz="1400" dirty="0"/>
          </a:p>
        </p:txBody>
      </p:sp>
      <p:sp>
        <p:nvSpPr>
          <p:cNvPr id="52" name="Shape 50"/>
          <p:cNvSpPr/>
          <p:nvPr/>
        </p:nvSpPr>
        <p:spPr>
          <a:xfrm>
            <a:off x="8028432" y="4142232"/>
            <a:ext cx="3657600" cy="530352"/>
          </a:xfrm>
          <a:prstGeom prst="rect">
            <a:avLst>
              <a:gd name="adj" fmla="val 13793"/>
            </a:avLst>
          </a:prstGeom>
          <a:solidFill>
            <a:srgbClr val="FFFFFF"/>
          </a:solidFill>
          <a:ln w="8890">
            <a:solidFill>
              <a:srgbClr val="FFFFFF"/>
            </a:solidFill>
            <a:prstDash val="solid"/>
          </a:ln>
        </p:spPr>
      </p:sp>
      <p:sp>
        <p:nvSpPr>
          <p:cNvPr id="53" name="Text 51"/>
          <p:cNvSpPr/>
          <p:nvPr/>
        </p:nvSpPr>
        <p:spPr>
          <a:xfrm>
            <a:off x="8119872" y="4219956"/>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Memory and bandwidth heatmaps; G1/R1 targets; contextual benchmarks</a:t>
            </a:r>
            <a:endParaRPr lang="en-US" sz="1400" dirty="0"/>
          </a:p>
        </p:txBody>
      </p:sp>
      <p:sp>
        <p:nvSpPr>
          <p:cNvPr id="54" name="Shape 52"/>
          <p:cNvSpPr/>
          <p:nvPr/>
        </p:nvSpPr>
        <p:spPr>
          <a:xfrm>
            <a:off x="502920" y="4672584"/>
            <a:ext cx="2258568" cy="530352"/>
          </a:xfrm>
          <a:prstGeom prst="rect">
            <a:avLst>
              <a:gd name="adj" fmla="val 13793"/>
            </a:avLst>
          </a:prstGeom>
          <a:solidFill>
            <a:srgbClr val="F3F4F6"/>
          </a:solidFill>
          <a:ln w="8890">
            <a:solidFill>
              <a:srgbClr val="FFFFFF"/>
            </a:solidFill>
            <a:prstDash val="solid"/>
          </a:ln>
        </p:spPr>
      </p:sp>
      <p:sp>
        <p:nvSpPr>
          <p:cNvPr id="55" name="Text 53"/>
          <p:cNvSpPr/>
          <p:nvPr/>
        </p:nvSpPr>
        <p:spPr>
          <a:xfrm>
            <a:off x="594360" y="4750308"/>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OEM / decision</a:t>
            </a:r>
            <a:endParaRPr lang="en-US" sz="1400" dirty="0"/>
          </a:p>
        </p:txBody>
      </p:sp>
      <p:sp>
        <p:nvSpPr>
          <p:cNvPr id="56" name="Shape 54"/>
          <p:cNvSpPr/>
          <p:nvPr/>
        </p:nvSpPr>
        <p:spPr>
          <a:xfrm>
            <a:off x="2761488" y="4672584"/>
            <a:ext cx="1316736" cy="530352"/>
          </a:xfrm>
          <a:prstGeom prst="rect">
            <a:avLst>
              <a:gd name="adj" fmla="val 13793"/>
            </a:avLst>
          </a:prstGeom>
          <a:solidFill>
            <a:srgbClr val="F3F4F6"/>
          </a:solidFill>
          <a:ln w="8890">
            <a:solidFill>
              <a:srgbClr val="FFFFFF"/>
            </a:solidFill>
            <a:prstDash val="solid"/>
          </a:ln>
        </p:spPr>
      </p:sp>
      <p:sp>
        <p:nvSpPr>
          <p:cNvPr id="57" name="Text 55"/>
          <p:cNvSpPr/>
          <p:nvPr/>
        </p:nvSpPr>
        <p:spPr>
          <a:xfrm>
            <a:off x="2852928" y="4750308"/>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M14–M16</a:t>
            </a:r>
            <a:endParaRPr lang="en-US" sz="1400" dirty="0"/>
          </a:p>
        </p:txBody>
      </p:sp>
      <p:sp>
        <p:nvSpPr>
          <p:cNvPr id="58" name="Shape 56"/>
          <p:cNvSpPr/>
          <p:nvPr/>
        </p:nvSpPr>
        <p:spPr>
          <a:xfrm>
            <a:off x="4078224" y="4672584"/>
            <a:ext cx="3950208" cy="530352"/>
          </a:xfrm>
          <a:prstGeom prst="rect">
            <a:avLst>
              <a:gd name="adj" fmla="val 13793"/>
            </a:avLst>
          </a:prstGeom>
          <a:solidFill>
            <a:srgbClr val="F3F4F6"/>
          </a:solidFill>
          <a:ln w="8890">
            <a:solidFill>
              <a:srgbClr val="FFFFFF"/>
            </a:solidFill>
            <a:prstDash val="solid"/>
          </a:ln>
        </p:spPr>
      </p:sp>
      <p:sp>
        <p:nvSpPr>
          <p:cNvPr id="59" name="Text 57"/>
          <p:cNvSpPr/>
          <p:nvPr/>
        </p:nvSpPr>
        <p:spPr>
          <a:xfrm>
            <a:off x="4169664" y="4750308"/>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Beside OEM strategy and approval request</a:t>
            </a:r>
            <a:endParaRPr lang="en-US" sz="1400" dirty="0"/>
          </a:p>
        </p:txBody>
      </p:sp>
      <p:sp>
        <p:nvSpPr>
          <p:cNvPr id="60" name="Shape 58"/>
          <p:cNvSpPr/>
          <p:nvPr/>
        </p:nvSpPr>
        <p:spPr>
          <a:xfrm>
            <a:off x="8028432" y="4672584"/>
            <a:ext cx="3657600" cy="530352"/>
          </a:xfrm>
          <a:prstGeom prst="rect">
            <a:avLst>
              <a:gd name="adj" fmla="val 13793"/>
            </a:avLst>
          </a:prstGeom>
          <a:solidFill>
            <a:srgbClr val="F3F4F6"/>
          </a:solidFill>
          <a:ln w="8890">
            <a:solidFill>
              <a:srgbClr val="FFFFFF"/>
            </a:solidFill>
            <a:prstDash val="solid"/>
          </a:ln>
        </p:spPr>
      </p:sp>
      <p:sp>
        <p:nvSpPr>
          <p:cNvPr id="61" name="Text 59"/>
          <p:cNvSpPr/>
          <p:nvPr/>
        </p:nvSpPr>
        <p:spPr>
          <a:xfrm>
            <a:off x="8119872" y="4750308"/>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Conditional partner order and delivery contracts</a:t>
            </a:r>
            <a:endParaRPr lang="en-US" sz="1400" dirty="0"/>
          </a:p>
        </p:txBody>
      </p:sp>
      <p:sp>
        <p:nvSpPr>
          <p:cNvPr id="62" name="Shape 60"/>
          <p:cNvSpPr/>
          <p:nvPr/>
        </p:nvSpPr>
        <p:spPr>
          <a:xfrm>
            <a:off x="502920" y="5202936"/>
            <a:ext cx="2258568" cy="530352"/>
          </a:xfrm>
          <a:prstGeom prst="rect">
            <a:avLst>
              <a:gd name="adj" fmla="val 13793"/>
            </a:avLst>
          </a:prstGeom>
          <a:solidFill>
            <a:srgbClr val="FFFFFF"/>
          </a:solidFill>
          <a:ln w="8890">
            <a:solidFill>
              <a:srgbClr val="FFFFFF"/>
            </a:solidFill>
            <a:prstDash val="solid"/>
          </a:ln>
        </p:spPr>
      </p:sp>
      <p:sp>
        <p:nvSpPr>
          <p:cNvPr id="63" name="Text 61"/>
          <p:cNvSpPr/>
          <p:nvPr/>
        </p:nvSpPr>
        <p:spPr>
          <a:xfrm>
            <a:off x="594360" y="5280660"/>
            <a:ext cx="2075688" cy="402336"/>
          </a:xfrm>
          <a:prstGeom prst="rect">
            <a:avLst/>
          </a:prstGeom>
          <a:noFill/>
          <a:ln/>
        </p:spPr>
        <p:txBody>
          <a:bodyPr wrap="square" lIns="0" tIns="0" rIns="0" bIns="0" rtlCol="0" anchor="ctr"/>
          <a:lstStyle/>
          <a:p>
            <a:pPr indent="0" marL="0">
              <a:buNone/>
            </a:pPr>
            <a:r>
              <a:rPr lang="en-US" sz="1400" b="1" dirty="0">
                <a:solidFill>
                  <a:srgbClr val="18191D"/>
                </a:solidFill>
                <a:latin typeface="Arial" pitchFamily="34" charset="0"/>
                <a:ea typeface="Arial" pitchFamily="34" charset="-122"/>
                <a:cs typeface="Arial" pitchFamily="34" charset="-120"/>
              </a:rPr>
              <a:t>Source register</a:t>
            </a:r>
            <a:endParaRPr lang="en-US" sz="1400" dirty="0"/>
          </a:p>
        </p:txBody>
      </p:sp>
      <p:sp>
        <p:nvSpPr>
          <p:cNvPr id="64" name="Shape 62"/>
          <p:cNvSpPr/>
          <p:nvPr/>
        </p:nvSpPr>
        <p:spPr>
          <a:xfrm>
            <a:off x="2761488" y="5202936"/>
            <a:ext cx="1316736" cy="530352"/>
          </a:xfrm>
          <a:prstGeom prst="rect">
            <a:avLst>
              <a:gd name="adj" fmla="val 13793"/>
            </a:avLst>
          </a:prstGeom>
          <a:solidFill>
            <a:srgbClr val="FFFFFF"/>
          </a:solidFill>
          <a:ln w="8890">
            <a:solidFill>
              <a:srgbClr val="FFFFFF"/>
            </a:solidFill>
            <a:prstDash val="solid"/>
          </a:ln>
        </p:spPr>
      </p:sp>
      <p:sp>
        <p:nvSpPr>
          <p:cNvPr id="65" name="Text 63"/>
          <p:cNvSpPr/>
          <p:nvPr/>
        </p:nvSpPr>
        <p:spPr>
          <a:xfrm>
            <a:off x="2852928" y="5280660"/>
            <a:ext cx="1133856"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M18–M20</a:t>
            </a:r>
            <a:endParaRPr lang="en-US" sz="1400" dirty="0"/>
          </a:p>
        </p:txBody>
      </p:sp>
      <p:sp>
        <p:nvSpPr>
          <p:cNvPr id="66" name="Shape 64"/>
          <p:cNvSpPr/>
          <p:nvPr/>
        </p:nvSpPr>
        <p:spPr>
          <a:xfrm>
            <a:off x="4078224" y="5202936"/>
            <a:ext cx="3950208" cy="530352"/>
          </a:xfrm>
          <a:prstGeom prst="rect">
            <a:avLst>
              <a:gd name="adj" fmla="val 13793"/>
            </a:avLst>
          </a:prstGeom>
          <a:solidFill>
            <a:srgbClr val="FFFFFF"/>
          </a:solidFill>
          <a:ln w="8890">
            <a:solidFill>
              <a:srgbClr val="FFFFFF"/>
            </a:solidFill>
            <a:prstDash val="solid"/>
          </a:ln>
        </p:spPr>
      </p:sp>
      <p:sp>
        <p:nvSpPr>
          <p:cNvPr id="67" name="Text 65"/>
          <p:cNvSpPr/>
          <p:nvPr/>
        </p:nvSpPr>
        <p:spPr>
          <a:xfrm>
            <a:off x="4169664" y="5280660"/>
            <a:ext cx="3767328"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Backup / reference section</a:t>
            </a:r>
            <a:endParaRPr lang="en-US" sz="1400" dirty="0"/>
          </a:p>
        </p:txBody>
      </p:sp>
      <p:sp>
        <p:nvSpPr>
          <p:cNvPr id="68" name="Shape 66"/>
          <p:cNvSpPr/>
          <p:nvPr/>
        </p:nvSpPr>
        <p:spPr>
          <a:xfrm>
            <a:off x="8028432" y="5202936"/>
            <a:ext cx="3657600" cy="530352"/>
          </a:xfrm>
          <a:prstGeom prst="rect">
            <a:avLst>
              <a:gd name="adj" fmla="val 13793"/>
            </a:avLst>
          </a:prstGeom>
          <a:solidFill>
            <a:srgbClr val="FFFFFF"/>
          </a:solidFill>
          <a:ln w="8890">
            <a:solidFill>
              <a:srgbClr val="FFFFFF"/>
            </a:solidFill>
            <a:prstDash val="solid"/>
          </a:ln>
        </p:spPr>
      </p:sp>
      <p:sp>
        <p:nvSpPr>
          <p:cNvPr id="69" name="Text 67"/>
          <p:cNvSpPr/>
          <p:nvPr/>
        </p:nvSpPr>
        <p:spPr>
          <a:xfrm>
            <a:off x="8119872" y="5280660"/>
            <a:ext cx="3474720" cy="402336"/>
          </a:xfrm>
          <a:prstGeom prst="rect">
            <a:avLst/>
          </a:prstGeom>
          <a:noFill/>
          <a:ln/>
        </p:spPr>
        <p:txBody>
          <a:bodyPr wrap="square" lIns="0" tIns="0" rIns="0" bIns="0" rtlCol="0" anchor="ctr"/>
          <a:lstStyle/>
          <a:p>
            <a:pPr indent="0" marL="0">
              <a:buNone/>
            </a:pPr>
            <a:r>
              <a:rPr lang="en-US" sz="1400" dirty="0">
                <a:solidFill>
                  <a:srgbClr val="18191D"/>
                </a:solidFill>
                <a:latin typeface="Arial" pitchFamily="34" charset="0"/>
                <a:ea typeface="Arial" pitchFamily="34" charset="-122"/>
                <a:cs typeface="Arial" pitchFamily="34" charset="-120"/>
              </a:rPr>
              <a:t>Clickable primary sources and source-scope boundaries</a:t>
            </a:r>
            <a:endParaRPr lang="en-US" sz="1400" dirty="0"/>
          </a:p>
        </p:txBody>
      </p:sp>
      <p:sp>
        <p:nvSpPr>
          <p:cNvPr id="70" name="Text 68"/>
          <p:cNvSpPr/>
          <p:nvPr/>
        </p:nvSpPr>
        <p:spPr>
          <a:xfrm>
            <a:off x="566928" y="5843016"/>
            <a:ext cx="11009376" cy="164592"/>
          </a:xfrm>
          <a:prstGeom prst="rect">
            <a:avLst/>
          </a:prstGeom>
          <a:noFill/>
          <a:ln/>
        </p:spPr>
        <p:txBody>
          <a:bodyPr wrap="square" lIns="0" tIns="0" rIns="0" bIns="0" rtlCol="0" anchor="ctr"/>
          <a:lstStyle/>
          <a:p>
            <a:pPr indent="0" marL="0">
              <a:buNone/>
            </a:pPr>
            <a:r>
              <a:rPr lang="en-US" sz="1080" dirty="0">
                <a:solidFill>
                  <a:srgbClr val="5B6169"/>
                </a:solidFill>
                <a:latin typeface="Arial" pitchFamily="34" charset="0"/>
                <a:ea typeface="Arial" pitchFamily="34" charset="-122"/>
                <a:cs typeface="Arial" pitchFamily="34" charset="-120"/>
              </a:rPr>
              <a:t>P = published specification  |  T = proposed target  |  NB = no matched benchmark  |  N/D = revenue not disclosed</a:t>
            </a:r>
            <a:endParaRPr lang="en-US"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CUSTOMER + REVENUE SOURCES</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Sources: disclosures and named customer activity.</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Clickable titles. Full URLs and claim boundaries are also recorded in presenter notes.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Internal [I1]: V3 PRD §§2–6, 9, 13, 15–17. Specs and service numbers remain planning requirements until qualification.</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[S01] [S02] [S03] [S04] [S05] [S06] [S07]</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§sources</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M18</a:t>
            </a:r>
            <a:endParaRPr lang="en-US" sz="920" dirty="0"/>
          </a:p>
        </p:txBody>
      </p:sp>
      <p:sp>
        <p:nvSpPr>
          <p:cNvPr id="14" name="Shape 12"/>
          <p:cNvSpPr/>
          <p:nvPr/>
        </p:nvSpPr>
        <p:spPr>
          <a:xfrm>
            <a:off x="502920" y="2112264"/>
            <a:ext cx="11183112" cy="448056"/>
          </a:xfrm>
          <a:prstGeom prst="rect">
            <a:avLst>
              <a:gd name="adj" fmla="val 16327"/>
            </a:avLst>
          </a:prstGeom>
          <a:solidFill>
            <a:srgbClr val="F3F4F6"/>
          </a:solidFill>
          <a:ln w="12700">
            <a:solidFill>
              <a:srgbClr val="F3F4F6"/>
            </a:solidFill>
            <a:prstDash val="solid"/>
          </a:ln>
        </p:spPr>
      </p:sp>
      <p:sp>
        <p:nvSpPr>
          <p:cNvPr id="15" name="Shape 13"/>
          <p:cNvSpPr/>
          <p:nvPr/>
        </p:nvSpPr>
        <p:spPr>
          <a:xfrm>
            <a:off x="621792" y="2208276"/>
            <a:ext cx="493776" cy="237744"/>
          </a:xfrm>
          <a:prstGeom prst="rect">
            <a:avLst>
              <a:gd name="adj" fmla="val 30769"/>
            </a:avLst>
          </a:prstGeom>
          <a:solidFill>
            <a:srgbClr val="FCECF0"/>
          </a:solidFill>
          <a:ln w="12700">
            <a:solidFill>
              <a:srgbClr val="FCECF0"/>
            </a:solidFill>
            <a:prstDash val="solid"/>
          </a:ln>
        </p:spPr>
      </p:sp>
      <p:sp>
        <p:nvSpPr>
          <p:cNvPr id="16" name="Text 14"/>
          <p:cNvSpPr/>
          <p:nvPr/>
        </p:nvSpPr>
        <p:spPr>
          <a:xfrm>
            <a:off x="694944" y="2231136"/>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S01</a:t>
            </a:r>
            <a:endParaRPr lang="en-US" sz="1050" dirty="0"/>
          </a:p>
        </p:txBody>
      </p:sp>
      <p:sp>
        <p:nvSpPr>
          <p:cNvPr id="17" name="Text 15">
            <a:hlinkClick r:id="rId2" tooltip=""/>
          </p:cNvPr>
          <p:cNvSpPr/>
          <p:nvPr/>
        </p:nvSpPr>
        <p:spPr>
          <a:xfrm>
            <a:off x="1261872" y="2176272"/>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 FY2027 Q2 Form 10-Q</a:t>
            </a:r>
            <a:endParaRPr lang="en-US" sz="1500" dirty="0"/>
          </a:p>
        </p:txBody>
      </p:sp>
      <p:sp>
        <p:nvSpPr>
          <p:cNvPr id="18" name="Text 16"/>
          <p:cNvSpPr/>
          <p:nvPr/>
        </p:nvSpPr>
        <p:spPr>
          <a:xfrm>
            <a:off x="1261872" y="2386584"/>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Quarterly platform totals; no vertical split.</a:t>
            </a:r>
            <a:endParaRPr lang="en-US" sz="980" dirty="0"/>
          </a:p>
        </p:txBody>
      </p:sp>
      <p:sp>
        <p:nvSpPr>
          <p:cNvPr id="19" name="Shape 17"/>
          <p:cNvSpPr/>
          <p:nvPr/>
        </p:nvSpPr>
        <p:spPr>
          <a:xfrm>
            <a:off x="502920" y="2613355"/>
            <a:ext cx="11183112" cy="448056"/>
          </a:xfrm>
          <a:prstGeom prst="rect">
            <a:avLst>
              <a:gd name="adj" fmla="val 16327"/>
            </a:avLst>
          </a:prstGeom>
          <a:solidFill>
            <a:srgbClr val="FFFFFF"/>
          </a:solidFill>
          <a:ln w="12700">
            <a:solidFill>
              <a:srgbClr val="FFFFFF"/>
            </a:solidFill>
            <a:prstDash val="solid"/>
          </a:ln>
        </p:spPr>
      </p:sp>
      <p:sp>
        <p:nvSpPr>
          <p:cNvPr id="20" name="Shape 18"/>
          <p:cNvSpPr/>
          <p:nvPr/>
        </p:nvSpPr>
        <p:spPr>
          <a:xfrm>
            <a:off x="621792" y="2709367"/>
            <a:ext cx="493776" cy="237744"/>
          </a:xfrm>
          <a:prstGeom prst="rect">
            <a:avLst>
              <a:gd name="adj" fmla="val 30769"/>
            </a:avLst>
          </a:prstGeom>
          <a:solidFill>
            <a:srgbClr val="FCECF0"/>
          </a:solidFill>
          <a:ln w="12700">
            <a:solidFill>
              <a:srgbClr val="FCECF0"/>
            </a:solidFill>
            <a:prstDash val="solid"/>
          </a:ln>
        </p:spPr>
      </p:sp>
      <p:sp>
        <p:nvSpPr>
          <p:cNvPr id="21" name="Text 19"/>
          <p:cNvSpPr/>
          <p:nvPr/>
        </p:nvSpPr>
        <p:spPr>
          <a:xfrm>
            <a:off x="694944" y="2732227"/>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S02</a:t>
            </a:r>
            <a:endParaRPr lang="en-US" sz="1050" dirty="0"/>
          </a:p>
        </p:txBody>
      </p:sp>
      <p:sp>
        <p:nvSpPr>
          <p:cNvPr id="22" name="Text 20">
            <a:hlinkClick r:id="rId3" tooltip=""/>
          </p:cNvPr>
          <p:cNvSpPr/>
          <p:nvPr/>
        </p:nvSpPr>
        <p:spPr>
          <a:xfrm>
            <a:off x="1261872" y="2677363"/>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NVIDIA customer story — EPRI</a:t>
            </a:r>
            <a:endParaRPr lang="en-US" sz="1500" dirty="0"/>
          </a:p>
        </p:txBody>
      </p:sp>
      <p:sp>
        <p:nvSpPr>
          <p:cNvPr id="23" name="Text 21"/>
          <p:cNvSpPr/>
          <p:nvPr/>
        </p:nvSpPr>
        <p:spPr>
          <a:xfrm>
            <a:off x="1261872" y="2887675"/>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Vendor-reported local knowledge example; caching and warmup matter.</a:t>
            </a:r>
            <a:endParaRPr lang="en-US" sz="980" dirty="0"/>
          </a:p>
        </p:txBody>
      </p:sp>
      <p:sp>
        <p:nvSpPr>
          <p:cNvPr id="24" name="Shape 22"/>
          <p:cNvSpPr/>
          <p:nvPr/>
        </p:nvSpPr>
        <p:spPr>
          <a:xfrm>
            <a:off x="502920" y="3114446"/>
            <a:ext cx="11183112" cy="448056"/>
          </a:xfrm>
          <a:prstGeom prst="rect">
            <a:avLst>
              <a:gd name="adj" fmla="val 16327"/>
            </a:avLst>
          </a:prstGeom>
          <a:solidFill>
            <a:srgbClr val="F3F4F6"/>
          </a:solidFill>
          <a:ln w="12700">
            <a:solidFill>
              <a:srgbClr val="F3F4F6"/>
            </a:solidFill>
            <a:prstDash val="solid"/>
          </a:ln>
        </p:spPr>
      </p:sp>
      <p:sp>
        <p:nvSpPr>
          <p:cNvPr id="25" name="Shape 23"/>
          <p:cNvSpPr/>
          <p:nvPr/>
        </p:nvSpPr>
        <p:spPr>
          <a:xfrm>
            <a:off x="621792" y="3210458"/>
            <a:ext cx="493776" cy="237744"/>
          </a:xfrm>
          <a:prstGeom prst="rect">
            <a:avLst>
              <a:gd name="adj" fmla="val 30769"/>
            </a:avLst>
          </a:prstGeom>
          <a:solidFill>
            <a:srgbClr val="FCECF0"/>
          </a:solidFill>
          <a:ln w="12700">
            <a:solidFill>
              <a:srgbClr val="FCECF0"/>
            </a:solidFill>
            <a:prstDash val="solid"/>
          </a:ln>
        </p:spPr>
      </p:sp>
      <p:sp>
        <p:nvSpPr>
          <p:cNvPr id="26" name="Text 24"/>
          <p:cNvSpPr/>
          <p:nvPr/>
        </p:nvSpPr>
        <p:spPr>
          <a:xfrm>
            <a:off x="694944" y="3233318"/>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S03</a:t>
            </a:r>
            <a:endParaRPr lang="en-US" sz="1050" dirty="0"/>
          </a:p>
        </p:txBody>
      </p:sp>
      <p:sp>
        <p:nvSpPr>
          <p:cNvPr id="27" name="Text 25">
            <a:hlinkClick r:id="rId4" tooltip=""/>
          </p:cNvPr>
          <p:cNvSpPr/>
          <p:nvPr/>
        </p:nvSpPr>
        <p:spPr>
          <a:xfrm>
            <a:off x="1261872" y="3178454"/>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NVIDIA customer story — CYRAN AI / IIT Delhi</a:t>
            </a:r>
            <a:endParaRPr lang="en-US" sz="1500" dirty="0"/>
          </a:p>
        </p:txBody>
      </p:sp>
      <p:sp>
        <p:nvSpPr>
          <p:cNvPr id="28" name="Text 26"/>
          <p:cNvSpPr/>
          <p:nvPr/>
        </p:nvSpPr>
        <p:spPr>
          <a:xfrm>
            <a:off x="1261872" y="3388766"/>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Local image processing, not an LLM performance result.</a:t>
            </a:r>
            <a:endParaRPr lang="en-US" sz="980" dirty="0"/>
          </a:p>
        </p:txBody>
      </p:sp>
      <p:sp>
        <p:nvSpPr>
          <p:cNvPr id="29" name="Shape 27"/>
          <p:cNvSpPr/>
          <p:nvPr/>
        </p:nvSpPr>
        <p:spPr>
          <a:xfrm>
            <a:off x="502920" y="3615538"/>
            <a:ext cx="11183112" cy="448056"/>
          </a:xfrm>
          <a:prstGeom prst="rect">
            <a:avLst>
              <a:gd name="adj" fmla="val 16327"/>
            </a:avLst>
          </a:prstGeom>
          <a:solidFill>
            <a:srgbClr val="FFFFFF"/>
          </a:solidFill>
          <a:ln w="12700">
            <a:solidFill>
              <a:srgbClr val="FFFFFF"/>
            </a:solidFill>
            <a:prstDash val="solid"/>
          </a:ln>
        </p:spPr>
      </p:sp>
      <p:sp>
        <p:nvSpPr>
          <p:cNvPr id="30" name="Shape 28"/>
          <p:cNvSpPr/>
          <p:nvPr/>
        </p:nvSpPr>
        <p:spPr>
          <a:xfrm>
            <a:off x="621792" y="3711550"/>
            <a:ext cx="493776" cy="237744"/>
          </a:xfrm>
          <a:prstGeom prst="rect">
            <a:avLst>
              <a:gd name="adj" fmla="val 30769"/>
            </a:avLst>
          </a:prstGeom>
          <a:solidFill>
            <a:srgbClr val="FCECF0"/>
          </a:solidFill>
          <a:ln w="12700">
            <a:solidFill>
              <a:srgbClr val="FCECF0"/>
            </a:solidFill>
            <a:prstDash val="solid"/>
          </a:ln>
        </p:spPr>
      </p:sp>
      <p:sp>
        <p:nvSpPr>
          <p:cNvPr id="31" name="Text 29"/>
          <p:cNvSpPr/>
          <p:nvPr/>
        </p:nvSpPr>
        <p:spPr>
          <a:xfrm>
            <a:off x="694944" y="3734410"/>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S04</a:t>
            </a:r>
            <a:endParaRPr lang="en-US" sz="1050" dirty="0"/>
          </a:p>
        </p:txBody>
      </p:sp>
      <p:sp>
        <p:nvSpPr>
          <p:cNvPr id="32" name="Text 30">
            <a:hlinkClick r:id="rId5" tooltip=""/>
          </p:cNvPr>
          <p:cNvSpPr/>
          <p:nvPr/>
        </p:nvSpPr>
        <p:spPr>
          <a:xfrm>
            <a:off x="1261872" y="3679546"/>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NVIDIA customer story — Arup</a:t>
            </a:r>
            <a:endParaRPr lang="en-US" sz="1500" dirty="0"/>
          </a:p>
        </p:txBody>
      </p:sp>
      <p:sp>
        <p:nvSpPr>
          <p:cNvPr id="33" name="Text 31"/>
          <p:cNvSpPr/>
          <p:nvPr/>
        </p:nvSpPr>
        <p:spPr>
          <a:xfrm>
            <a:off x="1261872" y="3889858"/>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Local engineering surrogate model, not a knowledge-appliance replacement case.</a:t>
            </a:r>
            <a:endParaRPr lang="en-US" sz="980" dirty="0"/>
          </a:p>
        </p:txBody>
      </p:sp>
      <p:sp>
        <p:nvSpPr>
          <p:cNvPr id="34" name="Shape 32"/>
          <p:cNvSpPr/>
          <p:nvPr/>
        </p:nvSpPr>
        <p:spPr>
          <a:xfrm>
            <a:off x="502920" y="4116629"/>
            <a:ext cx="11183112" cy="448056"/>
          </a:xfrm>
          <a:prstGeom prst="rect">
            <a:avLst>
              <a:gd name="adj" fmla="val 16327"/>
            </a:avLst>
          </a:prstGeom>
          <a:solidFill>
            <a:srgbClr val="F3F4F6"/>
          </a:solidFill>
          <a:ln w="12700">
            <a:solidFill>
              <a:srgbClr val="F3F4F6"/>
            </a:solidFill>
            <a:prstDash val="solid"/>
          </a:ln>
        </p:spPr>
      </p:sp>
      <p:sp>
        <p:nvSpPr>
          <p:cNvPr id="35" name="Shape 33"/>
          <p:cNvSpPr/>
          <p:nvPr/>
        </p:nvSpPr>
        <p:spPr>
          <a:xfrm>
            <a:off x="621792" y="4212641"/>
            <a:ext cx="493776" cy="237744"/>
          </a:xfrm>
          <a:prstGeom prst="rect">
            <a:avLst>
              <a:gd name="adj" fmla="val 30769"/>
            </a:avLst>
          </a:prstGeom>
          <a:solidFill>
            <a:srgbClr val="FCECF0"/>
          </a:solidFill>
          <a:ln w="12700">
            <a:solidFill>
              <a:srgbClr val="FCECF0"/>
            </a:solidFill>
            <a:prstDash val="solid"/>
          </a:ln>
        </p:spPr>
      </p:sp>
      <p:sp>
        <p:nvSpPr>
          <p:cNvPr id="36" name="Text 34"/>
          <p:cNvSpPr/>
          <p:nvPr/>
        </p:nvSpPr>
        <p:spPr>
          <a:xfrm>
            <a:off x="694944" y="4235501"/>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S05</a:t>
            </a:r>
            <a:endParaRPr lang="en-US" sz="1050" dirty="0"/>
          </a:p>
        </p:txBody>
      </p:sp>
      <p:sp>
        <p:nvSpPr>
          <p:cNvPr id="37" name="Text 35">
            <a:hlinkClick r:id="rId6" tooltip=""/>
          </p:cNvPr>
          <p:cNvSpPr/>
          <p:nvPr/>
        </p:nvSpPr>
        <p:spPr>
          <a:xfrm>
            <a:off x="1261872" y="4180637"/>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Cloud customer story — Aible</a:t>
            </a:r>
            <a:endParaRPr lang="en-US" sz="1500" dirty="0"/>
          </a:p>
        </p:txBody>
      </p:sp>
      <p:sp>
        <p:nvSpPr>
          <p:cNvPr id="38" name="Text 36"/>
          <p:cNvSpPr/>
          <p:nvPr/>
        </p:nvSpPr>
        <p:spPr>
          <a:xfrm>
            <a:off x="1261872" y="4390949"/>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Spark prototyping and cloud production are distinct.</a:t>
            </a:r>
            <a:endParaRPr lang="en-US" sz="980" dirty="0"/>
          </a:p>
        </p:txBody>
      </p:sp>
      <p:sp>
        <p:nvSpPr>
          <p:cNvPr id="39" name="Shape 37"/>
          <p:cNvSpPr/>
          <p:nvPr/>
        </p:nvSpPr>
        <p:spPr>
          <a:xfrm>
            <a:off x="502920" y="4617720"/>
            <a:ext cx="11183112" cy="448056"/>
          </a:xfrm>
          <a:prstGeom prst="rect">
            <a:avLst>
              <a:gd name="adj" fmla="val 16327"/>
            </a:avLst>
          </a:prstGeom>
          <a:solidFill>
            <a:srgbClr val="FFFFFF"/>
          </a:solidFill>
          <a:ln w="12700">
            <a:solidFill>
              <a:srgbClr val="FFFFFF"/>
            </a:solidFill>
            <a:prstDash val="solid"/>
          </a:ln>
        </p:spPr>
      </p:sp>
      <p:sp>
        <p:nvSpPr>
          <p:cNvPr id="40" name="Shape 38"/>
          <p:cNvSpPr/>
          <p:nvPr/>
        </p:nvSpPr>
        <p:spPr>
          <a:xfrm>
            <a:off x="621792" y="4713732"/>
            <a:ext cx="493776" cy="237744"/>
          </a:xfrm>
          <a:prstGeom prst="rect">
            <a:avLst>
              <a:gd name="adj" fmla="val 30769"/>
            </a:avLst>
          </a:prstGeom>
          <a:solidFill>
            <a:srgbClr val="FCECF0"/>
          </a:solidFill>
          <a:ln w="12700">
            <a:solidFill>
              <a:srgbClr val="FCECF0"/>
            </a:solidFill>
            <a:prstDash val="solid"/>
          </a:ln>
        </p:spPr>
      </p:sp>
      <p:sp>
        <p:nvSpPr>
          <p:cNvPr id="41" name="Text 39"/>
          <p:cNvSpPr/>
          <p:nvPr/>
        </p:nvSpPr>
        <p:spPr>
          <a:xfrm>
            <a:off x="694944" y="4736592"/>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S06</a:t>
            </a:r>
            <a:endParaRPr lang="en-US" sz="1050" dirty="0"/>
          </a:p>
        </p:txBody>
      </p:sp>
      <p:sp>
        <p:nvSpPr>
          <p:cNvPr id="42" name="Text 40">
            <a:hlinkClick r:id="rId7" tooltip=""/>
          </p:cNvPr>
          <p:cNvSpPr/>
          <p:nvPr/>
        </p:nvSpPr>
        <p:spPr>
          <a:xfrm>
            <a:off x="1261872" y="4681728"/>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NVIDIA customer story — Lowe’s</a:t>
            </a:r>
            <a:endParaRPr lang="en-US" sz="1500" dirty="0"/>
          </a:p>
        </p:txBody>
      </p:sp>
      <p:sp>
        <p:nvSpPr>
          <p:cNvPr id="43" name="Text 41"/>
          <p:cNvSpPr/>
          <p:nvPr/>
        </p:nvSpPr>
        <p:spPr>
          <a:xfrm>
            <a:off x="1261872" y="4892040"/>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Workstation, edge and cloud roles must not be conflated.</a:t>
            </a:r>
            <a:endParaRPr lang="en-US" sz="980" dirty="0"/>
          </a:p>
        </p:txBody>
      </p:sp>
      <p:sp>
        <p:nvSpPr>
          <p:cNvPr id="44" name="Shape 42"/>
          <p:cNvSpPr/>
          <p:nvPr/>
        </p:nvSpPr>
        <p:spPr>
          <a:xfrm>
            <a:off x="502920" y="5118811"/>
            <a:ext cx="11183112" cy="448056"/>
          </a:xfrm>
          <a:prstGeom prst="rect">
            <a:avLst>
              <a:gd name="adj" fmla="val 16327"/>
            </a:avLst>
          </a:prstGeom>
          <a:solidFill>
            <a:srgbClr val="F3F4F6"/>
          </a:solidFill>
          <a:ln w="12700">
            <a:solidFill>
              <a:srgbClr val="F3F4F6"/>
            </a:solidFill>
            <a:prstDash val="solid"/>
          </a:ln>
        </p:spPr>
      </p:sp>
      <p:sp>
        <p:nvSpPr>
          <p:cNvPr id="45" name="Shape 43"/>
          <p:cNvSpPr/>
          <p:nvPr/>
        </p:nvSpPr>
        <p:spPr>
          <a:xfrm>
            <a:off x="621792" y="5214823"/>
            <a:ext cx="493776" cy="237744"/>
          </a:xfrm>
          <a:prstGeom prst="rect">
            <a:avLst>
              <a:gd name="adj" fmla="val 30769"/>
            </a:avLst>
          </a:prstGeom>
          <a:solidFill>
            <a:srgbClr val="FCECF0"/>
          </a:solidFill>
          <a:ln w="12700">
            <a:solidFill>
              <a:srgbClr val="FCECF0"/>
            </a:solidFill>
            <a:prstDash val="solid"/>
          </a:ln>
        </p:spPr>
      </p:sp>
      <p:sp>
        <p:nvSpPr>
          <p:cNvPr id="46" name="Text 44"/>
          <p:cNvSpPr/>
          <p:nvPr/>
        </p:nvSpPr>
        <p:spPr>
          <a:xfrm>
            <a:off x="694944" y="5237683"/>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S07</a:t>
            </a:r>
            <a:endParaRPr lang="en-US" sz="1050" dirty="0"/>
          </a:p>
        </p:txBody>
      </p:sp>
      <p:sp>
        <p:nvSpPr>
          <p:cNvPr id="47" name="Text 45">
            <a:hlinkClick r:id="rId8" tooltip=""/>
          </p:cNvPr>
          <p:cNvSpPr/>
          <p:nvPr/>
        </p:nvSpPr>
        <p:spPr>
          <a:xfrm>
            <a:off x="1261872" y="5182819"/>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NVIDIA customer story — Nasdaq</a:t>
            </a:r>
            <a:endParaRPr lang="en-US" sz="1500" dirty="0"/>
          </a:p>
        </p:txBody>
      </p:sp>
      <p:sp>
        <p:nvSpPr>
          <p:cNvPr id="48" name="Text 46"/>
          <p:cNvSpPr/>
          <p:nvPr/>
        </p:nvSpPr>
        <p:spPr>
          <a:xfrm>
            <a:off x="1261872" y="5393131"/>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L40 / self-hosted retrieval evidence; no Spark or revenue attribution.</a:t>
            </a:r>
            <a:endParaRPr lang="en-US" sz="9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WORKLOAD + HARDWARE SOURCES</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Sources: specifications and benchmark conditions.</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Clickable titles. Full URLs and claim boundaries are also recorded in presenter notes.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Internal [I1]: V3 PRD §§2–6, 9, 13, 15–17. Specs and service numbers remain planning requirements until qualification.</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[S08] [S09] [S10] [S11] [S12] [S13] [S21]</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§sources</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M19</a:t>
            </a:r>
            <a:endParaRPr lang="en-US" sz="920" dirty="0"/>
          </a:p>
        </p:txBody>
      </p:sp>
      <p:sp>
        <p:nvSpPr>
          <p:cNvPr id="14" name="Shape 12"/>
          <p:cNvSpPr/>
          <p:nvPr/>
        </p:nvSpPr>
        <p:spPr>
          <a:xfrm>
            <a:off x="502920" y="2112264"/>
            <a:ext cx="11183112" cy="448056"/>
          </a:xfrm>
          <a:prstGeom prst="rect">
            <a:avLst>
              <a:gd name="adj" fmla="val 16327"/>
            </a:avLst>
          </a:prstGeom>
          <a:solidFill>
            <a:srgbClr val="F3F4F6"/>
          </a:solidFill>
          <a:ln w="12700">
            <a:solidFill>
              <a:srgbClr val="F3F4F6"/>
            </a:solidFill>
            <a:prstDash val="solid"/>
          </a:ln>
        </p:spPr>
      </p:sp>
      <p:sp>
        <p:nvSpPr>
          <p:cNvPr id="15" name="Shape 13"/>
          <p:cNvSpPr/>
          <p:nvPr/>
        </p:nvSpPr>
        <p:spPr>
          <a:xfrm>
            <a:off x="621792" y="2208276"/>
            <a:ext cx="493776" cy="237744"/>
          </a:xfrm>
          <a:prstGeom prst="rect">
            <a:avLst>
              <a:gd name="adj" fmla="val 30769"/>
            </a:avLst>
          </a:prstGeom>
          <a:solidFill>
            <a:srgbClr val="FCECF0"/>
          </a:solidFill>
          <a:ln w="12700">
            <a:solidFill>
              <a:srgbClr val="FCECF0"/>
            </a:solidFill>
            <a:prstDash val="solid"/>
          </a:ln>
        </p:spPr>
      </p:sp>
      <p:sp>
        <p:nvSpPr>
          <p:cNvPr id="16" name="Text 14"/>
          <p:cNvSpPr/>
          <p:nvPr/>
        </p:nvSpPr>
        <p:spPr>
          <a:xfrm>
            <a:off x="694944" y="2231136"/>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S08</a:t>
            </a:r>
            <a:endParaRPr lang="en-US" sz="1050" dirty="0"/>
          </a:p>
        </p:txBody>
      </p:sp>
      <p:sp>
        <p:nvSpPr>
          <p:cNvPr id="17" name="Text 15">
            <a:hlinkClick r:id="rId2" tooltip=""/>
          </p:cNvPr>
          <p:cNvSpPr/>
          <p:nvPr/>
        </p:nvSpPr>
        <p:spPr>
          <a:xfrm>
            <a:off x="1261872" y="2176272"/>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 customer story — ThinkDeep AI</a:t>
            </a:r>
            <a:endParaRPr lang="en-US" sz="1500" dirty="0"/>
          </a:p>
        </p:txBody>
      </p:sp>
      <p:sp>
        <p:nvSpPr>
          <p:cNvPr id="18" name="Text 16"/>
          <p:cNvSpPr/>
          <p:nvPr/>
        </p:nvSpPr>
        <p:spPr>
          <a:xfrm>
            <a:off x="1261872" y="2386584"/>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Sovereign document workflows; deployment-specific hardware evidence.</a:t>
            </a:r>
            <a:endParaRPr lang="en-US" sz="980" dirty="0"/>
          </a:p>
        </p:txBody>
      </p:sp>
      <p:sp>
        <p:nvSpPr>
          <p:cNvPr id="19" name="Shape 17"/>
          <p:cNvSpPr/>
          <p:nvPr/>
        </p:nvSpPr>
        <p:spPr>
          <a:xfrm>
            <a:off x="502920" y="2613355"/>
            <a:ext cx="11183112" cy="448056"/>
          </a:xfrm>
          <a:prstGeom prst="rect">
            <a:avLst>
              <a:gd name="adj" fmla="val 16327"/>
            </a:avLst>
          </a:prstGeom>
          <a:solidFill>
            <a:srgbClr val="FFFFFF"/>
          </a:solidFill>
          <a:ln w="12700">
            <a:solidFill>
              <a:srgbClr val="FFFFFF"/>
            </a:solidFill>
            <a:prstDash val="solid"/>
          </a:ln>
        </p:spPr>
      </p:sp>
      <p:sp>
        <p:nvSpPr>
          <p:cNvPr id="20" name="Shape 18"/>
          <p:cNvSpPr/>
          <p:nvPr/>
        </p:nvSpPr>
        <p:spPr>
          <a:xfrm>
            <a:off x="621792" y="2709367"/>
            <a:ext cx="493776" cy="237744"/>
          </a:xfrm>
          <a:prstGeom prst="rect">
            <a:avLst>
              <a:gd name="adj" fmla="val 30769"/>
            </a:avLst>
          </a:prstGeom>
          <a:solidFill>
            <a:srgbClr val="FCECF0"/>
          </a:solidFill>
          <a:ln w="12700">
            <a:solidFill>
              <a:srgbClr val="FCECF0"/>
            </a:solidFill>
            <a:prstDash val="solid"/>
          </a:ln>
        </p:spPr>
      </p:sp>
      <p:sp>
        <p:nvSpPr>
          <p:cNvPr id="21" name="Text 19"/>
          <p:cNvSpPr/>
          <p:nvPr/>
        </p:nvSpPr>
        <p:spPr>
          <a:xfrm>
            <a:off x="694944" y="2732227"/>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S09</a:t>
            </a:r>
            <a:endParaRPr lang="en-US" sz="1050" dirty="0"/>
          </a:p>
        </p:txBody>
      </p:sp>
      <p:sp>
        <p:nvSpPr>
          <p:cNvPr id="22" name="Text 20">
            <a:hlinkClick r:id="rId3" tooltip=""/>
          </p:cNvPr>
          <p:cNvSpPr/>
          <p:nvPr/>
        </p:nvSpPr>
        <p:spPr>
          <a:xfrm>
            <a:off x="1261872" y="2677363"/>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NVIDIA customer story — Amdocs</a:t>
            </a:r>
            <a:endParaRPr lang="en-US" sz="1500" dirty="0"/>
          </a:p>
        </p:txBody>
      </p:sp>
      <p:sp>
        <p:nvSpPr>
          <p:cNvPr id="23" name="Text 21"/>
          <p:cNvSpPr/>
          <p:nvPr/>
        </p:nvSpPr>
        <p:spPr>
          <a:xfrm>
            <a:off x="1261872" y="2887675"/>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Telecom agents on DGX Cloud, not evidence of local edge hardware.</a:t>
            </a:r>
            <a:endParaRPr lang="en-US" sz="980" dirty="0"/>
          </a:p>
        </p:txBody>
      </p:sp>
      <p:sp>
        <p:nvSpPr>
          <p:cNvPr id="24" name="Shape 22"/>
          <p:cNvSpPr/>
          <p:nvPr/>
        </p:nvSpPr>
        <p:spPr>
          <a:xfrm>
            <a:off x="502920" y="3114446"/>
            <a:ext cx="11183112" cy="448056"/>
          </a:xfrm>
          <a:prstGeom prst="rect">
            <a:avLst>
              <a:gd name="adj" fmla="val 16327"/>
            </a:avLst>
          </a:prstGeom>
          <a:solidFill>
            <a:srgbClr val="F3F4F6"/>
          </a:solidFill>
          <a:ln w="12700">
            <a:solidFill>
              <a:srgbClr val="F3F4F6"/>
            </a:solidFill>
            <a:prstDash val="solid"/>
          </a:ln>
        </p:spPr>
      </p:sp>
      <p:sp>
        <p:nvSpPr>
          <p:cNvPr id="25" name="Shape 23"/>
          <p:cNvSpPr/>
          <p:nvPr/>
        </p:nvSpPr>
        <p:spPr>
          <a:xfrm>
            <a:off x="621792" y="3210458"/>
            <a:ext cx="493776" cy="237744"/>
          </a:xfrm>
          <a:prstGeom prst="rect">
            <a:avLst>
              <a:gd name="adj" fmla="val 30769"/>
            </a:avLst>
          </a:prstGeom>
          <a:solidFill>
            <a:srgbClr val="FCECF0"/>
          </a:solidFill>
          <a:ln w="12700">
            <a:solidFill>
              <a:srgbClr val="FCECF0"/>
            </a:solidFill>
            <a:prstDash val="solid"/>
          </a:ln>
        </p:spPr>
      </p:sp>
      <p:sp>
        <p:nvSpPr>
          <p:cNvPr id="26" name="Text 24"/>
          <p:cNvSpPr/>
          <p:nvPr/>
        </p:nvSpPr>
        <p:spPr>
          <a:xfrm>
            <a:off x="694944" y="3233318"/>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S10</a:t>
            </a:r>
            <a:endParaRPr lang="en-US" sz="1050" dirty="0"/>
          </a:p>
        </p:txBody>
      </p:sp>
      <p:sp>
        <p:nvSpPr>
          <p:cNvPr id="27" name="Text 25">
            <a:hlinkClick r:id="rId4" tooltip=""/>
          </p:cNvPr>
          <p:cNvSpPr/>
          <p:nvPr/>
        </p:nvSpPr>
        <p:spPr>
          <a:xfrm>
            <a:off x="1261872" y="3178454"/>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NVIDIA DGX Spark hardware guide</a:t>
            </a:r>
            <a:endParaRPr lang="en-US" sz="1500" dirty="0"/>
          </a:p>
        </p:txBody>
      </p:sp>
      <p:sp>
        <p:nvSpPr>
          <p:cNvPr id="28" name="Text 26"/>
          <p:cNvSpPr/>
          <p:nvPr/>
        </p:nvSpPr>
        <p:spPr>
          <a:xfrm>
            <a:off x="1261872" y="3388766"/>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128GB unified LPDDR5x; 273GB/s.</a:t>
            </a:r>
            <a:endParaRPr lang="en-US" sz="980" dirty="0"/>
          </a:p>
        </p:txBody>
      </p:sp>
      <p:sp>
        <p:nvSpPr>
          <p:cNvPr id="29" name="Shape 27"/>
          <p:cNvSpPr/>
          <p:nvPr/>
        </p:nvSpPr>
        <p:spPr>
          <a:xfrm>
            <a:off x="502920" y="3615538"/>
            <a:ext cx="11183112" cy="448056"/>
          </a:xfrm>
          <a:prstGeom prst="rect">
            <a:avLst>
              <a:gd name="adj" fmla="val 16327"/>
            </a:avLst>
          </a:prstGeom>
          <a:solidFill>
            <a:srgbClr val="FFFFFF"/>
          </a:solidFill>
          <a:ln w="12700">
            <a:solidFill>
              <a:srgbClr val="FFFFFF"/>
            </a:solidFill>
            <a:prstDash val="solid"/>
          </a:ln>
        </p:spPr>
      </p:sp>
      <p:sp>
        <p:nvSpPr>
          <p:cNvPr id="30" name="Shape 28"/>
          <p:cNvSpPr/>
          <p:nvPr/>
        </p:nvSpPr>
        <p:spPr>
          <a:xfrm>
            <a:off x="621792" y="3711550"/>
            <a:ext cx="493776" cy="237744"/>
          </a:xfrm>
          <a:prstGeom prst="rect">
            <a:avLst>
              <a:gd name="adj" fmla="val 30769"/>
            </a:avLst>
          </a:prstGeom>
          <a:solidFill>
            <a:srgbClr val="FCECF0"/>
          </a:solidFill>
          <a:ln w="12700">
            <a:solidFill>
              <a:srgbClr val="FCECF0"/>
            </a:solidFill>
            <a:prstDash val="solid"/>
          </a:ln>
        </p:spPr>
      </p:sp>
      <p:sp>
        <p:nvSpPr>
          <p:cNvPr id="31" name="Text 29"/>
          <p:cNvSpPr/>
          <p:nvPr/>
        </p:nvSpPr>
        <p:spPr>
          <a:xfrm>
            <a:off x="694944" y="3734410"/>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S11</a:t>
            </a:r>
            <a:endParaRPr lang="en-US" sz="1050" dirty="0"/>
          </a:p>
        </p:txBody>
      </p:sp>
      <p:sp>
        <p:nvSpPr>
          <p:cNvPr id="32" name="Text 30">
            <a:hlinkClick r:id="rId5" tooltip=""/>
          </p:cNvPr>
          <p:cNvSpPr/>
          <p:nvPr/>
        </p:nvSpPr>
        <p:spPr>
          <a:xfrm>
            <a:off x="1261872" y="3679546"/>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NVIDIA RTX PRO 6000 Blackwell Workstation Edition</a:t>
            </a:r>
            <a:endParaRPr lang="en-US" sz="1500" dirty="0"/>
          </a:p>
        </p:txBody>
      </p:sp>
      <p:sp>
        <p:nvSpPr>
          <p:cNvPr id="33" name="Text 31"/>
          <p:cNvSpPr/>
          <p:nvPr/>
        </p:nvSpPr>
        <p:spPr>
          <a:xfrm>
            <a:off x="1261872" y="3889858"/>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Workstation Edition: 96GB GDDR7; 1,792GB/s.</a:t>
            </a:r>
            <a:endParaRPr lang="en-US" sz="980" dirty="0"/>
          </a:p>
        </p:txBody>
      </p:sp>
      <p:sp>
        <p:nvSpPr>
          <p:cNvPr id="34" name="Shape 32"/>
          <p:cNvSpPr/>
          <p:nvPr/>
        </p:nvSpPr>
        <p:spPr>
          <a:xfrm>
            <a:off x="502920" y="4116629"/>
            <a:ext cx="11183112" cy="448056"/>
          </a:xfrm>
          <a:prstGeom prst="rect">
            <a:avLst>
              <a:gd name="adj" fmla="val 16327"/>
            </a:avLst>
          </a:prstGeom>
          <a:solidFill>
            <a:srgbClr val="F3F4F6"/>
          </a:solidFill>
          <a:ln w="12700">
            <a:solidFill>
              <a:srgbClr val="F3F4F6"/>
            </a:solidFill>
            <a:prstDash val="solid"/>
          </a:ln>
        </p:spPr>
      </p:sp>
      <p:sp>
        <p:nvSpPr>
          <p:cNvPr id="35" name="Shape 33"/>
          <p:cNvSpPr/>
          <p:nvPr/>
        </p:nvSpPr>
        <p:spPr>
          <a:xfrm>
            <a:off x="621792" y="4212641"/>
            <a:ext cx="493776" cy="237744"/>
          </a:xfrm>
          <a:prstGeom prst="rect">
            <a:avLst>
              <a:gd name="adj" fmla="val 30769"/>
            </a:avLst>
          </a:prstGeom>
          <a:solidFill>
            <a:srgbClr val="FCECF0"/>
          </a:solidFill>
          <a:ln w="12700">
            <a:solidFill>
              <a:srgbClr val="FCECF0"/>
            </a:solidFill>
            <a:prstDash val="solid"/>
          </a:ln>
        </p:spPr>
      </p:sp>
      <p:sp>
        <p:nvSpPr>
          <p:cNvPr id="36" name="Text 34"/>
          <p:cNvSpPr/>
          <p:nvPr/>
        </p:nvSpPr>
        <p:spPr>
          <a:xfrm>
            <a:off x="694944" y="4235501"/>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S12</a:t>
            </a:r>
            <a:endParaRPr lang="en-US" sz="1050" dirty="0"/>
          </a:p>
        </p:txBody>
      </p:sp>
      <p:sp>
        <p:nvSpPr>
          <p:cNvPr id="37" name="Text 35">
            <a:hlinkClick r:id="rId6" tooltip=""/>
          </p:cNvPr>
          <p:cNvSpPr/>
          <p:nvPr/>
        </p:nvSpPr>
        <p:spPr>
          <a:xfrm>
            <a:off x="1261872" y="4180637"/>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NVIDIA DGX Station development guide — system overview</a:t>
            </a:r>
            <a:endParaRPr lang="en-US" sz="1500" dirty="0"/>
          </a:p>
        </p:txBody>
      </p:sp>
      <p:sp>
        <p:nvSpPr>
          <p:cNvPr id="38" name="Text 36"/>
          <p:cNvSpPr/>
          <p:nvPr/>
        </p:nvSpPr>
        <p:spPr>
          <a:xfrm>
            <a:off x="1261872" y="4390949"/>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748GB total = 252GB HBM + 496GB CPU memory; bandwidth by tier.</a:t>
            </a:r>
            <a:endParaRPr lang="en-US" sz="980" dirty="0"/>
          </a:p>
        </p:txBody>
      </p:sp>
      <p:sp>
        <p:nvSpPr>
          <p:cNvPr id="39" name="Shape 37"/>
          <p:cNvSpPr/>
          <p:nvPr/>
        </p:nvSpPr>
        <p:spPr>
          <a:xfrm>
            <a:off x="502920" y="4617720"/>
            <a:ext cx="11183112" cy="448056"/>
          </a:xfrm>
          <a:prstGeom prst="rect">
            <a:avLst>
              <a:gd name="adj" fmla="val 16327"/>
            </a:avLst>
          </a:prstGeom>
          <a:solidFill>
            <a:srgbClr val="FFFFFF"/>
          </a:solidFill>
          <a:ln w="12700">
            <a:solidFill>
              <a:srgbClr val="FFFFFF"/>
            </a:solidFill>
            <a:prstDash val="solid"/>
          </a:ln>
        </p:spPr>
      </p:sp>
      <p:sp>
        <p:nvSpPr>
          <p:cNvPr id="40" name="Shape 38"/>
          <p:cNvSpPr/>
          <p:nvPr/>
        </p:nvSpPr>
        <p:spPr>
          <a:xfrm>
            <a:off x="621792" y="4713732"/>
            <a:ext cx="493776" cy="237744"/>
          </a:xfrm>
          <a:prstGeom prst="rect">
            <a:avLst>
              <a:gd name="adj" fmla="val 30769"/>
            </a:avLst>
          </a:prstGeom>
          <a:solidFill>
            <a:srgbClr val="FCECF0"/>
          </a:solidFill>
          <a:ln w="12700">
            <a:solidFill>
              <a:srgbClr val="FCECF0"/>
            </a:solidFill>
            <a:prstDash val="solid"/>
          </a:ln>
        </p:spPr>
      </p:sp>
      <p:sp>
        <p:nvSpPr>
          <p:cNvPr id="41" name="Text 39"/>
          <p:cNvSpPr/>
          <p:nvPr/>
        </p:nvSpPr>
        <p:spPr>
          <a:xfrm>
            <a:off x="694944" y="4736592"/>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S13</a:t>
            </a:r>
            <a:endParaRPr lang="en-US" sz="1050" dirty="0"/>
          </a:p>
        </p:txBody>
      </p:sp>
      <p:sp>
        <p:nvSpPr>
          <p:cNvPr id="42" name="Text 40">
            <a:hlinkClick r:id="rId7" tooltip=""/>
          </p:cNvPr>
          <p:cNvSpPr/>
          <p:nvPr/>
        </p:nvSpPr>
        <p:spPr>
          <a:xfrm>
            <a:off x="1261872" y="4681728"/>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StorageReview — original RTX PRO 6000 Workstation tests</a:t>
            </a:r>
            <a:endParaRPr lang="en-US" sz="1500" dirty="0"/>
          </a:p>
        </p:txBody>
      </p:sp>
      <p:sp>
        <p:nvSpPr>
          <p:cNvPr id="43" name="Text 41"/>
          <p:cNvSpPr/>
          <p:nvPr/>
        </p:nvSpPr>
        <p:spPr>
          <a:xfrm>
            <a:off x="1261872" y="4892040"/>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Original LM Studio measurements; not the PRD G1 protocol.</a:t>
            </a:r>
            <a:endParaRPr lang="en-US" sz="980" dirty="0"/>
          </a:p>
        </p:txBody>
      </p:sp>
      <p:sp>
        <p:nvSpPr>
          <p:cNvPr id="44" name="Shape 42"/>
          <p:cNvSpPr/>
          <p:nvPr/>
        </p:nvSpPr>
        <p:spPr>
          <a:xfrm>
            <a:off x="502920" y="5118811"/>
            <a:ext cx="11183112" cy="448056"/>
          </a:xfrm>
          <a:prstGeom prst="rect">
            <a:avLst>
              <a:gd name="adj" fmla="val 16327"/>
            </a:avLst>
          </a:prstGeom>
          <a:solidFill>
            <a:srgbClr val="F3F4F6"/>
          </a:solidFill>
          <a:ln w="12700">
            <a:solidFill>
              <a:srgbClr val="F3F4F6"/>
            </a:solidFill>
            <a:prstDash val="solid"/>
          </a:ln>
        </p:spPr>
      </p:sp>
      <p:sp>
        <p:nvSpPr>
          <p:cNvPr id="45" name="Shape 43"/>
          <p:cNvSpPr/>
          <p:nvPr/>
        </p:nvSpPr>
        <p:spPr>
          <a:xfrm>
            <a:off x="621792" y="5214823"/>
            <a:ext cx="493776" cy="237744"/>
          </a:xfrm>
          <a:prstGeom prst="rect">
            <a:avLst>
              <a:gd name="adj" fmla="val 30769"/>
            </a:avLst>
          </a:prstGeom>
          <a:solidFill>
            <a:srgbClr val="FCECF0"/>
          </a:solidFill>
          <a:ln w="12700">
            <a:solidFill>
              <a:srgbClr val="FCECF0"/>
            </a:solidFill>
            <a:prstDash val="solid"/>
          </a:ln>
        </p:spPr>
      </p:sp>
      <p:sp>
        <p:nvSpPr>
          <p:cNvPr id="46" name="Text 44"/>
          <p:cNvSpPr/>
          <p:nvPr/>
        </p:nvSpPr>
        <p:spPr>
          <a:xfrm>
            <a:off x="694944" y="5237683"/>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S21</a:t>
            </a:r>
            <a:endParaRPr lang="en-US" sz="1050" dirty="0"/>
          </a:p>
        </p:txBody>
      </p:sp>
      <p:sp>
        <p:nvSpPr>
          <p:cNvPr id="47" name="Text 45">
            <a:hlinkClick r:id="rId8" tooltip=""/>
          </p:cNvPr>
          <p:cNvSpPr/>
          <p:nvPr/>
        </p:nvSpPr>
        <p:spPr>
          <a:xfrm>
            <a:off x="1261872" y="5182819"/>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Apple — Mac Studio technical specifications</a:t>
            </a:r>
            <a:endParaRPr lang="en-US" sz="1500" dirty="0"/>
          </a:p>
        </p:txBody>
      </p:sp>
      <p:sp>
        <p:nvSpPr>
          <p:cNvPr id="48" name="Text 46"/>
          <p:cNvSpPr/>
          <p:nvPr/>
        </p:nvSpPr>
        <p:spPr>
          <a:xfrm>
            <a:off x="1261872" y="5393131"/>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High-memory local alternative; no common G1/R1 measurement supplied.</a:t>
            </a:r>
            <a:endParaRPr lang="en-US" sz="9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9436"/>
          </a:xfrm>
          <a:prstGeom prst="rect">
            <a:avLst>
              <a:gd name="adj" fmla="val 123077"/>
            </a:avLst>
          </a:prstGeom>
          <a:solidFill>
            <a:srgbClr val="E31837"/>
          </a:solidFill>
          <a:ln w="12700">
            <a:solidFill>
              <a:srgbClr val="E31837"/>
            </a:solidFill>
            <a:prstDash val="solid"/>
          </a:ln>
        </p:spPr>
      </p:sp>
      <p:sp>
        <p:nvSpPr>
          <p:cNvPr id="3" name="Text 1"/>
          <p:cNvSpPr/>
          <p:nvPr/>
        </p:nvSpPr>
        <p:spPr>
          <a:xfrm>
            <a:off x="502920" y="283464"/>
            <a:ext cx="2286000" cy="237744"/>
          </a:xfrm>
          <a:prstGeom prst="rect">
            <a:avLst/>
          </a:prstGeom>
          <a:noFill/>
          <a:ln/>
        </p:spPr>
        <p:txBody>
          <a:bodyPr wrap="square" lIns="0" tIns="0" rIns="0" bIns="0" rtlCol="0" anchor="ctr"/>
          <a:lstStyle/>
          <a:p>
            <a:pPr indent="0" marL="0">
              <a:buNone/>
            </a:pPr>
            <a:r>
              <a:rPr lang="en-US" sz="1700" b="1" spc="210" kern="0" dirty="0">
                <a:solidFill>
                  <a:srgbClr val="E31837"/>
                </a:solidFill>
                <a:latin typeface="Arial" pitchFamily="34" charset="0"/>
                <a:ea typeface="Arial" pitchFamily="34" charset="-122"/>
                <a:cs typeface="Arial" pitchFamily="34" charset="-120"/>
              </a:rPr>
              <a:t>SANDISK</a:t>
            </a:r>
            <a:endParaRPr lang="en-US" sz="1700" dirty="0"/>
          </a:p>
        </p:txBody>
      </p:sp>
      <p:sp>
        <p:nvSpPr>
          <p:cNvPr id="4" name="Text 2"/>
          <p:cNvSpPr/>
          <p:nvPr/>
        </p:nvSpPr>
        <p:spPr>
          <a:xfrm>
            <a:off x="7498080" y="292608"/>
            <a:ext cx="4160520" cy="219456"/>
          </a:xfrm>
          <a:prstGeom prst="rect">
            <a:avLst/>
          </a:prstGeom>
          <a:noFill/>
          <a:ln/>
        </p:spPr>
        <p:txBody>
          <a:bodyPr wrap="square" lIns="0" tIns="0" rIns="0" bIns="0" rtlCol="0" anchor="ctr"/>
          <a:lstStyle/>
          <a:p>
            <a:pPr algn="r" indent="0" marL="0">
              <a:buNone/>
            </a:pPr>
            <a:r>
              <a:rPr lang="en-US" sz="1050" dirty="0">
                <a:solidFill>
                  <a:srgbClr val="5B6169"/>
                </a:solidFill>
                <a:latin typeface="Arial" pitchFamily="34" charset="0"/>
                <a:ea typeface="Arial" pitchFamily="34" charset="-122"/>
                <a:cs typeface="Arial" pitchFamily="34" charset="-120"/>
              </a:rPr>
              <a:t>ATMOS / PRODUCT + OEM SOURCES</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indent="0" marL="0">
              <a:buNone/>
            </a:pPr>
            <a:r>
              <a:rPr lang="en-US" sz="2800" b="1" dirty="0">
                <a:solidFill>
                  <a:srgbClr val="18191D"/>
                </a:solidFill>
                <a:latin typeface="Arial" pitchFamily="34" charset="0"/>
                <a:ea typeface="Arial" pitchFamily="34" charset="-122"/>
                <a:cs typeface="Arial" pitchFamily="34" charset="-120"/>
              </a:rPr>
              <a:t>Sources: competitors, OEM routes and SanDisk HBF.</a:t>
            </a:r>
            <a:endParaRPr lang="en-US" sz="2800" dirty="0"/>
          </a:p>
        </p:txBody>
      </p:sp>
      <p:sp>
        <p:nvSpPr>
          <p:cNvPr id="6" name="Text 4"/>
          <p:cNvSpPr/>
          <p:nvPr/>
        </p:nvSpPr>
        <p:spPr>
          <a:xfrm>
            <a:off x="502920" y="1591056"/>
            <a:ext cx="11109960" cy="329184"/>
          </a:xfrm>
          <a:prstGeom prst="rect">
            <a:avLst/>
          </a:prstGeom>
          <a:noFill/>
          <a:ln/>
        </p:spPr>
        <p:txBody>
          <a:bodyPr wrap="square" lIns="0" tIns="0" rIns="0" bIns="0" rtlCol="0" anchor="ctr"/>
          <a:lstStyle/>
          <a:p>
            <a:pPr indent="0" marL="0">
              <a:buNone/>
            </a:pPr>
            <a:r>
              <a:rPr lang="en-US" sz="1370" dirty="0">
                <a:solidFill>
                  <a:srgbClr val="5B6169"/>
                </a:solidFill>
                <a:latin typeface="Arial" pitchFamily="34" charset="0"/>
                <a:ea typeface="Arial" pitchFamily="34" charset="-122"/>
                <a:cs typeface="Arial" pitchFamily="34" charset="-120"/>
              </a:rPr>
              <a:t>Clickable titles. Full URLs and claim boundaries are also recorded in presenter notes.</a:t>
            </a:r>
            <a:endParaRPr lang="en-US" sz="1370" dirty="0"/>
          </a:p>
        </p:txBody>
      </p:sp>
      <p:sp>
        <p:nvSpPr>
          <p:cNvPr id="7" name="Shape 5"/>
          <p:cNvSpPr/>
          <p:nvPr/>
        </p:nvSpPr>
        <p:spPr>
          <a:xfrm>
            <a:off x="502920" y="6035040"/>
            <a:ext cx="11183112" cy="365760"/>
          </a:xfrm>
          <a:prstGeom prst="rect">
            <a:avLst>
              <a:gd name="adj" fmla="val 20000"/>
            </a:avLst>
          </a:prstGeom>
          <a:solidFill>
            <a:srgbClr val="FCECF0"/>
          </a:solidFill>
          <a:ln w="12700">
            <a:solidFill>
              <a:srgbClr val="FCECF0"/>
            </a:solidFill>
            <a:prstDash val="solid"/>
          </a:ln>
        </p:spPr>
      </p:sp>
      <p:sp>
        <p:nvSpPr>
          <p:cNvPr id="8" name="Text 6"/>
          <p:cNvSpPr/>
          <p:nvPr/>
        </p:nvSpPr>
        <p:spPr>
          <a:xfrm>
            <a:off x="658368" y="6089904"/>
            <a:ext cx="10872216" cy="246888"/>
          </a:xfrm>
          <a:prstGeom prst="rect">
            <a:avLst/>
          </a:prstGeom>
          <a:noFill/>
          <a:ln/>
        </p:spPr>
        <p:txBody>
          <a:bodyPr wrap="square" lIns="0" tIns="0" rIns="0" bIns="0" rtlCol="0" anchor="ctr"/>
          <a:lstStyle/>
          <a:p>
            <a:pPr indent="0" marL="0">
              <a:buNone/>
            </a:pPr>
            <a:r>
              <a:rPr lang="en-US" sz="1250" b="1" dirty="0">
                <a:solidFill>
                  <a:srgbClr val="E31837"/>
                </a:solidFill>
                <a:latin typeface="Arial" pitchFamily="34" charset="0"/>
                <a:ea typeface="Arial" pitchFamily="34" charset="-122"/>
                <a:cs typeface="Arial" pitchFamily="34" charset="-120"/>
              </a:rPr>
              <a:t>Internal [I1]: V3 PRD §§2–6, 9, 13, 15–17. Specs and service numbers remain planning requirements until qualification.</a:t>
            </a:r>
            <a:endParaRPr lang="en-US" sz="1250" dirty="0"/>
          </a:p>
        </p:txBody>
      </p:sp>
      <p:sp>
        <p:nvSpPr>
          <p:cNvPr id="9" name="Text 7"/>
          <p:cNvSpPr/>
          <p:nvPr/>
        </p:nvSpPr>
        <p:spPr>
          <a:xfrm>
            <a:off x="502920" y="6473952"/>
            <a:ext cx="7315200" cy="137160"/>
          </a:xfrm>
          <a:prstGeom prst="rect">
            <a:avLst/>
          </a:prstGeom>
          <a:noFill/>
          <a:ln/>
        </p:spPr>
        <p:txBody>
          <a:bodyPr wrap="square" lIns="0" tIns="0" rIns="0" bIns="0" rtlCol="0" anchor="ctr"/>
          <a:lstStyle/>
          <a:p>
            <a:pPr indent="0" marL="0">
              <a:buNone/>
            </a:pPr>
            <a:r>
              <a:rPr lang="en-US" sz="820" dirty="0">
                <a:solidFill>
                  <a:srgbClr val="5B6169"/>
                </a:solidFill>
                <a:latin typeface="Arial" pitchFamily="34" charset="0"/>
                <a:ea typeface="Arial" pitchFamily="34" charset="-122"/>
                <a:cs typeface="Arial" pitchFamily="34" charset="-120"/>
              </a:rPr>
              <a:t>[S14] [S15] [S16] [S17] [S18] [S19] [S20]</a:t>
            </a:r>
            <a:endParaRPr lang="en-US" sz="82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sp>
      <p:sp>
        <p:nvSpPr>
          <p:cNvPr id="11" name="Text 9"/>
          <p:cNvSpPr/>
          <p:nvPr/>
        </p:nvSpPr>
        <p:spPr>
          <a:xfrm>
            <a:off x="502920" y="6711696"/>
            <a:ext cx="8732520" cy="109728"/>
          </a:xfrm>
          <a:prstGeom prst="rect">
            <a:avLst/>
          </a:prstGeom>
          <a:noFill/>
          <a:ln/>
        </p:spPr>
        <p:txBody>
          <a:bodyPr wrap="square" lIns="0" tIns="0" rIns="0" bIns="0" rtlCol="0" anchor="ctr"/>
          <a:lstStyle/>
          <a:p>
            <a:pPr indent="0" marL="0">
              <a:buNone/>
            </a:pPr>
            <a:r>
              <a:rPr lang="en-US" sz="750" dirty="0">
                <a:solidFill>
                  <a:srgbClr val="5B6169"/>
                </a:solidFill>
                <a:latin typeface="Arial" pitchFamily="34" charset="0"/>
                <a:ea typeface="Arial" pitchFamily="34" charset="-122"/>
                <a:cs typeface="Arial" pitchFamily="34" charset="-120"/>
              </a:rPr>
              <a:t>INTERNAL CONCEPT  •  7 OCT 2026  •  PUBLIC EVIDENCE + UNQUALIFIED ATMOS TARGETS</a:t>
            </a:r>
            <a:endParaRPr lang="en-US" sz="750" dirty="0"/>
          </a:p>
        </p:txBody>
      </p:sp>
      <p:sp>
        <p:nvSpPr>
          <p:cNvPr id="12" name="Text 10">
            <a:hlinkClick r:id="rId1" tooltip=""/>
          </p:cNvPr>
          <p:cNvSpPr/>
          <p:nvPr/>
        </p:nvSpPr>
        <p:spPr>
          <a:xfrm>
            <a:off x="9235440" y="6702552"/>
            <a:ext cx="1691640" cy="137160"/>
          </a:xfrm>
          <a:prstGeom prst="rect">
            <a:avLst/>
          </a:prstGeom>
          <a:noFill/>
          <a:ln/>
        </p:spPr>
        <p:txBody>
          <a:bodyPr wrap="square" lIns="0" tIns="0" rIns="0" bIns="0" rtlCol="0" anchor="ctr"/>
          <a:lstStyle/>
          <a:p>
            <a:pPr algn="r" indent="0" marL="0">
              <a:buNone/>
            </a:pPr>
            <a:r>
              <a:rPr lang="en-US" sz="820" b="1"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DETAIL: V3 §sources</a:t>
            </a:r>
            <a:endParaRPr lang="en-US" sz="820" dirty="0"/>
          </a:p>
        </p:txBody>
      </p:sp>
      <p:sp>
        <p:nvSpPr>
          <p:cNvPr id="13" name="Text 11"/>
          <p:cNvSpPr/>
          <p:nvPr/>
        </p:nvSpPr>
        <p:spPr>
          <a:xfrm>
            <a:off x="11064240" y="6693408"/>
            <a:ext cx="603504" cy="146304"/>
          </a:xfrm>
          <a:prstGeom prst="rect">
            <a:avLst/>
          </a:prstGeom>
          <a:noFill/>
          <a:ln/>
        </p:spPr>
        <p:txBody>
          <a:bodyPr wrap="square" lIns="0" tIns="0" rIns="0" bIns="0" rtlCol="0" anchor="ctr"/>
          <a:lstStyle/>
          <a:p>
            <a:pPr algn="r" indent="0" marL="0">
              <a:buNone/>
            </a:pPr>
            <a:r>
              <a:rPr lang="en-US" sz="920" b="1" dirty="0">
                <a:solidFill>
                  <a:srgbClr val="E31837"/>
                </a:solidFill>
                <a:latin typeface="Arial" pitchFamily="34" charset="0"/>
                <a:ea typeface="Arial" pitchFamily="34" charset="-122"/>
                <a:cs typeface="Arial" pitchFamily="34" charset="-120"/>
              </a:rPr>
              <a:t>M20</a:t>
            </a:r>
            <a:endParaRPr lang="en-US" sz="920" dirty="0"/>
          </a:p>
        </p:txBody>
      </p:sp>
      <p:sp>
        <p:nvSpPr>
          <p:cNvPr id="14" name="Shape 12"/>
          <p:cNvSpPr/>
          <p:nvPr/>
        </p:nvSpPr>
        <p:spPr>
          <a:xfrm>
            <a:off x="502920" y="2112264"/>
            <a:ext cx="11183112" cy="448056"/>
          </a:xfrm>
          <a:prstGeom prst="rect">
            <a:avLst>
              <a:gd name="adj" fmla="val 16327"/>
            </a:avLst>
          </a:prstGeom>
          <a:solidFill>
            <a:srgbClr val="F3F4F6"/>
          </a:solidFill>
          <a:ln w="12700">
            <a:solidFill>
              <a:srgbClr val="F3F4F6"/>
            </a:solidFill>
            <a:prstDash val="solid"/>
          </a:ln>
        </p:spPr>
      </p:sp>
      <p:sp>
        <p:nvSpPr>
          <p:cNvPr id="15" name="Shape 13"/>
          <p:cNvSpPr/>
          <p:nvPr/>
        </p:nvSpPr>
        <p:spPr>
          <a:xfrm>
            <a:off x="621792" y="2208276"/>
            <a:ext cx="493776" cy="237744"/>
          </a:xfrm>
          <a:prstGeom prst="rect">
            <a:avLst>
              <a:gd name="adj" fmla="val 30769"/>
            </a:avLst>
          </a:prstGeom>
          <a:solidFill>
            <a:srgbClr val="FCECF0"/>
          </a:solidFill>
          <a:ln w="12700">
            <a:solidFill>
              <a:srgbClr val="FCECF0"/>
            </a:solidFill>
            <a:prstDash val="solid"/>
          </a:ln>
        </p:spPr>
      </p:sp>
      <p:sp>
        <p:nvSpPr>
          <p:cNvPr id="16" name="Text 14"/>
          <p:cNvSpPr/>
          <p:nvPr/>
        </p:nvSpPr>
        <p:spPr>
          <a:xfrm>
            <a:off x="694944" y="2231136"/>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S14</a:t>
            </a:r>
            <a:endParaRPr lang="en-US" sz="1050" dirty="0"/>
          </a:p>
        </p:txBody>
      </p:sp>
      <p:sp>
        <p:nvSpPr>
          <p:cNvPr id="17" name="Text 15">
            <a:hlinkClick r:id="rId2" tooltip=""/>
          </p:cNvPr>
          <p:cNvSpPr/>
          <p:nvPr/>
        </p:nvSpPr>
        <p:spPr>
          <a:xfrm>
            <a:off x="1261872" y="2176272"/>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HPE — Private Cloud AI / enterprise AI solutions</a:t>
            </a:r>
            <a:endParaRPr lang="en-US" sz="1500" dirty="0"/>
          </a:p>
        </p:txBody>
      </p:sp>
      <p:sp>
        <p:nvSpPr>
          <p:cNvPr id="18" name="Text 16"/>
          <p:cNvSpPr/>
          <p:nvPr/>
        </p:nvSpPr>
        <p:spPr>
          <a:xfrm>
            <a:off x="1261872" y="2386584"/>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Turnkey private AI already exists.</a:t>
            </a:r>
            <a:endParaRPr lang="en-US" sz="980" dirty="0"/>
          </a:p>
        </p:txBody>
      </p:sp>
      <p:sp>
        <p:nvSpPr>
          <p:cNvPr id="19" name="Shape 17"/>
          <p:cNvSpPr/>
          <p:nvPr/>
        </p:nvSpPr>
        <p:spPr>
          <a:xfrm>
            <a:off x="502920" y="2613355"/>
            <a:ext cx="11183112" cy="448056"/>
          </a:xfrm>
          <a:prstGeom prst="rect">
            <a:avLst>
              <a:gd name="adj" fmla="val 16327"/>
            </a:avLst>
          </a:prstGeom>
          <a:solidFill>
            <a:srgbClr val="FFFFFF"/>
          </a:solidFill>
          <a:ln w="12700">
            <a:solidFill>
              <a:srgbClr val="FFFFFF"/>
            </a:solidFill>
            <a:prstDash val="solid"/>
          </a:ln>
        </p:spPr>
      </p:sp>
      <p:sp>
        <p:nvSpPr>
          <p:cNvPr id="20" name="Shape 18"/>
          <p:cNvSpPr/>
          <p:nvPr/>
        </p:nvSpPr>
        <p:spPr>
          <a:xfrm>
            <a:off x="621792" y="2709367"/>
            <a:ext cx="493776" cy="237744"/>
          </a:xfrm>
          <a:prstGeom prst="rect">
            <a:avLst>
              <a:gd name="adj" fmla="val 30769"/>
            </a:avLst>
          </a:prstGeom>
          <a:solidFill>
            <a:srgbClr val="FCECF0"/>
          </a:solidFill>
          <a:ln w="12700">
            <a:solidFill>
              <a:srgbClr val="FCECF0"/>
            </a:solidFill>
            <a:prstDash val="solid"/>
          </a:ln>
        </p:spPr>
      </p:sp>
      <p:sp>
        <p:nvSpPr>
          <p:cNvPr id="21" name="Text 19"/>
          <p:cNvSpPr/>
          <p:nvPr/>
        </p:nvSpPr>
        <p:spPr>
          <a:xfrm>
            <a:off x="694944" y="2732227"/>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S15</a:t>
            </a:r>
            <a:endParaRPr lang="en-US" sz="1050" dirty="0"/>
          </a:p>
        </p:txBody>
      </p:sp>
      <p:sp>
        <p:nvSpPr>
          <p:cNvPr id="22" name="Text 20">
            <a:hlinkClick r:id="rId3" tooltip=""/>
          </p:cNvPr>
          <p:cNvSpPr/>
          <p:nvPr/>
        </p:nvSpPr>
        <p:spPr>
          <a:xfrm>
            <a:off x="1261872" y="2677363"/>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Nutanix — GPT-in-a-Box 2.0</a:t>
            </a:r>
            <a:endParaRPr lang="en-US" sz="1500" dirty="0"/>
          </a:p>
        </p:txBody>
      </p:sp>
      <p:sp>
        <p:nvSpPr>
          <p:cNvPr id="23" name="Text 21"/>
          <p:cNvSpPr/>
          <p:nvPr/>
        </p:nvSpPr>
        <p:spPr>
          <a:xfrm>
            <a:off x="1261872" y="2887675"/>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Private model serving and lifecycle are established competitive offerings.</a:t>
            </a:r>
            <a:endParaRPr lang="en-US" sz="980" dirty="0"/>
          </a:p>
        </p:txBody>
      </p:sp>
      <p:sp>
        <p:nvSpPr>
          <p:cNvPr id="24" name="Shape 22"/>
          <p:cNvSpPr/>
          <p:nvPr/>
        </p:nvSpPr>
        <p:spPr>
          <a:xfrm>
            <a:off x="502920" y="3114446"/>
            <a:ext cx="11183112" cy="448056"/>
          </a:xfrm>
          <a:prstGeom prst="rect">
            <a:avLst>
              <a:gd name="adj" fmla="val 16327"/>
            </a:avLst>
          </a:prstGeom>
          <a:solidFill>
            <a:srgbClr val="F3F4F6"/>
          </a:solidFill>
          <a:ln w="12700">
            <a:solidFill>
              <a:srgbClr val="F3F4F6"/>
            </a:solidFill>
            <a:prstDash val="solid"/>
          </a:ln>
        </p:spPr>
      </p:sp>
      <p:sp>
        <p:nvSpPr>
          <p:cNvPr id="25" name="Shape 23"/>
          <p:cNvSpPr/>
          <p:nvPr/>
        </p:nvSpPr>
        <p:spPr>
          <a:xfrm>
            <a:off x="621792" y="3210458"/>
            <a:ext cx="493776" cy="237744"/>
          </a:xfrm>
          <a:prstGeom prst="rect">
            <a:avLst>
              <a:gd name="adj" fmla="val 30769"/>
            </a:avLst>
          </a:prstGeom>
          <a:solidFill>
            <a:srgbClr val="FCECF0"/>
          </a:solidFill>
          <a:ln w="12700">
            <a:solidFill>
              <a:srgbClr val="FCECF0"/>
            </a:solidFill>
            <a:prstDash val="solid"/>
          </a:ln>
        </p:spPr>
      </p:sp>
      <p:sp>
        <p:nvSpPr>
          <p:cNvPr id="26" name="Text 24"/>
          <p:cNvSpPr/>
          <p:nvPr/>
        </p:nvSpPr>
        <p:spPr>
          <a:xfrm>
            <a:off x="694944" y="3233318"/>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S16</a:t>
            </a:r>
            <a:endParaRPr lang="en-US" sz="1050" dirty="0"/>
          </a:p>
        </p:txBody>
      </p:sp>
      <p:sp>
        <p:nvSpPr>
          <p:cNvPr id="27" name="Text 25">
            <a:hlinkClick r:id="rId4" tooltip=""/>
          </p:cNvPr>
          <p:cNvSpPr/>
          <p:nvPr/>
        </p:nvSpPr>
        <p:spPr>
          <a:xfrm>
            <a:off x="1261872" y="3178454"/>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Supermicro — NVMe / X14 platform overview</a:t>
            </a:r>
            <a:endParaRPr lang="en-US" sz="1500" dirty="0"/>
          </a:p>
        </p:txBody>
      </p:sp>
      <p:sp>
        <p:nvSpPr>
          <p:cNvPr id="28" name="Text 26"/>
          <p:cNvSpPr/>
          <p:nvPr/>
        </p:nvSpPr>
        <p:spPr>
          <a:xfrm>
            <a:off x="1261872" y="3388766"/>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E3.S / CXL platform precedent is not ATMOS certification.</a:t>
            </a:r>
            <a:endParaRPr lang="en-US" sz="980" dirty="0"/>
          </a:p>
        </p:txBody>
      </p:sp>
      <p:sp>
        <p:nvSpPr>
          <p:cNvPr id="29" name="Shape 27"/>
          <p:cNvSpPr/>
          <p:nvPr/>
        </p:nvSpPr>
        <p:spPr>
          <a:xfrm>
            <a:off x="502920" y="3615538"/>
            <a:ext cx="11183112" cy="448056"/>
          </a:xfrm>
          <a:prstGeom prst="rect">
            <a:avLst>
              <a:gd name="adj" fmla="val 16327"/>
            </a:avLst>
          </a:prstGeom>
          <a:solidFill>
            <a:srgbClr val="FFFFFF"/>
          </a:solidFill>
          <a:ln w="12700">
            <a:solidFill>
              <a:srgbClr val="FFFFFF"/>
            </a:solidFill>
            <a:prstDash val="solid"/>
          </a:ln>
        </p:spPr>
      </p:sp>
      <p:sp>
        <p:nvSpPr>
          <p:cNvPr id="30" name="Shape 28"/>
          <p:cNvSpPr/>
          <p:nvPr/>
        </p:nvSpPr>
        <p:spPr>
          <a:xfrm>
            <a:off x="621792" y="3711550"/>
            <a:ext cx="493776" cy="237744"/>
          </a:xfrm>
          <a:prstGeom prst="rect">
            <a:avLst>
              <a:gd name="adj" fmla="val 30769"/>
            </a:avLst>
          </a:prstGeom>
          <a:solidFill>
            <a:srgbClr val="FCECF0"/>
          </a:solidFill>
          <a:ln w="12700">
            <a:solidFill>
              <a:srgbClr val="FCECF0"/>
            </a:solidFill>
            <a:prstDash val="solid"/>
          </a:ln>
        </p:spPr>
      </p:sp>
      <p:sp>
        <p:nvSpPr>
          <p:cNvPr id="31" name="Text 29"/>
          <p:cNvSpPr/>
          <p:nvPr/>
        </p:nvSpPr>
        <p:spPr>
          <a:xfrm>
            <a:off x="694944" y="3734410"/>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S17</a:t>
            </a:r>
            <a:endParaRPr lang="en-US" sz="1050" dirty="0"/>
          </a:p>
        </p:txBody>
      </p:sp>
      <p:sp>
        <p:nvSpPr>
          <p:cNvPr id="32" name="Text 30">
            <a:hlinkClick r:id="rId5" tooltip=""/>
          </p:cNvPr>
          <p:cNvSpPr/>
          <p:nvPr/>
        </p:nvSpPr>
        <p:spPr>
          <a:xfrm>
            <a:off x="1261872" y="3679546"/>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Dell — OEM Solutions</a:t>
            </a:r>
            <a:endParaRPr lang="en-US" sz="1500" dirty="0"/>
          </a:p>
        </p:txBody>
      </p:sp>
      <p:sp>
        <p:nvSpPr>
          <p:cNvPr id="33" name="Text 31"/>
          <p:cNvSpPr/>
          <p:nvPr/>
        </p:nvSpPr>
        <p:spPr>
          <a:xfrm>
            <a:off x="1261872" y="3889858"/>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Branding and OEM lifecycle route; no partnership assumed.</a:t>
            </a:r>
            <a:endParaRPr lang="en-US" sz="980" dirty="0"/>
          </a:p>
        </p:txBody>
      </p:sp>
      <p:sp>
        <p:nvSpPr>
          <p:cNvPr id="34" name="Shape 32"/>
          <p:cNvSpPr/>
          <p:nvPr/>
        </p:nvSpPr>
        <p:spPr>
          <a:xfrm>
            <a:off x="502920" y="4116629"/>
            <a:ext cx="11183112" cy="448056"/>
          </a:xfrm>
          <a:prstGeom prst="rect">
            <a:avLst>
              <a:gd name="adj" fmla="val 16327"/>
            </a:avLst>
          </a:prstGeom>
          <a:solidFill>
            <a:srgbClr val="F3F4F6"/>
          </a:solidFill>
          <a:ln w="12700">
            <a:solidFill>
              <a:srgbClr val="F3F4F6"/>
            </a:solidFill>
            <a:prstDash val="solid"/>
          </a:ln>
        </p:spPr>
      </p:sp>
      <p:sp>
        <p:nvSpPr>
          <p:cNvPr id="35" name="Shape 33"/>
          <p:cNvSpPr/>
          <p:nvPr/>
        </p:nvSpPr>
        <p:spPr>
          <a:xfrm>
            <a:off x="621792" y="4212641"/>
            <a:ext cx="493776" cy="237744"/>
          </a:xfrm>
          <a:prstGeom prst="rect">
            <a:avLst>
              <a:gd name="adj" fmla="val 30769"/>
            </a:avLst>
          </a:prstGeom>
          <a:solidFill>
            <a:srgbClr val="FCECF0"/>
          </a:solidFill>
          <a:ln w="12700">
            <a:solidFill>
              <a:srgbClr val="FCECF0"/>
            </a:solidFill>
            <a:prstDash val="solid"/>
          </a:ln>
        </p:spPr>
      </p:sp>
      <p:sp>
        <p:nvSpPr>
          <p:cNvPr id="36" name="Text 34"/>
          <p:cNvSpPr/>
          <p:nvPr/>
        </p:nvSpPr>
        <p:spPr>
          <a:xfrm>
            <a:off x="694944" y="4235501"/>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S18</a:t>
            </a:r>
            <a:endParaRPr lang="en-US" sz="1050" dirty="0"/>
          </a:p>
        </p:txBody>
      </p:sp>
      <p:sp>
        <p:nvSpPr>
          <p:cNvPr id="37" name="Text 35">
            <a:hlinkClick r:id="rId6" tooltip=""/>
          </p:cNvPr>
          <p:cNvSpPr/>
          <p:nvPr/>
        </p:nvSpPr>
        <p:spPr>
          <a:xfrm>
            <a:off x="1261872" y="4180637"/>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Dell — R7725 40-E3.S topology</a:t>
            </a:r>
            <a:endParaRPr lang="en-US" sz="1500" dirty="0"/>
          </a:p>
        </p:txBody>
      </p:sp>
      <p:sp>
        <p:nvSpPr>
          <p:cNvPr id="38" name="Text 36"/>
          <p:cNvSpPr/>
          <p:nvPr/>
        </p:nvSpPr>
        <p:spPr>
          <a:xfrm>
            <a:off x="1261872" y="4390949"/>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Storage root topology, not a certified ATMOS backplane.</a:t>
            </a:r>
            <a:endParaRPr lang="en-US" sz="980" dirty="0"/>
          </a:p>
        </p:txBody>
      </p:sp>
      <p:sp>
        <p:nvSpPr>
          <p:cNvPr id="39" name="Shape 37"/>
          <p:cNvSpPr/>
          <p:nvPr/>
        </p:nvSpPr>
        <p:spPr>
          <a:xfrm>
            <a:off x="502920" y="4617720"/>
            <a:ext cx="11183112" cy="448056"/>
          </a:xfrm>
          <a:prstGeom prst="rect">
            <a:avLst>
              <a:gd name="adj" fmla="val 16327"/>
            </a:avLst>
          </a:prstGeom>
          <a:solidFill>
            <a:srgbClr val="FFFFFF"/>
          </a:solidFill>
          <a:ln w="12700">
            <a:solidFill>
              <a:srgbClr val="FFFFFF"/>
            </a:solidFill>
            <a:prstDash val="solid"/>
          </a:ln>
        </p:spPr>
      </p:sp>
      <p:sp>
        <p:nvSpPr>
          <p:cNvPr id="40" name="Shape 38"/>
          <p:cNvSpPr/>
          <p:nvPr/>
        </p:nvSpPr>
        <p:spPr>
          <a:xfrm>
            <a:off x="621792" y="4713732"/>
            <a:ext cx="493776" cy="237744"/>
          </a:xfrm>
          <a:prstGeom prst="rect">
            <a:avLst>
              <a:gd name="adj" fmla="val 30769"/>
            </a:avLst>
          </a:prstGeom>
          <a:solidFill>
            <a:srgbClr val="FCECF0"/>
          </a:solidFill>
          <a:ln w="12700">
            <a:solidFill>
              <a:srgbClr val="FCECF0"/>
            </a:solidFill>
            <a:prstDash val="solid"/>
          </a:ln>
        </p:spPr>
      </p:sp>
      <p:sp>
        <p:nvSpPr>
          <p:cNvPr id="41" name="Text 39"/>
          <p:cNvSpPr/>
          <p:nvPr/>
        </p:nvSpPr>
        <p:spPr>
          <a:xfrm>
            <a:off x="694944" y="4736592"/>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S19</a:t>
            </a:r>
            <a:endParaRPr lang="en-US" sz="1050" dirty="0"/>
          </a:p>
        </p:txBody>
      </p:sp>
      <p:sp>
        <p:nvSpPr>
          <p:cNvPr id="42" name="Text 40">
            <a:hlinkClick r:id="rId7" tooltip=""/>
          </p:cNvPr>
          <p:cNvSpPr/>
          <p:nvPr/>
        </p:nvSpPr>
        <p:spPr>
          <a:xfrm>
            <a:off x="1261872" y="4681728"/>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HPE — Virtual OEM</a:t>
            </a:r>
            <a:endParaRPr lang="en-US" sz="1500" dirty="0"/>
          </a:p>
        </p:txBody>
      </p:sp>
      <p:sp>
        <p:nvSpPr>
          <p:cNvPr id="43" name="Text 41"/>
          <p:cNvSpPr/>
          <p:nvPr/>
        </p:nvSpPr>
        <p:spPr>
          <a:xfrm>
            <a:off x="1261872" y="4892040"/>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Partner-driven OEM delivery; validate contracted scope.</a:t>
            </a:r>
            <a:endParaRPr lang="en-US" sz="980" dirty="0"/>
          </a:p>
        </p:txBody>
      </p:sp>
      <p:sp>
        <p:nvSpPr>
          <p:cNvPr id="44" name="Shape 42"/>
          <p:cNvSpPr/>
          <p:nvPr/>
        </p:nvSpPr>
        <p:spPr>
          <a:xfrm>
            <a:off x="502920" y="5118811"/>
            <a:ext cx="11183112" cy="448056"/>
          </a:xfrm>
          <a:prstGeom prst="rect">
            <a:avLst>
              <a:gd name="adj" fmla="val 16327"/>
            </a:avLst>
          </a:prstGeom>
          <a:solidFill>
            <a:srgbClr val="F3F4F6"/>
          </a:solidFill>
          <a:ln w="12700">
            <a:solidFill>
              <a:srgbClr val="F3F4F6"/>
            </a:solidFill>
            <a:prstDash val="solid"/>
          </a:ln>
        </p:spPr>
      </p:sp>
      <p:sp>
        <p:nvSpPr>
          <p:cNvPr id="45" name="Shape 43"/>
          <p:cNvSpPr/>
          <p:nvPr/>
        </p:nvSpPr>
        <p:spPr>
          <a:xfrm>
            <a:off x="621792" y="5214823"/>
            <a:ext cx="493776" cy="237744"/>
          </a:xfrm>
          <a:prstGeom prst="rect">
            <a:avLst>
              <a:gd name="adj" fmla="val 30769"/>
            </a:avLst>
          </a:prstGeom>
          <a:solidFill>
            <a:srgbClr val="FCECF0"/>
          </a:solidFill>
          <a:ln w="12700">
            <a:solidFill>
              <a:srgbClr val="FCECF0"/>
            </a:solidFill>
            <a:prstDash val="solid"/>
          </a:ln>
        </p:spPr>
      </p:sp>
      <p:sp>
        <p:nvSpPr>
          <p:cNvPr id="46" name="Text 44"/>
          <p:cNvSpPr/>
          <p:nvPr/>
        </p:nvSpPr>
        <p:spPr>
          <a:xfrm>
            <a:off x="694944" y="5237683"/>
            <a:ext cx="347472" cy="192024"/>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S20</a:t>
            </a:r>
            <a:endParaRPr lang="en-US" sz="1050" dirty="0"/>
          </a:p>
        </p:txBody>
      </p:sp>
      <p:sp>
        <p:nvSpPr>
          <p:cNvPr id="47" name="Text 45">
            <a:hlinkClick r:id="rId8" tooltip=""/>
          </p:cNvPr>
          <p:cNvSpPr/>
          <p:nvPr/>
        </p:nvSpPr>
        <p:spPr>
          <a:xfrm>
            <a:off x="1261872" y="5182819"/>
            <a:ext cx="10040112" cy="228600"/>
          </a:xfrm>
          <a:prstGeom prst="rect">
            <a:avLst/>
          </a:prstGeom>
          <a:noFill/>
          <a:ln/>
        </p:spPr>
        <p:txBody>
          <a:bodyPr wrap="square" lIns="0" tIns="0" rIns="0" bIns="0" rtlCol="0" anchor="ctr"/>
          <a:lstStyle/>
          <a:p>
            <a:pPr indent="0" marL="0">
              <a:buNone/>
            </a:pPr>
            <a:r>
              <a:rPr lang="en-US" sz="1500" b="1" u="sng" dirty="0">
                <a:solidFill>
                  <a:srgbClr val="18191D"/>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SanDisk / SK hynix — HBF OCP specification</a:t>
            </a:r>
            <a:endParaRPr lang="en-US" sz="1500" dirty="0"/>
          </a:p>
        </p:txBody>
      </p:sp>
      <p:sp>
        <p:nvSpPr>
          <p:cNvPr id="48" name="Text 46"/>
          <p:cNvSpPr/>
          <p:nvPr/>
        </p:nvSpPr>
        <p:spPr>
          <a:xfrm>
            <a:off x="1261872" y="5393131"/>
            <a:ext cx="10040112" cy="137160"/>
          </a:xfrm>
          <a:prstGeom prst="rect">
            <a:avLst/>
          </a:prstGeom>
          <a:noFill/>
          <a:ln/>
        </p:spPr>
        <p:txBody>
          <a:bodyPr wrap="square" lIns="0" tIns="0" rIns="0" bIns="0" rtlCol="0" anchor="ctr"/>
          <a:lstStyle/>
          <a:p>
            <a:pPr indent="0" marL="0">
              <a:buNone/>
            </a:pPr>
            <a:r>
              <a:rPr lang="en-US" sz="980" dirty="0">
                <a:solidFill>
                  <a:srgbClr val="5B6169"/>
                </a:solidFill>
                <a:latin typeface="Arial" pitchFamily="34" charset="0"/>
                <a:ea typeface="Arial" pitchFamily="34" charset="-122"/>
                <a:cs typeface="Arial" pitchFamily="34" charset="-120"/>
              </a:rPr>
              <a:t>Public standardization milestone, not ATMOS readiness.</a:t>
            </a:r>
            <a:endParaRPr lang="en-US" sz="9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 Edge, Workstation &amp; Market Evidence Supplement</dc:title>
  <dc:subject>Edge/workstation market evidence, SKU fit, performance qualification and OEM sourcing</dc:subject>
  <dc:creator>SanDisk ATMOS — Strategy &amp; Systems Architecture</dc:creator>
  <cp:lastModifiedBy>SanDisk ATMOS — Strategy &amp; Systems Architecture</cp:lastModifiedBy>
  <cp:revision>1</cp:revision>
  <dcterms:created xsi:type="dcterms:W3CDTF">2026-10-08T03:54:12Z</dcterms:created>
  <dcterms:modified xsi:type="dcterms:W3CDTF">2026-10-08T03:54:12Z</dcterms:modified>
</cp:coreProperties>
</file>