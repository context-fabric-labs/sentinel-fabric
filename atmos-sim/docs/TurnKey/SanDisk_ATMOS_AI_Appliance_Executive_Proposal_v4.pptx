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81" r:id="rId8"/>
    <p:sldId id="283" r:id="rId9"/>
    <p:sldId id="285" r:id="rId10"/>
    <p:sldId id="265" r:id="rId11"/>
    <p:sldId id="284" r:id="rId12"/>
    <p:sldId id="262" r:id="rId13"/>
    <p:sldId id="282" r:id="rId14"/>
    <p:sldId id="263" r:id="rId15"/>
    <p:sldId id="264"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82"/>
    <p:restoredTop sz="94610"/>
  </p:normalViewPr>
  <p:slideViewPr>
    <p:cSldViewPr snapToGrid="0" snapToObjects="1">
      <p:cViewPr varScale="1">
        <p:scale>
          <a:sx n="118" d="100"/>
          <a:sy n="118" d="100"/>
        </p:scale>
        <p:origin x="232"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1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product decision, not PCIe bandwidth. The proposed opportunity is a SanDisk-branded private knowledge and inference service built on an OEM platform. The current attached PRD controls scope: five commercial profiles over four device densities, with the Knowledge Agent as the flagship. This is not the earlier three-way MoE execution portfolio. Present slides 1–16; use slides 17–25 only for questions. No physical ATMOS performance, approved price or OEM certification is asserted. The appliance illustrations are hypothetical design studies. Request approval for D8/E16 evidence and product ownership—not launch.</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SanDisk is investigating: its public HBF standardization work provides a strategic entry point into capacity-oriented inference. That announcement does not validate ATMOS silicon or an appliance. Competitors already offer privacy, local models and RAG. The hypothesis is that resident model/neural-data capacity plus local compute and a supported service can improve selected workload economics. CPU DRAM, smaller GPUs and managed services must remain controls. A larger memory figure or lower NPU utilization is not by itself a benefit.</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[S01] Sandisk / SK hynix HBF standardization MOU, 6 Aug 2025</a:t>
            </a:r>
          </a:p>
          <a:p>
            <a:r>
              <a:t>https://www.sandisk.com/en-za/company/newsroom/press-releases/2025/2025-08-06-sandisk-to-collaborate-with-sk-hynix-to-drive-standardization-of-high-bandwidth-flash-memory-technology</a:t>
            </a:r>
          </a:p>
          <a:p>
            <a:r>
              <a:t>Strategic HBF participation; not an ATMOS appliance launch or measured bandwidth guarantee.</a:t>
            </a:r>
          </a:p>
          <a:p>
            <a:endParaRPr/>
          </a:p>
          <a:p>
            <a:r>
              <a:t>[S02] SK hynix / Sandisk HBF specification announcement, 4 Aug 2026</a:t>
            </a:r>
          </a:p>
          <a:p>
            <a:r>
              <a:t>https://news.skhynix.com/en/hbf-at-fms-2026/</a:t>
            </a:r>
          </a:p>
          <a:p>
            <a:r>
              <a:t>Public HBF-standard work supports strategic context. Do not substitute these roadmap figures for I1 ATMOS module targets.</a:t>
            </a:r>
          </a:p>
          <a:p>
            <a:endParaRPr/>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endParaRPr/>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comparison is deliberately broader than an expensive eight-GPU server. Compact local systems, turnkey private-AI platforms and specialized inference architectures are all credible alternatives. The appendix includes every product family listed in the supplied document and a Mac Studio control. It is a representative catalog, not every worldwide configuration. Do not compare HBF, HBM, SRAM and unified CPU/GPU memory as equivalent pools, or rank unmatched peak TOPS. ATMOS must earn its place under the same model, quality, latency and support contract.</a:t>
            </a:r>
          </a:p>
          <a:p>
            <a:endParaRPr/>
          </a:p>
          <a:p>
            <a:r>
              <a:t>EVIDENCE</a:t>
            </a:r>
          </a:p>
          <a:p>
            <a:r>
              <a:t>[S06] NVIDIA DGX Spark hardware guide</a:t>
            </a:r>
          </a:p>
          <a:p>
            <a:r>
              <a:t>https://docs.nvidia.com/dgx/dgx-spark/hardware.html</a:t>
            </a:r>
          </a:p>
          <a:p>
            <a:r>
              <a:t>128GB LPDDR5X unified reference, 273GB/s; 10GbE and ConnectX-7. Hardware guide dated 10 Sep 2026.</a:t>
            </a:r>
          </a:p>
          <a:p>
            <a:endParaRPr/>
          </a:p>
          <a:p>
            <a:r>
              <a:t>[S09] NVIDIA DGX Station specifications</a:t>
            </a:r>
          </a:p>
          <a:p>
            <a:r>
              <a:t>https://www.nvidia.com/en-us/products/workstations/dgx-station/</a:t>
            </a:r>
          </a:p>
          <a:p>
            <a:r>
              <a:t>252GB HBM3e plus 496GB LPDDR5X; 748GB coherent CPU/GPU total, not 748GB HBM; 1,600W system specification.</a:t>
            </a:r>
          </a:p>
          <a:p>
            <a:endParaRPr/>
          </a:p>
          <a:p>
            <a:r>
              <a:t>[S11] NVIDIA RTX PRO 6000 Workstation Edition</a:t>
            </a:r>
          </a:p>
          <a:p>
            <a:r>
              <a:t>https://www.nvidia.com/en-us/products/workstations/professional-desktop-gpus/rtx-pro-6000/</a:t>
            </a:r>
          </a:p>
          <a:p>
            <a:r>
              <a:t>96GB GDDR7; 600W GPU max. Complete workstation price depends on OEM configuration; GPU and system prices are different.</a:t>
            </a:r>
          </a:p>
          <a:p>
            <a:endParaRPr/>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endParaRPr/>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endParaRPr/>
          </a:p>
          <a:p>
            <a:r>
              <a:t>[S16] AMD Enterprise AI Suite 1.8</a:t>
            </a:r>
          </a:p>
          <a:p>
            <a:r>
              <a:t>https://www.amd.com/en/blogs/2026/amd-enterprise-ai-suite---version-1-8-.html</a:t>
            </a:r>
          </a:p>
          <a:p>
            <a:r>
              <a:t>AIM catalog and MI350-series support; open-source components do not imply ATMOS support or free enterprise operations.</a:t>
            </a:r>
          </a:p>
          <a:p>
            <a:endParaRPr/>
          </a:p>
          <a:p>
            <a:r>
              <a:t>[S18] Lenovo Hybrid AI 285 reference platform</a:t>
            </a:r>
          </a:p>
          <a:p>
            <a:r>
              <a:t>https://lenovopress.lenovo.com/lp2181-lenovo-hybrid-ai-285</a:t>
            </a:r>
          </a:p>
          <a:p>
            <a:r>
              <a:t>SR675 V3 reference: dual EPYC 9535, 24x64GB DDR5, eight RTX PRO 6000 or H200 NVL, five high-speed NICs. Exact configurations differ; quote required.</a:t>
            </a:r>
          </a:p>
          <a:p>
            <a:endParaRPr/>
          </a:p>
          <a:p>
            <a:r>
              <a:t>[S19] SambaNova SambaManaged</a:t>
            </a:r>
          </a:p>
          <a:p>
            <a:r>
              <a:t>https://sambanova.ai/sambamanaged-fully-managed-inference-cloud-from-your-data-center</a:t>
            </a:r>
          </a:p>
          <a:p>
            <a:r>
              <a:t>SN40L-based managed on-premises inference; evidence that independent non-GPU turnkey systems are already competitors. Quote required.</a:t>
            </a:r>
          </a:p>
          <a:p>
            <a:endParaRPr/>
          </a:p>
          <a:p>
            <a:r>
              <a:t>[S20] Cerebras WSE-3 / CS-3 announcement</a:t>
            </a:r>
          </a:p>
          <a:p>
            <a:r>
              <a:t>https://www.cerebras.ai/press-release/cerebras-announces-third-generation-wafer-scale-engine</a:t>
            </a:r>
          </a:p>
          <a:p>
            <a:r>
              <a:t>44GB on-chip SRAM in WSE-3; complete system uses a different memory/scale architecture. No fabricated acquisition price.</a:t>
            </a:r>
          </a:p>
          <a:p>
            <a:endParaRPr/>
          </a:p>
          <a:p>
            <a:r>
              <a:t>[S21] Groq platform</a:t>
            </a:r>
          </a:p>
          <a:p>
            <a:r>
              <a:t>https://groq.com/platform</a:t>
            </a:r>
          </a:p>
          <a:p>
            <a:r>
              <a:t>Current GroqMetal / GroqCore / GroqAssured stack; rack-scale low-latency positioning. Availability and commercial form of any named GroqRack configuration require confirmation.</a:t>
            </a:r>
          </a:p>
          <a:p>
            <a:endParaRPr/>
          </a:p>
          <a:p>
            <a:r>
              <a:t>[S22] d-Matrix Corsair announcement</a:t>
            </a:r>
          </a:p>
          <a:p>
            <a:r>
              <a:t>https://www.d-matrix.ai/announcements/d-matrix-unveils-corsair-the-worlds-most-efficient-ai-computing-platform-for-inference-in-datacenters/</a:t>
            </a:r>
          </a:p>
          <a:p>
            <a:r>
              <a:t>PCIe Gen5 card with 2GB integrated performance memory and up to 256GB capacity memory; Aviator software. Vendor comparative claims are not reused as benchmarks.</a:t>
            </a:r>
          </a:p>
          <a:p>
            <a:endParaRPr/>
          </a:p>
          <a:p>
            <a:r>
              <a:t>[S24] Apple Mac Studio M3 Ultra announcement</a:t>
            </a:r>
          </a:p>
          <a:p>
            <a:r>
              <a:t>https://www.apple.com/newsroom/2025/03/apple-unveils-new-mac-studio-the-most-powerful-mac-ever/</a:t>
            </a:r>
          </a:p>
          <a:p>
            <a:r>
              <a:t>Historical March 2025 configuration up to 512GB unified memory; current configured availability/price require refresh. Do not pair base price with maximum memory.</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 reported approximately $3.2 billion of Professional Visualization revenue for fiscal 2026, up 70%. Its second quarter of fiscal 2027, ended 26 July 2026, reported $7.2 billion of Edge Computing revenue. These are different periods and product scopes; never add them or label them ATMOS TAM. The user's “Age” is interpreted as edge. Nasdaq's vendor-published account reports 30% faster response and 30% improved accuracy, not ATMOS results or a disclosed GPU cost. EPRI's 35 single-user and approximately 150 aggregate tokens/s use a different model, warm-up and prefix-cache profile; they are not directly comparable to G1.</a:t>
            </a:r>
          </a:p>
          <a:p>
            <a:endParaRPr/>
          </a:p>
          <a:p>
            <a:r>
              <a:t>EVIDENCE</a:t>
            </a:r>
          </a:p>
          <a:p>
            <a:r>
              <a:t>[S03] NVIDIA FY2026 earnings, 25 Feb 2026</a:t>
            </a:r>
          </a:p>
          <a:p>
            <a:r>
              <a:t>https://investor.nvidia.com/news/press-release-details/2026/NVIDIA-Announces-Financial-Results-for-Fourth-Quarter-and-Fiscal-2026/default.aspx</a:t>
            </a:r>
          </a:p>
          <a:p>
            <a:r>
              <a:t>FY2026 Professional Visualization revenue approximately $3.2B, up 70%; broader than AI-only workstation revenue.</a:t>
            </a:r>
          </a:p>
          <a:p>
            <a:endParaRPr/>
          </a:p>
          <a:p>
            <a:r>
              <a:t>[S04] NVIDIA Q2 FY2027 earnings, 26 Aug 2026</a:t>
            </a:r>
          </a:p>
          <a:p>
            <a:r>
              <a:t>https://investor.nvidia.com/news/press-release-details/2026/NVIDIA-Announces-Financial-Results-for-Second-Quarter-Fiscal-2027/</a:t>
            </a:r>
          </a:p>
          <a:p>
            <a:r>
              <a:t>Quarter ended 26 July 2026: Edge Computing revenue $7.2B. This is not an AI-workstation-only category or ATMOS TAM.</a:t>
            </a:r>
          </a:p>
          <a:p>
            <a:endParaRPr/>
          </a:p>
          <a:p>
            <a:r>
              <a:t>[S05] NVIDIA Q1 FY2027 earnings and reporting transition</a:t>
            </a:r>
          </a:p>
          <a:p>
            <a:r>
              <a:t>https://investor.nvidia.com/news/press-release-details/2026/NVIDIA-Announces-Financial-Results-for-First-Quarter-Fiscal-2027/default.aspx</a:t>
            </a:r>
          </a:p>
          <a:p>
            <a:r>
              <a:t>New Edge Computing presentation. Annual Professional Visualization and quarterly Edge figures must not be added or treated as directly comparable.</a:t>
            </a:r>
          </a:p>
          <a:p>
            <a:endParaRPr/>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endParaRPr/>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W4, D8, E8, E16 and E24. D8 and E8 have the same device resource and performance targets; E8 adds qualified enterprise integration and lifecycle. Fund D8/E16 proof first. W4 requires separate office power, acoustic and commercial tests; it is not a graphics workstation. E24 is a gated six-domain stretch product. Nominal HBF capacities are 512, 1,024, 2,048 and 3,072 GB; study allocations are 400, 800, 1,600 and 2,400 GB. None is a coherent GPU memory pool. The renderings do not establish an OEM mechanical design.</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reference configurations for an OEM RFI, not validated BOMs. Processor models may be replaced by equivalent supported Intel or AMD configurations. The 30–40 W per-device power target is from the supplied PRD and excludes host CPU, DIMMs, switches, networking and fans. Mirrored NVMe pairs expose approximately one drive's nominal capacity before reserves. Four-device domains consume 16 host lanes each: 16/32/64/96 for the four device counts. Published E3.S storage or CXL bay support does not establish E3.S 2T ATMOS power, x4 routing, reset or firmware interoperability.</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[S25] Supermicro X14 Petascale family</a:t>
            </a:r>
          </a:p>
          <a:p>
            <a:r>
              <a:t>https://www.supermicro.com/en/products/petascale-grace-storage</a:t>
            </a:r>
          </a:p>
          <a:p>
            <a:r>
              <a:t>Up to 32 E3.S or 16 E3.S plus eight fixed E3.S 2T CXL Type-3 bays; dual Xeon 6700/6500. These are distinct storage/CXL options, not ATMOS-certified bays.</a:t>
            </a:r>
          </a:p>
          <a:p>
            <a:endParaRPr/>
          </a:p>
          <a:p>
            <a:r>
              <a:t>[S26] Dell PowerEdge R7725</a:t>
            </a:r>
          </a:p>
          <a:p>
            <a:r>
              <a:t>https://www.dell.com/en-us/shop/ipovw/poweredge-r7725</a:t>
            </a:r>
          </a:p>
          <a:p>
            <a:r>
              <a:t>Candidate dual-socket enterprise host with published E3.S options. Exact 2T/x4 accelerator population, power, backplane and pricing are quote/qualification items.</a:t>
            </a:r>
          </a:p>
          <a:p>
            <a:endParaRPr/>
          </a:p>
          <a:p>
            <a:r>
              <a:t>[S27] HPE DL345 Gen12 24 E3.S x4 cabling</a:t>
            </a:r>
          </a:p>
          <a:p>
            <a:r>
              <a:t>https://cdn.support.hpe.com/hpesc/public/docDisplay?docId=sd00005966en_us&amp;page=GUID-58709B31-F99E-4D9E-B660-2B3A9935540B.html&amp;docLocale=en_US</a:t>
            </a:r>
          </a:p>
          <a:p>
            <a:r>
              <a:t>Source-listed HPE technical document; retain as an OEM-returned verification item, not independently confirmed ATMOS compatibility.</a:t>
            </a:r>
          </a:p>
          <a:p>
            <a:endParaRPr/>
          </a:p>
          <a:p>
            <a:r>
              <a:t>[S28] AMD EPYC 9355P specifications</a:t>
            </a:r>
          </a:p>
          <a:p>
            <a:r>
              <a:t>https://www.amd.com/en/products/processors/server/epyc/9005-series/amd-epyc-9355p.html</a:t>
            </a:r>
          </a:p>
          <a:p>
            <a:r>
              <a:t>32 cores, single socket, PCIe Gen5 x128, 12 memory channels. Candidate host CPU, not mandatory for every OEM.</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49E5-1BF7-C56B-FD30-66ED8237C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D9C4A-8138-6D08-D7D1-462CCDAAF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54F3B-3B45-3881-02CF-BF4BE84D7CC0}"/>
              </a:ext>
            </a:extLst>
          </p:cNvPr>
          <p:cNvSpPr>
            <a:spLocks noGrp="1"/>
          </p:cNvSpPr>
          <p:nvPr>
            <p:ph type="body" idx="1"/>
          </p:nvPr>
        </p:nvSpPr>
        <p:spPr/>
        <p:txBody>
          <a:bodyPr/>
          <a:lstStyle/>
          <a:p>
            <a:r>
              <a:t>Every number is a proposed qualification target. Freeze the exact 8B-class checkpoint at G0. G1 uses FP8 weights, BF16 activation/KV, 2,048 input and 256 output tokens, an 8,192-token total cap, a warm resident model, no prefix-cache hit and no speculation. Start with one complete four-device replica per domain and four active decode sequences per replica. The scale-out ladder is a requirement, not measured linear scaling. TTFT includes queueing. Report request-average TPOT separately from inter-token latency tails; desired p99 ceilings are 5 seconds and 120 ms. R1 uses one million chunks and bounded reranking. Do not assume G1 and R1 maxima hold simultaneously.</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a:extLst>
              <a:ext uri="{FF2B5EF4-FFF2-40B4-BE49-F238E27FC236}">
                <a16:creationId xmlns:a16="http://schemas.microsoft.com/office/drawing/2014/main" id="{812DC738-8687-1B18-EE24-04121BFFF7C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142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requires no mandatory cloud dependency for contracted offline service. New design: a separate SanDisk release/support plane and customer-local control/data/execution plane. Release delivery is outbound pull or signed offline import; it is not a remote command channel. A local administrator approves deployment. No prompts, documents, private weights or KV leave by default. Optional external generation is an explicitly approved endpoint, never hidden failover. Customer data repositories and the SanDisk software registry are distinct.
SOURCE BASIS
[B1] SanDisk ATMOS AI Appliance Strategy PRD v3
SanDisk_ATMOS_AI_Appliance_Strategy_PRD_v3.docx
Controlling product baseline: sections 7-14; native/retrieval-only service roles, nine software products, HA, security, lifecycle and offline operation.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4, bookmark PRD_04.</a:t>
            </a:r>
          </a:p>
          <a:p>
            <a:r>
              <a:t>Keep both files together. Full-document link is the portable fallback if a viewer ignores bookmark fragments. Office security policies can require confirmation for local links.</a:t>
            </a:r>
          </a:p>
          <a:p>
            <a:r>
              <a:t>Slide 4: The software is the product: deliver an integrated stack.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PRD names nine software products: AI OS, Device Service, Model Services, Certified ModelPacks, Serving Manager, Knowledge Agent, Control Center, SDK and Enterprise Support. Candidate gateway/serving components are Envoy AI Gateway or equivalent, KServe LLMInferenceService, llm-d or Sandisk-packaged alternatives. Those projects supply patterns/components, not an ATMOS-certified backend. Sandisk must own the device/runtime and signed distribution and select/name the NPU compiler/runtime partner. ModelPack binds executable preparation separately from weights-as-data; no custom compiler CLI is claimed available. Readiness depends on signed pack, ABI, per-device memory fit, golden correctness and warmup. Customer-safe configuration and supported SDK extensions are different from firmware/kernel or unchecked binaries.</a:t>
            </a:r>
          </a:p>
          <a:p>
            <a:endParaRPr/>
          </a:p>
          <a:p>
            <a:r>
              <a:t>PRD: 3. Turnkey Offering: What the Customer Receives</a:t>
            </a:r>
          </a:p>
          <a:p>
            <a:r>
              <a:t>Sandisk_ATMOS_AI_Appliance_Portfolio_PRD_v2_Linked.docx#PRD_03</a:t>
            </a:r>
          </a:p>
          <a:p>
            <a:r>
              <a:t>PRD: 4. Turnkey Technical Architecture</a:t>
            </a:r>
          </a:p>
          <a:p>
            <a:r>
              <a:t>Sandisk_ATMOS_AI_Appliance_Portfolio_PRD_v2_Linked.docx#PRD_04</a:t>
            </a:r>
          </a:p>
          <a:p>
            <a:r>
              <a:t>PRD: 7. What Customers Can Configure, Extend or Not Change</a:t>
            </a:r>
          </a:p>
          <a:p>
            <a:r>
              <a:t>Sandisk_ATMOS_AI_Appliance_Portfolio_PRD_v2_Linked.docx#PRD_07</a:t>
            </a:r>
          </a:p>
          <a:p>
            <a:r>
              <a:t>PRD: 12. Security and Compliance Requirements</a:t>
            </a:r>
          </a:p>
          <a:p>
            <a:r>
              <a:t>Sandisk_ATMOS_AI_Appliance_Portfolio_PRD_v2_Linked.docx#PRD_12</a:t>
            </a:r>
          </a:p>
          <a:p>
            <a:r>
              <a:t>[R16] PRD reference: KServe LLMInferenceService with Envoy AI Gateway</a:t>
            </a:r>
          </a:p>
          <a:p>
            <a:r>
              <a:t>https://kserve.github.io/website/docs/model-serving/generative-inference/llmisvc/llmisvc-envoy-ai-gateway</a:t>
            </a:r>
          </a:p>
          <a:p>
            <a:r>
              <a:t>Source supplied with PRD; no ATMOS interoperability, engagement or certification implied.</a:t>
            </a:r>
          </a:p>
          <a:p>
            <a:r>
              <a:t>[R17] PRD reference: KServe and llm-d generative inference architecture</a:t>
            </a:r>
          </a:p>
          <a:p>
            <a:r>
              <a:t>https://developers.redhat.com/articles/2026/04/21/kserve-llm-d-optimized-gen-ai-inference</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nine software products are preserved from the PRD. Reuse commodity Linux, Kubernetes, gateway and observability components where appropriate, but contract the actual ATMOS backend and maintain the supported distribution. Tenstorrent's public vLLM plugin is precedent, not an ATMOS commitment. SanDisk must own service QA, signed model packages, APIs, lifecycle and the customer support boundary. The support backend also needs entitlement, an artifact repository, offline mirrors, a compatibility lab, product security response, redacted diagnostics, case management and OEM dispatch. OEM reuse does not remove this work.</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[S39] Tenstorrent vLLM plugin</a:t>
            </a:r>
          </a:p>
          <a:p>
            <a:r>
              <a:t>https://github.com/tenstorrent/vllm-tt-plugin</a:t>
            </a:r>
          </a:p>
          <a:p>
            <a:r>
              <a:t>Native platform-backend precedent only; ATMOS model/operator/memory support must be contracted and validated.</a:t>
            </a:r>
          </a:p>
          <a:p>
            <a:endParaRPr/>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D72F-F5B2-30DE-1B0A-450D24B21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07818-082D-351E-F4FD-21F642DF5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8482FA-14C0-A970-71B6-112D66FEE755}"/>
              </a:ext>
            </a:extLst>
          </p:cNvPr>
          <p:cNvSpPr>
            <a:spLocks noGrp="1"/>
          </p:cNvSpPr>
          <p:nvPr>
            <p:ph type="body" idx="1"/>
          </p:nvPr>
        </p:nvSpPr>
        <p:spPr/>
        <p:txBody>
          <a:bodyPr/>
          <a:lstStyle/>
          <a:p>
            <a:r>
              <a:t>The nine software products are preserved from the PRD. Reuse commodity Linux, Kubernetes, gateway and observability components where appropriate, but contract the actual ATMOS backend and maintain the supported distribution. Tenstorrent's public vLLM plugin is precedent, not an ATMOS commitment. SanDisk must own service QA, signed model packages, APIs, lifecycle and the customer support boundary. The support backend also needs entitlement, an artifact repository, offline mirrors, a compatibility lab, product security response, redacted diagnostics, case management and OEM dispatch. OEM reuse does not remove this work.</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[S39] Tenstorrent vLLM plugin</a:t>
            </a:r>
          </a:p>
          <a:p>
            <a:r>
              <a:t>https://github.com/tenstorrent/vllm-tt-plugin</a:t>
            </a:r>
          </a:p>
          <a:p>
            <a:r>
              <a:t>Native platform-backend precedent only; ATMOS model/operator/memory support must be contracted and validated.</a:t>
            </a:r>
          </a:p>
          <a:p>
            <a:endParaRPr/>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a:extLst>
              <a:ext uri="{FF2B5EF4-FFF2-40B4-BE49-F238E27FC236}">
                <a16:creationId xmlns:a16="http://schemas.microsoft.com/office/drawing/2014/main" id="{3EDE805F-B85D-F6AD-D133-E2D3C0E5945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27347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number is a proposed qualification target. Freeze the exact 8B-class checkpoint at G0. G1 uses FP8 weights, BF16 activation/KV, 2,048 input and 256 output tokens, an 8,192-token total cap, a warm resident model, no prefix-cache hit and no speculation. Start with one complete four-device replica per domain and four active decode sequences per replica. The scale-out ladder is a requirement, not measured linear scaling. TTFT includes queueing. Report request-average TPOT separately from inter-token latency tails; desired p99 ceilings are 5 seconds and 120 ms. R1 uses one million chunks and bounded reranking. Do not assume G1 and R1 maxima hold simultaneously.</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CPU owns connectors, parsing, ACL enforcement, ordinary sparse/ANN indexes, metadata and orchestration. ATMOS executes only certified scoring or model operators with a qualified memory plan. Native generation requires attention and active KV as well as FFNs, the learned router and output. Alternatively, the appliance can return evidence to a clearly configured external LLM. That external service's data policy, latency and cost remain visible. This portfolio does not reintroduce per-layer GPU-attention/ATMOS-FFN offload. Kubernetes allocates hardware and discovers ready endpoints; it does not implement the NPU model backend.</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[S39] Tenstorrent vLLM plugin</a:t>
            </a:r>
          </a:p>
          <a:p>
            <a:r>
              <a:t>https://github.com/tenstorrent/vllm-tt-plugin</a:t>
            </a:r>
          </a:p>
          <a:p>
            <a:r>
              <a:t>Native platform-backend precedent only; ATMOS model/operator/memory support must be contracted and validated.</a:t>
            </a:r>
          </a:p>
          <a:p>
            <a:endParaRPr/>
          </a:p>
          <a:p>
            <a:r>
              <a:t>[S40] NVIDIA RAG Blueprint</a:t>
            </a:r>
          </a:p>
          <a:p>
            <a:r>
              <a:t>https://docs.nvidia.com/rag/latest/</a:t>
            </a:r>
          </a:p>
          <a:p>
            <a:r>
              <a:t>Incumbent ingestion/retrieval/rerank/generation workflow; not ATMOS runtime support.</a:t>
            </a:r>
          </a:p>
          <a:p>
            <a:endParaRPr/>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 three planes: serving replicas, control/metadata quorum and durable source/index/audit data. Three-node N+1 means two nodes of peak capacity remain after one node loss. Two nodes maintain full peak only if either node can carry the entire workload; the control system still needs an appropriate third quorum member. A model spread over several physical nodes needs a spare complete group, not one extra module. In-flight streams may fail and restart; no seamless KV migration is promised. Initial recovery targets are 10 seconds to remove an unhealthy endpoint and 30 seconds to resume new work on a warm replica. These require fault-injection proof.</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recommendation separates brand ownership from platform manufacturing. SanDisk can own the console, model catalog, certification, release identity, subscription, entitlement and first support call on OEM-built hardware. Rights to appliance labeling, setup branding, customer data and lifecycle must be contracted. Component-only sales reduce exposure but weaken the direct customer relationship. A fully custom ODM platform adds NRE, inventory, qualification and field-service obligations. Use it only if established platforms cannot meet a demonstrated requirement. Issue one comparable RFI to Supermicro, Dell and HPE; no partnership is assumed.</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[S25] Supermicro X14 Petascale family</a:t>
            </a:r>
          </a:p>
          <a:p>
            <a:r>
              <a:t>https://www.supermicro.com/en/products/petascale-grace-storage</a:t>
            </a:r>
          </a:p>
          <a:p>
            <a:r>
              <a:t>Up to 32 E3.S or 16 E3.S plus eight fixed E3.S 2T CXL Type-3 bays; dual Xeon 6700/6500. These are distinct storage/CXL options, not ATMOS-certified bays.</a:t>
            </a:r>
          </a:p>
          <a:p>
            <a:endParaRPr/>
          </a:p>
          <a:p>
            <a:r>
              <a:t>[S26] Dell PowerEdge R7725</a:t>
            </a:r>
          </a:p>
          <a:p>
            <a:r>
              <a:t>https://www.dell.com/en-us/shop/ipovw/poweredge-r7725</a:t>
            </a:r>
          </a:p>
          <a:p>
            <a:r>
              <a:t>Candidate dual-socket enterprise host with published E3.S options. Exact 2T/x4 accelerator population, power, backplane and pricing are quote/qualification items.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qualitative near-term program ranking, not measured ROI. Consider task value, repeatability, operator fit, connector readiness, ease of proving benefit and procurement/security friction. Finance, manufacturing and energy are proposed first design-partner areas. Legal, government and telecom may move earlier with a ready customer. The ranking intentionally refines the source's government-first ordering, while preserving every use-case label. Healthcare is knowledge assistance, not diagnosis; industrial/robotics packs are not safety controllers. The PRD contains all 92 explicitly listed use cases, each with delivery scope and an acceptance/value KPI.</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endParaRPr/>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endParaRPr/>
          </a:p>
          <a:p>
            <a:r>
              <a:t>[S32] ThinkDeep sovereign public-service agents</a:t>
            </a:r>
          </a:p>
          <a:p>
            <a:r>
              <a:t>https://www.nvidia.com/en-in/customer-stories/thinkdeep-sovereign-ai-agents-automate-public-services/</a:t>
            </a:r>
          </a:p>
          <a:p>
            <a:r>
              <a:t>Document-heavy public administration example. French administration handles &gt;100M documents annually; not all processed by this AI platform and not ATMOS traffic.</a:t>
            </a:r>
          </a:p>
          <a:p>
            <a:endParaRPr/>
          </a:p>
          <a:p>
            <a:r>
              <a:t>[S33] Amdocs amAIz customer story</a:t>
            </a:r>
          </a:p>
          <a:p>
            <a:r>
              <a:t>https://www.nvidia.com/en-gb/case-studies/amdocs-builds-generative-ai-agents-for-telecom/</a:t>
            </a:r>
          </a:p>
          <a:p>
            <a:r>
              <a:t>Vendor-reported domain RAG token/latency reductions; application and model changes confound hardware-only attribution. No ATMOS saving inferred.</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new acquisition-budget scenarios, not supplier costs or selling prices. W4: $9k OEM/fabric/factory plus $14k ATMOS allowance equals $23k. D8: $20k plus $28k equals $48k. E16: $40k plus $56k equals $96k. The module allowance is $3.5k each, with a $2.5k–$5k sensitivity range. E8 and E24 budgets are $52k and $144k in the backup. Obtain landed BOM, yield, warranty, OEM NRE, channel margin and support economics before pricing. The observed Dell GB10 configuration is $9,007, so W4 is not a cheaper like-for-like system. Exxact's checked DGX Station listing is $96,250, not a matched service control.</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[S08] Dell Pro Max with GB10, US configured listing</a:t>
            </a:r>
          </a:p>
          <a:p>
            <a:r>
              <a:t>https://www.dell.com/en-us/shop/desktop-computers/spd/dellpromaxwithgb10fcm1253</a:t>
            </a:r>
          </a:p>
          <a:p>
            <a:r>
              <a:t>Observed $9,007 configured listing; GB10, 128GB, selected 4TB SSD, DGX OS 7. Dynamic price and exact support choices need procurement refresh.</a:t>
            </a:r>
          </a:p>
          <a:p>
            <a:endParaRPr/>
          </a:p>
          <a:p>
            <a:r>
              <a:t>[S10] Exxact Valence DGX Station VWS-158270643</a:t>
            </a:r>
          </a:p>
          <a:p>
            <a:r>
              <a:t>https://configurator.exxactcorp.com/configure/VWS-158270643</a:t>
            </a:r>
          </a:p>
          <a:p>
            <a:r>
              <a:t>Observed Essential configured price $96,250. OEM listing, not a quote for an ATMOS-equivalent service.</a:t>
            </a:r>
          </a:p>
          <a:p>
            <a:endParaRPr/>
          </a:p>
          <a:p>
            <a:r>
              <a:t>[S29] AMD EPYC 9005 launch price table</a:t>
            </a:r>
          </a:p>
          <a:p>
            <a:r>
              <a:t>https://www.amd.com/en/newsroom/press-releases/2024-10-10-amd-launches-5th-gen-amd-epyc-cpus-maintaining-le.html</a:t>
            </a:r>
          </a:p>
          <a:p>
            <a:r>
              <a:t>Historical 1KU CPU reference: 9355P $2,998; 9355 $3,694. Not current retail/OEM system quotations.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proposed pilot, not Nasdaq customer data. Use one authorized banking or insurance document workflow, an accountable service owner, 400 golden cases and one million versioned chunks. Include permission denials, changed policies, missing evidence and adversarial input. Compare CPU/DRAM, existing GPU RAG and approved managed/local alternatives. Productivity arithmetic is 1,000 staff × four tasks/day × one measured minute saved × 20 days / 60 = 1,333 hours/month. Adoption and a realization factor are needed before calling that cash savings. Do not add the same productivity and infrastructure benefit twice.</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programs map to the source's G0–G8 evidence gates. Simulator and emulator work can overlap once interfaces are stable. The initial management checkpoint should return a workload charter, measured incumbent controls, a resource-feasibility envelope, a written native-runtime deliverable matrix, comparable OEM RFIs and a reproducible emulator service. Surrogate GPU timings are not ATMOS performance. Physical qualification includes model correctness, memory, DMA, thermals, HA, updates and rollback. Customer release also requires funded support and a matched business case. No launch date or broad certification is inferred.</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[S39] Tenstorrent vLLM plugin</a:t>
            </a:r>
          </a:p>
          <a:p>
            <a:r>
              <a:t>https://github.com/tenstorrent/vllm-tt-plugin</a:t>
            </a:r>
          </a:p>
          <a:p>
            <a:r>
              <a:t>Native platform-backend precedent only; ATMOS model/operator/memory support must be contracted and validated.</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asking for a bounded product proof, not a commitment to a launch. Keep the product mission focused on supported knowledge, retrieval, document and qualified inference services. Appoint the SanDisk software/service owners and obtain the NPU partner and OEM contracts. The matched CPU/GPU control may win. Stop or narrow if the native runtime, physical route, security, HA, economics or support model fails. The nine backup slides and detailed PRD hold the evidence needed for a technical or commercial challenge.</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Desktop comparison notes: the current checked Dell configuration is 128GB with a selected 4TB SSD at $9,007. DGX Spark's $4,699 figure is a historical February 2026 official MSRP, not a verified current store quote. Exxact's Essential DGX Station listing was rechecked at $96,250; its 748GB coherent total is 252GB HBM plus 496GB CPU memory, not 748GB HBM. RTX PRO 6000 is a GPU specification, not a complete workstation quote. The M3 Ultra Mac Studio entry is a historical 2025 configuration reference; confirm current availability. None establishes an ATMOS speed or cost advantage.</a:t>
            </a:r>
          </a:p>
          <a:p>
            <a:endParaRPr/>
          </a:p>
          <a:p>
            <a:r>
              <a:t>EVIDENCE</a:t>
            </a:r>
          </a:p>
          <a:p>
            <a:r>
              <a:t>[S06] NVIDIA DGX Spark hardware guide</a:t>
            </a:r>
          </a:p>
          <a:p>
            <a:r>
              <a:t>https://docs.nvidia.com/dgx/dgx-spark/hardware.html</a:t>
            </a:r>
          </a:p>
          <a:p>
            <a:r>
              <a:t>128GB LPDDR5X unified reference, 273GB/s; 10GbE and ConnectX-7. Hardware guide dated 10 Sep 2026.</a:t>
            </a:r>
          </a:p>
          <a:p>
            <a:endParaRPr/>
          </a:p>
          <a:p>
            <a:r>
              <a:t>[S07] NVIDIA DGX Spark price-change announcement</a:t>
            </a:r>
          </a:p>
          <a:p>
            <a:r>
              <a:t>https://forums.developer.nvidia.com/t/2-23-2026-price-change-announcement/361713</a:t>
            </a:r>
          </a:p>
          <a:p>
            <a:r>
              <a:t>Official historical MSRP change to $4,699 in February 2026. Not represented as a current October quote; current store price was not verifiable from retrieved official page.</a:t>
            </a:r>
          </a:p>
          <a:p>
            <a:endParaRPr/>
          </a:p>
          <a:p>
            <a:r>
              <a:t>[S08] Dell Pro Max with GB10, US configured listing</a:t>
            </a:r>
          </a:p>
          <a:p>
            <a:r>
              <a:t>https://www.dell.com/en-us/shop/desktop-computers/spd/dellpromaxwithgb10fcm1253</a:t>
            </a:r>
          </a:p>
          <a:p>
            <a:r>
              <a:t>Observed $9,007 configured listing; GB10, 128GB, selected 4TB SSD, DGX OS 7. Dynamic price and exact support choices need procurement refresh.</a:t>
            </a:r>
          </a:p>
          <a:p>
            <a:endParaRPr/>
          </a:p>
          <a:p>
            <a:r>
              <a:t>[S11] NVIDIA RTX PRO 6000 Workstation Edition</a:t>
            </a:r>
          </a:p>
          <a:p>
            <a:r>
              <a:t>https://www.nvidia.com/en-us/products/workstations/professional-desktop-gpus/rtx-pro-6000/</a:t>
            </a:r>
          </a:p>
          <a:p>
            <a:r>
              <a:t>96GB GDDR7; 600W GPU max. Complete workstation price depends on OEM configuration; GPU and system prices are different.</a:t>
            </a:r>
          </a:p>
          <a:p>
            <a:endParaRPr/>
          </a:p>
          <a:p>
            <a:r>
              <a:t>[S12] NVIDIA RTX PRO 6000 family</a:t>
            </a:r>
          </a:p>
          <a:p>
            <a:r>
              <a:t>https://www.nvidia.com/en-us/products/workstations/professional-desktop-gpus/rtx-pro-6000-family/</a:t>
            </a:r>
          </a:p>
          <a:p>
            <a:r>
              <a:t>Server, Workstation and Max-Q variants have separate power/cooling specifications; 96GB each.</a:t>
            </a:r>
          </a:p>
          <a:p>
            <a:endParaRPr/>
          </a:p>
          <a:p>
            <a:r>
              <a:t>[S09] NVIDIA DGX Station specifications</a:t>
            </a:r>
          </a:p>
          <a:p>
            <a:r>
              <a:t>https://www.nvidia.com/en-us/products/workstations/dgx-station/</a:t>
            </a:r>
          </a:p>
          <a:p>
            <a:r>
              <a:t>252GB HBM3e plus 496GB LPDDR5X; 748GB coherent CPU/GPU total, not 748GB HBM; 1,600W system specification.</a:t>
            </a:r>
          </a:p>
          <a:p>
            <a:endParaRPr/>
          </a:p>
          <a:p>
            <a:r>
              <a:t>[S10] Exxact Valence DGX Station VWS-158270643</a:t>
            </a:r>
          </a:p>
          <a:p>
            <a:r>
              <a:t>https://configurator.exxactcorp.com/configure/VWS-158270643</a:t>
            </a:r>
          </a:p>
          <a:p>
            <a:r>
              <a:t>Observed Essential configured price $96,250. OEM listing, not a quote for an ATMOS-equivalent service.</a:t>
            </a:r>
          </a:p>
          <a:p>
            <a:endParaRPr/>
          </a:p>
          <a:p>
            <a:r>
              <a:t>[S24] Apple Mac Studio M3 Ultra announcement</a:t>
            </a:r>
          </a:p>
          <a:p>
            <a:r>
              <a:t>https://www.apple.com/newsroom/2025/03/apple-unveils-new-mac-studio-the-most-powerful-mac-ever/</a:t>
            </a:r>
          </a:p>
          <a:p>
            <a:r>
              <a:t>Historical March 2025 configuration up to 512GB unified memory; current configured availability/price require refresh. Do not pair base price with maximum memory.</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Enterprise comparisons show that turnkey private AI is not a missing market capability. HPE Private Cloud AI, Nutanix Enterprise AI/GPT-in-a-Box, AMD Enterprise AI and Lenovo/OEM systems already integrate important serving and lifecycle elements. Their memory and price depend on the exact platform, license, storage and support configuration. Quote-required entries remain unknown. Do not translate a software platform name into a fabricated appliance memory size or acquisition cost. The ATMOS comparison must include equivalent governance, availability and accepted workload.</a:t>
            </a:r>
          </a:p>
          <a:p>
            <a:endParaRPr/>
          </a:p>
          <a:p>
            <a:r>
              <a:t>EVIDENCE</a:t>
            </a:r>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endParaRPr/>
          </a:p>
          <a:p>
            <a:r>
              <a:t>[S14] HPE Private Cloud AI developer announcement</a:t>
            </a:r>
          </a:p>
          <a:p>
            <a:r>
              <a:t>https://www.hpe.com/us/en/newsroom/press-release/2025/03/hewlett-packard-enterprise-introduces-new-enterprise-ai-solutions-with-nvidia-to-accelerate-time-to-value-for-generative-agentic-and-physical-ai-models.html</a:t>
            </a:r>
          </a:p>
          <a:p>
            <a:r>
              <a:t>Developer configuration described with integrated control node and 32TB storage. Storage is not accelerator memory.</a:t>
            </a:r>
          </a:p>
          <a:p>
            <a:endParaRPr/>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endParaRPr/>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endParaRPr/>
          </a:p>
          <a:p>
            <a:r>
              <a:t>[S16] AMD Enterprise AI Suite 1.8</a:t>
            </a:r>
          </a:p>
          <a:p>
            <a:r>
              <a:t>https://www.amd.com/en/blogs/2026/amd-enterprise-ai-suite---version-1-8-.html</a:t>
            </a:r>
          </a:p>
          <a:p>
            <a:r>
              <a:t>AIM catalog and MI350-series support; open-source components do not imply ATMOS support or free enterprise operations.</a:t>
            </a:r>
          </a:p>
          <a:p>
            <a:endParaRPr/>
          </a:p>
          <a:p>
            <a:r>
              <a:t>[S17] AMD Instinct MI350X</a:t>
            </a:r>
          </a:p>
          <a:p>
            <a:r>
              <a:t>https://www.amd.com/en/products/accelerators/instinct/mi350/mi350x.html</a:t>
            </a:r>
          </a:p>
          <a:p>
            <a:r>
              <a:t>288GB HBM3E and 8TB/s per GPU. OEM system, native fabric and software must be specified separately.</a:t>
            </a:r>
          </a:p>
          <a:p>
            <a:endParaRPr/>
          </a:p>
          <a:p>
            <a:r>
              <a:t>[S18] Lenovo Hybrid AI 285 reference platform</a:t>
            </a:r>
          </a:p>
          <a:p>
            <a:r>
              <a:t>https://lenovopress.lenovo.com/lp2181-lenovo-hybrid-ai-285</a:t>
            </a:r>
          </a:p>
          <a:p>
            <a:r>
              <a:t>SR675 V3 reference: dual EPYC 9535, 24x64GB DDR5, eight RTX PRO 6000 or H200 NVL, five high-speed NICs. Exact configurations differ; quote required.</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Alternative accelerators matter to the strategy. SambaNova provides an independent inference architecture and managed on-premises offering; d-Matrix already positions a memory-centric inference design. Cerebras and Groq address different scale and latency objectives. IGX Thor is an industrial/medical/robotics edge platform rather than a direct knowledge-appliance substitute. Current generation and commercial availability must be confirmed for any named configuration. Avoid ranking unlike peak compute, SRAM, HBM and capacity memory as if they were comparable service metrics.</a:t>
            </a:r>
          </a:p>
          <a:p>
            <a:endParaRPr/>
          </a:p>
          <a:p>
            <a:r>
              <a:t>EVIDENCE</a:t>
            </a:r>
          </a:p>
          <a:p>
            <a:r>
              <a:t>[S19] SambaNova SambaManaged</a:t>
            </a:r>
          </a:p>
          <a:p>
            <a:r>
              <a:t>https://sambanova.ai/sambamanaged-fully-managed-inference-cloud-from-your-data-center</a:t>
            </a:r>
          </a:p>
          <a:p>
            <a:r>
              <a:t>SN40L-based managed on-premises inference; evidence that independent non-GPU turnkey systems are already competitors. Quote required.</a:t>
            </a:r>
          </a:p>
          <a:p>
            <a:endParaRPr/>
          </a:p>
          <a:p>
            <a:r>
              <a:t>[S20] Cerebras WSE-3 / CS-3 announcement</a:t>
            </a:r>
          </a:p>
          <a:p>
            <a:r>
              <a:t>https://www.cerebras.ai/press-release/cerebras-announces-third-generation-wafer-scale-engine</a:t>
            </a:r>
          </a:p>
          <a:p>
            <a:r>
              <a:t>44GB on-chip SRAM in WSE-3; complete system uses a different memory/scale architecture. No fabricated acquisition price.</a:t>
            </a:r>
          </a:p>
          <a:p>
            <a:endParaRPr/>
          </a:p>
          <a:p>
            <a:r>
              <a:t>[S21] Groq platform</a:t>
            </a:r>
          </a:p>
          <a:p>
            <a:r>
              <a:t>https://groq.com/platform</a:t>
            </a:r>
          </a:p>
          <a:p>
            <a:r>
              <a:t>Current GroqMetal / GroqCore / GroqAssured stack; rack-scale low-latency positioning. Availability and commercial form of any named GroqRack configuration require confirmation.</a:t>
            </a:r>
          </a:p>
          <a:p>
            <a:endParaRPr/>
          </a:p>
          <a:p>
            <a:r>
              <a:t>[S22] d-Matrix Corsair announcement</a:t>
            </a:r>
          </a:p>
          <a:p>
            <a:r>
              <a:t>https://www.d-matrix.ai/announcements/d-matrix-unveils-corsair-the-worlds-most-efficient-ai-computing-platform-for-inference-in-datacenters/</a:t>
            </a:r>
          </a:p>
          <a:p>
            <a:r>
              <a:t>PCIe Gen5 card with 2GB integrated performance memory and up to 256GB capacity memory; Aviator software. Vendor comparative claims are not reused as benchmarks.</a:t>
            </a:r>
          </a:p>
          <a:p>
            <a:endParaRPr/>
          </a:p>
          <a:p>
            <a:r>
              <a:t>[S23] NVIDIA IGX Thor</a:t>
            </a:r>
          </a:p>
          <a:p>
            <a:r>
              <a:t>https://www.nvidia.com/en-us/edge-computing/products/igx/</a:t>
            </a:r>
          </a:p>
          <a:p>
            <a:r>
              <a:t>Industrial / medical / robotics edge platform, 128GB LPDDR5X and optional dGPU. Not a like-for-like knowledge-appliance replacement.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Gen5 coded bandwidth is 32 GT/s × 128/130 / 8 bytes per transfer: approximately 3.938 GB/s per lane, 15.754 GB/s for x4 and 63.015 GB/s for x16 per direction before transaction overhead. Four x4 endpoints therefore balance one x16 uplink at that headline level. This configuration does not save host lanes versus four direct x4 devices. P2P is not coherence and needs compatible devices, cooperating drivers, valid IOMMU/security policy and reset-safe buffer lifetimes. Gen6 uses different FLIT/FEC overheads and must be qualified separately. Native multi-device model traffic may be much larger than a compact retrieval reduction.</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[S38] Linux PCI P2PDMA</a:t>
            </a:r>
          </a:p>
          <a:p>
            <a:r>
              <a:t>https://docs.kernel.org/driver-api/pci/p2pdma.html</a:t>
            </a:r>
          </a:p>
          <a:p>
            <a:r>
              <a:t>Peer routes require cooperating drivers, compatible topology and lifecycle management; P2P is not coherence.</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Reproducibility requires an exact model/precision, device placement, software/firmware/BOM, request distribution, concurrency, cache state and quality contract. Measure p50/p95/p99 TTFT, inter-token gaps, request-average TPOT and sustained accepted throughput together. Profile per-device KV/workspace and all transport queues. Include failure, maintenance and update reserve. A simple 5M-chunk, 1,024-dimensional FP16 vector set is only 10.24GB raw and may favor CPU DRAM; richer representations must first demonstrate better relevance. Public EPRI results use a different model and caching setup, so no direct performance comparison is claimed.</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narrow three-year TCO adds acquisition, three annual software/support payments and energy at the proposed whole-node draw, PUE 1.4, $0.15/kWh and 8,760 hours/year. All those ATMOS financial inputs are assumptions, not quotations. The model excludes migration, shared networks/storage, tax, financing, product development, OEM NRE and extra reserve. Three E16 nodes begin at $288k acquisition and provide two nodes of peak capacity after a loss. A cheaper unit can require more units and lose the comparison. The former universal 70%-price and 24.8%-saving claims are not used as evidence.</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requires funded operations. Proposed tiers are business-hours W4 with next-business-day initial response, D8 business support with an optional 24×7 plan, and E8/E16 24×7 Sev-1 intake with a one-hour initial-response target. Response is not repair. Geography, spares, on-site dispatch and severity definitions must be contracted. Retain the source's proposed three-year Production and five-year LTS branches; extended or 7–10-year vertical support needs a funded case. ModelPack state transitions, embedding-driven reindexing and signed platform rollback are part of the product, not customer assembly work.</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 order is a planning judgment and can change with customer access and evidence. The PRD retains all 92 explicitly listed use-case labels and adds implementation/KPI detail. Healthcare was a source solution pack; oil/gas and several complementary industries appeared as wave-only markets and receive clearly marked new detail. Keep finance to evidence and review, healthcare to knowledge/document assistance, and robotics/industrial deployments outside real-time safety control. Broad GPU spending in an industry is not an ATMOS market-size estimate.</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evidence register distinguishes public facts, internal source assumptions, new requirements, budget scenarios and measured results. No new measured ATMOS performance is asserted. The revised deck retains five profiles and the current Knowledge Agent scope. It corrects memory/coherence comparisons, four-device lane arithmetic, three-plane HA, financial category/period mixing and automatic TCO claims. Placeholder-linked source anecdotes were treated as prospecting leads unless revalidated; their use cases remain in the catalog. Keep the PPTX and DOCX together for relative section links. The full PRD contains 44 source/input records.</a:t>
            </a:r>
          </a:p>
          <a:p>
            <a:endParaRPr/>
          </a:p>
          <a:p>
            <a:r>
              <a:t>EVIDENCE</a:t>
            </a:r>
          </a:p>
          <a:p>
            <a:endParaRP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7531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SanDisk_ATMOS_AI_Appliance_Strategy_PRD_v3.docx#PRD_01"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SanDisk_ATMOS_AI_Appliance_Strategy_PRD_v3.docx#PRD_1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SanDisk_ATMOS_AI_Appliance_Strategy_PRD_v3.docx#PRD_15"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SanDisk_ATMOS_AI_Appliance_Strategy_PRD_v3.docx#PRD_02" TargetMode="External"/><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SanDisk_ATMOS_AI_Appliance_Strategy_PRD_v3.docx#PRD_03"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Sandisk_ATMOS_AI_Appliance_Portfolio_PRD_v2_Linked.docx#PRD_02" TargetMode="External"/><Relationship Id="rId4" Type="http://schemas.openxmlformats.org/officeDocument/2006/relationships/hyperlink" Target="Sandisk_ATMOS_AI_Appliance_Portfolio_PRD_v2_Linked.docx"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SanDisk_ATMOS_AI_Appliance_Strategy_PRD_v3.docx#PRD_05"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SanDisk_ATMOS_Turnkey_Technical_Appendix_v1.docx#TK_A1"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Sandisk_ATMOS_AI_Appliance_Portfolio_PRD_v2_Linked.docx#PRD_04"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SanDisk_ATMOS_AI_Appliance_Strategy_PRD_v3.docx#PRD_1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SanDisk_ATMOS_AI_Appliance_Strategy_PRD_v3.docx#PRD_10"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hyperlink" Target="SanDisk_ATMOS_AI_Appliance_Strategy_PRD_v3.docx#PRD_05"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SanDisk_ATMOS_AI_Appliance_Strategy_PRD_v3.docx#PRD_07"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SanDisk_ATMOS_AI_Appliance_Strategy_PRD_v3.docx#PRD_09"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SanDisk_ATMOS_AI_Appliance_Strategy_PRD_v3.docx#PRD_13"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SanDisk_ATMOS_AI_Appliance_Strategy_PRD_v3.docx#PRD_16"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SanDisk_ATMOS_AI_Appliance_Strategy_PRD_v3.docx#PRD_04"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SanDisk_ATMOS_AI_Appliance_Strategy_PRD_v3.docx#PRD_17"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SanDisk_ATMOS_AI_Appliance_Strategy_PRD_v3.docx#PRD_19"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SanDisk_ATMOS_AI_Appliance_Strategy_PRD_v3.docx#PRD_15"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SanDisk_ATMOS_AI_Appliance_Strategy_PRD_v3.docx#PRD_15"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SanDisk_ATMOS_AI_Appliance_Strategy_PRD_v3.docx#PRD_15"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SanDisk_ATMOS_AI_Appliance_Strategy_PRD_v3.docx#PRD_03"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SanDisk_ATMOS_AI_Appliance_Strategy_PRD_v3.docx#PRD_05"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SanDisk_ATMOS_AI_Appliance_Strategy_PRD_v3.docx#PRD_04"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SanDisk_ATMOS_AI_Appliance_Strategy_PRD_v3.docx#PRD_11"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SanDisk_ATMOS_AI_Appliance_Strategy_PRD_v3.docx#PRD_16"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SanDisk_ATMOS_AI_Appliance_Strategy_PRD_v3.docx#PRD_20"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tmos_exec_v3/assets/cover.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411480"/>
            <a:ext cx="3817002" cy="512064"/>
          </a:xfrm>
          <a:prstGeom prst="rect">
            <a:avLst/>
          </a:prstGeom>
          <a:noFill/>
          <a:ln/>
        </p:spPr>
        <p:txBody>
          <a:bodyPr wrap="square" lIns="0" tIns="0" rIns="0" bIns="0" rtlCol="0" anchor="ctr">
            <a:normAutofit fontScale="77500" lnSpcReduction="20000"/>
          </a:bodyPr>
          <a:lstStyle/>
          <a:p>
            <a:pPr marL="0" indent="0">
              <a:buNone/>
            </a:pPr>
            <a:r>
              <a:rPr lang="en-US" sz="2600" b="1" kern="0" spc="300" dirty="0">
                <a:solidFill>
                  <a:srgbClr val="E31837"/>
                </a:solidFill>
                <a:latin typeface="Arial" pitchFamily="34" charset="0"/>
                <a:ea typeface="Arial" pitchFamily="34" charset="-122"/>
                <a:cs typeface="Arial" pitchFamily="34" charset="-120"/>
              </a:rPr>
              <a:t>SANDISK / ATMOS –E3S</a:t>
            </a:r>
            <a:endParaRPr lang="en-US" sz="2600" dirty="0"/>
          </a:p>
        </p:txBody>
      </p:sp>
      <p:sp>
        <p:nvSpPr>
          <p:cNvPr id="6" name="Text 3"/>
          <p:cNvSpPr/>
          <p:nvPr/>
        </p:nvSpPr>
        <p:spPr>
          <a:xfrm>
            <a:off x="594360" y="1065276"/>
            <a:ext cx="6217920" cy="1453896"/>
          </a:xfrm>
          <a:prstGeom prst="rect">
            <a:avLst/>
          </a:prstGeom>
          <a:noFill/>
          <a:ln/>
        </p:spPr>
        <p:txBody>
          <a:bodyPr wrap="square" lIns="0" tIns="0" rIns="0" bIns="0" rtlCol="0" anchor="ctr">
            <a:normAutofit/>
          </a:bodyPr>
          <a:lstStyle/>
          <a:p>
            <a:r>
              <a:rPr lang="en-US" sz="4000" b="1" dirty="0" err="1">
                <a:solidFill>
                  <a:srgbClr val="FFFFFF"/>
                </a:solidFill>
                <a:latin typeface="Aptos"/>
              </a:rPr>
              <a:t>Sandisk</a:t>
            </a:r>
            <a:r>
              <a:rPr lang="en-US" sz="4000" b="1" dirty="0">
                <a:solidFill>
                  <a:srgbClr val="FFFFFF"/>
                </a:solidFill>
                <a:latin typeface="Aptos"/>
              </a:rPr>
              <a:t> ATMOS AI Appliance Portfolio</a:t>
            </a:r>
          </a:p>
          <a:p>
            <a:pPr marL="0" indent="0">
              <a:buNone/>
            </a:pPr>
            <a:endParaRPr lang="en-US" sz="4000" dirty="0"/>
          </a:p>
        </p:txBody>
      </p:sp>
      <p:sp>
        <p:nvSpPr>
          <p:cNvPr id="8" name="Shape 5"/>
          <p:cNvSpPr/>
          <p:nvPr/>
        </p:nvSpPr>
        <p:spPr>
          <a:xfrm>
            <a:off x="7496165" y="393192"/>
            <a:ext cx="4342114" cy="3874151"/>
          </a:xfrm>
          <a:prstGeom prst="rect">
            <a:avLst/>
          </a:prstGeom>
          <a:solidFill>
            <a:srgbClr val="F5F5F6"/>
          </a:solidFill>
          <a:ln w="8255">
            <a:solidFill>
              <a:srgbClr val="F5F5F6"/>
            </a:solidFill>
            <a:prstDash val="solid"/>
          </a:ln>
        </p:spPr>
        <p:txBody>
          <a:bodyPr/>
          <a:lstStyle/>
          <a:p>
            <a:endParaRPr lang="en-US"/>
          </a:p>
        </p:txBody>
      </p:sp>
      <p:pic>
        <p:nvPicPr>
          <p:cNvPr id="9" name="Image 1" descr="/mnt/data/atmos_exec_v3/assets/appliance_4.png"/>
          <p:cNvPicPr>
            <a:picLocks noChangeAspect="1"/>
          </p:cNvPicPr>
          <p:nvPr/>
        </p:nvPicPr>
        <p:blipFill>
          <a:blip r:embed="rId4"/>
          <a:stretch>
            <a:fillRect/>
          </a:stretch>
        </p:blipFill>
        <p:spPr>
          <a:xfrm>
            <a:off x="7156751" y="493776"/>
            <a:ext cx="2962456" cy="1777474"/>
          </a:xfrm>
          <a:prstGeom prst="rect">
            <a:avLst/>
          </a:prstGeom>
        </p:spPr>
      </p:pic>
      <p:pic>
        <p:nvPicPr>
          <p:cNvPr id="10" name="Image 2" descr="/mnt/data/atmos_exec_v3/assets/appliance_16.png"/>
          <p:cNvPicPr>
            <a:picLocks noChangeAspect="1"/>
          </p:cNvPicPr>
          <p:nvPr/>
        </p:nvPicPr>
        <p:blipFill>
          <a:blip r:embed="rId5"/>
          <a:stretch>
            <a:fillRect/>
          </a:stretch>
        </p:blipFill>
        <p:spPr>
          <a:xfrm>
            <a:off x="7345237" y="2258568"/>
            <a:ext cx="4739929" cy="2564640"/>
          </a:xfrm>
          <a:prstGeom prst="rect">
            <a:avLst/>
          </a:prstGeom>
        </p:spPr>
      </p:pic>
      <p:sp>
        <p:nvSpPr>
          <p:cNvPr id="11" name="Text 6"/>
          <p:cNvSpPr/>
          <p:nvPr/>
        </p:nvSpPr>
        <p:spPr>
          <a:xfrm>
            <a:off x="7650528" y="4118447"/>
            <a:ext cx="4023360" cy="173736"/>
          </a:xfrm>
          <a:prstGeom prst="rect">
            <a:avLst/>
          </a:prstGeom>
          <a:noFill/>
          <a:ln/>
        </p:spPr>
        <p:txBody>
          <a:bodyPr wrap="square" lIns="0" tIns="0" rIns="0" bIns="0" rtlCol="0" anchor="ctr">
            <a:normAutofit/>
          </a:bodyPr>
          <a:lstStyle/>
          <a:p>
            <a:pPr marL="0" indent="0" algn="ctr">
              <a:buNone/>
            </a:pPr>
            <a:r>
              <a:rPr lang="en-US" sz="900" b="1" dirty="0">
                <a:solidFill>
                  <a:srgbClr val="5B6169"/>
                </a:solidFill>
                <a:latin typeface="Arial" pitchFamily="34" charset="0"/>
                <a:ea typeface="Arial" pitchFamily="34" charset="-122"/>
                <a:cs typeface="Arial" pitchFamily="34" charset="-120"/>
              </a:rPr>
              <a:t>HYPOTHETICAL PRODUCT DESIGN</a:t>
            </a:r>
            <a:endParaRPr lang="en-US" sz="900" dirty="0"/>
          </a:p>
        </p:txBody>
      </p:sp>
      <p:sp>
        <p:nvSpPr>
          <p:cNvPr id="14" name="Rectangle 13">
            <a:extLst>
              <a:ext uri="{FF2B5EF4-FFF2-40B4-BE49-F238E27FC236}">
                <a16:creationId xmlns:a16="http://schemas.microsoft.com/office/drawing/2014/main" id="{931799FD-116A-2296-A297-CEE20ADF94C4}"/>
              </a:ext>
            </a:extLst>
          </p:cNvPr>
          <p:cNvSpPr/>
          <p:nvPr/>
        </p:nvSpPr>
        <p:spPr>
          <a:xfrm>
            <a:off x="329561" y="2884932"/>
            <a:ext cx="50292" cy="594360"/>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7CE2BC0-18F3-C48E-3E15-7F3AF4B403C9}"/>
              </a:ext>
            </a:extLst>
          </p:cNvPr>
          <p:cNvSpPr txBox="1"/>
          <p:nvPr/>
        </p:nvSpPr>
        <p:spPr>
          <a:xfrm>
            <a:off x="549017" y="2903220"/>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dirty="0">
                <a:solidFill>
                  <a:srgbClr val="FFFFFF"/>
                </a:solidFill>
                <a:latin typeface="Aptos"/>
              </a:rPr>
              <a:t>CERTIFIED APPLIANCE</a:t>
            </a:r>
          </a:p>
        </p:txBody>
      </p:sp>
      <p:sp>
        <p:nvSpPr>
          <p:cNvPr id="16" name="TextBox 15">
            <a:extLst>
              <a:ext uri="{FF2B5EF4-FFF2-40B4-BE49-F238E27FC236}">
                <a16:creationId xmlns:a16="http://schemas.microsoft.com/office/drawing/2014/main" id="{0D79F1E1-1DB3-849A-1B06-F71205EC2575}"/>
              </a:ext>
            </a:extLst>
          </p:cNvPr>
          <p:cNvSpPr txBox="1"/>
          <p:nvPr/>
        </p:nvSpPr>
        <p:spPr>
          <a:xfrm>
            <a:off x="3367599" y="2872270"/>
            <a:ext cx="6501384" cy="30431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dirty="0">
                <a:solidFill>
                  <a:srgbClr val="D3E1E8"/>
                </a:solidFill>
                <a:latin typeface="Aptos"/>
              </a:rPr>
              <a:t>4 / 8 / 16 / 24-device family</a:t>
            </a:r>
          </a:p>
        </p:txBody>
      </p:sp>
      <p:sp>
        <p:nvSpPr>
          <p:cNvPr id="17" name="Rectangle 16">
            <a:extLst>
              <a:ext uri="{FF2B5EF4-FFF2-40B4-BE49-F238E27FC236}">
                <a16:creationId xmlns:a16="http://schemas.microsoft.com/office/drawing/2014/main" id="{6C183D0B-027A-DF74-AB4C-05106ACAD50A}"/>
              </a:ext>
            </a:extLst>
          </p:cNvPr>
          <p:cNvSpPr/>
          <p:nvPr/>
        </p:nvSpPr>
        <p:spPr>
          <a:xfrm>
            <a:off x="329561" y="3689604"/>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56A2C5AA-E820-A183-2492-57C6CE28F59D}"/>
              </a:ext>
            </a:extLst>
          </p:cNvPr>
          <p:cNvSpPr txBox="1"/>
          <p:nvPr/>
        </p:nvSpPr>
        <p:spPr>
          <a:xfrm>
            <a:off x="549017" y="3707892"/>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TURNKEY SOFTWARE</a:t>
            </a:r>
          </a:p>
        </p:txBody>
      </p:sp>
      <p:sp>
        <p:nvSpPr>
          <p:cNvPr id="19" name="TextBox 18">
            <a:extLst>
              <a:ext uri="{FF2B5EF4-FFF2-40B4-BE49-F238E27FC236}">
                <a16:creationId xmlns:a16="http://schemas.microsoft.com/office/drawing/2014/main" id="{60C18DE6-0CA3-2E74-16AE-4CE1FB3343C7}"/>
              </a:ext>
            </a:extLst>
          </p:cNvPr>
          <p:cNvSpPr txBox="1"/>
          <p:nvPr/>
        </p:nvSpPr>
        <p:spPr>
          <a:xfrm>
            <a:off x="3367599" y="3676942"/>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dirty="0">
                <a:solidFill>
                  <a:srgbClr val="D3E1E8"/>
                </a:solidFill>
                <a:latin typeface="Aptos"/>
              </a:rPr>
              <a:t>AI OS + Model Services + Operator
Serving Manager, SDK and Control Center</a:t>
            </a:r>
          </a:p>
        </p:txBody>
      </p:sp>
      <p:sp>
        <p:nvSpPr>
          <p:cNvPr id="20" name="Rectangle 19">
            <a:extLst>
              <a:ext uri="{FF2B5EF4-FFF2-40B4-BE49-F238E27FC236}">
                <a16:creationId xmlns:a16="http://schemas.microsoft.com/office/drawing/2014/main" id="{160E3AAB-555F-F857-4E4C-43924A9CCB79}"/>
              </a:ext>
            </a:extLst>
          </p:cNvPr>
          <p:cNvSpPr/>
          <p:nvPr/>
        </p:nvSpPr>
        <p:spPr>
          <a:xfrm>
            <a:off x="329561" y="4494276"/>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D0094C8-CF73-8DBC-8E8E-7BB913DEBCB5}"/>
              </a:ext>
            </a:extLst>
          </p:cNvPr>
          <p:cNvSpPr txBox="1"/>
          <p:nvPr/>
        </p:nvSpPr>
        <p:spPr>
          <a:xfrm>
            <a:off x="549017" y="4512564"/>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KNOWLEDGE AGENT</a:t>
            </a:r>
          </a:p>
        </p:txBody>
      </p:sp>
      <p:sp>
        <p:nvSpPr>
          <p:cNvPr id="22" name="TextBox 21">
            <a:extLst>
              <a:ext uri="{FF2B5EF4-FFF2-40B4-BE49-F238E27FC236}">
                <a16:creationId xmlns:a16="http://schemas.microsoft.com/office/drawing/2014/main" id="{B5C29435-99C6-C019-CCF5-BFA706D534AD}"/>
              </a:ext>
            </a:extLst>
          </p:cNvPr>
          <p:cNvSpPr txBox="1"/>
          <p:nvPr/>
        </p:nvSpPr>
        <p:spPr>
          <a:xfrm>
            <a:off x="3367599" y="4481614"/>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Ingest -&gt; retrieve -&gt; rerank -&gt; cite
Governed tools, evaluation and audit</a:t>
            </a:r>
          </a:p>
        </p:txBody>
      </p:sp>
      <p:sp>
        <p:nvSpPr>
          <p:cNvPr id="23" name="Rectangle 22">
            <a:extLst>
              <a:ext uri="{FF2B5EF4-FFF2-40B4-BE49-F238E27FC236}">
                <a16:creationId xmlns:a16="http://schemas.microsoft.com/office/drawing/2014/main" id="{F526488E-0AB5-4EB6-CBD2-0A867F8703B1}"/>
              </a:ext>
            </a:extLst>
          </p:cNvPr>
          <p:cNvSpPr/>
          <p:nvPr/>
        </p:nvSpPr>
        <p:spPr>
          <a:xfrm>
            <a:off x="329561" y="5298949"/>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9A2E17D0-1B68-227C-04A1-07FE32C0B638}"/>
              </a:ext>
            </a:extLst>
          </p:cNvPr>
          <p:cNvSpPr txBox="1"/>
          <p:nvPr/>
        </p:nvSpPr>
        <p:spPr>
          <a:xfrm>
            <a:off x="549017" y="5317236"/>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ONE SUPPORT ROUTE</a:t>
            </a:r>
          </a:p>
        </p:txBody>
      </p:sp>
      <p:sp>
        <p:nvSpPr>
          <p:cNvPr id="25" name="TextBox 24">
            <a:extLst>
              <a:ext uri="{FF2B5EF4-FFF2-40B4-BE49-F238E27FC236}">
                <a16:creationId xmlns:a16="http://schemas.microsoft.com/office/drawing/2014/main" id="{7290747A-CDEB-F5D2-B1DA-9B2BD8F30BF6}"/>
              </a:ext>
            </a:extLst>
          </p:cNvPr>
          <p:cNvSpPr txBox="1"/>
          <p:nvPr/>
        </p:nvSpPr>
        <p:spPr>
          <a:xfrm>
            <a:off x="3367599" y="5286287"/>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Signed packs, upgrades and rollback
Sandisk triage + coordinated OEM support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STRATEGIC OPENING</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lnSpcReduction="20000"/>
          </a:bodyPr>
          <a:lstStyle/>
          <a:p>
            <a:pPr marL="0" indent="0">
              <a:buNone/>
            </a:pPr>
            <a:r>
              <a:rPr lang="en-US" sz="2900" b="1" dirty="0">
                <a:solidFill>
                  <a:srgbClr val="18191D"/>
                </a:solidFill>
                <a:latin typeface="Arial" pitchFamily="34" charset="0"/>
                <a:ea typeface="Arial" pitchFamily="34" charset="-122"/>
                <a:cs typeface="Arial" pitchFamily="34" charset="-120"/>
              </a:rPr>
              <a:t>[Change to BACKGROUND on why we need this]</a:t>
            </a:r>
          </a:p>
          <a:p>
            <a:pPr marL="0" indent="0">
              <a:buNone/>
            </a:pPr>
            <a:r>
              <a:rPr lang="en-US" sz="2900" b="1" dirty="0">
                <a:solidFill>
                  <a:srgbClr val="18191D"/>
                </a:solidFill>
                <a:latin typeface="Arial" pitchFamily="34" charset="0"/>
                <a:ea typeface="Arial" pitchFamily="34" charset="-122"/>
                <a:cs typeface="Arial" pitchFamily="34" charset="-120"/>
              </a:rPr>
              <a:t>The opening is data-heavy inference—not a CUDA replacement.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Private AI already exists. ATMOS must improve the economics of a clearly defined service.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02</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[S01] [S02] [S13] [S15]</a:t>
            </a:r>
            <a:endParaRPr lang="en-US" sz="820" dirty="0"/>
          </a:p>
        </p:txBody>
      </p:sp>
      <p:sp>
        <p:nvSpPr>
          <p:cNvPr id="12" name="Shape 10"/>
          <p:cNvSpPr/>
          <p:nvPr/>
        </p:nvSpPr>
        <p:spPr>
          <a:xfrm>
            <a:off x="502920" y="2029968"/>
            <a:ext cx="3602736" cy="2194560"/>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502920" y="2029968"/>
            <a:ext cx="50292" cy="2194560"/>
          </a:xfrm>
          <a:prstGeom prst="rect">
            <a:avLst/>
          </a:prstGeom>
          <a:solidFill>
            <a:srgbClr val="E31837"/>
          </a:solidFill>
          <a:ln w="8255">
            <a:solidFill>
              <a:srgbClr val="E31837"/>
            </a:solidFill>
            <a:prstDash val="solid"/>
          </a:ln>
        </p:spPr>
        <p:txBody>
          <a:bodyPr/>
          <a:lstStyle/>
          <a:p>
            <a:endParaRPr lang="en-US"/>
          </a:p>
        </p:txBody>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marL="0" indent="0">
              <a:buNone/>
            </a:pPr>
            <a:r>
              <a:rPr lang="en-US" sz="1700" b="1" dirty="0">
                <a:solidFill>
                  <a:srgbClr val="18191D"/>
                </a:solidFill>
                <a:latin typeface="Arial" pitchFamily="34" charset="0"/>
                <a:ea typeface="Arial" pitchFamily="34" charset="-122"/>
                <a:cs typeface="Arial" pitchFamily="34" charset="-120"/>
              </a:rPr>
              <a:t>1  Keep useful capacity local</a:t>
            </a:r>
            <a:endParaRPr lang="en-US" sz="1700" dirty="0"/>
          </a:p>
        </p:txBody>
      </p:sp>
      <p:sp>
        <p:nvSpPr>
          <p:cNvPr id="15" name="Text 13"/>
          <p:cNvSpPr/>
          <p:nvPr/>
        </p:nvSpPr>
        <p:spPr>
          <a:xfrm>
            <a:off x="685800" y="2734056"/>
            <a:ext cx="3236976" cy="133502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Resident models, embeddings and richer feature representations beside the compute that consumes them.</a:t>
            </a:r>
            <a:endParaRPr lang="en-US" sz="1400" dirty="0"/>
          </a:p>
        </p:txBody>
      </p:sp>
      <p:sp>
        <p:nvSpPr>
          <p:cNvPr id="16" name="Shape 14"/>
          <p:cNvSpPr/>
          <p:nvPr/>
        </p:nvSpPr>
        <p:spPr>
          <a:xfrm>
            <a:off x="4288536" y="2029968"/>
            <a:ext cx="3602736" cy="2194560"/>
          </a:xfrm>
          <a:prstGeom prst="rect">
            <a:avLst/>
          </a:prstGeom>
          <a:solidFill>
            <a:srgbClr val="F3F4F6"/>
          </a:solidFill>
          <a:ln w="8255">
            <a:solidFill>
              <a:srgbClr val="F3F4F6"/>
            </a:solidFill>
            <a:prstDash val="solid"/>
          </a:ln>
        </p:spPr>
        <p:txBody>
          <a:bodyPr/>
          <a:lstStyle/>
          <a:p>
            <a:endParaRPr lang="en-US"/>
          </a:p>
        </p:txBody>
      </p:sp>
      <p:sp>
        <p:nvSpPr>
          <p:cNvPr id="17" name="Shape 15"/>
          <p:cNvSpPr/>
          <p:nvPr/>
        </p:nvSpPr>
        <p:spPr>
          <a:xfrm>
            <a:off x="4288536" y="2029968"/>
            <a:ext cx="50292" cy="2194560"/>
          </a:xfrm>
          <a:prstGeom prst="rect">
            <a:avLst/>
          </a:prstGeom>
          <a:solidFill>
            <a:srgbClr val="E31837"/>
          </a:solidFill>
          <a:ln w="8255">
            <a:solidFill>
              <a:srgbClr val="E31837"/>
            </a:solidFill>
            <a:prstDash val="solid"/>
          </a:ln>
        </p:spPr>
        <p:txBody>
          <a:bodyPr/>
          <a:lstStyle/>
          <a:p>
            <a:endParaRPr lang="en-US"/>
          </a:p>
        </p:txBody>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marL="0" indent="0">
              <a:buNone/>
            </a:pPr>
            <a:r>
              <a:rPr lang="en-US" sz="1700" b="1" dirty="0">
                <a:solidFill>
                  <a:srgbClr val="18191D"/>
                </a:solidFill>
                <a:latin typeface="Arial" pitchFamily="34" charset="0"/>
                <a:ea typeface="Arial" pitchFamily="34" charset="-122"/>
                <a:cs typeface="Arial" pitchFamily="34" charset="-120"/>
              </a:rPr>
              <a:t>2  Buy the right compute mix</a:t>
            </a:r>
            <a:endParaRPr lang="en-US" sz="1700" dirty="0"/>
          </a:p>
        </p:txBody>
      </p:sp>
      <p:sp>
        <p:nvSpPr>
          <p:cNvPr id="19" name="Text 17"/>
          <p:cNvSpPr/>
          <p:nvPr/>
        </p:nvSpPr>
        <p:spPr>
          <a:xfrm>
            <a:off x="4471416" y="2734056"/>
            <a:ext cx="3236976" cy="133502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Use CPU indexes and orchestration; use ATMOS only where qualified NPU work improves the service.</a:t>
            </a:r>
            <a:endParaRPr lang="en-US" sz="1400" dirty="0"/>
          </a:p>
        </p:txBody>
      </p:sp>
      <p:sp>
        <p:nvSpPr>
          <p:cNvPr id="20" name="Shape 18"/>
          <p:cNvSpPr/>
          <p:nvPr/>
        </p:nvSpPr>
        <p:spPr>
          <a:xfrm>
            <a:off x="8083296" y="2029968"/>
            <a:ext cx="3602736" cy="2194560"/>
          </a:xfrm>
          <a:prstGeom prst="rect">
            <a:avLst/>
          </a:prstGeom>
          <a:solidFill>
            <a:srgbClr val="F3F4F6"/>
          </a:solidFill>
          <a:ln w="8255">
            <a:solidFill>
              <a:srgbClr val="F3F4F6"/>
            </a:solidFill>
            <a:prstDash val="solid"/>
          </a:ln>
        </p:spPr>
        <p:txBody>
          <a:bodyPr/>
          <a:lstStyle/>
          <a:p>
            <a:endParaRPr lang="en-US"/>
          </a:p>
        </p:txBody>
      </p:sp>
      <p:sp>
        <p:nvSpPr>
          <p:cNvPr id="21" name="Shape 19"/>
          <p:cNvSpPr/>
          <p:nvPr/>
        </p:nvSpPr>
        <p:spPr>
          <a:xfrm>
            <a:off x="8083296" y="2029968"/>
            <a:ext cx="50292" cy="2194560"/>
          </a:xfrm>
          <a:prstGeom prst="rect">
            <a:avLst/>
          </a:prstGeom>
          <a:solidFill>
            <a:srgbClr val="E31837"/>
          </a:solidFill>
          <a:ln w="8255">
            <a:solidFill>
              <a:srgbClr val="E31837"/>
            </a:solidFill>
            <a:prstDash val="solid"/>
          </a:ln>
        </p:spPr>
        <p:txBody>
          <a:bodyPr/>
          <a:lstStyle/>
          <a:p>
            <a:endParaRPr lang="en-US"/>
          </a:p>
        </p:txBody>
      </p:sp>
      <p:sp>
        <p:nvSpPr>
          <p:cNvPr id="22" name="Text 20"/>
          <p:cNvSpPr/>
          <p:nvPr/>
        </p:nvSpPr>
        <p:spPr>
          <a:xfrm>
            <a:off x="8266176" y="2176272"/>
            <a:ext cx="3236976" cy="429768"/>
          </a:xfrm>
          <a:prstGeom prst="rect">
            <a:avLst/>
          </a:prstGeom>
          <a:noFill/>
          <a:ln/>
        </p:spPr>
        <p:txBody>
          <a:bodyPr wrap="square" lIns="0" tIns="0" rIns="0" bIns="0" rtlCol="0" anchor="ctr">
            <a:normAutofit/>
          </a:bodyPr>
          <a:lstStyle/>
          <a:p>
            <a:pPr marL="0" indent="0">
              <a:buNone/>
            </a:pPr>
            <a:r>
              <a:rPr lang="en-US" sz="1700" b="1" dirty="0">
                <a:solidFill>
                  <a:srgbClr val="18191D"/>
                </a:solidFill>
                <a:latin typeface="Arial" pitchFamily="34" charset="0"/>
                <a:ea typeface="Arial" pitchFamily="34" charset="-122"/>
                <a:cs typeface="Arial" pitchFamily="34" charset="-120"/>
              </a:rPr>
              <a:t>3  Sell an operating outcome</a:t>
            </a:r>
            <a:endParaRPr lang="en-US" sz="1700" dirty="0"/>
          </a:p>
        </p:txBody>
      </p:sp>
      <p:sp>
        <p:nvSpPr>
          <p:cNvPr id="23" name="Text 21"/>
          <p:cNvSpPr/>
          <p:nvPr/>
        </p:nvSpPr>
        <p:spPr>
          <a:xfrm>
            <a:off x="8266176" y="2734056"/>
            <a:ext cx="3236976" cy="133502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Identity, cited answers, controlled updates, recovery and support—not a new integration project.</a:t>
            </a:r>
            <a:endParaRPr lang="en-US" sz="1400" dirty="0"/>
          </a:p>
        </p:txBody>
      </p:sp>
      <p:sp>
        <p:nvSpPr>
          <p:cNvPr id="24" name="Shape 22"/>
          <p:cNvSpPr/>
          <p:nvPr/>
        </p:nvSpPr>
        <p:spPr>
          <a:xfrm>
            <a:off x="502920" y="4480560"/>
            <a:ext cx="11183112" cy="987552"/>
          </a:xfrm>
          <a:prstGeom prst="rect">
            <a:avLst/>
          </a:prstGeom>
          <a:solidFill>
            <a:srgbClr val="18191D"/>
          </a:solidFill>
          <a:ln w="8255">
            <a:solidFill>
              <a:srgbClr val="18191D"/>
            </a:solidFill>
            <a:prstDash val="solid"/>
          </a:ln>
        </p:spPr>
        <p:txBody>
          <a:bodyPr/>
          <a:lstStyle/>
          <a:p>
            <a:endParaRPr lang="en-US"/>
          </a:p>
        </p:txBody>
      </p:sp>
      <p:sp>
        <p:nvSpPr>
          <p:cNvPr id="25" name="Text 23"/>
          <p:cNvSpPr/>
          <p:nvPr/>
        </p:nvSpPr>
        <p:spPr>
          <a:xfrm>
            <a:off x="685800" y="4626864"/>
            <a:ext cx="1828800" cy="274320"/>
          </a:xfrm>
          <a:prstGeom prst="rect">
            <a:avLst/>
          </a:prstGeom>
          <a:noFill/>
          <a:ln/>
        </p:spPr>
        <p:txBody>
          <a:bodyPr wrap="square" lIns="0" tIns="0" rIns="0" bIns="0" rtlCol="0" anchor="ctr">
            <a:normAutofit/>
          </a:bodyPr>
          <a:lstStyle/>
          <a:p>
            <a:pPr marL="0" indent="0">
              <a:buNone/>
            </a:pPr>
            <a:r>
              <a:rPr lang="en-US" sz="1200" b="1" dirty="0">
                <a:solidFill>
                  <a:srgbClr val="F4A4B2"/>
                </a:solidFill>
                <a:latin typeface="Arial" pitchFamily="34" charset="0"/>
                <a:ea typeface="Arial" pitchFamily="34" charset="-122"/>
                <a:cs typeface="Arial" pitchFamily="34" charset="-120"/>
              </a:rPr>
              <a:t>WHY SANDISK</a:t>
            </a:r>
            <a:endParaRPr lang="en-US" sz="1200" dirty="0"/>
          </a:p>
        </p:txBody>
      </p:sp>
      <p:sp>
        <p:nvSpPr>
          <p:cNvPr id="26" name="Text 24"/>
          <p:cNvSpPr/>
          <p:nvPr/>
        </p:nvSpPr>
        <p:spPr>
          <a:xfrm>
            <a:off x="2496312" y="4617720"/>
            <a:ext cx="8915400" cy="59436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Arial" pitchFamily="34" charset="0"/>
                <a:ea typeface="Arial" pitchFamily="34" charset="-122"/>
                <a:cs typeface="Arial" pitchFamily="34" charset="-120"/>
              </a:rPr>
              <a:t>Public HBF standardization creates a strategic entry point.</a:t>
            </a:r>
            <a:endParaRPr lang="en-US" sz="1800" dirty="0"/>
          </a:p>
          <a:p>
            <a:pPr marL="0" indent="0">
              <a:buNone/>
            </a:pPr>
            <a:r>
              <a:rPr lang="en-US" sz="1800" b="1" dirty="0">
                <a:solidFill>
                  <a:srgbClr val="FFFFFF"/>
                </a:solidFill>
                <a:latin typeface="Arial" pitchFamily="34" charset="0"/>
                <a:ea typeface="Arial" pitchFamily="34" charset="-122"/>
                <a:cs typeface="Arial" pitchFamily="34" charset="-120"/>
              </a:rPr>
              <a:t>ATMOS system value still has to be demonstrated.</a:t>
            </a:r>
            <a:endParaRPr lang="en-US" sz="18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Release test: better accepted-service value after quality, latency, availability and full cost—not more bytes alone.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COMPETITIVE OPENING</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The current landscape for private AI at Edge and Workstations</a:t>
            </a:r>
            <a:endParaRPr lang="en-US" sz="29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03</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[S06] [S09] [S13] [S15] [S19] [S22]</a:t>
            </a:r>
            <a:endParaRPr lang="en-US" sz="820" dirty="0"/>
          </a:p>
        </p:txBody>
      </p:sp>
      <p:sp>
        <p:nvSpPr>
          <p:cNvPr id="12" name="Shape 10"/>
          <p:cNvSpPr/>
          <p:nvPr/>
        </p:nvSpPr>
        <p:spPr>
          <a:xfrm>
            <a:off x="502920" y="2029968"/>
            <a:ext cx="3602736" cy="3383280"/>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640080" y="2194560"/>
            <a:ext cx="3328416" cy="256032"/>
          </a:xfrm>
          <a:prstGeom prst="rect">
            <a:avLst/>
          </a:prstGeom>
          <a:solidFill>
            <a:srgbClr val="FDECEF"/>
          </a:solidFill>
          <a:ln w="8255">
            <a:solidFill>
              <a:srgbClr val="FDECEF"/>
            </a:solidFill>
            <a:prstDash val="solid"/>
          </a:ln>
        </p:spPr>
        <p:txBody>
          <a:bodyPr/>
          <a:lstStyle/>
          <a:p>
            <a:endParaRPr lang="en-US"/>
          </a:p>
        </p:txBody>
      </p:sp>
      <p:sp>
        <p:nvSpPr>
          <p:cNvPr id="14" name="Text 12"/>
          <p:cNvSpPr/>
          <p:nvPr/>
        </p:nvSpPr>
        <p:spPr>
          <a:xfrm>
            <a:off x="713232" y="2194560"/>
            <a:ext cx="3182112"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COMPACT LOCAL AI</a:t>
            </a:r>
            <a:endParaRPr lang="en-US" sz="930" dirty="0"/>
          </a:p>
        </p:txBody>
      </p:sp>
      <p:sp>
        <p:nvSpPr>
          <p:cNvPr id="15" name="Text 13"/>
          <p:cNvSpPr/>
          <p:nvPr/>
        </p:nvSpPr>
        <p:spPr>
          <a:xfrm>
            <a:off x="667512" y="2670048"/>
            <a:ext cx="3273552" cy="713232"/>
          </a:xfrm>
          <a:prstGeom prst="rect">
            <a:avLst/>
          </a:prstGeom>
          <a:noFill/>
          <a:ln/>
        </p:spPr>
        <p:txBody>
          <a:bodyPr wrap="square" lIns="0" tIns="0" rIns="0" bIns="0" rtlCol="0" anchor="ctr">
            <a:normAutofit/>
          </a:bodyPr>
          <a:lstStyle/>
          <a:p>
            <a:pPr marL="0" indent="0">
              <a:buNone/>
            </a:pPr>
            <a:r>
              <a:rPr lang="en-US" sz="1800" b="1" dirty="0">
                <a:solidFill>
                  <a:srgbClr val="18191D"/>
                </a:solidFill>
                <a:latin typeface="Arial" pitchFamily="34" charset="0"/>
                <a:ea typeface="Arial" pitchFamily="34" charset="-122"/>
                <a:cs typeface="Arial" pitchFamily="34" charset="-120"/>
              </a:rPr>
              <a:t>DGX Spark / Dell GB10</a:t>
            </a:r>
            <a:endParaRPr lang="en-US" sz="1800" dirty="0"/>
          </a:p>
          <a:p>
            <a:pPr marL="0" indent="0">
              <a:buNone/>
            </a:pPr>
            <a:r>
              <a:rPr lang="en-US" sz="1800" b="1" dirty="0">
                <a:solidFill>
                  <a:srgbClr val="18191D"/>
                </a:solidFill>
                <a:latin typeface="Arial" pitchFamily="34" charset="0"/>
                <a:ea typeface="Arial" pitchFamily="34" charset="-122"/>
                <a:cs typeface="Arial" pitchFamily="34" charset="-120"/>
              </a:rPr>
              <a:t>Mac Studio / RTX workstation</a:t>
            </a:r>
            <a:endParaRPr lang="en-US" sz="1800" dirty="0"/>
          </a:p>
        </p:txBody>
      </p:sp>
      <p:sp>
        <p:nvSpPr>
          <p:cNvPr id="16" name="Text 14"/>
          <p:cNvSpPr/>
          <p:nvPr/>
        </p:nvSpPr>
        <p:spPr>
          <a:xfrm>
            <a:off x="667512" y="3575304"/>
            <a:ext cx="3273552" cy="603504"/>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Already: local models and capable developer stacks.</a:t>
            </a:r>
            <a:endParaRPr lang="en-US" sz="1400" dirty="0"/>
          </a:p>
        </p:txBody>
      </p:sp>
      <p:sp>
        <p:nvSpPr>
          <p:cNvPr id="17" name="Shape 15"/>
          <p:cNvSpPr/>
          <p:nvPr/>
        </p:nvSpPr>
        <p:spPr>
          <a:xfrm>
            <a:off x="667512" y="4370832"/>
            <a:ext cx="3264408" cy="0"/>
          </a:xfrm>
          <a:prstGeom prst="line">
            <a:avLst/>
          </a:prstGeom>
          <a:noFill/>
          <a:ln w="12700">
            <a:solidFill>
              <a:srgbClr val="D8DBDF"/>
            </a:solidFill>
            <a:prstDash val="solid"/>
          </a:ln>
        </p:spPr>
        <p:txBody>
          <a:bodyPr/>
          <a:lstStyle/>
          <a:p>
            <a:endParaRPr lang="en-US"/>
          </a:p>
        </p:txBody>
      </p:sp>
      <p:sp>
        <p:nvSpPr>
          <p:cNvPr id="18" name="Text 16"/>
          <p:cNvSpPr/>
          <p:nvPr/>
        </p:nvSpPr>
        <p:spPr>
          <a:xfrm>
            <a:off x="667512" y="4572000"/>
            <a:ext cx="3273552" cy="621792"/>
          </a:xfrm>
          <a:prstGeom prst="rect">
            <a:avLst/>
          </a:prstGeom>
          <a:noFill/>
          <a:ln/>
        </p:spPr>
        <p:txBody>
          <a:bodyPr wrap="square" lIns="0" tIns="0" rIns="0" bIns="0" rtlCol="0" anchor="ctr">
            <a:normAutofit/>
          </a:bodyPr>
          <a:lstStyle/>
          <a:p>
            <a:pPr marL="0" indent="0">
              <a:buNone/>
            </a:pPr>
            <a:r>
              <a:rPr lang="en-US" sz="1500" b="1" dirty="0">
                <a:solidFill>
                  <a:srgbClr val="E31837"/>
                </a:solidFill>
                <a:latin typeface="Arial" pitchFamily="34" charset="0"/>
                <a:ea typeface="Arial" pitchFamily="34" charset="-122"/>
                <a:cs typeface="Arial" pitchFamily="34" charset="-120"/>
              </a:rPr>
              <a:t>Test: does extra ATMOS capacity create enough useful service?</a:t>
            </a:r>
            <a:endParaRPr lang="en-US" sz="1500" dirty="0"/>
          </a:p>
        </p:txBody>
      </p:sp>
      <p:sp>
        <p:nvSpPr>
          <p:cNvPr id="19" name="Shape 17"/>
          <p:cNvSpPr/>
          <p:nvPr/>
        </p:nvSpPr>
        <p:spPr>
          <a:xfrm>
            <a:off x="4288536" y="2029968"/>
            <a:ext cx="3602736" cy="3383280"/>
          </a:xfrm>
          <a:prstGeom prst="rect">
            <a:avLst/>
          </a:prstGeom>
          <a:solidFill>
            <a:srgbClr val="F3F4F6"/>
          </a:solidFill>
          <a:ln w="8255">
            <a:solidFill>
              <a:srgbClr val="F3F4F6"/>
            </a:solidFill>
            <a:prstDash val="solid"/>
          </a:ln>
        </p:spPr>
        <p:txBody>
          <a:bodyPr/>
          <a:lstStyle/>
          <a:p>
            <a:endParaRPr lang="en-US"/>
          </a:p>
        </p:txBody>
      </p:sp>
      <p:sp>
        <p:nvSpPr>
          <p:cNvPr id="20" name="Shape 18"/>
          <p:cNvSpPr/>
          <p:nvPr/>
        </p:nvSpPr>
        <p:spPr>
          <a:xfrm>
            <a:off x="4425696" y="2194560"/>
            <a:ext cx="3328416" cy="256032"/>
          </a:xfrm>
          <a:prstGeom prst="rect">
            <a:avLst/>
          </a:prstGeom>
          <a:solidFill>
            <a:srgbClr val="FDECEF"/>
          </a:solidFill>
          <a:ln w="8255">
            <a:solidFill>
              <a:srgbClr val="FDECEF"/>
            </a:solidFill>
            <a:prstDash val="solid"/>
          </a:ln>
        </p:spPr>
        <p:txBody>
          <a:bodyPr/>
          <a:lstStyle/>
          <a:p>
            <a:endParaRPr lang="en-US"/>
          </a:p>
        </p:txBody>
      </p:sp>
      <p:sp>
        <p:nvSpPr>
          <p:cNvPr id="21" name="Text 19"/>
          <p:cNvSpPr/>
          <p:nvPr/>
        </p:nvSpPr>
        <p:spPr>
          <a:xfrm>
            <a:off x="4498848" y="2194560"/>
            <a:ext cx="3182112"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TURNKEY PRIVATE AI</a:t>
            </a:r>
            <a:endParaRPr lang="en-US" sz="930" dirty="0"/>
          </a:p>
        </p:txBody>
      </p:sp>
      <p:sp>
        <p:nvSpPr>
          <p:cNvPr id="22" name="Text 20"/>
          <p:cNvSpPr/>
          <p:nvPr/>
        </p:nvSpPr>
        <p:spPr>
          <a:xfrm>
            <a:off x="4453128" y="2670048"/>
            <a:ext cx="3273552" cy="713232"/>
          </a:xfrm>
          <a:prstGeom prst="rect">
            <a:avLst/>
          </a:prstGeom>
          <a:noFill/>
          <a:ln/>
        </p:spPr>
        <p:txBody>
          <a:bodyPr wrap="square" lIns="0" tIns="0" rIns="0" bIns="0" rtlCol="0" anchor="ctr">
            <a:normAutofit fontScale="92500"/>
          </a:bodyPr>
          <a:lstStyle/>
          <a:p>
            <a:pPr marL="0" indent="0">
              <a:buNone/>
            </a:pPr>
            <a:r>
              <a:rPr lang="en-US" sz="1800" b="1" dirty="0">
                <a:solidFill>
                  <a:srgbClr val="18191D"/>
                </a:solidFill>
                <a:latin typeface="Arial" pitchFamily="34" charset="0"/>
                <a:ea typeface="Arial" pitchFamily="34" charset="-122"/>
                <a:cs typeface="Arial" pitchFamily="34" charset="-120"/>
              </a:rPr>
              <a:t>HPE Private Cloud AI</a:t>
            </a:r>
            <a:endParaRPr lang="en-US" sz="1800" dirty="0"/>
          </a:p>
          <a:p>
            <a:pPr marL="0" indent="0">
              <a:buNone/>
            </a:pPr>
            <a:r>
              <a:rPr lang="en-US" sz="1800" b="1" dirty="0">
                <a:solidFill>
                  <a:srgbClr val="18191D"/>
                </a:solidFill>
                <a:latin typeface="Arial" pitchFamily="34" charset="0"/>
                <a:ea typeface="Arial" pitchFamily="34" charset="-122"/>
                <a:cs typeface="Arial" pitchFamily="34" charset="-120"/>
              </a:rPr>
              <a:t>Nutanix / AMD + OEM / Lenovo</a:t>
            </a:r>
            <a:endParaRPr lang="en-US" sz="1800" dirty="0"/>
          </a:p>
        </p:txBody>
      </p:sp>
      <p:sp>
        <p:nvSpPr>
          <p:cNvPr id="23" name="Text 21"/>
          <p:cNvSpPr/>
          <p:nvPr/>
        </p:nvSpPr>
        <p:spPr>
          <a:xfrm>
            <a:off x="4453128" y="3575304"/>
            <a:ext cx="3273552" cy="603504"/>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Already: RAG, identity, lifecycle and enterprise deployment.</a:t>
            </a:r>
            <a:endParaRPr lang="en-US" sz="1400" dirty="0"/>
          </a:p>
        </p:txBody>
      </p:sp>
      <p:sp>
        <p:nvSpPr>
          <p:cNvPr id="24" name="Shape 22"/>
          <p:cNvSpPr/>
          <p:nvPr/>
        </p:nvSpPr>
        <p:spPr>
          <a:xfrm>
            <a:off x="4453128" y="4370832"/>
            <a:ext cx="3264408" cy="0"/>
          </a:xfrm>
          <a:prstGeom prst="line">
            <a:avLst/>
          </a:prstGeom>
          <a:noFill/>
          <a:ln w="12700">
            <a:solidFill>
              <a:srgbClr val="D8DBDF"/>
            </a:solidFill>
            <a:prstDash val="solid"/>
          </a:ln>
        </p:spPr>
        <p:txBody>
          <a:bodyPr/>
          <a:lstStyle/>
          <a:p>
            <a:endParaRPr lang="en-US"/>
          </a:p>
        </p:txBody>
      </p:sp>
      <p:sp>
        <p:nvSpPr>
          <p:cNvPr id="25" name="Text 23"/>
          <p:cNvSpPr/>
          <p:nvPr/>
        </p:nvSpPr>
        <p:spPr>
          <a:xfrm>
            <a:off x="4453128" y="4572000"/>
            <a:ext cx="3273552" cy="621792"/>
          </a:xfrm>
          <a:prstGeom prst="rect">
            <a:avLst/>
          </a:prstGeom>
          <a:noFill/>
          <a:ln/>
        </p:spPr>
        <p:txBody>
          <a:bodyPr wrap="square" lIns="0" tIns="0" rIns="0" bIns="0" rtlCol="0" anchor="ctr">
            <a:normAutofit/>
          </a:bodyPr>
          <a:lstStyle/>
          <a:p>
            <a:pPr marL="0" indent="0">
              <a:buNone/>
            </a:pPr>
            <a:r>
              <a:rPr lang="en-US" sz="1500" b="1" dirty="0">
                <a:solidFill>
                  <a:srgbClr val="E31837"/>
                </a:solidFill>
                <a:latin typeface="Arial" pitchFamily="34" charset="0"/>
                <a:ea typeface="Arial" pitchFamily="34" charset="-122"/>
                <a:cs typeface="Arial" pitchFamily="34" charset="-120"/>
              </a:rPr>
              <a:t>Test: lower operating burden and cost at matched service.</a:t>
            </a:r>
            <a:endParaRPr lang="en-US" sz="1500" dirty="0"/>
          </a:p>
        </p:txBody>
      </p:sp>
      <p:sp>
        <p:nvSpPr>
          <p:cNvPr id="26" name="Shape 24"/>
          <p:cNvSpPr/>
          <p:nvPr/>
        </p:nvSpPr>
        <p:spPr>
          <a:xfrm>
            <a:off x="8074152" y="2029968"/>
            <a:ext cx="3602736" cy="3383280"/>
          </a:xfrm>
          <a:prstGeom prst="rect">
            <a:avLst/>
          </a:prstGeom>
          <a:solidFill>
            <a:srgbClr val="F3F4F6"/>
          </a:solidFill>
          <a:ln w="8255">
            <a:solidFill>
              <a:srgbClr val="F3F4F6"/>
            </a:solidFill>
            <a:prstDash val="solid"/>
          </a:ln>
        </p:spPr>
        <p:txBody>
          <a:bodyPr/>
          <a:lstStyle/>
          <a:p>
            <a:endParaRPr lang="en-US"/>
          </a:p>
        </p:txBody>
      </p:sp>
      <p:sp>
        <p:nvSpPr>
          <p:cNvPr id="27" name="Shape 25"/>
          <p:cNvSpPr/>
          <p:nvPr/>
        </p:nvSpPr>
        <p:spPr>
          <a:xfrm>
            <a:off x="8211312" y="2194560"/>
            <a:ext cx="3328416" cy="256032"/>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8284464" y="2194560"/>
            <a:ext cx="3182112"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SPECIALIZED INFERENCE</a:t>
            </a:r>
            <a:endParaRPr lang="en-US" sz="930" dirty="0"/>
          </a:p>
        </p:txBody>
      </p:sp>
      <p:sp>
        <p:nvSpPr>
          <p:cNvPr id="29" name="Text 27"/>
          <p:cNvSpPr/>
          <p:nvPr/>
        </p:nvSpPr>
        <p:spPr>
          <a:xfrm>
            <a:off x="8238744" y="2670048"/>
            <a:ext cx="3273552" cy="713232"/>
          </a:xfrm>
          <a:prstGeom prst="rect">
            <a:avLst/>
          </a:prstGeom>
          <a:noFill/>
          <a:ln/>
        </p:spPr>
        <p:txBody>
          <a:bodyPr wrap="square" lIns="0" tIns="0" rIns="0" bIns="0" rtlCol="0" anchor="ctr">
            <a:normAutofit/>
          </a:bodyPr>
          <a:lstStyle/>
          <a:p>
            <a:pPr marL="0" indent="0">
              <a:buNone/>
            </a:pPr>
            <a:r>
              <a:rPr lang="en-US" sz="1800" b="1" dirty="0">
                <a:solidFill>
                  <a:srgbClr val="18191D"/>
                </a:solidFill>
                <a:latin typeface="Arial" pitchFamily="34" charset="0"/>
                <a:ea typeface="Arial" pitchFamily="34" charset="-122"/>
                <a:cs typeface="Arial" pitchFamily="34" charset="-120"/>
              </a:rPr>
              <a:t>SambaNova / d-Matrix</a:t>
            </a:r>
            <a:endParaRPr lang="en-US" sz="1800" dirty="0"/>
          </a:p>
          <a:p>
            <a:pPr marL="0" indent="0">
              <a:buNone/>
            </a:pPr>
            <a:r>
              <a:rPr lang="en-US" sz="1800" b="1" dirty="0">
                <a:solidFill>
                  <a:srgbClr val="18191D"/>
                </a:solidFill>
                <a:latin typeface="Arial" pitchFamily="34" charset="0"/>
                <a:ea typeface="Arial" pitchFamily="34" charset="-122"/>
                <a:cs typeface="Arial" pitchFamily="34" charset="-120"/>
              </a:rPr>
              <a:t>Cerebras / Groq</a:t>
            </a:r>
            <a:endParaRPr lang="en-US" sz="1800" dirty="0"/>
          </a:p>
        </p:txBody>
      </p:sp>
      <p:sp>
        <p:nvSpPr>
          <p:cNvPr id="30" name="Text 28"/>
          <p:cNvSpPr/>
          <p:nvPr/>
        </p:nvSpPr>
        <p:spPr>
          <a:xfrm>
            <a:off x="8238744" y="3575304"/>
            <a:ext cx="3273552" cy="603504"/>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Already: non-GPU and memory/latency-oriented architectures.</a:t>
            </a:r>
            <a:endParaRPr lang="en-US" sz="1400" dirty="0"/>
          </a:p>
        </p:txBody>
      </p:sp>
      <p:sp>
        <p:nvSpPr>
          <p:cNvPr id="31" name="Shape 29"/>
          <p:cNvSpPr/>
          <p:nvPr/>
        </p:nvSpPr>
        <p:spPr>
          <a:xfrm>
            <a:off x="8238744" y="4370832"/>
            <a:ext cx="3264408" cy="0"/>
          </a:xfrm>
          <a:prstGeom prst="line">
            <a:avLst/>
          </a:prstGeom>
          <a:noFill/>
          <a:ln w="12700">
            <a:solidFill>
              <a:srgbClr val="D8DBDF"/>
            </a:solidFill>
            <a:prstDash val="solid"/>
          </a:ln>
        </p:spPr>
        <p:txBody>
          <a:bodyPr/>
          <a:lstStyle/>
          <a:p>
            <a:endParaRPr lang="en-US"/>
          </a:p>
        </p:txBody>
      </p:sp>
      <p:sp>
        <p:nvSpPr>
          <p:cNvPr id="32" name="Text 30"/>
          <p:cNvSpPr/>
          <p:nvPr/>
        </p:nvSpPr>
        <p:spPr>
          <a:xfrm>
            <a:off x="8238744" y="4572000"/>
            <a:ext cx="3273552" cy="621792"/>
          </a:xfrm>
          <a:prstGeom prst="rect">
            <a:avLst/>
          </a:prstGeom>
          <a:noFill/>
          <a:ln/>
        </p:spPr>
        <p:txBody>
          <a:bodyPr wrap="square" lIns="0" tIns="0" rIns="0" bIns="0" rtlCol="0" anchor="ctr">
            <a:normAutofit/>
          </a:bodyPr>
          <a:lstStyle/>
          <a:p>
            <a:pPr marL="0" indent="0">
              <a:buNone/>
            </a:pPr>
            <a:r>
              <a:rPr lang="en-US" sz="1500" b="1" dirty="0">
                <a:solidFill>
                  <a:srgbClr val="E31837"/>
                </a:solidFill>
                <a:latin typeface="Arial" pitchFamily="34" charset="0"/>
                <a:ea typeface="Arial" pitchFamily="34" charset="-122"/>
                <a:cs typeface="Arial" pitchFamily="34" charset="-120"/>
              </a:rPr>
              <a:t>Test: the right workload—not universal compute superiority.</a:t>
            </a:r>
            <a:endParaRPr lang="en-US" sz="1500" dirty="0"/>
          </a:p>
        </p:txBody>
      </p:sp>
      <p:sp>
        <p:nvSpPr>
          <p:cNvPr id="33" name="Shape 31"/>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34" name="Text 32"/>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Do not claim privacy, turnkey RAG, near-data compute or large memory as an ATMOS-exclusive feature.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PUBLIC MARKET EVIDENCE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Demand is proven. </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Use reported outcomes and revenue correctly—without turning them into a fabricated ATMOS TAM.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04</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[S03] [S04] [S05] [S30] [S31]</a:t>
            </a:r>
            <a:endParaRPr lang="en-US" sz="820" dirty="0"/>
          </a:p>
        </p:txBody>
      </p:sp>
      <p:sp>
        <p:nvSpPr>
          <p:cNvPr id="12" name="Shape 10"/>
          <p:cNvSpPr/>
          <p:nvPr/>
        </p:nvSpPr>
        <p:spPr>
          <a:xfrm>
            <a:off x="502920" y="2039112"/>
            <a:ext cx="5440680" cy="3401568"/>
          </a:xfrm>
          <a:prstGeom prst="rect">
            <a:avLst/>
          </a:prstGeom>
          <a:solidFill>
            <a:srgbClr val="F3F4F6"/>
          </a:solidFill>
          <a:ln w="8255">
            <a:solidFill>
              <a:srgbClr val="F3F4F6"/>
            </a:solidFill>
            <a:prstDash val="solid"/>
          </a:ln>
        </p:spPr>
        <p:txBody>
          <a:bodyPr/>
          <a:lstStyle/>
          <a:p>
            <a:endParaRPr lang="en-US"/>
          </a:p>
        </p:txBody>
      </p:sp>
      <p:sp>
        <p:nvSpPr>
          <p:cNvPr id="13" name="Text 11"/>
          <p:cNvSpPr/>
          <p:nvPr/>
        </p:nvSpPr>
        <p:spPr>
          <a:xfrm>
            <a:off x="694944" y="2221992"/>
            <a:ext cx="5029200" cy="246888"/>
          </a:xfrm>
          <a:prstGeom prst="rect">
            <a:avLst/>
          </a:prstGeom>
          <a:noFill/>
          <a:ln/>
        </p:spPr>
        <p:txBody>
          <a:bodyPr wrap="square" lIns="0" tIns="0" rIns="0" bIns="0" rtlCol="0" anchor="ctr">
            <a:normAutofit/>
          </a:bodyPr>
          <a:lstStyle/>
          <a:p>
            <a:pPr marL="0" indent="0">
              <a:buNone/>
            </a:pPr>
            <a:r>
              <a:rPr lang="en-US" sz="1100" b="1" dirty="0">
                <a:solidFill>
                  <a:srgbClr val="E31837"/>
                </a:solidFill>
                <a:latin typeface="Arial" pitchFamily="34" charset="0"/>
                <a:ea typeface="Arial" pitchFamily="34" charset="-122"/>
                <a:cs typeface="Arial" pitchFamily="34" charset="-120"/>
              </a:rPr>
              <a:t>CUSTOMER PROOF OF THE WORKFLOW</a:t>
            </a:r>
            <a:endParaRPr lang="en-US" sz="1100" dirty="0"/>
          </a:p>
        </p:txBody>
      </p:sp>
      <p:sp>
        <p:nvSpPr>
          <p:cNvPr id="14" name="Text 12"/>
          <p:cNvSpPr/>
          <p:nvPr/>
        </p:nvSpPr>
        <p:spPr>
          <a:xfrm>
            <a:off x="694944" y="2715768"/>
            <a:ext cx="4114800" cy="429768"/>
          </a:xfrm>
          <a:prstGeom prst="rect">
            <a:avLst/>
          </a:prstGeom>
          <a:noFill/>
          <a:ln/>
        </p:spPr>
        <p:txBody>
          <a:bodyPr wrap="square" lIns="0" tIns="0" rIns="0" bIns="0" rtlCol="0" anchor="ctr">
            <a:normAutofit/>
          </a:bodyPr>
          <a:lstStyle/>
          <a:p>
            <a:pPr marL="0" indent="0">
              <a:buNone/>
            </a:pPr>
            <a:r>
              <a:rPr lang="en-US" sz="2500" b="1" dirty="0">
                <a:solidFill>
                  <a:srgbClr val="18191D"/>
                </a:solidFill>
                <a:latin typeface="Arial" pitchFamily="34" charset="0"/>
                <a:ea typeface="Arial" pitchFamily="34" charset="-122"/>
                <a:cs typeface="Arial" pitchFamily="34" charset="-120"/>
              </a:rPr>
              <a:t>Nasdaq</a:t>
            </a:r>
            <a:endParaRPr lang="en-US" sz="2500" dirty="0"/>
          </a:p>
        </p:txBody>
      </p:sp>
      <p:sp>
        <p:nvSpPr>
          <p:cNvPr id="15" name="Text 13"/>
          <p:cNvSpPr/>
          <p:nvPr/>
        </p:nvSpPr>
        <p:spPr>
          <a:xfrm>
            <a:off x="694944" y="3273552"/>
            <a:ext cx="2377440" cy="658368"/>
          </a:xfrm>
          <a:prstGeom prst="rect">
            <a:avLst/>
          </a:prstGeom>
          <a:noFill/>
          <a:ln/>
        </p:spPr>
        <p:txBody>
          <a:bodyPr wrap="square" lIns="0" tIns="0" rIns="0" bIns="0" rtlCol="0" anchor="ctr">
            <a:normAutofit lnSpcReduction="10000"/>
          </a:bodyPr>
          <a:lstStyle/>
          <a:p>
            <a:pPr marL="0" indent="0">
              <a:buNone/>
            </a:pPr>
            <a:r>
              <a:rPr lang="en-US" sz="4800" b="1" dirty="0">
                <a:solidFill>
                  <a:srgbClr val="E31837"/>
                </a:solidFill>
                <a:latin typeface="Arial" pitchFamily="34" charset="0"/>
                <a:ea typeface="Arial" pitchFamily="34" charset="-122"/>
                <a:cs typeface="Arial" pitchFamily="34" charset="-120"/>
              </a:rPr>
              <a:t>30%</a:t>
            </a:r>
            <a:endParaRPr lang="en-US" sz="4800" dirty="0"/>
          </a:p>
        </p:txBody>
      </p:sp>
      <p:sp>
        <p:nvSpPr>
          <p:cNvPr id="16" name="Text 14"/>
          <p:cNvSpPr/>
          <p:nvPr/>
        </p:nvSpPr>
        <p:spPr>
          <a:xfrm>
            <a:off x="694944" y="4050792"/>
            <a:ext cx="4910328" cy="676656"/>
          </a:xfrm>
          <a:prstGeom prst="rect">
            <a:avLst/>
          </a:prstGeom>
          <a:noFill/>
          <a:ln/>
        </p:spPr>
        <p:txBody>
          <a:bodyPr wrap="square" lIns="0" tIns="0" rIns="0" bIns="0" rtlCol="0" anchor="ctr">
            <a:normAutofit/>
          </a:bodyPr>
          <a:lstStyle/>
          <a:p>
            <a:pPr marL="0" indent="0">
              <a:buNone/>
            </a:pPr>
            <a:r>
              <a:rPr lang="en-US" sz="1700" dirty="0">
                <a:solidFill>
                  <a:srgbClr val="18191D"/>
                </a:solidFill>
                <a:latin typeface="Arial" pitchFamily="34" charset="0"/>
                <a:ea typeface="Arial" pitchFamily="34" charset="-122"/>
                <a:cs typeface="Arial" pitchFamily="34" charset="-120"/>
              </a:rPr>
              <a:t>faster response and improved accuracy</a:t>
            </a:r>
            <a:endParaRPr lang="en-US" sz="1700" dirty="0"/>
          </a:p>
          <a:p>
            <a:pPr marL="0" indent="0">
              <a:buNone/>
            </a:pPr>
            <a:r>
              <a:rPr lang="en-US" sz="1700" dirty="0">
                <a:solidFill>
                  <a:srgbClr val="18191D"/>
                </a:solidFill>
                <a:latin typeface="Arial" pitchFamily="34" charset="0"/>
                <a:ea typeface="Arial" pitchFamily="34" charset="-122"/>
                <a:cs typeface="Arial" pitchFamily="34" charset="-120"/>
              </a:rPr>
              <a:t>reported for its AI knowledge platform</a:t>
            </a:r>
            <a:endParaRPr lang="en-US" sz="1700" dirty="0"/>
          </a:p>
        </p:txBody>
      </p:sp>
      <p:sp>
        <p:nvSpPr>
          <p:cNvPr id="17" name="Text 15"/>
          <p:cNvSpPr/>
          <p:nvPr/>
        </p:nvSpPr>
        <p:spPr>
          <a:xfrm>
            <a:off x="694944" y="4974336"/>
            <a:ext cx="4864608" cy="283464"/>
          </a:xfrm>
          <a:prstGeom prst="rect">
            <a:avLst/>
          </a:prstGeom>
          <a:noFill/>
          <a:ln/>
        </p:spPr>
        <p:txBody>
          <a:bodyPr wrap="square" lIns="0" tIns="0" rIns="0" bIns="0" rtlCol="0" anchor="ctr">
            <a:normAutofit/>
          </a:bodyPr>
          <a:lstStyle/>
          <a:p>
            <a:pPr marL="0" indent="0">
              <a:buNone/>
            </a:pPr>
            <a:r>
              <a:rPr lang="en-US" sz="1100" dirty="0">
                <a:solidFill>
                  <a:srgbClr val="5B6169"/>
                </a:solidFill>
                <a:latin typeface="Arial" pitchFamily="34" charset="0"/>
                <a:ea typeface="Arial" pitchFamily="34" charset="-122"/>
                <a:cs typeface="Arial" pitchFamily="34" charset="-120"/>
              </a:rPr>
              <a:t>Vendor-published case; not ATMOS results or a GPU-cost disclosure.</a:t>
            </a:r>
            <a:endParaRPr lang="en-US" sz="1100" dirty="0"/>
          </a:p>
        </p:txBody>
      </p:sp>
      <p:sp>
        <p:nvSpPr>
          <p:cNvPr id="18" name="Shape 16"/>
          <p:cNvSpPr/>
          <p:nvPr/>
        </p:nvSpPr>
        <p:spPr>
          <a:xfrm>
            <a:off x="6163056" y="2039112"/>
            <a:ext cx="5522976" cy="1581912"/>
          </a:xfrm>
          <a:prstGeom prst="rect">
            <a:avLst/>
          </a:prstGeom>
          <a:solidFill>
            <a:srgbClr val="F3F4F6"/>
          </a:solidFill>
          <a:ln w="8255">
            <a:solidFill>
              <a:srgbClr val="F3F4F6"/>
            </a:solidFill>
            <a:prstDash val="solid"/>
          </a:ln>
        </p:spPr>
        <p:txBody>
          <a:bodyPr/>
          <a:lstStyle/>
          <a:p>
            <a:endParaRPr lang="en-US"/>
          </a:p>
        </p:txBody>
      </p:sp>
      <p:sp>
        <p:nvSpPr>
          <p:cNvPr id="19" name="Shape 17"/>
          <p:cNvSpPr/>
          <p:nvPr/>
        </p:nvSpPr>
        <p:spPr>
          <a:xfrm>
            <a:off x="6163056" y="2039112"/>
            <a:ext cx="50292" cy="1581912"/>
          </a:xfrm>
          <a:prstGeom prst="rect">
            <a:avLst/>
          </a:prstGeom>
          <a:solidFill>
            <a:srgbClr val="E31837"/>
          </a:solidFill>
          <a:ln w="8255">
            <a:solidFill>
              <a:srgbClr val="E31837"/>
            </a:solidFill>
            <a:prstDash val="solid"/>
          </a:ln>
        </p:spPr>
        <p:txBody>
          <a:bodyPr/>
          <a:lstStyle/>
          <a:p>
            <a:endParaRPr lang="en-US"/>
          </a:p>
        </p:txBody>
      </p:sp>
      <p:sp>
        <p:nvSpPr>
          <p:cNvPr id="20" name="Text 18"/>
          <p:cNvSpPr/>
          <p:nvPr/>
        </p:nvSpPr>
        <p:spPr>
          <a:xfrm>
            <a:off x="6345936" y="2185416"/>
            <a:ext cx="5157216" cy="429768"/>
          </a:xfrm>
          <a:prstGeom prst="rect">
            <a:avLst/>
          </a:prstGeom>
          <a:noFill/>
          <a:ln/>
        </p:spPr>
        <p:txBody>
          <a:bodyPr wrap="square" lIns="0" tIns="0" rIns="0" bIns="0" rtlCol="0" anchor="ctr">
            <a:normAutofit/>
          </a:bodyPr>
          <a:lstStyle/>
          <a:p>
            <a:pPr marL="0" indent="0">
              <a:buNone/>
            </a:pPr>
            <a:r>
              <a:rPr lang="en-US" sz="2200" b="1" dirty="0">
                <a:solidFill>
                  <a:srgbClr val="18191D"/>
                </a:solidFill>
                <a:latin typeface="Arial" pitchFamily="34" charset="0"/>
                <a:ea typeface="Arial" pitchFamily="34" charset="-122"/>
                <a:cs typeface="Arial" pitchFamily="34" charset="-120"/>
              </a:rPr>
              <a:t>$3.2B  /  FY2026</a:t>
            </a:r>
            <a:endParaRPr lang="en-US" sz="2200" dirty="0"/>
          </a:p>
        </p:txBody>
      </p:sp>
      <p:sp>
        <p:nvSpPr>
          <p:cNvPr id="21" name="Text 19"/>
          <p:cNvSpPr/>
          <p:nvPr/>
        </p:nvSpPr>
        <p:spPr>
          <a:xfrm>
            <a:off x="6345936" y="2743200"/>
            <a:ext cx="5157216" cy="722376"/>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NVIDIA Professional Visualization</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Historical workstation-related proxy—not AI-only appliance revenue.</a:t>
            </a:r>
            <a:endParaRPr lang="en-US" sz="1400" dirty="0"/>
          </a:p>
        </p:txBody>
      </p:sp>
      <p:sp>
        <p:nvSpPr>
          <p:cNvPr id="22" name="Shape 20"/>
          <p:cNvSpPr/>
          <p:nvPr/>
        </p:nvSpPr>
        <p:spPr>
          <a:xfrm>
            <a:off x="6163056" y="3822192"/>
            <a:ext cx="5522976" cy="1618488"/>
          </a:xfrm>
          <a:prstGeom prst="rect">
            <a:avLst/>
          </a:prstGeom>
          <a:solidFill>
            <a:srgbClr val="F3F4F6"/>
          </a:solidFill>
          <a:ln w="8255">
            <a:solidFill>
              <a:srgbClr val="F3F4F6"/>
            </a:solidFill>
            <a:prstDash val="solid"/>
          </a:ln>
        </p:spPr>
        <p:txBody>
          <a:bodyPr/>
          <a:lstStyle/>
          <a:p>
            <a:endParaRPr lang="en-US"/>
          </a:p>
        </p:txBody>
      </p:sp>
      <p:sp>
        <p:nvSpPr>
          <p:cNvPr id="23" name="Shape 21"/>
          <p:cNvSpPr/>
          <p:nvPr/>
        </p:nvSpPr>
        <p:spPr>
          <a:xfrm>
            <a:off x="6163056" y="3822192"/>
            <a:ext cx="50292" cy="1618488"/>
          </a:xfrm>
          <a:prstGeom prst="rect">
            <a:avLst/>
          </a:prstGeom>
          <a:solidFill>
            <a:srgbClr val="E31837"/>
          </a:solidFill>
          <a:ln w="8255">
            <a:solidFill>
              <a:srgbClr val="E31837"/>
            </a:solidFill>
            <a:prstDash val="solid"/>
          </a:ln>
        </p:spPr>
        <p:txBody>
          <a:bodyPr/>
          <a:lstStyle/>
          <a:p>
            <a:endParaRPr lang="en-US"/>
          </a:p>
        </p:txBody>
      </p:sp>
      <p:sp>
        <p:nvSpPr>
          <p:cNvPr id="24" name="Text 22"/>
          <p:cNvSpPr/>
          <p:nvPr/>
        </p:nvSpPr>
        <p:spPr>
          <a:xfrm>
            <a:off x="6345936" y="3968496"/>
            <a:ext cx="5157216" cy="429768"/>
          </a:xfrm>
          <a:prstGeom prst="rect">
            <a:avLst/>
          </a:prstGeom>
          <a:noFill/>
          <a:ln/>
        </p:spPr>
        <p:txBody>
          <a:bodyPr wrap="square" lIns="0" tIns="0" rIns="0" bIns="0" rtlCol="0" anchor="ctr">
            <a:normAutofit/>
          </a:bodyPr>
          <a:lstStyle/>
          <a:p>
            <a:pPr marL="0" indent="0">
              <a:buNone/>
            </a:pPr>
            <a:r>
              <a:rPr lang="en-US" sz="2200" b="1" dirty="0">
                <a:solidFill>
                  <a:srgbClr val="18191D"/>
                </a:solidFill>
                <a:latin typeface="Arial" pitchFamily="34" charset="0"/>
                <a:ea typeface="Arial" pitchFamily="34" charset="-122"/>
                <a:cs typeface="Arial" pitchFamily="34" charset="-120"/>
              </a:rPr>
              <a:t>$7.2B  /  Q2 FY2027</a:t>
            </a:r>
            <a:endParaRPr lang="en-US" sz="2200" dirty="0"/>
          </a:p>
        </p:txBody>
      </p:sp>
      <p:sp>
        <p:nvSpPr>
          <p:cNvPr id="25" name="Text 23"/>
          <p:cNvSpPr/>
          <p:nvPr/>
        </p:nvSpPr>
        <p:spPr>
          <a:xfrm>
            <a:off x="6345936" y="4526280"/>
            <a:ext cx="5157216" cy="758952"/>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NVIDIA Edge Computing</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Broader quarterly category; do not add it to the annual figure.</a:t>
            </a:r>
            <a:endParaRPr lang="en-US" sz="1400" dirty="0"/>
          </a:p>
        </p:txBody>
      </p:sp>
      <p:sp>
        <p:nvSpPr>
          <p:cNvPr id="26" name="Shape 24"/>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7" name="Text 25"/>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Competitive reality: EPRI already reports local GB10 Power Chat at 35 tok/s single-user and ~150 aggregate at 10 users.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PORTFOLIO</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Three Tiers, Five profiles and One supported software platform.</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Preserve the product family; prioritize D8 and E16 proof before widening the catalog.</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05</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§2</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20824"/>
            <a:ext cx="2651760" cy="3520440"/>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621792" y="2148840"/>
            <a:ext cx="2404872" cy="256032"/>
          </a:xfrm>
          <a:prstGeom prst="rect">
            <a:avLst/>
          </a:prstGeom>
          <a:solidFill>
            <a:srgbClr val="FDECEF"/>
          </a:solidFill>
          <a:ln w="8255">
            <a:solidFill>
              <a:srgbClr val="FDECEF"/>
            </a:solidFill>
            <a:prstDash val="solid"/>
          </a:ln>
        </p:spPr>
        <p:txBody>
          <a:bodyPr/>
          <a:lstStyle/>
          <a:p>
            <a:endParaRPr lang="en-US"/>
          </a:p>
        </p:txBody>
      </p:sp>
      <p:sp>
        <p:nvSpPr>
          <p:cNvPr id="14" name="Text 12"/>
          <p:cNvSpPr/>
          <p:nvPr/>
        </p:nvSpPr>
        <p:spPr>
          <a:xfrm>
            <a:off x="694944" y="2148840"/>
            <a:ext cx="2258568"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DERIVATIVE</a:t>
            </a:r>
            <a:endParaRPr lang="en-US" sz="930" dirty="0"/>
          </a:p>
        </p:txBody>
      </p:sp>
      <p:pic>
        <p:nvPicPr>
          <p:cNvPr id="15" name="Image 0" descr="/mnt/data/atmos_exec_v3/assets/appliance_4.png"/>
          <p:cNvPicPr>
            <a:picLocks noChangeAspect="1"/>
          </p:cNvPicPr>
          <p:nvPr/>
        </p:nvPicPr>
        <p:blipFill>
          <a:blip r:embed="rId4"/>
          <a:stretch>
            <a:fillRect/>
          </a:stretch>
        </p:blipFill>
        <p:spPr>
          <a:xfrm>
            <a:off x="438912" y="2514600"/>
            <a:ext cx="2788920" cy="1508760"/>
          </a:xfrm>
          <a:prstGeom prst="rect">
            <a:avLst/>
          </a:prstGeom>
        </p:spPr>
      </p:pic>
      <p:sp>
        <p:nvSpPr>
          <p:cNvPr id="16" name="Text 13"/>
          <p:cNvSpPr/>
          <p:nvPr/>
        </p:nvSpPr>
        <p:spPr>
          <a:xfrm>
            <a:off x="640080" y="3941064"/>
            <a:ext cx="2386584" cy="448056"/>
          </a:xfrm>
          <a:prstGeom prst="rect">
            <a:avLst/>
          </a:prstGeom>
          <a:noFill/>
          <a:ln/>
        </p:spPr>
        <p:txBody>
          <a:bodyPr wrap="square" lIns="0" tIns="0" rIns="0" bIns="0" rtlCol="0" anchor="ctr">
            <a:normAutofit/>
          </a:bodyPr>
          <a:lstStyle/>
          <a:p>
            <a:pPr marL="0" indent="0">
              <a:buNone/>
            </a:pPr>
            <a:r>
              <a:rPr lang="en-US" sz="1340" b="1" dirty="0">
                <a:solidFill>
                  <a:srgbClr val="18191D"/>
                </a:solidFill>
                <a:latin typeface="Arial" pitchFamily="34" charset="0"/>
                <a:ea typeface="Arial" pitchFamily="34" charset="-122"/>
                <a:cs typeface="Arial" pitchFamily="34" charset="-120"/>
              </a:rPr>
              <a:t>WORKSTATION 4</a:t>
            </a:r>
            <a:endParaRPr lang="en-US" sz="1340" dirty="0"/>
          </a:p>
        </p:txBody>
      </p:sp>
      <p:sp>
        <p:nvSpPr>
          <p:cNvPr id="17" name="Text 14"/>
          <p:cNvSpPr/>
          <p:nvPr/>
        </p:nvSpPr>
        <p:spPr>
          <a:xfrm>
            <a:off x="640080" y="4489704"/>
            <a:ext cx="2377440" cy="292608"/>
          </a:xfrm>
          <a:prstGeom prst="rect">
            <a:avLst/>
          </a:prstGeom>
          <a:noFill/>
          <a:ln/>
        </p:spPr>
        <p:txBody>
          <a:bodyPr wrap="square" lIns="0" tIns="0" rIns="0" bIns="0" rtlCol="0" anchor="ctr">
            <a:normAutofit/>
          </a:bodyPr>
          <a:lstStyle/>
          <a:p>
            <a:pPr marL="0" indent="0">
              <a:buNone/>
            </a:pPr>
            <a:r>
              <a:rPr lang="en-US" sz="1400" b="1" dirty="0">
                <a:solidFill>
                  <a:srgbClr val="E31837"/>
                </a:solidFill>
                <a:latin typeface="Arial" pitchFamily="34" charset="0"/>
                <a:ea typeface="Arial" pitchFamily="34" charset="-122"/>
                <a:cs typeface="Arial" pitchFamily="34" charset="-120"/>
              </a:rPr>
              <a:t>512 GB nominal HBF</a:t>
            </a:r>
            <a:endParaRPr lang="en-US" sz="1400" dirty="0"/>
          </a:p>
        </p:txBody>
      </p:sp>
      <p:sp>
        <p:nvSpPr>
          <p:cNvPr id="18" name="Text 15"/>
          <p:cNvSpPr/>
          <p:nvPr/>
        </p:nvSpPr>
        <p:spPr>
          <a:xfrm>
            <a:off x="640080" y="4882896"/>
            <a:ext cx="2386584" cy="521208"/>
          </a:xfrm>
          <a:prstGeom prst="rect">
            <a:avLst/>
          </a:prstGeom>
          <a:noFill/>
          <a:ln/>
        </p:spPr>
        <p:txBody>
          <a:bodyPr wrap="square" lIns="0" tIns="0" rIns="0" bIns="0" rtlCol="0" anchor="ctr">
            <a:normAutofit/>
          </a:bodyPr>
          <a:lstStyle/>
          <a:p>
            <a:pPr marL="0" indent="0">
              <a:buNone/>
            </a:pPr>
            <a:r>
              <a:rPr lang="en-US" sz="1250" dirty="0">
                <a:solidFill>
                  <a:srgbClr val="5B6169"/>
                </a:solidFill>
                <a:latin typeface="Arial" pitchFamily="34" charset="0"/>
                <a:ea typeface="Arial" pitchFamily="34" charset="-122"/>
                <a:cs typeface="Arial" pitchFamily="34" charset="-120"/>
              </a:rPr>
              <a:t>W4 / local developer and secure small-team service</a:t>
            </a:r>
            <a:endParaRPr lang="en-US" sz="1250" dirty="0"/>
          </a:p>
        </p:txBody>
      </p:sp>
      <p:sp>
        <p:nvSpPr>
          <p:cNvPr id="19" name="Shape 16"/>
          <p:cNvSpPr/>
          <p:nvPr/>
        </p:nvSpPr>
        <p:spPr>
          <a:xfrm>
            <a:off x="3346704" y="2020824"/>
            <a:ext cx="2651760" cy="3520440"/>
          </a:xfrm>
          <a:prstGeom prst="rect">
            <a:avLst/>
          </a:prstGeom>
          <a:solidFill>
            <a:srgbClr val="F3F4F6"/>
          </a:solidFill>
          <a:ln w="8255">
            <a:solidFill>
              <a:srgbClr val="F3F4F6"/>
            </a:solidFill>
            <a:prstDash val="solid"/>
          </a:ln>
        </p:spPr>
        <p:txBody>
          <a:bodyPr/>
          <a:lstStyle/>
          <a:p>
            <a:endParaRPr lang="en-US"/>
          </a:p>
        </p:txBody>
      </p:sp>
      <p:sp>
        <p:nvSpPr>
          <p:cNvPr id="20" name="Shape 17"/>
          <p:cNvSpPr/>
          <p:nvPr/>
        </p:nvSpPr>
        <p:spPr>
          <a:xfrm>
            <a:off x="3465576" y="2148840"/>
            <a:ext cx="2404872" cy="256032"/>
          </a:xfrm>
          <a:prstGeom prst="rect">
            <a:avLst/>
          </a:prstGeom>
          <a:solidFill>
            <a:srgbClr val="E31837"/>
          </a:solidFill>
          <a:ln w="8255">
            <a:solidFill>
              <a:srgbClr val="E31837"/>
            </a:solidFill>
            <a:prstDash val="solid"/>
          </a:ln>
        </p:spPr>
        <p:txBody>
          <a:bodyPr/>
          <a:lstStyle/>
          <a:p>
            <a:endParaRPr lang="en-US"/>
          </a:p>
        </p:txBody>
      </p:sp>
      <p:sp>
        <p:nvSpPr>
          <p:cNvPr id="21" name="Text 18"/>
          <p:cNvSpPr/>
          <p:nvPr/>
        </p:nvSpPr>
        <p:spPr>
          <a:xfrm>
            <a:off x="3538728" y="2148840"/>
            <a:ext cx="2258568" cy="256032"/>
          </a:xfrm>
          <a:prstGeom prst="rect">
            <a:avLst/>
          </a:prstGeom>
          <a:noFill/>
          <a:ln/>
        </p:spPr>
        <p:txBody>
          <a:bodyPr wrap="square" lIns="0" tIns="0" rIns="0" bIns="0" rtlCol="0" anchor="ctr">
            <a:normAutofit/>
          </a:bodyPr>
          <a:lstStyle/>
          <a:p>
            <a:pPr marL="0" indent="0">
              <a:buNone/>
            </a:pPr>
            <a:r>
              <a:rPr lang="en-US" sz="930" b="1" dirty="0">
                <a:solidFill>
                  <a:srgbClr val="FFFFFF"/>
                </a:solidFill>
                <a:latin typeface="Arial" pitchFamily="34" charset="0"/>
                <a:ea typeface="Arial" pitchFamily="34" charset="-122"/>
                <a:cs typeface="Arial" pitchFamily="34" charset="-120"/>
              </a:rPr>
              <a:t>FIRST PROOF</a:t>
            </a:r>
            <a:endParaRPr lang="en-US" sz="930" dirty="0"/>
          </a:p>
        </p:txBody>
      </p:sp>
      <p:pic>
        <p:nvPicPr>
          <p:cNvPr id="22" name="Image 1" descr="/mnt/data/atmos_exec_v3/assets/appliance_8.png"/>
          <p:cNvPicPr>
            <a:picLocks noChangeAspect="1"/>
          </p:cNvPicPr>
          <p:nvPr/>
        </p:nvPicPr>
        <p:blipFill>
          <a:blip r:embed="rId5"/>
          <a:stretch>
            <a:fillRect/>
          </a:stretch>
        </p:blipFill>
        <p:spPr>
          <a:xfrm>
            <a:off x="3282696" y="2514600"/>
            <a:ext cx="2788920" cy="1508760"/>
          </a:xfrm>
          <a:prstGeom prst="rect">
            <a:avLst/>
          </a:prstGeom>
        </p:spPr>
      </p:pic>
      <p:sp>
        <p:nvSpPr>
          <p:cNvPr id="23" name="Text 19"/>
          <p:cNvSpPr/>
          <p:nvPr/>
        </p:nvSpPr>
        <p:spPr>
          <a:xfrm>
            <a:off x="3483864" y="3941064"/>
            <a:ext cx="2386584" cy="448056"/>
          </a:xfrm>
          <a:prstGeom prst="rect">
            <a:avLst/>
          </a:prstGeom>
          <a:noFill/>
          <a:ln/>
        </p:spPr>
        <p:txBody>
          <a:bodyPr wrap="square" lIns="0" tIns="0" rIns="0" bIns="0" rtlCol="0" anchor="ctr">
            <a:normAutofit/>
          </a:bodyPr>
          <a:lstStyle/>
          <a:p>
            <a:pPr marL="0" indent="0">
              <a:buNone/>
            </a:pPr>
            <a:r>
              <a:rPr lang="en-US" sz="1340" b="1" dirty="0">
                <a:solidFill>
                  <a:srgbClr val="18191D"/>
                </a:solidFill>
                <a:latin typeface="Arial" pitchFamily="34" charset="0"/>
                <a:ea typeface="Arial" pitchFamily="34" charset="-122"/>
                <a:cs typeface="Arial" pitchFamily="34" charset="-120"/>
              </a:rPr>
              <a:t>DEPARTMENTAL / ENTERPRISE 8</a:t>
            </a:r>
            <a:endParaRPr lang="en-US" sz="1340" dirty="0"/>
          </a:p>
        </p:txBody>
      </p:sp>
      <p:sp>
        <p:nvSpPr>
          <p:cNvPr id="24" name="Text 20"/>
          <p:cNvSpPr/>
          <p:nvPr/>
        </p:nvSpPr>
        <p:spPr>
          <a:xfrm>
            <a:off x="3483864" y="4489704"/>
            <a:ext cx="2377440" cy="292608"/>
          </a:xfrm>
          <a:prstGeom prst="rect">
            <a:avLst/>
          </a:prstGeom>
          <a:noFill/>
          <a:ln/>
        </p:spPr>
        <p:txBody>
          <a:bodyPr wrap="square" lIns="0" tIns="0" rIns="0" bIns="0" rtlCol="0" anchor="ctr">
            <a:normAutofit/>
          </a:bodyPr>
          <a:lstStyle/>
          <a:p>
            <a:pPr marL="0" indent="0">
              <a:buNone/>
            </a:pPr>
            <a:r>
              <a:rPr lang="en-US" sz="1400" b="1" dirty="0">
                <a:solidFill>
                  <a:srgbClr val="E31837"/>
                </a:solidFill>
                <a:latin typeface="Arial" pitchFamily="34" charset="0"/>
                <a:ea typeface="Arial" pitchFamily="34" charset="-122"/>
                <a:cs typeface="Arial" pitchFamily="34" charset="-120"/>
              </a:rPr>
              <a:t>1.024 TB nominal HBF</a:t>
            </a:r>
            <a:endParaRPr lang="en-US" sz="1400" dirty="0"/>
          </a:p>
        </p:txBody>
      </p:sp>
      <p:sp>
        <p:nvSpPr>
          <p:cNvPr id="25" name="Text 21"/>
          <p:cNvSpPr/>
          <p:nvPr/>
        </p:nvSpPr>
        <p:spPr>
          <a:xfrm>
            <a:off x="3483864" y="4882896"/>
            <a:ext cx="2386584" cy="521208"/>
          </a:xfrm>
          <a:prstGeom prst="rect">
            <a:avLst/>
          </a:prstGeom>
          <a:noFill/>
          <a:ln/>
        </p:spPr>
        <p:txBody>
          <a:bodyPr wrap="square" lIns="0" tIns="0" rIns="0" bIns="0" rtlCol="0" anchor="ctr">
            <a:normAutofit lnSpcReduction="10000"/>
          </a:bodyPr>
          <a:lstStyle/>
          <a:p>
            <a:pPr marL="0" indent="0">
              <a:buNone/>
            </a:pPr>
            <a:r>
              <a:rPr lang="en-US" sz="1250" dirty="0">
                <a:solidFill>
                  <a:srgbClr val="5B6169"/>
                </a:solidFill>
                <a:latin typeface="Arial" pitchFamily="34" charset="0"/>
                <a:ea typeface="Arial" pitchFamily="34" charset="-122"/>
                <a:cs typeface="Arial" pitchFamily="34" charset="-120"/>
              </a:rPr>
              <a:t>D8 / teams and site services</a:t>
            </a:r>
            <a:endParaRPr lang="en-US" sz="1250" dirty="0"/>
          </a:p>
          <a:p>
            <a:pPr marL="0" indent="0">
              <a:buNone/>
            </a:pPr>
            <a:r>
              <a:rPr lang="en-US" sz="1250" dirty="0">
                <a:solidFill>
                  <a:srgbClr val="5B6169"/>
                </a:solidFill>
                <a:latin typeface="Arial" pitchFamily="34" charset="0"/>
                <a:ea typeface="Arial" pitchFamily="34" charset="-122"/>
                <a:cs typeface="Arial" pitchFamily="34" charset="-120"/>
              </a:rPr>
              <a:t>E8 / same capacity + enterprise lifecycle</a:t>
            </a:r>
            <a:endParaRPr lang="en-US" sz="1250" dirty="0"/>
          </a:p>
        </p:txBody>
      </p:sp>
      <p:sp>
        <p:nvSpPr>
          <p:cNvPr id="26" name="Shape 22"/>
          <p:cNvSpPr/>
          <p:nvPr/>
        </p:nvSpPr>
        <p:spPr>
          <a:xfrm>
            <a:off x="6190488" y="2020824"/>
            <a:ext cx="2651760" cy="3520440"/>
          </a:xfrm>
          <a:prstGeom prst="rect">
            <a:avLst/>
          </a:prstGeom>
          <a:solidFill>
            <a:srgbClr val="F3F4F6"/>
          </a:solidFill>
          <a:ln w="8255">
            <a:solidFill>
              <a:srgbClr val="F3F4F6"/>
            </a:solidFill>
            <a:prstDash val="solid"/>
          </a:ln>
        </p:spPr>
        <p:txBody>
          <a:bodyPr/>
          <a:lstStyle/>
          <a:p>
            <a:endParaRPr lang="en-US"/>
          </a:p>
        </p:txBody>
      </p:sp>
      <p:sp>
        <p:nvSpPr>
          <p:cNvPr id="27" name="Shape 23"/>
          <p:cNvSpPr/>
          <p:nvPr/>
        </p:nvSpPr>
        <p:spPr>
          <a:xfrm>
            <a:off x="6309360" y="2148840"/>
            <a:ext cx="2404872" cy="256032"/>
          </a:xfrm>
          <a:prstGeom prst="rect">
            <a:avLst/>
          </a:prstGeom>
          <a:solidFill>
            <a:srgbClr val="E31837"/>
          </a:solidFill>
          <a:ln w="8255">
            <a:solidFill>
              <a:srgbClr val="E31837"/>
            </a:solidFill>
            <a:prstDash val="solid"/>
          </a:ln>
        </p:spPr>
        <p:txBody>
          <a:bodyPr/>
          <a:lstStyle/>
          <a:p>
            <a:endParaRPr lang="en-US"/>
          </a:p>
        </p:txBody>
      </p:sp>
      <p:sp>
        <p:nvSpPr>
          <p:cNvPr id="28" name="Text 24"/>
          <p:cNvSpPr/>
          <p:nvPr/>
        </p:nvSpPr>
        <p:spPr>
          <a:xfrm>
            <a:off x="6382512" y="2148840"/>
            <a:ext cx="2258568" cy="256032"/>
          </a:xfrm>
          <a:prstGeom prst="rect">
            <a:avLst/>
          </a:prstGeom>
          <a:noFill/>
          <a:ln/>
        </p:spPr>
        <p:txBody>
          <a:bodyPr wrap="square" lIns="0" tIns="0" rIns="0" bIns="0" rtlCol="0" anchor="ctr">
            <a:normAutofit/>
          </a:bodyPr>
          <a:lstStyle/>
          <a:p>
            <a:pPr marL="0" indent="0">
              <a:buNone/>
            </a:pPr>
            <a:r>
              <a:rPr lang="en-US" sz="930" b="1" dirty="0">
                <a:solidFill>
                  <a:srgbClr val="FFFFFF"/>
                </a:solidFill>
                <a:latin typeface="Arial" pitchFamily="34" charset="0"/>
                <a:ea typeface="Arial" pitchFamily="34" charset="-122"/>
                <a:cs typeface="Arial" pitchFamily="34" charset="-120"/>
              </a:rPr>
              <a:t>FIRST PROOF</a:t>
            </a:r>
            <a:endParaRPr lang="en-US" sz="930" dirty="0"/>
          </a:p>
        </p:txBody>
      </p:sp>
      <p:pic>
        <p:nvPicPr>
          <p:cNvPr id="29" name="Image 2" descr="/mnt/data/atmos_exec_v3/assets/appliance_16.png"/>
          <p:cNvPicPr>
            <a:picLocks noChangeAspect="1"/>
          </p:cNvPicPr>
          <p:nvPr/>
        </p:nvPicPr>
        <p:blipFill>
          <a:blip r:embed="rId6"/>
          <a:stretch>
            <a:fillRect/>
          </a:stretch>
        </p:blipFill>
        <p:spPr>
          <a:xfrm>
            <a:off x="6126480" y="2514600"/>
            <a:ext cx="2788920" cy="1508760"/>
          </a:xfrm>
          <a:prstGeom prst="rect">
            <a:avLst/>
          </a:prstGeom>
        </p:spPr>
      </p:pic>
      <p:sp>
        <p:nvSpPr>
          <p:cNvPr id="30" name="Text 25"/>
          <p:cNvSpPr/>
          <p:nvPr/>
        </p:nvSpPr>
        <p:spPr>
          <a:xfrm>
            <a:off x="6327648" y="3941064"/>
            <a:ext cx="2386584" cy="448056"/>
          </a:xfrm>
          <a:prstGeom prst="rect">
            <a:avLst/>
          </a:prstGeom>
          <a:noFill/>
          <a:ln/>
        </p:spPr>
        <p:txBody>
          <a:bodyPr wrap="square" lIns="0" tIns="0" rIns="0" bIns="0" rtlCol="0" anchor="ctr">
            <a:normAutofit/>
          </a:bodyPr>
          <a:lstStyle/>
          <a:p>
            <a:pPr marL="0" indent="0">
              <a:buNone/>
            </a:pPr>
            <a:r>
              <a:rPr lang="en-US" sz="1340" b="1" dirty="0">
                <a:solidFill>
                  <a:srgbClr val="18191D"/>
                </a:solidFill>
                <a:latin typeface="Arial" pitchFamily="34" charset="0"/>
                <a:ea typeface="Arial" pitchFamily="34" charset="-122"/>
                <a:cs typeface="Arial" pitchFamily="34" charset="-120"/>
              </a:rPr>
              <a:t>ENTERPRISE 16</a:t>
            </a:r>
            <a:endParaRPr lang="en-US" sz="1340" dirty="0"/>
          </a:p>
        </p:txBody>
      </p:sp>
      <p:sp>
        <p:nvSpPr>
          <p:cNvPr id="31" name="Text 26"/>
          <p:cNvSpPr/>
          <p:nvPr/>
        </p:nvSpPr>
        <p:spPr>
          <a:xfrm>
            <a:off x="6327648" y="4489704"/>
            <a:ext cx="2377440" cy="292608"/>
          </a:xfrm>
          <a:prstGeom prst="rect">
            <a:avLst/>
          </a:prstGeom>
          <a:noFill/>
          <a:ln/>
        </p:spPr>
        <p:txBody>
          <a:bodyPr wrap="square" lIns="0" tIns="0" rIns="0" bIns="0" rtlCol="0" anchor="ctr">
            <a:normAutofit/>
          </a:bodyPr>
          <a:lstStyle/>
          <a:p>
            <a:pPr marL="0" indent="0">
              <a:buNone/>
            </a:pPr>
            <a:r>
              <a:rPr lang="en-US" sz="1400" b="1" dirty="0">
                <a:solidFill>
                  <a:srgbClr val="E31837"/>
                </a:solidFill>
                <a:latin typeface="Arial" pitchFamily="34" charset="0"/>
                <a:ea typeface="Arial" pitchFamily="34" charset="-122"/>
                <a:cs typeface="Arial" pitchFamily="34" charset="-120"/>
              </a:rPr>
              <a:t>2.048 TB nominal HBF</a:t>
            </a:r>
            <a:endParaRPr lang="en-US" sz="1400" dirty="0"/>
          </a:p>
        </p:txBody>
      </p:sp>
      <p:sp>
        <p:nvSpPr>
          <p:cNvPr id="32" name="Text 27"/>
          <p:cNvSpPr/>
          <p:nvPr/>
        </p:nvSpPr>
        <p:spPr>
          <a:xfrm>
            <a:off x="6327648" y="4882896"/>
            <a:ext cx="2386584" cy="521208"/>
          </a:xfrm>
          <a:prstGeom prst="rect">
            <a:avLst/>
          </a:prstGeom>
          <a:noFill/>
          <a:ln/>
        </p:spPr>
        <p:txBody>
          <a:bodyPr wrap="square" lIns="0" tIns="0" rIns="0" bIns="0" rtlCol="0" anchor="ctr">
            <a:normAutofit/>
          </a:bodyPr>
          <a:lstStyle/>
          <a:p>
            <a:pPr marL="0" indent="0">
              <a:buNone/>
            </a:pPr>
            <a:r>
              <a:rPr lang="en-US" sz="1250" dirty="0">
                <a:solidFill>
                  <a:srgbClr val="5B6169"/>
                </a:solidFill>
                <a:latin typeface="Arial" pitchFamily="34" charset="0"/>
                <a:ea typeface="Arial" pitchFamily="34" charset="-122"/>
                <a:cs typeface="Arial" pitchFamily="34" charset="-120"/>
              </a:rPr>
              <a:t>E16 / multi-service production and complete-replica HA</a:t>
            </a:r>
            <a:endParaRPr lang="en-US" sz="1250" dirty="0"/>
          </a:p>
        </p:txBody>
      </p:sp>
      <p:sp>
        <p:nvSpPr>
          <p:cNvPr id="33" name="Shape 28"/>
          <p:cNvSpPr/>
          <p:nvPr/>
        </p:nvSpPr>
        <p:spPr>
          <a:xfrm>
            <a:off x="9034272" y="2020824"/>
            <a:ext cx="2651760" cy="3520440"/>
          </a:xfrm>
          <a:prstGeom prst="rect">
            <a:avLst/>
          </a:prstGeom>
          <a:solidFill>
            <a:srgbClr val="F3F4F6"/>
          </a:solidFill>
          <a:ln w="8255">
            <a:solidFill>
              <a:srgbClr val="F3F4F6"/>
            </a:solidFill>
            <a:prstDash val="solid"/>
          </a:ln>
        </p:spPr>
        <p:txBody>
          <a:bodyPr/>
          <a:lstStyle/>
          <a:p>
            <a:endParaRPr lang="en-US"/>
          </a:p>
        </p:txBody>
      </p:sp>
      <p:sp>
        <p:nvSpPr>
          <p:cNvPr id="34" name="Shape 29"/>
          <p:cNvSpPr/>
          <p:nvPr/>
        </p:nvSpPr>
        <p:spPr>
          <a:xfrm>
            <a:off x="9153144" y="2148840"/>
            <a:ext cx="2404872" cy="256032"/>
          </a:xfrm>
          <a:prstGeom prst="rect">
            <a:avLst/>
          </a:prstGeom>
          <a:solidFill>
            <a:srgbClr val="FDECEF"/>
          </a:solidFill>
          <a:ln w="8255">
            <a:solidFill>
              <a:srgbClr val="FDECEF"/>
            </a:solidFill>
            <a:prstDash val="solid"/>
          </a:ln>
        </p:spPr>
        <p:txBody>
          <a:bodyPr/>
          <a:lstStyle/>
          <a:p>
            <a:endParaRPr lang="en-US"/>
          </a:p>
        </p:txBody>
      </p:sp>
      <p:sp>
        <p:nvSpPr>
          <p:cNvPr id="35" name="Text 30"/>
          <p:cNvSpPr/>
          <p:nvPr/>
        </p:nvSpPr>
        <p:spPr>
          <a:xfrm>
            <a:off x="9226296" y="2148840"/>
            <a:ext cx="2258568"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STRETCH</a:t>
            </a:r>
            <a:endParaRPr lang="en-US" sz="930" dirty="0"/>
          </a:p>
        </p:txBody>
      </p:sp>
      <p:pic>
        <p:nvPicPr>
          <p:cNvPr id="36" name="Image 3" descr="/mnt/data/atmos_exec_v3/assets/appliance_24.png"/>
          <p:cNvPicPr>
            <a:picLocks noChangeAspect="1"/>
          </p:cNvPicPr>
          <p:nvPr/>
        </p:nvPicPr>
        <p:blipFill>
          <a:blip r:embed="rId7"/>
          <a:stretch>
            <a:fillRect/>
          </a:stretch>
        </p:blipFill>
        <p:spPr>
          <a:xfrm>
            <a:off x="8970264" y="2514600"/>
            <a:ext cx="2788920" cy="1508760"/>
          </a:xfrm>
          <a:prstGeom prst="rect">
            <a:avLst/>
          </a:prstGeom>
        </p:spPr>
      </p:pic>
      <p:sp>
        <p:nvSpPr>
          <p:cNvPr id="37" name="Text 31"/>
          <p:cNvSpPr/>
          <p:nvPr/>
        </p:nvSpPr>
        <p:spPr>
          <a:xfrm>
            <a:off x="9171432" y="3941064"/>
            <a:ext cx="2386584" cy="448056"/>
          </a:xfrm>
          <a:prstGeom prst="rect">
            <a:avLst/>
          </a:prstGeom>
          <a:noFill/>
          <a:ln/>
        </p:spPr>
        <p:txBody>
          <a:bodyPr wrap="square" lIns="0" tIns="0" rIns="0" bIns="0" rtlCol="0" anchor="ctr">
            <a:normAutofit/>
          </a:bodyPr>
          <a:lstStyle/>
          <a:p>
            <a:pPr marL="0" indent="0">
              <a:buNone/>
            </a:pPr>
            <a:r>
              <a:rPr lang="en-US" sz="1340" b="1" dirty="0">
                <a:solidFill>
                  <a:srgbClr val="18191D"/>
                </a:solidFill>
                <a:latin typeface="Arial" pitchFamily="34" charset="0"/>
                <a:ea typeface="Arial" pitchFamily="34" charset="-122"/>
                <a:cs typeface="Arial" pitchFamily="34" charset="-120"/>
              </a:rPr>
              <a:t>ENTERPRISE 24</a:t>
            </a:r>
            <a:endParaRPr lang="en-US" sz="1340" dirty="0"/>
          </a:p>
        </p:txBody>
      </p:sp>
      <p:sp>
        <p:nvSpPr>
          <p:cNvPr id="38" name="Text 32"/>
          <p:cNvSpPr/>
          <p:nvPr/>
        </p:nvSpPr>
        <p:spPr>
          <a:xfrm>
            <a:off x="9171432" y="4489704"/>
            <a:ext cx="2377440" cy="292608"/>
          </a:xfrm>
          <a:prstGeom prst="rect">
            <a:avLst/>
          </a:prstGeom>
          <a:noFill/>
          <a:ln/>
        </p:spPr>
        <p:txBody>
          <a:bodyPr wrap="square" lIns="0" tIns="0" rIns="0" bIns="0" rtlCol="0" anchor="ctr">
            <a:normAutofit/>
          </a:bodyPr>
          <a:lstStyle/>
          <a:p>
            <a:pPr marL="0" indent="0">
              <a:buNone/>
            </a:pPr>
            <a:r>
              <a:rPr lang="en-US" sz="1400" b="1" dirty="0">
                <a:solidFill>
                  <a:srgbClr val="E31837"/>
                </a:solidFill>
                <a:latin typeface="Arial" pitchFamily="34" charset="0"/>
                <a:ea typeface="Arial" pitchFamily="34" charset="-122"/>
                <a:cs typeface="Arial" pitchFamily="34" charset="-120"/>
              </a:rPr>
              <a:t>3.072 TB nominal HBF</a:t>
            </a:r>
            <a:endParaRPr lang="en-US" sz="1400" dirty="0"/>
          </a:p>
        </p:txBody>
      </p:sp>
      <p:sp>
        <p:nvSpPr>
          <p:cNvPr id="39" name="Text 33"/>
          <p:cNvSpPr/>
          <p:nvPr/>
        </p:nvSpPr>
        <p:spPr>
          <a:xfrm>
            <a:off x="9171432" y="4882896"/>
            <a:ext cx="2386584" cy="521208"/>
          </a:xfrm>
          <a:prstGeom prst="rect">
            <a:avLst/>
          </a:prstGeom>
          <a:noFill/>
          <a:ln/>
        </p:spPr>
        <p:txBody>
          <a:bodyPr wrap="square" lIns="0" tIns="0" rIns="0" bIns="0" rtlCol="0" anchor="ctr">
            <a:normAutofit/>
          </a:bodyPr>
          <a:lstStyle/>
          <a:p>
            <a:pPr marL="0" indent="0">
              <a:buNone/>
            </a:pPr>
            <a:r>
              <a:rPr lang="en-US" sz="1250" dirty="0">
                <a:solidFill>
                  <a:srgbClr val="5B6169"/>
                </a:solidFill>
                <a:latin typeface="Arial" pitchFamily="34" charset="0"/>
                <a:ea typeface="Arial" pitchFamily="34" charset="-122"/>
                <a:cs typeface="Arial" pitchFamily="34" charset="-120"/>
              </a:rPr>
              <a:t>E24 / six-domain capacity expansion only after E16 proof</a:t>
            </a:r>
            <a:endParaRPr lang="en-US" sz="1250" dirty="0"/>
          </a:p>
        </p:txBody>
      </p:sp>
      <p:sp>
        <p:nvSpPr>
          <p:cNvPr id="40" name="Shape 34"/>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41" name="Text 35"/>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100 GB/device is the study allocation. HBF is distributed residency—not coherent GPU memory. Concepts are hypothetical.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OEM SPECIFICATION</a:t>
            </a:r>
            <a:endParaRPr lang="en-US" sz="103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06</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[S25] [S26] [S27] [S28]</a:t>
            </a:r>
            <a:endParaRPr lang="en-US" sz="820" dirty="0"/>
          </a:p>
        </p:txBody>
      </p:sp>
      <p:sp>
        <p:nvSpPr>
          <p:cNvPr id="88" name="Shape 86"/>
          <p:cNvSpPr/>
          <p:nvPr/>
        </p:nvSpPr>
        <p:spPr>
          <a:xfrm>
            <a:off x="502920" y="5733288"/>
            <a:ext cx="11183112" cy="310896"/>
          </a:xfrm>
          <a:prstGeom prst="rect">
            <a:avLst/>
          </a:prstGeom>
          <a:solidFill>
            <a:srgbClr val="FDECEF"/>
          </a:solidFill>
          <a:ln w="8255">
            <a:solidFill>
              <a:srgbClr val="FDECEF"/>
            </a:solidFill>
            <a:prstDash val="solid"/>
          </a:ln>
        </p:spPr>
        <p:txBody>
          <a:bodyPr/>
          <a:lstStyle/>
          <a:p>
            <a:endParaRPr lang="en-US"/>
          </a:p>
        </p:txBody>
      </p:sp>
      <p:sp>
        <p:nvSpPr>
          <p:cNvPr id="89" name="Text 87"/>
          <p:cNvSpPr/>
          <p:nvPr/>
        </p:nvSpPr>
        <p:spPr>
          <a:xfrm>
            <a:off x="635508" y="5859017"/>
            <a:ext cx="10917936" cy="242316"/>
          </a:xfrm>
          <a:prstGeom prst="rect">
            <a:avLst/>
          </a:prstGeom>
          <a:noFill/>
          <a:ln/>
        </p:spPr>
        <p:txBody>
          <a:bodyPr wrap="square" lIns="0" tIns="0" rIns="0" bIns="0" rtlCol="0" anchor="ctr">
            <a:normAutofit/>
          </a:bodyPr>
          <a:lstStyle/>
          <a:p>
            <a:r>
              <a:rPr lang="en-US" sz="1200" b="1" dirty="0">
                <a:solidFill>
                  <a:srgbClr val="E31837"/>
                </a:solidFill>
                <a:latin typeface="Arial" pitchFamily="34" charset="0"/>
                <a:ea typeface="Arial" pitchFamily="34" charset="-122"/>
                <a:cs typeface="Arial" pitchFamily="34" charset="-120"/>
              </a:rPr>
              <a:t>Workstation: local catalog + APIs. Departmental: projects, quotas and separate queues. Enterprise: identity, audit, backup and support.</a:t>
            </a:r>
          </a:p>
          <a:p>
            <a:endParaRPr lang="en-US" sz="1200" dirty="0"/>
          </a:p>
        </p:txBody>
      </p:sp>
      <p:sp>
        <p:nvSpPr>
          <p:cNvPr id="90" name="TextBox 89">
            <a:extLst>
              <a:ext uri="{FF2B5EF4-FFF2-40B4-BE49-F238E27FC236}">
                <a16:creationId xmlns:a16="http://schemas.microsoft.com/office/drawing/2014/main" id="{8E4792F2-0171-CB3D-ADD7-BBDABF4A5970}"/>
              </a:ext>
            </a:extLst>
          </p:cNvPr>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dirty="0">
                <a:solidFill>
                  <a:srgbClr val="183246"/>
                </a:solidFill>
                <a:latin typeface="Aptos"/>
              </a:rPr>
              <a:t>Named SKUs. Explicit system and service profiles.</a:t>
            </a:r>
          </a:p>
        </p:txBody>
      </p:sp>
      <p:sp>
        <p:nvSpPr>
          <p:cNvPr id="91" name="TextBox 90">
            <a:extLst>
              <a:ext uri="{FF2B5EF4-FFF2-40B4-BE49-F238E27FC236}">
                <a16:creationId xmlns:a16="http://schemas.microsoft.com/office/drawing/2014/main" id="{1F54EA96-BF9D-F057-65BB-E3DC66609DCE}"/>
              </a:ext>
            </a:extLst>
          </p:cNvPr>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Five commercial profiles share four device densities; Enterprise 8 adds production integration and serviceability.</a:t>
            </a:r>
          </a:p>
        </p:txBody>
      </p:sp>
      <p:sp>
        <p:nvSpPr>
          <p:cNvPr id="92" name="Rectangle 91">
            <a:extLst>
              <a:ext uri="{FF2B5EF4-FFF2-40B4-BE49-F238E27FC236}">
                <a16:creationId xmlns:a16="http://schemas.microsoft.com/office/drawing/2014/main" id="{0EB6702B-F81C-8061-048B-A0416572B505}"/>
              </a:ext>
            </a:extLst>
          </p:cNvPr>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F5D40648-54E2-E176-CBE8-59BDCD4211F5}"/>
              </a:ext>
            </a:extLst>
          </p:cNvPr>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4" name="TextBox 93">
            <a:hlinkClick r:id="rId4"/>
            <a:extLst>
              <a:ext uri="{FF2B5EF4-FFF2-40B4-BE49-F238E27FC236}">
                <a16:creationId xmlns:a16="http://schemas.microsoft.com/office/drawing/2014/main" id="{19BF0FA7-58C6-FCCD-5BD5-39E6280408CE}"/>
              </a:ext>
            </a:extLst>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95" name="TextBox 94">
            <a:hlinkClick r:id="rId5"/>
            <a:extLst>
              <a:ext uri="{FF2B5EF4-FFF2-40B4-BE49-F238E27FC236}">
                <a16:creationId xmlns:a16="http://schemas.microsoft.com/office/drawing/2014/main" id="{BF7FEB8D-68C8-446A-98EC-E1AFF19A6B4D}"/>
              </a:ext>
            </a:extLst>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2</a:t>
            </a:r>
          </a:p>
        </p:txBody>
      </p:sp>
      <p:graphicFrame>
        <p:nvGraphicFramePr>
          <p:cNvPr id="159" name="Table 158">
            <a:extLst>
              <a:ext uri="{FF2B5EF4-FFF2-40B4-BE49-F238E27FC236}">
                <a16:creationId xmlns:a16="http://schemas.microsoft.com/office/drawing/2014/main" id="{12654821-176C-4B83-9994-FA8F3485BB30}"/>
              </a:ext>
            </a:extLst>
          </p:cNvPr>
          <p:cNvGraphicFramePr>
            <a:graphicFrameLocks noGrp="1"/>
          </p:cNvGraphicFramePr>
          <p:nvPr>
            <p:extLst>
              <p:ext uri="{D42A27DB-BD31-4B8C-83A1-F6EECF244321}">
                <p14:modId xmlns:p14="http://schemas.microsoft.com/office/powerpoint/2010/main" val="839393505"/>
              </p:ext>
            </p:extLst>
          </p:nvPr>
        </p:nvGraphicFramePr>
        <p:xfrm>
          <a:off x="502920" y="1765479"/>
          <a:ext cx="10744200" cy="3831791"/>
        </p:xfrm>
        <a:graphic>
          <a:graphicData uri="http://schemas.openxmlformats.org/drawingml/2006/table">
            <a:tbl>
              <a:tblPr firstRow="1" firstCol="1" bandRow="1">
                <a:tableStyleId>{5C22544A-7EE6-4342-B048-85BDC9FD1C3A}</a:tableStyleId>
              </a:tblPr>
              <a:tblGrid>
                <a:gridCol w="1512699">
                  <a:extLst>
                    <a:ext uri="{9D8B030D-6E8A-4147-A177-3AD203B41FA5}">
                      <a16:colId xmlns:a16="http://schemas.microsoft.com/office/drawing/2014/main" val="3959619986"/>
                    </a:ext>
                  </a:extLst>
                </a:gridCol>
                <a:gridCol w="1743299">
                  <a:extLst>
                    <a:ext uri="{9D8B030D-6E8A-4147-A177-3AD203B41FA5}">
                      <a16:colId xmlns:a16="http://schemas.microsoft.com/office/drawing/2014/main" val="3016715042"/>
                    </a:ext>
                  </a:extLst>
                </a:gridCol>
                <a:gridCol w="1897330">
                  <a:extLst>
                    <a:ext uri="{9D8B030D-6E8A-4147-A177-3AD203B41FA5}">
                      <a16:colId xmlns:a16="http://schemas.microsoft.com/office/drawing/2014/main" val="464012753"/>
                    </a:ext>
                  </a:extLst>
                </a:gridCol>
                <a:gridCol w="1897330">
                  <a:extLst>
                    <a:ext uri="{9D8B030D-6E8A-4147-A177-3AD203B41FA5}">
                      <a16:colId xmlns:a16="http://schemas.microsoft.com/office/drawing/2014/main" val="3293216414"/>
                    </a:ext>
                  </a:extLst>
                </a:gridCol>
                <a:gridCol w="3693542">
                  <a:extLst>
                    <a:ext uri="{9D8B030D-6E8A-4147-A177-3AD203B41FA5}">
                      <a16:colId xmlns:a16="http://schemas.microsoft.com/office/drawing/2014/main" val="1775532136"/>
                    </a:ext>
                  </a:extLst>
                </a:gridCol>
              </a:tblGrid>
              <a:tr h="315229">
                <a:tc>
                  <a:txBody>
                    <a:bodyPr/>
                    <a:lstStyle/>
                    <a:p>
                      <a:pPr marL="0" marR="0">
                        <a:lnSpc>
                          <a:spcPct val="105000"/>
                        </a:lnSpc>
                        <a:spcAft>
                          <a:spcPts val="200"/>
                        </a:spcAft>
                        <a:buNone/>
                      </a:pPr>
                      <a:r>
                        <a:rPr lang="en-US" sz="850" b="1" dirty="0">
                          <a:effectLst/>
                        </a:rPr>
                        <a:t>Subsystem</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W4</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D8 / E8</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E16</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E24 / stretch</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628408060"/>
                  </a:ext>
                </a:extLst>
              </a:tr>
              <a:tr h="514175">
                <a:tc>
                  <a:txBody>
                    <a:bodyPr/>
                    <a:lstStyle/>
                    <a:p>
                      <a:pPr marL="0" marR="0">
                        <a:lnSpc>
                          <a:spcPct val="105000"/>
                        </a:lnSpc>
                        <a:spcAft>
                          <a:spcPts val="200"/>
                        </a:spcAft>
                        <a:buNone/>
                      </a:pPr>
                      <a:r>
                        <a:rPr lang="en-US" sz="850" b="1">
                          <a:effectLst/>
                        </a:rPr>
                        <a:t>Host CPU</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 high-lane EPYC 9135-class; 16 cores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 EPYC 9355P-class; 32 cores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EPYC 9355-class; 32 cores each</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high-lane sockets; three groups/root study</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717400888"/>
                  </a:ext>
                </a:extLst>
              </a:tr>
              <a:tr h="315229">
                <a:tc>
                  <a:txBody>
                    <a:bodyPr/>
                    <a:lstStyle/>
                    <a:p>
                      <a:pPr marL="0" marR="0">
                        <a:lnSpc>
                          <a:spcPct val="105000"/>
                        </a:lnSpc>
                        <a:spcAft>
                          <a:spcPts val="200"/>
                        </a:spcAft>
                        <a:buNone/>
                      </a:pPr>
                      <a:r>
                        <a:rPr lang="en-US" sz="850" b="1">
                          <a:effectLst/>
                        </a:rPr>
                        <a:t>Host DRAM</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128–256GB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256–512GB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512GB–1TB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1TB+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2303434253"/>
                  </a:ext>
                </a:extLst>
              </a:tr>
              <a:tr h="315229">
                <a:tc>
                  <a:txBody>
                    <a:bodyPr/>
                    <a:lstStyle/>
                    <a:p>
                      <a:pPr marL="0" marR="0">
                        <a:lnSpc>
                          <a:spcPct val="105000"/>
                        </a:lnSpc>
                        <a:spcAft>
                          <a:spcPts val="200"/>
                        </a:spcAft>
                        <a:buNone/>
                      </a:pPr>
                      <a:r>
                        <a:rPr lang="en-US" sz="850" b="1">
                          <a:effectLst/>
                        </a:rPr>
                        <a:t>Data NVMe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1.92TB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3.84TB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7.68TB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15.36TB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073970950"/>
                  </a:ext>
                </a:extLst>
              </a:tr>
              <a:tr h="514175">
                <a:tc>
                  <a:txBody>
                    <a:bodyPr/>
                    <a:lstStyle/>
                    <a:p>
                      <a:pPr marL="0" marR="0">
                        <a:lnSpc>
                          <a:spcPct val="105000"/>
                        </a:lnSpc>
                        <a:spcAft>
                          <a:spcPts val="200"/>
                        </a:spcAft>
                        <a:buNone/>
                      </a:pPr>
                      <a:r>
                        <a:rPr lang="en-US" sz="850" b="1">
                          <a:effectLst/>
                        </a:rPr>
                        <a:t>Service network</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25GbE; 100GbE option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100GbE; E8 redundant paths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Dual 100/200GbE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Dual 200/400GbE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84103033"/>
                  </a:ext>
                </a:extLst>
              </a:tr>
              <a:tr h="315229">
                <a:tc>
                  <a:txBody>
                    <a:bodyPr/>
                    <a:lstStyle/>
                    <a:p>
                      <a:pPr marL="0" marR="0">
                        <a:lnSpc>
                          <a:spcPct val="105000"/>
                        </a:lnSpc>
                        <a:spcAft>
                          <a:spcPts val="200"/>
                        </a:spcAft>
                        <a:buNone/>
                      </a:pPr>
                      <a:r>
                        <a:rPr lang="en-US" sz="850" b="1">
                          <a:effectLst/>
                        </a:rPr>
                        <a:t>ATMOS topology</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 four-device domain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6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2099882406"/>
                  </a:ext>
                </a:extLst>
              </a:tr>
              <a:tr h="514175">
                <a:tc>
                  <a:txBody>
                    <a:bodyPr/>
                    <a:lstStyle/>
                    <a:p>
                      <a:pPr marL="0" marR="0">
                        <a:lnSpc>
                          <a:spcPct val="105000"/>
                        </a:lnSpc>
                        <a:spcAft>
                          <a:spcPts val="200"/>
                        </a:spcAft>
                        <a:buNone/>
                      </a:pPr>
                      <a:r>
                        <a:rPr lang="en-US" sz="850" b="1">
                          <a:effectLst/>
                        </a:rPr>
                        <a:t>Enclosure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Pedestal / short-depth study</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2U/3U candidate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4U conservative; 2U if proven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4U+; no density promise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778238214"/>
                  </a:ext>
                </a:extLst>
              </a:tr>
              <a:tr h="514175">
                <a:tc>
                  <a:txBody>
                    <a:bodyPr/>
                    <a:lstStyle/>
                    <a:p>
                      <a:pPr marL="0" marR="0">
                        <a:lnSpc>
                          <a:spcPct val="105000"/>
                        </a:lnSpc>
                        <a:spcAft>
                          <a:spcPts val="200"/>
                        </a:spcAft>
                        <a:buNone/>
                      </a:pPr>
                      <a:r>
                        <a:rPr lang="en-US" sz="850" b="1">
                          <a:effectLst/>
                        </a:rPr>
                        <a:t>Device-only power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120–160W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240–320W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480–640W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720–960W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090311130"/>
                  </a:ext>
                </a:extLst>
              </a:tr>
              <a:tr h="514175">
                <a:tc>
                  <a:txBody>
                    <a:bodyPr/>
                    <a:lstStyle/>
                    <a:p>
                      <a:pPr marL="0" marR="0">
                        <a:lnSpc>
                          <a:spcPct val="105000"/>
                        </a:lnSpc>
                        <a:spcAft>
                          <a:spcPts val="200"/>
                        </a:spcAft>
                        <a:buNone/>
                      </a:pPr>
                      <a:r>
                        <a:rPr lang="en-US" sz="850" b="1" dirty="0">
                          <a:effectLst/>
                        </a:rPr>
                        <a:t>Whole-node TCO input</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0.45kW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0.8 / 0.9kW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1.5kW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dirty="0">
                          <a:effectLst/>
                        </a:rPr>
                        <a:t>2.2kW assumption</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84862662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CB4376E-023D-DF52-143D-4C130F2555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B12B69-BFE6-AC3C-F9F4-18C60D9B22C6}"/>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a:extLst>
              <a:ext uri="{FF2B5EF4-FFF2-40B4-BE49-F238E27FC236}">
                <a16:creationId xmlns:a16="http://schemas.microsoft.com/office/drawing/2014/main" id="{AA0B361A-5F42-6CDE-B497-34DF573792AA}"/>
              </a:ext>
            </a:extLst>
          </p:cNvPr>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a:extLst>
              <a:ext uri="{FF2B5EF4-FFF2-40B4-BE49-F238E27FC236}">
                <a16:creationId xmlns:a16="http://schemas.microsoft.com/office/drawing/2014/main" id="{6AE289E9-2ED5-1A1F-C39C-F74528FFCE14}"/>
              </a:ext>
            </a:extLst>
          </p:cNvPr>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SERVICE CONTRACT</a:t>
            </a:r>
            <a:endParaRPr lang="en-US" sz="1030" dirty="0"/>
          </a:p>
        </p:txBody>
      </p:sp>
      <p:sp>
        <p:nvSpPr>
          <p:cNvPr id="8" name="Text 6">
            <a:extLst>
              <a:ext uri="{FF2B5EF4-FFF2-40B4-BE49-F238E27FC236}">
                <a16:creationId xmlns:a16="http://schemas.microsoft.com/office/drawing/2014/main" id="{9ECBEBC6-EE4A-0874-1CDF-4B34FAE612EC}"/>
              </a:ext>
            </a:extLst>
          </p:cNvPr>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a:extLst>
              <a:ext uri="{FF2B5EF4-FFF2-40B4-BE49-F238E27FC236}">
                <a16:creationId xmlns:a16="http://schemas.microsoft.com/office/drawing/2014/main" id="{F407960D-5C16-3E2B-7189-A181D118331C}"/>
              </a:ext>
            </a:extLst>
          </p:cNvPr>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07</a:t>
            </a:r>
            <a:endParaRPr lang="en-US" sz="1000" dirty="0"/>
          </a:p>
        </p:txBody>
      </p:sp>
      <p:sp>
        <p:nvSpPr>
          <p:cNvPr id="10" name="Text 8">
            <a:hlinkClick r:id="rId3"/>
            <a:extLst>
              <a:ext uri="{FF2B5EF4-FFF2-40B4-BE49-F238E27FC236}">
                <a16:creationId xmlns:a16="http://schemas.microsoft.com/office/drawing/2014/main" id="{DB99F0E8-2AF5-521B-3245-6C9F29303BF5}"/>
              </a:ext>
            </a:extLst>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§5</a:t>
            </a:r>
            <a:endParaRPr lang="en-US" sz="900" dirty="0"/>
          </a:p>
        </p:txBody>
      </p:sp>
      <p:sp>
        <p:nvSpPr>
          <p:cNvPr id="85" name="Text 0">
            <a:extLst>
              <a:ext uri="{FF2B5EF4-FFF2-40B4-BE49-F238E27FC236}">
                <a16:creationId xmlns:a16="http://schemas.microsoft.com/office/drawing/2014/main" id="{AEA12A3D-392F-2494-3617-574B0D39F475}"/>
              </a:ext>
            </a:extLst>
          </p:cNvPr>
          <p:cNvSpPr/>
          <p:nvPr/>
        </p:nvSpPr>
        <p:spPr>
          <a:xfrm>
            <a:off x="457200" y="530352"/>
            <a:ext cx="11247120" cy="438912"/>
          </a:xfrm>
          <a:prstGeom prst="rect">
            <a:avLst/>
          </a:prstGeom>
          <a:noFill/>
          <a:ln/>
        </p:spPr>
        <p:txBody>
          <a:bodyPr wrap="square" lIns="0" tIns="0" rIns="0" bIns="0" rtlCol="0" anchor="ctr"/>
          <a:lstStyle/>
          <a:p>
            <a:pPr marL="0" indent="0">
              <a:buNone/>
            </a:pPr>
            <a:r>
              <a:rPr lang="en-US" sz="2300" b="1" dirty="0">
                <a:solidFill>
                  <a:srgbClr val="103A5C"/>
                </a:solidFill>
              </a:rPr>
              <a:t>What the customer receives out of the box</a:t>
            </a:r>
            <a:endParaRPr lang="en-US" sz="2300" dirty="0"/>
          </a:p>
        </p:txBody>
      </p:sp>
      <p:sp>
        <p:nvSpPr>
          <p:cNvPr id="86" name="Text 1">
            <a:extLst>
              <a:ext uri="{FF2B5EF4-FFF2-40B4-BE49-F238E27FC236}">
                <a16:creationId xmlns:a16="http://schemas.microsoft.com/office/drawing/2014/main" id="{CA5F13AA-4502-5536-070E-EEEA89C9057D}"/>
              </a:ext>
            </a:extLst>
          </p:cNvPr>
          <p:cNvSpPr/>
          <p:nvPr/>
        </p:nvSpPr>
        <p:spPr>
          <a:xfrm>
            <a:off x="475488" y="969264"/>
            <a:ext cx="11064240" cy="274320"/>
          </a:xfrm>
          <a:prstGeom prst="rect">
            <a:avLst/>
          </a:prstGeom>
          <a:noFill/>
          <a:ln/>
        </p:spPr>
        <p:txBody>
          <a:bodyPr wrap="square" lIns="0" tIns="0" rIns="0" bIns="0" rtlCol="0" anchor="ctr"/>
          <a:lstStyle/>
          <a:p>
            <a:pPr marL="0" indent="0">
              <a:buNone/>
            </a:pPr>
            <a:r>
              <a:rPr lang="en-US" sz="1050" dirty="0">
                <a:solidFill>
                  <a:srgbClr val="5D6C78"/>
                </a:solidFill>
              </a:rPr>
              <a:t>A complete private-AI service platform, not an accelerator kit</a:t>
            </a:r>
            <a:endParaRPr lang="en-US" sz="1050" dirty="0"/>
          </a:p>
        </p:txBody>
      </p:sp>
      <p:sp>
        <p:nvSpPr>
          <p:cNvPr id="87" name="Shape 2">
            <a:extLst>
              <a:ext uri="{FF2B5EF4-FFF2-40B4-BE49-F238E27FC236}">
                <a16:creationId xmlns:a16="http://schemas.microsoft.com/office/drawing/2014/main" id="{A0907455-1578-0529-2244-B45CD66C3DEC}"/>
              </a:ext>
            </a:extLst>
          </p:cNvPr>
          <p:cNvSpPr/>
          <p:nvPr/>
        </p:nvSpPr>
        <p:spPr>
          <a:xfrm>
            <a:off x="5029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88" name="Shape 3">
            <a:extLst>
              <a:ext uri="{FF2B5EF4-FFF2-40B4-BE49-F238E27FC236}">
                <a16:creationId xmlns:a16="http://schemas.microsoft.com/office/drawing/2014/main" id="{9A4BB3F5-0E49-876B-4022-A20A21041D66}"/>
              </a:ext>
            </a:extLst>
          </p:cNvPr>
          <p:cNvSpPr/>
          <p:nvPr/>
        </p:nvSpPr>
        <p:spPr>
          <a:xfrm>
            <a:off x="502920" y="1389888"/>
            <a:ext cx="68580" cy="1719072"/>
          </a:xfrm>
          <a:prstGeom prst="rect">
            <a:avLst/>
          </a:prstGeom>
          <a:solidFill>
            <a:srgbClr val="C63D55"/>
          </a:solidFill>
          <a:ln w="12700">
            <a:solidFill>
              <a:srgbClr val="C63D55"/>
            </a:solidFill>
            <a:prstDash val="solid"/>
          </a:ln>
        </p:spPr>
        <p:txBody>
          <a:bodyPr/>
          <a:lstStyle/>
          <a:p>
            <a:endParaRPr lang="en-US"/>
          </a:p>
        </p:txBody>
      </p:sp>
      <p:sp>
        <p:nvSpPr>
          <p:cNvPr id="89" name="Text 4">
            <a:extLst>
              <a:ext uri="{FF2B5EF4-FFF2-40B4-BE49-F238E27FC236}">
                <a16:creationId xmlns:a16="http://schemas.microsoft.com/office/drawing/2014/main" id="{91D37919-CC10-EBBB-5426-7BFC8C300F7C}"/>
              </a:ext>
            </a:extLst>
          </p:cNvPr>
          <p:cNvSpPr/>
          <p:nvPr/>
        </p:nvSpPr>
        <p:spPr>
          <a:xfrm>
            <a:off x="6675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OEM-qualified appliance</a:t>
            </a:r>
            <a:endParaRPr lang="en-US" sz="1300" dirty="0"/>
          </a:p>
        </p:txBody>
      </p:sp>
      <p:sp>
        <p:nvSpPr>
          <p:cNvPr id="90" name="Text 5">
            <a:extLst>
              <a:ext uri="{FF2B5EF4-FFF2-40B4-BE49-F238E27FC236}">
                <a16:creationId xmlns:a16="http://schemas.microsoft.com/office/drawing/2014/main" id="{FCC92496-0AC5-5D65-7031-F86DB5297BA7}"/>
              </a:ext>
            </a:extLst>
          </p:cNvPr>
          <p:cNvSpPr/>
          <p:nvPr/>
        </p:nvSpPr>
        <p:spPr>
          <a:xfrm>
            <a:off x="6675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CPU, ECC DRAM, switches, ATMOS E3.S, NVMe, networking, redundant power</a:t>
            </a:r>
            <a:endParaRPr lang="en-US" sz="1000" dirty="0"/>
          </a:p>
        </p:txBody>
      </p:sp>
      <p:sp>
        <p:nvSpPr>
          <p:cNvPr id="91" name="Shape 6">
            <a:extLst>
              <a:ext uri="{FF2B5EF4-FFF2-40B4-BE49-F238E27FC236}">
                <a16:creationId xmlns:a16="http://schemas.microsoft.com/office/drawing/2014/main" id="{497BD078-829C-529C-0C0F-0C9329B7DCE8}"/>
              </a:ext>
            </a:extLst>
          </p:cNvPr>
          <p:cNvSpPr/>
          <p:nvPr/>
        </p:nvSpPr>
        <p:spPr>
          <a:xfrm>
            <a:off x="43891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92" name="Shape 7">
            <a:extLst>
              <a:ext uri="{FF2B5EF4-FFF2-40B4-BE49-F238E27FC236}">
                <a16:creationId xmlns:a16="http://schemas.microsoft.com/office/drawing/2014/main" id="{237F47E8-ECEA-2635-7E3A-38B832F2D111}"/>
              </a:ext>
            </a:extLst>
          </p:cNvPr>
          <p:cNvSpPr/>
          <p:nvPr/>
        </p:nvSpPr>
        <p:spPr>
          <a:xfrm>
            <a:off x="4389120" y="1389888"/>
            <a:ext cx="68580" cy="1719072"/>
          </a:xfrm>
          <a:prstGeom prst="rect">
            <a:avLst/>
          </a:prstGeom>
          <a:solidFill>
            <a:srgbClr val="D89A27"/>
          </a:solidFill>
          <a:ln w="12700">
            <a:solidFill>
              <a:srgbClr val="D89A27"/>
            </a:solidFill>
            <a:prstDash val="solid"/>
          </a:ln>
        </p:spPr>
        <p:txBody>
          <a:bodyPr/>
          <a:lstStyle/>
          <a:p>
            <a:endParaRPr lang="en-US"/>
          </a:p>
        </p:txBody>
      </p:sp>
      <p:sp>
        <p:nvSpPr>
          <p:cNvPr id="93" name="Text 8">
            <a:extLst>
              <a:ext uri="{FF2B5EF4-FFF2-40B4-BE49-F238E27FC236}">
                <a16:creationId xmlns:a16="http://schemas.microsoft.com/office/drawing/2014/main" id="{62AEF470-FB0F-3049-CF29-B7AC1E6D6636}"/>
              </a:ext>
            </a:extLst>
          </p:cNvPr>
          <p:cNvSpPr/>
          <p:nvPr/>
        </p:nvSpPr>
        <p:spPr>
          <a:xfrm>
            <a:off x="45537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ATMOS AI OS</a:t>
            </a:r>
            <a:endParaRPr lang="en-US" sz="1300" dirty="0"/>
          </a:p>
        </p:txBody>
      </p:sp>
      <p:sp>
        <p:nvSpPr>
          <p:cNvPr id="94" name="Text 9">
            <a:extLst>
              <a:ext uri="{FF2B5EF4-FFF2-40B4-BE49-F238E27FC236}">
                <a16:creationId xmlns:a16="http://schemas.microsoft.com/office/drawing/2014/main" id="{9582B4BB-691A-DC67-CCB7-1E8346F6FE59}"/>
              </a:ext>
            </a:extLst>
          </p:cNvPr>
          <p:cNvSpPr/>
          <p:nvPr/>
        </p:nvSpPr>
        <p:spPr>
          <a:xfrm>
            <a:off x="45537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Hardened image, drivers, runtime, Kubernetes, signed updates and recovery</a:t>
            </a:r>
            <a:endParaRPr lang="en-US" sz="1000" dirty="0"/>
          </a:p>
        </p:txBody>
      </p:sp>
      <p:sp>
        <p:nvSpPr>
          <p:cNvPr id="95" name="Shape 10">
            <a:extLst>
              <a:ext uri="{FF2B5EF4-FFF2-40B4-BE49-F238E27FC236}">
                <a16:creationId xmlns:a16="http://schemas.microsoft.com/office/drawing/2014/main" id="{1F0A6ABE-B154-B484-AB74-85B296CCC125}"/>
              </a:ext>
            </a:extLst>
          </p:cNvPr>
          <p:cNvSpPr/>
          <p:nvPr/>
        </p:nvSpPr>
        <p:spPr>
          <a:xfrm>
            <a:off x="82753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96" name="Shape 11">
            <a:extLst>
              <a:ext uri="{FF2B5EF4-FFF2-40B4-BE49-F238E27FC236}">
                <a16:creationId xmlns:a16="http://schemas.microsoft.com/office/drawing/2014/main" id="{AACACC4A-C9A9-7505-BD08-8A3FD7CB4556}"/>
              </a:ext>
            </a:extLst>
          </p:cNvPr>
          <p:cNvSpPr/>
          <p:nvPr/>
        </p:nvSpPr>
        <p:spPr>
          <a:xfrm>
            <a:off x="8275320" y="1389888"/>
            <a:ext cx="68580" cy="1719072"/>
          </a:xfrm>
          <a:prstGeom prst="rect">
            <a:avLst/>
          </a:prstGeom>
          <a:solidFill>
            <a:srgbClr val="008E83"/>
          </a:solidFill>
          <a:ln w="12700">
            <a:solidFill>
              <a:srgbClr val="008E83"/>
            </a:solidFill>
            <a:prstDash val="solid"/>
          </a:ln>
        </p:spPr>
        <p:txBody>
          <a:bodyPr/>
          <a:lstStyle/>
          <a:p>
            <a:endParaRPr lang="en-US"/>
          </a:p>
        </p:txBody>
      </p:sp>
      <p:sp>
        <p:nvSpPr>
          <p:cNvPr id="97" name="Text 12">
            <a:extLst>
              <a:ext uri="{FF2B5EF4-FFF2-40B4-BE49-F238E27FC236}">
                <a16:creationId xmlns:a16="http://schemas.microsoft.com/office/drawing/2014/main" id="{76E5D3E6-D3F2-457F-E845-4AD1299EDA5E}"/>
              </a:ext>
            </a:extLst>
          </p:cNvPr>
          <p:cNvSpPr/>
          <p:nvPr/>
        </p:nvSpPr>
        <p:spPr>
          <a:xfrm>
            <a:off x="84399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Certified AI services</a:t>
            </a:r>
            <a:endParaRPr lang="en-US" sz="1300" dirty="0"/>
          </a:p>
        </p:txBody>
      </p:sp>
      <p:sp>
        <p:nvSpPr>
          <p:cNvPr id="98" name="Text 13">
            <a:extLst>
              <a:ext uri="{FF2B5EF4-FFF2-40B4-BE49-F238E27FC236}">
                <a16:creationId xmlns:a16="http://schemas.microsoft.com/office/drawing/2014/main" id="{F54E9216-2EEB-CB2C-F186-0B316B513D1A}"/>
              </a:ext>
            </a:extLst>
          </p:cNvPr>
          <p:cNvSpPr/>
          <p:nvPr/>
        </p:nvSpPr>
        <p:spPr>
          <a:xfrm>
            <a:off x="84399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Embeddings, retrieval, reranking, document AI and qualified LLM endpoints</a:t>
            </a:r>
            <a:endParaRPr lang="en-US" sz="1000" dirty="0"/>
          </a:p>
        </p:txBody>
      </p:sp>
      <p:sp>
        <p:nvSpPr>
          <p:cNvPr id="99" name="Shape 14">
            <a:extLst>
              <a:ext uri="{FF2B5EF4-FFF2-40B4-BE49-F238E27FC236}">
                <a16:creationId xmlns:a16="http://schemas.microsoft.com/office/drawing/2014/main" id="{651AC81F-35F6-4512-0FF7-7E441FD22655}"/>
              </a:ext>
            </a:extLst>
          </p:cNvPr>
          <p:cNvSpPr/>
          <p:nvPr/>
        </p:nvSpPr>
        <p:spPr>
          <a:xfrm>
            <a:off x="5029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0" name="Shape 15">
            <a:extLst>
              <a:ext uri="{FF2B5EF4-FFF2-40B4-BE49-F238E27FC236}">
                <a16:creationId xmlns:a16="http://schemas.microsoft.com/office/drawing/2014/main" id="{D3ED0440-86DA-7405-468C-064DC05A6FFB}"/>
              </a:ext>
            </a:extLst>
          </p:cNvPr>
          <p:cNvSpPr/>
          <p:nvPr/>
        </p:nvSpPr>
        <p:spPr>
          <a:xfrm>
            <a:off x="502920" y="3474720"/>
            <a:ext cx="68580" cy="1719072"/>
          </a:xfrm>
          <a:prstGeom prst="rect">
            <a:avLst/>
          </a:prstGeom>
          <a:solidFill>
            <a:srgbClr val="48B7C5"/>
          </a:solidFill>
          <a:ln w="12700">
            <a:solidFill>
              <a:srgbClr val="48B7C5"/>
            </a:solidFill>
            <a:prstDash val="solid"/>
          </a:ln>
        </p:spPr>
        <p:txBody>
          <a:bodyPr/>
          <a:lstStyle/>
          <a:p>
            <a:endParaRPr lang="en-US"/>
          </a:p>
        </p:txBody>
      </p:sp>
      <p:sp>
        <p:nvSpPr>
          <p:cNvPr id="101" name="Text 16">
            <a:extLst>
              <a:ext uri="{FF2B5EF4-FFF2-40B4-BE49-F238E27FC236}">
                <a16:creationId xmlns:a16="http://schemas.microsoft.com/office/drawing/2014/main" id="{F48D4C00-74E6-B6A2-E730-33D526C711BE}"/>
              </a:ext>
            </a:extLst>
          </p:cNvPr>
          <p:cNvSpPr/>
          <p:nvPr/>
        </p:nvSpPr>
        <p:spPr>
          <a:xfrm>
            <a:off x="6675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Enterprise Knowledge Agent</a:t>
            </a:r>
            <a:endParaRPr lang="en-US" sz="1300" dirty="0"/>
          </a:p>
        </p:txBody>
      </p:sp>
      <p:sp>
        <p:nvSpPr>
          <p:cNvPr id="102" name="Text 17">
            <a:extLst>
              <a:ext uri="{FF2B5EF4-FFF2-40B4-BE49-F238E27FC236}">
                <a16:creationId xmlns:a16="http://schemas.microsoft.com/office/drawing/2014/main" id="{43101D18-9CA0-171A-4C19-16F4639AE716}"/>
              </a:ext>
            </a:extLst>
          </p:cNvPr>
          <p:cNvSpPr/>
          <p:nvPr/>
        </p:nvSpPr>
        <p:spPr>
          <a:xfrm>
            <a:off x="6675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Ingestion, hybrid retrieval, citations, governed tools and evaluation</a:t>
            </a:r>
            <a:endParaRPr lang="en-US" sz="1000" dirty="0"/>
          </a:p>
        </p:txBody>
      </p:sp>
      <p:sp>
        <p:nvSpPr>
          <p:cNvPr id="103" name="Shape 18">
            <a:extLst>
              <a:ext uri="{FF2B5EF4-FFF2-40B4-BE49-F238E27FC236}">
                <a16:creationId xmlns:a16="http://schemas.microsoft.com/office/drawing/2014/main" id="{FE2A9FEA-E83D-0152-2615-96A1313047C7}"/>
              </a:ext>
            </a:extLst>
          </p:cNvPr>
          <p:cNvSpPr/>
          <p:nvPr/>
        </p:nvSpPr>
        <p:spPr>
          <a:xfrm>
            <a:off x="43891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4" name="Shape 19">
            <a:extLst>
              <a:ext uri="{FF2B5EF4-FFF2-40B4-BE49-F238E27FC236}">
                <a16:creationId xmlns:a16="http://schemas.microsoft.com/office/drawing/2014/main" id="{A494D1F1-4B7E-18C7-518E-81D9601CF341}"/>
              </a:ext>
            </a:extLst>
          </p:cNvPr>
          <p:cNvSpPr/>
          <p:nvPr/>
        </p:nvSpPr>
        <p:spPr>
          <a:xfrm>
            <a:off x="4389120" y="3474720"/>
            <a:ext cx="68580" cy="1719072"/>
          </a:xfrm>
          <a:prstGeom prst="rect">
            <a:avLst/>
          </a:prstGeom>
          <a:solidFill>
            <a:srgbClr val="1679B8"/>
          </a:solidFill>
          <a:ln w="12700">
            <a:solidFill>
              <a:srgbClr val="1679B8"/>
            </a:solidFill>
            <a:prstDash val="solid"/>
          </a:ln>
        </p:spPr>
        <p:txBody>
          <a:bodyPr/>
          <a:lstStyle/>
          <a:p>
            <a:endParaRPr lang="en-US"/>
          </a:p>
        </p:txBody>
      </p:sp>
      <p:sp>
        <p:nvSpPr>
          <p:cNvPr id="105" name="Text 20">
            <a:extLst>
              <a:ext uri="{FF2B5EF4-FFF2-40B4-BE49-F238E27FC236}">
                <a16:creationId xmlns:a16="http://schemas.microsoft.com/office/drawing/2014/main" id="{E8AE1E58-268C-DACA-B221-7CE0D842C648}"/>
              </a:ext>
            </a:extLst>
          </p:cNvPr>
          <p:cNvSpPr/>
          <p:nvPr/>
        </p:nvSpPr>
        <p:spPr>
          <a:xfrm>
            <a:off x="45537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Control Center</a:t>
            </a:r>
            <a:endParaRPr lang="en-US" sz="1300" dirty="0"/>
          </a:p>
        </p:txBody>
      </p:sp>
      <p:sp>
        <p:nvSpPr>
          <p:cNvPr id="106" name="Text 21">
            <a:extLst>
              <a:ext uri="{FF2B5EF4-FFF2-40B4-BE49-F238E27FC236}">
                <a16:creationId xmlns:a16="http://schemas.microsoft.com/office/drawing/2014/main" id="{5B547B80-41C1-8964-BD3C-86CF81964A76}"/>
              </a:ext>
            </a:extLst>
          </p:cNvPr>
          <p:cNvSpPr/>
          <p:nvPr/>
        </p:nvSpPr>
        <p:spPr>
          <a:xfrm>
            <a:off x="45537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Fleet, SLO, usage, thermals, updates, audit and support bundles</a:t>
            </a:r>
            <a:endParaRPr lang="en-US" sz="1000" dirty="0"/>
          </a:p>
        </p:txBody>
      </p:sp>
      <p:sp>
        <p:nvSpPr>
          <p:cNvPr id="107" name="Shape 22">
            <a:extLst>
              <a:ext uri="{FF2B5EF4-FFF2-40B4-BE49-F238E27FC236}">
                <a16:creationId xmlns:a16="http://schemas.microsoft.com/office/drawing/2014/main" id="{F3942A4F-A4B2-40E4-C70A-BB745FAA4DA6}"/>
              </a:ext>
            </a:extLst>
          </p:cNvPr>
          <p:cNvSpPr/>
          <p:nvPr/>
        </p:nvSpPr>
        <p:spPr>
          <a:xfrm>
            <a:off x="82753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8" name="Shape 23">
            <a:extLst>
              <a:ext uri="{FF2B5EF4-FFF2-40B4-BE49-F238E27FC236}">
                <a16:creationId xmlns:a16="http://schemas.microsoft.com/office/drawing/2014/main" id="{C73728D8-A363-87A8-606D-D3C696A9924A}"/>
              </a:ext>
            </a:extLst>
          </p:cNvPr>
          <p:cNvSpPr/>
          <p:nvPr/>
        </p:nvSpPr>
        <p:spPr>
          <a:xfrm>
            <a:off x="8275320" y="3474720"/>
            <a:ext cx="68580" cy="1719072"/>
          </a:xfrm>
          <a:prstGeom prst="rect">
            <a:avLst/>
          </a:prstGeom>
          <a:solidFill>
            <a:srgbClr val="30A46C"/>
          </a:solidFill>
          <a:ln w="12700">
            <a:solidFill>
              <a:srgbClr val="30A46C"/>
            </a:solidFill>
            <a:prstDash val="solid"/>
          </a:ln>
        </p:spPr>
        <p:txBody>
          <a:bodyPr/>
          <a:lstStyle/>
          <a:p>
            <a:endParaRPr lang="en-US"/>
          </a:p>
        </p:txBody>
      </p:sp>
      <p:sp>
        <p:nvSpPr>
          <p:cNvPr id="109" name="Text 24">
            <a:extLst>
              <a:ext uri="{FF2B5EF4-FFF2-40B4-BE49-F238E27FC236}">
                <a16:creationId xmlns:a16="http://schemas.microsoft.com/office/drawing/2014/main" id="{87DAA5B9-2C1E-7DAB-86B5-5528B4B096A5}"/>
              </a:ext>
            </a:extLst>
          </p:cNvPr>
          <p:cNvSpPr/>
          <p:nvPr/>
        </p:nvSpPr>
        <p:spPr>
          <a:xfrm>
            <a:off x="84399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Enterprise support</a:t>
            </a:r>
            <a:endParaRPr lang="en-US" sz="1300" dirty="0"/>
          </a:p>
        </p:txBody>
      </p:sp>
      <p:sp>
        <p:nvSpPr>
          <p:cNvPr id="110" name="Text 25">
            <a:extLst>
              <a:ext uri="{FF2B5EF4-FFF2-40B4-BE49-F238E27FC236}">
                <a16:creationId xmlns:a16="http://schemas.microsoft.com/office/drawing/2014/main" id="{85E26B63-A42C-403C-A517-D3B6F5C4F522}"/>
              </a:ext>
            </a:extLst>
          </p:cNvPr>
          <p:cNvSpPr/>
          <p:nvPr/>
        </p:nvSpPr>
        <p:spPr>
          <a:xfrm>
            <a:off x="84399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Production/LTS releases, CVE response, OEM field service coordination</a:t>
            </a:r>
            <a:endParaRPr lang="en-US" sz="1000" dirty="0"/>
          </a:p>
        </p:txBody>
      </p:sp>
    </p:spTree>
    <p:extLst>
      <p:ext uri="{BB962C8B-B14F-4D97-AF65-F5344CB8AC3E}">
        <p14:creationId xmlns:p14="http://schemas.microsoft.com/office/powerpoint/2010/main" val="3201999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txBody>
          <a:bodyPr/>
          <a:lstStyle/>
          <a:p>
            <a:endParaRPr lang="en-US"/>
          </a:p>
        </p:txBody>
      </p:sp>
      <p:sp>
        <p:nvSpPr>
          <p:cNvPr id="3" name="Text 1"/>
          <p:cNvSpPr/>
          <p:nvPr/>
        </p:nvSpPr>
        <p:spPr>
          <a:xfrm>
            <a:off x="457200" y="228600"/>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marL="0" indent="0" algn="l">
              <a:buNone/>
            </a:pPr>
            <a:r>
              <a:rPr lang="en-US" sz="1050" b="1" dirty="0">
                <a:solidFill>
                  <a:srgbClr val="5B6169"/>
                </a:solidFill>
                <a:latin typeface="Arial" pitchFamily="34" charset="0"/>
                <a:ea typeface="Arial" pitchFamily="34" charset="-122"/>
                <a:cs typeface="Arial" pitchFamily="34" charset="-120"/>
              </a:rPr>
              <a:t>ATMOS  /  A1 / COMPLETE SYSTEM</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marL="0" indent="0" algn="l">
              <a:buNone/>
            </a:pPr>
            <a:r>
              <a:rPr lang="en-US" sz="2750" b="1" dirty="0">
                <a:solidFill>
                  <a:srgbClr val="18191D"/>
                </a:solidFill>
                <a:latin typeface="Arial" pitchFamily="34" charset="0"/>
                <a:ea typeface="Arial" pitchFamily="34" charset="-122"/>
                <a:cs typeface="Arial" pitchFamily="34" charset="-120"/>
              </a:rPr>
              <a:t>The Turnkey Architecture behind the appliance.</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marL="0" indent="0" algn="l">
              <a:buNone/>
            </a:pPr>
            <a:r>
              <a:rPr lang="en-US" sz="1350" dirty="0">
                <a:solidFill>
                  <a:srgbClr val="5B6169"/>
                </a:solidFill>
                <a:latin typeface="Arial" pitchFamily="34" charset="0"/>
                <a:ea typeface="Arial" pitchFamily="34" charset="-122"/>
                <a:cs typeface="Arial" pitchFamily="34" charset="-120"/>
              </a:rPr>
              <a:t>Customer inference, policy and data remain local; SanDisk operates the release and support plane.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txBody>
          <a:bodyPr/>
          <a:lstStyle/>
          <a:p>
            <a:endParaRPr lang="en-US"/>
          </a:p>
        </p:txBody>
      </p:sp>
      <p:sp>
        <p:nvSpPr>
          <p:cNvPr id="8" name="Text 6"/>
          <p:cNvSpPr/>
          <p:nvPr/>
        </p:nvSpPr>
        <p:spPr>
          <a:xfrm>
            <a:off x="512064" y="6547104"/>
            <a:ext cx="9418320" cy="164592"/>
          </a:xfrm>
          <a:prstGeom prst="rect">
            <a:avLst/>
          </a:prstGeom>
          <a:noFill/>
          <a:ln/>
        </p:spPr>
        <p:txBody>
          <a:bodyPr wrap="square" lIns="0" tIns="0" rIns="0" bIns="0" rtlCol="0" anchor="ctr"/>
          <a:lstStyle/>
          <a:p>
            <a:pPr marL="0" indent="0" algn="l">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marL="0" indent="0" algn="r">
              <a:buNone/>
            </a:pPr>
            <a:r>
              <a:rPr lang="en-US" sz="1000" b="1" dirty="0">
                <a:solidFill>
                  <a:srgbClr val="E31837"/>
                </a:solidFill>
                <a:latin typeface="Arial" pitchFamily="34" charset="0"/>
                <a:ea typeface="Arial" pitchFamily="34" charset="-122"/>
                <a:cs typeface="Arial" pitchFamily="34" charset="-120"/>
              </a:rPr>
              <a:t>02</a:t>
            </a:r>
            <a:endParaRPr lang="en-US" sz="1000" dirty="0"/>
          </a:p>
        </p:txBody>
      </p:sp>
      <p:sp>
        <p:nvSpPr>
          <p:cNvPr id="10" name="Text 8">
            <a:hlinkClick r:id="rId3"/>
          </p:cNvPr>
          <p:cNvSpPr/>
          <p:nvPr/>
        </p:nvSpPr>
        <p:spPr>
          <a:xfrm>
            <a:off x="9875520" y="237744"/>
            <a:ext cx="1828800" cy="219456"/>
          </a:xfrm>
          <a:prstGeom prst="rect">
            <a:avLst/>
          </a:prstGeom>
          <a:noFill/>
          <a:ln/>
        </p:spPr>
        <p:txBody>
          <a:bodyPr wrap="square" lIns="0" tIns="0" rIns="0" bIns="0" rtlCol="0" anchor="ctr"/>
          <a:lstStyle/>
          <a:p>
            <a:pPr marL="0" indent="0" algn="r">
              <a:buNone/>
            </a:pPr>
            <a:r>
              <a:rPr lang="en-US" sz="1000"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21208" y="1847088"/>
            <a:ext cx="2953512" cy="3749040"/>
          </a:xfrm>
          <a:prstGeom prst="rect">
            <a:avLst/>
          </a:prstGeom>
          <a:solidFill>
            <a:srgbClr val="F3F4F6"/>
          </a:solidFill>
          <a:ln w="10160">
            <a:solidFill>
              <a:srgbClr val="F3F4F6"/>
            </a:solidFill>
            <a:prstDash val="solid"/>
          </a:ln>
        </p:spPr>
        <p:txBody>
          <a:bodyPr/>
          <a:lstStyle/>
          <a:p>
            <a:endParaRPr lang="en-US"/>
          </a:p>
        </p:txBody>
      </p:sp>
      <p:sp>
        <p:nvSpPr>
          <p:cNvPr id="12" name="Shape 10"/>
          <p:cNvSpPr/>
          <p:nvPr/>
        </p:nvSpPr>
        <p:spPr>
          <a:xfrm>
            <a:off x="704088" y="2029968"/>
            <a:ext cx="2148840" cy="301752"/>
          </a:xfrm>
          <a:prstGeom prst="rect">
            <a:avLst/>
          </a:prstGeom>
          <a:solidFill>
            <a:srgbClr val="FCECEF"/>
          </a:solidFill>
          <a:ln w="10160">
            <a:solidFill>
              <a:srgbClr val="FCECEF"/>
            </a:solidFill>
            <a:prstDash val="solid"/>
          </a:ln>
        </p:spPr>
        <p:txBody>
          <a:bodyPr/>
          <a:lstStyle/>
          <a:p>
            <a:endParaRPr lang="en-US"/>
          </a:p>
        </p:txBody>
      </p:sp>
      <p:sp>
        <p:nvSpPr>
          <p:cNvPr id="13" name="Text 11"/>
          <p:cNvSpPr/>
          <p:nvPr/>
        </p:nvSpPr>
        <p:spPr>
          <a:xfrm>
            <a:off x="795528" y="2052828"/>
            <a:ext cx="1965960" cy="256032"/>
          </a:xfrm>
          <a:prstGeom prst="rect">
            <a:avLst/>
          </a:prstGeom>
          <a:noFill/>
          <a:ln/>
        </p:spPr>
        <p:txBody>
          <a:bodyPr wrap="square" lIns="0" tIns="0" rIns="0" bIns="0" rtlCol="0" anchor="ctr"/>
          <a:lstStyle/>
          <a:p>
            <a:pPr marL="0" indent="0" algn="l">
              <a:buNone/>
            </a:pPr>
            <a:r>
              <a:rPr lang="en-US" sz="1030" b="1" dirty="0">
                <a:solidFill>
                  <a:srgbClr val="E31837"/>
                </a:solidFill>
                <a:latin typeface="Arial" pitchFamily="34" charset="0"/>
                <a:ea typeface="Arial" pitchFamily="34" charset="-122"/>
                <a:cs typeface="Arial" pitchFamily="34" charset="-120"/>
              </a:rPr>
              <a:t>SANDISK-OPERATED</a:t>
            </a:r>
            <a:endParaRPr lang="en-US" sz="1030" dirty="0"/>
          </a:p>
        </p:txBody>
      </p:sp>
      <p:sp>
        <p:nvSpPr>
          <p:cNvPr id="14" name="Shape 12"/>
          <p:cNvSpPr/>
          <p:nvPr/>
        </p:nvSpPr>
        <p:spPr>
          <a:xfrm>
            <a:off x="704088" y="2523744"/>
            <a:ext cx="2569464" cy="1078992"/>
          </a:xfrm>
          <a:prstGeom prst="rect">
            <a:avLst/>
          </a:prstGeom>
          <a:solidFill>
            <a:srgbClr val="18191D"/>
          </a:solidFill>
          <a:ln w="10160">
            <a:solidFill>
              <a:srgbClr val="18191D"/>
            </a:solidFill>
            <a:prstDash val="solid"/>
          </a:ln>
        </p:spPr>
        <p:txBody>
          <a:bodyPr/>
          <a:lstStyle/>
          <a:p>
            <a:endParaRPr lang="en-US"/>
          </a:p>
        </p:txBody>
      </p:sp>
      <p:sp>
        <p:nvSpPr>
          <p:cNvPr id="15" name="Text 13"/>
          <p:cNvSpPr/>
          <p:nvPr/>
        </p:nvSpPr>
        <p:spPr>
          <a:xfrm>
            <a:off x="850392" y="2633472"/>
            <a:ext cx="2276856" cy="365760"/>
          </a:xfrm>
          <a:prstGeom prst="rect">
            <a:avLst/>
          </a:prstGeom>
          <a:noFill/>
          <a:ln/>
        </p:spPr>
        <p:txBody>
          <a:bodyPr wrap="square" lIns="0" tIns="0" rIns="0" bIns="0" rtlCol="0" anchor="ctr"/>
          <a:lstStyle/>
          <a:p>
            <a:pPr marL="0" indent="0" algn="l">
              <a:buNone/>
            </a:pPr>
            <a:r>
              <a:rPr lang="en-US" sz="1700" b="1" dirty="0">
                <a:solidFill>
                  <a:srgbClr val="FFFFFF"/>
                </a:solidFill>
                <a:latin typeface="Arial" pitchFamily="34" charset="0"/>
                <a:ea typeface="Arial" pitchFamily="34" charset="-122"/>
                <a:cs typeface="Arial" pitchFamily="34" charset="-120"/>
              </a:rPr>
              <a:t>Release services</a:t>
            </a:r>
            <a:endParaRPr lang="en-US" sz="1700" dirty="0"/>
          </a:p>
        </p:txBody>
      </p:sp>
      <p:sp>
        <p:nvSpPr>
          <p:cNvPr id="16" name="Text 14"/>
          <p:cNvSpPr/>
          <p:nvPr/>
        </p:nvSpPr>
        <p:spPr>
          <a:xfrm>
            <a:off x="850392" y="3090672"/>
            <a:ext cx="2276856" cy="402336"/>
          </a:xfrm>
          <a:prstGeom prst="rect">
            <a:avLst/>
          </a:prstGeom>
          <a:noFill/>
          <a:ln/>
        </p:spPr>
        <p:txBody>
          <a:bodyPr wrap="square" lIns="0" tIns="0" rIns="0" bIns="0" rtlCol="0" anchor="ctr"/>
          <a:lstStyle/>
          <a:p>
            <a:pPr marL="0" indent="0" algn="l">
              <a:buNone/>
            </a:pPr>
            <a:r>
              <a:rPr lang="en-US" sz="1310" dirty="0">
                <a:solidFill>
                  <a:srgbClr val="FFFFFF"/>
                </a:solidFill>
                <a:latin typeface="Arial" pitchFamily="34" charset="0"/>
                <a:ea typeface="Arial" pitchFamily="34" charset="-122"/>
                <a:cs typeface="Arial" pitchFamily="34" charset="-120"/>
              </a:rPr>
              <a:t>Catalog • entitlement • signed bundles</a:t>
            </a:r>
            <a:endParaRPr lang="en-US" sz="1310" dirty="0"/>
          </a:p>
        </p:txBody>
      </p:sp>
      <p:sp>
        <p:nvSpPr>
          <p:cNvPr id="17" name="Shape 15"/>
          <p:cNvSpPr/>
          <p:nvPr/>
        </p:nvSpPr>
        <p:spPr>
          <a:xfrm>
            <a:off x="704088" y="3776472"/>
            <a:ext cx="2569464" cy="1207008"/>
          </a:xfrm>
          <a:prstGeom prst="rect">
            <a:avLst/>
          </a:prstGeom>
          <a:solidFill>
            <a:srgbClr val="FFFFFF"/>
          </a:solidFill>
          <a:ln w="10160">
            <a:solidFill>
              <a:srgbClr val="FFFFFF"/>
            </a:solidFill>
            <a:prstDash val="solid"/>
          </a:ln>
        </p:spPr>
        <p:txBody>
          <a:bodyPr/>
          <a:lstStyle/>
          <a:p>
            <a:endParaRPr lang="en-US"/>
          </a:p>
        </p:txBody>
      </p:sp>
      <p:sp>
        <p:nvSpPr>
          <p:cNvPr id="18" name="Text 16"/>
          <p:cNvSpPr/>
          <p:nvPr/>
        </p:nvSpPr>
        <p:spPr>
          <a:xfrm>
            <a:off x="850392" y="3886200"/>
            <a:ext cx="2276856" cy="365760"/>
          </a:xfrm>
          <a:prstGeom prst="rect">
            <a:avLst/>
          </a:prstGeom>
          <a:noFill/>
          <a:ln/>
        </p:spPr>
        <p:txBody>
          <a:bodyPr wrap="square" lIns="0" tIns="0" rIns="0" bIns="0" rtlCol="0" anchor="ctr"/>
          <a:lstStyle/>
          <a:p>
            <a:pPr marL="0" indent="0" algn="l">
              <a:buNone/>
            </a:pPr>
            <a:r>
              <a:rPr lang="en-US" sz="1700" b="1" dirty="0">
                <a:solidFill>
                  <a:srgbClr val="18191D"/>
                </a:solidFill>
                <a:latin typeface="Arial" pitchFamily="34" charset="0"/>
                <a:ea typeface="Arial" pitchFamily="34" charset="-122"/>
                <a:cs typeface="Arial" pitchFamily="34" charset="-120"/>
              </a:rPr>
              <a:t>Support services</a:t>
            </a:r>
            <a:endParaRPr lang="en-US" sz="1700" dirty="0"/>
          </a:p>
        </p:txBody>
      </p:sp>
      <p:sp>
        <p:nvSpPr>
          <p:cNvPr id="19" name="Text 17"/>
          <p:cNvSpPr/>
          <p:nvPr/>
        </p:nvSpPr>
        <p:spPr>
          <a:xfrm>
            <a:off x="850392" y="4343400"/>
            <a:ext cx="2276856" cy="530352"/>
          </a:xfrm>
          <a:prstGeom prst="rect">
            <a:avLst/>
          </a:prstGeom>
          <a:noFill/>
          <a:ln/>
        </p:spPr>
        <p:txBody>
          <a:bodyPr wrap="square" lIns="0" tIns="0" rIns="0" bIns="0" rtlCol="0" anchor="ctr"/>
          <a:lstStyle/>
          <a:p>
            <a:pPr marL="0" indent="0" algn="l">
              <a:buNone/>
            </a:pPr>
            <a:r>
              <a:rPr lang="en-US" sz="1310" dirty="0">
                <a:solidFill>
                  <a:srgbClr val="5B6169"/>
                </a:solidFill>
                <a:latin typeface="Arial" pitchFamily="34" charset="0"/>
                <a:ea typeface="Arial" pitchFamily="34" charset="-122"/>
                <a:cs typeface="Arial" pitchFamily="34" charset="-120"/>
              </a:rPr>
              <a:t>PSIRT • cases • compatibility lab</a:t>
            </a:r>
            <a:endParaRPr lang="en-US" sz="1310" dirty="0"/>
          </a:p>
          <a:p>
            <a:pPr marL="0" indent="0" algn="l">
              <a:buNone/>
            </a:pPr>
            <a:r>
              <a:rPr lang="en-US" sz="1310" dirty="0">
                <a:solidFill>
                  <a:srgbClr val="5B6169"/>
                </a:solidFill>
                <a:latin typeface="Arial" pitchFamily="34" charset="0"/>
                <a:ea typeface="Arial" pitchFamily="34" charset="-122"/>
                <a:cs typeface="Arial" pitchFamily="34" charset="-120"/>
              </a:rPr>
              <a:t>OEM escalation</a:t>
            </a:r>
            <a:endParaRPr lang="en-US" sz="1310" dirty="0"/>
          </a:p>
        </p:txBody>
      </p:sp>
      <p:sp>
        <p:nvSpPr>
          <p:cNvPr id="20" name="Shape 18"/>
          <p:cNvSpPr/>
          <p:nvPr/>
        </p:nvSpPr>
        <p:spPr>
          <a:xfrm>
            <a:off x="3950208" y="1847088"/>
            <a:ext cx="7717536" cy="3749040"/>
          </a:xfrm>
          <a:prstGeom prst="rect">
            <a:avLst/>
          </a:prstGeom>
          <a:solidFill>
            <a:srgbClr val="F3F4F6"/>
          </a:solidFill>
          <a:ln w="10160">
            <a:solidFill>
              <a:srgbClr val="F3F4F6"/>
            </a:solidFill>
            <a:prstDash val="solid"/>
          </a:ln>
        </p:spPr>
        <p:txBody>
          <a:bodyPr/>
          <a:lstStyle/>
          <a:p>
            <a:endParaRPr lang="en-US"/>
          </a:p>
        </p:txBody>
      </p:sp>
      <p:sp>
        <p:nvSpPr>
          <p:cNvPr id="21" name="Shape 19"/>
          <p:cNvSpPr/>
          <p:nvPr/>
        </p:nvSpPr>
        <p:spPr>
          <a:xfrm>
            <a:off x="4142232" y="2029968"/>
            <a:ext cx="2816352" cy="301752"/>
          </a:xfrm>
          <a:prstGeom prst="rect">
            <a:avLst/>
          </a:prstGeom>
          <a:solidFill>
            <a:srgbClr val="FCECEF"/>
          </a:solidFill>
          <a:ln w="10160">
            <a:solidFill>
              <a:srgbClr val="FCECEF"/>
            </a:solidFill>
            <a:prstDash val="solid"/>
          </a:ln>
        </p:spPr>
        <p:txBody>
          <a:bodyPr/>
          <a:lstStyle/>
          <a:p>
            <a:endParaRPr lang="en-US"/>
          </a:p>
        </p:txBody>
      </p:sp>
      <p:sp>
        <p:nvSpPr>
          <p:cNvPr id="22" name="Text 20"/>
          <p:cNvSpPr/>
          <p:nvPr/>
        </p:nvSpPr>
        <p:spPr>
          <a:xfrm>
            <a:off x="4233672" y="2052828"/>
            <a:ext cx="2633472" cy="256032"/>
          </a:xfrm>
          <a:prstGeom prst="rect">
            <a:avLst/>
          </a:prstGeom>
          <a:noFill/>
          <a:ln/>
        </p:spPr>
        <p:txBody>
          <a:bodyPr wrap="square" lIns="0" tIns="0" rIns="0" bIns="0" rtlCol="0" anchor="ctr"/>
          <a:lstStyle/>
          <a:p>
            <a:pPr marL="0" indent="0" algn="l">
              <a:buNone/>
            </a:pPr>
            <a:r>
              <a:rPr lang="en-US" sz="1030" b="1" dirty="0">
                <a:solidFill>
                  <a:srgbClr val="E31837"/>
                </a:solidFill>
                <a:latin typeface="Arial" pitchFamily="34" charset="0"/>
                <a:ea typeface="Arial" pitchFamily="34" charset="-122"/>
                <a:cs typeface="Arial" pitchFamily="34" charset="-120"/>
              </a:rPr>
              <a:t>CUSTOMER TRUST BOUNDARY</a:t>
            </a:r>
            <a:endParaRPr lang="en-US" sz="1030" dirty="0"/>
          </a:p>
        </p:txBody>
      </p:sp>
      <p:sp>
        <p:nvSpPr>
          <p:cNvPr id="23" name="Shape 21"/>
          <p:cNvSpPr/>
          <p:nvPr/>
        </p:nvSpPr>
        <p:spPr>
          <a:xfrm>
            <a:off x="4169664" y="2551176"/>
            <a:ext cx="3236976" cy="996696"/>
          </a:xfrm>
          <a:prstGeom prst="rect">
            <a:avLst/>
          </a:prstGeom>
          <a:solidFill>
            <a:srgbClr val="FFFFFF"/>
          </a:solidFill>
          <a:ln w="10160">
            <a:solidFill>
              <a:srgbClr val="FFFFFF"/>
            </a:solidFill>
            <a:prstDash val="solid"/>
          </a:ln>
        </p:spPr>
        <p:txBody>
          <a:bodyPr/>
          <a:lstStyle/>
          <a:p>
            <a:endParaRPr lang="en-US"/>
          </a:p>
        </p:txBody>
      </p:sp>
      <p:sp>
        <p:nvSpPr>
          <p:cNvPr id="24" name="Text 22"/>
          <p:cNvSpPr/>
          <p:nvPr/>
        </p:nvSpPr>
        <p:spPr>
          <a:xfrm>
            <a:off x="4279392" y="2624328"/>
            <a:ext cx="3017520" cy="301752"/>
          </a:xfrm>
          <a:prstGeom prst="rect">
            <a:avLst/>
          </a:prstGeom>
          <a:noFill/>
          <a:ln/>
        </p:spPr>
        <p:txBody>
          <a:bodyPr wrap="square" lIns="0" tIns="0" rIns="0" bIns="0" rtlCol="0" anchor="ctr"/>
          <a:lstStyle/>
          <a:p>
            <a:pPr marL="0" indent="0" algn="l">
              <a:buNone/>
            </a:pPr>
            <a:r>
              <a:rPr lang="en-US" sz="1450" b="1" dirty="0">
                <a:solidFill>
                  <a:srgbClr val="18191D"/>
                </a:solidFill>
                <a:latin typeface="Arial" pitchFamily="34" charset="0"/>
                <a:ea typeface="Arial" pitchFamily="34" charset="-122"/>
                <a:cs typeface="Arial" pitchFamily="34" charset="-120"/>
              </a:rPr>
              <a:t>Local Control Center</a:t>
            </a:r>
            <a:endParaRPr lang="en-US" sz="1450" dirty="0"/>
          </a:p>
        </p:txBody>
      </p:sp>
      <p:sp>
        <p:nvSpPr>
          <p:cNvPr id="25" name="Text 23"/>
          <p:cNvSpPr/>
          <p:nvPr/>
        </p:nvSpPr>
        <p:spPr>
          <a:xfrm>
            <a:off x="4279392" y="2990088"/>
            <a:ext cx="3017520" cy="493776"/>
          </a:xfrm>
          <a:prstGeom prst="rect">
            <a:avLst/>
          </a:prstGeom>
          <a:noFill/>
          <a:ln/>
        </p:spPr>
        <p:txBody>
          <a:bodyPr wrap="square" lIns="0" tIns="0" rIns="0" bIns="0" rtlCol="0" anchor="ctr"/>
          <a:lstStyle/>
          <a:p>
            <a:pPr marL="0" indent="0" algn="l">
              <a:buNone/>
            </a:pPr>
            <a:r>
              <a:rPr lang="en-US" sz="1250" dirty="0">
                <a:solidFill>
                  <a:srgbClr val="5B6169"/>
                </a:solidFill>
                <a:latin typeface="Arial" pitchFamily="34" charset="0"/>
                <a:ea typeface="Arial" pitchFamily="34" charset="-122"/>
                <a:cs typeface="Arial" pitchFamily="34" charset="-120"/>
              </a:rPr>
              <a:t>RBAC • policy • updates • diagnostics</a:t>
            </a:r>
            <a:endParaRPr lang="en-US" sz="1250" dirty="0"/>
          </a:p>
        </p:txBody>
      </p:sp>
      <p:sp>
        <p:nvSpPr>
          <p:cNvPr id="26" name="Shape 24"/>
          <p:cNvSpPr/>
          <p:nvPr/>
        </p:nvSpPr>
        <p:spPr>
          <a:xfrm>
            <a:off x="7754112" y="2551176"/>
            <a:ext cx="3694176" cy="996696"/>
          </a:xfrm>
          <a:prstGeom prst="rect">
            <a:avLst/>
          </a:prstGeom>
          <a:solidFill>
            <a:srgbClr val="FCECEF"/>
          </a:solidFill>
          <a:ln w="10160">
            <a:solidFill>
              <a:srgbClr val="FCECEF"/>
            </a:solidFill>
            <a:prstDash val="solid"/>
          </a:ln>
        </p:spPr>
        <p:txBody>
          <a:bodyPr/>
          <a:lstStyle/>
          <a:p>
            <a:endParaRPr lang="en-US"/>
          </a:p>
        </p:txBody>
      </p:sp>
      <p:sp>
        <p:nvSpPr>
          <p:cNvPr id="27" name="Text 25"/>
          <p:cNvSpPr/>
          <p:nvPr/>
        </p:nvSpPr>
        <p:spPr>
          <a:xfrm>
            <a:off x="7863840" y="2624328"/>
            <a:ext cx="3474720" cy="301752"/>
          </a:xfrm>
          <a:prstGeom prst="rect">
            <a:avLst/>
          </a:prstGeom>
          <a:noFill/>
          <a:ln/>
        </p:spPr>
        <p:txBody>
          <a:bodyPr wrap="square" lIns="0" tIns="0" rIns="0" bIns="0" rtlCol="0" anchor="ctr"/>
          <a:lstStyle/>
          <a:p>
            <a:pPr marL="0" indent="0" algn="l">
              <a:buNone/>
            </a:pPr>
            <a:r>
              <a:rPr lang="en-US" sz="1450" b="1" dirty="0">
                <a:solidFill>
                  <a:srgbClr val="18191D"/>
                </a:solidFill>
                <a:latin typeface="Arial" pitchFamily="34" charset="0"/>
                <a:ea typeface="Arial" pitchFamily="34" charset="-122"/>
                <a:cs typeface="Arial" pitchFamily="34" charset="-120"/>
              </a:rPr>
              <a:t>Gateway + Knowledge Agent</a:t>
            </a:r>
            <a:endParaRPr lang="en-US" sz="1450" dirty="0"/>
          </a:p>
        </p:txBody>
      </p:sp>
      <p:sp>
        <p:nvSpPr>
          <p:cNvPr id="28" name="Text 26"/>
          <p:cNvSpPr/>
          <p:nvPr/>
        </p:nvSpPr>
        <p:spPr>
          <a:xfrm>
            <a:off x="7863840" y="2990088"/>
            <a:ext cx="3474720" cy="493776"/>
          </a:xfrm>
          <a:prstGeom prst="rect">
            <a:avLst/>
          </a:prstGeom>
          <a:noFill/>
          <a:ln/>
        </p:spPr>
        <p:txBody>
          <a:bodyPr wrap="square" lIns="0" tIns="0" rIns="0" bIns="0" rtlCol="0" anchor="ctr"/>
          <a:lstStyle/>
          <a:p>
            <a:pPr marL="0" indent="0" algn="l">
              <a:buNone/>
            </a:pPr>
            <a:r>
              <a:rPr lang="en-US" sz="1250" dirty="0">
                <a:solidFill>
                  <a:srgbClr val="5B6169"/>
                </a:solidFill>
                <a:latin typeface="Arial" pitchFamily="34" charset="0"/>
                <a:ea typeface="Arial" pitchFamily="34" charset="-122"/>
                <a:cs typeface="Arial" pitchFamily="34" charset="-120"/>
              </a:rPr>
              <a:t>HTTPS API • ACLs • bounded workflows</a:t>
            </a:r>
            <a:endParaRPr lang="en-US" sz="1250" dirty="0"/>
          </a:p>
        </p:txBody>
      </p:sp>
      <p:sp>
        <p:nvSpPr>
          <p:cNvPr id="29" name="Shape 27"/>
          <p:cNvSpPr/>
          <p:nvPr/>
        </p:nvSpPr>
        <p:spPr>
          <a:xfrm>
            <a:off x="4169664" y="3794760"/>
            <a:ext cx="3236976" cy="1289304"/>
          </a:xfrm>
          <a:prstGeom prst="rect">
            <a:avLst/>
          </a:prstGeom>
          <a:solidFill>
            <a:srgbClr val="FFFFFF"/>
          </a:solidFill>
          <a:ln w="10160">
            <a:solidFill>
              <a:srgbClr val="FFFFFF"/>
            </a:solidFill>
            <a:prstDash val="solid"/>
          </a:ln>
        </p:spPr>
        <p:txBody>
          <a:bodyPr/>
          <a:lstStyle/>
          <a:p>
            <a:endParaRPr lang="en-US"/>
          </a:p>
        </p:txBody>
      </p:sp>
      <p:sp>
        <p:nvSpPr>
          <p:cNvPr id="30" name="Text 28"/>
          <p:cNvSpPr/>
          <p:nvPr/>
        </p:nvSpPr>
        <p:spPr>
          <a:xfrm>
            <a:off x="4279392" y="3867912"/>
            <a:ext cx="3017520" cy="301752"/>
          </a:xfrm>
          <a:prstGeom prst="rect">
            <a:avLst/>
          </a:prstGeom>
          <a:noFill/>
          <a:ln/>
        </p:spPr>
        <p:txBody>
          <a:bodyPr wrap="square" lIns="0" tIns="0" rIns="0" bIns="0" rtlCol="0" anchor="ctr"/>
          <a:lstStyle/>
          <a:p>
            <a:pPr marL="0" indent="0" algn="l">
              <a:buNone/>
            </a:pPr>
            <a:r>
              <a:rPr lang="en-US" sz="1450" b="1" dirty="0">
                <a:solidFill>
                  <a:srgbClr val="18191D"/>
                </a:solidFill>
                <a:latin typeface="Arial" pitchFamily="34" charset="0"/>
                <a:ea typeface="Arial" pitchFamily="34" charset="-122"/>
                <a:cs typeface="Arial" pitchFamily="34" charset="-120"/>
              </a:rPr>
              <a:t>Local artifacts + durable state</a:t>
            </a:r>
            <a:endParaRPr lang="en-US" sz="1450" dirty="0"/>
          </a:p>
        </p:txBody>
      </p:sp>
      <p:sp>
        <p:nvSpPr>
          <p:cNvPr id="31" name="Text 29"/>
          <p:cNvSpPr/>
          <p:nvPr/>
        </p:nvSpPr>
        <p:spPr>
          <a:xfrm>
            <a:off x="4279392" y="4233672"/>
            <a:ext cx="3017520" cy="786384"/>
          </a:xfrm>
          <a:prstGeom prst="rect">
            <a:avLst/>
          </a:prstGeom>
          <a:noFill/>
          <a:ln/>
        </p:spPr>
        <p:txBody>
          <a:bodyPr wrap="square" lIns="0" tIns="0" rIns="0" bIns="0" rtlCol="0" anchor="ctr"/>
          <a:lstStyle/>
          <a:p>
            <a:pPr marL="0" indent="0" algn="l">
              <a:buNone/>
            </a:pPr>
            <a:r>
              <a:rPr lang="en-US" sz="1250" dirty="0">
                <a:solidFill>
                  <a:srgbClr val="5B6169"/>
                </a:solidFill>
                <a:latin typeface="Arial" pitchFamily="34" charset="0"/>
                <a:ea typeface="Arial" pitchFamily="34" charset="-122"/>
                <a:cs typeface="Arial" pitchFamily="34" charset="-120"/>
              </a:rPr>
              <a:t>Registry cache • models • indexes</a:t>
            </a:r>
            <a:endParaRPr lang="en-US" sz="1250" dirty="0"/>
          </a:p>
          <a:p>
            <a:pPr marL="0" indent="0" algn="l">
              <a:buNone/>
            </a:pPr>
            <a:r>
              <a:rPr lang="en-US" sz="1250" dirty="0">
                <a:solidFill>
                  <a:srgbClr val="5B6169"/>
                </a:solidFill>
                <a:latin typeface="Arial" pitchFamily="34" charset="0"/>
                <a:ea typeface="Arial" pitchFamily="34" charset="-122"/>
                <a:cs typeface="Arial" pitchFamily="34" charset="-120"/>
              </a:rPr>
              <a:t>Audit • configuration • backups</a:t>
            </a:r>
            <a:endParaRPr lang="en-US" sz="1250" dirty="0"/>
          </a:p>
        </p:txBody>
      </p:sp>
      <p:sp>
        <p:nvSpPr>
          <p:cNvPr id="32" name="Shape 30"/>
          <p:cNvSpPr/>
          <p:nvPr/>
        </p:nvSpPr>
        <p:spPr>
          <a:xfrm>
            <a:off x="7754112" y="3794760"/>
            <a:ext cx="3694176" cy="1289304"/>
          </a:xfrm>
          <a:prstGeom prst="rect">
            <a:avLst/>
          </a:prstGeom>
          <a:solidFill>
            <a:srgbClr val="18191D"/>
          </a:solidFill>
          <a:ln w="10160">
            <a:solidFill>
              <a:srgbClr val="18191D"/>
            </a:solidFill>
            <a:prstDash val="solid"/>
          </a:ln>
        </p:spPr>
        <p:txBody>
          <a:bodyPr/>
          <a:lstStyle/>
          <a:p>
            <a:endParaRPr lang="en-US"/>
          </a:p>
        </p:txBody>
      </p:sp>
      <p:sp>
        <p:nvSpPr>
          <p:cNvPr id="33" name="Text 31"/>
          <p:cNvSpPr/>
          <p:nvPr/>
        </p:nvSpPr>
        <p:spPr>
          <a:xfrm>
            <a:off x="7863840" y="3867912"/>
            <a:ext cx="3474720" cy="301752"/>
          </a:xfrm>
          <a:prstGeom prst="rect">
            <a:avLst/>
          </a:prstGeom>
          <a:noFill/>
          <a:ln/>
        </p:spPr>
        <p:txBody>
          <a:bodyPr wrap="square" lIns="0" tIns="0" rIns="0" bIns="0" rtlCol="0" anchor="ctr"/>
          <a:lstStyle/>
          <a:p>
            <a:pPr marL="0" indent="0" algn="l">
              <a:buNone/>
            </a:pPr>
            <a:r>
              <a:rPr lang="en-US" sz="1450" b="1" dirty="0">
                <a:solidFill>
                  <a:srgbClr val="FFFFFF"/>
                </a:solidFill>
                <a:latin typeface="Arial" pitchFamily="34" charset="0"/>
                <a:ea typeface="Arial" pitchFamily="34" charset="-122"/>
                <a:cs typeface="Arial" pitchFamily="34" charset="-120"/>
              </a:rPr>
              <a:t>Serving Manager + ATMOS runtime</a:t>
            </a:r>
            <a:endParaRPr lang="en-US" sz="1450" dirty="0"/>
          </a:p>
        </p:txBody>
      </p:sp>
      <p:sp>
        <p:nvSpPr>
          <p:cNvPr id="34" name="Text 32"/>
          <p:cNvSpPr/>
          <p:nvPr/>
        </p:nvSpPr>
        <p:spPr>
          <a:xfrm>
            <a:off x="7863840" y="4233672"/>
            <a:ext cx="3474720" cy="786384"/>
          </a:xfrm>
          <a:prstGeom prst="rect">
            <a:avLst/>
          </a:prstGeom>
          <a:noFill/>
          <a:ln/>
        </p:spPr>
        <p:txBody>
          <a:bodyPr wrap="square" lIns="0" tIns="0" rIns="0" bIns="0" rtlCol="0" anchor="ctr"/>
          <a:lstStyle/>
          <a:p>
            <a:pPr marL="0" indent="0" algn="l">
              <a:buNone/>
            </a:pPr>
            <a:r>
              <a:rPr lang="en-US" sz="1250" dirty="0">
                <a:solidFill>
                  <a:srgbClr val="FFFFFF"/>
                </a:solidFill>
                <a:latin typeface="Arial" pitchFamily="34" charset="0"/>
                <a:ea typeface="Arial" pitchFamily="34" charset="-122"/>
                <a:cs typeface="Arial" pitchFamily="34" charset="-120"/>
              </a:rPr>
              <a:t>Certified CPU/NPU paths</a:t>
            </a:r>
            <a:endParaRPr lang="en-US" sz="1250" dirty="0"/>
          </a:p>
          <a:p>
            <a:pPr marL="0" indent="0" algn="l">
              <a:buNone/>
            </a:pPr>
            <a:r>
              <a:rPr lang="en-US" sz="1250" dirty="0">
                <a:solidFill>
                  <a:srgbClr val="FFFFFF"/>
                </a:solidFill>
                <a:latin typeface="Arial" pitchFamily="34" charset="0"/>
                <a:ea typeface="Arial" pitchFamily="34" charset="-122"/>
                <a:cs typeface="Arial" pitchFamily="34" charset="-120"/>
              </a:rPr>
              <a:t>Whole model groups • local KV</a:t>
            </a:r>
            <a:endParaRPr lang="en-US" sz="1250" dirty="0"/>
          </a:p>
        </p:txBody>
      </p:sp>
      <p:sp>
        <p:nvSpPr>
          <p:cNvPr id="35" name="Shape 33"/>
          <p:cNvSpPr/>
          <p:nvPr/>
        </p:nvSpPr>
        <p:spPr>
          <a:xfrm>
            <a:off x="3282696" y="3108960"/>
            <a:ext cx="877824" cy="0"/>
          </a:xfrm>
          <a:prstGeom prst="line">
            <a:avLst/>
          </a:prstGeom>
          <a:noFill/>
          <a:ln w="19050">
            <a:solidFill>
              <a:srgbClr val="E31837"/>
            </a:solidFill>
            <a:prstDash val="dash"/>
            <a:headEnd type="none"/>
            <a:tailEnd type="triangle"/>
          </a:ln>
        </p:spPr>
        <p:txBody>
          <a:bodyPr/>
          <a:lstStyle/>
          <a:p>
            <a:endParaRPr lang="en-US"/>
          </a:p>
        </p:txBody>
      </p:sp>
      <p:sp>
        <p:nvSpPr>
          <p:cNvPr id="36" name="Text 34"/>
          <p:cNvSpPr/>
          <p:nvPr/>
        </p:nvSpPr>
        <p:spPr>
          <a:xfrm>
            <a:off x="3474720" y="3337560"/>
            <a:ext cx="566928" cy="384048"/>
          </a:xfrm>
          <a:prstGeom prst="rect">
            <a:avLst/>
          </a:prstGeom>
          <a:noFill/>
          <a:ln/>
        </p:spPr>
        <p:txBody>
          <a:bodyPr wrap="square" lIns="0" tIns="0" rIns="0" bIns="0" rtlCol="0" anchor="ctr"/>
          <a:lstStyle/>
          <a:p>
            <a:pPr marL="0" indent="0" algn="ctr">
              <a:buNone/>
            </a:pPr>
            <a:r>
              <a:rPr lang="en-US" sz="970" dirty="0">
                <a:solidFill>
                  <a:srgbClr val="5B6169"/>
                </a:solidFill>
                <a:latin typeface="Arial" pitchFamily="34" charset="0"/>
                <a:ea typeface="Arial" pitchFamily="34" charset="-122"/>
                <a:cs typeface="Arial" pitchFamily="34" charset="-120"/>
              </a:rPr>
              <a:t>pull / import</a:t>
            </a:r>
            <a:endParaRPr lang="en-US" sz="970" dirty="0"/>
          </a:p>
        </p:txBody>
      </p:sp>
      <p:sp>
        <p:nvSpPr>
          <p:cNvPr id="37" name="Shape 35"/>
          <p:cNvSpPr/>
          <p:nvPr/>
        </p:nvSpPr>
        <p:spPr>
          <a:xfrm>
            <a:off x="9601200" y="3557016"/>
            <a:ext cx="0" cy="228600"/>
          </a:xfrm>
          <a:prstGeom prst="line">
            <a:avLst/>
          </a:prstGeom>
          <a:noFill/>
          <a:ln w="19050">
            <a:solidFill>
              <a:srgbClr val="E31837"/>
            </a:solidFill>
            <a:prstDash val="solid"/>
            <a:headEnd type="none"/>
            <a:tailEnd type="triangle"/>
          </a:ln>
        </p:spPr>
        <p:txBody>
          <a:bodyPr/>
          <a:lstStyle/>
          <a:p>
            <a:endParaRPr lang="en-US"/>
          </a:p>
        </p:txBody>
      </p:sp>
      <p:sp>
        <p:nvSpPr>
          <p:cNvPr id="38" name="Shape 36"/>
          <p:cNvSpPr/>
          <p:nvPr/>
        </p:nvSpPr>
        <p:spPr>
          <a:xfrm>
            <a:off x="7406640" y="4434840"/>
            <a:ext cx="329184" cy="0"/>
          </a:xfrm>
          <a:prstGeom prst="line">
            <a:avLst/>
          </a:prstGeom>
          <a:noFill/>
          <a:ln w="19050">
            <a:solidFill>
              <a:srgbClr val="5B6169"/>
            </a:solidFill>
            <a:prstDash val="solid"/>
            <a:headEnd type="none"/>
            <a:tailEnd type="triangle"/>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04</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dirty="0">
                <a:solidFill>
                  <a:srgbClr val="536879"/>
                </a:solidFill>
                <a:latin typeface="Aptos"/>
              </a:rPr>
              <a:t>Packaged components, stable contracts and operations—not a requirement for the customer to assemble an inference platform.</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4</a:t>
            </a:r>
          </a:p>
        </p:txBody>
      </p:sp>
      <p:sp>
        <p:nvSpPr>
          <p:cNvPr id="11" name="TextBox 10"/>
          <p:cNvSpPr txBox="1"/>
          <p:nvPr/>
        </p:nvSpPr>
        <p:spPr>
          <a:xfrm>
            <a:off x="502920" y="1856231"/>
            <a:ext cx="34290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EXPERIENCE AND KNOWLEDGE</a:t>
            </a:r>
          </a:p>
        </p:txBody>
      </p:sp>
      <p:sp>
        <p:nvSpPr>
          <p:cNvPr id="12" name="TextBox 11"/>
          <p:cNvSpPr txBox="1"/>
          <p:nvPr/>
        </p:nvSpPr>
        <p:spPr>
          <a:xfrm>
            <a:off x="4297680" y="1856231"/>
            <a:ext cx="37398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SERVING AND DEVICE EXECUTION</a:t>
            </a:r>
          </a:p>
        </p:txBody>
      </p:sp>
      <p:sp>
        <p:nvSpPr>
          <p:cNvPr id="13" name="TextBox 12"/>
          <p:cNvSpPr txBox="1"/>
          <p:nvPr/>
        </p:nvSpPr>
        <p:spPr>
          <a:xfrm>
            <a:off x="8412480" y="1856231"/>
            <a:ext cx="3273552"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TRUST AND FLEET OPERATIONS</a:t>
            </a:r>
          </a:p>
        </p:txBody>
      </p:sp>
      <p:sp>
        <p:nvSpPr>
          <p:cNvPr id="14" name="Rectangle 13"/>
          <p:cNvSpPr/>
          <p:nvPr/>
        </p:nvSpPr>
        <p:spPr>
          <a:xfrm>
            <a:off x="502920" y="2267712"/>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94360" y="2318004"/>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Knowledge Agent / UI
Search, RAG, approved workflows</a:t>
            </a:r>
          </a:p>
        </p:txBody>
      </p:sp>
      <p:sp>
        <p:nvSpPr>
          <p:cNvPr id="16" name="Rectangle 15"/>
          <p:cNvSpPr/>
          <p:nvPr/>
        </p:nvSpPr>
        <p:spPr>
          <a:xfrm>
            <a:off x="4297680" y="2267712"/>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389120" y="2318004"/>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Gateway
Auth, quota, API policy and accounting</a:t>
            </a:r>
          </a:p>
        </p:txBody>
      </p:sp>
      <p:sp>
        <p:nvSpPr>
          <p:cNvPr id="18" name="Rectangle 17"/>
          <p:cNvSpPr/>
          <p:nvPr/>
        </p:nvSpPr>
        <p:spPr>
          <a:xfrm>
            <a:off x="8412480" y="2267712"/>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503919" y="2318004"/>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Control Center
Fleet, SLO, updates and cases</a:t>
            </a:r>
          </a:p>
        </p:txBody>
      </p:sp>
      <p:cxnSp>
        <p:nvCxnSpPr>
          <p:cNvPr id="20" name="Connector 19"/>
          <p:cNvCxnSpPr/>
          <p:nvPr/>
        </p:nvCxnSpPr>
        <p:spPr>
          <a:xfrm>
            <a:off x="6167628" y="2953512"/>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3099816"/>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94360" y="3150108"/>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SDK / API portal / notebooks
Python, REST, examples and profiling</a:t>
            </a:r>
          </a:p>
        </p:txBody>
      </p:sp>
      <p:sp>
        <p:nvSpPr>
          <p:cNvPr id="23" name="Rectangle 22"/>
          <p:cNvSpPr/>
          <p:nvPr/>
        </p:nvSpPr>
        <p:spPr>
          <a:xfrm>
            <a:off x="4297680" y="3099816"/>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4389120" y="3150108"/>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Serving Manager
KServe/llm-d candidate; replicas, queues</a:t>
            </a:r>
          </a:p>
        </p:txBody>
      </p:sp>
      <p:sp>
        <p:nvSpPr>
          <p:cNvPr id="25" name="Rectangle 24"/>
          <p:cNvSpPr/>
          <p:nvPr/>
        </p:nvSpPr>
        <p:spPr>
          <a:xfrm>
            <a:off x="8412480" y="3099816"/>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8503919" y="3150108"/>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Identity / secrets / network
OIDC/SAML, RBAC, vault, TLS/mTLS</a:t>
            </a:r>
          </a:p>
        </p:txBody>
      </p:sp>
      <p:cxnSp>
        <p:nvCxnSpPr>
          <p:cNvPr id="27" name="Connector 26"/>
          <p:cNvCxnSpPr/>
          <p:nvPr/>
        </p:nvCxnSpPr>
        <p:spPr>
          <a:xfrm>
            <a:off x="6167628" y="3785616"/>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02920" y="3931920"/>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594360" y="3982211"/>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Knowledge plane
Connectors, parsers, ACLs and indexes</a:t>
            </a:r>
          </a:p>
        </p:txBody>
      </p:sp>
      <p:sp>
        <p:nvSpPr>
          <p:cNvPr id="30" name="Rectangle 29"/>
          <p:cNvSpPr/>
          <p:nvPr/>
        </p:nvSpPr>
        <p:spPr>
          <a:xfrm>
            <a:off x="4297680" y="3931920"/>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4389120" y="3982211"/>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Model Services / ATMOS runtime
Certified operators and memory plans</a:t>
            </a:r>
          </a:p>
        </p:txBody>
      </p:sp>
      <p:sp>
        <p:nvSpPr>
          <p:cNvPr id="32" name="Rectangle 31"/>
          <p:cNvSpPr/>
          <p:nvPr/>
        </p:nvSpPr>
        <p:spPr>
          <a:xfrm>
            <a:off x="8412480" y="3931920"/>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503919" y="3982211"/>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Supply chain / policy / evidence
Signing, SBOM, policy and audit</a:t>
            </a:r>
          </a:p>
        </p:txBody>
      </p:sp>
      <p:cxnSp>
        <p:nvCxnSpPr>
          <p:cNvPr id="34" name="Connector 33"/>
          <p:cNvCxnSpPr/>
          <p:nvPr/>
        </p:nvCxnSpPr>
        <p:spPr>
          <a:xfrm>
            <a:off x="6167628" y="4617720"/>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02920" y="4764024"/>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94360" y="4814316"/>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Certified ModelPacks
Weights, tokenizer, kernels and tests</a:t>
            </a:r>
          </a:p>
        </p:txBody>
      </p:sp>
      <p:sp>
        <p:nvSpPr>
          <p:cNvPr id="37" name="Rectangle 36"/>
          <p:cNvSpPr/>
          <p:nvPr/>
        </p:nvSpPr>
        <p:spPr>
          <a:xfrm>
            <a:off x="4297680" y="4764024"/>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389120" y="4814316"/>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AI OS + Device Service
DRA/CDI/operator, DMA, P2P, firmware</a:t>
            </a:r>
          </a:p>
        </p:txBody>
      </p:sp>
      <p:sp>
        <p:nvSpPr>
          <p:cNvPr id="39" name="Rectangle 38"/>
          <p:cNvSpPr/>
          <p:nvPr/>
        </p:nvSpPr>
        <p:spPr>
          <a:xfrm>
            <a:off x="8412480" y="4764024"/>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8503919" y="4814316"/>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Enterprise Support
Prod/LTS, CVEs, OEM escalation</a:t>
            </a:r>
          </a:p>
        </p:txBody>
      </p:sp>
      <p:sp>
        <p:nvSpPr>
          <p:cNvPr id="41" name="Right Arrow 40"/>
          <p:cNvSpPr/>
          <p:nvPr/>
        </p:nvSpPr>
        <p:spPr>
          <a:xfrm>
            <a:off x="3977639" y="2523744"/>
            <a:ext cx="25603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a:off x="8037575" y="3447288"/>
            <a:ext cx="374905" cy="0"/>
          </a:xfrm>
          <a:prstGeom prst="line">
            <a:avLst/>
          </a:prstGeom>
          <a:ln w="19050">
            <a:solidFill>
              <a:srgbClr val="D51F3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ATMOS runtime/driver/operator, HBF placement and workload adapters must be delivered/qualified; upstream projects do not establish ready ATMOS support. PRD 3-4 / 12.</a:t>
            </a:r>
          </a:p>
        </p:txBody>
      </p:sp>
      <p:sp>
        <p:nvSpPr>
          <p:cNvPr id="44" name="TextBox 43">
            <a:extLst>
              <a:ext uri="{FF2B5EF4-FFF2-40B4-BE49-F238E27FC236}">
                <a16:creationId xmlns:a16="http://schemas.microsoft.com/office/drawing/2014/main" id="{5E4B1B37-0D8A-683D-3102-9ABD1EB9EABF}"/>
              </a:ext>
            </a:extLst>
          </p:cNvPr>
          <p:cNvSpPr txBox="1"/>
          <p:nvPr/>
        </p:nvSpPr>
        <p:spPr>
          <a:xfrm>
            <a:off x="2564091" y="624708"/>
            <a:ext cx="6622710" cy="486287"/>
          </a:xfrm>
          <a:prstGeom prst="rect">
            <a:avLst/>
          </a:prstGeom>
          <a:noFill/>
        </p:spPr>
        <p:txBody>
          <a:bodyPr wrap="square" lIns="27432" tIns="27432" rIns="27432" bIns="27432" anchor="t">
            <a:spAutoFit/>
          </a:bodyPr>
          <a:lstStyle>
            <a:defPPr>
              <a:defRPr lang="en-US"/>
            </a:defPPr>
            <a:lvl1pPr>
              <a:lnSpc>
                <a:spcPct val="100000"/>
              </a:lnSpc>
              <a:spcBef>
                <a:spcPts val="0"/>
              </a:spcBef>
              <a:spcAft>
                <a:spcPts val="0"/>
              </a:spcAft>
              <a:defRPr sz="2800" b="1">
                <a:solidFill>
                  <a:srgbClr val="183246"/>
                </a:solidFill>
                <a:latin typeface="Aptos"/>
              </a:defRPr>
            </a:lvl1pPr>
          </a:lstStyle>
          <a:p>
            <a:r>
              <a:rPr lang="en-US" dirty="0"/>
              <a:t>Enterprise Knowledge Agent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WHAT SANDISK MUST BUILD</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The backend and support system are part of the product.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Reuse Linux, Kubernetes and service components; own the ATMOS contract and customer lifecycle.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10</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§10</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[S36] [S37] [S39] [S41]</a:t>
            </a:r>
            <a:endParaRPr lang="en-US" sz="820" dirty="0"/>
          </a:p>
        </p:txBody>
      </p:sp>
      <p:sp>
        <p:nvSpPr>
          <p:cNvPr id="12" name="Shape 10"/>
          <p:cNvSpPr/>
          <p:nvPr/>
        </p:nvSpPr>
        <p:spPr>
          <a:xfrm>
            <a:off x="502920" y="2039112"/>
            <a:ext cx="3602736" cy="3529584"/>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658368" y="2221992"/>
            <a:ext cx="3291840" cy="256032"/>
          </a:xfrm>
          <a:prstGeom prst="rect">
            <a:avLst/>
          </a:prstGeom>
          <a:solidFill>
            <a:srgbClr val="FDECEF"/>
          </a:solidFill>
          <a:ln w="8255">
            <a:solidFill>
              <a:srgbClr val="FDECEF"/>
            </a:solidFill>
            <a:prstDash val="solid"/>
          </a:ln>
        </p:spPr>
        <p:txBody>
          <a:bodyPr/>
          <a:lstStyle/>
          <a:p>
            <a:endParaRPr lang="en-US"/>
          </a:p>
        </p:txBody>
      </p:sp>
      <p:sp>
        <p:nvSpPr>
          <p:cNvPr id="14" name="Text 12"/>
          <p:cNvSpPr/>
          <p:nvPr/>
        </p:nvSpPr>
        <p:spPr>
          <a:xfrm>
            <a:off x="731520" y="2221992"/>
            <a:ext cx="3145536"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EXECUTION</a:t>
            </a:r>
            <a:endParaRPr lang="en-US" sz="930" dirty="0"/>
          </a:p>
        </p:txBody>
      </p:sp>
      <p:sp>
        <p:nvSpPr>
          <p:cNvPr id="15" name="Text 13"/>
          <p:cNvSpPr/>
          <p:nvPr/>
        </p:nvSpPr>
        <p:spPr>
          <a:xfrm>
            <a:off x="685800" y="2743200"/>
            <a:ext cx="3236976" cy="1014984"/>
          </a:xfrm>
          <a:prstGeom prst="rect">
            <a:avLst/>
          </a:prstGeom>
          <a:noFill/>
          <a:ln/>
        </p:spPr>
        <p:txBody>
          <a:bodyPr wrap="square" lIns="0" tIns="0" rIns="0" bIns="0" rtlCol="0" anchor="ctr">
            <a:normAutofit/>
          </a:bodyPr>
          <a:lstStyle/>
          <a:p>
            <a:pPr marL="0" indent="0">
              <a:buNone/>
            </a:pPr>
            <a:r>
              <a:rPr lang="en-US" sz="2100" b="1" dirty="0">
                <a:solidFill>
                  <a:srgbClr val="18191D"/>
                </a:solidFill>
                <a:latin typeface="Arial" pitchFamily="34" charset="0"/>
                <a:ea typeface="Arial" pitchFamily="34" charset="-122"/>
                <a:cs typeface="Arial" pitchFamily="34" charset="-120"/>
              </a:rPr>
              <a:t>AI OS</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Device Service</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Model Services</a:t>
            </a:r>
            <a:endParaRPr lang="en-US" sz="2100" dirty="0"/>
          </a:p>
        </p:txBody>
      </p:sp>
      <p:sp>
        <p:nvSpPr>
          <p:cNvPr id="16" name="Text 14"/>
          <p:cNvSpPr/>
          <p:nvPr/>
        </p:nvSpPr>
        <p:spPr>
          <a:xfrm>
            <a:off x="685800" y="4105656"/>
            <a:ext cx="3236976" cy="1069848"/>
          </a:xfrm>
          <a:prstGeom prst="rect">
            <a:avLst/>
          </a:prstGeom>
          <a:noFill/>
          <a:ln/>
        </p:spPr>
        <p:txBody>
          <a:bodyPr wrap="square" lIns="0" tIns="0" rIns="0" bIns="0" rtlCol="0" anchor="ctr">
            <a:normAutofit/>
          </a:bodyPr>
          <a:lstStyle/>
          <a:p>
            <a:pPr marL="0" indent="0">
              <a:buNone/>
            </a:pPr>
            <a:r>
              <a:rPr lang="en-US" sz="1500" dirty="0">
                <a:solidFill>
                  <a:srgbClr val="5B6169"/>
                </a:solidFill>
                <a:latin typeface="Arial" pitchFamily="34" charset="0"/>
                <a:ea typeface="Arial" pitchFamily="34" charset="-122"/>
                <a:cs typeface="Arial" pitchFamily="34" charset="-120"/>
              </a:rPr>
              <a:t>Signed platform; DMA/isolation; native kernels, active state and device fabric.</a:t>
            </a:r>
            <a:endParaRPr lang="en-US" sz="1500" dirty="0"/>
          </a:p>
        </p:txBody>
      </p:sp>
      <p:sp>
        <p:nvSpPr>
          <p:cNvPr id="17" name="Shape 15"/>
          <p:cNvSpPr/>
          <p:nvPr/>
        </p:nvSpPr>
        <p:spPr>
          <a:xfrm>
            <a:off x="4288536" y="2039112"/>
            <a:ext cx="3602736" cy="3529584"/>
          </a:xfrm>
          <a:prstGeom prst="rect">
            <a:avLst/>
          </a:prstGeom>
          <a:solidFill>
            <a:srgbClr val="F3F4F6"/>
          </a:solidFill>
          <a:ln w="8255">
            <a:solidFill>
              <a:srgbClr val="F3F4F6"/>
            </a:solidFill>
            <a:prstDash val="solid"/>
          </a:ln>
        </p:spPr>
        <p:txBody>
          <a:bodyPr/>
          <a:lstStyle/>
          <a:p>
            <a:endParaRPr lang="en-US"/>
          </a:p>
        </p:txBody>
      </p:sp>
      <p:sp>
        <p:nvSpPr>
          <p:cNvPr id="18" name="Shape 16"/>
          <p:cNvSpPr/>
          <p:nvPr/>
        </p:nvSpPr>
        <p:spPr>
          <a:xfrm>
            <a:off x="4443984" y="2221992"/>
            <a:ext cx="3291840" cy="256032"/>
          </a:xfrm>
          <a:prstGeom prst="rect">
            <a:avLst/>
          </a:prstGeom>
          <a:solidFill>
            <a:srgbClr val="FDECEF"/>
          </a:solidFill>
          <a:ln w="8255">
            <a:solidFill>
              <a:srgbClr val="FDECEF"/>
            </a:solidFill>
            <a:prstDash val="solid"/>
          </a:ln>
        </p:spPr>
        <p:txBody>
          <a:bodyPr/>
          <a:lstStyle/>
          <a:p>
            <a:endParaRPr lang="en-US"/>
          </a:p>
        </p:txBody>
      </p:sp>
      <p:sp>
        <p:nvSpPr>
          <p:cNvPr id="19" name="Text 17"/>
          <p:cNvSpPr/>
          <p:nvPr/>
        </p:nvSpPr>
        <p:spPr>
          <a:xfrm>
            <a:off x="4517136" y="2221992"/>
            <a:ext cx="3145536"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EXPERIENCE</a:t>
            </a:r>
            <a:endParaRPr lang="en-US" sz="930" dirty="0"/>
          </a:p>
        </p:txBody>
      </p:sp>
      <p:sp>
        <p:nvSpPr>
          <p:cNvPr id="20" name="Text 18"/>
          <p:cNvSpPr/>
          <p:nvPr/>
        </p:nvSpPr>
        <p:spPr>
          <a:xfrm>
            <a:off x="4471416" y="2743200"/>
            <a:ext cx="3236976" cy="1014984"/>
          </a:xfrm>
          <a:prstGeom prst="rect">
            <a:avLst/>
          </a:prstGeom>
          <a:noFill/>
          <a:ln/>
        </p:spPr>
        <p:txBody>
          <a:bodyPr wrap="square" lIns="0" tIns="0" rIns="0" bIns="0" rtlCol="0" anchor="ctr">
            <a:normAutofit/>
          </a:bodyPr>
          <a:lstStyle/>
          <a:p>
            <a:pPr marL="0" indent="0">
              <a:buNone/>
            </a:pPr>
            <a:r>
              <a:rPr lang="en-US" sz="2100" b="1" dirty="0">
                <a:solidFill>
                  <a:srgbClr val="18191D"/>
                </a:solidFill>
                <a:latin typeface="Arial" pitchFamily="34" charset="0"/>
                <a:ea typeface="Arial" pitchFamily="34" charset="-122"/>
                <a:cs typeface="Arial" pitchFamily="34" charset="-120"/>
              </a:rPr>
              <a:t>Certified ModelPacks</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Serving Manager</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Knowledge Agent</a:t>
            </a:r>
            <a:endParaRPr lang="en-US" sz="2100" dirty="0"/>
          </a:p>
        </p:txBody>
      </p:sp>
      <p:sp>
        <p:nvSpPr>
          <p:cNvPr id="21" name="Text 19"/>
          <p:cNvSpPr/>
          <p:nvPr/>
        </p:nvSpPr>
        <p:spPr>
          <a:xfrm>
            <a:off x="4471416" y="4105656"/>
            <a:ext cx="3236976" cy="1069848"/>
          </a:xfrm>
          <a:prstGeom prst="rect">
            <a:avLst/>
          </a:prstGeom>
          <a:noFill/>
          <a:ln/>
        </p:spPr>
        <p:txBody>
          <a:bodyPr wrap="square" lIns="0" tIns="0" rIns="0" bIns="0" rtlCol="0" anchor="ctr">
            <a:normAutofit/>
          </a:bodyPr>
          <a:lstStyle/>
          <a:p>
            <a:pPr marL="0" indent="0">
              <a:buNone/>
            </a:pPr>
            <a:r>
              <a:rPr lang="en-US" sz="1500" dirty="0">
                <a:solidFill>
                  <a:srgbClr val="5B6169"/>
                </a:solidFill>
                <a:latin typeface="Arial" pitchFamily="34" charset="0"/>
                <a:ea typeface="Arial" pitchFamily="34" charset="-122"/>
                <a:cs typeface="Arial" pitchFamily="34" charset="-120"/>
              </a:rPr>
              <a:t>Golden tests; admission and quotas; governed sources, citations and bounded workflows.</a:t>
            </a:r>
            <a:endParaRPr lang="en-US" sz="1500" dirty="0"/>
          </a:p>
        </p:txBody>
      </p:sp>
      <p:sp>
        <p:nvSpPr>
          <p:cNvPr id="22" name="Shape 20"/>
          <p:cNvSpPr/>
          <p:nvPr/>
        </p:nvSpPr>
        <p:spPr>
          <a:xfrm>
            <a:off x="8074152" y="2039112"/>
            <a:ext cx="3602736" cy="3529584"/>
          </a:xfrm>
          <a:prstGeom prst="rect">
            <a:avLst/>
          </a:prstGeom>
          <a:solidFill>
            <a:srgbClr val="F3F4F6"/>
          </a:solidFill>
          <a:ln w="8255">
            <a:solidFill>
              <a:srgbClr val="F3F4F6"/>
            </a:solidFill>
            <a:prstDash val="solid"/>
          </a:ln>
        </p:spPr>
        <p:txBody>
          <a:bodyPr/>
          <a:lstStyle/>
          <a:p>
            <a:endParaRPr lang="en-US"/>
          </a:p>
        </p:txBody>
      </p:sp>
      <p:sp>
        <p:nvSpPr>
          <p:cNvPr id="23" name="Shape 21"/>
          <p:cNvSpPr/>
          <p:nvPr/>
        </p:nvSpPr>
        <p:spPr>
          <a:xfrm>
            <a:off x="8229600" y="2221992"/>
            <a:ext cx="3291840" cy="256032"/>
          </a:xfrm>
          <a:prstGeom prst="rect">
            <a:avLst/>
          </a:prstGeom>
          <a:solidFill>
            <a:srgbClr val="FDECEF"/>
          </a:solidFill>
          <a:ln w="8255">
            <a:solidFill>
              <a:srgbClr val="FDECEF"/>
            </a:solidFill>
            <a:prstDash val="solid"/>
          </a:ln>
        </p:spPr>
        <p:txBody>
          <a:bodyPr/>
          <a:lstStyle/>
          <a:p>
            <a:endParaRPr lang="en-US"/>
          </a:p>
        </p:txBody>
      </p:sp>
      <p:sp>
        <p:nvSpPr>
          <p:cNvPr id="24" name="Text 22"/>
          <p:cNvSpPr/>
          <p:nvPr/>
        </p:nvSpPr>
        <p:spPr>
          <a:xfrm>
            <a:off x="8302752" y="2221992"/>
            <a:ext cx="3145536"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OPERATIONS</a:t>
            </a:r>
            <a:endParaRPr lang="en-US" sz="930" dirty="0"/>
          </a:p>
        </p:txBody>
      </p:sp>
      <p:sp>
        <p:nvSpPr>
          <p:cNvPr id="25" name="Text 23"/>
          <p:cNvSpPr/>
          <p:nvPr/>
        </p:nvSpPr>
        <p:spPr>
          <a:xfrm>
            <a:off x="8257032" y="2743200"/>
            <a:ext cx="3236976" cy="1014984"/>
          </a:xfrm>
          <a:prstGeom prst="rect">
            <a:avLst/>
          </a:prstGeom>
          <a:noFill/>
          <a:ln/>
        </p:spPr>
        <p:txBody>
          <a:bodyPr wrap="square" lIns="0" tIns="0" rIns="0" bIns="0" rtlCol="0" anchor="ctr">
            <a:normAutofit/>
          </a:bodyPr>
          <a:lstStyle/>
          <a:p>
            <a:pPr marL="0" indent="0">
              <a:buNone/>
            </a:pPr>
            <a:r>
              <a:rPr lang="en-US" sz="2100" b="1" dirty="0">
                <a:solidFill>
                  <a:srgbClr val="18191D"/>
                </a:solidFill>
                <a:latin typeface="Arial" pitchFamily="34" charset="0"/>
                <a:ea typeface="Arial" pitchFamily="34" charset="-122"/>
                <a:cs typeface="Arial" pitchFamily="34" charset="-120"/>
              </a:rPr>
              <a:t>Control Center</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SDK</a:t>
            </a:r>
            <a:endParaRPr lang="en-US" sz="2100" dirty="0"/>
          </a:p>
          <a:p>
            <a:pPr marL="0" indent="0">
              <a:buNone/>
            </a:pPr>
            <a:r>
              <a:rPr lang="en-US" sz="2100" b="1" dirty="0">
                <a:solidFill>
                  <a:srgbClr val="18191D"/>
                </a:solidFill>
                <a:latin typeface="Arial" pitchFamily="34" charset="0"/>
                <a:ea typeface="Arial" pitchFamily="34" charset="-122"/>
                <a:cs typeface="Arial" pitchFamily="34" charset="-120"/>
              </a:rPr>
              <a:t>Enterprise Support</a:t>
            </a:r>
            <a:endParaRPr lang="en-US" sz="2100" dirty="0"/>
          </a:p>
        </p:txBody>
      </p:sp>
      <p:sp>
        <p:nvSpPr>
          <p:cNvPr id="26" name="Text 24"/>
          <p:cNvSpPr/>
          <p:nvPr/>
        </p:nvSpPr>
        <p:spPr>
          <a:xfrm>
            <a:off x="8257032" y="4105656"/>
            <a:ext cx="3236976" cy="1069848"/>
          </a:xfrm>
          <a:prstGeom prst="rect">
            <a:avLst/>
          </a:prstGeom>
          <a:noFill/>
          <a:ln/>
        </p:spPr>
        <p:txBody>
          <a:bodyPr wrap="square" lIns="0" tIns="0" rIns="0" bIns="0" rtlCol="0" anchor="ctr">
            <a:normAutofit/>
          </a:bodyPr>
          <a:lstStyle/>
          <a:p>
            <a:pPr marL="0" indent="0">
              <a:buNone/>
            </a:pPr>
            <a:r>
              <a:rPr lang="en-US" sz="1500" dirty="0">
                <a:solidFill>
                  <a:srgbClr val="5B6169"/>
                </a:solidFill>
                <a:latin typeface="Arial" pitchFamily="34" charset="0"/>
                <a:ea typeface="Arial" pitchFamily="34" charset="-122"/>
                <a:cs typeface="Arial" pitchFamily="34" charset="-120"/>
              </a:rPr>
              <a:t>Fleet and SLO views; APIs; entitlement, CVE response, updates, rollback and OEM cases.</a:t>
            </a:r>
            <a:endParaRPr lang="en-US" sz="15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OEM reuse reduces platform work. It does not supply ATMOS software, certification or prime support for free.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4CFCA-4557-BCA4-18DB-27645BA84E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043C4E-E3E9-ED36-8562-2F6B5A2ABCE8}"/>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a:extLst>
              <a:ext uri="{FF2B5EF4-FFF2-40B4-BE49-F238E27FC236}">
                <a16:creationId xmlns:a16="http://schemas.microsoft.com/office/drawing/2014/main" id="{4F1A2A41-D21C-CA77-5C2A-F6F8113864DA}"/>
              </a:ext>
            </a:extLst>
          </p:cNvPr>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a:extLst>
              <a:ext uri="{FF2B5EF4-FFF2-40B4-BE49-F238E27FC236}">
                <a16:creationId xmlns:a16="http://schemas.microsoft.com/office/drawing/2014/main" id="{00495889-1FD5-EF47-09FF-7BF7B614F2DC}"/>
              </a:ext>
            </a:extLst>
          </p:cNvPr>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WHAT SANDISK MUST BUILD</a:t>
            </a:r>
            <a:endParaRPr lang="en-US" sz="1030" dirty="0"/>
          </a:p>
        </p:txBody>
      </p:sp>
      <p:sp>
        <p:nvSpPr>
          <p:cNvPr id="5" name="Text 3">
            <a:extLst>
              <a:ext uri="{FF2B5EF4-FFF2-40B4-BE49-F238E27FC236}">
                <a16:creationId xmlns:a16="http://schemas.microsoft.com/office/drawing/2014/main" id="{785114DE-7D2C-9BC1-59B1-72E1140DFEF8}"/>
              </a:ext>
            </a:extLst>
          </p:cNvPr>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Native runtime and Ownership</a:t>
            </a:r>
            <a:endParaRPr lang="en-US" sz="2900" dirty="0"/>
          </a:p>
        </p:txBody>
      </p:sp>
      <p:sp>
        <p:nvSpPr>
          <p:cNvPr id="6" name="Text 4">
            <a:extLst>
              <a:ext uri="{FF2B5EF4-FFF2-40B4-BE49-F238E27FC236}">
                <a16:creationId xmlns:a16="http://schemas.microsoft.com/office/drawing/2014/main" id="{9731E642-5B39-D8E3-BDF3-FDFC7ACFA697}"/>
              </a:ext>
            </a:extLst>
          </p:cNvPr>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Reuse Linux, Kubernetes and service components; own the ATMOS contract and customer lifecycle.</a:t>
            </a:r>
            <a:endParaRPr lang="en-US" sz="1400" dirty="0"/>
          </a:p>
        </p:txBody>
      </p:sp>
      <p:sp>
        <p:nvSpPr>
          <p:cNvPr id="7" name="Shape 5">
            <a:extLst>
              <a:ext uri="{FF2B5EF4-FFF2-40B4-BE49-F238E27FC236}">
                <a16:creationId xmlns:a16="http://schemas.microsoft.com/office/drawing/2014/main" id="{35BC50E0-4122-6BCE-4375-CD5E7639837B}"/>
              </a:ext>
            </a:extLst>
          </p:cNvPr>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a:extLst>
              <a:ext uri="{FF2B5EF4-FFF2-40B4-BE49-F238E27FC236}">
                <a16:creationId xmlns:a16="http://schemas.microsoft.com/office/drawing/2014/main" id="{D067D770-8D8A-86AE-EC0B-2DA759D6E936}"/>
              </a:ext>
            </a:extLst>
          </p:cNvPr>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a:extLst>
              <a:ext uri="{FF2B5EF4-FFF2-40B4-BE49-F238E27FC236}">
                <a16:creationId xmlns:a16="http://schemas.microsoft.com/office/drawing/2014/main" id="{081C2E09-F0D4-75CF-1DD2-99E5EFDAEA40}"/>
              </a:ext>
            </a:extLst>
          </p:cNvPr>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10</a:t>
            </a:r>
            <a:endParaRPr lang="en-US" sz="1000" dirty="0"/>
          </a:p>
        </p:txBody>
      </p:sp>
      <p:sp>
        <p:nvSpPr>
          <p:cNvPr id="10" name="Text 8">
            <a:hlinkClick r:id="rId3"/>
            <a:extLst>
              <a:ext uri="{FF2B5EF4-FFF2-40B4-BE49-F238E27FC236}">
                <a16:creationId xmlns:a16="http://schemas.microsoft.com/office/drawing/2014/main" id="{8C28B72C-15F0-A930-E999-BE12B010F1E2}"/>
              </a:ext>
            </a:extLst>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§10</a:t>
            </a:r>
            <a:endParaRPr lang="en-US" sz="900" dirty="0"/>
          </a:p>
        </p:txBody>
      </p:sp>
      <p:sp>
        <p:nvSpPr>
          <p:cNvPr id="11" name="Text 9">
            <a:extLst>
              <a:ext uri="{FF2B5EF4-FFF2-40B4-BE49-F238E27FC236}">
                <a16:creationId xmlns:a16="http://schemas.microsoft.com/office/drawing/2014/main" id="{D2407147-F717-7345-EE0C-BB5C719C612F}"/>
              </a:ext>
            </a:extLst>
          </p:cNvPr>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[S36] [S37] [S39] [S41]</a:t>
            </a:r>
            <a:endParaRPr lang="en-US" sz="820" dirty="0"/>
          </a:p>
        </p:txBody>
      </p:sp>
      <p:sp>
        <p:nvSpPr>
          <p:cNvPr id="27" name="Shape 25">
            <a:extLst>
              <a:ext uri="{FF2B5EF4-FFF2-40B4-BE49-F238E27FC236}">
                <a16:creationId xmlns:a16="http://schemas.microsoft.com/office/drawing/2014/main" id="{B6DF267B-5F9C-AE98-390A-8165965FD3CC}"/>
              </a:ext>
            </a:extLst>
          </p:cNvPr>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a:extLst>
              <a:ext uri="{FF2B5EF4-FFF2-40B4-BE49-F238E27FC236}">
                <a16:creationId xmlns:a16="http://schemas.microsoft.com/office/drawing/2014/main" id="{3B524774-79FB-07FF-AF35-4AC98779B6BD}"/>
              </a:ext>
            </a:extLst>
          </p:cNvPr>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OEM reuse reduces platform work. It does not supply ATMOS software, certification or prime support for free.</a:t>
            </a:r>
            <a:endParaRPr lang="en-US" sz="1200" dirty="0"/>
          </a:p>
        </p:txBody>
      </p:sp>
      <p:pic>
        <p:nvPicPr>
          <p:cNvPr id="29" name="Picture 28" descr="Figure A6. The runtime container, ModelPack and customer-data generation remain separate.">
            <a:extLst>
              <a:ext uri="{FF2B5EF4-FFF2-40B4-BE49-F238E27FC236}">
                <a16:creationId xmlns:a16="http://schemas.microsoft.com/office/drawing/2014/main" id="{21E3B4CD-167A-B7FC-25A6-7D0685AA5CBA}"/>
              </a:ext>
            </a:extLst>
          </p:cNvPr>
          <p:cNvPicPr>
            <a:picLocks noChangeAspect="1"/>
          </p:cNvPicPr>
          <p:nvPr/>
        </p:nvPicPr>
        <p:blipFill>
          <a:blip r:embed="rId4"/>
          <a:stretch>
            <a:fillRect/>
          </a:stretch>
        </p:blipFill>
        <p:spPr>
          <a:xfrm>
            <a:off x="240793" y="2060869"/>
            <a:ext cx="10253036" cy="3633536"/>
          </a:xfrm>
          <a:prstGeom prst="rect">
            <a:avLst/>
          </a:prstGeom>
        </p:spPr>
      </p:pic>
    </p:spTree>
    <p:extLst>
      <p:ext uri="{BB962C8B-B14F-4D97-AF65-F5344CB8AC3E}">
        <p14:creationId xmlns:p14="http://schemas.microsoft.com/office/powerpoint/2010/main" val="2954707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SERVICE CONTRACT</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Publish TTFT and throughput only inside a certified profile.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Numbers below are proposed qualification floors—not measured ATMOS specifications or promised SLAs.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07</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02536"/>
            <a:ext cx="3200400" cy="256032"/>
          </a:xfrm>
          <a:prstGeom prst="rect">
            <a:avLst/>
          </a:prstGeom>
          <a:solidFill>
            <a:srgbClr val="FDECEF"/>
          </a:solidFill>
          <a:ln w="8255">
            <a:solidFill>
              <a:srgbClr val="FDECEF"/>
            </a:solidFill>
            <a:prstDash val="solid"/>
          </a:ln>
        </p:spPr>
        <p:txBody>
          <a:bodyPr/>
          <a:lstStyle/>
          <a:p>
            <a:endParaRPr lang="en-US"/>
          </a:p>
        </p:txBody>
      </p:sp>
      <p:sp>
        <p:nvSpPr>
          <p:cNvPr id="13" name="Text 11"/>
          <p:cNvSpPr/>
          <p:nvPr/>
        </p:nvSpPr>
        <p:spPr>
          <a:xfrm>
            <a:off x="576072" y="2002536"/>
            <a:ext cx="3054096"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G1 / GENERATION TARGET</a:t>
            </a:r>
            <a:endParaRPr lang="en-US" sz="930" dirty="0"/>
          </a:p>
        </p:txBody>
      </p:sp>
      <p:sp>
        <p:nvSpPr>
          <p:cNvPr id="14" name="Text 12"/>
          <p:cNvSpPr/>
          <p:nvPr/>
        </p:nvSpPr>
        <p:spPr>
          <a:xfrm>
            <a:off x="3867912" y="1993392"/>
            <a:ext cx="7772400" cy="274320"/>
          </a:xfrm>
          <a:prstGeom prst="rect">
            <a:avLst/>
          </a:prstGeom>
          <a:noFill/>
          <a:ln/>
        </p:spPr>
        <p:txBody>
          <a:bodyPr wrap="square" lIns="0" tIns="0" rIns="0" bIns="0" rtlCol="0" anchor="ctr">
            <a:normAutofit/>
          </a:bodyPr>
          <a:lstStyle/>
          <a:p>
            <a:pPr marL="0" indent="0">
              <a:buNone/>
            </a:pPr>
            <a:r>
              <a:rPr lang="en-US" sz="1260" dirty="0">
                <a:solidFill>
                  <a:srgbClr val="5B6169"/>
                </a:solidFill>
                <a:latin typeface="Arial" pitchFamily="34" charset="0"/>
                <a:ea typeface="Arial" pitchFamily="34" charset="-122"/>
                <a:cs typeface="Arial" pitchFamily="34" charset="-120"/>
              </a:rPr>
              <a:t>8B-class • FP8 weights • 2,048 input / 256 output • 8K total cap • warm, no prefix hit</a:t>
            </a:r>
            <a:endParaRPr lang="en-US" sz="1260" dirty="0"/>
          </a:p>
        </p:txBody>
      </p:sp>
      <p:sp>
        <p:nvSpPr>
          <p:cNvPr id="15" name="Shape 13"/>
          <p:cNvSpPr/>
          <p:nvPr/>
        </p:nvSpPr>
        <p:spPr>
          <a:xfrm>
            <a:off x="502920" y="2450592"/>
            <a:ext cx="2743200" cy="438912"/>
          </a:xfrm>
          <a:prstGeom prst="rect">
            <a:avLst/>
          </a:prstGeom>
          <a:solidFill>
            <a:srgbClr val="18191D"/>
          </a:solidFill>
          <a:ln w="8255">
            <a:solidFill>
              <a:srgbClr val="18191D"/>
            </a:solidFill>
            <a:prstDash val="solid"/>
          </a:ln>
        </p:spPr>
        <p:txBody>
          <a:bodyPr/>
          <a:lstStyle/>
          <a:p>
            <a:endParaRPr lang="en-US"/>
          </a:p>
        </p:txBody>
      </p:sp>
      <p:sp>
        <p:nvSpPr>
          <p:cNvPr id="16" name="Text 14"/>
          <p:cNvSpPr/>
          <p:nvPr/>
        </p:nvSpPr>
        <p:spPr>
          <a:xfrm>
            <a:off x="594360" y="2514600"/>
            <a:ext cx="25603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G1 TARGET</a:t>
            </a:r>
            <a:endParaRPr lang="en-US" sz="1150" dirty="0"/>
          </a:p>
        </p:txBody>
      </p:sp>
      <p:sp>
        <p:nvSpPr>
          <p:cNvPr id="17" name="Shape 15"/>
          <p:cNvSpPr/>
          <p:nvPr/>
        </p:nvSpPr>
        <p:spPr>
          <a:xfrm>
            <a:off x="3246120" y="2450592"/>
            <a:ext cx="1673352" cy="438912"/>
          </a:xfrm>
          <a:prstGeom prst="rect">
            <a:avLst/>
          </a:prstGeom>
          <a:solidFill>
            <a:srgbClr val="18191D"/>
          </a:solidFill>
          <a:ln w="8255">
            <a:solidFill>
              <a:srgbClr val="18191D"/>
            </a:solidFill>
            <a:prstDash val="solid"/>
          </a:ln>
        </p:spPr>
        <p:txBody>
          <a:bodyPr/>
          <a:lstStyle/>
          <a:p>
            <a:endParaRPr lang="en-US"/>
          </a:p>
        </p:txBody>
      </p:sp>
      <p:sp>
        <p:nvSpPr>
          <p:cNvPr id="18" name="Text 16"/>
          <p:cNvSpPr/>
          <p:nvPr/>
        </p:nvSpPr>
        <p:spPr>
          <a:xfrm>
            <a:off x="3337560" y="2514600"/>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W4</a:t>
            </a:r>
            <a:endParaRPr lang="en-US" sz="1150" dirty="0"/>
          </a:p>
        </p:txBody>
      </p:sp>
      <p:sp>
        <p:nvSpPr>
          <p:cNvPr id="19" name="Shape 17"/>
          <p:cNvSpPr/>
          <p:nvPr/>
        </p:nvSpPr>
        <p:spPr>
          <a:xfrm>
            <a:off x="4919472" y="2450592"/>
            <a:ext cx="1673352" cy="438912"/>
          </a:xfrm>
          <a:prstGeom prst="rect">
            <a:avLst/>
          </a:prstGeom>
          <a:solidFill>
            <a:srgbClr val="18191D"/>
          </a:solidFill>
          <a:ln w="8255">
            <a:solidFill>
              <a:srgbClr val="18191D"/>
            </a:solidFill>
            <a:prstDash val="solid"/>
          </a:ln>
        </p:spPr>
        <p:txBody>
          <a:bodyPr/>
          <a:lstStyle/>
          <a:p>
            <a:endParaRPr lang="en-US"/>
          </a:p>
        </p:txBody>
      </p:sp>
      <p:sp>
        <p:nvSpPr>
          <p:cNvPr id="20" name="Text 18"/>
          <p:cNvSpPr/>
          <p:nvPr/>
        </p:nvSpPr>
        <p:spPr>
          <a:xfrm>
            <a:off x="5010912" y="2514600"/>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D8</a:t>
            </a:r>
            <a:endParaRPr lang="en-US" sz="1150" dirty="0"/>
          </a:p>
        </p:txBody>
      </p:sp>
      <p:sp>
        <p:nvSpPr>
          <p:cNvPr id="21" name="Shape 19"/>
          <p:cNvSpPr/>
          <p:nvPr/>
        </p:nvSpPr>
        <p:spPr>
          <a:xfrm>
            <a:off x="6592824" y="2450592"/>
            <a:ext cx="1673352" cy="438912"/>
          </a:xfrm>
          <a:prstGeom prst="rect">
            <a:avLst/>
          </a:prstGeom>
          <a:solidFill>
            <a:srgbClr val="18191D"/>
          </a:solidFill>
          <a:ln w="8255">
            <a:solidFill>
              <a:srgbClr val="18191D"/>
            </a:solidFill>
            <a:prstDash val="solid"/>
          </a:ln>
        </p:spPr>
        <p:txBody>
          <a:bodyPr/>
          <a:lstStyle/>
          <a:p>
            <a:endParaRPr lang="en-US"/>
          </a:p>
        </p:txBody>
      </p:sp>
      <p:sp>
        <p:nvSpPr>
          <p:cNvPr id="22" name="Text 20"/>
          <p:cNvSpPr/>
          <p:nvPr/>
        </p:nvSpPr>
        <p:spPr>
          <a:xfrm>
            <a:off x="6684264" y="2514600"/>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E8</a:t>
            </a:r>
            <a:endParaRPr lang="en-US" sz="1150" dirty="0"/>
          </a:p>
        </p:txBody>
      </p:sp>
      <p:sp>
        <p:nvSpPr>
          <p:cNvPr id="23" name="Shape 21"/>
          <p:cNvSpPr/>
          <p:nvPr/>
        </p:nvSpPr>
        <p:spPr>
          <a:xfrm>
            <a:off x="8266176" y="2450592"/>
            <a:ext cx="1673352" cy="438912"/>
          </a:xfrm>
          <a:prstGeom prst="rect">
            <a:avLst/>
          </a:prstGeom>
          <a:solidFill>
            <a:srgbClr val="18191D"/>
          </a:solidFill>
          <a:ln w="8255">
            <a:solidFill>
              <a:srgbClr val="18191D"/>
            </a:solidFill>
            <a:prstDash val="solid"/>
          </a:ln>
        </p:spPr>
        <p:txBody>
          <a:bodyPr/>
          <a:lstStyle/>
          <a:p>
            <a:endParaRPr lang="en-US"/>
          </a:p>
        </p:txBody>
      </p:sp>
      <p:sp>
        <p:nvSpPr>
          <p:cNvPr id="24" name="Text 22"/>
          <p:cNvSpPr/>
          <p:nvPr/>
        </p:nvSpPr>
        <p:spPr>
          <a:xfrm>
            <a:off x="8357616" y="2514600"/>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E16</a:t>
            </a:r>
            <a:endParaRPr lang="en-US" sz="1150" dirty="0"/>
          </a:p>
        </p:txBody>
      </p:sp>
      <p:sp>
        <p:nvSpPr>
          <p:cNvPr id="25" name="Shape 23"/>
          <p:cNvSpPr/>
          <p:nvPr/>
        </p:nvSpPr>
        <p:spPr>
          <a:xfrm>
            <a:off x="9939528" y="2450592"/>
            <a:ext cx="1746504" cy="438912"/>
          </a:xfrm>
          <a:prstGeom prst="rect">
            <a:avLst/>
          </a:prstGeom>
          <a:solidFill>
            <a:srgbClr val="18191D"/>
          </a:solidFill>
          <a:ln w="8255">
            <a:solidFill>
              <a:srgbClr val="18191D"/>
            </a:solidFill>
            <a:prstDash val="solid"/>
          </a:ln>
        </p:spPr>
        <p:txBody>
          <a:bodyPr/>
          <a:lstStyle/>
          <a:p>
            <a:endParaRPr lang="en-US"/>
          </a:p>
        </p:txBody>
      </p:sp>
      <p:sp>
        <p:nvSpPr>
          <p:cNvPr id="26" name="Text 24"/>
          <p:cNvSpPr/>
          <p:nvPr/>
        </p:nvSpPr>
        <p:spPr>
          <a:xfrm>
            <a:off x="10030968" y="2514600"/>
            <a:ext cx="1563624"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E24</a:t>
            </a:r>
            <a:endParaRPr lang="en-US" sz="1150" dirty="0"/>
          </a:p>
        </p:txBody>
      </p:sp>
      <p:sp>
        <p:nvSpPr>
          <p:cNvPr id="27" name="Shape 25"/>
          <p:cNvSpPr/>
          <p:nvPr/>
        </p:nvSpPr>
        <p:spPr>
          <a:xfrm>
            <a:off x="502920" y="2889504"/>
            <a:ext cx="2743200" cy="438912"/>
          </a:xfrm>
          <a:prstGeom prst="rect">
            <a:avLst/>
          </a:prstGeom>
          <a:solidFill>
            <a:srgbClr val="F3F4F6"/>
          </a:solidFill>
          <a:ln w="8255">
            <a:solidFill>
              <a:srgbClr val="F3F4F6"/>
            </a:solidFill>
            <a:prstDash val="solid"/>
          </a:ln>
        </p:spPr>
        <p:txBody>
          <a:bodyPr/>
          <a:lstStyle/>
          <a:p>
            <a:endParaRPr lang="en-US"/>
          </a:p>
        </p:txBody>
      </p:sp>
      <p:sp>
        <p:nvSpPr>
          <p:cNvPr id="28" name="Text 26"/>
          <p:cNvSpPr/>
          <p:nvPr/>
        </p:nvSpPr>
        <p:spPr>
          <a:xfrm>
            <a:off x="594360" y="2953512"/>
            <a:ext cx="2560320" cy="310896"/>
          </a:xfrm>
          <a:prstGeom prst="rect">
            <a:avLst/>
          </a:prstGeom>
          <a:noFill/>
          <a:ln/>
        </p:spPr>
        <p:txBody>
          <a:bodyPr wrap="square" lIns="0" tIns="0" rIns="0" bIns="0" rtlCol="0" anchor="ctr">
            <a:normAutofit fontScale="92500"/>
          </a:bodyPr>
          <a:lstStyle/>
          <a:p>
            <a:pPr marL="0" indent="0">
              <a:buNone/>
            </a:pPr>
            <a:r>
              <a:rPr lang="en-US" sz="1400" b="1" dirty="0">
                <a:solidFill>
                  <a:srgbClr val="18191D"/>
                </a:solidFill>
                <a:latin typeface="Arial" pitchFamily="34" charset="0"/>
                <a:ea typeface="Arial" pitchFamily="34" charset="-122"/>
                <a:cs typeface="Arial" pitchFamily="34" charset="-120"/>
              </a:rPr>
              <a:t>Concurrent decode sequences</a:t>
            </a:r>
            <a:endParaRPr lang="en-US" sz="1400" dirty="0"/>
          </a:p>
        </p:txBody>
      </p:sp>
      <p:sp>
        <p:nvSpPr>
          <p:cNvPr id="29" name="Shape 27"/>
          <p:cNvSpPr/>
          <p:nvPr/>
        </p:nvSpPr>
        <p:spPr>
          <a:xfrm>
            <a:off x="3246120" y="2889504"/>
            <a:ext cx="1673352" cy="438912"/>
          </a:xfrm>
          <a:prstGeom prst="rect">
            <a:avLst/>
          </a:prstGeom>
          <a:solidFill>
            <a:srgbClr val="F3F4F6"/>
          </a:solidFill>
          <a:ln w="8255">
            <a:solidFill>
              <a:srgbClr val="F3F4F6"/>
            </a:solidFill>
            <a:prstDash val="solid"/>
          </a:ln>
        </p:spPr>
        <p:txBody>
          <a:bodyPr/>
          <a:lstStyle/>
          <a:p>
            <a:endParaRPr lang="en-US"/>
          </a:p>
        </p:txBody>
      </p:sp>
      <p:sp>
        <p:nvSpPr>
          <p:cNvPr id="30" name="Text 28"/>
          <p:cNvSpPr/>
          <p:nvPr/>
        </p:nvSpPr>
        <p:spPr>
          <a:xfrm>
            <a:off x="3337560" y="2953512"/>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4</a:t>
            </a:r>
            <a:endParaRPr lang="en-US" sz="1400" dirty="0"/>
          </a:p>
        </p:txBody>
      </p:sp>
      <p:sp>
        <p:nvSpPr>
          <p:cNvPr id="31" name="Shape 29"/>
          <p:cNvSpPr/>
          <p:nvPr/>
        </p:nvSpPr>
        <p:spPr>
          <a:xfrm>
            <a:off x="4919472" y="2889504"/>
            <a:ext cx="1673352" cy="438912"/>
          </a:xfrm>
          <a:prstGeom prst="rect">
            <a:avLst/>
          </a:prstGeom>
          <a:solidFill>
            <a:srgbClr val="F3F4F6"/>
          </a:solidFill>
          <a:ln w="8255">
            <a:solidFill>
              <a:srgbClr val="F3F4F6"/>
            </a:solidFill>
            <a:prstDash val="solid"/>
          </a:ln>
        </p:spPr>
        <p:txBody>
          <a:bodyPr/>
          <a:lstStyle/>
          <a:p>
            <a:endParaRPr lang="en-US"/>
          </a:p>
        </p:txBody>
      </p:sp>
      <p:sp>
        <p:nvSpPr>
          <p:cNvPr id="32" name="Text 30"/>
          <p:cNvSpPr/>
          <p:nvPr/>
        </p:nvSpPr>
        <p:spPr>
          <a:xfrm>
            <a:off x="5010912" y="2953512"/>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a:t>
            </a:r>
            <a:endParaRPr lang="en-US" sz="1400" dirty="0"/>
          </a:p>
        </p:txBody>
      </p:sp>
      <p:sp>
        <p:nvSpPr>
          <p:cNvPr id="33" name="Shape 31"/>
          <p:cNvSpPr/>
          <p:nvPr/>
        </p:nvSpPr>
        <p:spPr>
          <a:xfrm>
            <a:off x="6592824" y="2889504"/>
            <a:ext cx="1673352" cy="438912"/>
          </a:xfrm>
          <a:prstGeom prst="rect">
            <a:avLst/>
          </a:prstGeom>
          <a:solidFill>
            <a:srgbClr val="F3F4F6"/>
          </a:solidFill>
          <a:ln w="8255">
            <a:solidFill>
              <a:srgbClr val="F3F4F6"/>
            </a:solidFill>
            <a:prstDash val="solid"/>
          </a:ln>
        </p:spPr>
        <p:txBody>
          <a:bodyPr/>
          <a:lstStyle/>
          <a:p>
            <a:endParaRPr lang="en-US"/>
          </a:p>
        </p:txBody>
      </p:sp>
      <p:sp>
        <p:nvSpPr>
          <p:cNvPr id="34" name="Text 32"/>
          <p:cNvSpPr/>
          <p:nvPr/>
        </p:nvSpPr>
        <p:spPr>
          <a:xfrm>
            <a:off x="6684264" y="2953512"/>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a:t>
            </a:r>
            <a:endParaRPr lang="en-US" sz="1400" dirty="0"/>
          </a:p>
        </p:txBody>
      </p:sp>
      <p:sp>
        <p:nvSpPr>
          <p:cNvPr id="35" name="Shape 33"/>
          <p:cNvSpPr/>
          <p:nvPr/>
        </p:nvSpPr>
        <p:spPr>
          <a:xfrm>
            <a:off x="8266176" y="2889504"/>
            <a:ext cx="1673352" cy="438912"/>
          </a:xfrm>
          <a:prstGeom prst="rect">
            <a:avLst/>
          </a:prstGeom>
          <a:solidFill>
            <a:srgbClr val="F3F4F6"/>
          </a:solidFill>
          <a:ln w="8255">
            <a:solidFill>
              <a:srgbClr val="F3F4F6"/>
            </a:solidFill>
            <a:prstDash val="solid"/>
          </a:ln>
        </p:spPr>
        <p:txBody>
          <a:bodyPr/>
          <a:lstStyle/>
          <a:p>
            <a:endParaRPr lang="en-US"/>
          </a:p>
        </p:txBody>
      </p:sp>
      <p:sp>
        <p:nvSpPr>
          <p:cNvPr id="36" name="Text 34"/>
          <p:cNvSpPr/>
          <p:nvPr/>
        </p:nvSpPr>
        <p:spPr>
          <a:xfrm>
            <a:off x="8357616" y="2953512"/>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16</a:t>
            </a:r>
            <a:endParaRPr lang="en-US" sz="1400" dirty="0"/>
          </a:p>
        </p:txBody>
      </p:sp>
      <p:sp>
        <p:nvSpPr>
          <p:cNvPr id="37" name="Shape 35"/>
          <p:cNvSpPr/>
          <p:nvPr/>
        </p:nvSpPr>
        <p:spPr>
          <a:xfrm>
            <a:off x="9939528" y="2889504"/>
            <a:ext cx="1746504" cy="438912"/>
          </a:xfrm>
          <a:prstGeom prst="rect">
            <a:avLst/>
          </a:prstGeom>
          <a:solidFill>
            <a:srgbClr val="F3F4F6"/>
          </a:solidFill>
          <a:ln w="8255">
            <a:solidFill>
              <a:srgbClr val="F3F4F6"/>
            </a:solidFill>
            <a:prstDash val="solid"/>
          </a:ln>
        </p:spPr>
        <p:txBody>
          <a:bodyPr/>
          <a:lstStyle/>
          <a:p>
            <a:endParaRPr lang="en-US"/>
          </a:p>
        </p:txBody>
      </p:sp>
      <p:sp>
        <p:nvSpPr>
          <p:cNvPr id="38" name="Text 36"/>
          <p:cNvSpPr/>
          <p:nvPr/>
        </p:nvSpPr>
        <p:spPr>
          <a:xfrm>
            <a:off x="10030968" y="2953512"/>
            <a:ext cx="1563624"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24</a:t>
            </a:r>
            <a:endParaRPr lang="en-US" sz="1400" dirty="0"/>
          </a:p>
        </p:txBody>
      </p:sp>
      <p:sp>
        <p:nvSpPr>
          <p:cNvPr id="39" name="Shape 37"/>
          <p:cNvSpPr/>
          <p:nvPr/>
        </p:nvSpPr>
        <p:spPr>
          <a:xfrm>
            <a:off x="502920" y="3328416"/>
            <a:ext cx="11183112" cy="0"/>
          </a:xfrm>
          <a:prstGeom prst="line">
            <a:avLst/>
          </a:prstGeom>
          <a:noFill/>
          <a:ln w="5715">
            <a:solidFill>
              <a:srgbClr val="D8DBDF"/>
            </a:solidFill>
            <a:prstDash val="solid"/>
          </a:ln>
        </p:spPr>
        <p:txBody>
          <a:bodyPr/>
          <a:lstStyle/>
          <a:p>
            <a:endParaRPr lang="en-US"/>
          </a:p>
        </p:txBody>
      </p:sp>
      <p:sp>
        <p:nvSpPr>
          <p:cNvPr id="40" name="Shape 38"/>
          <p:cNvSpPr/>
          <p:nvPr/>
        </p:nvSpPr>
        <p:spPr>
          <a:xfrm>
            <a:off x="502920" y="3328416"/>
            <a:ext cx="2743200" cy="438912"/>
          </a:xfrm>
          <a:prstGeom prst="rect">
            <a:avLst/>
          </a:prstGeom>
          <a:solidFill>
            <a:srgbClr val="FFFFFF"/>
          </a:solidFill>
          <a:ln w="8255">
            <a:solidFill>
              <a:srgbClr val="FFFFFF"/>
            </a:solidFill>
            <a:prstDash val="solid"/>
          </a:ln>
        </p:spPr>
        <p:txBody>
          <a:bodyPr/>
          <a:lstStyle/>
          <a:p>
            <a:endParaRPr lang="en-US"/>
          </a:p>
        </p:txBody>
      </p:sp>
      <p:sp>
        <p:nvSpPr>
          <p:cNvPr id="41" name="Text 39"/>
          <p:cNvSpPr/>
          <p:nvPr/>
        </p:nvSpPr>
        <p:spPr>
          <a:xfrm>
            <a:off x="594360" y="3392424"/>
            <a:ext cx="2560320" cy="31089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Aggregate output tok/s ≥</a:t>
            </a:r>
            <a:endParaRPr lang="en-US" sz="1400" dirty="0"/>
          </a:p>
        </p:txBody>
      </p:sp>
      <p:sp>
        <p:nvSpPr>
          <p:cNvPr id="42" name="Shape 40"/>
          <p:cNvSpPr/>
          <p:nvPr/>
        </p:nvSpPr>
        <p:spPr>
          <a:xfrm>
            <a:off x="3246120" y="3328416"/>
            <a:ext cx="1673352" cy="438912"/>
          </a:xfrm>
          <a:prstGeom prst="rect">
            <a:avLst/>
          </a:prstGeom>
          <a:solidFill>
            <a:srgbClr val="FFFFFF"/>
          </a:solidFill>
          <a:ln w="8255">
            <a:solidFill>
              <a:srgbClr val="FFFFFF"/>
            </a:solidFill>
            <a:prstDash val="solid"/>
          </a:ln>
        </p:spPr>
        <p:txBody>
          <a:bodyPr/>
          <a:lstStyle/>
          <a:p>
            <a:endParaRPr lang="en-US"/>
          </a:p>
        </p:txBody>
      </p:sp>
      <p:sp>
        <p:nvSpPr>
          <p:cNvPr id="43" name="Text 41"/>
          <p:cNvSpPr/>
          <p:nvPr/>
        </p:nvSpPr>
        <p:spPr>
          <a:xfrm>
            <a:off x="3337560" y="3392424"/>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40</a:t>
            </a:r>
            <a:endParaRPr lang="en-US" sz="1400" dirty="0"/>
          </a:p>
        </p:txBody>
      </p:sp>
      <p:sp>
        <p:nvSpPr>
          <p:cNvPr id="44" name="Shape 42"/>
          <p:cNvSpPr/>
          <p:nvPr/>
        </p:nvSpPr>
        <p:spPr>
          <a:xfrm>
            <a:off x="4919472" y="3328416"/>
            <a:ext cx="1673352" cy="438912"/>
          </a:xfrm>
          <a:prstGeom prst="rect">
            <a:avLst/>
          </a:prstGeom>
          <a:solidFill>
            <a:srgbClr val="FFFFFF"/>
          </a:solidFill>
          <a:ln w="8255">
            <a:solidFill>
              <a:srgbClr val="FFFFFF"/>
            </a:solidFill>
            <a:prstDash val="solid"/>
          </a:ln>
        </p:spPr>
        <p:txBody>
          <a:bodyPr/>
          <a:lstStyle/>
          <a:p>
            <a:endParaRPr lang="en-US"/>
          </a:p>
        </p:txBody>
      </p:sp>
      <p:sp>
        <p:nvSpPr>
          <p:cNvPr id="45" name="Text 43"/>
          <p:cNvSpPr/>
          <p:nvPr/>
        </p:nvSpPr>
        <p:spPr>
          <a:xfrm>
            <a:off x="5010912" y="3392424"/>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a:t>
            </a:r>
            <a:endParaRPr lang="en-US" sz="1400" dirty="0"/>
          </a:p>
        </p:txBody>
      </p:sp>
      <p:sp>
        <p:nvSpPr>
          <p:cNvPr id="46" name="Shape 44"/>
          <p:cNvSpPr/>
          <p:nvPr/>
        </p:nvSpPr>
        <p:spPr>
          <a:xfrm>
            <a:off x="6592824" y="3328416"/>
            <a:ext cx="1673352" cy="438912"/>
          </a:xfrm>
          <a:prstGeom prst="rect">
            <a:avLst/>
          </a:prstGeom>
          <a:solidFill>
            <a:srgbClr val="FFFFFF"/>
          </a:solidFill>
          <a:ln w="8255">
            <a:solidFill>
              <a:srgbClr val="FFFFFF"/>
            </a:solidFill>
            <a:prstDash val="solid"/>
          </a:ln>
        </p:spPr>
        <p:txBody>
          <a:bodyPr/>
          <a:lstStyle/>
          <a:p>
            <a:endParaRPr lang="en-US"/>
          </a:p>
        </p:txBody>
      </p:sp>
      <p:sp>
        <p:nvSpPr>
          <p:cNvPr id="47" name="Text 45"/>
          <p:cNvSpPr/>
          <p:nvPr/>
        </p:nvSpPr>
        <p:spPr>
          <a:xfrm>
            <a:off x="6684264" y="3392424"/>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a:t>
            </a:r>
            <a:endParaRPr lang="en-US" sz="1400" dirty="0"/>
          </a:p>
        </p:txBody>
      </p:sp>
      <p:sp>
        <p:nvSpPr>
          <p:cNvPr id="48" name="Shape 46"/>
          <p:cNvSpPr/>
          <p:nvPr/>
        </p:nvSpPr>
        <p:spPr>
          <a:xfrm>
            <a:off x="8266176" y="3328416"/>
            <a:ext cx="1673352" cy="438912"/>
          </a:xfrm>
          <a:prstGeom prst="rect">
            <a:avLst/>
          </a:prstGeom>
          <a:solidFill>
            <a:srgbClr val="FFFFFF"/>
          </a:solidFill>
          <a:ln w="8255">
            <a:solidFill>
              <a:srgbClr val="FFFFFF"/>
            </a:solidFill>
            <a:prstDash val="solid"/>
          </a:ln>
        </p:spPr>
        <p:txBody>
          <a:bodyPr/>
          <a:lstStyle/>
          <a:p>
            <a:endParaRPr lang="en-US"/>
          </a:p>
        </p:txBody>
      </p:sp>
      <p:sp>
        <p:nvSpPr>
          <p:cNvPr id="49" name="Text 47"/>
          <p:cNvSpPr/>
          <p:nvPr/>
        </p:nvSpPr>
        <p:spPr>
          <a:xfrm>
            <a:off x="8357616" y="3392424"/>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160</a:t>
            </a:r>
            <a:endParaRPr lang="en-US" sz="1400" dirty="0"/>
          </a:p>
        </p:txBody>
      </p:sp>
      <p:sp>
        <p:nvSpPr>
          <p:cNvPr id="50" name="Shape 48"/>
          <p:cNvSpPr/>
          <p:nvPr/>
        </p:nvSpPr>
        <p:spPr>
          <a:xfrm>
            <a:off x="9939528" y="3328416"/>
            <a:ext cx="1746504" cy="438912"/>
          </a:xfrm>
          <a:prstGeom prst="rect">
            <a:avLst/>
          </a:prstGeom>
          <a:solidFill>
            <a:srgbClr val="FFFFFF"/>
          </a:solidFill>
          <a:ln w="8255">
            <a:solidFill>
              <a:srgbClr val="FFFFFF"/>
            </a:solidFill>
            <a:prstDash val="solid"/>
          </a:ln>
        </p:spPr>
        <p:txBody>
          <a:bodyPr/>
          <a:lstStyle/>
          <a:p>
            <a:endParaRPr lang="en-US"/>
          </a:p>
        </p:txBody>
      </p:sp>
      <p:sp>
        <p:nvSpPr>
          <p:cNvPr id="51" name="Text 49"/>
          <p:cNvSpPr/>
          <p:nvPr/>
        </p:nvSpPr>
        <p:spPr>
          <a:xfrm>
            <a:off x="10030968" y="3392424"/>
            <a:ext cx="1563624"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240</a:t>
            </a:r>
            <a:endParaRPr lang="en-US" sz="1400" dirty="0"/>
          </a:p>
        </p:txBody>
      </p:sp>
      <p:sp>
        <p:nvSpPr>
          <p:cNvPr id="52" name="Shape 50"/>
          <p:cNvSpPr/>
          <p:nvPr/>
        </p:nvSpPr>
        <p:spPr>
          <a:xfrm>
            <a:off x="502920" y="3767328"/>
            <a:ext cx="11183112" cy="0"/>
          </a:xfrm>
          <a:prstGeom prst="line">
            <a:avLst/>
          </a:prstGeom>
          <a:noFill/>
          <a:ln w="5715">
            <a:solidFill>
              <a:srgbClr val="D8DBDF"/>
            </a:solidFill>
            <a:prstDash val="solid"/>
          </a:ln>
        </p:spPr>
        <p:txBody>
          <a:bodyPr/>
          <a:lstStyle/>
          <a:p>
            <a:endParaRPr lang="en-US"/>
          </a:p>
        </p:txBody>
      </p:sp>
      <p:sp>
        <p:nvSpPr>
          <p:cNvPr id="53" name="Shape 51"/>
          <p:cNvSpPr/>
          <p:nvPr/>
        </p:nvSpPr>
        <p:spPr>
          <a:xfrm>
            <a:off x="502920" y="3767328"/>
            <a:ext cx="2743200" cy="438912"/>
          </a:xfrm>
          <a:prstGeom prst="rect">
            <a:avLst/>
          </a:prstGeom>
          <a:solidFill>
            <a:srgbClr val="F3F4F6"/>
          </a:solidFill>
          <a:ln w="8255">
            <a:solidFill>
              <a:srgbClr val="F3F4F6"/>
            </a:solidFill>
            <a:prstDash val="solid"/>
          </a:ln>
        </p:spPr>
        <p:txBody>
          <a:bodyPr/>
          <a:lstStyle/>
          <a:p>
            <a:endParaRPr lang="en-US"/>
          </a:p>
        </p:txBody>
      </p:sp>
      <p:sp>
        <p:nvSpPr>
          <p:cNvPr id="54" name="Text 52"/>
          <p:cNvSpPr/>
          <p:nvPr/>
        </p:nvSpPr>
        <p:spPr>
          <a:xfrm>
            <a:off x="594360" y="3831336"/>
            <a:ext cx="2560320" cy="31089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p95 TTFT ≤</a:t>
            </a:r>
            <a:endParaRPr lang="en-US" sz="1400" dirty="0"/>
          </a:p>
        </p:txBody>
      </p:sp>
      <p:sp>
        <p:nvSpPr>
          <p:cNvPr id="55" name="Shape 53"/>
          <p:cNvSpPr/>
          <p:nvPr/>
        </p:nvSpPr>
        <p:spPr>
          <a:xfrm>
            <a:off x="3246120" y="3767328"/>
            <a:ext cx="1673352" cy="438912"/>
          </a:xfrm>
          <a:prstGeom prst="rect">
            <a:avLst/>
          </a:prstGeom>
          <a:solidFill>
            <a:srgbClr val="F3F4F6"/>
          </a:solidFill>
          <a:ln w="8255">
            <a:solidFill>
              <a:srgbClr val="F3F4F6"/>
            </a:solidFill>
            <a:prstDash val="solid"/>
          </a:ln>
        </p:spPr>
        <p:txBody>
          <a:bodyPr/>
          <a:lstStyle/>
          <a:p>
            <a:endParaRPr lang="en-US"/>
          </a:p>
        </p:txBody>
      </p:sp>
      <p:sp>
        <p:nvSpPr>
          <p:cNvPr id="56" name="Text 54"/>
          <p:cNvSpPr/>
          <p:nvPr/>
        </p:nvSpPr>
        <p:spPr>
          <a:xfrm>
            <a:off x="3337560" y="3831336"/>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57" name="Shape 55"/>
          <p:cNvSpPr/>
          <p:nvPr/>
        </p:nvSpPr>
        <p:spPr>
          <a:xfrm>
            <a:off x="4919472" y="3767328"/>
            <a:ext cx="1673352" cy="438912"/>
          </a:xfrm>
          <a:prstGeom prst="rect">
            <a:avLst/>
          </a:prstGeom>
          <a:solidFill>
            <a:srgbClr val="F3F4F6"/>
          </a:solidFill>
          <a:ln w="8255">
            <a:solidFill>
              <a:srgbClr val="F3F4F6"/>
            </a:solidFill>
            <a:prstDash val="solid"/>
          </a:ln>
        </p:spPr>
        <p:txBody>
          <a:bodyPr/>
          <a:lstStyle/>
          <a:p>
            <a:endParaRPr lang="en-US"/>
          </a:p>
        </p:txBody>
      </p:sp>
      <p:sp>
        <p:nvSpPr>
          <p:cNvPr id="58" name="Text 56"/>
          <p:cNvSpPr/>
          <p:nvPr/>
        </p:nvSpPr>
        <p:spPr>
          <a:xfrm>
            <a:off x="5010912" y="3831336"/>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59" name="Shape 57"/>
          <p:cNvSpPr/>
          <p:nvPr/>
        </p:nvSpPr>
        <p:spPr>
          <a:xfrm>
            <a:off x="6592824" y="3767328"/>
            <a:ext cx="1673352" cy="438912"/>
          </a:xfrm>
          <a:prstGeom prst="rect">
            <a:avLst/>
          </a:prstGeom>
          <a:solidFill>
            <a:srgbClr val="F3F4F6"/>
          </a:solidFill>
          <a:ln w="8255">
            <a:solidFill>
              <a:srgbClr val="F3F4F6"/>
            </a:solidFill>
            <a:prstDash val="solid"/>
          </a:ln>
        </p:spPr>
        <p:txBody>
          <a:bodyPr/>
          <a:lstStyle/>
          <a:p>
            <a:endParaRPr lang="en-US"/>
          </a:p>
        </p:txBody>
      </p:sp>
      <p:sp>
        <p:nvSpPr>
          <p:cNvPr id="60" name="Text 58"/>
          <p:cNvSpPr/>
          <p:nvPr/>
        </p:nvSpPr>
        <p:spPr>
          <a:xfrm>
            <a:off x="6684264" y="3831336"/>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1" name="Shape 59"/>
          <p:cNvSpPr/>
          <p:nvPr/>
        </p:nvSpPr>
        <p:spPr>
          <a:xfrm>
            <a:off x="8266176" y="3767328"/>
            <a:ext cx="1673352" cy="438912"/>
          </a:xfrm>
          <a:prstGeom prst="rect">
            <a:avLst/>
          </a:prstGeom>
          <a:solidFill>
            <a:srgbClr val="F3F4F6"/>
          </a:solidFill>
          <a:ln w="8255">
            <a:solidFill>
              <a:srgbClr val="F3F4F6"/>
            </a:solidFill>
            <a:prstDash val="solid"/>
          </a:ln>
        </p:spPr>
        <p:txBody>
          <a:bodyPr/>
          <a:lstStyle/>
          <a:p>
            <a:endParaRPr lang="en-US"/>
          </a:p>
        </p:txBody>
      </p:sp>
      <p:sp>
        <p:nvSpPr>
          <p:cNvPr id="62" name="Text 60"/>
          <p:cNvSpPr/>
          <p:nvPr/>
        </p:nvSpPr>
        <p:spPr>
          <a:xfrm>
            <a:off x="8357616" y="3831336"/>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3" name="Shape 61"/>
          <p:cNvSpPr/>
          <p:nvPr/>
        </p:nvSpPr>
        <p:spPr>
          <a:xfrm>
            <a:off x="9939528" y="3767328"/>
            <a:ext cx="1746504" cy="438912"/>
          </a:xfrm>
          <a:prstGeom prst="rect">
            <a:avLst/>
          </a:prstGeom>
          <a:solidFill>
            <a:srgbClr val="F3F4F6"/>
          </a:solidFill>
          <a:ln w="8255">
            <a:solidFill>
              <a:srgbClr val="F3F4F6"/>
            </a:solidFill>
            <a:prstDash val="solid"/>
          </a:ln>
        </p:spPr>
        <p:txBody>
          <a:bodyPr/>
          <a:lstStyle/>
          <a:p>
            <a:endParaRPr lang="en-US"/>
          </a:p>
        </p:txBody>
      </p:sp>
      <p:sp>
        <p:nvSpPr>
          <p:cNvPr id="64" name="Text 62"/>
          <p:cNvSpPr/>
          <p:nvPr/>
        </p:nvSpPr>
        <p:spPr>
          <a:xfrm>
            <a:off x="10030968" y="3831336"/>
            <a:ext cx="1563624"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5" name="Shape 63"/>
          <p:cNvSpPr/>
          <p:nvPr/>
        </p:nvSpPr>
        <p:spPr>
          <a:xfrm>
            <a:off x="502920" y="4206240"/>
            <a:ext cx="11183112" cy="0"/>
          </a:xfrm>
          <a:prstGeom prst="line">
            <a:avLst/>
          </a:prstGeom>
          <a:noFill/>
          <a:ln w="5715">
            <a:solidFill>
              <a:srgbClr val="D8DBDF"/>
            </a:solidFill>
            <a:prstDash val="solid"/>
          </a:ln>
        </p:spPr>
        <p:txBody>
          <a:bodyPr/>
          <a:lstStyle/>
          <a:p>
            <a:endParaRPr lang="en-US"/>
          </a:p>
        </p:txBody>
      </p:sp>
      <p:sp>
        <p:nvSpPr>
          <p:cNvPr id="66" name="Shape 64"/>
          <p:cNvSpPr/>
          <p:nvPr/>
        </p:nvSpPr>
        <p:spPr>
          <a:xfrm>
            <a:off x="502920" y="4206240"/>
            <a:ext cx="2743200" cy="438912"/>
          </a:xfrm>
          <a:prstGeom prst="rect">
            <a:avLst/>
          </a:prstGeom>
          <a:solidFill>
            <a:srgbClr val="FFFFFF"/>
          </a:solidFill>
          <a:ln w="8255">
            <a:solidFill>
              <a:srgbClr val="FFFFFF"/>
            </a:solidFill>
            <a:prstDash val="solid"/>
          </a:ln>
        </p:spPr>
        <p:txBody>
          <a:bodyPr/>
          <a:lstStyle/>
          <a:p>
            <a:endParaRPr lang="en-US"/>
          </a:p>
        </p:txBody>
      </p:sp>
      <p:sp>
        <p:nvSpPr>
          <p:cNvPr id="67" name="Text 65"/>
          <p:cNvSpPr/>
          <p:nvPr/>
        </p:nvSpPr>
        <p:spPr>
          <a:xfrm>
            <a:off x="594360" y="4270248"/>
            <a:ext cx="2560320" cy="31089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p95 inter-token latency ≤</a:t>
            </a:r>
            <a:endParaRPr lang="en-US" sz="1400" dirty="0"/>
          </a:p>
        </p:txBody>
      </p:sp>
      <p:sp>
        <p:nvSpPr>
          <p:cNvPr id="68" name="Shape 66"/>
          <p:cNvSpPr/>
          <p:nvPr/>
        </p:nvSpPr>
        <p:spPr>
          <a:xfrm>
            <a:off x="3246120" y="4206240"/>
            <a:ext cx="1673352" cy="438912"/>
          </a:xfrm>
          <a:prstGeom prst="rect">
            <a:avLst/>
          </a:prstGeom>
          <a:solidFill>
            <a:srgbClr val="FFFFFF"/>
          </a:solidFill>
          <a:ln w="8255">
            <a:solidFill>
              <a:srgbClr val="FFFFFF"/>
            </a:solidFill>
            <a:prstDash val="solid"/>
          </a:ln>
        </p:spPr>
        <p:txBody>
          <a:bodyPr/>
          <a:lstStyle/>
          <a:p>
            <a:endParaRPr lang="en-US"/>
          </a:p>
        </p:txBody>
      </p:sp>
      <p:sp>
        <p:nvSpPr>
          <p:cNvPr id="69" name="Text 67"/>
          <p:cNvSpPr/>
          <p:nvPr/>
        </p:nvSpPr>
        <p:spPr>
          <a:xfrm>
            <a:off x="3337560" y="4270248"/>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0" name="Shape 68"/>
          <p:cNvSpPr/>
          <p:nvPr/>
        </p:nvSpPr>
        <p:spPr>
          <a:xfrm>
            <a:off x="4919472" y="4206240"/>
            <a:ext cx="1673352" cy="438912"/>
          </a:xfrm>
          <a:prstGeom prst="rect">
            <a:avLst/>
          </a:prstGeom>
          <a:solidFill>
            <a:srgbClr val="FFFFFF"/>
          </a:solidFill>
          <a:ln w="8255">
            <a:solidFill>
              <a:srgbClr val="FFFFFF"/>
            </a:solidFill>
            <a:prstDash val="solid"/>
          </a:ln>
        </p:spPr>
        <p:txBody>
          <a:bodyPr/>
          <a:lstStyle/>
          <a:p>
            <a:endParaRPr lang="en-US"/>
          </a:p>
        </p:txBody>
      </p:sp>
      <p:sp>
        <p:nvSpPr>
          <p:cNvPr id="71" name="Text 69"/>
          <p:cNvSpPr/>
          <p:nvPr/>
        </p:nvSpPr>
        <p:spPr>
          <a:xfrm>
            <a:off x="5010912" y="4270248"/>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2" name="Shape 70"/>
          <p:cNvSpPr/>
          <p:nvPr/>
        </p:nvSpPr>
        <p:spPr>
          <a:xfrm>
            <a:off x="6592824" y="4206240"/>
            <a:ext cx="1673352" cy="438912"/>
          </a:xfrm>
          <a:prstGeom prst="rect">
            <a:avLst/>
          </a:prstGeom>
          <a:solidFill>
            <a:srgbClr val="FFFFFF"/>
          </a:solidFill>
          <a:ln w="8255">
            <a:solidFill>
              <a:srgbClr val="FFFFFF"/>
            </a:solidFill>
            <a:prstDash val="solid"/>
          </a:ln>
        </p:spPr>
        <p:txBody>
          <a:bodyPr/>
          <a:lstStyle/>
          <a:p>
            <a:endParaRPr lang="en-US"/>
          </a:p>
        </p:txBody>
      </p:sp>
      <p:sp>
        <p:nvSpPr>
          <p:cNvPr id="73" name="Text 71"/>
          <p:cNvSpPr/>
          <p:nvPr/>
        </p:nvSpPr>
        <p:spPr>
          <a:xfrm>
            <a:off x="6684264" y="4270248"/>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4" name="Shape 72"/>
          <p:cNvSpPr/>
          <p:nvPr/>
        </p:nvSpPr>
        <p:spPr>
          <a:xfrm>
            <a:off x="8266176" y="4206240"/>
            <a:ext cx="1673352" cy="438912"/>
          </a:xfrm>
          <a:prstGeom prst="rect">
            <a:avLst/>
          </a:prstGeom>
          <a:solidFill>
            <a:srgbClr val="FFFFFF"/>
          </a:solidFill>
          <a:ln w="8255">
            <a:solidFill>
              <a:srgbClr val="FFFFFF"/>
            </a:solidFill>
            <a:prstDash val="solid"/>
          </a:ln>
        </p:spPr>
        <p:txBody>
          <a:bodyPr/>
          <a:lstStyle/>
          <a:p>
            <a:endParaRPr lang="en-US"/>
          </a:p>
        </p:txBody>
      </p:sp>
      <p:sp>
        <p:nvSpPr>
          <p:cNvPr id="75" name="Text 73"/>
          <p:cNvSpPr/>
          <p:nvPr/>
        </p:nvSpPr>
        <p:spPr>
          <a:xfrm>
            <a:off x="8357616" y="4270248"/>
            <a:ext cx="1490472"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6" name="Shape 74"/>
          <p:cNvSpPr/>
          <p:nvPr/>
        </p:nvSpPr>
        <p:spPr>
          <a:xfrm>
            <a:off x="9939528" y="4206240"/>
            <a:ext cx="1746504" cy="438912"/>
          </a:xfrm>
          <a:prstGeom prst="rect">
            <a:avLst/>
          </a:prstGeom>
          <a:solidFill>
            <a:srgbClr val="FFFFFF"/>
          </a:solidFill>
          <a:ln w="8255">
            <a:solidFill>
              <a:srgbClr val="FFFFFF"/>
            </a:solidFill>
            <a:prstDash val="solid"/>
          </a:ln>
        </p:spPr>
        <p:txBody>
          <a:bodyPr/>
          <a:lstStyle/>
          <a:p>
            <a:endParaRPr lang="en-US"/>
          </a:p>
        </p:txBody>
      </p:sp>
      <p:sp>
        <p:nvSpPr>
          <p:cNvPr id="77" name="Text 75"/>
          <p:cNvSpPr/>
          <p:nvPr/>
        </p:nvSpPr>
        <p:spPr>
          <a:xfrm>
            <a:off x="10030968" y="4270248"/>
            <a:ext cx="1563624" cy="31089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8" name="Shape 76"/>
          <p:cNvSpPr/>
          <p:nvPr/>
        </p:nvSpPr>
        <p:spPr>
          <a:xfrm>
            <a:off x="502920" y="4645152"/>
            <a:ext cx="11183112" cy="0"/>
          </a:xfrm>
          <a:prstGeom prst="line">
            <a:avLst/>
          </a:prstGeom>
          <a:noFill/>
          <a:ln w="5715">
            <a:solidFill>
              <a:srgbClr val="D8DBDF"/>
            </a:solidFill>
            <a:prstDash val="solid"/>
          </a:ln>
        </p:spPr>
        <p:txBody>
          <a:bodyPr/>
          <a:lstStyle/>
          <a:p>
            <a:endParaRPr lang="en-US"/>
          </a:p>
        </p:txBody>
      </p:sp>
      <p:sp>
        <p:nvSpPr>
          <p:cNvPr id="79" name="Shape 77"/>
          <p:cNvSpPr/>
          <p:nvPr/>
        </p:nvSpPr>
        <p:spPr>
          <a:xfrm>
            <a:off x="502920" y="4791456"/>
            <a:ext cx="3657600" cy="256032"/>
          </a:xfrm>
          <a:prstGeom prst="rect">
            <a:avLst/>
          </a:prstGeom>
          <a:solidFill>
            <a:srgbClr val="FDECEF"/>
          </a:solidFill>
          <a:ln w="8255">
            <a:solidFill>
              <a:srgbClr val="FDECEF"/>
            </a:solidFill>
            <a:prstDash val="solid"/>
          </a:ln>
        </p:spPr>
        <p:txBody>
          <a:bodyPr/>
          <a:lstStyle/>
          <a:p>
            <a:endParaRPr lang="en-US"/>
          </a:p>
        </p:txBody>
      </p:sp>
      <p:sp>
        <p:nvSpPr>
          <p:cNvPr id="80" name="Text 78"/>
          <p:cNvSpPr/>
          <p:nvPr/>
        </p:nvSpPr>
        <p:spPr>
          <a:xfrm>
            <a:off x="576072" y="4791456"/>
            <a:ext cx="3511296"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R1 / RETRIEVAL + RERANK TARGET</a:t>
            </a:r>
            <a:endParaRPr lang="en-US" sz="930" dirty="0"/>
          </a:p>
        </p:txBody>
      </p:sp>
      <p:sp>
        <p:nvSpPr>
          <p:cNvPr id="81" name="Text 79"/>
          <p:cNvSpPr/>
          <p:nvPr/>
        </p:nvSpPr>
        <p:spPr>
          <a:xfrm>
            <a:off x="4361688" y="4754880"/>
            <a:ext cx="7315200" cy="356616"/>
          </a:xfrm>
          <a:prstGeom prst="rect">
            <a:avLst/>
          </a:prstGeom>
          <a:noFill/>
          <a:ln/>
        </p:spPr>
        <p:txBody>
          <a:bodyPr wrap="square" lIns="0" tIns="0" rIns="0" bIns="0" rtlCol="0" anchor="ctr">
            <a:normAutofit/>
          </a:bodyPr>
          <a:lstStyle/>
          <a:p>
            <a:pPr marL="0" indent="0">
              <a:buNone/>
            </a:pPr>
            <a:r>
              <a:rPr lang="en-US" sz="1700" b="1" dirty="0">
                <a:solidFill>
                  <a:srgbClr val="E31837"/>
                </a:solidFill>
                <a:latin typeface="Arial" pitchFamily="34" charset="0"/>
                <a:ea typeface="Arial" pitchFamily="34" charset="-122"/>
                <a:cs typeface="Arial" pitchFamily="34" charset="-120"/>
              </a:rPr>
              <a:t>5 / 10 / 10 / 20 / 30 queries/s; p95 ≤0.5 s, p99 ≤1 s</a:t>
            </a:r>
            <a:endParaRPr lang="en-US" sz="1700" dirty="0"/>
          </a:p>
        </p:txBody>
      </p:sp>
      <p:sp>
        <p:nvSpPr>
          <p:cNvPr id="82" name="Text 80"/>
          <p:cNvSpPr/>
          <p:nvPr/>
        </p:nvSpPr>
        <p:spPr>
          <a:xfrm>
            <a:off x="640080" y="5358384"/>
            <a:ext cx="10927080" cy="347472"/>
          </a:xfrm>
          <a:prstGeom prst="rect">
            <a:avLst/>
          </a:prstGeom>
          <a:noFill/>
          <a:ln/>
        </p:spPr>
        <p:txBody>
          <a:bodyPr wrap="square" lIns="0" tIns="0" rIns="0" bIns="0" rtlCol="0" anchor="ctr">
            <a:normAutofit/>
          </a:bodyPr>
          <a:lstStyle/>
          <a:p>
            <a:pPr marL="0" indent="0">
              <a:buNone/>
            </a:pPr>
            <a:r>
              <a:rPr lang="en-US" sz="1300" dirty="0">
                <a:solidFill>
                  <a:srgbClr val="5B6169"/>
                </a:solidFill>
                <a:latin typeface="Arial" pitchFamily="34" charset="0"/>
                <a:ea typeface="Arial" pitchFamily="34" charset="-122"/>
                <a:cs typeface="Arial" pitchFamily="34" charset="-120"/>
              </a:rPr>
              <a:t>1M text chunks; CPU shortlist + ≤100 rerank candidates. Run separately from G1; freeze quality and ACL tests.</a:t>
            </a:r>
            <a:endParaRPr lang="en-US" sz="1300" dirty="0"/>
          </a:p>
        </p:txBody>
      </p:sp>
      <p:sp>
        <p:nvSpPr>
          <p:cNvPr id="83" name="Shape 81"/>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84" name="Text 82"/>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Larger SKUs add service replicas/capacity. They do not automatically reduce a single request’s latency.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811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WHAT THE APPLIANCE DOES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lnSpcReduction="20000"/>
          </a:bodyPr>
          <a:lstStyle/>
          <a:p>
            <a:pPr marL="0" indent="0">
              <a:buNone/>
            </a:pPr>
            <a:r>
              <a:rPr lang="en-US" sz="2900" b="1" dirty="0">
                <a:solidFill>
                  <a:srgbClr val="18191D"/>
                </a:solidFill>
                <a:latin typeface="Arial" pitchFamily="34" charset="0"/>
                <a:ea typeface="Arial" pitchFamily="34" charset="-122"/>
                <a:cs typeface="Arial" pitchFamily="34" charset="-120"/>
              </a:rPr>
              <a:t>Keep the knowledge workflow clear—and the compute boundary honest.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A complete service can run locally or return evidence to the customer’s existing LLM.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08</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§7</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[S37] [S39] [S40] [S41]</a:t>
            </a:r>
            <a:endParaRPr lang="en-US" sz="820" dirty="0"/>
          </a:p>
        </p:txBody>
      </p:sp>
      <p:sp>
        <p:nvSpPr>
          <p:cNvPr id="12" name="Shape 10"/>
          <p:cNvSpPr/>
          <p:nvPr/>
        </p:nvSpPr>
        <p:spPr>
          <a:xfrm>
            <a:off x="3419856" y="1993392"/>
            <a:ext cx="5321808" cy="786384"/>
          </a:xfrm>
          <a:prstGeom prst="rect">
            <a:avLst/>
          </a:prstGeom>
          <a:solidFill>
            <a:srgbClr val="18191D"/>
          </a:solidFill>
          <a:ln w="8255">
            <a:solidFill>
              <a:srgbClr val="18191D"/>
            </a:solidFill>
            <a:prstDash val="solid"/>
          </a:ln>
        </p:spPr>
        <p:txBody>
          <a:bodyPr/>
          <a:lstStyle/>
          <a:p>
            <a:endParaRPr lang="en-US"/>
          </a:p>
        </p:txBody>
      </p:sp>
      <p:sp>
        <p:nvSpPr>
          <p:cNvPr id="13" name="Text 11"/>
          <p:cNvSpPr/>
          <p:nvPr/>
        </p:nvSpPr>
        <p:spPr>
          <a:xfrm>
            <a:off x="3538728" y="2103120"/>
            <a:ext cx="5084064" cy="30175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rial" pitchFamily="34" charset="0"/>
                <a:ea typeface="Arial" pitchFamily="34" charset="-122"/>
                <a:cs typeface="Arial" pitchFamily="34" charset="-120"/>
              </a:rPr>
              <a:t>APPLICATION / AI GATEWAY</a:t>
            </a:r>
            <a:endParaRPr lang="en-US" sz="1400" dirty="0"/>
          </a:p>
        </p:txBody>
      </p:sp>
      <p:sp>
        <p:nvSpPr>
          <p:cNvPr id="14" name="Text 12"/>
          <p:cNvSpPr/>
          <p:nvPr/>
        </p:nvSpPr>
        <p:spPr>
          <a:xfrm>
            <a:off x="3538728" y="2478024"/>
            <a:ext cx="5084064" cy="210312"/>
          </a:xfrm>
          <a:prstGeom prst="rect">
            <a:avLst/>
          </a:prstGeom>
          <a:noFill/>
          <a:ln/>
        </p:spPr>
        <p:txBody>
          <a:bodyPr wrap="square" lIns="0" tIns="0" rIns="0" bIns="0" rtlCol="0" anchor="t">
            <a:normAutofit/>
          </a:bodyPr>
          <a:lstStyle/>
          <a:p>
            <a:pPr marL="0" indent="0">
              <a:buNone/>
            </a:pPr>
            <a:r>
              <a:rPr lang="en-US" sz="1230" dirty="0">
                <a:solidFill>
                  <a:srgbClr val="DDE0E5"/>
                </a:solidFill>
                <a:latin typeface="Arial" pitchFamily="34" charset="0"/>
                <a:ea typeface="Arial" pitchFamily="34" charset="-122"/>
                <a:cs typeface="Arial" pitchFamily="34" charset="-120"/>
              </a:rPr>
              <a:t>Identity • policy • quota • request selection</a:t>
            </a:r>
            <a:endParaRPr lang="en-US" sz="1230" dirty="0"/>
          </a:p>
        </p:txBody>
      </p:sp>
      <p:sp>
        <p:nvSpPr>
          <p:cNvPr id="15" name="Shape 13"/>
          <p:cNvSpPr/>
          <p:nvPr/>
        </p:nvSpPr>
        <p:spPr>
          <a:xfrm>
            <a:off x="6080760" y="2779776"/>
            <a:ext cx="0" cy="329184"/>
          </a:xfrm>
          <a:prstGeom prst="line">
            <a:avLst/>
          </a:prstGeom>
          <a:noFill/>
          <a:ln w="25400">
            <a:solidFill>
              <a:srgbClr val="E31837"/>
            </a:solidFill>
            <a:prstDash val="solid"/>
            <a:tailEnd type="triangle"/>
          </a:ln>
        </p:spPr>
        <p:txBody>
          <a:bodyPr/>
          <a:lstStyle/>
          <a:p>
            <a:endParaRPr lang="en-US"/>
          </a:p>
        </p:txBody>
      </p:sp>
      <p:sp>
        <p:nvSpPr>
          <p:cNvPr id="16" name="Shape 14"/>
          <p:cNvSpPr/>
          <p:nvPr/>
        </p:nvSpPr>
        <p:spPr>
          <a:xfrm>
            <a:off x="502920" y="3227832"/>
            <a:ext cx="2660904" cy="1618488"/>
          </a:xfrm>
          <a:prstGeom prst="rect">
            <a:avLst/>
          </a:prstGeom>
          <a:solidFill>
            <a:srgbClr val="F3F4F6"/>
          </a:solidFill>
          <a:ln w="8255">
            <a:solidFill>
              <a:srgbClr val="F3F4F6"/>
            </a:solidFill>
            <a:prstDash val="solid"/>
          </a:ln>
        </p:spPr>
        <p:txBody>
          <a:bodyPr/>
          <a:lstStyle/>
          <a:p>
            <a:endParaRPr lang="en-US"/>
          </a:p>
        </p:txBody>
      </p:sp>
      <p:sp>
        <p:nvSpPr>
          <p:cNvPr id="17" name="Text 15"/>
          <p:cNvSpPr/>
          <p:nvPr/>
        </p:nvSpPr>
        <p:spPr>
          <a:xfrm>
            <a:off x="612648" y="3364992"/>
            <a:ext cx="2441448" cy="265176"/>
          </a:xfrm>
          <a:prstGeom prst="rect">
            <a:avLst/>
          </a:prstGeom>
          <a:noFill/>
          <a:ln/>
        </p:spPr>
        <p:txBody>
          <a:bodyPr wrap="square" lIns="0" tIns="0" rIns="0" bIns="0" rtlCol="0" anchor="ctr">
            <a:normAutofit/>
          </a:bodyPr>
          <a:lstStyle/>
          <a:p>
            <a:pPr marL="0" indent="0">
              <a:buNone/>
            </a:pPr>
            <a:r>
              <a:rPr lang="en-US" sz="1350" b="1" dirty="0">
                <a:solidFill>
                  <a:srgbClr val="18191D"/>
                </a:solidFill>
                <a:latin typeface="Arial" pitchFamily="34" charset="0"/>
                <a:ea typeface="Arial" pitchFamily="34" charset="-122"/>
                <a:cs typeface="Arial" pitchFamily="34" charset="-120"/>
              </a:rPr>
              <a:t>INGEST + GOVERN</a:t>
            </a:r>
            <a:endParaRPr lang="en-US" sz="1350" dirty="0"/>
          </a:p>
        </p:txBody>
      </p:sp>
      <p:sp>
        <p:nvSpPr>
          <p:cNvPr id="18" name="Text 16"/>
          <p:cNvSpPr/>
          <p:nvPr/>
        </p:nvSpPr>
        <p:spPr>
          <a:xfrm>
            <a:off x="612648" y="3785616"/>
            <a:ext cx="2441448" cy="347472"/>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Connect / parse / ACL</a:t>
            </a:r>
            <a:endParaRPr lang="en-US" sz="1400" dirty="0"/>
          </a:p>
        </p:txBody>
      </p:sp>
      <p:sp>
        <p:nvSpPr>
          <p:cNvPr id="19" name="Text 17"/>
          <p:cNvSpPr/>
          <p:nvPr/>
        </p:nvSpPr>
        <p:spPr>
          <a:xfrm>
            <a:off x="612648" y="4288536"/>
            <a:ext cx="2441448" cy="365760"/>
          </a:xfrm>
          <a:prstGeom prst="rect">
            <a:avLst/>
          </a:prstGeom>
          <a:noFill/>
          <a:ln/>
        </p:spPr>
        <p:txBody>
          <a:bodyPr wrap="square" lIns="0" tIns="0" rIns="0" bIns="0" rtlCol="0" anchor="ctr">
            <a:normAutofit/>
          </a:bodyPr>
          <a:lstStyle/>
          <a:p>
            <a:pPr marL="0" indent="0">
              <a:buNone/>
            </a:pPr>
            <a:r>
              <a:rPr lang="en-US" sz="1130" b="1" dirty="0">
                <a:solidFill>
                  <a:srgbClr val="5B6169"/>
                </a:solidFill>
                <a:latin typeface="Arial" pitchFamily="34" charset="0"/>
                <a:ea typeface="Arial" pitchFamily="34" charset="-122"/>
                <a:cs typeface="Arial" pitchFamily="34" charset="-120"/>
              </a:rPr>
              <a:t>CPU + source storage</a:t>
            </a:r>
            <a:endParaRPr lang="en-US" sz="1130" dirty="0"/>
          </a:p>
        </p:txBody>
      </p:sp>
      <p:sp>
        <p:nvSpPr>
          <p:cNvPr id="20" name="Shape 18"/>
          <p:cNvSpPr/>
          <p:nvPr/>
        </p:nvSpPr>
        <p:spPr>
          <a:xfrm>
            <a:off x="3163824" y="4023360"/>
            <a:ext cx="164592" cy="0"/>
          </a:xfrm>
          <a:prstGeom prst="line">
            <a:avLst/>
          </a:prstGeom>
          <a:noFill/>
          <a:ln w="20320">
            <a:solidFill>
              <a:srgbClr val="E31837"/>
            </a:solidFill>
            <a:prstDash val="solid"/>
            <a:tailEnd type="triangle"/>
          </a:ln>
        </p:spPr>
        <p:txBody>
          <a:bodyPr/>
          <a:lstStyle/>
          <a:p>
            <a:endParaRPr lang="en-US"/>
          </a:p>
        </p:txBody>
      </p:sp>
      <p:sp>
        <p:nvSpPr>
          <p:cNvPr id="21" name="Shape 19"/>
          <p:cNvSpPr/>
          <p:nvPr/>
        </p:nvSpPr>
        <p:spPr>
          <a:xfrm>
            <a:off x="3346704" y="3227832"/>
            <a:ext cx="2660904" cy="1618488"/>
          </a:xfrm>
          <a:prstGeom prst="rect">
            <a:avLst/>
          </a:prstGeom>
          <a:solidFill>
            <a:srgbClr val="F3F4F6"/>
          </a:solidFill>
          <a:ln w="8255">
            <a:solidFill>
              <a:srgbClr val="F3F4F6"/>
            </a:solidFill>
            <a:prstDash val="solid"/>
          </a:ln>
        </p:spPr>
        <p:txBody>
          <a:bodyPr/>
          <a:lstStyle/>
          <a:p>
            <a:endParaRPr lang="en-US"/>
          </a:p>
        </p:txBody>
      </p:sp>
      <p:sp>
        <p:nvSpPr>
          <p:cNvPr id="22" name="Text 20"/>
          <p:cNvSpPr/>
          <p:nvPr/>
        </p:nvSpPr>
        <p:spPr>
          <a:xfrm>
            <a:off x="3456432" y="3364992"/>
            <a:ext cx="2441448" cy="265176"/>
          </a:xfrm>
          <a:prstGeom prst="rect">
            <a:avLst/>
          </a:prstGeom>
          <a:noFill/>
          <a:ln/>
        </p:spPr>
        <p:txBody>
          <a:bodyPr wrap="square" lIns="0" tIns="0" rIns="0" bIns="0" rtlCol="0" anchor="ctr">
            <a:normAutofit/>
          </a:bodyPr>
          <a:lstStyle/>
          <a:p>
            <a:pPr marL="0" indent="0">
              <a:buNone/>
            </a:pPr>
            <a:r>
              <a:rPr lang="en-US" sz="1350" b="1" dirty="0">
                <a:solidFill>
                  <a:srgbClr val="18191D"/>
                </a:solidFill>
                <a:latin typeface="Arial" pitchFamily="34" charset="0"/>
                <a:ea typeface="Arial" pitchFamily="34" charset="-122"/>
                <a:cs typeface="Arial" pitchFamily="34" charset="-120"/>
              </a:rPr>
              <a:t>RETRIEVE</a:t>
            </a:r>
            <a:endParaRPr lang="en-US" sz="1350" dirty="0"/>
          </a:p>
        </p:txBody>
      </p:sp>
      <p:sp>
        <p:nvSpPr>
          <p:cNvPr id="23" name="Text 21"/>
          <p:cNvSpPr/>
          <p:nvPr/>
        </p:nvSpPr>
        <p:spPr>
          <a:xfrm>
            <a:off x="3456432" y="3785616"/>
            <a:ext cx="2441448" cy="347472"/>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Sparse / ANN shortlist</a:t>
            </a:r>
            <a:endParaRPr lang="en-US" sz="1400" dirty="0"/>
          </a:p>
        </p:txBody>
      </p:sp>
      <p:sp>
        <p:nvSpPr>
          <p:cNvPr id="24" name="Text 22"/>
          <p:cNvSpPr/>
          <p:nvPr/>
        </p:nvSpPr>
        <p:spPr>
          <a:xfrm>
            <a:off x="3456432" y="4288536"/>
            <a:ext cx="2441448" cy="365760"/>
          </a:xfrm>
          <a:prstGeom prst="rect">
            <a:avLst/>
          </a:prstGeom>
          <a:noFill/>
          <a:ln/>
        </p:spPr>
        <p:txBody>
          <a:bodyPr wrap="square" lIns="0" tIns="0" rIns="0" bIns="0" rtlCol="0" anchor="ctr">
            <a:normAutofit/>
          </a:bodyPr>
          <a:lstStyle/>
          <a:p>
            <a:pPr marL="0" indent="0">
              <a:buNone/>
            </a:pPr>
            <a:r>
              <a:rPr lang="en-US" sz="1130" b="1" dirty="0">
                <a:solidFill>
                  <a:srgbClr val="5B6169"/>
                </a:solidFill>
                <a:latin typeface="Arial" pitchFamily="34" charset="0"/>
                <a:ea typeface="Arial" pitchFamily="34" charset="-122"/>
                <a:cs typeface="Arial" pitchFamily="34" charset="-120"/>
              </a:rPr>
              <a:t>CPU/index; qualified scoring</a:t>
            </a:r>
            <a:endParaRPr lang="en-US" sz="1130" dirty="0"/>
          </a:p>
        </p:txBody>
      </p:sp>
      <p:sp>
        <p:nvSpPr>
          <p:cNvPr id="25" name="Shape 23"/>
          <p:cNvSpPr/>
          <p:nvPr/>
        </p:nvSpPr>
        <p:spPr>
          <a:xfrm>
            <a:off x="6007608" y="4023360"/>
            <a:ext cx="164592" cy="0"/>
          </a:xfrm>
          <a:prstGeom prst="line">
            <a:avLst/>
          </a:prstGeom>
          <a:noFill/>
          <a:ln w="20320">
            <a:solidFill>
              <a:srgbClr val="E31837"/>
            </a:solidFill>
            <a:prstDash val="solid"/>
            <a:tailEnd type="triangle"/>
          </a:ln>
        </p:spPr>
        <p:txBody>
          <a:bodyPr/>
          <a:lstStyle/>
          <a:p>
            <a:endParaRPr lang="en-US"/>
          </a:p>
        </p:txBody>
      </p:sp>
      <p:sp>
        <p:nvSpPr>
          <p:cNvPr id="26" name="Shape 24"/>
          <p:cNvSpPr/>
          <p:nvPr/>
        </p:nvSpPr>
        <p:spPr>
          <a:xfrm>
            <a:off x="6190488" y="3227832"/>
            <a:ext cx="2660904" cy="1618488"/>
          </a:xfrm>
          <a:prstGeom prst="rect">
            <a:avLst/>
          </a:prstGeom>
          <a:solidFill>
            <a:srgbClr val="FDECEF"/>
          </a:solidFill>
          <a:ln w="8255">
            <a:solidFill>
              <a:srgbClr val="FDECEF"/>
            </a:solidFill>
            <a:prstDash val="solid"/>
          </a:ln>
        </p:spPr>
        <p:txBody>
          <a:bodyPr/>
          <a:lstStyle/>
          <a:p>
            <a:endParaRPr lang="en-US"/>
          </a:p>
        </p:txBody>
      </p:sp>
      <p:sp>
        <p:nvSpPr>
          <p:cNvPr id="27" name="Text 25"/>
          <p:cNvSpPr/>
          <p:nvPr/>
        </p:nvSpPr>
        <p:spPr>
          <a:xfrm>
            <a:off x="6300216" y="3364992"/>
            <a:ext cx="2441448" cy="265176"/>
          </a:xfrm>
          <a:prstGeom prst="rect">
            <a:avLst/>
          </a:prstGeom>
          <a:noFill/>
          <a:ln/>
        </p:spPr>
        <p:txBody>
          <a:bodyPr wrap="square" lIns="0" tIns="0" rIns="0" bIns="0" rtlCol="0" anchor="ctr">
            <a:normAutofit/>
          </a:bodyPr>
          <a:lstStyle/>
          <a:p>
            <a:pPr marL="0" indent="0">
              <a:buNone/>
            </a:pPr>
            <a:r>
              <a:rPr lang="en-US" sz="1350" b="1" dirty="0">
                <a:solidFill>
                  <a:srgbClr val="18191D"/>
                </a:solidFill>
                <a:latin typeface="Arial" pitchFamily="34" charset="0"/>
                <a:ea typeface="Arial" pitchFamily="34" charset="-122"/>
                <a:cs typeface="Arial" pitchFamily="34" charset="-120"/>
              </a:rPr>
              <a:t>RERANK / INFER</a:t>
            </a:r>
            <a:endParaRPr lang="en-US" sz="1350" dirty="0"/>
          </a:p>
        </p:txBody>
      </p:sp>
      <p:sp>
        <p:nvSpPr>
          <p:cNvPr id="28" name="Text 26"/>
          <p:cNvSpPr/>
          <p:nvPr/>
        </p:nvSpPr>
        <p:spPr>
          <a:xfrm>
            <a:off x="6300216" y="3785616"/>
            <a:ext cx="2441448" cy="347472"/>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Certified model operators</a:t>
            </a:r>
            <a:endParaRPr lang="en-US" sz="1400" dirty="0"/>
          </a:p>
        </p:txBody>
      </p:sp>
      <p:sp>
        <p:nvSpPr>
          <p:cNvPr id="29" name="Text 27"/>
          <p:cNvSpPr/>
          <p:nvPr/>
        </p:nvSpPr>
        <p:spPr>
          <a:xfrm>
            <a:off x="6300216" y="4288536"/>
            <a:ext cx="2441448" cy="365760"/>
          </a:xfrm>
          <a:prstGeom prst="rect">
            <a:avLst/>
          </a:prstGeom>
          <a:noFill/>
          <a:ln/>
        </p:spPr>
        <p:txBody>
          <a:bodyPr wrap="square" lIns="0" tIns="0" rIns="0" bIns="0" rtlCol="0" anchor="ctr">
            <a:normAutofit/>
          </a:bodyPr>
          <a:lstStyle/>
          <a:p>
            <a:pPr marL="0" indent="0">
              <a:buNone/>
            </a:pPr>
            <a:r>
              <a:rPr lang="en-US" sz="1130" b="1" dirty="0">
                <a:solidFill>
                  <a:srgbClr val="E31837"/>
                </a:solidFill>
                <a:latin typeface="Arial" pitchFamily="34" charset="0"/>
                <a:ea typeface="Arial" pitchFamily="34" charset="-122"/>
                <a:cs typeface="Arial" pitchFamily="34" charset="-120"/>
              </a:rPr>
              <a:t>ATMOS HBF + NPU + LPDDR</a:t>
            </a:r>
            <a:endParaRPr lang="en-US" sz="1130" dirty="0"/>
          </a:p>
        </p:txBody>
      </p:sp>
      <p:sp>
        <p:nvSpPr>
          <p:cNvPr id="30" name="Shape 28"/>
          <p:cNvSpPr/>
          <p:nvPr/>
        </p:nvSpPr>
        <p:spPr>
          <a:xfrm>
            <a:off x="8851392" y="4023360"/>
            <a:ext cx="164592" cy="0"/>
          </a:xfrm>
          <a:prstGeom prst="line">
            <a:avLst/>
          </a:prstGeom>
          <a:noFill/>
          <a:ln w="20320">
            <a:solidFill>
              <a:srgbClr val="E31837"/>
            </a:solidFill>
            <a:prstDash val="solid"/>
            <a:tailEnd type="triangle"/>
          </a:ln>
        </p:spPr>
        <p:txBody>
          <a:bodyPr/>
          <a:lstStyle/>
          <a:p>
            <a:endParaRPr lang="en-US"/>
          </a:p>
        </p:txBody>
      </p:sp>
      <p:sp>
        <p:nvSpPr>
          <p:cNvPr id="31" name="Shape 29"/>
          <p:cNvSpPr/>
          <p:nvPr/>
        </p:nvSpPr>
        <p:spPr>
          <a:xfrm>
            <a:off x="9034272" y="3227832"/>
            <a:ext cx="2660904" cy="1618488"/>
          </a:xfrm>
          <a:prstGeom prst="rect">
            <a:avLst/>
          </a:prstGeom>
          <a:solidFill>
            <a:srgbClr val="F3F4F6"/>
          </a:solidFill>
          <a:ln w="8255">
            <a:solidFill>
              <a:srgbClr val="F3F4F6"/>
            </a:solidFill>
            <a:prstDash val="solid"/>
          </a:ln>
        </p:spPr>
        <p:txBody>
          <a:bodyPr/>
          <a:lstStyle/>
          <a:p>
            <a:endParaRPr lang="en-US"/>
          </a:p>
        </p:txBody>
      </p:sp>
      <p:sp>
        <p:nvSpPr>
          <p:cNvPr id="32" name="Text 30"/>
          <p:cNvSpPr/>
          <p:nvPr/>
        </p:nvSpPr>
        <p:spPr>
          <a:xfrm>
            <a:off x="9144000" y="3364992"/>
            <a:ext cx="2441448" cy="265176"/>
          </a:xfrm>
          <a:prstGeom prst="rect">
            <a:avLst/>
          </a:prstGeom>
          <a:noFill/>
          <a:ln/>
        </p:spPr>
        <p:txBody>
          <a:bodyPr wrap="square" lIns="0" tIns="0" rIns="0" bIns="0" rtlCol="0" anchor="ctr">
            <a:normAutofit/>
          </a:bodyPr>
          <a:lstStyle/>
          <a:p>
            <a:pPr marL="0" indent="0">
              <a:buNone/>
            </a:pPr>
            <a:r>
              <a:rPr lang="en-US" sz="1350" b="1" dirty="0">
                <a:solidFill>
                  <a:srgbClr val="18191D"/>
                </a:solidFill>
                <a:latin typeface="Arial" pitchFamily="34" charset="0"/>
                <a:ea typeface="Arial" pitchFamily="34" charset="-122"/>
                <a:cs typeface="Arial" pitchFamily="34" charset="-120"/>
              </a:rPr>
              <a:t>ANSWER + AUDIT</a:t>
            </a:r>
            <a:endParaRPr lang="en-US" sz="1350" dirty="0"/>
          </a:p>
        </p:txBody>
      </p:sp>
      <p:sp>
        <p:nvSpPr>
          <p:cNvPr id="33" name="Text 31"/>
          <p:cNvSpPr/>
          <p:nvPr/>
        </p:nvSpPr>
        <p:spPr>
          <a:xfrm>
            <a:off x="9144000" y="3785616"/>
            <a:ext cx="2441448" cy="347472"/>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Citations / approved tools</a:t>
            </a:r>
            <a:endParaRPr lang="en-US" sz="1400" dirty="0"/>
          </a:p>
        </p:txBody>
      </p:sp>
      <p:sp>
        <p:nvSpPr>
          <p:cNvPr id="34" name="Text 32"/>
          <p:cNvSpPr/>
          <p:nvPr/>
        </p:nvSpPr>
        <p:spPr>
          <a:xfrm>
            <a:off x="9144000" y="4288536"/>
            <a:ext cx="2441448" cy="365760"/>
          </a:xfrm>
          <a:prstGeom prst="rect">
            <a:avLst/>
          </a:prstGeom>
          <a:noFill/>
          <a:ln/>
        </p:spPr>
        <p:txBody>
          <a:bodyPr wrap="square" lIns="0" tIns="0" rIns="0" bIns="0" rtlCol="0" anchor="ctr">
            <a:normAutofit/>
          </a:bodyPr>
          <a:lstStyle/>
          <a:p>
            <a:pPr marL="0" indent="0">
              <a:buNone/>
            </a:pPr>
            <a:r>
              <a:rPr lang="en-US" sz="1130" b="1" dirty="0">
                <a:solidFill>
                  <a:srgbClr val="5B6169"/>
                </a:solidFill>
                <a:latin typeface="Arial" pitchFamily="34" charset="0"/>
                <a:ea typeface="Arial" pitchFamily="34" charset="-122"/>
                <a:cs typeface="Arial" pitchFamily="34" charset="-120"/>
              </a:rPr>
              <a:t>Local model or explicit external LLM</a:t>
            </a:r>
            <a:endParaRPr lang="en-US" sz="1130" dirty="0"/>
          </a:p>
        </p:txBody>
      </p:sp>
      <p:sp>
        <p:nvSpPr>
          <p:cNvPr id="35" name="Shape 33"/>
          <p:cNvSpPr/>
          <p:nvPr/>
        </p:nvSpPr>
        <p:spPr>
          <a:xfrm>
            <a:off x="502920" y="5157216"/>
            <a:ext cx="11183112" cy="420624"/>
          </a:xfrm>
          <a:prstGeom prst="rect">
            <a:avLst/>
          </a:prstGeom>
          <a:solidFill>
            <a:srgbClr val="18191D"/>
          </a:solidFill>
          <a:ln w="8255">
            <a:solidFill>
              <a:srgbClr val="18191D"/>
            </a:solidFill>
            <a:prstDash val="solid"/>
          </a:ln>
        </p:spPr>
        <p:txBody>
          <a:bodyPr/>
          <a:lstStyle/>
          <a:p>
            <a:endParaRPr lang="en-US"/>
          </a:p>
        </p:txBody>
      </p:sp>
      <p:sp>
        <p:nvSpPr>
          <p:cNvPr id="36" name="Text 34"/>
          <p:cNvSpPr/>
          <p:nvPr/>
        </p:nvSpPr>
        <p:spPr>
          <a:xfrm>
            <a:off x="640080" y="5193792"/>
            <a:ext cx="10927080" cy="329184"/>
          </a:xfrm>
          <a:prstGeom prst="rect">
            <a:avLst/>
          </a:prstGeom>
          <a:noFill/>
          <a:ln/>
        </p:spPr>
        <p:txBody>
          <a:bodyPr wrap="square" lIns="0" tIns="0" rIns="0" bIns="0" rtlCol="0" anchor="ctr">
            <a:normAutofit/>
          </a:bodyPr>
          <a:lstStyle/>
          <a:p>
            <a:pPr marL="0" indent="0">
              <a:buNone/>
            </a:pPr>
            <a:r>
              <a:rPr lang="en-US" sz="1300" dirty="0">
                <a:solidFill>
                  <a:srgbClr val="FFFFFF"/>
                </a:solidFill>
                <a:latin typeface="Arial" pitchFamily="34" charset="0"/>
                <a:ea typeface="Arial" pitchFamily="34" charset="-122"/>
                <a:cs typeface="Arial" pitchFamily="34" charset="-120"/>
              </a:rPr>
              <a:t>HBF = resident models / neural data     |     LPDDR/SRAM = active KV + workspace     |     NVMe = corpus + recovery</a:t>
            </a:r>
            <a:endParaRPr lang="en-US" sz="1300" dirty="0"/>
          </a:p>
        </p:txBody>
      </p:sp>
      <p:sp>
        <p:nvSpPr>
          <p:cNvPr id="37" name="Shape 3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38" name="Text 3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No hidden GPU fallback. An external generator has an explicit data policy, latency contract and bill.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AVAILABILITY &amp; SCALE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Scale complete services—and keep peak capacity after a node loss.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One node is not HA. Two PSUs are not HA. A replica without state or capacity is not HA.</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09</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§9</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[S37]</a:t>
            </a:r>
            <a:endParaRPr lang="en-US" sz="820" dirty="0"/>
          </a:p>
        </p:txBody>
      </p:sp>
      <p:sp>
        <p:nvSpPr>
          <p:cNvPr id="12" name="Shape 10"/>
          <p:cNvSpPr/>
          <p:nvPr/>
        </p:nvSpPr>
        <p:spPr>
          <a:xfrm>
            <a:off x="2514600" y="1993392"/>
            <a:ext cx="7132320" cy="768096"/>
          </a:xfrm>
          <a:prstGeom prst="rect">
            <a:avLst/>
          </a:prstGeom>
          <a:solidFill>
            <a:srgbClr val="18191D"/>
          </a:solidFill>
          <a:ln w="8255">
            <a:solidFill>
              <a:srgbClr val="18191D"/>
            </a:solidFill>
            <a:prstDash val="solid"/>
          </a:ln>
        </p:spPr>
        <p:txBody>
          <a:bodyPr/>
          <a:lstStyle/>
          <a:p>
            <a:endParaRPr lang="en-US"/>
          </a:p>
        </p:txBody>
      </p:sp>
      <p:sp>
        <p:nvSpPr>
          <p:cNvPr id="13" name="Text 11"/>
          <p:cNvSpPr/>
          <p:nvPr/>
        </p:nvSpPr>
        <p:spPr>
          <a:xfrm>
            <a:off x="2633472" y="2103120"/>
            <a:ext cx="6894576" cy="30175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rial" pitchFamily="34" charset="0"/>
                <a:ea typeface="Arial" pitchFamily="34" charset="-122"/>
                <a:cs typeface="Arial" pitchFamily="34" charset="-120"/>
              </a:rPr>
              <a:t>REDUNDANT GATEWAY / HEALTH / ADMISSION</a:t>
            </a:r>
            <a:endParaRPr lang="en-US" sz="1400" dirty="0"/>
          </a:p>
        </p:txBody>
      </p:sp>
      <p:sp>
        <p:nvSpPr>
          <p:cNvPr id="14" name="Text 12"/>
          <p:cNvSpPr/>
          <p:nvPr/>
        </p:nvSpPr>
        <p:spPr>
          <a:xfrm>
            <a:off x="2633472" y="2478024"/>
            <a:ext cx="6894576" cy="192024"/>
          </a:xfrm>
          <a:prstGeom prst="rect">
            <a:avLst/>
          </a:prstGeom>
          <a:noFill/>
          <a:ln/>
        </p:spPr>
        <p:txBody>
          <a:bodyPr wrap="square" lIns="0" tIns="0" rIns="0" bIns="0" rtlCol="0" anchor="t">
            <a:normAutofit/>
          </a:bodyPr>
          <a:lstStyle/>
          <a:p>
            <a:pPr marL="0" indent="0">
              <a:buNone/>
            </a:pPr>
            <a:r>
              <a:rPr lang="en-US" sz="1230" dirty="0">
                <a:solidFill>
                  <a:srgbClr val="DDE0E5"/>
                </a:solidFill>
                <a:latin typeface="Arial" pitchFamily="34" charset="0"/>
                <a:ea typeface="Arial" pitchFamily="34" charset="-122"/>
                <a:cs typeface="Arial" pitchFamily="34" charset="-120"/>
              </a:rPr>
              <a:t>Ready endpoints only; anti-affinity; two independent service paths</a:t>
            </a:r>
            <a:endParaRPr lang="en-US" sz="1230" dirty="0"/>
          </a:p>
        </p:txBody>
      </p:sp>
      <p:sp>
        <p:nvSpPr>
          <p:cNvPr id="15" name="Shape 13"/>
          <p:cNvSpPr/>
          <p:nvPr/>
        </p:nvSpPr>
        <p:spPr>
          <a:xfrm>
            <a:off x="6080760" y="2761488"/>
            <a:ext cx="0" cy="274320"/>
          </a:xfrm>
          <a:prstGeom prst="line">
            <a:avLst/>
          </a:prstGeom>
          <a:noFill/>
          <a:ln w="25400">
            <a:solidFill>
              <a:srgbClr val="E31837"/>
            </a:solidFill>
            <a:prstDash val="solid"/>
          </a:ln>
        </p:spPr>
        <p:txBody>
          <a:bodyPr/>
          <a:lstStyle/>
          <a:p>
            <a:endParaRPr lang="en-US"/>
          </a:p>
        </p:txBody>
      </p:sp>
      <p:sp>
        <p:nvSpPr>
          <p:cNvPr id="16" name="Shape 14"/>
          <p:cNvSpPr/>
          <p:nvPr/>
        </p:nvSpPr>
        <p:spPr>
          <a:xfrm>
            <a:off x="2139696" y="3035808"/>
            <a:ext cx="7900416" cy="0"/>
          </a:xfrm>
          <a:prstGeom prst="line">
            <a:avLst/>
          </a:prstGeom>
          <a:noFill/>
          <a:ln w="25400">
            <a:solidFill>
              <a:srgbClr val="E31837"/>
            </a:solidFill>
            <a:prstDash val="solid"/>
          </a:ln>
        </p:spPr>
        <p:txBody>
          <a:bodyPr/>
          <a:lstStyle/>
          <a:p>
            <a:endParaRPr lang="en-US"/>
          </a:p>
        </p:txBody>
      </p:sp>
      <p:sp>
        <p:nvSpPr>
          <p:cNvPr id="17" name="Shape 15"/>
          <p:cNvSpPr/>
          <p:nvPr/>
        </p:nvSpPr>
        <p:spPr>
          <a:xfrm>
            <a:off x="2194560" y="3035808"/>
            <a:ext cx="0" cy="274320"/>
          </a:xfrm>
          <a:prstGeom prst="line">
            <a:avLst/>
          </a:prstGeom>
          <a:noFill/>
          <a:ln w="25400">
            <a:solidFill>
              <a:srgbClr val="E31837"/>
            </a:solidFill>
            <a:prstDash val="solid"/>
            <a:tailEnd type="triangle"/>
          </a:ln>
        </p:spPr>
        <p:txBody>
          <a:bodyPr/>
          <a:lstStyle/>
          <a:p>
            <a:endParaRPr lang="en-US"/>
          </a:p>
        </p:txBody>
      </p:sp>
      <p:sp>
        <p:nvSpPr>
          <p:cNvPr id="18" name="Shape 16"/>
          <p:cNvSpPr/>
          <p:nvPr/>
        </p:nvSpPr>
        <p:spPr>
          <a:xfrm>
            <a:off x="731520" y="3355848"/>
            <a:ext cx="2926080" cy="1271016"/>
          </a:xfrm>
          <a:prstGeom prst="rect">
            <a:avLst/>
          </a:prstGeom>
          <a:solidFill>
            <a:srgbClr val="F3F4F6"/>
          </a:solidFill>
          <a:ln w="8255">
            <a:solidFill>
              <a:srgbClr val="F3F4F6"/>
            </a:solidFill>
            <a:prstDash val="solid"/>
          </a:ln>
        </p:spPr>
        <p:txBody>
          <a:bodyPr/>
          <a:lstStyle/>
          <a:p>
            <a:endParaRPr lang="en-US"/>
          </a:p>
        </p:txBody>
      </p:sp>
      <p:sp>
        <p:nvSpPr>
          <p:cNvPr id="19" name="Text 17"/>
          <p:cNvSpPr/>
          <p:nvPr/>
        </p:nvSpPr>
        <p:spPr>
          <a:xfrm>
            <a:off x="859536" y="3493008"/>
            <a:ext cx="2651760" cy="256032"/>
          </a:xfrm>
          <a:prstGeom prst="rect">
            <a:avLst/>
          </a:prstGeom>
          <a:noFill/>
          <a:ln/>
        </p:spPr>
        <p:txBody>
          <a:bodyPr wrap="square" lIns="0" tIns="0" rIns="0" bIns="0" rtlCol="0" anchor="ctr">
            <a:normAutofit/>
          </a:bodyPr>
          <a:lstStyle/>
          <a:p>
            <a:pPr marL="0" indent="0">
              <a:buNone/>
            </a:pPr>
            <a:r>
              <a:rPr lang="en-US" sz="1600" b="1" dirty="0">
                <a:solidFill>
                  <a:srgbClr val="18191D"/>
                </a:solidFill>
                <a:latin typeface="Arial" pitchFamily="34" charset="0"/>
                <a:ea typeface="Arial" pitchFamily="34" charset="-122"/>
                <a:cs typeface="Arial" pitchFamily="34" charset="-120"/>
              </a:rPr>
              <a:t>NODE 1</a:t>
            </a:r>
            <a:endParaRPr lang="en-US" sz="1600" dirty="0"/>
          </a:p>
        </p:txBody>
      </p:sp>
      <p:sp>
        <p:nvSpPr>
          <p:cNvPr id="20" name="Text 18"/>
          <p:cNvSpPr/>
          <p:nvPr/>
        </p:nvSpPr>
        <p:spPr>
          <a:xfrm>
            <a:off x="859536" y="3886200"/>
            <a:ext cx="2651760" cy="338328"/>
          </a:xfrm>
          <a:prstGeom prst="rect">
            <a:avLst/>
          </a:prstGeom>
          <a:noFill/>
          <a:ln/>
        </p:spPr>
        <p:txBody>
          <a:bodyPr wrap="square" lIns="0" tIns="0" rIns="0" bIns="0" rtlCol="0" anchor="ctr">
            <a:normAutofit/>
          </a:bodyPr>
          <a:lstStyle/>
          <a:p>
            <a:pPr marL="0" indent="0">
              <a:buNone/>
            </a:pPr>
            <a:r>
              <a:rPr lang="en-US" sz="1600" b="1" dirty="0">
                <a:solidFill>
                  <a:srgbClr val="18191D"/>
                </a:solidFill>
                <a:latin typeface="Arial" pitchFamily="34" charset="0"/>
                <a:ea typeface="Arial" pitchFamily="34" charset="-122"/>
                <a:cs typeface="Arial" pitchFamily="34" charset="-120"/>
              </a:rPr>
              <a:t>Complete ready service</a:t>
            </a:r>
            <a:endParaRPr lang="en-US" sz="1600" dirty="0"/>
          </a:p>
        </p:txBody>
      </p:sp>
      <p:sp>
        <p:nvSpPr>
          <p:cNvPr id="21" name="Text 19"/>
          <p:cNvSpPr/>
          <p:nvPr/>
        </p:nvSpPr>
        <p:spPr>
          <a:xfrm>
            <a:off x="859536" y="4343400"/>
            <a:ext cx="2651760" cy="173736"/>
          </a:xfrm>
          <a:prstGeom prst="rect">
            <a:avLst/>
          </a:prstGeom>
          <a:noFill/>
          <a:ln/>
        </p:spPr>
        <p:txBody>
          <a:bodyPr wrap="square" lIns="0" tIns="0" rIns="0" bIns="0" rtlCol="0" anchor="ctr">
            <a:normAutofit/>
          </a:bodyPr>
          <a:lstStyle/>
          <a:p>
            <a:pPr marL="0" indent="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22" name="Shape 20"/>
          <p:cNvSpPr/>
          <p:nvPr/>
        </p:nvSpPr>
        <p:spPr>
          <a:xfrm>
            <a:off x="6071616" y="3035808"/>
            <a:ext cx="0" cy="274320"/>
          </a:xfrm>
          <a:prstGeom prst="line">
            <a:avLst/>
          </a:prstGeom>
          <a:noFill/>
          <a:ln w="25400">
            <a:solidFill>
              <a:srgbClr val="E31837"/>
            </a:solidFill>
            <a:prstDash val="solid"/>
            <a:tailEnd type="triangle"/>
          </a:ln>
        </p:spPr>
        <p:txBody>
          <a:bodyPr/>
          <a:lstStyle/>
          <a:p>
            <a:endParaRPr lang="en-US"/>
          </a:p>
        </p:txBody>
      </p:sp>
      <p:sp>
        <p:nvSpPr>
          <p:cNvPr id="23" name="Shape 21"/>
          <p:cNvSpPr/>
          <p:nvPr/>
        </p:nvSpPr>
        <p:spPr>
          <a:xfrm>
            <a:off x="4608576" y="3355848"/>
            <a:ext cx="2926080" cy="1271016"/>
          </a:xfrm>
          <a:prstGeom prst="rect">
            <a:avLst/>
          </a:prstGeom>
          <a:solidFill>
            <a:srgbClr val="F3F4F6"/>
          </a:solidFill>
          <a:ln w="8255">
            <a:solidFill>
              <a:srgbClr val="F3F4F6"/>
            </a:solidFill>
            <a:prstDash val="solid"/>
          </a:ln>
        </p:spPr>
        <p:txBody>
          <a:bodyPr/>
          <a:lstStyle/>
          <a:p>
            <a:endParaRPr lang="en-US"/>
          </a:p>
        </p:txBody>
      </p:sp>
      <p:sp>
        <p:nvSpPr>
          <p:cNvPr id="24" name="Text 22"/>
          <p:cNvSpPr/>
          <p:nvPr/>
        </p:nvSpPr>
        <p:spPr>
          <a:xfrm>
            <a:off x="4736592" y="3493008"/>
            <a:ext cx="2651760" cy="256032"/>
          </a:xfrm>
          <a:prstGeom prst="rect">
            <a:avLst/>
          </a:prstGeom>
          <a:noFill/>
          <a:ln/>
        </p:spPr>
        <p:txBody>
          <a:bodyPr wrap="square" lIns="0" tIns="0" rIns="0" bIns="0" rtlCol="0" anchor="ctr">
            <a:normAutofit/>
          </a:bodyPr>
          <a:lstStyle/>
          <a:p>
            <a:pPr marL="0" indent="0">
              <a:buNone/>
            </a:pPr>
            <a:r>
              <a:rPr lang="en-US" sz="1600" b="1" dirty="0">
                <a:solidFill>
                  <a:srgbClr val="18191D"/>
                </a:solidFill>
                <a:latin typeface="Arial" pitchFamily="34" charset="0"/>
                <a:ea typeface="Arial" pitchFamily="34" charset="-122"/>
                <a:cs typeface="Arial" pitchFamily="34" charset="-120"/>
              </a:rPr>
              <a:t>NODE 2</a:t>
            </a:r>
            <a:endParaRPr lang="en-US" sz="1600" dirty="0"/>
          </a:p>
        </p:txBody>
      </p:sp>
      <p:sp>
        <p:nvSpPr>
          <p:cNvPr id="25" name="Text 23"/>
          <p:cNvSpPr/>
          <p:nvPr/>
        </p:nvSpPr>
        <p:spPr>
          <a:xfrm>
            <a:off x="4736592" y="3886200"/>
            <a:ext cx="2651760" cy="338328"/>
          </a:xfrm>
          <a:prstGeom prst="rect">
            <a:avLst/>
          </a:prstGeom>
          <a:noFill/>
          <a:ln/>
        </p:spPr>
        <p:txBody>
          <a:bodyPr wrap="square" lIns="0" tIns="0" rIns="0" bIns="0" rtlCol="0" anchor="ctr">
            <a:normAutofit/>
          </a:bodyPr>
          <a:lstStyle/>
          <a:p>
            <a:pPr marL="0" indent="0">
              <a:buNone/>
            </a:pPr>
            <a:r>
              <a:rPr lang="en-US" sz="1600" b="1" dirty="0">
                <a:solidFill>
                  <a:srgbClr val="18191D"/>
                </a:solidFill>
                <a:latin typeface="Arial" pitchFamily="34" charset="0"/>
                <a:ea typeface="Arial" pitchFamily="34" charset="-122"/>
                <a:cs typeface="Arial" pitchFamily="34" charset="-120"/>
              </a:rPr>
              <a:t>Complete ready service</a:t>
            </a:r>
            <a:endParaRPr lang="en-US" sz="1600" dirty="0"/>
          </a:p>
        </p:txBody>
      </p:sp>
      <p:sp>
        <p:nvSpPr>
          <p:cNvPr id="26" name="Text 24"/>
          <p:cNvSpPr/>
          <p:nvPr/>
        </p:nvSpPr>
        <p:spPr>
          <a:xfrm>
            <a:off x="4736592" y="4343400"/>
            <a:ext cx="2651760" cy="173736"/>
          </a:xfrm>
          <a:prstGeom prst="rect">
            <a:avLst/>
          </a:prstGeom>
          <a:noFill/>
          <a:ln/>
        </p:spPr>
        <p:txBody>
          <a:bodyPr wrap="square" lIns="0" tIns="0" rIns="0" bIns="0" rtlCol="0" anchor="ctr">
            <a:normAutofit/>
          </a:bodyPr>
          <a:lstStyle/>
          <a:p>
            <a:pPr marL="0" indent="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27" name="Shape 25"/>
          <p:cNvSpPr/>
          <p:nvPr/>
        </p:nvSpPr>
        <p:spPr>
          <a:xfrm>
            <a:off x="9948672" y="3035808"/>
            <a:ext cx="0" cy="274320"/>
          </a:xfrm>
          <a:prstGeom prst="line">
            <a:avLst/>
          </a:prstGeom>
          <a:noFill/>
          <a:ln w="25400">
            <a:solidFill>
              <a:srgbClr val="E31837"/>
            </a:solidFill>
            <a:prstDash val="solid"/>
            <a:tailEnd type="triangle"/>
          </a:ln>
        </p:spPr>
        <p:txBody>
          <a:bodyPr/>
          <a:lstStyle/>
          <a:p>
            <a:endParaRPr lang="en-US"/>
          </a:p>
        </p:txBody>
      </p:sp>
      <p:sp>
        <p:nvSpPr>
          <p:cNvPr id="28" name="Shape 26"/>
          <p:cNvSpPr/>
          <p:nvPr/>
        </p:nvSpPr>
        <p:spPr>
          <a:xfrm>
            <a:off x="8485632" y="3355848"/>
            <a:ext cx="2926080" cy="1271016"/>
          </a:xfrm>
          <a:prstGeom prst="rect">
            <a:avLst/>
          </a:prstGeom>
          <a:solidFill>
            <a:srgbClr val="FDECEF"/>
          </a:solidFill>
          <a:ln w="8255">
            <a:solidFill>
              <a:srgbClr val="FDECEF"/>
            </a:solidFill>
            <a:prstDash val="solid"/>
          </a:ln>
        </p:spPr>
        <p:txBody>
          <a:bodyPr/>
          <a:lstStyle/>
          <a:p>
            <a:endParaRPr lang="en-US"/>
          </a:p>
        </p:txBody>
      </p:sp>
      <p:sp>
        <p:nvSpPr>
          <p:cNvPr id="29" name="Text 27"/>
          <p:cNvSpPr/>
          <p:nvPr/>
        </p:nvSpPr>
        <p:spPr>
          <a:xfrm>
            <a:off x="8613648" y="3493008"/>
            <a:ext cx="2651760" cy="256032"/>
          </a:xfrm>
          <a:prstGeom prst="rect">
            <a:avLst/>
          </a:prstGeom>
          <a:noFill/>
          <a:ln/>
        </p:spPr>
        <p:txBody>
          <a:bodyPr wrap="square" lIns="0" tIns="0" rIns="0" bIns="0" rtlCol="0" anchor="ctr">
            <a:normAutofit/>
          </a:bodyPr>
          <a:lstStyle/>
          <a:p>
            <a:pPr marL="0" indent="0">
              <a:buNone/>
            </a:pPr>
            <a:r>
              <a:rPr lang="en-US" sz="1600" b="1" dirty="0">
                <a:solidFill>
                  <a:srgbClr val="E31837"/>
                </a:solidFill>
                <a:latin typeface="Arial" pitchFamily="34" charset="0"/>
                <a:ea typeface="Arial" pitchFamily="34" charset="-122"/>
                <a:cs typeface="Arial" pitchFamily="34" charset="-120"/>
              </a:rPr>
              <a:t>NODE 3</a:t>
            </a:r>
            <a:endParaRPr lang="en-US" sz="1600" dirty="0"/>
          </a:p>
        </p:txBody>
      </p:sp>
      <p:sp>
        <p:nvSpPr>
          <p:cNvPr id="30" name="Text 28"/>
          <p:cNvSpPr/>
          <p:nvPr/>
        </p:nvSpPr>
        <p:spPr>
          <a:xfrm>
            <a:off x="8613648" y="3886200"/>
            <a:ext cx="2651760" cy="338328"/>
          </a:xfrm>
          <a:prstGeom prst="rect">
            <a:avLst/>
          </a:prstGeom>
          <a:noFill/>
          <a:ln/>
        </p:spPr>
        <p:txBody>
          <a:bodyPr wrap="square" lIns="0" tIns="0" rIns="0" bIns="0" rtlCol="0" anchor="ctr">
            <a:normAutofit/>
          </a:bodyPr>
          <a:lstStyle/>
          <a:p>
            <a:pPr marL="0" indent="0">
              <a:buNone/>
            </a:pPr>
            <a:r>
              <a:rPr lang="en-US" sz="1600" b="1" dirty="0">
                <a:solidFill>
                  <a:srgbClr val="18191D"/>
                </a:solidFill>
                <a:latin typeface="Arial" pitchFamily="34" charset="0"/>
                <a:ea typeface="Arial" pitchFamily="34" charset="-122"/>
                <a:cs typeface="Arial" pitchFamily="34" charset="-120"/>
              </a:rPr>
              <a:t>N+1 reserve</a:t>
            </a:r>
            <a:endParaRPr lang="en-US" sz="1600" dirty="0"/>
          </a:p>
        </p:txBody>
      </p:sp>
      <p:sp>
        <p:nvSpPr>
          <p:cNvPr id="31" name="Text 29"/>
          <p:cNvSpPr/>
          <p:nvPr/>
        </p:nvSpPr>
        <p:spPr>
          <a:xfrm>
            <a:off x="8613648" y="4343400"/>
            <a:ext cx="2651760" cy="173736"/>
          </a:xfrm>
          <a:prstGeom prst="rect">
            <a:avLst/>
          </a:prstGeom>
          <a:noFill/>
          <a:ln/>
        </p:spPr>
        <p:txBody>
          <a:bodyPr wrap="square" lIns="0" tIns="0" rIns="0" bIns="0" rtlCol="0" anchor="ctr">
            <a:normAutofit/>
          </a:bodyPr>
          <a:lstStyle/>
          <a:p>
            <a:pPr marL="0" indent="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32" name="Shape 30"/>
          <p:cNvSpPr/>
          <p:nvPr/>
        </p:nvSpPr>
        <p:spPr>
          <a:xfrm>
            <a:off x="502920" y="4937760"/>
            <a:ext cx="11183112" cy="621792"/>
          </a:xfrm>
          <a:prstGeom prst="rect">
            <a:avLst/>
          </a:prstGeom>
          <a:solidFill>
            <a:srgbClr val="18191D"/>
          </a:solidFill>
          <a:ln w="8255">
            <a:solidFill>
              <a:srgbClr val="18191D"/>
            </a:solidFill>
            <a:prstDash val="solid"/>
          </a:ln>
        </p:spPr>
        <p:txBody>
          <a:bodyPr/>
          <a:lstStyle/>
          <a:p>
            <a:endParaRPr lang="en-US"/>
          </a:p>
        </p:txBody>
      </p:sp>
      <p:sp>
        <p:nvSpPr>
          <p:cNvPr id="33" name="Text 31"/>
          <p:cNvSpPr/>
          <p:nvPr/>
        </p:nvSpPr>
        <p:spPr>
          <a:xfrm>
            <a:off x="685800" y="5065776"/>
            <a:ext cx="10808208" cy="329184"/>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Arial" pitchFamily="34" charset="0"/>
                <a:ea typeface="Arial" pitchFamily="34" charset="-122"/>
                <a:cs typeface="Arial" pitchFamily="34" charset="-120"/>
              </a:rPr>
              <a:t>3-member control quorum  +  protected source/index/audit data  +  tested request replay</a:t>
            </a:r>
            <a:endParaRPr lang="en-US" sz="1700" dirty="0"/>
          </a:p>
        </p:txBody>
      </p:sp>
      <p:sp>
        <p:nvSpPr>
          <p:cNvPr id="34" name="Shape 32"/>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35" name="Text 33"/>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Illustration: q = 20 queries/s/node; peak = 40 ⇒ 3 nodes with one-node reserve. q remains a target until measured.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BRAND &amp; SOURCING DECISION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Own the SanDisk experience. Let an OEM build the platform.</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Brand control does not require SanDisk to design a CPU motherboard or global field-service network.</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11</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[S25] [S26]</a:t>
            </a:r>
            <a:endParaRPr lang="en-US" sz="820" dirty="0"/>
          </a:p>
        </p:txBody>
      </p:sp>
      <p:sp>
        <p:nvSpPr>
          <p:cNvPr id="12" name="Shape 10"/>
          <p:cNvSpPr/>
          <p:nvPr/>
        </p:nvSpPr>
        <p:spPr>
          <a:xfrm>
            <a:off x="502920" y="2057400"/>
            <a:ext cx="3602736" cy="3447288"/>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502920" y="2057400"/>
            <a:ext cx="3602736" cy="59436"/>
          </a:xfrm>
          <a:prstGeom prst="rect">
            <a:avLst/>
          </a:prstGeom>
          <a:solidFill>
            <a:srgbClr val="D8DBDF"/>
          </a:solidFill>
          <a:ln w="8255">
            <a:solidFill>
              <a:srgbClr val="D8DBDF"/>
            </a:solidFill>
            <a:prstDash val="solid"/>
          </a:ln>
        </p:spPr>
        <p:txBody>
          <a:bodyPr/>
          <a:lstStyle/>
          <a:p>
            <a:endParaRPr lang="en-US"/>
          </a:p>
        </p:txBody>
      </p:sp>
      <p:sp>
        <p:nvSpPr>
          <p:cNvPr id="14" name="Text 12"/>
          <p:cNvSpPr/>
          <p:nvPr/>
        </p:nvSpPr>
        <p:spPr>
          <a:xfrm>
            <a:off x="667512" y="2304288"/>
            <a:ext cx="3273552" cy="411480"/>
          </a:xfrm>
          <a:prstGeom prst="rect">
            <a:avLst/>
          </a:prstGeom>
          <a:noFill/>
          <a:ln/>
        </p:spPr>
        <p:txBody>
          <a:bodyPr wrap="square" lIns="0" tIns="0" rIns="0" bIns="0" rtlCol="0" anchor="ctr">
            <a:normAutofit/>
          </a:bodyPr>
          <a:lstStyle/>
          <a:p>
            <a:pPr marL="0" indent="0">
              <a:buNone/>
            </a:pPr>
            <a:r>
              <a:rPr lang="en-US" sz="1300" b="1" dirty="0">
                <a:solidFill>
                  <a:srgbClr val="E31837"/>
                </a:solidFill>
                <a:latin typeface="Arial" pitchFamily="34" charset="0"/>
                <a:ea typeface="Arial" pitchFamily="34" charset="-122"/>
                <a:cs typeface="Arial" pitchFamily="34" charset="-120"/>
              </a:rPr>
              <a:t>COMPONENT / POWERED BY</a:t>
            </a:r>
            <a:endParaRPr lang="en-US" sz="1300" dirty="0"/>
          </a:p>
        </p:txBody>
      </p:sp>
      <p:sp>
        <p:nvSpPr>
          <p:cNvPr id="15" name="Text 13"/>
          <p:cNvSpPr/>
          <p:nvPr/>
        </p:nvSpPr>
        <p:spPr>
          <a:xfrm>
            <a:off x="667512" y="2980944"/>
            <a:ext cx="3273552" cy="640080"/>
          </a:xfrm>
          <a:prstGeom prst="rect">
            <a:avLst/>
          </a:prstGeom>
          <a:noFill/>
          <a:ln/>
        </p:spPr>
        <p:txBody>
          <a:bodyPr wrap="square" lIns="0" tIns="0" rIns="0" bIns="0" rtlCol="0" anchor="ctr">
            <a:normAutofit fontScale="92500" lnSpcReduction="10000"/>
          </a:bodyPr>
          <a:lstStyle/>
          <a:p>
            <a:pPr marL="0" indent="0">
              <a:buNone/>
            </a:pPr>
            <a:r>
              <a:rPr lang="en-US" sz="2400" b="1" dirty="0">
                <a:solidFill>
                  <a:srgbClr val="18191D"/>
                </a:solidFill>
                <a:latin typeface="Arial" pitchFamily="34" charset="0"/>
                <a:ea typeface="Arial" pitchFamily="34" charset="-122"/>
                <a:cs typeface="Arial" pitchFamily="34" charset="-120"/>
              </a:rPr>
              <a:t>Lower appliance exposure</a:t>
            </a:r>
            <a:endParaRPr lang="en-US" sz="2400" dirty="0"/>
          </a:p>
        </p:txBody>
      </p:sp>
      <p:sp>
        <p:nvSpPr>
          <p:cNvPr id="16" name="Text 14"/>
          <p:cNvSpPr/>
          <p:nvPr/>
        </p:nvSpPr>
        <p:spPr>
          <a:xfrm>
            <a:off x="667512" y="3904488"/>
            <a:ext cx="3273552" cy="1216152"/>
          </a:xfrm>
          <a:prstGeom prst="rect">
            <a:avLst/>
          </a:prstGeom>
          <a:noFill/>
          <a:ln/>
        </p:spPr>
        <p:txBody>
          <a:bodyPr wrap="square" lIns="0" tIns="0" rIns="0" bIns="0" rtlCol="0" anchor="ctr">
            <a:normAutofit/>
          </a:bodyPr>
          <a:lstStyle/>
          <a:p>
            <a:pPr marL="0" indent="0">
              <a:buNone/>
            </a:pPr>
            <a:r>
              <a:rPr lang="en-US" sz="1600" dirty="0">
                <a:solidFill>
                  <a:srgbClr val="5B6169"/>
                </a:solidFill>
                <a:latin typeface="Arial" pitchFamily="34" charset="0"/>
                <a:ea typeface="Arial" pitchFamily="34" charset="-122"/>
                <a:cs typeface="Arial" pitchFamily="34" charset="-120"/>
              </a:rPr>
              <a:t>OEM owns much of the endpoint, packaging and relationship. SanDisk still delivers device/runtime enablement.</a:t>
            </a:r>
            <a:endParaRPr lang="en-US" sz="1600" dirty="0"/>
          </a:p>
        </p:txBody>
      </p:sp>
      <p:sp>
        <p:nvSpPr>
          <p:cNvPr id="17" name="Shape 15"/>
          <p:cNvSpPr/>
          <p:nvPr/>
        </p:nvSpPr>
        <p:spPr>
          <a:xfrm>
            <a:off x="4288536" y="2057400"/>
            <a:ext cx="3602736" cy="3447288"/>
          </a:xfrm>
          <a:prstGeom prst="rect">
            <a:avLst/>
          </a:prstGeom>
          <a:solidFill>
            <a:srgbClr val="FDECEF"/>
          </a:solidFill>
          <a:ln w="8255">
            <a:solidFill>
              <a:srgbClr val="FDECEF"/>
            </a:solidFill>
            <a:prstDash val="solid"/>
          </a:ln>
        </p:spPr>
        <p:txBody>
          <a:bodyPr/>
          <a:lstStyle/>
          <a:p>
            <a:endParaRPr lang="en-US"/>
          </a:p>
        </p:txBody>
      </p:sp>
      <p:sp>
        <p:nvSpPr>
          <p:cNvPr id="18" name="Shape 16"/>
          <p:cNvSpPr/>
          <p:nvPr/>
        </p:nvSpPr>
        <p:spPr>
          <a:xfrm>
            <a:off x="4288536" y="2057400"/>
            <a:ext cx="3602736" cy="59436"/>
          </a:xfrm>
          <a:prstGeom prst="rect">
            <a:avLst/>
          </a:prstGeom>
          <a:solidFill>
            <a:srgbClr val="E31837"/>
          </a:solidFill>
          <a:ln w="8255">
            <a:solidFill>
              <a:srgbClr val="E31837"/>
            </a:solidFill>
            <a:prstDash val="solid"/>
          </a:ln>
        </p:spPr>
        <p:txBody>
          <a:bodyPr/>
          <a:lstStyle/>
          <a:p>
            <a:endParaRPr lang="en-US"/>
          </a:p>
        </p:txBody>
      </p:sp>
      <p:sp>
        <p:nvSpPr>
          <p:cNvPr id="19" name="Text 17"/>
          <p:cNvSpPr/>
          <p:nvPr/>
        </p:nvSpPr>
        <p:spPr>
          <a:xfrm>
            <a:off x="4453128" y="2304288"/>
            <a:ext cx="3273552" cy="411480"/>
          </a:xfrm>
          <a:prstGeom prst="rect">
            <a:avLst/>
          </a:prstGeom>
          <a:noFill/>
          <a:ln/>
        </p:spPr>
        <p:txBody>
          <a:bodyPr wrap="square" lIns="0" tIns="0" rIns="0" bIns="0" rtlCol="0" anchor="ctr">
            <a:normAutofit/>
          </a:bodyPr>
          <a:lstStyle/>
          <a:p>
            <a:pPr marL="0" indent="0">
              <a:buNone/>
            </a:pPr>
            <a:r>
              <a:rPr lang="en-US" sz="1300" b="1" dirty="0">
                <a:solidFill>
                  <a:srgbClr val="E31837"/>
                </a:solidFill>
                <a:latin typeface="Arial" pitchFamily="34" charset="0"/>
                <a:ea typeface="Arial" pitchFamily="34" charset="-122"/>
                <a:cs typeface="Arial" pitchFamily="34" charset="-120"/>
              </a:rPr>
              <a:t>OEM-BUILT / SANDISK-BRANDED</a:t>
            </a:r>
            <a:endParaRPr lang="en-US" sz="1300" dirty="0"/>
          </a:p>
        </p:txBody>
      </p:sp>
      <p:sp>
        <p:nvSpPr>
          <p:cNvPr id="20" name="Text 18"/>
          <p:cNvSpPr/>
          <p:nvPr/>
        </p:nvSpPr>
        <p:spPr>
          <a:xfrm>
            <a:off x="4453128" y="2980944"/>
            <a:ext cx="3273552" cy="640080"/>
          </a:xfrm>
          <a:prstGeom prst="rect">
            <a:avLst/>
          </a:prstGeom>
          <a:noFill/>
          <a:ln/>
        </p:spPr>
        <p:txBody>
          <a:bodyPr wrap="square" lIns="0" tIns="0" rIns="0" bIns="0" rtlCol="0" anchor="ctr">
            <a:normAutofit fontScale="92500" lnSpcReduction="10000"/>
          </a:bodyPr>
          <a:lstStyle/>
          <a:p>
            <a:pPr marL="0" indent="0">
              <a:buNone/>
            </a:pPr>
            <a:r>
              <a:rPr lang="en-US" sz="2400" b="1" dirty="0">
                <a:solidFill>
                  <a:srgbClr val="18191D"/>
                </a:solidFill>
                <a:latin typeface="Arial" pitchFamily="34" charset="0"/>
                <a:ea typeface="Arial" pitchFamily="34" charset="-122"/>
                <a:cs typeface="Arial" pitchFamily="34" charset="-120"/>
              </a:rPr>
              <a:t>Recommended first path</a:t>
            </a:r>
            <a:endParaRPr lang="en-US" sz="2400" dirty="0"/>
          </a:p>
        </p:txBody>
      </p:sp>
      <p:sp>
        <p:nvSpPr>
          <p:cNvPr id="21" name="Text 19"/>
          <p:cNvSpPr/>
          <p:nvPr/>
        </p:nvSpPr>
        <p:spPr>
          <a:xfrm>
            <a:off x="4453128" y="3904488"/>
            <a:ext cx="3273552" cy="1216152"/>
          </a:xfrm>
          <a:prstGeom prst="rect">
            <a:avLst/>
          </a:prstGeom>
          <a:noFill/>
          <a:ln/>
        </p:spPr>
        <p:txBody>
          <a:bodyPr wrap="square" lIns="0" tIns="0" rIns="0" bIns="0" rtlCol="0" anchor="ctr">
            <a:normAutofit/>
          </a:bodyPr>
          <a:lstStyle/>
          <a:p>
            <a:pPr marL="0" indent="0">
              <a:buNone/>
            </a:pPr>
            <a:r>
              <a:rPr lang="en-US" sz="1600" dirty="0">
                <a:solidFill>
                  <a:srgbClr val="5B6169"/>
                </a:solidFill>
                <a:latin typeface="Arial" pitchFamily="34" charset="0"/>
                <a:ea typeface="Arial" pitchFamily="34" charset="-122"/>
                <a:cs typeface="Arial" pitchFamily="34" charset="-120"/>
              </a:rPr>
              <a:t>SanDisk owns console, signed catalog, subscription, certification and first support call. OEM supplies qualified hardware and field service.</a:t>
            </a:r>
            <a:endParaRPr lang="en-US" sz="1600" dirty="0"/>
          </a:p>
        </p:txBody>
      </p:sp>
      <p:sp>
        <p:nvSpPr>
          <p:cNvPr id="22" name="Shape 20"/>
          <p:cNvSpPr/>
          <p:nvPr/>
        </p:nvSpPr>
        <p:spPr>
          <a:xfrm>
            <a:off x="8074152" y="2057400"/>
            <a:ext cx="3602736" cy="3447288"/>
          </a:xfrm>
          <a:prstGeom prst="rect">
            <a:avLst/>
          </a:prstGeom>
          <a:solidFill>
            <a:srgbClr val="F3F4F6"/>
          </a:solidFill>
          <a:ln w="8255">
            <a:solidFill>
              <a:srgbClr val="F3F4F6"/>
            </a:solidFill>
            <a:prstDash val="solid"/>
          </a:ln>
        </p:spPr>
        <p:txBody>
          <a:bodyPr/>
          <a:lstStyle/>
          <a:p>
            <a:endParaRPr lang="en-US"/>
          </a:p>
        </p:txBody>
      </p:sp>
      <p:sp>
        <p:nvSpPr>
          <p:cNvPr id="23" name="Shape 21"/>
          <p:cNvSpPr/>
          <p:nvPr/>
        </p:nvSpPr>
        <p:spPr>
          <a:xfrm>
            <a:off x="8074152" y="2057400"/>
            <a:ext cx="3602736" cy="59436"/>
          </a:xfrm>
          <a:prstGeom prst="rect">
            <a:avLst/>
          </a:prstGeom>
          <a:solidFill>
            <a:srgbClr val="D8DBDF"/>
          </a:solidFill>
          <a:ln w="8255">
            <a:solidFill>
              <a:srgbClr val="D8DBDF"/>
            </a:solidFill>
            <a:prstDash val="solid"/>
          </a:ln>
        </p:spPr>
        <p:txBody>
          <a:bodyPr/>
          <a:lstStyle/>
          <a:p>
            <a:endParaRPr lang="en-US"/>
          </a:p>
        </p:txBody>
      </p:sp>
      <p:sp>
        <p:nvSpPr>
          <p:cNvPr id="24" name="Text 22"/>
          <p:cNvSpPr/>
          <p:nvPr/>
        </p:nvSpPr>
        <p:spPr>
          <a:xfrm>
            <a:off x="8238744" y="2304288"/>
            <a:ext cx="3273552" cy="411480"/>
          </a:xfrm>
          <a:prstGeom prst="rect">
            <a:avLst/>
          </a:prstGeom>
          <a:noFill/>
          <a:ln/>
        </p:spPr>
        <p:txBody>
          <a:bodyPr wrap="square" lIns="0" tIns="0" rIns="0" bIns="0" rtlCol="0" anchor="ctr">
            <a:normAutofit/>
          </a:bodyPr>
          <a:lstStyle/>
          <a:p>
            <a:pPr marL="0" indent="0">
              <a:buNone/>
            </a:pPr>
            <a:r>
              <a:rPr lang="en-US" sz="1300" b="1" dirty="0">
                <a:solidFill>
                  <a:srgbClr val="E31837"/>
                </a:solidFill>
                <a:latin typeface="Arial" pitchFamily="34" charset="0"/>
                <a:ea typeface="Arial" pitchFamily="34" charset="-122"/>
                <a:cs typeface="Arial" pitchFamily="34" charset="-120"/>
              </a:rPr>
              <a:t>CUSTOM SANDISK / ODM</a:t>
            </a:r>
            <a:endParaRPr lang="en-US" sz="1300" dirty="0"/>
          </a:p>
        </p:txBody>
      </p:sp>
      <p:sp>
        <p:nvSpPr>
          <p:cNvPr id="25" name="Text 23"/>
          <p:cNvSpPr/>
          <p:nvPr/>
        </p:nvSpPr>
        <p:spPr>
          <a:xfrm>
            <a:off x="8238744" y="2980944"/>
            <a:ext cx="3273552" cy="640080"/>
          </a:xfrm>
          <a:prstGeom prst="rect">
            <a:avLst/>
          </a:prstGeom>
          <a:noFill/>
          <a:ln/>
        </p:spPr>
        <p:txBody>
          <a:bodyPr wrap="square" lIns="0" tIns="0" rIns="0" bIns="0" rtlCol="0" anchor="ctr">
            <a:normAutofit fontScale="92500" lnSpcReduction="10000"/>
          </a:bodyPr>
          <a:lstStyle/>
          <a:p>
            <a:pPr marL="0" indent="0">
              <a:buNone/>
            </a:pPr>
            <a:r>
              <a:rPr lang="en-US" sz="2400" b="1" dirty="0">
                <a:solidFill>
                  <a:srgbClr val="18191D"/>
                </a:solidFill>
                <a:latin typeface="Arial" pitchFamily="34" charset="0"/>
                <a:ea typeface="Arial" pitchFamily="34" charset="-122"/>
                <a:cs typeface="Arial" pitchFamily="34" charset="-120"/>
              </a:rPr>
              <a:t>Only for an unmet requirement</a:t>
            </a:r>
            <a:endParaRPr lang="en-US" sz="2400" dirty="0"/>
          </a:p>
        </p:txBody>
      </p:sp>
      <p:sp>
        <p:nvSpPr>
          <p:cNvPr id="26" name="Text 24"/>
          <p:cNvSpPr/>
          <p:nvPr/>
        </p:nvSpPr>
        <p:spPr>
          <a:xfrm>
            <a:off x="8238744" y="3904488"/>
            <a:ext cx="3273552" cy="1216152"/>
          </a:xfrm>
          <a:prstGeom prst="rect">
            <a:avLst/>
          </a:prstGeom>
          <a:noFill/>
          <a:ln/>
        </p:spPr>
        <p:txBody>
          <a:bodyPr wrap="square" lIns="0" tIns="0" rIns="0" bIns="0" rtlCol="0" anchor="ctr">
            <a:normAutofit/>
          </a:bodyPr>
          <a:lstStyle/>
          <a:p>
            <a:pPr marL="0" indent="0">
              <a:buNone/>
            </a:pPr>
            <a:r>
              <a:rPr lang="en-US" sz="1600" dirty="0">
                <a:solidFill>
                  <a:srgbClr val="5B6169"/>
                </a:solidFill>
                <a:latin typeface="Arial" pitchFamily="34" charset="0"/>
                <a:ea typeface="Arial" pitchFamily="34" charset="-122"/>
                <a:cs typeface="Arial" pitchFamily="34" charset="-120"/>
              </a:rPr>
              <a:t>Maximum hardware control, but more NRE, inventory, thermal, regulatory and support responsibility.</a:t>
            </a:r>
            <a:endParaRPr lang="en-US" sz="16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Contract the logo, setup UI, catalog, entitlement, first call, lifecycle and channel rights—not only the chassis badge.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MARKET PRIORITIZATION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Launch a repeatable workflow—not sixteen vertical products.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Prioritize near-term proof of business value; reuse one governed Knowledge Agent platform.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12</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§16</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[S30] [S31] [S32] [S33]</a:t>
            </a:r>
            <a:endParaRPr lang="en-US" sz="820" dirty="0"/>
          </a:p>
        </p:txBody>
      </p:sp>
      <p:sp>
        <p:nvSpPr>
          <p:cNvPr id="12" name="Shape 10"/>
          <p:cNvSpPr/>
          <p:nvPr/>
        </p:nvSpPr>
        <p:spPr>
          <a:xfrm>
            <a:off x="502920" y="2029968"/>
            <a:ext cx="3602736" cy="2404872"/>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502920" y="2029968"/>
            <a:ext cx="50292" cy="2404872"/>
          </a:xfrm>
          <a:prstGeom prst="rect">
            <a:avLst/>
          </a:prstGeom>
          <a:solidFill>
            <a:srgbClr val="E31837"/>
          </a:solidFill>
          <a:ln w="8255">
            <a:solidFill>
              <a:srgbClr val="E31837"/>
            </a:solidFill>
            <a:prstDash val="solid"/>
          </a:ln>
        </p:spPr>
        <p:txBody>
          <a:bodyPr/>
          <a:lstStyle/>
          <a:p>
            <a:endParaRPr lang="en-US"/>
          </a:p>
        </p:txBody>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01  FINANCE / INSURANCE</a:t>
            </a:r>
            <a:endParaRPr lang="en-US" sz="1500" dirty="0"/>
          </a:p>
        </p:txBody>
      </p:sp>
      <p:sp>
        <p:nvSpPr>
          <p:cNvPr id="15" name="Text 13"/>
          <p:cNvSpPr/>
          <p:nvPr/>
        </p:nvSpPr>
        <p:spPr>
          <a:xfrm>
            <a:off x="685800" y="2734056"/>
            <a:ext cx="3236976" cy="1545336"/>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Policy, KYC/AML evidence and claims-document assistance.</a:t>
            </a:r>
            <a:endParaRPr lang="en-US" sz="1400" dirty="0"/>
          </a:p>
          <a:p>
            <a:pPr marL="0" indent="0">
              <a:buNone/>
            </a:pP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Measure reviewer time, accepted fields and citation quality.</a:t>
            </a:r>
            <a:endParaRPr lang="en-US" sz="1400" dirty="0"/>
          </a:p>
        </p:txBody>
      </p:sp>
      <p:sp>
        <p:nvSpPr>
          <p:cNvPr id="16" name="Shape 14"/>
          <p:cNvSpPr/>
          <p:nvPr/>
        </p:nvSpPr>
        <p:spPr>
          <a:xfrm>
            <a:off x="4288536" y="2029968"/>
            <a:ext cx="3602736" cy="2404872"/>
          </a:xfrm>
          <a:prstGeom prst="rect">
            <a:avLst/>
          </a:prstGeom>
          <a:solidFill>
            <a:srgbClr val="F3F4F6"/>
          </a:solidFill>
          <a:ln w="8255">
            <a:solidFill>
              <a:srgbClr val="F3F4F6"/>
            </a:solidFill>
            <a:prstDash val="solid"/>
          </a:ln>
        </p:spPr>
        <p:txBody>
          <a:bodyPr/>
          <a:lstStyle/>
          <a:p>
            <a:endParaRPr lang="en-US"/>
          </a:p>
        </p:txBody>
      </p:sp>
      <p:sp>
        <p:nvSpPr>
          <p:cNvPr id="17" name="Shape 15"/>
          <p:cNvSpPr/>
          <p:nvPr/>
        </p:nvSpPr>
        <p:spPr>
          <a:xfrm>
            <a:off x="4288536" y="2029968"/>
            <a:ext cx="50292" cy="2404872"/>
          </a:xfrm>
          <a:prstGeom prst="rect">
            <a:avLst/>
          </a:prstGeom>
          <a:solidFill>
            <a:srgbClr val="E31837"/>
          </a:solidFill>
          <a:ln w="8255">
            <a:solidFill>
              <a:srgbClr val="E31837"/>
            </a:solidFill>
            <a:prstDash val="solid"/>
          </a:ln>
        </p:spPr>
        <p:txBody>
          <a:bodyPr/>
          <a:lstStyle/>
          <a:p>
            <a:endParaRPr lang="en-US"/>
          </a:p>
        </p:txBody>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02  MANUFACTURING</a:t>
            </a:r>
            <a:endParaRPr lang="en-US" sz="1500" dirty="0"/>
          </a:p>
        </p:txBody>
      </p:sp>
      <p:sp>
        <p:nvSpPr>
          <p:cNvPr id="19" name="Text 17"/>
          <p:cNvSpPr/>
          <p:nvPr/>
        </p:nvSpPr>
        <p:spPr>
          <a:xfrm>
            <a:off x="4471416" y="2734056"/>
            <a:ext cx="3236976" cy="1545336"/>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Manuals, quality records, work instructions and service cases.</a:t>
            </a:r>
            <a:endParaRPr lang="en-US" sz="1400" dirty="0"/>
          </a:p>
          <a:p>
            <a:pPr marL="0" indent="0">
              <a:buNone/>
            </a:pP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Measure evidence-finding time and correct-version retrieval.</a:t>
            </a:r>
            <a:endParaRPr lang="en-US" sz="1400" dirty="0"/>
          </a:p>
        </p:txBody>
      </p:sp>
      <p:sp>
        <p:nvSpPr>
          <p:cNvPr id="20" name="Shape 18"/>
          <p:cNvSpPr/>
          <p:nvPr/>
        </p:nvSpPr>
        <p:spPr>
          <a:xfrm>
            <a:off x="8074152" y="2029968"/>
            <a:ext cx="3602736" cy="2404872"/>
          </a:xfrm>
          <a:prstGeom prst="rect">
            <a:avLst/>
          </a:prstGeom>
          <a:solidFill>
            <a:srgbClr val="F3F4F6"/>
          </a:solidFill>
          <a:ln w="8255">
            <a:solidFill>
              <a:srgbClr val="F3F4F6"/>
            </a:solidFill>
            <a:prstDash val="solid"/>
          </a:ln>
        </p:spPr>
        <p:txBody>
          <a:bodyPr/>
          <a:lstStyle/>
          <a:p>
            <a:endParaRPr lang="en-US"/>
          </a:p>
        </p:txBody>
      </p:sp>
      <p:sp>
        <p:nvSpPr>
          <p:cNvPr id="21" name="Shape 19"/>
          <p:cNvSpPr/>
          <p:nvPr/>
        </p:nvSpPr>
        <p:spPr>
          <a:xfrm>
            <a:off x="8074152" y="2029968"/>
            <a:ext cx="50292" cy="2404872"/>
          </a:xfrm>
          <a:prstGeom prst="rect">
            <a:avLst/>
          </a:prstGeom>
          <a:solidFill>
            <a:srgbClr val="E31837"/>
          </a:solidFill>
          <a:ln w="8255">
            <a:solidFill>
              <a:srgbClr val="E31837"/>
            </a:solidFill>
            <a:prstDash val="solid"/>
          </a:ln>
        </p:spPr>
        <p:txBody>
          <a:bodyPr/>
          <a:lstStyle/>
          <a:p>
            <a:endParaRPr lang="en-US"/>
          </a:p>
        </p:txBody>
      </p:sp>
      <p:sp>
        <p:nvSpPr>
          <p:cNvPr id="22" name="Text 20"/>
          <p:cNvSpPr/>
          <p:nvPr/>
        </p:nvSpPr>
        <p:spPr>
          <a:xfrm>
            <a:off x="8257032" y="2176272"/>
            <a:ext cx="3236976" cy="429768"/>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03  ENERGY / UTILITIES</a:t>
            </a:r>
            <a:endParaRPr lang="en-US" sz="1500" dirty="0"/>
          </a:p>
        </p:txBody>
      </p:sp>
      <p:sp>
        <p:nvSpPr>
          <p:cNvPr id="23" name="Text 21"/>
          <p:cNvSpPr/>
          <p:nvPr/>
        </p:nvSpPr>
        <p:spPr>
          <a:xfrm>
            <a:off x="8257032" y="2734056"/>
            <a:ext cx="3236976" cy="1545336"/>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Engineering studies, procedures and local technical knowledge.</a:t>
            </a:r>
            <a:endParaRPr lang="en-US" sz="1400" dirty="0"/>
          </a:p>
          <a:p>
            <a:pPr marL="0" indent="0">
              <a:buNone/>
            </a:pP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Measure research time, groundedness and offline service.</a:t>
            </a:r>
            <a:endParaRPr lang="en-US" sz="1400" dirty="0"/>
          </a:p>
        </p:txBody>
      </p:sp>
      <p:sp>
        <p:nvSpPr>
          <p:cNvPr id="24" name="Shape 22"/>
          <p:cNvSpPr/>
          <p:nvPr/>
        </p:nvSpPr>
        <p:spPr>
          <a:xfrm>
            <a:off x="502920" y="4681728"/>
            <a:ext cx="11183112" cy="859536"/>
          </a:xfrm>
          <a:prstGeom prst="rect">
            <a:avLst/>
          </a:prstGeom>
          <a:solidFill>
            <a:srgbClr val="18191D"/>
          </a:solidFill>
          <a:ln w="8255">
            <a:solidFill>
              <a:srgbClr val="18191D"/>
            </a:solidFill>
            <a:prstDash val="solid"/>
          </a:ln>
        </p:spPr>
        <p:txBody>
          <a:bodyPr/>
          <a:lstStyle/>
          <a:p>
            <a:endParaRPr lang="en-US"/>
          </a:p>
        </p:txBody>
      </p:sp>
      <p:sp>
        <p:nvSpPr>
          <p:cNvPr id="25" name="Text 23"/>
          <p:cNvSpPr/>
          <p:nvPr/>
        </p:nvSpPr>
        <p:spPr>
          <a:xfrm>
            <a:off x="694944" y="4828032"/>
            <a:ext cx="914400" cy="228600"/>
          </a:xfrm>
          <a:prstGeom prst="rect">
            <a:avLst/>
          </a:prstGeom>
          <a:noFill/>
          <a:ln/>
        </p:spPr>
        <p:txBody>
          <a:bodyPr wrap="square" lIns="0" tIns="0" rIns="0" bIns="0" rtlCol="0" anchor="ctr">
            <a:normAutofit/>
          </a:bodyPr>
          <a:lstStyle/>
          <a:p>
            <a:pPr marL="0" indent="0">
              <a:buNone/>
            </a:pPr>
            <a:r>
              <a:rPr lang="en-US" sz="1100" b="1" dirty="0">
                <a:solidFill>
                  <a:srgbClr val="F4A4B2"/>
                </a:solidFill>
                <a:latin typeface="Arial" pitchFamily="34" charset="0"/>
                <a:ea typeface="Arial" pitchFamily="34" charset="-122"/>
                <a:cs typeface="Arial" pitchFamily="34" charset="-120"/>
              </a:rPr>
              <a:t>NEXT</a:t>
            </a:r>
            <a:endParaRPr lang="en-US" sz="1100" dirty="0"/>
          </a:p>
        </p:txBody>
      </p:sp>
      <p:sp>
        <p:nvSpPr>
          <p:cNvPr id="26" name="Text 24"/>
          <p:cNvSpPr/>
          <p:nvPr/>
        </p:nvSpPr>
        <p:spPr>
          <a:xfrm>
            <a:off x="1783080" y="4809744"/>
            <a:ext cx="9665208" cy="484632"/>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Arial" pitchFamily="34" charset="0"/>
                <a:ea typeface="Arial" pitchFamily="34" charset="-122"/>
                <a:cs typeface="Arial" pitchFamily="34" charset="-120"/>
              </a:rPr>
              <a:t>Legal • government • telecom • retail • higher education • healthcare knowledge</a:t>
            </a:r>
            <a:endParaRPr lang="en-US" sz="17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PRD appendix: all 92 listed use cases, plus healthcare and selective markets, with scope, KPI and explicit exclusions.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COST / RFQ DISCIPLINE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lnSpcReduction="20000"/>
          </a:bodyPr>
          <a:lstStyle/>
          <a:p>
            <a:pPr marL="0" indent="0">
              <a:buNone/>
            </a:pPr>
            <a:r>
              <a:rPr lang="en-US" sz="2900" b="1" dirty="0">
                <a:solidFill>
                  <a:srgbClr val="18191D"/>
                </a:solidFill>
                <a:latin typeface="Arial" pitchFamily="34" charset="0"/>
                <a:ea typeface="Arial" pitchFamily="34" charset="-122"/>
                <a:cs typeface="Arial" pitchFamily="34" charset="-120"/>
              </a:rPr>
              <a:t>Put an acquisition budget behind each appliance—and label it honestly.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No ATMOS or qualified OEM quotation is available. These are new design-budget scenarios.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13</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§4</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[S08] [S10] [S29]</a:t>
            </a:r>
            <a:endParaRPr lang="en-US" sz="820" dirty="0"/>
          </a:p>
        </p:txBody>
      </p:sp>
      <p:sp>
        <p:nvSpPr>
          <p:cNvPr id="12" name="Shape 10"/>
          <p:cNvSpPr/>
          <p:nvPr/>
        </p:nvSpPr>
        <p:spPr>
          <a:xfrm>
            <a:off x="502920" y="2039112"/>
            <a:ext cx="3602736" cy="3401568"/>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667512" y="2194560"/>
            <a:ext cx="3273552" cy="256032"/>
          </a:xfrm>
          <a:prstGeom prst="rect">
            <a:avLst/>
          </a:prstGeom>
          <a:solidFill>
            <a:srgbClr val="FDECEF"/>
          </a:solidFill>
          <a:ln w="8255">
            <a:solidFill>
              <a:srgbClr val="FDECEF"/>
            </a:solidFill>
            <a:prstDash val="solid"/>
          </a:ln>
        </p:spPr>
        <p:txBody>
          <a:bodyPr/>
          <a:lstStyle/>
          <a:p>
            <a:endParaRPr lang="en-US"/>
          </a:p>
        </p:txBody>
      </p:sp>
      <p:sp>
        <p:nvSpPr>
          <p:cNvPr id="14" name="Text 12"/>
          <p:cNvSpPr/>
          <p:nvPr/>
        </p:nvSpPr>
        <p:spPr>
          <a:xfrm>
            <a:off x="740664" y="2194560"/>
            <a:ext cx="3127248"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W4 / BUDGET ONLY</a:t>
            </a:r>
            <a:endParaRPr lang="en-US" sz="930" dirty="0"/>
          </a:p>
        </p:txBody>
      </p:sp>
      <p:sp>
        <p:nvSpPr>
          <p:cNvPr id="15" name="Text 13"/>
          <p:cNvSpPr/>
          <p:nvPr/>
        </p:nvSpPr>
        <p:spPr>
          <a:xfrm>
            <a:off x="685800" y="2761488"/>
            <a:ext cx="3236976" cy="795528"/>
          </a:xfrm>
          <a:prstGeom prst="rect">
            <a:avLst/>
          </a:prstGeom>
          <a:noFill/>
          <a:ln/>
        </p:spPr>
        <p:txBody>
          <a:bodyPr wrap="square" lIns="0" tIns="0" rIns="0" bIns="0" rtlCol="0" anchor="ctr">
            <a:normAutofit/>
          </a:bodyPr>
          <a:lstStyle/>
          <a:p>
            <a:pPr marL="0" indent="0">
              <a:buNone/>
            </a:pPr>
            <a:r>
              <a:rPr lang="en-US" sz="4600" b="1" dirty="0">
                <a:solidFill>
                  <a:srgbClr val="E31837"/>
                </a:solidFill>
                <a:latin typeface="Arial" pitchFamily="34" charset="0"/>
                <a:ea typeface="Arial" pitchFamily="34" charset="-122"/>
                <a:cs typeface="Arial" pitchFamily="34" charset="-120"/>
              </a:rPr>
              <a:t>$23k</a:t>
            </a:r>
            <a:endParaRPr lang="en-US" sz="4600" dirty="0"/>
          </a:p>
        </p:txBody>
      </p:sp>
      <p:sp>
        <p:nvSpPr>
          <p:cNvPr id="16" name="Text 14"/>
          <p:cNvSpPr/>
          <p:nvPr/>
        </p:nvSpPr>
        <p:spPr>
          <a:xfrm>
            <a:off x="685800" y="3785616"/>
            <a:ext cx="3236976" cy="649224"/>
          </a:xfrm>
          <a:prstGeom prst="rect">
            <a:avLst/>
          </a:prstGeom>
          <a:noFill/>
          <a:ln/>
        </p:spPr>
        <p:txBody>
          <a:bodyPr wrap="square" lIns="0" tIns="0" rIns="0" bIns="0" rtlCol="0" anchor="ctr">
            <a:normAutofit/>
          </a:bodyPr>
          <a:lstStyle/>
          <a:p>
            <a:pPr marL="0" indent="0">
              <a:buNone/>
            </a:pPr>
            <a:r>
              <a:rPr lang="en-US" sz="1700" dirty="0">
                <a:solidFill>
                  <a:srgbClr val="18191D"/>
                </a:solidFill>
                <a:latin typeface="Arial" pitchFamily="34" charset="0"/>
                <a:ea typeface="Arial" pitchFamily="34" charset="-122"/>
                <a:cs typeface="Arial" pitchFamily="34" charset="-120"/>
              </a:rPr>
              <a:t>$9k OEM / fabric / integration</a:t>
            </a:r>
            <a:endParaRPr lang="en-US" sz="1700" dirty="0"/>
          </a:p>
          <a:p>
            <a:pPr marL="0" indent="0">
              <a:buNone/>
            </a:pPr>
            <a:r>
              <a:rPr lang="en-US" sz="1700" dirty="0">
                <a:solidFill>
                  <a:srgbClr val="18191D"/>
                </a:solidFill>
                <a:latin typeface="Arial" pitchFamily="34" charset="0"/>
                <a:ea typeface="Arial" pitchFamily="34" charset="-122"/>
                <a:cs typeface="Arial" pitchFamily="34" charset="-120"/>
              </a:rPr>
              <a:t>+ $14k ATMOS allowance</a:t>
            </a:r>
            <a:endParaRPr lang="en-US" sz="1700" dirty="0"/>
          </a:p>
        </p:txBody>
      </p:sp>
      <p:sp>
        <p:nvSpPr>
          <p:cNvPr id="17" name="Text 15"/>
          <p:cNvSpPr/>
          <p:nvPr/>
        </p:nvSpPr>
        <p:spPr>
          <a:xfrm>
            <a:off x="685800" y="4818888"/>
            <a:ext cx="3236976" cy="292608"/>
          </a:xfrm>
          <a:prstGeom prst="rect">
            <a:avLst/>
          </a:prstGeom>
          <a:noFill/>
          <a:ln/>
        </p:spPr>
        <p:txBody>
          <a:bodyPr wrap="square" lIns="0" tIns="0" rIns="0" bIns="0" rtlCol="0" anchor="ctr">
            <a:normAutofit/>
          </a:bodyPr>
          <a:lstStyle/>
          <a:p>
            <a:pPr marL="0" indent="0">
              <a:buNone/>
            </a:pPr>
            <a:r>
              <a:rPr lang="en-US" sz="1500" b="1" dirty="0">
                <a:solidFill>
                  <a:srgbClr val="5B6169"/>
                </a:solidFill>
                <a:latin typeface="Arial" pitchFamily="34" charset="0"/>
                <a:ea typeface="Arial" pitchFamily="34" charset="-122"/>
                <a:cs typeface="Arial" pitchFamily="34" charset="-120"/>
              </a:rPr>
              <a:t>$17k–$32k range</a:t>
            </a:r>
            <a:endParaRPr lang="en-US" sz="1500" dirty="0"/>
          </a:p>
        </p:txBody>
      </p:sp>
      <p:sp>
        <p:nvSpPr>
          <p:cNvPr id="18" name="Shape 16"/>
          <p:cNvSpPr/>
          <p:nvPr/>
        </p:nvSpPr>
        <p:spPr>
          <a:xfrm>
            <a:off x="4288536" y="2039112"/>
            <a:ext cx="3602736" cy="3401568"/>
          </a:xfrm>
          <a:prstGeom prst="rect">
            <a:avLst/>
          </a:prstGeom>
          <a:solidFill>
            <a:srgbClr val="F3F4F6"/>
          </a:solidFill>
          <a:ln w="8255">
            <a:solidFill>
              <a:srgbClr val="F3F4F6"/>
            </a:solidFill>
            <a:prstDash val="solid"/>
          </a:ln>
        </p:spPr>
        <p:txBody>
          <a:bodyPr/>
          <a:lstStyle/>
          <a:p>
            <a:endParaRPr lang="en-US"/>
          </a:p>
        </p:txBody>
      </p:sp>
      <p:sp>
        <p:nvSpPr>
          <p:cNvPr id="19" name="Shape 17"/>
          <p:cNvSpPr/>
          <p:nvPr/>
        </p:nvSpPr>
        <p:spPr>
          <a:xfrm>
            <a:off x="4453128" y="2194560"/>
            <a:ext cx="3273552" cy="256032"/>
          </a:xfrm>
          <a:prstGeom prst="rect">
            <a:avLst/>
          </a:prstGeom>
          <a:solidFill>
            <a:srgbClr val="FDECEF"/>
          </a:solidFill>
          <a:ln w="8255">
            <a:solidFill>
              <a:srgbClr val="FDECEF"/>
            </a:solidFill>
            <a:prstDash val="solid"/>
          </a:ln>
        </p:spPr>
        <p:txBody>
          <a:bodyPr/>
          <a:lstStyle/>
          <a:p>
            <a:endParaRPr lang="en-US"/>
          </a:p>
        </p:txBody>
      </p:sp>
      <p:sp>
        <p:nvSpPr>
          <p:cNvPr id="20" name="Text 18"/>
          <p:cNvSpPr/>
          <p:nvPr/>
        </p:nvSpPr>
        <p:spPr>
          <a:xfrm>
            <a:off x="4526280" y="2194560"/>
            <a:ext cx="3127248"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D8 / BUDGET ONLY</a:t>
            </a:r>
            <a:endParaRPr lang="en-US" sz="930" dirty="0"/>
          </a:p>
        </p:txBody>
      </p:sp>
      <p:sp>
        <p:nvSpPr>
          <p:cNvPr id="21" name="Text 19"/>
          <p:cNvSpPr/>
          <p:nvPr/>
        </p:nvSpPr>
        <p:spPr>
          <a:xfrm>
            <a:off x="4471416" y="2761488"/>
            <a:ext cx="3236976" cy="795528"/>
          </a:xfrm>
          <a:prstGeom prst="rect">
            <a:avLst/>
          </a:prstGeom>
          <a:noFill/>
          <a:ln/>
        </p:spPr>
        <p:txBody>
          <a:bodyPr wrap="square" lIns="0" tIns="0" rIns="0" bIns="0" rtlCol="0" anchor="ctr">
            <a:normAutofit/>
          </a:bodyPr>
          <a:lstStyle/>
          <a:p>
            <a:pPr marL="0" indent="0">
              <a:buNone/>
            </a:pPr>
            <a:r>
              <a:rPr lang="en-US" sz="4600" b="1" dirty="0">
                <a:solidFill>
                  <a:srgbClr val="E31837"/>
                </a:solidFill>
                <a:latin typeface="Arial" pitchFamily="34" charset="0"/>
                <a:ea typeface="Arial" pitchFamily="34" charset="-122"/>
                <a:cs typeface="Arial" pitchFamily="34" charset="-120"/>
              </a:rPr>
              <a:t>$48k</a:t>
            </a:r>
            <a:endParaRPr lang="en-US" sz="4600" dirty="0"/>
          </a:p>
        </p:txBody>
      </p:sp>
      <p:sp>
        <p:nvSpPr>
          <p:cNvPr id="22" name="Text 20"/>
          <p:cNvSpPr/>
          <p:nvPr/>
        </p:nvSpPr>
        <p:spPr>
          <a:xfrm>
            <a:off x="4471416" y="3785616"/>
            <a:ext cx="3236976" cy="649224"/>
          </a:xfrm>
          <a:prstGeom prst="rect">
            <a:avLst/>
          </a:prstGeom>
          <a:noFill/>
          <a:ln/>
        </p:spPr>
        <p:txBody>
          <a:bodyPr wrap="square" lIns="0" tIns="0" rIns="0" bIns="0" rtlCol="0" anchor="ctr">
            <a:normAutofit/>
          </a:bodyPr>
          <a:lstStyle/>
          <a:p>
            <a:pPr marL="0" indent="0">
              <a:buNone/>
            </a:pPr>
            <a:r>
              <a:rPr lang="en-US" sz="1700" dirty="0">
                <a:solidFill>
                  <a:srgbClr val="18191D"/>
                </a:solidFill>
                <a:latin typeface="Arial" pitchFamily="34" charset="0"/>
                <a:ea typeface="Arial" pitchFamily="34" charset="-122"/>
                <a:cs typeface="Arial" pitchFamily="34" charset="-120"/>
              </a:rPr>
              <a:t>$20k OEM / fabric / integration</a:t>
            </a:r>
            <a:endParaRPr lang="en-US" sz="1700" dirty="0"/>
          </a:p>
          <a:p>
            <a:pPr marL="0" indent="0">
              <a:buNone/>
            </a:pPr>
            <a:r>
              <a:rPr lang="en-US" sz="1700" dirty="0">
                <a:solidFill>
                  <a:srgbClr val="18191D"/>
                </a:solidFill>
                <a:latin typeface="Arial" pitchFamily="34" charset="0"/>
                <a:ea typeface="Arial" pitchFamily="34" charset="-122"/>
                <a:cs typeface="Arial" pitchFamily="34" charset="-120"/>
              </a:rPr>
              <a:t>+ $28k ATMOS allowance</a:t>
            </a:r>
            <a:endParaRPr lang="en-US" sz="1700" dirty="0"/>
          </a:p>
        </p:txBody>
      </p:sp>
      <p:sp>
        <p:nvSpPr>
          <p:cNvPr id="23" name="Text 21"/>
          <p:cNvSpPr/>
          <p:nvPr/>
        </p:nvSpPr>
        <p:spPr>
          <a:xfrm>
            <a:off x="4471416" y="4818888"/>
            <a:ext cx="3236976" cy="292608"/>
          </a:xfrm>
          <a:prstGeom prst="rect">
            <a:avLst/>
          </a:prstGeom>
          <a:noFill/>
          <a:ln/>
        </p:spPr>
        <p:txBody>
          <a:bodyPr wrap="square" lIns="0" tIns="0" rIns="0" bIns="0" rtlCol="0" anchor="ctr">
            <a:normAutofit/>
          </a:bodyPr>
          <a:lstStyle/>
          <a:p>
            <a:pPr marL="0" indent="0">
              <a:buNone/>
            </a:pPr>
            <a:r>
              <a:rPr lang="en-US" sz="1500" b="1" dirty="0">
                <a:solidFill>
                  <a:srgbClr val="5B6169"/>
                </a:solidFill>
                <a:latin typeface="Arial" pitchFamily="34" charset="0"/>
                <a:ea typeface="Arial" pitchFamily="34" charset="-122"/>
                <a:cs typeface="Arial" pitchFamily="34" charset="-120"/>
              </a:rPr>
              <a:t>$34k–$64k range</a:t>
            </a:r>
            <a:endParaRPr lang="en-US" sz="1500" dirty="0"/>
          </a:p>
        </p:txBody>
      </p:sp>
      <p:sp>
        <p:nvSpPr>
          <p:cNvPr id="24" name="Shape 22"/>
          <p:cNvSpPr/>
          <p:nvPr/>
        </p:nvSpPr>
        <p:spPr>
          <a:xfrm>
            <a:off x="8074152" y="2039112"/>
            <a:ext cx="3602736" cy="3401568"/>
          </a:xfrm>
          <a:prstGeom prst="rect">
            <a:avLst/>
          </a:prstGeom>
          <a:solidFill>
            <a:srgbClr val="F3F4F6"/>
          </a:solidFill>
          <a:ln w="8255">
            <a:solidFill>
              <a:srgbClr val="F3F4F6"/>
            </a:solidFill>
            <a:prstDash val="solid"/>
          </a:ln>
        </p:spPr>
        <p:txBody>
          <a:bodyPr/>
          <a:lstStyle/>
          <a:p>
            <a:endParaRPr lang="en-US"/>
          </a:p>
        </p:txBody>
      </p:sp>
      <p:sp>
        <p:nvSpPr>
          <p:cNvPr id="25" name="Shape 23"/>
          <p:cNvSpPr/>
          <p:nvPr/>
        </p:nvSpPr>
        <p:spPr>
          <a:xfrm>
            <a:off x="8238744" y="2194560"/>
            <a:ext cx="3273552" cy="256032"/>
          </a:xfrm>
          <a:prstGeom prst="rect">
            <a:avLst/>
          </a:prstGeom>
          <a:solidFill>
            <a:srgbClr val="FDECEF"/>
          </a:solidFill>
          <a:ln w="8255">
            <a:solidFill>
              <a:srgbClr val="FDECEF"/>
            </a:solidFill>
            <a:prstDash val="solid"/>
          </a:ln>
        </p:spPr>
        <p:txBody>
          <a:bodyPr/>
          <a:lstStyle/>
          <a:p>
            <a:endParaRPr lang="en-US"/>
          </a:p>
        </p:txBody>
      </p:sp>
      <p:sp>
        <p:nvSpPr>
          <p:cNvPr id="26" name="Text 24"/>
          <p:cNvSpPr/>
          <p:nvPr/>
        </p:nvSpPr>
        <p:spPr>
          <a:xfrm>
            <a:off x="8311896" y="2194560"/>
            <a:ext cx="3127248" cy="256032"/>
          </a:xfrm>
          <a:prstGeom prst="rect">
            <a:avLst/>
          </a:prstGeom>
          <a:noFill/>
          <a:ln/>
        </p:spPr>
        <p:txBody>
          <a:bodyPr wrap="square" lIns="0" tIns="0" rIns="0" bIns="0" rtlCol="0" anchor="ctr">
            <a:normAutofit/>
          </a:bodyPr>
          <a:lstStyle/>
          <a:p>
            <a:pPr marL="0" indent="0">
              <a:buNone/>
            </a:pPr>
            <a:r>
              <a:rPr lang="en-US" sz="930" b="1" dirty="0">
                <a:solidFill>
                  <a:srgbClr val="E31837"/>
                </a:solidFill>
                <a:latin typeface="Arial" pitchFamily="34" charset="0"/>
                <a:ea typeface="Arial" pitchFamily="34" charset="-122"/>
                <a:cs typeface="Arial" pitchFamily="34" charset="-120"/>
              </a:rPr>
              <a:t>E16 / BUDGET ONLY</a:t>
            </a:r>
            <a:endParaRPr lang="en-US" sz="930" dirty="0"/>
          </a:p>
        </p:txBody>
      </p:sp>
      <p:sp>
        <p:nvSpPr>
          <p:cNvPr id="27" name="Text 25"/>
          <p:cNvSpPr/>
          <p:nvPr/>
        </p:nvSpPr>
        <p:spPr>
          <a:xfrm>
            <a:off x="8257032" y="2761488"/>
            <a:ext cx="3236976" cy="795528"/>
          </a:xfrm>
          <a:prstGeom prst="rect">
            <a:avLst/>
          </a:prstGeom>
          <a:noFill/>
          <a:ln/>
        </p:spPr>
        <p:txBody>
          <a:bodyPr wrap="square" lIns="0" tIns="0" rIns="0" bIns="0" rtlCol="0" anchor="ctr">
            <a:normAutofit/>
          </a:bodyPr>
          <a:lstStyle/>
          <a:p>
            <a:pPr marL="0" indent="0">
              <a:buNone/>
            </a:pPr>
            <a:r>
              <a:rPr lang="en-US" sz="4600" b="1" dirty="0">
                <a:solidFill>
                  <a:srgbClr val="E31837"/>
                </a:solidFill>
                <a:latin typeface="Arial" pitchFamily="34" charset="0"/>
                <a:ea typeface="Arial" pitchFamily="34" charset="-122"/>
                <a:cs typeface="Arial" pitchFamily="34" charset="-120"/>
              </a:rPr>
              <a:t>$96k</a:t>
            </a:r>
            <a:endParaRPr lang="en-US" sz="4600" dirty="0"/>
          </a:p>
        </p:txBody>
      </p:sp>
      <p:sp>
        <p:nvSpPr>
          <p:cNvPr id="28" name="Text 26"/>
          <p:cNvSpPr/>
          <p:nvPr/>
        </p:nvSpPr>
        <p:spPr>
          <a:xfrm>
            <a:off x="8257032" y="3785616"/>
            <a:ext cx="3236976" cy="649224"/>
          </a:xfrm>
          <a:prstGeom prst="rect">
            <a:avLst/>
          </a:prstGeom>
          <a:noFill/>
          <a:ln/>
        </p:spPr>
        <p:txBody>
          <a:bodyPr wrap="square" lIns="0" tIns="0" rIns="0" bIns="0" rtlCol="0" anchor="ctr">
            <a:normAutofit/>
          </a:bodyPr>
          <a:lstStyle/>
          <a:p>
            <a:pPr marL="0" indent="0">
              <a:buNone/>
            </a:pPr>
            <a:r>
              <a:rPr lang="en-US" sz="1700" dirty="0">
                <a:solidFill>
                  <a:srgbClr val="18191D"/>
                </a:solidFill>
                <a:latin typeface="Arial" pitchFamily="34" charset="0"/>
                <a:ea typeface="Arial" pitchFamily="34" charset="-122"/>
                <a:cs typeface="Arial" pitchFamily="34" charset="-120"/>
              </a:rPr>
              <a:t>$40k OEM / fabric / integration</a:t>
            </a:r>
            <a:endParaRPr lang="en-US" sz="1700" dirty="0"/>
          </a:p>
          <a:p>
            <a:pPr marL="0" indent="0">
              <a:buNone/>
            </a:pPr>
            <a:r>
              <a:rPr lang="en-US" sz="1700" dirty="0">
                <a:solidFill>
                  <a:srgbClr val="18191D"/>
                </a:solidFill>
                <a:latin typeface="Arial" pitchFamily="34" charset="0"/>
                <a:ea typeface="Arial" pitchFamily="34" charset="-122"/>
                <a:cs typeface="Arial" pitchFamily="34" charset="-120"/>
              </a:rPr>
              <a:t>+ $56k ATMOS allowance</a:t>
            </a:r>
            <a:endParaRPr lang="en-US" sz="1700" dirty="0"/>
          </a:p>
        </p:txBody>
      </p:sp>
      <p:sp>
        <p:nvSpPr>
          <p:cNvPr id="29" name="Text 27"/>
          <p:cNvSpPr/>
          <p:nvPr/>
        </p:nvSpPr>
        <p:spPr>
          <a:xfrm>
            <a:off x="8257032" y="4818888"/>
            <a:ext cx="3236976" cy="292608"/>
          </a:xfrm>
          <a:prstGeom prst="rect">
            <a:avLst/>
          </a:prstGeom>
          <a:noFill/>
          <a:ln/>
        </p:spPr>
        <p:txBody>
          <a:bodyPr wrap="square" lIns="0" tIns="0" rIns="0" bIns="0" rtlCol="0" anchor="ctr">
            <a:normAutofit/>
          </a:bodyPr>
          <a:lstStyle/>
          <a:p>
            <a:pPr marL="0" indent="0">
              <a:buNone/>
            </a:pPr>
            <a:r>
              <a:rPr lang="en-US" sz="1500" b="1" dirty="0">
                <a:solidFill>
                  <a:srgbClr val="5B6169"/>
                </a:solidFill>
                <a:latin typeface="Arial" pitchFamily="34" charset="0"/>
                <a:ea typeface="Arial" pitchFamily="34" charset="-122"/>
                <a:cs typeface="Arial" pitchFamily="34" charset="-120"/>
              </a:rPr>
              <a:t>$70k–$128k range</a:t>
            </a:r>
            <a:endParaRPr lang="en-US" sz="1500" dirty="0"/>
          </a:p>
        </p:txBody>
      </p:sp>
      <p:sp>
        <p:nvSpPr>
          <p:cNvPr id="30" name="Shape 28"/>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31" name="Text 29"/>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Module allowance: $3.5k each, tested over $2.5k–$5k. Not a cost quote, list price or approved margin.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CUSTOMER PROOF</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A strong pilot ends with a buying decision—not a capacity demo.</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Use a bank/insurer policy or claims workflow, with an authorized trace and a matched incumbent control.</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14</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§17</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[S30] [I1]</a:t>
            </a:r>
            <a:endParaRPr lang="en-US" sz="820" dirty="0"/>
          </a:p>
        </p:txBody>
      </p:sp>
      <p:sp>
        <p:nvSpPr>
          <p:cNvPr id="12" name="Shape 10"/>
          <p:cNvSpPr/>
          <p:nvPr/>
        </p:nvSpPr>
        <p:spPr>
          <a:xfrm>
            <a:off x="502920" y="2029968"/>
            <a:ext cx="3602736" cy="3118104"/>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502920" y="2029968"/>
            <a:ext cx="50292" cy="3118104"/>
          </a:xfrm>
          <a:prstGeom prst="rect">
            <a:avLst/>
          </a:prstGeom>
          <a:solidFill>
            <a:srgbClr val="E31837"/>
          </a:solidFill>
          <a:ln w="8255">
            <a:solidFill>
              <a:srgbClr val="E31837"/>
            </a:solidFill>
            <a:prstDash val="solid"/>
          </a:ln>
        </p:spPr>
        <p:txBody>
          <a:bodyPr/>
          <a:lstStyle/>
          <a:p>
            <a:endParaRPr lang="en-US"/>
          </a:p>
        </p:txBody>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marL="0" indent="0">
              <a:buNone/>
            </a:pPr>
            <a:r>
              <a:rPr lang="en-US" sz="1700" b="1" dirty="0">
                <a:solidFill>
                  <a:srgbClr val="18191D"/>
                </a:solidFill>
                <a:latin typeface="Arial" pitchFamily="34" charset="0"/>
                <a:ea typeface="Arial" pitchFamily="34" charset="-122"/>
                <a:cs typeface="Arial" pitchFamily="34" charset="-120"/>
              </a:rPr>
              <a:t>FREEZE THE WORKLOAD</a:t>
            </a:r>
            <a:endParaRPr lang="en-US" sz="1700" dirty="0"/>
          </a:p>
        </p:txBody>
      </p:sp>
      <p:sp>
        <p:nvSpPr>
          <p:cNvPr id="15" name="Text 13"/>
          <p:cNvSpPr/>
          <p:nvPr/>
        </p:nvSpPr>
        <p:spPr>
          <a:xfrm>
            <a:off x="685800" y="2734056"/>
            <a:ext cx="3236976" cy="2258568"/>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400 approved cases/questions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1M versioned chunks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Positive, missing-evidence and access-denied tests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One accountable service owner</a:t>
            </a:r>
            <a:endParaRPr lang="en-US" sz="1400" dirty="0"/>
          </a:p>
        </p:txBody>
      </p:sp>
      <p:sp>
        <p:nvSpPr>
          <p:cNvPr id="16" name="Shape 14"/>
          <p:cNvSpPr/>
          <p:nvPr/>
        </p:nvSpPr>
        <p:spPr>
          <a:xfrm>
            <a:off x="4288536" y="2029968"/>
            <a:ext cx="3602736" cy="3118104"/>
          </a:xfrm>
          <a:prstGeom prst="rect">
            <a:avLst/>
          </a:prstGeom>
          <a:solidFill>
            <a:srgbClr val="F3F4F6"/>
          </a:solidFill>
          <a:ln w="8255">
            <a:solidFill>
              <a:srgbClr val="F3F4F6"/>
            </a:solidFill>
            <a:prstDash val="solid"/>
          </a:ln>
        </p:spPr>
        <p:txBody>
          <a:bodyPr/>
          <a:lstStyle/>
          <a:p>
            <a:endParaRPr lang="en-US"/>
          </a:p>
        </p:txBody>
      </p:sp>
      <p:sp>
        <p:nvSpPr>
          <p:cNvPr id="17" name="Shape 15"/>
          <p:cNvSpPr/>
          <p:nvPr/>
        </p:nvSpPr>
        <p:spPr>
          <a:xfrm>
            <a:off x="4288536" y="2029968"/>
            <a:ext cx="50292" cy="3118104"/>
          </a:xfrm>
          <a:prstGeom prst="rect">
            <a:avLst/>
          </a:prstGeom>
          <a:solidFill>
            <a:srgbClr val="E31837"/>
          </a:solidFill>
          <a:ln w="8255">
            <a:solidFill>
              <a:srgbClr val="E31837"/>
            </a:solidFill>
            <a:prstDash val="solid"/>
          </a:ln>
        </p:spPr>
        <p:txBody>
          <a:bodyPr/>
          <a:lstStyle/>
          <a:p>
            <a:endParaRPr lang="en-US"/>
          </a:p>
        </p:txBody>
      </p:sp>
      <p:sp>
        <p:nvSpPr>
          <p:cNvPr id="18" name="Text 16"/>
          <p:cNvSpPr/>
          <p:nvPr/>
        </p:nvSpPr>
        <p:spPr>
          <a:xfrm>
            <a:off x="4471416" y="2176272"/>
            <a:ext cx="3236976" cy="429768"/>
          </a:xfrm>
          <a:prstGeom prst="rect">
            <a:avLst/>
          </a:prstGeom>
          <a:noFill/>
          <a:ln/>
        </p:spPr>
        <p:txBody>
          <a:bodyPr wrap="square" lIns="0" tIns="0" rIns="0" bIns="0" rtlCol="0" anchor="ctr">
            <a:normAutofit fontScale="92500" lnSpcReduction="20000"/>
          </a:bodyPr>
          <a:lstStyle/>
          <a:p>
            <a:pPr marL="0" indent="0">
              <a:buNone/>
            </a:pPr>
            <a:r>
              <a:rPr lang="en-US" sz="1700" b="1" dirty="0">
                <a:solidFill>
                  <a:srgbClr val="18191D"/>
                </a:solidFill>
                <a:latin typeface="Arial" pitchFamily="34" charset="0"/>
                <a:ea typeface="Arial" pitchFamily="34" charset="-122"/>
                <a:cs typeface="Arial" pitchFamily="34" charset="-120"/>
              </a:rPr>
              <a:t>COMPARE THE WHOLE SERVICE</a:t>
            </a:r>
            <a:endParaRPr lang="en-US" sz="1700" dirty="0"/>
          </a:p>
        </p:txBody>
      </p:sp>
      <p:sp>
        <p:nvSpPr>
          <p:cNvPr id="19" name="Text 17"/>
          <p:cNvSpPr/>
          <p:nvPr/>
        </p:nvSpPr>
        <p:spPr>
          <a:xfrm>
            <a:off x="4471416" y="2734056"/>
            <a:ext cx="3236976" cy="2258568"/>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CPU + DRAM search</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Existing GPU RAG</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Managed/local endpoint if permitted</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ATMOS retrieval-only or certified local generation</a:t>
            </a:r>
            <a:endParaRPr lang="en-US" sz="1400" dirty="0"/>
          </a:p>
        </p:txBody>
      </p:sp>
      <p:sp>
        <p:nvSpPr>
          <p:cNvPr id="20" name="Shape 18"/>
          <p:cNvSpPr/>
          <p:nvPr/>
        </p:nvSpPr>
        <p:spPr>
          <a:xfrm>
            <a:off x="8083296" y="2029968"/>
            <a:ext cx="3602736" cy="3118104"/>
          </a:xfrm>
          <a:prstGeom prst="rect">
            <a:avLst/>
          </a:prstGeom>
          <a:solidFill>
            <a:srgbClr val="F3F4F6"/>
          </a:solidFill>
          <a:ln w="8255">
            <a:solidFill>
              <a:srgbClr val="F3F4F6"/>
            </a:solidFill>
            <a:prstDash val="solid"/>
          </a:ln>
        </p:spPr>
        <p:txBody>
          <a:bodyPr/>
          <a:lstStyle/>
          <a:p>
            <a:endParaRPr lang="en-US"/>
          </a:p>
        </p:txBody>
      </p:sp>
      <p:sp>
        <p:nvSpPr>
          <p:cNvPr id="21" name="Shape 19"/>
          <p:cNvSpPr/>
          <p:nvPr/>
        </p:nvSpPr>
        <p:spPr>
          <a:xfrm>
            <a:off x="8083296" y="2029968"/>
            <a:ext cx="50292" cy="3118104"/>
          </a:xfrm>
          <a:prstGeom prst="rect">
            <a:avLst/>
          </a:prstGeom>
          <a:solidFill>
            <a:srgbClr val="E31837"/>
          </a:solidFill>
          <a:ln w="8255">
            <a:solidFill>
              <a:srgbClr val="E31837"/>
            </a:solidFill>
            <a:prstDash val="solid"/>
          </a:ln>
        </p:spPr>
        <p:txBody>
          <a:bodyPr/>
          <a:lstStyle/>
          <a:p>
            <a:endParaRPr lang="en-US"/>
          </a:p>
        </p:txBody>
      </p:sp>
      <p:sp>
        <p:nvSpPr>
          <p:cNvPr id="22" name="Text 20"/>
          <p:cNvSpPr/>
          <p:nvPr/>
        </p:nvSpPr>
        <p:spPr>
          <a:xfrm>
            <a:off x="8266176" y="2176272"/>
            <a:ext cx="3236976" cy="429768"/>
          </a:xfrm>
          <a:prstGeom prst="rect">
            <a:avLst/>
          </a:prstGeom>
          <a:noFill/>
          <a:ln/>
        </p:spPr>
        <p:txBody>
          <a:bodyPr wrap="square" lIns="0" tIns="0" rIns="0" bIns="0" rtlCol="0" anchor="ctr">
            <a:normAutofit/>
          </a:bodyPr>
          <a:lstStyle/>
          <a:p>
            <a:pPr marL="0" indent="0">
              <a:buNone/>
            </a:pPr>
            <a:r>
              <a:rPr lang="en-US" sz="1700" b="1" dirty="0">
                <a:solidFill>
                  <a:srgbClr val="18191D"/>
                </a:solidFill>
                <a:latin typeface="Arial" pitchFamily="34" charset="0"/>
                <a:ea typeface="Arial" pitchFamily="34" charset="-122"/>
                <a:cs typeface="Arial" pitchFamily="34" charset="-120"/>
              </a:rPr>
              <a:t>COUNT REAL OUTCOMES</a:t>
            </a:r>
            <a:endParaRPr lang="en-US" sz="1700" dirty="0"/>
          </a:p>
        </p:txBody>
      </p:sp>
      <p:sp>
        <p:nvSpPr>
          <p:cNvPr id="23" name="Text 21"/>
          <p:cNvSpPr/>
          <p:nvPr/>
        </p:nvSpPr>
        <p:spPr>
          <a:xfrm>
            <a:off x="8266176" y="2734056"/>
            <a:ext cx="3236976" cy="2258568"/>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Accepted answers / documents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Citation and ACL correctness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p95/p99 + failure behavior</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Power, operator effort and avoidable spend</a:t>
            </a:r>
            <a:endParaRPr lang="en-US" sz="1400" dirty="0"/>
          </a:p>
        </p:txBody>
      </p:sp>
      <p:sp>
        <p:nvSpPr>
          <p:cNvPr id="24" name="Shape 22"/>
          <p:cNvSpPr/>
          <p:nvPr/>
        </p:nvSpPr>
        <p:spPr>
          <a:xfrm>
            <a:off x="502920" y="5504688"/>
            <a:ext cx="11183112" cy="310896"/>
          </a:xfrm>
          <a:prstGeom prst="rect">
            <a:avLst/>
          </a:prstGeom>
          <a:solidFill>
            <a:srgbClr val="FDECEF"/>
          </a:solidFill>
          <a:ln w="8255">
            <a:solidFill>
              <a:srgbClr val="FDECEF"/>
            </a:solidFill>
            <a:prstDash val="solid"/>
          </a:ln>
        </p:spPr>
        <p:txBody>
          <a:bodyPr/>
          <a:lstStyle/>
          <a:p>
            <a:endParaRPr lang="en-US"/>
          </a:p>
        </p:txBody>
      </p:sp>
      <p:sp>
        <p:nvSpPr>
          <p:cNvPr id="25" name="Text 23"/>
          <p:cNvSpPr/>
          <p:nvPr/>
        </p:nvSpPr>
        <p:spPr>
          <a:xfrm>
            <a:off x="640080" y="5536692"/>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1,000 staff × 4 tasks/day × 1 measured minute × 20 days = 1,333 hours/month released—not automatic cash savings.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EXECUTION PLAN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Four proof programs. One product decision at each boundary.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Start simulator and emulator work now; physical and customer claims wait for real evidence.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15</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§19</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[S39]</a:t>
            </a:r>
            <a:endParaRPr lang="en-US" sz="820" dirty="0"/>
          </a:p>
        </p:txBody>
      </p:sp>
      <p:sp>
        <p:nvSpPr>
          <p:cNvPr id="12" name="Shape 10"/>
          <p:cNvSpPr/>
          <p:nvPr/>
        </p:nvSpPr>
        <p:spPr>
          <a:xfrm>
            <a:off x="502920" y="2066544"/>
            <a:ext cx="2660904" cy="3410712"/>
          </a:xfrm>
          <a:prstGeom prst="rect">
            <a:avLst/>
          </a:prstGeom>
          <a:solidFill>
            <a:srgbClr val="F3F4F6"/>
          </a:solidFill>
          <a:ln w="8255">
            <a:solidFill>
              <a:srgbClr val="F3F4F6"/>
            </a:solidFill>
            <a:prstDash val="solid"/>
          </a:ln>
        </p:spPr>
        <p:txBody>
          <a:bodyPr/>
          <a:lstStyle/>
          <a:p>
            <a:endParaRPr lang="en-US"/>
          </a:p>
        </p:txBody>
      </p:sp>
      <p:sp>
        <p:nvSpPr>
          <p:cNvPr id="13" name="Text 11"/>
          <p:cNvSpPr/>
          <p:nvPr/>
        </p:nvSpPr>
        <p:spPr>
          <a:xfrm>
            <a:off x="667512" y="2240280"/>
            <a:ext cx="22860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E31837"/>
                </a:solidFill>
                <a:latin typeface="Arial" pitchFamily="34" charset="0"/>
                <a:ea typeface="Arial" pitchFamily="34" charset="-122"/>
                <a:cs typeface="Arial" pitchFamily="34" charset="-120"/>
              </a:rPr>
              <a:t>1</a:t>
            </a:r>
            <a:endParaRPr lang="en-US" sz="3600" dirty="0"/>
          </a:p>
        </p:txBody>
      </p:sp>
      <p:sp>
        <p:nvSpPr>
          <p:cNvPr id="14" name="Text 12"/>
          <p:cNvSpPr/>
          <p:nvPr/>
        </p:nvSpPr>
        <p:spPr>
          <a:xfrm>
            <a:off x="667512" y="2889504"/>
            <a:ext cx="2331720" cy="466344"/>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DEFINE + MODEL</a:t>
            </a:r>
            <a:endParaRPr lang="en-US" sz="1400" dirty="0"/>
          </a:p>
        </p:txBody>
      </p:sp>
      <p:sp>
        <p:nvSpPr>
          <p:cNvPr id="15" name="Text 13"/>
          <p:cNvSpPr/>
          <p:nvPr/>
        </p:nvSpPr>
        <p:spPr>
          <a:xfrm>
            <a:off x="667512" y="3639312"/>
            <a:ext cx="2331720" cy="950976"/>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Workload + competitor control</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HBF/NPU/KV feasibility</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Native-runtime commitment</a:t>
            </a:r>
            <a:endParaRPr lang="en-US" sz="1400" dirty="0"/>
          </a:p>
        </p:txBody>
      </p:sp>
      <p:sp>
        <p:nvSpPr>
          <p:cNvPr id="16" name="Shape 14"/>
          <p:cNvSpPr/>
          <p:nvPr/>
        </p:nvSpPr>
        <p:spPr>
          <a:xfrm>
            <a:off x="502920" y="4901184"/>
            <a:ext cx="2660904" cy="576072"/>
          </a:xfrm>
          <a:prstGeom prst="rect">
            <a:avLst/>
          </a:prstGeom>
          <a:solidFill>
            <a:srgbClr val="18191D"/>
          </a:solidFill>
          <a:ln w="8255">
            <a:solidFill>
              <a:srgbClr val="18191D"/>
            </a:solidFill>
            <a:prstDash val="solid"/>
          </a:ln>
        </p:spPr>
        <p:txBody>
          <a:bodyPr/>
          <a:lstStyle/>
          <a:p>
            <a:endParaRPr lang="en-US"/>
          </a:p>
        </p:txBody>
      </p:sp>
      <p:sp>
        <p:nvSpPr>
          <p:cNvPr id="17" name="Text 15"/>
          <p:cNvSpPr/>
          <p:nvPr/>
        </p:nvSpPr>
        <p:spPr>
          <a:xfrm>
            <a:off x="640080" y="4983480"/>
            <a:ext cx="2386584" cy="374904"/>
          </a:xfrm>
          <a:prstGeom prst="rect">
            <a:avLst/>
          </a:prstGeom>
          <a:noFill/>
          <a:ln/>
        </p:spPr>
        <p:txBody>
          <a:bodyPr wrap="square" lIns="0" tIns="0" rIns="0" bIns="0" rtlCol="0" anchor="ctr">
            <a:normAutofit/>
          </a:bodyPr>
          <a:lstStyle/>
          <a:p>
            <a:pPr marL="0" indent="0">
              <a:buNone/>
            </a:pPr>
            <a:r>
              <a:rPr lang="en-US" sz="1230" b="1" dirty="0">
                <a:solidFill>
                  <a:srgbClr val="FFFFFF"/>
                </a:solidFill>
                <a:latin typeface="Arial" pitchFamily="34" charset="0"/>
                <a:ea typeface="Arial" pitchFamily="34" charset="-122"/>
                <a:cs typeface="Arial" pitchFamily="34" charset="-120"/>
              </a:rPr>
              <a:t>Requirements—not benchmarks</a:t>
            </a:r>
            <a:endParaRPr lang="en-US" sz="1230" dirty="0"/>
          </a:p>
        </p:txBody>
      </p:sp>
      <p:sp>
        <p:nvSpPr>
          <p:cNvPr id="18" name="Shape 16"/>
          <p:cNvSpPr/>
          <p:nvPr/>
        </p:nvSpPr>
        <p:spPr>
          <a:xfrm>
            <a:off x="3163824" y="2825496"/>
            <a:ext cx="155448" cy="0"/>
          </a:xfrm>
          <a:prstGeom prst="line">
            <a:avLst/>
          </a:prstGeom>
          <a:noFill/>
          <a:ln w="19050">
            <a:solidFill>
              <a:srgbClr val="E31837"/>
            </a:solidFill>
            <a:prstDash val="solid"/>
            <a:tailEnd type="triangle"/>
          </a:ln>
        </p:spPr>
        <p:txBody>
          <a:bodyPr/>
          <a:lstStyle/>
          <a:p>
            <a:endParaRPr lang="en-US"/>
          </a:p>
        </p:txBody>
      </p:sp>
      <p:sp>
        <p:nvSpPr>
          <p:cNvPr id="19" name="Shape 17"/>
          <p:cNvSpPr/>
          <p:nvPr/>
        </p:nvSpPr>
        <p:spPr>
          <a:xfrm>
            <a:off x="3346704" y="2066544"/>
            <a:ext cx="2660904" cy="3410712"/>
          </a:xfrm>
          <a:prstGeom prst="rect">
            <a:avLst/>
          </a:prstGeom>
          <a:solidFill>
            <a:srgbClr val="F3F4F6"/>
          </a:solidFill>
          <a:ln w="8255">
            <a:solidFill>
              <a:srgbClr val="F3F4F6"/>
            </a:solidFill>
            <a:prstDash val="solid"/>
          </a:ln>
        </p:spPr>
        <p:txBody>
          <a:bodyPr/>
          <a:lstStyle/>
          <a:p>
            <a:endParaRPr lang="en-US"/>
          </a:p>
        </p:txBody>
      </p:sp>
      <p:sp>
        <p:nvSpPr>
          <p:cNvPr id="20" name="Text 18"/>
          <p:cNvSpPr/>
          <p:nvPr/>
        </p:nvSpPr>
        <p:spPr>
          <a:xfrm>
            <a:off x="3511296" y="2240280"/>
            <a:ext cx="22860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E31837"/>
                </a:solidFill>
                <a:latin typeface="Arial" pitchFamily="34" charset="0"/>
                <a:ea typeface="Arial" pitchFamily="34" charset="-122"/>
                <a:cs typeface="Arial" pitchFamily="34" charset="-120"/>
              </a:rPr>
              <a:t>2</a:t>
            </a:r>
            <a:endParaRPr lang="en-US" sz="3600" dirty="0"/>
          </a:p>
        </p:txBody>
      </p:sp>
      <p:sp>
        <p:nvSpPr>
          <p:cNvPr id="21" name="Text 19"/>
          <p:cNvSpPr/>
          <p:nvPr/>
        </p:nvSpPr>
        <p:spPr>
          <a:xfrm>
            <a:off x="3511296" y="2889504"/>
            <a:ext cx="2331720" cy="466344"/>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EMULATE + INTEGRATE</a:t>
            </a:r>
            <a:endParaRPr lang="en-US" sz="1400" dirty="0"/>
          </a:p>
        </p:txBody>
      </p:sp>
      <p:sp>
        <p:nvSpPr>
          <p:cNvPr id="22" name="Text 20"/>
          <p:cNvSpPr/>
          <p:nvPr/>
        </p:nvSpPr>
        <p:spPr>
          <a:xfrm>
            <a:off x="3511296" y="3639312"/>
            <a:ext cx="2331720" cy="950976"/>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Complete API + governed RAG</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Signed packs + lifecycle</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Error and recovery semantics</a:t>
            </a:r>
            <a:endParaRPr lang="en-US" sz="1400" dirty="0"/>
          </a:p>
        </p:txBody>
      </p:sp>
      <p:sp>
        <p:nvSpPr>
          <p:cNvPr id="23" name="Shape 21"/>
          <p:cNvSpPr/>
          <p:nvPr/>
        </p:nvSpPr>
        <p:spPr>
          <a:xfrm>
            <a:off x="3346704" y="4901184"/>
            <a:ext cx="2660904" cy="576072"/>
          </a:xfrm>
          <a:prstGeom prst="rect">
            <a:avLst/>
          </a:prstGeom>
          <a:solidFill>
            <a:srgbClr val="18191D"/>
          </a:solidFill>
          <a:ln w="8255">
            <a:solidFill>
              <a:srgbClr val="18191D"/>
            </a:solidFill>
            <a:prstDash val="solid"/>
          </a:ln>
        </p:spPr>
        <p:txBody>
          <a:bodyPr/>
          <a:lstStyle/>
          <a:p>
            <a:endParaRPr lang="en-US"/>
          </a:p>
        </p:txBody>
      </p:sp>
      <p:sp>
        <p:nvSpPr>
          <p:cNvPr id="24" name="Text 22"/>
          <p:cNvSpPr/>
          <p:nvPr/>
        </p:nvSpPr>
        <p:spPr>
          <a:xfrm>
            <a:off x="3483864" y="4983480"/>
            <a:ext cx="2386584" cy="374904"/>
          </a:xfrm>
          <a:prstGeom prst="rect">
            <a:avLst/>
          </a:prstGeom>
          <a:noFill/>
          <a:ln/>
        </p:spPr>
        <p:txBody>
          <a:bodyPr wrap="square" lIns="0" tIns="0" rIns="0" bIns="0" rtlCol="0" anchor="ctr">
            <a:normAutofit/>
          </a:bodyPr>
          <a:lstStyle/>
          <a:p>
            <a:pPr marL="0" indent="0">
              <a:buNone/>
            </a:pPr>
            <a:r>
              <a:rPr lang="en-US" sz="1230" b="1" dirty="0">
                <a:solidFill>
                  <a:srgbClr val="FFFFFF"/>
                </a:solidFill>
                <a:latin typeface="Arial" pitchFamily="34" charset="0"/>
                <a:ea typeface="Arial" pitchFamily="34" charset="-122"/>
                <a:cs typeface="Arial" pitchFamily="34" charset="-120"/>
              </a:rPr>
              <a:t>Software readiness only</a:t>
            </a:r>
            <a:endParaRPr lang="en-US" sz="1230" dirty="0"/>
          </a:p>
        </p:txBody>
      </p:sp>
      <p:sp>
        <p:nvSpPr>
          <p:cNvPr id="25" name="Shape 23"/>
          <p:cNvSpPr/>
          <p:nvPr/>
        </p:nvSpPr>
        <p:spPr>
          <a:xfrm>
            <a:off x="6007608" y="2825496"/>
            <a:ext cx="155448" cy="0"/>
          </a:xfrm>
          <a:prstGeom prst="line">
            <a:avLst/>
          </a:prstGeom>
          <a:noFill/>
          <a:ln w="19050">
            <a:solidFill>
              <a:srgbClr val="E31837"/>
            </a:solidFill>
            <a:prstDash val="solid"/>
            <a:tailEnd type="triangle"/>
          </a:ln>
        </p:spPr>
        <p:txBody>
          <a:bodyPr/>
          <a:lstStyle/>
          <a:p>
            <a:endParaRPr lang="en-US"/>
          </a:p>
        </p:txBody>
      </p:sp>
      <p:sp>
        <p:nvSpPr>
          <p:cNvPr id="26" name="Shape 24"/>
          <p:cNvSpPr/>
          <p:nvPr/>
        </p:nvSpPr>
        <p:spPr>
          <a:xfrm>
            <a:off x="6190488" y="2066544"/>
            <a:ext cx="2660904" cy="3410712"/>
          </a:xfrm>
          <a:prstGeom prst="rect">
            <a:avLst/>
          </a:prstGeom>
          <a:solidFill>
            <a:srgbClr val="F3F4F6"/>
          </a:solidFill>
          <a:ln w="8255">
            <a:solidFill>
              <a:srgbClr val="F3F4F6"/>
            </a:solidFill>
            <a:prstDash val="solid"/>
          </a:ln>
        </p:spPr>
        <p:txBody>
          <a:bodyPr/>
          <a:lstStyle/>
          <a:p>
            <a:endParaRPr lang="en-US"/>
          </a:p>
        </p:txBody>
      </p:sp>
      <p:sp>
        <p:nvSpPr>
          <p:cNvPr id="27" name="Text 25"/>
          <p:cNvSpPr/>
          <p:nvPr/>
        </p:nvSpPr>
        <p:spPr>
          <a:xfrm>
            <a:off x="6355080" y="2240280"/>
            <a:ext cx="22860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E31837"/>
                </a:solidFill>
                <a:latin typeface="Arial" pitchFamily="34" charset="0"/>
                <a:ea typeface="Arial" pitchFamily="34" charset="-122"/>
                <a:cs typeface="Arial" pitchFamily="34" charset="-120"/>
              </a:rPr>
              <a:t>3</a:t>
            </a:r>
            <a:endParaRPr lang="en-US" sz="3600" dirty="0"/>
          </a:p>
        </p:txBody>
      </p:sp>
      <p:sp>
        <p:nvSpPr>
          <p:cNvPr id="28" name="Text 26"/>
          <p:cNvSpPr/>
          <p:nvPr/>
        </p:nvSpPr>
        <p:spPr>
          <a:xfrm>
            <a:off x="6355080" y="2889504"/>
            <a:ext cx="2331720" cy="466344"/>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QUALIFY 8 / 16</a:t>
            </a:r>
            <a:endParaRPr lang="en-US" sz="1400" dirty="0"/>
          </a:p>
        </p:txBody>
      </p:sp>
      <p:sp>
        <p:nvSpPr>
          <p:cNvPr id="29" name="Text 27"/>
          <p:cNvSpPr/>
          <p:nvPr/>
        </p:nvSpPr>
        <p:spPr>
          <a:xfrm>
            <a:off x="6355080" y="3639312"/>
            <a:ext cx="2331720" cy="950976"/>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Real service-rate envelope</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OEM thermals + DMA + HA</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Model/index/platform updates</a:t>
            </a:r>
            <a:endParaRPr lang="en-US" sz="1400" dirty="0"/>
          </a:p>
        </p:txBody>
      </p:sp>
      <p:sp>
        <p:nvSpPr>
          <p:cNvPr id="30" name="Shape 28"/>
          <p:cNvSpPr/>
          <p:nvPr/>
        </p:nvSpPr>
        <p:spPr>
          <a:xfrm>
            <a:off x="6190488" y="4901184"/>
            <a:ext cx="2660904" cy="576072"/>
          </a:xfrm>
          <a:prstGeom prst="rect">
            <a:avLst/>
          </a:prstGeom>
          <a:solidFill>
            <a:srgbClr val="18191D"/>
          </a:solidFill>
          <a:ln w="8255">
            <a:solidFill>
              <a:srgbClr val="18191D"/>
            </a:solidFill>
            <a:prstDash val="solid"/>
          </a:ln>
        </p:spPr>
        <p:txBody>
          <a:bodyPr/>
          <a:lstStyle/>
          <a:p>
            <a:endParaRPr lang="en-US"/>
          </a:p>
        </p:txBody>
      </p:sp>
      <p:sp>
        <p:nvSpPr>
          <p:cNvPr id="31" name="Text 29"/>
          <p:cNvSpPr/>
          <p:nvPr/>
        </p:nvSpPr>
        <p:spPr>
          <a:xfrm>
            <a:off x="6327648" y="4983480"/>
            <a:ext cx="2386584" cy="374904"/>
          </a:xfrm>
          <a:prstGeom prst="rect">
            <a:avLst/>
          </a:prstGeom>
          <a:noFill/>
          <a:ln/>
        </p:spPr>
        <p:txBody>
          <a:bodyPr wrap="square" lIns="0" tIns="0" rIns="0" bIns="0" rtlCol="0" anchor="ctr">
            <a:normAutofit/>
          </a:bodyPr>
          <a:lstStyle/>
          <a:p>
            <a:pPr marL="0" indent="0">
              <a:buNone/>
            </a:pPr>
            <a:r>
              <a:rPr lang="en-US" sz="1230" b="1" dirty="0">
                <a:solidFill>
                  <a:srgbClr val="FFFFFF"/>
                </a:solidFill>
                <a:latin typeface="Arial" pitchFamily="34" charset="0"/>
                <a:ea typeface="Arial" pitchFamily="34" charset="-122"/>
                <a:cs typeface="Arial" pitchFamily="34" charset="-120"/>
              </a:rPr>
              <a:t>Named pilot configuration</a:t>
            </a:r>
            <a:endParaRPr lang="en-US" sz="1230" dirty="0"/>
          </a:p>
        </p:txBody>
      </p:sp>
      <p:sp>
        <p:nvSpPr>
          <p:cNvPr id="32" name="Shape 30"/>
          <p:cNvSpPr/>
          <p:nvPr/>
        </p:nvSpPr>
        <p:spPr>
          <a:xfrm>
            <a:off x="8851392" y="2825496"/>
            <a:ext cx="155448" cy="0"/>
          </a:xfrm>
          <a:prstGeom prst="line">
            <a:avLst/>
          </a:prstGeom>
          <a:noFill/>
          <a:ln w="19050">
            <a:solidFill>
              <a:srgbClr val="E31837"/>
            </a:solidFill>
            <a:prstDash val="solid"/>
            <a:tailEnd type="triangle"/>
          </a:ln>
        </p:spPr>
        <p:txBody>
          <a:bodyPr/>
          <a:lstStyle/>
          <a:p>
            <a:endParaRPr lang="en-US"/>
          </a:p>
        </p:txBody>
      </p:sp>
      <p:sp>
        <p:nvSpPr>
          <p:cNvPr id="33" name="Shape 31"/>
          <p:cNvSpPr/>
          <p:nvPr/>
        </p:nvSpPr>
        <p:spPr>
          <a:xfrm>
            <a:off x="9034272" y="2066544"/>
            <a:ext cx="2660904" cy="3410712"/>
          </a:xfrm>
          <a:prstGeom prst="rect">
            <a:avLst/>
          </a:prstGeom>
          <a:solidFill>
            <a:srgbClr val="F3F4F6"/>
          </a:solidFill>
          <a:ln w="8255">
            <a:solidFill>
              <a:srgbClr val="F3F4F6"/>
            </a:solidFill>
            <a:prstDash val="solid"/>
          </a:ln>
        </p:spPr>
        <p:txBody>
          <a:bodyPr/>
          <a:lstStyle/>
          <a:p>
            <a:endParaRPr lang="en-US"/>
          </a:p>
        </p:txBody>
      </p:sp>
      <p:sp>
        <p:nvSpPr>
          <p:cNvPr id="34" name="Text 32"/>
          <p:cNvSpPr/>
          <p:nvPr/>
        </p:nvSpPr>
        <p:spPr>
          <a:xfrm>
            <a:off x="9198864" y="2240280"/>
            <a:ext cx="22860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E31837"/>
                </a:solidFill>
                <a:latin typeface="Arial" pitchFamily="34" charset="0"/>
                <a:ea typeface="Arial" pitchFamily="34" charset="-122"/>
                <a:cs typeface="Arial" pitchFamily="34" charset="-120"/>
              </a:rPr>
              <a:t>4</a:t>
            </a:r>
            <a:endParaRPr lang="en-US" sz="3600" dirty="0"/>
          </a:p>
        </p:txBody>
      </p:sp>
      <p:sp>
        <p:nvSpPr>
          <p:cNvPr id="35" name="Text 33"/>
          <p:cNvSpPr/>
          <p:nvPr/>
        </p:nvSpPr>
        <p:spPr>
          <a:xfrm>
            <a:off x="9198864" y="2889504"/>
            <a:ext cx="2331720" cy="466344"/>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CUSTOMER + RELEASE</a:t>
            </a:r>
            <a:endParaRPr lang="en-US" sz="1400" dirty="0"/>
          </a:p>
        </p:txBody>
      </p:sp>
      <p:sp>
        <p:nvSpPr>
          <p:cNvPr id="36" name="Text 34"/>
          <p:cNvSpPr/>
          <p:nvPr/>
        </p:nvSpPr>
        <p:spPr>
          <a:xfrm>
            <a:off x="9198864" y="3639312"/>
            <a:ext cx="2331720" cy="950976"/>
          </a:xfrm>
          <a:prstGeom prst="rect">
            <a:avLst/>
          </a:prstGeom>
          <a:noFill/>
          <a:ln/>
        </p:spPr>
        <p:txBody>
          <a:bodyPr wrap="square" lIns="0" tIns="0" rIns="0" bIns="0" rtlCol="0" anchor="ctr">
            <a:normAutofit fontScale="92500"/>
          </a:bodyPr>
          <a:lstStyle/>
          <a:p>
            <a:pPr marL="0" indent="0">
              <a:buNone/>
            </a:pPr>
            <a:r>
              <a:rPr lang="en-US" sz="1400" dirty="0">
                <a:solidFill>
                  <a:srgbClr val="5B6169"/>
                </a:solidFill>
                <a:latin typeface="Arial" pitchFamily="34" charset="0"/>
                <a:ea typeface="Arial" pitchFamily="34" charset="-122"/>
                <a:cs typeface="Arial" pitchFamily="34" charset="-120"/>
              </a:rPr>
              <a:t>Matched workflow + economics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Support and field-service drill</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Legal / finance / product gates</a:t>
            </a:r>
            <a:endParaRPr lang="en-US" sz="1400" dirty="0"/>
          </a:p>
        </p:txBody>
      </p:sp>
      <p:sp>
        <p:nvSpPr>
          <p:cNvPr id="37" name="Shape 35"/>
          <p:cNvSpPr/>
          <p:nvPr/>
        </p:nvSpPr>
        <p:spPr>
          <a:xfrm>
            <a:off x="9034272" y="4901184"/>
            <a:ext cx="2660904" cy="576072"/>
          </a:xfrm>
          <a:prstGeom prst="rect">
            <a:avLst/>
          </a:prstGeom>
          <a:solidFill>
            <a:srgbClr val="E31837"/>
          </a:solidFill>
          <a:ln w="8255">
            <a:solidFill>
              <a:srgbClr val="E31837"/>
            </a:solidFill>
            <a:prstDash val="solid"/>
          </a:ln>
        </p:spPr>
        <p:txBody>
          <a:bodyPr/>
          <a:lstStyle/>
          <a:p>
            <a:endParaRPr lang="en-US"/>
          </a:p>
        </p:txBody>
      </p:sp>
      <p:sp>
        <p:nvSpPr>
          <p:cNvPr id="38" name="Text 36"/>
          <p:cNvSpPr/>
          <p:nvPr/>
        </p:nvSpPr>
        <p:spPr>
          <a:xfrm>
            <a:off x="9171432" y="4983480"/>
            <a:ext cx="2386584" cy="374904"/>
          </a:xfrm>
          <a:prstGeom prst="rect">
            <a:avLst/>
          </a:prstGeom>
          <a:noFill/>
          <a:ln/>
        </p:spPr>
        <p:txBody>
          <a:bodyPr wrap="square" lIns="0" tIns="0" rIns="0" bIns="0" rtlCol="0" anchor="ctr">
            <a:normAutofit/>
          </a:bodyPr>
          <a:lstStyle/>
          <a:p>
            <a:pPr marL="0" indent="0">
              <a:buNone/>
            </a:pPr>
            <a:r>
              <a:rPr lang="en-US" sz="1230" b="1" dirty="0">
                <a:solidFill>
                  <a:srgbClr val="FFFFFF"/>
                </a:solidFill>
                <a:latin typeface="Arial" pitchFamily="34" charset="0"/>
                <a:ea typeface="Arial" pitchFamily="34" charset="-122"/>
                <a:cs typeface="Arial" pitchFamily="34" charset="-120"/>
              </a:rPr>
              <a:t>Orderable supported service</a:t>
            </a:r>
            <a:endParaRPr lang="en-US" sz="1230" dirty="0"/>
          </a:p>
        </p:txBody>
      </p:sp>
      <p:sp>
        <p:nvSpPr>
          <p:cNvPr id="39" name="Shape 37"/>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40" name="Text 38"/>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Hold W4 commercial release, E24 density, unsupported models and superiority claims until their specific gates pass.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atmos_exec_v3/assets/cover.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365760"/>
            <a:ext cx="2743200" cy="411480"/>
          </a:xfrm>
          <a:prstGeom prst="rect">
            <a:avLst/>
          </a:prstGeom>
          <a:noFill/>
          <a:ln/>
        </p:spPr>
        <p:txBody>
          <a:bodyPr wrap="square" lIns="0" tIns="0" rIns="0" bIns="0" rtlCol="0" anchor="ctr">
            <a:normAutofit/>
          </a:bodyPr>
          <a:lstStyle/>
          <a:p>
            <a:pPr marL="0" indent="0">
              <a:buNone/>
            </a:pPr>
            <a:r>
              <a:rPr lang="en-US" sz="2400" b="1" kern="0" spc="300" dirty="0">
                <a:solidFill>
                  <a:srgbClr val="E31837"/>
                </a:solidFill>
                <a:latin typeface="Arial" pitchFamily="34" charset="0"/>
                <a:ea typeface="Arial" pitchFamily="34" charset="-122"/>
                <a:cs typeface="Arial" pitchFamily="34" charset="-120"/>
              </a:rPr>
              <a:t>SANDISK</a:t>
            </a:r>
            <a:endParaRPr lang="en-US" sz="2400" dirty="0"/>
          </a:p>
        </p:txBody>
      </p:sp>
      <p:sp>
        <p:nvSpPr>
          <p:cNvPr id="4" name="Text 1"/>
          <p:cNvSpPr/>
          <p:nvPr/>
        </p:nvSpPr>
        <p:spPr>
          <a:xfrm>
            <a:off x="594360" y="1280160"/>
            <a:ext cx="10881360" cy="132588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rial" pitchFamily="34" charset="0"/>
                <a:ea typeface="Arial" pitchFamily="34" charset="-122"/>
                <a:cs typeface="Arial" pitchFamily="34" charset="-120"/>
              </a:rPr>
              <a:t>Approve a focused product proof.</a:t>
            </a:r>
            <a:endParaRPr lang="en-US" sz="3400" dirty="0"/>
          </a:p>
          <a:p>
            <a:pPr marL="0" indent="0">
              <a:buNone/>
            </a:pPr>
            <a:r>
              <a:rPr lang="en-US" sz="3400" b="1" dirty="0">
                <a:solidFill>
                  <a:srgbClr val="FFFFFF"/>
                </a:solidFill>
                <a:latin typeface="Arial" pitchFamily="34" charset="0"/>
                <a:ea typeface="Arial" pitchFamily="34" charset="-122"/>
                <a:cs typeface="Arial" pitchFamily="34" charset="-120"/>
              </a:rPr>
              <a:t>Do not approve an unmeasured promise.</a:t>
            </a:r>
            <a:endParaRPr lang="en-US" sz="3400" dirty="0"/>
          </a:p>
        </p:txBody>
      </p:sp>
      <p:sp>
        <p:nvSpPr>
          <p:cNvPr id="5" name="Shape 2"/>
          <p:cNvSpPr/>
          <p:nvPr/>
        </p:nvSpPr>
        <p:spPr>
          <a:xfrm>
            <a:off x="658368" y="3127248"/>
            <a:ext cx="3493008" cy="1444752"/>
          </a:xfrm>
          <a:prstGeom prst="rect">
            <a:avLst/>
          </a:prstGeom>
          <a:solidFill>
            <a:srgbClr val="2C2025"/>
          </a:solidFill>
          <a:ln w="8255">
            <a:solidFill>
              <a:srgbClr val="2C2025"/>
            </a:solidFill>
            <a:prstDash val="solid"/>
          </a:ln>
        </p:spPr>
        <p:txBody>
          <a:bodyPr/>
          <a:lstStyle/>
          <a:p>
            <a:endParaRPr lang="en-US"/>
          </a:p>
        </p:txBody>
      </p:sp>
      <p:sp>
        <p:nvSpPr>
          <p:cNvPr id="6" name="Text 3"/>
          <p:cNvSpPr/>
          <p:nvPr/>
        </p:nvSpPr>
        <p:spPr>
          <a:xfrm>
            <a:off x="822960" y="3300984"/>
            <a:ext cx="3163824" cy="274320"/>
          </a:xfrm>
          <a:prstGeom prst="rect">
            <a:avLst/>
          </a:prstGeom>
          <a:noFill/>
          <a:ln/>
        </p:spPr>
        <p:txBody>
          <a:bodyPr wrap="square" lIns="0" tIns="0" rIns="0" bIns="0" rtlCol="0" anchor="ctr">
            <a:normAutofit/>
          </a:bodyPr>
          <a:lstStyle/>
          <a:p>
            <a:pPr marL="0" indent="0">
              <a:buNone/>
            </a:pPr>
            <a:r>
              <a:rPr lang="en-US" sz="1200" b="1" dirty="0">
                <a:solidFill>
                  <a:srgbClr val="F0A3B0"/>
                </a:solidFill>
                <a:latin typeface="Arial" pitchFamily="34" charset="0"/>
                <a:ea typeface="Arial" pitchFamily="34" charset="-122"/>
                <a:cs typeface="Arial" pitchFamily="34" charset="-120"/>
              </a:rPr>
              <a:t>PRODUCT</a:t>
            </a:r>
            <a:endParaRPr lang="en-US" sz="1200" dirty="0"/>
          </a:p>
        </p:txBody>
      </p:sp>
      <p:sp>
        <p:nvSpPr>
          <p:cNvPr id="7" name="Text 4"/>
          <p:cNvSpPr/>
          <p:nvPr/>
        </p:nvSpPr>
        <p:spPr>
          <a:xfrm>
            <a:off x="822960" y="3749040"/>
            <a:ext cx="3163824" cy="566928"/>
          </a:xfrm>
          <a:prstGeom prst="rect">
            <a:avLst/>
          </a:prstGeom>
          <a:noFill/>
          <a:ln/>
        </p:spPr>
        <p:txBody>
          <a:bodyPr wrap="square" lIns="0" tIns="0" rIns="0" bIns="0" rtlCol="0" anchor="ctr">
            <a:normAutofit fontScale="85000" lnSpcReduction="10000"/>
          </a:bodyPr>
          <a:lstStyle/>
          <a:p>
            <a:pPr marL="0" indent="0">
              <a:buNone/>
            </a:pPr>
            <a:r>
              <a:rPr lang="en-US" sz="1800" b="1" dirty="0">
                <a:solidFill>
                  <a:srgbClr val="FFFFFF"/>
                </a:solidFill>
                <a:latin typeface="Arial" pitchFamily="34" charset="0"/>
                <a:ea typeface="Arial" pitchFamily="34" charset="-122"/>
                <a:cs typeface="Arial" pitchFamily="34" charset="-120"/>
              </a:rPr>
              <a:t>D8 + E16; one Knowledge Agent</a:t>
            </a:r>
            <a:endParaRPr lang="en-US" sz="1800" dirty="0"/>
          </a:p>
          <a:p>
            <a:pPr marL="0" indent="0">
              <a:buNone/>
            </a:pPr>
            <a:r>
              <a:rPr lang="en-US" sz="1800" b="1" dirty="0">
                <a:solidFill>
                  <a:srgbClr val="FFFFFF"/>
                </a:solidFill>
                <a:latin typeface="Arial" pitchFamily="34" charset="0"/>
                <a:ea typeface="Arial" pitchFamily="34" charset="-122"/>
                <a:cs typeface="Arial" pitchFamily="34" charset="-120"/>
              </a:rPr>
              <a:t>plus retrieval-only adoption.</a:t>
            </a:r>
            <a:endParaRPr lang="en-US" sz="1800" dirty="0"/>
          </a:p>
        </p:txBody>
      </p:sp>
      <p:sp>
        <p:nvSpPr>
          <p:cNvPr id="8" name="Shape 5"/>
          <p:cNvSpPr/>
          <p:nvPr/>
        </p:nvSpPr>
        <p:spPr>
          <a:xfrm>
            <a:off x="4462272" y="3127248"/>
            <a:ext cx="3493008" cy="1444752"/>
          </a:xfrm>
          <a:prstGeom prst="rect">
            <a:avLst/>
          </a:prstGeom>
          <a:solidFill>
            <a:srgbClr val="2C2025"/>
          </a:solidFill>
          <a:ln w="8255">
            <a:solidFill>
              <a:srgbClr val="2C2025"/>
            </a:solidFill>
            <a:prstDash val="solid"/>
          </a:ln>
        </p:spPr>
        <p:txBody>
          <a:bodyPr/>
          <a:lstStyle/>
          <a:p>
            <a:endParaRPr lang="en-US"/>
          </a:p>
        </p:txBody>
      </p:sp>
      <p:sp>
        <p:nvSpPr>
          <p:cNvPr id="9" name="Text 6"/>
          <p:cNvSpPr/>
          <p:nvPr/>
        </p:nvSpPr>
        <p:spPr>
          <a:xfrm>
            <a:off x="4626864" y="3300984"/>
            <a:ext cx="3163824" cy="274320"/>
          </a:xfrm>
          <a:prstGeom prst="rect">
            <a:avLst/>
          </a:prstGeom>
          <a:noFill/>
          <a:ln/>
        </p:spPr>
        <p:txBody>
          <a:bodyPr wrap="square" lIns="0" tIns="0" rIns="0" bIns="0" rtlCol="0" anchor="ctr">
            <a:normAutofit/>
          </a:bodyPr>
          <a:lstStyle/>
          <a:p>
            <a:pPr marL="0" indent="0">
              <a:buNone/>
            </a:pPr>
            <a:r>
              <a:rPr lang="en-US" sz="1200" b="1" dirty="0">
                <a:solidFill>
                  <a:srgbClr val="F0A3B0"/>
                </a:solidFill>
                <a:latin typeface="Arial" pitchFamily="34" charset="0"/>
                <a:ea typeface="Arial" pitchFamily="34" charset="-122"/>
                <a:cs typeface="Arial" pitchFamily="34" charset="-120"/>
              </a:rPr>
              <a:t>OWNERSHIP</a:t>
            </a:r>
            <a:endParaRPr lang="en-US" sz="1200" dirty="0"/>
          </a:p>
        </p:txBody>
      </p:sp>
      <p:sp>
        <p:nvSpPr>
          <p:cNvPr id="10" name="Text 7"/>
          <p:cNvSpPr/>
          <p:nvPr/>
        </p:nvSpPr>
        <p:spPr>
          <a:xfrm>
            <a:off x="4626864" y="3749040"/>
            <a:ext cx="3163824" cy="566928"/>
          </a:xfrm>
          <a:prstGeom prst="rect">
            <a:avLst/>
          </a:prstGeom>
          <a:noFill/>
          <a:ln/>
        </p:spPr>
        <p:txBody>
          <a:bodyPr wrap="square" lIns="0" tIns="0" rIns="0" bIns="0" rtlCol="0" anchor="ctr">
            <a:normAutofit fontScale="92500"/>
          </a:bodyPr>
          <a:lstStyle/>
          <a:p>
            <a:pPr marL="0" indent="0">
              <a:buNone/>
            </a:pPr>
            <a:r>
              <a:rPr lang="en-US" sz="1800" b="1" dirty="0">
                <a:solidFill>
                  <a:srgbClr val="FFFFFF"/>
                </a:solidFill>
                <a:latin typeface="Arial" pitchFamily="34" charset="0"/>
                <a:ea typeface="Arial" pitchFamily="34" charset="-122"/>
                <a:cs typeface="Arial" pitchFamily="34" charset="-120"/>
              </a:rPr>
              <a:t>SanDisk service + brand;</a:t>
            </a:r>
            <a:endParaRPr lang="en-US" sz="1800" dirty="0"/>
          </a:p>
          <a:p>
            <a:pPr marL="0" indent="0">
              <a:buNone/>
            </a:pPr>
            <a:r>
              <a:rPr lang="en-US" sz="1800" b="1" dirty="0">
                <a:solidFill>
                  <a:srgbClr val="FFFFFF"/>
                </a:solidFill>
                <a:latin typeface="Arial" pitchFamily="34" charset="0"/>
                <a:ea typeface="Arial" pitchFamily="34" charset="-122"/>
                <a:cs typeface="Arial" pitchFamily="34" charset="-120"/>
              </a:rPr>
              <a:t>NPU partner + OEM contracts.</a:t>
            </a:r>
            <a:endParaRPr lang="en-US" sz="1800" dirty="0"/>
          </a:p>
        </p:txBody>
      </p:sp>
      <p:sp>
        <p:nvSpPr>
          <p:cNvPr id="11" name="Shape 8"/>
          <p:cNvSpPr/>
          <p:nvPr/>
        </p:nvSpPr>
        <p:spPr>
          <a:xfrm>
            <a:off x="8266176" y="3127248"/>
            <a:ext cx="3493008" cy="1444752"/>
          </a:xfrm>
          <a:prstGeom prst="rect">
            <a:avLst/>
          </a:prstGeom>
          <a:solidFill>
            <a:srgbClr val="2C2025"/>
          </a:solidFill>
          <a:ln w="8255">
            <a:solidFill>
              <a:srgbClr val="2C2025"/>
            </a:solidFill>
            <a:prstDash val="solid"/>
          </a:ln>
        </p:spPr>
        <p:txBody>
          <a:bodyPr/>
          <a:lstStyle/>
          <a:p>
            <a:endParaRPr lang="en-US"/>
          </a:p>
        </p:txBody>
      </p:sp>
      <p:sp>
        <p:nvSpPr>
          <p:cNvPr id="12" name="Text 9"/>
          <p:cNvSpPr/>
          <p:nvPr/>
        </p:nvSpPr>
        <p:spPr>
          <a:xfrm>
            <a:off x="8430768" y="3300984"/>
            <a:ext cx="3163824" cy="274320"/>
          </a:xfrm>
          <a:prstGeom prst="rect">
            <a:avLst/>
          </a:prstGeom>
          <a:noFill/>
          <a:ln/>
        </p:spPr>
        <p:txBody>
          <a:bodyPr wrap="square" lIns="0" tIns="0" rIns="0" bIns="0" rtlCol="0" anchor="ctr">
            <a:normAutofit/>
          </a:bodyPr>
          <a:lstStyle/>
          <a:p>
            <a:pPr marL="0" indent="0">
              <a:buNone/>
            </a:pPr>
            <a:r>
              <a:rPr lang="en-US" sz="1200" b="1" dirty="0">
                <a:solidFill>
                  <a:srgbClr val="F0A3B0"/>
                </a:solidFill>
                <a:latin typeface="Arial" pitchFamily="34" charset="0"/>
                <a:ea typeface="Arial" pitchFamily="34" charset="-122"/>
                <a:cs typeface="Arial" pitchFamily="34" charset="-120"/>
              </a:rPr>
              <a:t>PROOF</a:t>
            </a:r>
            <a:endParaRPr lang="en-US" sz="1200" dirty="0"/>
          </a:p>
        </p:txBody>
      </p:sp>
      <p:sp>
        <p:nvSpPr>
          <p:cNvPr id="13" name="Text 10"/>
          <p:cNvSpPr/>
          <p:nvPr/>
        </p:nvSpPr>
        <p:spPr>
          <a:xfrm>
            <a:off x="8430768" y="3749040"/>
            <a:ext cx="3163824" cy="566928"/>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Arial" pitchFamily="34" charset="0"/>
                <a:ea typeface="Arial" pitchFamily="34" charset="-122"/>
                <a:cs typeface="Arial" pitchFamily="34" charset="-120"/>
              </a:rPr>
              <a:t>Quality, service, HA,</a:t>
            </a:r>
            <a:endParaRPr lang="en-US" sz="1800" dirty="0"/>
          </a:p>
          <a:p>
            <a:pPr marL="0" indent="0">
              <a:buNone/>
            </a:pPr>
            <a:r>
              <a:rPr lang="en-US" sz="1800" b="1" dirty="0">
                <a:solidFill>
                  <a:srgbClr val="FFFFFF"/>
                </a:solidFill>
                <a:latin typeface="Arial" pitchFamily="34" charset="0"/>
                <a:ea typeface="Arial" pitchFamily="34" charset="-122"/>
                <a:cs typeface="Arial" pitchFamily="34" charset="-120"/>
              </a:rPr>
              <a:t>security and full-cost gates.</a:t>
            </a:r>
            <a:endParaRPr lang="en-US" sz="1800" dirty="0"/>
          </a:p>
        </p:txBody>
      </p:sp>
      <p:sp>
        <p:nvSpPr>
          <p:cNvPr id="14" name="Text 11"/>
          <p:cNvSpPr/>
          <p:nvPr/>
        </p:nvSpPr>
        <p:spPr>
          <a:xfrm>
            <a:off x="676656" y="5148072"/>
            <a:ext cx="10844784" cy="749808"/>
          </a:xfrm>
          <a:prstGeom prst="rect">
            <a:avLst/>
          </a:prstGeom>
          <a:noFill/>
          <a:ln/>
        </p:spPr>
        <p:txBody>
          <a:bodyPr wrap="square" lIns="0" tIns="0" rIns="0" bIns="0" rtlCol="0" anchor="ctr">
            <a:normAutofit/>
          </a:bodyPr>
          <a:lstStyle/>
          <a:p>
            <a:pPr marL="0" indent="0">
              <a:buNone/>
            </a:pPr>
            <a:r>
              <a:rPr lang="en-US" sz="2200" dirty="0">
                <a:solidFill>
                  <a:srgbClr val="FFFFFF"/>
                </a:solidFill>
                <a:latin typeface="Arial" pitchFamily="34" charset="0"/>
                <a:ea typeface="Arial" pitchFamily="34" charset="-122"/>
                <a:cs typeface="Arial" pitchFamily="34" charset="-120"/>
              </a:rPr>
              <a:t>Stop or narrow when the matched CPU/GPU control wins,</a:t>
            </a:r>
            <a:endParaRPr lang="en-US" sz="2200" dirty="0"/>
          </a:p>
          <a:p>
            <a:pPr marL="0" indent="0">
              <a:buNone/>
            </a:pPr>
            <a:r>
              <a:rPr lang="en-US" sz="2200" dirty="0">
                <a:solidFill>
                  <a:srgbClr val="FFFFFF"/>
                </a:solidFill>
                <a:latin typeface="Arial" pitchFamily="34" charset="0"/>
                <a:ea typeface="Arial" pitchFamily="34" charset="-122"/>
                <a:cs typeface="Arial" pitchFamily="34" charset="-120"/>
              </a:rPr>
              <a:t>the native runtime fails, or the service cannot be supported.</a:t>
            </a:r>
            <a:endParaRPr lang="en-US" sz="2200" dirty="0"/>
          </a:p>
        </p:txBody>
      </p:sp>
      <p:sp>
        <p:nvSpPr>
          <p:cNvPr id="15" name="Text 12"/>
          <p:cNvSpPr/>
          <p:nvPr/>
        </p:nvSpPr>
        <p:spPr>
          <a:xfrm>
            <a:off x="676656" y="6400800"/>
            <a:ext cx="10515600" cy="237744"/>
          </a:xfrm>
          <a:prstGeom prst="rect">
            <a:avLst/>
          </a:prstGeom>
          <a:noFill/>
          <a:ln/>
        </p:spPr>
        <p:txBody>
          <a:bodyPr wrap="square" lIns="0" tIns="0" rIns="0" bIns="0" rtlCol="0" anchor="ctr">
            <a:normAutofit/>
          </a:bodyPr>
          <a:lstStyle/>
          <a:p>
            <a:pPr marL="0" indent="0">
              <a:buNone/>
            </a:pPr>
            <a:r>
              <a:rPr lang="en-US" sz="1100" dirty="0">
                <a:solidFill>
                  <a:srgbClr val="DCC4CA"/>
                </a:solidFill>
                <a:latin typeface="Arial" pitchFamily="34" charset="0"/>
                <a:ea typeface="Arial" pitchFamily="34" charset="-122"/>
                <a:cs typeface="Arial" pitchFamily="34" charset="-120"/>
              </a:rPr>
              <a:t>Technical and competitive backup follows  •  Complete PRD linked throughout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Desktop and compact networked AI</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17</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txBody>
          <a:bodyPr/>
          <a:lstStyle/>
          <a:p>
            <a:endParaRPr lang="en-US"/>
          </a:p>
        </p:txBody>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txBody>
          <a:bodyPr/>
          <a:lstStyle/>
          <a:p>
            <a:endParaRPr lang="en-US"/>
          </a:p>
        </p:txBody>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txBody>
          <a:bodyPr/>
          <a:lstStyle/>
          <a:p>
            <a:endParaRPr lang="en-US"/>
          </a:p>
        </p:txBody>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txBody>
          <a:bodyPr/>
          <a:lstStyle/>
          <a:p>
            <a:endParaRPr lang="en-US"/>
          </a:p>
        </p:txBody>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txBody>
          <a:bodyPr/>
          <a:lstStyle/>
          <a:p>
            <a:endParaRPr lang="en-US"/>
          </a:p>
        </p:txBody>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DGX Spark / GB10</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txBody>
          <a:bodyPr/>
          <a:lstStyle/>
          <a:p>
            <a:endParaRPr lang="en-US"/>
          </a:p>
        </p:txBody>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128GB unified; 273GB/s reference</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txBody>
          <a:bodyPr/>
          <a:lstStyle/>
          <a:p>
            <a:endParaRPr lang="en-US"/>
          </a:p>
        </p:txBody>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Historical MSRP $4,699 (Feb 2026); current quote needed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txBody>
          <a:bodyPr/>
          <a:lstStyle/>
          <a:p>
            <a:endParaRPr lang="en-US"/>
          </a:p>
        </p:txBody>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W4 must win a measured larger-catalog/knowledge workload, not a feature checklist</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txBody>
          <a:bodyPr/>
          <a:lstStyle/>
          <a:p>
            <a:endParaRPr lang="en-US"/>
          </a:p>
        </p:txBody>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txBody>
          <a:bodyPr/>
          <a:lstStyle/>
          <a:p>
            <a:endParaRPr lang="en-US"/>
          </a:p>
        </p:txBody>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Dell Pro Max GB10</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txBody>
          <a:bodyPr/>
          <a:lstStyle/>
          <a:p>
            <a:endParaRPr lang="en-US"/>
          </a:p>
        </p:txBody>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128GB LPDDR5X; selected 4TB SSD</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txBody>
          <a:bodyPr/>
          <a:lstStyle/>
          <a:p>
            <a:endParaRPr lang="en-US"/>
          </a:p>
        </p:txBody>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Observed $9,007 configured US listing</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txBody>
          <a:bodyPr/>
          <a:lstStyle/>
          <a:p>
            <a:endParaRPr lang="en-US"/>
          </a:p>
        </p:txBody>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Do not compare a $23k W4 budget as cheaper than this system</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txBody>
          <a:bodyPr/>
          <a:lstStyle/>
          <a:p>
            <a:endParaRPr lang="en-US"/>
          </a:p>
        </p:txBody>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txBody>
          <a:bodyPr/>
          <a:lstStyle/>
          <a:p>
            <a:endParaRPr lang="en-US"/>
          </a:p>
        </p:txBody>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RTX PRO workstation</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txBody>
          <a:bodyPr/>
          <a:lstStyle/>
          <a:p>
            <a:endParaRPr lang="en-US"/>
          </a:p>
        </p:txBody>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96GB GDDR7 per RTX PRO 6000</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txBody>
          <a:bodyPr/>
          <a:lstStyle/>
          <a:p>
            <a:endParaRPr lang="en-US"/>
          </a:p>
        </p:txBody>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Complete system: quote required</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txBody>
          <a:bodyPr/>
          <a:lstStyle/>
          <a:p>
            <a:endParaRPr lang="en-US"/>
          </a:p>
        </p:txBody>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ATMOS is not a rendering/training replacement</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txBody>
          <a:bodyPr/>
          <a:lstStyle/>
          <a:p>
            <a:endParaRPr lang="en-US"/>
          </a:p>
        </p:txBody>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txBody>
          <a:bodyPr/>
          <a:lstStyle/>
          <a:p>
            <a:endParaRPr lang="en-US"/>
          </a:p>
        </p:txBody>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DGX Station / GB300</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txBody>
          <a:bodyPr/>
          <a:lstStyle/>
          <a:p>
            <a:endParaRPr lang="en-US"/>
          </a:p>
        </p:txBody>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252GB HBM + 496GB CPU memory</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txBody>
          <a:bodyPr/>
          <a:lstStyle/>
          <a:p>
            <a:endParaRPr lang="en-US"/>
          </a:p>
        </p:txBody>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Exxact Essential $96,250 observed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txBody>
          <a:bodyPr/>
          <a:lstStyle/>
          <a:p>
            <a:endParaRPr lang="en-US"/>
          </a:p>
        </p:txBody>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Distributed HBF is not coherent HBM; match model and concurrency</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txBody>
          <a:bodyPr/>
          <a:lstStyle/>
          <a:p>
            <a:endParaRPr lang="en-US"/>
          </a:p>
        </p:txBody>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txBody>
          <a:bodyPr/>
          <a:lstStyle/>
          <a:p>
            <a:endParaRPr lang="en-US"/>
          </a:p>
        </p:txBody>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Mac Studio M3 Ultra</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txBody>
          <a:bodyPr/>
          <a:lstStyle/>
          <a:p>
            <a:endParaRPr lang="en-US"/>
          </a:p>
        </p:txBody>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Up to 512GB unified (2025 reference)</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txBody>
          <a:bodyPr/>
          <a:lstStyle/>
          <a:p>
            <a:endParaRPr lang="en-US"/>
          </a:p>
        </p:txBody>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Exact current configuration: 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txBody>
          <a:bodyPr/>
          <a:lstStyle/>
          <a:p>
            <a:endParaRPr lang="en-US"/>
          </a:p>
        </p:txBody>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Include as a local-model control; not a Linux enterprise HA appliance</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Turnkey enterprise platforms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18</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txBody>
          <a:bodyPr/>
          <a:lstStyle/>
          <a:p>
            <a:endParaRPr lang="en-US"/>
          </a:p>
        </p:txBody>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txBody>
          <a:bodyPr/>
          <a:lstStyle/>
          <a:p>
            <a:endParaRPr lang="en-US"/>
          </a:p>
        </p:txBody>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txBody>
          <a:bodyPr/>
          <a:lstStyle/>
          <a:p>
            <a:endParaRPr lang="en-US"/>
          </a:p>
        </p:txBody>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txBody>
          <a:bodyPr/>
          <a:lstStyle/>
          <a:p>
            <a:endParaRPr lang="en-US"/>
          </a:p>
        </p:txBody>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txBody>
          <a:bodyPr/>
          <a:lstStyle/>
          <a:p>
            <a:endParaRPr lang="en-US"/>
          </a:p>
        </p:txBody>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HPE Private Cloud AI Developer</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txBody>
          <a:bodyPr/>
          <a:lstStyle/>
          <a:p>
            <a:endParaRPr lang="en-US"/>
          </a:p>
        </p:txBody>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Integrated control node; 32TB storage</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txBody>
          <a:bodyPr/>
          <a:lstStyle/>
          <a:p>
            <a:endParaRPr lang="en-US"/>
          </a:p>
        </p:txBody>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txBody>
          <a:bodyPr/>
          <a:lstStyle/>
          <a:p>
            <a:endParaRPr lang="en-US"/>
          </a:p>
        </p:txBody>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Turnkey is table stakes, not an ATMOS-exclusive gap</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txBody>
          <a:bodyPr/>
          <a:lstStyle/>
          <a:p>
            <a:endParaRPr lang="en-US"/>
          </a:p>
        </p:txBody>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txBody>
          <a:bodyPr/>
          <a:lstStyle/>
          <a:p>
            <a:endParaRPr lang="en-US"/>
          </a:p>
        </p:txBody>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HPE Private Cloud AI</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txBody>
          <a:bodyPr/>
          <a:lstStyle/>
          <a:p>
            <a:endParaRPr lang="en-US"/>
          </a:p>
        </p:txBody>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NVIDIA GPU / storage configuration dependent</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txBody>
          <a:bodyPr/>
          <a:lstStyle/>
          <a:p>
            <a:endParaRPr lang="en-US"/>
          </a:p>
        </p:txBody>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txBody>
          <a:bodyPr/>
          <a:lstStyle/>
          <a:p>
            <a:endParaRPr lang="en-US"/>
          </a:p>
        </p:txBody>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Compare accepted service and support, not only device memory</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txBody>
          <a:bodyPr/>
          <a:lstStyle/>
          <a:p>
            <a:endParaRPr lang="en-US"/>
          </a:p>
        </p:txBody>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txBody>
          <a:bodyPr/>
          <a:lstStyle/>
          <a:p>
            <a:endParaRPr lang="en-US"/>
          </a:p>
        </p:txBody>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Nutanix GPT-in-a-Box / NAI</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txBody>
          <a:bodyPr/>
          <a:lstStyle/>
          <a:p>
            <a:endParaRPr lang="en-US"/>
          </a:p>
        </p:txBody>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Supported compute + Kubernetes + storage</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txBody>
          <a:bodyPr/>
          <a:lstStyle/>
          <a:p>
            <a:endParaRPr lang="en-US"/>
          </a:p>
        </p:txBody>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txBody>
          <a:bodyPr/>
          <a:lstStyle/>
          <a:p>
            <a:endParaRPr lang="en-US"/>
          </a:p>
        </p:txBody>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Alternative complete platform; may be integration partner or competitor</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txBody>
          <a:bodyPr/>
          <a:lstStyle/>
          <a:p>
            <a:endParaRPr lang="en-US"/>
          </a:p>
        </p:txBody>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txBody>
          <a:bodyPr/>
          <a:lstStyle/>
          <a:p>
            <a:endParaRPr lang="en-US"/>
          </a:p>
        </p:txBody>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AMD Enterprise AI + OEM server</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txBody>
          <a:bodyPr/>
          <a:lstStyle/>
          <a:p>
            <a:endParaRPr lang="en-US"/>
          </a:p>
        </p:txBody>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MI350X: 288GB HBM3E/GPU; 8TB/s</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txBody>
          <a:bodyPr/>
          <a:lstStyle/>
          <a:p>
            <a:endParaRPr lang="en-US"/>
          </a:p>
        </p:txBody>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txBody>
          <a:bodyPr/>
          <a:lstStyle/>
          <a:p>
            <a:endParaRPr lang="en-US"/>
          </a:p>
        </p:txBody>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Openness alone does not differentiate ATMOS</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txBody>
          <a:bodyPr/>
          <a:lstStyle/>
          <a:p>
            <a:endParaRPr lang="en-US"/>
          </a:p>
        </p:txBody>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txBody>
          <a:bodyPr/>
          <a:lstStyle/>
          <a:p>
            <a:endParaRPr lang="en-US"/>
          </a:p>
        </p:txBody>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Lenovo inference / RTX PRO server</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txBody>
          <a:bodyPr/>
          <a:lstStyle/>
          <a:p>
            <a:endParaRPr lang="en-US"/>
          </a:p>
        </p:txBody>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SR675 V3 reference: 8 × 96GB; 1.5TB host DRAM</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txBody>
          <a:bodyPr/>
          <a:lstStyle/>
          <a:p>
            <a:endParaRPr lang="en-US"/>
          </a:p>
        </p:txBody>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txBody>
          <a:bodyPr/>
          <a:lstStyle/>
          <a:p>
            <a:endParaRPr lang="en-US"/>
          </a:p>
        </p:txBody>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Match supported application envelope and removable spend</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Specialized accelerators and edge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19</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txBody>
          <a:bodyPr/>
          <a:lstStyle/>
          <a:p>
            <a:endParaRPr lang="en-US"/>
          </a:p>
        </p:txBody>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txBody>
          <a:bodyPr/>
          <a:lstStyle/>
          <a:p>
            <a:endParaRPr lang="en-US"/>
          </a:p>
        </p:txBody>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txBody>
          <a:bodyPr/>
          <a:lstStyle/>
          <a:p>
            <a:endParaRPr lang="en-US"/>
          </a:p>
        </p:txBody>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txBody>
          <a:bodyPr/>
          <a:lstStyle/>
          <a:p>
            <a:endParaRPr lang="en-US"/>
          </a:p>
        </p:txBody>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txBody>
          <a:bodyPr/>
          <a:lstStyle/>
          <a:p>
            <a:endParaRPr lang="en-US"/>
          </a:p>
        </p:txBody>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SambaNova DataScale / SambaManaged</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txBody>
          <a:bodyPr/>
          <a:lstStyle/>
          <a:p>
            <a:endParaRPr lang="en-US"/>
          </a:p>
        </p:txBody>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SN40L system-dependent memory tiers</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txBody>
          <a:bodyPr/>
          <a:lstStyle/>
          <a:p>
            <a:endParaRPr lang="en-US"/>
          </a:p>
        </p:txBody>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txBody>
          <a:bodyPr/>
          <a:lstStyle/>
          <a:p>
            <a:endParaRPr lang="en-US"/>
          </a:p>
        </p:txBody>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Native non-GPU inference is already a competitive category</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txBody>
          <a:bodyPr/>
          <a:lstStyle/>
          <a:p>
            <a:endParaRPr lang="en-US"/>
          </a:p>
        </p:txBody>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txBody>
          <a:bodyPr/>
          <a:lstStyle/>
          <a:p>
            <a:endParaRPr lang="en-US"/>
          </a:p>
        </p:txBody>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Cerebras CS-3</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txBody>
          <a:bodyPr/>
          <a:lstStyle/>
          <a:p>
            <a:endParaRPr lang="en-US"/>
          </a:p>
        </p:txBody>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WSE-3: 44GB on-chip SRAM; external memory architecture</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txBody>
          <a:bodyPr/>
          <a:lstStyle/>
          <a:p>
            <a:endParaRPr lang="en-US"/>
          </a:p>
        </p:txBody>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txBody>
          <a:bodyPr/>
          <a:lstStyle/>
          <a:p>
            <a:endParaRPr lang="en-US"/>
          </a:p>
        </p:txBody>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Not a direct workstation form-factor substitute</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txBody>
          <a:bodyPr/>
          <a:lstStyle/>
          <a:p>
            <a:endParaRPr lang="en-US"/>
          </a:p>
        </p:txBody>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txBody>
          <a:bodyPr/>
          <a:lstStyle/>
          <a:p>
            <a:endParaRPr lang="en-US"/>
          </a:p>
        </p:txBody>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GroqRack / current Groq platform</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txBody>
          <a:bodyPr/>
          <a:lstStyle/>
          <a:p>
            <a:endParaRPr lang="en-US"/>
          </a:p>
        </p:txBody>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LPU-generation and offering dependent</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txBody>
          <a:bodyPr/>
          <a:lstStyle/>
          <a:p>
            <a:endParaRPr lang="en-US"/>
          </a:p>
        </p:txBody>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 availability confirmation</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txBody>
          <a:bodyPr/>
          <a:lstStyle/>
          <a:p>
            <a:endParaRPr lang="en-US"/>
          </a:p>
        </p:txBody>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Do not position ATMOS for universal token-latency leadership</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txBody>
          <a:bodyPr/>
          <a:lstStyle/>
          <a:p>
            <a:endParaRPr lang="en-US"/>
          </a:p>
        </p:txBody>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txBody>
          <a:bodyPr/>
          <a:lstStyle/>
          <a:p>
            <a:endParaRPr lang="en-US"/>
          </a:p>
        </p:txBody>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d-Matrix Corsair</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txBody>
          <a:bodyPr/>
          <a:lstStyle/>
          <a:p>
            <a:endParaRPr lang="en-US"/>
          </a:p>
        </p:txBody>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2GB performance + up to 256GB capacity memory/card</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txBody>
          <a:bodyPr/>
          <a:lstStyle/>
          <a:p>
            <a:endParaRPr lang="en-US"/>
          </a:p>
        </p:txBody>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txBody>
          <a:bodyPr/>
          <a:lstStyle/>
          <a:p>
            <a:endParaRPr lang="en-US"/>
          </a:p>
        </p:txBody>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Near-data/memory-centric compute is not unique to ATMOS</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txBody>
          <a:bodyPr/>
          <a:lstStyle/>
          <a:p>
            <a:endParaRPr lang="en-US"/>
          </a:p>
        </p:txBody>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txBody>
          <a:bodyPr/>
          <a:lstStyle/>
          <a:p>
            <a:endParaRPr lang="en-US"/>
          </a:p>
        </p:txBody>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marL="0" indent="0">
              <a:buNone/>
            </a:pPr>
            <a:r>
              <a:rPr lang="en-US" sz="1230" b="1" dirty="0">
                <a:solidFill>
                  <a:srgbClr val="18191D"/>
                </a:solidFill>
                <a:latin typeface="Arial" pitchFamily="34" charset="0"/>
                <a:ea typeface="Arial" pitchFamily="34" charset="-122"/>
                <a:cs typeface="Arial" pitchFamily="34" charset="-120"/>
              </a:rPr>
              <a:t>IGX Thor</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txBody>
          <a:bodyPr/>
          <a:lstStyle/>
          <a:p>
            <a:endParaRPr lang="en-US"/>
          </a:p>
        </p:txBody>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128GB LPDDR5X; optional discrete GPU</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txBody>
          <a:bodyPr/>
          <a:lstStyle/>
          <a:p>
            <a:endParaRPr lang="en-US"/>
          </a:p>
        </p:txBody>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txBody>
          <a:bodyPr/>
          <a:lstStyle/>
          <a:p>
            <a:endParaRPr lang="en-US"/>
          </a:p>
        </p:txBody>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marL="0" indent="0">
              <a:buNone/>
            </a:pPr>
            <a:r>
              <a:rPr lang="en-US" sz="1230" dirty="0">
                <a:solidFill>
                  <a:srgbClr val="18191D"/>
                </a:solidFill>
                <a:latin typeface="Arial" pitchFamily="34" charset="0"/>
                <a:ea typeface="Arial" pitchFamily="34" charset="-122"/>
                <a:cs typeface="Arial" pitchFamily="34" charset="-120"/>
              </a:rPr>
              <a:t>ATMOS knowledge backend can complement, not replace control</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TOPOLOGY</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A four-device domain is a locality boundary—not coherent memory.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Preferred local allocation unit from the PRD; every actual model/score path still requires qualification.</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20</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[S38]</a:t>
            </a:r>
            <a:endParaRPr lang="en-US" sz="820" dirty="0"/>
          </a:p>
        </p:txBody>
      </p:sp>
      <p:sp>
        <p:nvSpPr>
          <p:cNvPr id="12" name="Shape 10"/>
          <p:cNvSpPr/>
          <p:nvPr/>
        </p:nvSpPr>
        <p:spPr>
          <a:xfrm>
            <a:off x="685800" y="2103120"/>
            <a:ext cx="2852928" cy="960120"/>
          </a:xfrm>
          <a:prstGeom prst="rect">
            <a:avLst/>
          </a:prstGeom>
          <a:solidFill>
            <a:srgbClr val="18191D"/>
          </a:solidFill>
          <a:ln w="8255">
            <a:solidFill>
              <a:srgbClr val="18191D"/>
            </a:solidFill>
            <a:prstDash val="solid"/>
          </a:ln>
        </p:spPr>
        <p:txBody>
          <a:bodyPr/>
          <a:lstStyle/>
          <a:p>
            <a:endParaRPr lang="en-US"/>
          </a:p>
        </p:txBody>
      </p:sp>
      <p:sp>
        <p:nvSpPr>
          <p:cNvPr id="13" name="Text 11"/>
          <p:cNvSpPr/>
          <p:nvPr/>
        </p:nvSpPr>
        <p:spPr>
          <a:xfrm>
            <a:off x="804672" y="2212848"/>
            <a:ext cx="2615184" cy="301752"/>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rial" pitchFamily="34" charset="0"/>
                <a:ea typeface="Arial" pitchFamily="34" charset="-122"/>
                <a:cs typeface="Arial" pitchFamily="34" charset="-120"/>
              </a:rPr>
              <a:t>CPU / NUMA ROOT</a:t>
            </a:r>
            <a:endParaRPr lang="en-US" sz="1400" dirty="0"/>
          </a:p>
        </p:txBody>
      </p:sp>
      <p:sp>
        <p:nvSpPr>
          <p:cNvPr id="14" name="Text 12"/>
          <p:cNvSpPr/>
          <p:nvPr/>
        </p:nvSpPr>
        <p:spPr>
          <a:xfrm>
            <a:off x="804672" y="2587752"/>
            <a:ext cx="2615184" cy="384048"/>
          </a:xfrm>
          <a:prstGeom prst="rect">
            <a:avLst/>
          </a:prstGeom>
          <a:noFill/>
          <a:ln/>
        </p:spPr>
        <p:txBody>
          <a:bodyPr wrap="square" lIns="0" tIns="0" rIns="0" bIns="0" rtlCol="0" anchor="t">
            <a:normAutofit/>
          </a:bodyPr>
          <a:lstStyle/>
          <a:p>
            <a:pPr marL="0" indent="0">
              <a:buNone/>
            </a:pPr>
            <a:r>
              <a:rPr lang="en-US" sz="1230" dirty="0">
                <a:solidFill>
                  <a:srgbClr val="DDE0E5"/>
                </a:solidFill>
                <a:latin typeface="Arial" pitchFamily="34" charset="0"/>
                <a:ea typeface="Arial" pitchFamily="34" charset="-122"/>
                <a:cs typeface="Arial" pitchFamily="34" charset="-120"/>
              </a:rPr>
              <a:t>Pinned host buffers, metadata, indexes and service control</a:t>
            </a:r>
            <a:endParaRPr lang="en-US" sz="1230" dirty="0"/>
          </a:p>
        </p:txBody>
      </p:sp>
      <p:sp>
        <p:nvSpPr>
          <p:cNvPr id="15" name="Shape 13"/>
          <p:cNvSpPr/>
          <p:nvPr/>
        </p:nvSpPr>
        <p:spPr>
          <a:xfrm>
            <a:off x="4242816" y="2103120"/>
            <a:ext cx="3246120" cy="960120"/>
          </a:xfrm>
          <a:prstGeom prst="rect">
            <a:avLst/>
          </a:prstGeom>
          <a:solidFill>
            <a:srgbClr val="E31837"/>
          </a:solidFill>
          <a:ln w="8255">
            <a:solidFill>
              <a:srgbClr val="E31837"/>
            </a:solidFill>
            <a:prstDash val="solid"/>
          </a:ln>
        </p:spPr>
        <p:txBody>
          <a:bodyPr/>
          <a:lstStyle/>
          <a:p>
            <a:endParaRPr lang="en-US"/>
          </a:p>
        </p:txBody>
      </p:sp>
      <p:sp>
        <p:nvSpPr>
          <p:cNvPr id="16" name="Text 14"/>
          <p:cNvSpPr/>
          <p:nvPr/>
        </p:nvSpPr>
        <p:spPr>
          <a:xfrm>
            <a:off x="4361688" y="2212848"/>
            <a:ext cx="3008376" cy="301752"/>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GEN5 SWITCH DOMAIN</a:t>
            </a:r>
            <a:endParaRPr lang="en-US" sz="1400" dirty="0"/>
          </a:p>
        </p:txBody>
      </p:sp>
      <p:sp>
        <p:nvSpPr>
          <p:cNvPr id="17" name="Text 15"/>
          <p:cNvSpPr/>
          <p:nvPr/>
        </p:nvSpPr>
        <p:spPr>
          <a:xfrm>
            <a:off x="4361688" y="2587752"/>
            <a:ext cx="3008376" cy="384048"/>
          </a:xfrm>
          <a:prstGeom prst="rect">
            <a:avLst/>
          </a:prstGeom>
          <a:noFill/>
          <a:ln/>
        </p:spPr>
        <p:txBody>
          <a:bodyPr wrap="square" lIns="0" tIns="0" rIns="0" bIns="0" rtlCol="0" anchor="t">
            <a:normAutofit/>
          </a:bodyPr>
          <a:lstStyle/>
          <a:p>
            <a:pPr marL="0" indent="0">
              <a:buNone/>
            </a:pPr>
            <a:r>
              <a:rPr lang="en-US" sz="1230" dirty="0">
                <a:solidFill>
                  <a:srgbClr val="5B6169"/>
                </a:solidFill>
                <a:latin typeface="Arial" pitchFamily="34" charset="0"/>
                <a:ea typeface="Arial" pitchFamily="34" charset="-122"/>
                <a:cs typeface="Arial" pitchFamily="34" charset="-120"/>
              </a:rPr>
              <a:t>x16 upstream → 4 × x4 endpoints</a:t>
            </a:r>
            <a:endParaRPr lang="en-US" sz="1230" dirty="0"/>
          </a:p>
        </p:txBody>
      </p:sp>
      <p:sp>
        <p:nvSpPr>
          <p:cNvPr id="18" name="Shape 16"/>
          <p:cNvSpPr/>
          <p:nvPr/>
        </p:nvSpPr>
        <p:spPr>
          <a:xfrm>
            <a:off x="3538728" y="2578608"/>
            <a:ext cx="704088" cy="0"/>
          </a:xfrm>
          <a:prstGeom prst="line">
            <a:avLst/>
          </a:prstGeom>
          <a:noFill/>
          <a:ln w="25400">
            <a:solidFill>
              <a:srgbClr val="E31837"/>
            </a:solidFill>
            <a:prstDash val="solid"/>
            <a:tailEnd type="triangle"/>
          </a:ln>
        </p:spPr>
        <p:txBody>
          <a:bodyPr/>
          <a:lstStyle/>
          <a:p>
            <a:endParaRPr lang="en-US"/>
          </a:p>
        </p:txBody>
      </p:sp>
      <p:sp>
        <p:nvSpPr>
          <p:cNvPr id="19" name="Shape 17"/>
          <p:cNvSpPr/>
          <p:nvPr/>
        </p:nvSpPr>
        <p:spPr>
          <a:xfrm>
            <a:off x="5852160" y="3063240"/>
            <a:ext cx="0" cy="630936"/>
          </a:xfrm>
          <a:prstGeom prst="line">
            <a:avLst/>
          </a:prstGeom>
          <a:noFill/>
          <a:ln w="15240">
            <a:solidFill>
              <a:srgbClr val="5B6169"/>
            </a:solidFill>
            <a:prstDash val="solid"/>
            <a:tailEnd type="triangle"/>
          </a:ln>
        </p:spPr>
        <p:txBody>
          <a:bodyPr/>
          <a:lstStyle/>
          <a:p>
            <a:endParaRPr lang="en-US"/>
          </a:p>
        </p:txBody>
      </p:sp>
      <p:sp>
        <p:nvSpPr>
          <p:cNvPr id="20" name="Shape 18"/>
          <p:cNvSpPr/>
          <p:nvPr/>
        </p:nvSpPr>
        <p:spPr>
          <a:xfrm>
            <a:off x="685800" y="3730752"/>
            <a:ext cx="2578608" cy="932688"/>
          </a:xfrm>
          <a:prstGeom prst="rect">
            <a:avLst/>
          </a:prstGeom>
          <a:solidFill>
            <a:srgbClr val="F3F4F6"/>
          </a:solidFill>
          <a:ln w="8255">
            <a:solidFill>
              <a:srgbClr val="F3F4F6"/>
            </a:solidFill>
            <a:prstDash val="solid"/>
          </a:ln>
        </p:spPr>
        <p:txBody>
          <a:bodyPr/>
          <a:lstStyle/>
          <a:p>
            <a:endParaRPr lang="en-US"/>
          </a:p>
        </p:txBody>
      </p:sp>
      <p:sp>
        <p:nvSpPr>
          <p:cNvPr id="21" name="Text 19"/>
          <p:cNvSpPr/>
          <p:nvPr/>
        </p:nvSpPr>
        <p:spPr>
          <a:xfrm>
            <a:off x="813816" y="3849624"/>
            <a:ext cx="228600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E31837"/>
                </a:solidFill>
                <a:latin typeface="Arial" pitchFamily="34" charset="0"/>
                <a:ea typeface="Arial" pitchFamily="34" charset="-122"/>
                <a:cs typeface="Arial" pitchFamily="34" charset="-120"/>
              </a:rPr>
              <a:t>ATMOS 0</a:t>
            </a:r>
            <a:endParaRPr lang="en-US" sz="1700" dirty="0"/>
          </a:p>
        </p:txBody>
      </p:sp>
      <p:sp>
        <p:nvSpPr>
          <p:cNvPr id="22" name="Text 20"/>
          <p:cNvSpPr/>
          <p:nvPr/>
        </p:nvSpPr>
        <p:spPr>
          <a:xfrm>
            <a:off x="813816" y="4251960"/>
            <a:ext cx="2286000" cy="246888"/>
          </a:xfrm>
          <a:prstGeom prst="rect">
            <a:avLst/>
          </a:prstGeom>
          <a:noFill/>
          <a:ln/>
        </p:spPr>
        <p:txBody>
          <a:bodyPr wrap="square" lIns="0" tIns="0" rIns="0" bIns="0" rtlCol="0" anchor="ctr">
            <a:normAutofit/>
          </a:bodyPr>
          <a:lstStyle/>
          <a:p>
            <a:pPr marL="0" indent="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23" name="Shape 21"/>
          <p:cNvSpPr/>
          <p:nvPr/>
        </p:nvSpPr>
        <p:spPr>
          <a:xfrm>
            <a:off x="5852160" y="3063240"/>
            <a:ext cx="0" cy="630936"/>
          </a:xfrm>
          <a:prstGeom prst="line">
            <a:avLst/>
          </a:prstGeom>
          <a:noFill/>
          <a:ln w="15240">
            <a:solidFill>
              <a:srgbClr val="5B6169"/>
            </a:solidFill>
            <a:prstDash val="solid"/>
            <a:tailEnd type="triangle"/>
          </a:ln>
        </p:spPr>
        <p:txBody>
          <a:bodyPr/>
          <a:lstStyle/>
          <a:p>
            <a:endParaRPr lang="en-US"/>
          </a:p>
        </p:txBody>
      </p:sp>
      <p:sp>
        <p:nvSpPr>
          <p:cNvPr id="24" name="Shape 22"/>
          <p:cNvSpPr/>
          <p:nvPr/>
        </p:nvSpPr>
        <p:spPr>
          <a:xfrm>
            <a:off x="3538728" y="3730752"/>
            <a:ext cx="2578608" cy="932688"/>
          </a:xfrm>
          <a:prstGeom prst="rect">
            <a:avLst/>
          </a:prstGeom>
          <a:solidFill>
            <a:srgbClr val="F3F4F6"/>
          </a:solidFill>
          <a:ln w="8255">
            <a:solidFill>
              <a:srgbClr val="F3F4F6"/>
            </a:solidFill>
            <a:prstDash val="solid"/>
          </a:ln>
        </p:spPr>
        <p:txBody>
          <a:bodyPr/>
          <a:lstStyle/>
          <a:p>
            <a:endParaRPr lang="en-US"/>
          </a:p>
        </p:txBody>
      </p:sp>
      <p:sp>
        <p:nvSpPr>
          <p:cNvPr id="25" name="Text 23"/>
          <p:cNvSpPr/>
          <p:nvPr/>
        </p:nvSpPr>
        <p:spPr>
          <a:xfrm>
            <a:off x="3666744" y="3849624"/>
            <a:ext cx="228600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E31837"/>
                </a:solidFill>
                <a:latin typeface="Arial" pitchFamily="34" charset="0"/>
                <a:ea typeface="Arial" pitchFamily="34" charset="-122"/>
                <a:cs typeface="Arial" pitchFamily="34" charset="-120"/>
              </a:rPr>
              <a:t>ATMOS 1</a:t>
            </a:r>
            <a:endParaRPr lang="en-US" sz="1700" dirty="0"/>
          </a:p>
        </p:txBody>
      </p:sp>
      <p:sp>
        <p:nvSpPr>
          <p:cNvPr id="26" name="Text 24"/>
          <p:cNvSpPr/>
          <p:nvPr/>
        </p:nvSpPr>
        <p:spPr>
          <a:xfrm>
            <a:off x="3666744" y="4251960"/>
            <a:ext cx="2286000" cy="246888"/>
          </a:xfrm>
          <a:prstGeom prst="rect">
            <a:avLst/>
          </a:prstGeom>
          <a:noFill/>
          <a:ln/>
        </p:spPr>
        <p:txBody>
          <a:bodyPr wrap="square" lIns="0" tIns="0" rIns="0" bIns="0" rtlCol="0" anchor="ctr">
            <a:normAutofit/>
          </a:bodyPr>
          <a:lstStyle/>
          <a:p>
            <a:pPr marL="0" indent="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27" name="Shape 25"/>
          <p:cNvSpPr/>
          <p:nvPr/>
        </p:nvSpPr>
        <p:spPr>
          <a:xfrm>
            <a:off x="5852160" y="3063240"/>
            <a:ext cx="1728216" cy="630936"/>
          </a:xfrm>
          <a:prstGeom prst="line">
            <a:avLst/>
          </a:prstGeom>
          <a:noFill/>
          <a:ln w="15240">
            <a:solidFill>
              <a:srgbClr val="5B6169"/>
            </a:solidFill>
            <a:prstDash val="solid"/>
            <a:tailEnd type="triangle"/>
          </a:ln>
        </p:spPr>
        <p:txBody>
          <a:bodyPr/>
          <a:lstStyle/>
          <a:p>
            <a:endParaRPr lang="en-US"/>
          </a:p>
        </p:txBody>
      </p:sp>
      <p:sp>
        <p:nvSpPr>
          <p:cNvPr id="28" name="Shape 26"/>
          <p:cNvSpPr/>
          <p:nvPr/>
        </p:nvSpPr>
        <p:spPr>
          <a:xfrm>
            <a:off x="6391656" y="3730752"/>
            <a:ext cx="2578608" cy="932688"/>
          </a:xfrm>
          <a:prstGeom prst="rect">
            <a:avLst/>
          </a:prstGeom>
          <a:solidFill>
            <a:srgbClr val="F3F4F6"/>
          </a:solidFill>
          <a:ln w="8255">
            <a:solidFill>
              <a:srgbClr val="F3F4F6"/>
            </a:solidFill>
            <a:prstDash val="solid"/>
          </a:ln>
        </p:spPr>
        <p:txBody>
          <a:bodyPr/>
          <a:lstStyle/>
          <a:p>
            <a:endParaRPr lang="en-US"/>
          </a:p>
        </p:txBody>
      </p:sp>
      <p:sp>
        <p:nvSpPr>
          <p:cNvPr id="29" name="Text 27"/>
          <p:cNvSpPr/>
          <p:nvPr/>
        </p:nvSpPr>
        <p:spPr>
          <a:xfrm>
            <a:off x="6519672" y="3849624"/>
            <a:ext cx="228600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E31837"/>
                </a:solidFill>
                <a:latin typeface="Arial" pitchFamily="34" charset="0"/>
                <a:ea typeface="Arial" pitchFamily="34" charset="-122"/>
                <a:cs typeface="Arial" pitchFamily="34" charset="-120"/>
              </a:rPr>
              <a:t>ATMOS 2</a:t>
            </a:r>
            <a:endParaRPr lang="en-US" sz="1700" dirty="0"/>
          </a:p>
        </p:txBody>
      </p:sp>
      <p:sp>
        <p:nvSpPr>
          <p:cNvPr id="30" name="Text 28"/>
          <p:cNvSpPr/>
          <p:nvPr/>
        </p:nvSpPr>
        <p:spPr>
          <a:xfrm>
            <a:off x="6519672" y="4251960"/>
            <a:ext cx="2286000" cy="246888"/>
          </a:xfrm>
          <a:prstGeom prst="rect">
            <a:avLst/>
          </a:prstGeom>
          <a:noFill/>
          <a:ln/>
        </p:spPr>
        <p:txBody>
          <a:bodyPr wrap="square" lIns="0" tIns="0" rIns="0" bIns="0" rtlCol="0" anchor="ctr">
            <a:normAutofit/>
          </a:bodyPr>
          <a:lstStyle/>
          <a:p>
            <a:pPr marL="0" indent="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31" name="Shape 29"/>
          <p:cNvSpPr/>
          <p:nvPr/>
        </p:nvSpPr>
        <p:spPr>
          <a:xfrm>
            <a:off x="5852160" y="3063240"/>
            <a:ext cx="4581144" cy="630936"/>
          </a:xfrm>
          <a:prstGeom prst="line">
            <a:avLst/>
          </a:prstGeom>
          <a:noFill/>
          <a:ln w="15240">
            <a:solidFill>
              <a:srgbClr val="5B6169"/>
            </a:solidFill>
            <a:prstDash val="solid"/>
            <a:tailEnd type="triangle"/>
          </a:ln>
        </p:spPr>
        <p:txBody>
          <a:bodyPr/>
          <a:lstStyle/>
          <a:p>
            <a:endParaRPr lang="en-US"/>
          </a:p>
        </p:txBody>
      </p:sp>
      <p:sp>
        <p:nvSpPr>
          <p:cNvPr id="32" name="Shape 30"/>
          <p:cNvSpPr/>
          <p:nvPr/>
        </p:nvSpPr>
        <p:spPr>
          <a:xfrm>
            <a:off x="9244584" y="3730752"/>
            <a:ext cx="2578608" cy="932688"/>
          </a:xfrm>
          <a:prstGeom prst="rect">
            <a:avLst/>
          </a:prstGeom>
          <a:solidFill>
            <a:srgbClr val="F3F4F6"/>
          </a:solidFill>
          <a:ln w="8255">
            <a:solidFill>
              <a:srgbClr val="F3F4F6"/>
            </a:solidFill>
            <a:prstDash val="solid"/>
          </a:ln>
        </p:spPr>
        <p:txBody>
          <a:bodyPr/>
          <a:lstStyle/>
          <a:p>
            <a:endParaRPr lang="en-US"/>
          </a:p>
        </p:txBody>
      </p:sp>
      <p:sp>
        <p:nvSpPr>
          <p:cNvPr id="33" name="Text 31"/>
          <p:cNvSpPr/>
          <p:nvPr/>
        </p:nvSpPr>
        <p:spPr>
          <a:xfrm>
            <a:off x="9372600" y="3849624"/>
            <a:ext cx="228600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E31837"/>
                </a:solidFill>
                <a:latin typeface="Arial" pitchFamily="34" charset="0"/>
                <a:ea typeface="Arial" pitchFamily="34" charset="-122"/>
                <a:cs typeface="Arial" pitchFamily="34" charset="-120"/>
              </a:rPr>
              <a:t>ATMOS 3</a:t>
            </a:r>
            <a:endParaRPr lang="en-US" sz="1700" dirty="0"/>
          </a:p>
        </p:txBody>
      </p:sp>
      <p:sp>
        <p:nvSpPr>
          <p:cNvPr id="34" name="Text 32"/>
          <p:cNvSpPr/>
          <p:nvPr/>
        </p:nvSpPr>
        <p:spPr>
          <a:xfrm>
            <a:off x="9372600" y="4251960"/>
            <a:ext cx="2286000" cy="246888"/>
          </a:xfrm>
          <a:prstGeom prst="rect">
            <a:avLst/>
          </a:prstGeom>
          <a:noFill/>
          <a:ln/>
        </p:spPr>
        <p:txBody>
          <a:bodyPr wrap="square" lIns="0" tIns="0" rIns="0" bIns="0" rtlCol="0" anchor="ctr">
            <a:normAutofit/>
          </a:bodyPr>
          <a:lstStyle/>
          <a:p>
            <a:pPr marL="0" indent="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35" name="Shape 33"/>
          <p:cNvSpPr/>
          <p:nvPr/>
        </p:nvSpPr>
        <p:spPr>
          <a:xfrm>
            <a:off x="7909560" y="2048256"/>
            <a:ext cx="3785616" cy="1161288"/>
          </a:xfrm>
          <a:prstGeom prst="rect">
            <a:avLst/>
          </a:prstGeom>
          <a:solidFill>
            <a:srgbClr val="FDECEF"/>
          </a:solidFill>
          <a:ln w="8255">
            <a:solidFill>
              <a:srgbClr val="FDECEF"/>
            </a:solidFill>
            <a:prstDash val="solid"/>
          </a:ln>
        </p:spPr>
        <p:txBody>
          <a:bodyPr/>
          <a:lstStyle/>
          <a:p>
            <a:endParaRPr lang="en-US"/>
          </a:p>
        </p:txBody>
      </p:sp>
      <p:sp>
        <p:nvSpPr>
          <p:cNvPr id="36" name="Text 34"/>
          <p:cNvSpPr/>
          <p:nvPr/>
        </p:nvSpPr>
        <p:spPr>
          <a:xfrm>
            <a:off x="8065008" y="2221992"/>
            <a:ext cx="3474720" cy="649224"/>
          </a:xfrm>
          <a:prstGeom prst="rect">
            <a:avLst/>
          </a:prstGeom>
          <a:noFill/>
          <a:ln/>
        </p:spPr>
        <p:txBody>
          <a:bodyPr wrap="square" lIns="0" tIns="0" rIns="0" bIns="0" rtlCol="0" anchor="ctr">
            <a:normAutofit/>
          </a:bodyPr>
          <a:lstStyle/>
          <a:p>
            <a:pPr marL="0" indent="0">
              <a:buNone/>
            </a:pPr>
            <a:r>
              <a:rPr lang="en-US" sz="1700" b="1" dirty="0">
                <a:solidFill>
                  <a:srgbClr val="E31837"/>
                </a:solidFill>
                <a:latin typeface="Arial" pitchFamily="34" charset="0"/>
                <a:ea typeface="Arial" pitchFamily="34" charset="-122"/>
                <a:cs typeface="Arial" pitchFamily="34" charset="-120"/>
              </a:rPr>
              <a:t>Gen5 x16 ≈ 63 GB/s / direction</a:t>
            </a:r>
            <a:endParaRPr lang="en-US" sz="1700" dirty="0"/>
          </a:p>
          <a:p>
            <a:pPr marL="0" indent="0">
              <a:buNone/>
            </a:pPr>
            <a:r>
              <a:rPr lang="en-US" sz="1700" b="1" dirty="0">
                <a:solidFill>
                  <a:srgbClr val="E31837"/>
                </a:solidFill>
                <a:latin typeface="Arial" pitchFamily="34" charset="0"/>
                <a:ea typeface="Arial" pitchFamily="34" charset="-122"/>
                <a:cs typeface="Arial" pitchFamily="34" charset="-120"/>
              </a:rPr>
              <a:t>4 × Gen5 x4 ≈ 63 GB/s aggregate</a:t>
            </a:r>
            <a:endParaRPr lang="en-US" sz="1700" dirty="0"/>
          </a:p>
        </p:txBody>
      </p:sp>
      <p:sp>
        <p:nvSpPr>
          <p:cNvPr id="37" name="Shape 35"/>
          <p:cNvSpPr/>
          <p:nvPr/>
        </p:nvSpPr>
        <p:spPr>
          <a:xfrm>
            <a:off x="502920" y="5093208"/>
            <a:ext cx="11183112" cy="310896"/>
          </a:xfrm>
          <a:prstGeom prst="rect">
            <a:avLst/>
          </a:prstGeom>
          <a:solidFill>
            <a:srgbClr val="FDECEF"/>
          </a:solidFill>
          <a:ln w="8255">
            <a:solidFill>
              <a:srgbClr val="FDECEF"/>
            </a:solidFill>
            <a:prstDash val="solid"/>
          </a:ln>
        </p:spPr>
        <p:txBody>
          <a:bodyPr/>
          <a:lstStyle/>
          <a:p>
            <a:endParaRPr lang="en-US"/>
          </a:p>
        </p:txBody>
      </p:sp>
      <p:sp>
        <p:nvSpPr>
          <p:cNvPr id="38" name="Text 36"/>
          <p:cNvSpPr/>
          <p:nvPr/>
        </p:nvSpPr>
        <p:spPr>
          <a:xfrm>
            <a:off x="640080" y="5125212"/>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One domain consumes 16 host lanes—the same lane count as four direct x4 endpoints. There is no lane-saving claim.</a:t>
            </a:r>
            <a:endParaRPr lang="en-US" sz="1200" dirty="0"/>
          </a:p>
        </p:txBody>
      </p:sp>
      <p:sp>
        <p:nvSpPr>
          <p:cNvPr id="39" name="Text 37"/>
          <p:cNvSpPr/>
          <p:nvPr/>
        </p:nvSpPr>
        <p:spPr>
          <a:xfrm>
            <a:off x="640080" y="5623560"/>
            <a:ext cx="10972800" cy="429768"/>
          </a:xfrm>
          <a:prstGeom prst="rect">
            <a:avLst/>
          </a:prstGeom>
          <a:noFill/>
          <a:ln/>
        </p:spPr>
        <p:txBody>
          <a:bodyPr wrap="square" lIns="0" tIns="0" rIns="0" bIns="0" rtlCol="0" anchor="ctr">
            <a:normAutofit/>
          </a:bodyPr>
          <a:lstStyle/>
          <a:p>
            <a:pPr marL="0" indent="0">
              <a:buNone/>
            </a:pPr>
            <a:r>
              <a:rPr lang="en-US" sz="1500" dirty="0">
                <a:solidFill>
                  <a:srgbClr val="5B6169"/>
                </a:solidFill>
                <a:latin typeface="Arial" pitchFamily="34" charset="0"/>
                <a:ea typeface="Arial" pitchFamily="34" charset="-122"/>
                <a:cs typeface="Arial" pitchFamily="34" charset="-120"/>
              </a:rPr>
              <a:t>P2P needs compatible endpoints, drivers, IOMMU/security and reset rules. Cross-domain/root traffic is measured separately.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VALIDATION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Make every benchmark reproducible—and able to say “not a fit.”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The performance label is a contract tuple, not just “8B at 80 tokens/s.”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21</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[S31]</a:t>
            </a:r>
            <a:endParaRPr lang="en-US" sz="820" dirty="0"/>
          </a:p>
        </p:txBody>
      </p:sp>
      <p:sp>
        <p:nvSpPr>
          <p:cNvPr id="12" name="Shape 10"/>
          <p:cNvSpPr/>
          <p:nvPr/>
        </p:nvSpPr>
        <p:spPr>
          <a:xfrm>
            <a:off x="502920" y="2011680"/>
            <a:ext cx="1828800" cy="438912"/>
          </a:xfrm>
          <a:prstGeom prst="rect">
            <a:avLst/>
          </a:prstGeom>
          <a:solidFill>
            <a:srgbClr val="18191D"/>
          </a:solidFill>
          <a:ln w="8255">
            <a:solidFill>
              <a:srgbClr val="18191D"/>
            </a:solidFill>
            <a:prstDash val="solid"/>
          </a:ln>
        </p:spPr>
        <p:txBody>
          <a:bodyPr/>
          <a:lstStyle/>
          <a:p>
            <a:endParaRPr lang="en-US"/>
          </a:p>
        </p:txBody>
      </p:sp>
      <p:sp>
        <p:nvSpPr>
          <p:cNvPr id="13" name="Text 11"/>
          <p:cNvSpPr/>
          <p:nvPr/>
        </p:nvSpPr>
        <p:spPr>
          <a:xfrm>
            <a:off x="594360" y="2075688"/>
            <a:ext cx="16459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PIN THIS</a:t>
            </a:r>
            <a:endParaRPr lang="en-US" sz="1150" dirty="0"/>
          </a:p>
        </p:txBody>
      </p:sp>
      <p:sp>
        <p:nvSpPr>
          <p:cNvPr id="14" name="Shape 12"/>
          <p:cNvSpPr/>
          <p:nvPr/>
        </p:nvSpPr>
        <p:spPr>
          <a:xfrm>
            <a:off x="2331720" y="2011680"/>
            <a:ext cx="9354312" cy="438912"/>
          </a:xfrm>
          <a:prstGeom prst="rect">
            <a:avLst/>
          </a:prstGeom>
          <a:solidFill>
            <a:srgbClr val="18191D"/>
          </a:solidFill>
          <a:ln w="8255">
            <a:solidFill>
              <a:srgbClr val="18191D"/>
            </a:solidFill>
            <a:prstDash val="solid"/>
          </a:ln>
        </p:spPr>
        <p:txBody>
          <a:bodyPr/>
          <a:lstStyle/>
          <a:p>
            <a:endParaRPr lang="en-US"/>
          </a:p>
        </p:txBody>
      </p:sp>
      <p:sp>
        <p:nvSpPr>
          <p:cNvPr id="15" name="Text 13"/>
          <p:cNvSpPr/>
          <p:nvPr/>
        </p:nvSpPr>
        <p:spPr>
          <a:xfrm>
            <a:off x="2423160" y="2075688"/>
            <a:ext cx="917143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WHY IT CHANGES THE RESULT</a:t>
            </a:r>
            <a:endParaRPr lang="en-US" sz="1150" dirty="0"/>
          </a:p>
        </p:txBody>
      </p:sp>
      <p:sp>
        <p:nvSpPr>
          <p:cNvPr id="16" name="Shape 14"/>
          <p:cNvSpPr/>
          <p:nvPr/>
        </p:nvSpPr>
        <p:spPr>
          <a:xfrm>
            <a:off x="502920" y="2450592"/>
            <a:ext cx="1828800" cy="530352"/>
          </a:xfrm>
          <a:prstGeom prst="rect">
            <a:avLst/>
          </a:prstGeom>
          <a:solidFill>
            <a:srgbClr val="F3F4F6"/>
          </a:solidFill>
          <a:ln w="8255">
            <a:solidFill>
              <a:srgbClr val="F3F4F6"/>
            </a:solidFill>
            <a:prstDash val="solid"/>
          </a:ln>
        </p:spPr>
        <p:txBody>
          <a:bodyPr/>
          <a:lstStyle/>
          <a:p>
            <a:endParaRPr lang="en-US"/>
          </a:p>
        </p:txBody>
      </p:sp>
      <p:sp>
        <p:nvSpPr>
          <p:cNvPr id="17" name="Text 15"/>
          <p:cNvSpPr/>
          <p:nvPr/>
        </p:nvSpPr>
        <p:spPr>
          <a:xfrm>
            <a:off x="594360" y="2514600"/>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Identity</a:t>
            </a:r>
            <a:endParaRPr lang="en-US" sz="1400" dirty="0"/>
          </a:p>
        </p:txBody>
      </p:sp>
      <p:sp>
        <p:nvSpPr>
          <p:cNvPr id="18" name="Shape 16"/>
          <p:cNvSpPr/>
          <p:nvPr/>
        </p:nvSpPr>
        <p:spPr>
          <a:xfrm>
            <a:off x="2331720" y="2450592"/>
            <a:ext cx="9354312" cy="530352"/>
          </a:xfrm>
          <a:prstGeom prst="rect">
            <a:avLst/>
          </a:prstGeom>
          <a:solidFill>
            <a:srgbClr val="F3F4F6"/>
          </a:solidFill>
          <a:ln w="8255">
            <a:solidFill>
              <a:srgbClr val="F3F4F6"/>
            </a:solidFill>
            <a:prstDash val="solid"/>
          </a:ln>
        </p:spPr>
        <p:txBody>
          <a:bodyPr/>
          <a:lstStyle/>
          <a:p>
            <a:endParaRPr lang="en-US"/>
          </a:p>
        </p:txBody>
      </p:sp>
      <p:sp>
        <p:nvSpPr>
          <p:cNvPr id="19" name="Text 17"/>
          <p:cNvSpPr/>
          <p:nvPr/>
        </p:nvSpPr>
        <p:spPr>
          <a:xfrm>
            <a:off x="2423160" y="2514600"/>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Model + tokenizer + precision/scales + compiler/runtime + firmware + OEM BOM</a:t>
            </a:r>
            <a:endParaRPr lang="en-US" sz="1400" dirty="0"/>
          </a:p>
        </p:txBody>
      </p:sp>
      <p:sp>
        <p:nvSpPr>
          <p:cNvPr id="20" name="Shape 18"/>
          <p:cNvSpPr/>
          <p:nvPr/>
        </p:nvSpPr>
        <p:spPr>
          <a:xfrm>
            <a:off x="502920" y="2980944"/>
            <a:ext cx="11183112" cy="0"/>
          </a:xfrm>
          <a:prstGeom prst="line">
            <a:avLst/>
          </a:prstGeom>
          <a:noFill/>
          <a:ln w="5715">
            <a:solidFill>
              <a:srgbClr val="D8DBDF"/>
            </a:solidFill>
            <a:prstDash val="solid"/>
          </a:ln>
        </p:spPr>
        <p:txBody>
          <a:bodyPr/>
          <a:lstStyle/>
          <a:p>
            <a:endParaRPr lang="en-US"/>
          </a:p>
        </p:txBody>
      </p:sp>
      <p:sp>
        <p:nvSpPr>
          <p:cNvPr id="21" name="Shape 19"/>
          <p:cNvSpPr/>
          <p:nvPr/>
        </p:nvSpPr>
        <p:spPr>
          <a:xfrm>
            <a:off x="502920" y="2980944"/>
            <a:ext cx="1828800" cy="530352"/>
          </a:xfrm>
          <a:prstGeom prst="rect">
            <a:avLst/>
          </a:prstGeom>
          <a:solidFill>
            <a:srgbClr val="FFFFFF"/>
          </a:solidFill>
          <a:ln w="8255">
            <a:solidFill>
              <a:srgbClr val="FFFFFF"/>
            </a:solidFill>
            <a:prstDash val="solid"/>
          </a:ln>
        </p:spPr>
        <p:txBody>
          <a:bodyPr/>
          <a:lstStyle/>
          <a:p>
            <a:endParaRPr lang="en-US"/>
          </a:p>
        </p:txBody>
      </p:sp>
      <p:sp>
        <p:nvSpPr>
          <p:cNvPr id="22" name="Text 20"/>
          <p:cNvSpPr/>
          <p:nvPr/>
        </p:nvSpPr>
        <p:spPr>
          <a:xfrm>
            <a:off x="594360" y="3044952"/>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Load</a:t>
            </a:r>
            <a:endParaRPr lang="en-US" sz="1400" dirty="0"/>
          </a:p>
        </p:txBody>
      </p:sp>
      <p:sp>
        <p:nvSpPr>
          <p:cNvPr id="23" name="Shape 21"/>
          <p:cNvSpPr/>
          <p:nvPr/>
        </p:nvSpPr>
        <p:spPr>
          <a:xfrm>
            <a:off x="2331720" y="2980944"/>
            <a:ext cx="9354312" cy="530352"/>
          </a:xfrm>
          <a:prstGeom prst="rect">
            <a:avLst/>
          </a:prstGeom>
          <a:solidFill>
            <a:srgbClr val="FFFFFF"/>
          </a:solidFill>
          <a:ln w="8255">
            <a:solidFill>
              <a:srgbClr val="FFFFFF"/>
            </a:solidFill>
            <a:prstDash val="solid"/>
          </a:ln>
        </p:spPr>
        <p:txBody>
          <a:bodyPr/>
          <a:lstStyle/>
          <a:p>
            <a:endParaRPr lang="en-US"/>
          </a:p>
        </p:txBody>
      </p:sp>
      <p:sp>
        <p:nvSpPr>
          <p:cNvPr id="24" name="Text 22"/>
          <p:cNvSpPr/>
          <p:nvPr/>
        </p:nvSpPr>
        <p:spPr>
          <a:xfrm>
            <a:off x="2423160" y="3044952"/>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Input/output distributions, concurrency, arrival bursts, queue/admission policy</a:t>
            </a:r>
            <a:endParaRPr lang="en-US" sz="1400" dirty="0"/>
          </a:p>
        </p:txBody>
      </p:sp>
      <p:sp>
        <p:nvSpPr>
          <p:cNvPr id="25" name="Shape 23"/>
          <p:cNvSpPr/>
          <p:nvPr/>
        </p:nvSpPr>
        <p:spPr>
          <a:xfrm>
            <a:off x="502920" y="3511296"/>
            <a:ext cx="11183112" cy="0"/>
          </a:xfrm>
          <a:prstGeom prst="line">
            <a:avLst/>
          </a:prstGeom>
          <a:noFill/>
          <a:ln w="5715">
            <a:solidFill>
              <a:srgbClr val="D8DBDF"/>
            </a:solidFill>
            <a:prstDash val="solid"/>
          </a:ln>
        </p:spPr>
        <p:txBody>
          <a:bodyPr/>
          <a:lstStyle/>
          <a:p>
            <a:endParaRPr lang="en-US"/>
          </a:p>
        </p:txBody>
      </p:sp>
      <p:sp>
        <p:nvSpPr>
          <p:cNvPr id="26" name="Shape 24"/>
          <p:cNvSpPr/>
          <p:nvPr/>
        </p:nvSpPr>
        <p:spPr>
          <a:xfrm>
            <a:off x="502920" y="3511296"/>
            <a:ext cx="1828800" cy="530352"/>
          </a:xfrm>
          <a:prstGeom prst="rect">
            <a:avLst/>
          </a:prstGeom>
          <a:solidFill>
            <a:srgbClr val="F3F4F6"/>
          </a:solidFill>
          <a:ln w="8255">
            <a:solidFill>
              <a:srgbClr val="F3F4F6"/>
            </a:solidFill>
            <a:prstDash val="solid"/>
          </a:ln>
        </p:spPr>
        <p:txBody>
          <a:bodyPr/>
          <a:lstStyle/>
          <a:p>
            <a:endParaRPr lang="en-US"/>
          </a:p>
        </p:txBody>
      </p:sp>
      <p:sp>
        <p:nvSpPr>
          <p:cNvPr id="27" name="Text 25"/>
          <p:cNvSpPr/>
          <p:nvPr/>
        </p:nvSpPr>
        <p:spPr>
          <a:xfrm>
            <a:off x="594360" y="3575304"/>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State</a:t>
            </a:r>
            <a:endParaRPr lang="en-US" sz="1400" dirty="0"/>
          </a:p>
        </p:txBody>
      </p:sp>
      <p:sp>
        <p:nvSpPr>
          <p:cNvPr id="28" name="Shape 26"/>
          <p:cNvSpPr/>
          <p:nvPr/>
        </p:nvSpPr>
        <p:spPr>
          <a:xfrm>
            <a:off x="2331720" y="3511296"/>
            <a:ext cx="9354312" cy="530352"/>
          </a:xfrm>
          <a:prstGeom prst="rect">
            <a:avLst/>
          </a:prstGeom>
          <a:solidFill>
            <a:srgbClr val="F3F4F6"/>
          </a:solidFill>
          <a:ln w="8255">
            <a:solidFill>
              <a:srgbClr val="F3F4F6"/>
            </a:solidFill>
            <a:prstDash val="solid"/>
          </a:ln>
        </p:spPr>
        <p:txBody>
          <a:bodyPr/>
          <a:lstStyle/>
          <a:p>
            <a:endParaRPr lang="en-US"/>
          </a:p>
        </p:txBody>
      </p:sp>
      <p:sp>
        <p:nvSpPr>
          <p:cNvPr id="29" name="Text 27"/>
          <p:cNvSpPr/>
          <p:nvPr/>
        </p:nvSpPr>
        <p:spPr>
          <a:xfrm>
            <a:off x="2423160" y="3575304"/>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Cold/warm model; prefix hit rate; KV occupancy; source/index generation</a:t>
            </a:r>
            <a:endParaRPr lang="en-US" sz="1400" dirty="0"/>
          </a:p>
        </p:txBody>
      </p:sp>
      <p:sp>
        <p:nvSpPr>
          <p:cNvPr id="30" name="Shape 28"/>
          <p:cNvSpPr/>
          <p:nvPr/>
        </p:nvSpPr>
        <p:spPr>
          <a:xfrm>
            <a:off x="502920" y="4041648"/>
            <a:ext cx="11183112" cy="0"/>
          </a:xfrm>
          <a:prstGeom prst="line">
            <a:avLst/>
          </a:prstGeom>
          <a:noFill/>
          <a:ln w="5715">
            <a:solidFill>
              <a:srgbClr val="D8DBDF"/>
            </a:solidFill>
            <a:prstDash val="solid"/>
          </a:ln>
        </p:spPr>
        <p:txBody>
          <a:bodyPr/>
          <a:lstStyle/>
          <a:p>
            <a:endParaRPr lang="en-US"/>
          </a:p>
        </p:txBody>
      </p:sp>
      <p:sp>
        <p:nvSpPr>
          <p:cNvPr id="31" name="Shape 29"/>
          <p:cNvSpPr/>
          <p:nvPr/>
        </p:nvSpPr>
        <p:spPr>
          <a:xfrm>
            <a:off x="502920" y="4041648"/>
            <a:ext cx="1828800" cy="530352"/>
          </a:xfrm>
          <a:prstGeom prst="rect">
            <a:avLst/>
          </a:prstGeom>
          <a:solidFill>
            <a:srgbClr val="FFFFFF"/>
          </a:solidFill>
          <a:ln w="8255">
            <a:solidFill>
              <a:srgbClr val="FFFFFF"/>
            </a:solidFill>
            <a:prstDash val="solid"/>
          </a:ln>
        </p:spPr>
        <p:txBody>
          <a:bodyPr/>
          <a:lstStyle/>
          <a:p>
            <a:endParaRPr lang="en-US"/>
          </a:p>
        </p:txBody>
      </p:sp>
      <p:sp>
        <p:nvSpPr>
          <p:cNvPr id="32" name="Text 30"/>
          <p:cNvSpPr/>
          <p:nvPr/>
        </p:nvSpPr>
        <p:spPr>
          <a:xfrm>
            <a:off x="594360" y="4105656"/>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Quality</a:t>
            </a:r>
            <a:endParaRPr lang="en-US" sz="1400" dirty="0"/>
          </a:p>
        </p:txBody>
      </p:sp>
      <p:sp>
        <p:nvSpPr>
          <p:cNvPr id="33" name="Shape 31"/>
          <p:cNvSpPr/>
          <p:nvPr/>
        </p:nvSpPr>
        <p:spPr>
          <a:xfrm>
            <a:off x="2331720" y="4041648"/>
            <a:ext cx="9354312" cy="530352"/>
          </a:xfrm>
          <a:prstGeom prst="rect">
            <a:avLst/>
          </a:prstGeom>
          <a:solidFill>
            <a:srgbClr val="FFFFFF"/>
          </a:solidFill>
          <a:ln w="8255">
            <a:solidFill>
              <a:srgbClr val="FFFFFF"/>
            </a:solidFill>
            <a:prstDash val="solid"/>
          </a:ln>
        </p:spPr>
        <p:txBody>
          <a:bodyPr/>
          <a:lstStyle/>
          <a:p>
            <a:endParaRPr lang="en-US"/>
          </a:p>
        </p:txBody>
      </p:sp>
      <p:sp>
        <p:nvSpPr>
          <p:cNvPr id="34" name="Text 32"/>
          <p:cNvSpPr/>
          <p:nvPr/>
        </p:nvSpPr>
        <p:spPr>
          <a:xfrm>
            <a:off x="2423160" y="4105656"/>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Task acceptance, citations, recall/NDCG, access denials and factual errors</a:t>
            </a:r>
            <a:endParaRPr lang="en-US" sz="1400" dirty="0"/>
          </a:p>
        </p:txBody>
      </p:sp>
      <p:sp>
        <p:nvSpPr>
          <p:cNvPr id="35" name="Shape 33"/>
          <p:cNvSpPr/>
          <p:nvPr/>
        </p:nvSpPr>
        <p:spPr>
          <a:xfrm>
            <a:off x="502920" y="4572000"/>
            <a:ext cx="11183112" cy="0"/>
          </a:xfrm>
          <a:prstGeom prst="line">
            <a:avLst/>
          </a:prstGeom>
          <a:noFill/>
          <a:ln w="5715">
            <a:solidFill>
              <a:srgbClr val="D8DBDF"/>
            </a:solidFill>
            <a:prstDash val="solid"/>
          </a:ln>
        </p:spPr>
        <p:txBody>
          <a:bodyPr/>
          <a:lstStyle/>
          <a:p>
            <a:endParaRPr lang="en-US"/>
          </a:p>
        </p:txBody>
      </p:sp>
      <p:sp>
        <p:nvSpPr>
          <p:cNvPr id="36" name="Shape 34"/>
          <p:cNvSpPr/>
          <p:nvPr/>
        </p:nvSpPr>
        <p:spPr>
          <a:xfrm>
            <a:off x="502920" y="4572000"/>
            <a:ext cx="1828800" cy="530352"/>
          </a:xfrm>
          <a:prstGeom prst="rect">
            <a:avLst/>
          </a:prstGeom>
          <a:solidFill>
            <a:srgbClr val="F3F4F6"/>
          </a:solidFill>
          <a:ln w="8255">
            <a:solidFill>
              <a:srgbClr val="F3F4F6"/>
            </a:solidFill>
            <a:prstDash val="solid"/>
          </a:ln>
        </p:spPr>
        <p:txBody>
          <a:bodyPr/>
          <a:lstStyle/>
          <a:p>
            <a:endParaRPr lang="en-US"/>
          </a:p>
        </p:txBody>
      </p:sp>
      <p:sp>
        <p:nvSpPr>
          <p:cNvPr id="37" name="Text 35"/>
          <p:cNvSpPr/>
          <p:nvPr/>
        </p:nvSpPr>
        <p:spPr>
          <a:xfrm>
            <a:off x="594360" y="4636008"/>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System</a:t>
            </a:r>
            <a:endParaRPr lang="en-US" sz="1400" dirty="0"/>
          </a:p>
        </p:txBody>
      </p:sp>
      <p:sp>
        <p:nvSpPr>
          <p:cNvPr id="38" name="Shape 36"/>
          <p:cNvSpPr/>
          <p:nvPr/>
        </p:nvSpPr>
        <p:spPr>
          <a:xfrm>
            <a:off x="2331720" y="4572000"/>
            <a:ext cx="9354312" cy="530352"/>
          </a:xfrm>
          <a:prstGeom prst="rect">
            <a:avLst/>
          </a:prstGeom>
          <a:solidFill>
            <a:srgbClr val="F3F4F6"/>
          </a:solidFill>
          <a:ln w="8255">
            <a:solidFill>
              <a:srgbClr val="F3F4F6"/>
            </a:solidFill>
            <a:prstDash val="solid"/>
          </a:ln>
        </p:spPr>
        <p:txBody>
          <a:bodyPr/>
          <a:lstStyle/>
          <a:p>
            <a:endParaRPr lang="en-US"/>
          </a:p>
        </p:txBody>
      </p:sp>
      <p:sp>
        <p:nvSpPr>
          <p:cNvPr id="39" name="Text 37"/>
          <p:cNvSpPr/>
          <p:nvPr/>
        </p:nvSpPr>
        <p:spPr>
          <a:xfrm>
            <a:off x="2423160" y="4636008"/>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Per-node and per-device memory, DMA, peer traffic, NPU utilization, power and thermals</a:t>
            </a:r>
            <a:endParaRPr lang="en-US" sz="1400" dirty="0"/>
          </a:p>
        </p:txBody>
      </p:sp>
      <p:sp>
        <p:nvSpPr>
          <p:cNvPr id="40" name="Shape 38"/>
          <p:cNvSpPr/>
          <p:nvPr/>
        </p:nvSpPr>
        <p:spPr>
          <a:xfrm>
            <a:off x="502920" y="5102352"/>
            <a:ext cx="11183112" cy="0"/>
          </a:xfrm>
          <a:prstGeom prst="line">
            <a:avLst/>
          </a:prstGeom>
          <a:noFill/>
          <a:ln w="5715">
            <a:solidFill>
              <a:srgbClr val="D8DBDF"/>
            </a:solidFill>
            <a:prstDash val="solid"/>
          </a:ln>
        </p:spPr>
        <p:txBody>
          <a:bodyPr/>
          <a:lstStyle/>
          <a:p>
            <a:endParaRPr lang="en-US"/>
          </a:p>
        </p:txBody>
      </p:sp>
      <p:sp>
        <p:nvSpPr>
          <p:cNvPr id="41" name="Shape 39"/>
          <p:cNvSpPr/>
          <p:nvPr/>
        </p:nvSpPr>
        <p:spPr>
          <a:xfrm>
            <a:off x="502920" y="5102352"/>
            <a:ext cx="1828800" cy="530352"/>
          </a:xfrm>
          <a:prstGeom prst="rect">
            <a:avLst/>
          </a:prstGeom>
          <a:solidFill>
            <a:srgbClr val="FFFFFF"/>
          </a:solidFill>
          <a:ln w="8255">
            <a:solidFill>
              <a:srgbClr val="FFFFFF"/>
            </a:solidFill>
            <a:prstDash val="solid"/>
          </a:ln>
        </p:spPr>
        <p:txBody>
          <a:bodyPr/>
          <a:lstStyle/>
          <a:p>
            <a:endParaRPr lang="en-US"/>
          </a:p>
        </p:txBody>
      </p:sp>
      <p:sp>
        <p:nvSpPr>
          <p:cNvPr id="42" name="Text 40"/>
          <p:cNvSpPr/>
          <p:nvPr/>
        </p:nvSpPr>
        <p:spPr>
          <a:xfrm>
            <a:off x="594360" y="5166360"/>
            <a:ext cx="1645920" cy="402336"/>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Resilience</a:t>
            </a:r>
            <a:endParaRPr lang="en-US" sz="1400" dirty="0"/>
          </a:p>
        </p:txBody>
      </p:sp>
      <p:sp>
        <p:nvSpPr>
          <p:cNvPr id="43" name="Shape 41"/>
          <p:cNvSpPr/>
          <p:nvPr/>
        </p:nvSpPr>
        <p:spPr>
          <a:xfrm>
            <a:off x="2331720" y="5102352"/>
            <a:ext cx="9354312" cy="530352"/>
          </a:xfrm>
          <a:prstGeom prst="rect">
            <a:avLst/>
          </a:prstGeom>
          <a:solidFill>
            <a:srgbClr val="FFFFFF"/>
          </a:solidFill>
          <a:ln w="8255">
            <a:solidFill>
              <a:srgbClr val="FFFFFF"/>
            </a:solidFill>
            <a:prstDash val="solid"/>
          </a:ln>
        </p:spPr>
        <p:txBody>
          <a:bodyPr/>
          <a:lstStyle/>
          <a:p>
            <a:endParaRPr lang="en-US"/>
          </a:p>
        </p:txBody>
      </p:sp>
      <p:sp>
        <p:nvSpPr>
          <p:cNvPr id="44" name="Text 42"/>
          <p:cNvSpPr/>
          <p:nvPr/>
        </p:nvSpPr>
        <p:spPr>
          <a:xfrm>
            <a:off x="2423160" y="5166360"/>
            <a:ext cx="9171432" cy="402336"/>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Node loss, reset, partial results, update/rollback and peak capacity after failure</a:t>
            </a:r>
            <a:endParaRPr lang="en-US" sz="1400" dirty="0"/>
          </a:p>
        </p:txBody>
      </p:sp>
      <p:sp>
        <p:nvSpPr>
          <p:cNvPr id="45" name="Shape 43"/>
          <p:cNvSpPr/>
          <p:nvPr/>
        </p:nvSpPr>
        <p:spPr>
          <a:xfrm>
            <a:off x="502920" y="5632704"/>
            <a:ext cx="11183112" cy="0"/>
          </a:xfrm>
          <a:prstGeom prst="line">
            <a:avLst/>
          </a:prstGeom>
          <a:noFill/>
          <a:ln w="5715">
            <a:solidFill>
              <a:srgbClr val="D8DBDF"/>
            </a:solidFill>
            <a:prstDash val="solid"/>
          </a:ln>
        </p:spPr>
        <p:txBody>
          <a:bodyPr/>
          <a:lstStyle/>
          <a:p>
            <a:endParaRPr lang="en-US"/>
          </a:p>
        </p:txBody>
      </p:sp>
      <p:sp>
        <p:nvSpPr>
          <p:cNvPr id="46" name="Shape 44"/>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47" name="Text 45"/>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Report p50/p95/p99 TTFT, inter-token latency, request-average TPOT and accepted throughput—not a single best run.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ACQUISITION &amp; OWNERSHIP</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Show the complete budget—and the cost of the service around 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USD thousands. All ATMOS/OEM values below are new assumptions; software/support is annual.</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22</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§4</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29968"/>
            <a:ext cx="2743200" cy="438912"/>
          </a:xfrm>
          <a:prstGeom prst="rect">
            <a:avLst/>
          </a:prstGeom>
          <a:solidFill>
            <a:srgbClr val="18191D"/>
          </a:solidFill>
          <a:ln w="8255">
            <a:solidFill>
              <a:srgbClr val="18191D"/>
            </a:solidFill>
            <a:prstDash val="solid"/>
          </a:ln>
        </p:spPr>
        <p:txBody>
          <a:bodyPr/>
          <a:lstStyle/>
          <a:p>
            <a:endParaRPr lang="en-US"/>
          </a:p>
        </p:txBody>
      </p:sp>
      <p:sp>
        <p:nvSpPr>
          <p:cNvPr id="13" name="Text 11"/>
          <p:cNvSpPr/>
          <p:nvPr/>
        </p:nvSpPr>
        <p:spPr>
          <a:xfrm>
            <a:off x="594360" y="2093976"/>
            <a:ext cx="25603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BUDGET LINE</a:t>
            </a:r>
            <a:endParaRPr lang="en-US" sz="1150" dirty="0"/>
          </a:p>
        </p:txBody>
      </p:sp>
      <p:sp>
        <p:nvSpPr>
          <p:cNvPr id="14" name="Shape 12"/>
          <p:cNvSpPr/>
          <p:nvPr/>
        </p:nvSpPr>
        <p:spPr>
          <a:xfrm>
            <a:off x="3246120" y="2029968"/>
            <a:ext cx="1673352" cy="438912"/>
          </a:xfrm>
          <a:prstGeom prst="rect">
            <a:avLst/>
          </a:prstGeom>
          <a:solidFill>
            <a:srgbClr val="18191D"/>
          </a:solidFill>
          <a:ln w="8255">
            <a:solidFill>
              <a:srgbClr val="18191D"/>
            </a:solidFill>
            <a:prstDash val="solid"/>
          </a:ln>
        </p:spPr>
        <p:txBody>
          <a:bodyPr/>
          <a:lstStyle/>
          <a:p>
            <a:endParaRPr lang="en-US"/>
          </a:p>
        </p:txBody>
      </p:sp>
      <p:sp>
        <p:nvSpPr>
          <p:cNvPr id="15" name="Text 13"/>
          <p:cNvSpPr/>
          <p:nvPr/>
        </p:nvSpPr>
        <p:spPr>
          <a:xfrm>
            <a:off x="3337560" y="2093976"/>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W4</a:t>
            </a:r>
            <a:endParaRPr lang="en-US" sz="1150" dirty="0"/>
          </a:p>
        </p:txBody>
      </p:sp>
      <p:sp>
        <p:nvSpPr>
          <p:cNvPr id="16" name="Shape 14"/>
          <p:cNvSpPr/>
          <p:nvPr/>
        </p:nvSpPr>
        <p:spPr>
          <a:xfrm>
            <a:off x="4919472" y="2029968"/>
            <a:ext cx="1673352" cy="438912"/>
          </a:xfrm>
          <a:prstGeom prst="rect">
            <a:avLst/>
          </a:prstGeom>
          <a:solidFill>
            <a:srgbClr val="18191D"/>
          </a:solidFill>
          <a:ln w="8255">
            <a:solidFill>
              <a:srgbClr val="18191D"/>
            </a:solidFill>
            <a:prstDash val="solid"/>
          </a:ln>
        </p:spPr>
        <p:txBody>
          <a:bodyPr/>
          <a:lstStyle/>
          <a:p>
            <a:endParaRPr lang="en-US"/>
          </a:p>
        </p:txBody>
      </p:sp>
      <p:sp>
        <p:nvSpPr>
          <p:cNvPr id="17" name="Text 15"/>
          <p:cNvSpPr/>
          <p:nvPr/>
        </p:nvSpPr>
        <p:spPr>
          <a:xfrm>
            <a:off x="5010912" y="2093976"/>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D8</a:t>
            </a:r>
            <a:endParaRPr lang="en-US" sz="1150" dirty="0"/>
          </a:p>
        </p:txBody>
      </p:sp>
      <p:sp>
        <p:nvSpPr>
          <p:cNvPr id="18" name="Shape 16"/>
          <p:cNvSpPr/>
          <p:nvPr/>
        </p:nvSpPr>
        <p:spPr>
          <a:xfrm>
            <a:off x="6592824" y="2029968"/>
            <a:ext cx="1673352" cy="438912"/>
          </a:xfrm>
          <a:prstGeom prst="rect">
            <a:avLst/>
          </a:prstGeom>
          <a:solidFill>
            <a:srgbClr val="18191D"/>
          </a:solidFill>
          <a:ln w="8255">
            <a:solidFill>
              <a:srgbClr val="18191D"/>
            </a:solidFill>
            <a:prstDash val="solid"/>
          </a:ln>
        </p:spPr>
        <p:txBody>
          <a:bodyPr/>
          <a:lstStyle/>
          <a:p>
            <a:endParaRPr lang="en-US"/>
          </a:p>
        </p:txBody>
      </p:sp>
      <p:sp>
        <p:nvSpPr>
          <p:cNvPr id="19" name="Text 17"/>
          <p:cNvSpPr/>
          <p:nvPr/>
        </p:nvSpPr>
        <p:spPr>
          <a:xfrm>
            <a:off x="6684264" y="2093976"/>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E8</a:t>
            </a:r>
            <a:endParaRPr lang="en-US" sz="1150" dirty="0"/>
          </a:p>
        </p:txBody>
      </p:sp>
      <p:sp>
        <p:nvSpPr>
          <p:cNvPr id="20" name="Shape 18"/>
          <p:cNvSpPr/>
          <p:nvPr/>
        </p:nvSpPr>
        <p:spPr>
          <a:xfrm>
            <a:off x="8266176" y="2029968"/>
            <a:ext cx="1673352" cy="438912"/>
          </a:xfrm>
          <a:prstGeom prst="rect">
            <a:avLst/>
          </a:prstGeom>
          <a:solidFill>
            <a:srgbClr val="18191D"/>
          </a:solidFill>
          <a:ln w="8255">
            <a:solidFill>
              <a:srgbClr val="18191D"/>
            </a:solidFill>
            <a:prstDash val="solid"/>
          </a:ln>
        </p:spPr>
        <p:txBody>
          <a:bodyPr/>
          <a:lstStyle/>
          <a:p>
            <a:endParaRPr lang="en-US"/>
          </a:p>
        </p:txBody>
      </p:sp>
      <p:sp>
        <p:nvSpPr>
          <p:cNvPr id="21" name="Text 19"/>
          <p:cNvSpPr/>
          <p:nvPr/>
        </p:nvSpPr>
        <p:spPr>
          <a:xfrm>
            <a:off x="8357616" y="2093976"/>
            <a:ext cx="149047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E16</a:t>
            </a:r>
            <a:endParaRPr lang="en-US" sz="1150" dirty="0"/>
          </a:p>
        </p:txBody>
      </p:sp>
      <p:sp>
        <p:nvSpPr>
          <p:cNvPr id="22" name="Shape 20"/>
          <p:cNvSpPr/>
          <p:nvPr/>
        </p:nvSpPr>
        <p:spPr>
          <a:xfrm>
            <a:off x="9939528" y="2029968"/>
            <a:ext cx="1746504" cy="438912"/>
          </a:xfrm>
          <a:prstGeom prst="rect">
            <a:avLst/>
          </a:prstGeom>
          <a:solidFill>
            <a:srgbClr val="18191D"/>
          </a:solidFill>
          <a:ln w="8255">
            <a:solidFill>
              <a:srgbClr val="18191D"/>
            </a:solidFill>
            <a:prstDash val="solid"/>
          </a:ln>
        </p:spPr>
        <p:txBody>
          <a:bodyPr/>
          <a:lstStyle/>
          <a:p>
            <a:endParaRPr lang="en-US"/>
          </a:p>
        </p:txBody>
      </p:sp>
      <p:sp>
        <p:nvSpPr>
          <p:cNvPr id="23" name="Text 21"/>
          <p:cNvSpPr/>
          <p:nvPr/>
        </p:nvSpPr>
        <p:spPr>
          <a:xfrm>
            <a:off x="10030968" y="2093976"/>
            <a:ext cx="1563624"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E24</a:t>
            </a:r>
            <a:endParaRPr lang="en-US" sz="1150" dirty="0"/>
          </a:p>
        </p:txBody>
      </p:sp>
      <p:sp>
        <p:nvSpPr>
          <p:cNvPr id="24" name="Shape 22"/>
          <p:cNvSpPr/>
          <p:nvPr/>
        </p:nvSpPr>
        <p:spPr>
          <a:xfrm>
            <a:off x="502920" y="2468880"/>
            <a:ext cx="2743200" cy="530352"/>
          </a:xfrm>
          <a:prstGeom prst="rect">
            <a:avLst/>
          </a:prstGeom>
          <a:solidFill>
            <a:srgbClr val="F3F4F6"/>
          </a:solidFill>
          <a:ln w="8255">
            <a:solidFill>
              <a:srgbClr val="F3F4F6"/>
            </a:solidFill>
            <a:prstDash val="solid"/>
          </a:ln>
        </p:spPr>
        <p:txBody>
          <a:bodyPr/>
          <a:lstStyle/>
          <a:p>
            <a:endParaRPr lang="en-US"/>
          </a:p>
        </p:txBody>
      </p:sp>
      <p:sp>
        <p:nvSpPr>
          <p:cNvPr id="25" name="Text 23"/>
          <p:cNvSpPr/>
          <p:nvPr/>
        </p:nvSpPr>
        <p:spPr>
          <a:xfrm>
            <a:off x="594360" y="2532888"/>
            <a:ext cx="2560320" cy="402336"/>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OEM / fabric / factory</a:t>
            </a:r>
            <a:endParaRPr lang="en-US" sz="1500" dirty="0"/>
          </a:p>
        </p:txBody>
      </p:sp>
      <p:sp>
        <p:nvSpPr>
          <p:cNvPr id="26" name="Shape 24"/>
          <p:cNvSpPr/>
          <p:nvPr/>
        </p:nvSpPr>
        <p:spPr>
          <a:xfrm>
            <a:off x="3246120" y="2468880"/>
            <a:ext cx="1673352" cy="530352"/>
          </a:xfrm>
          <a:prstGeom prst="rect">
            <a:avLst/>
          </a:prstGeom>
          <a:solidFill>
            <a:srgbClr val="F3F4F6"/>
          </a:solidFill>
          <a:ln w="8255">
            <a:solidFill>
              <a:srgbClr val="F3F4F6"/>
            </a:solidFill>
            <a:prstDash val="solid"/>
          </a:ln>
        </p:spPr>
        <p:txBody>
          <a:bodyPr/>
          <a:lstStyle/>
          <a:p>
            <a:endParaRPr lang="en-US"/>
          </a:p>
        </p:txBody>
      </p:sp>
      <p:sp>
        <p:nvSpPr>
          <p:cNvPr id="27" name="Text 25"/>
          <p:cNvSpPr/>
          <p:nvPr/>
        </p:nvSpPr>
        <p:spPr>
          <a:xfrm>
            <a:off x="3337560" y="2532888"/>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9</a:t>
            </a:r>
            <a:endParaRPr lang="en-US" sz="1500" dirty="0"/>
          </a:p>
        </p:txBody>
      </p:sp>
      <p:sp>
        <p:nvSpPr>
          <p:cNvPr id="28" name="Shape 26"/>
          <p:cNvSpPr/>
          <p:nvPr/>
        </p:nvSpPr>
        <p:spPr>
          <a:xfrm>
            <a:off x="4919472" y="2468880"/>
            <a:ext cx="1673352" cy="530352"/>
          </a:xfrm>
          <a:prstGeom prst="rect">
            <a:avLst/>
          </a:prstGeom>
          <a:solidFill>
            <a:srgbClr val="F3F4F6"/>
          </a:solidFill>
          <a:ln w="8255">
            <a:solidFill>
              <a:srgbClr val="F3F4F6"/>
            </a:solidFill>
            <a:prstDash val="solid"/>
          </a:ln>
        </p:spPr>
        <p:txBody>
          <a:bodyPr/>
          <a:lstStyle/>
          <a:p>
            <a:endParaRPr lang="en-US"/>
          </a:p>
        </p:txBody>
      </p:sp>
      <p:sp>
        <p:nvSpPr>
          <p:cNvPr id="29" name="Text 27"/>
          <p:cNvSpPr/>
          <p:nvPr/>
        </p:nvSpPr>
        <p:spPr>
          <a:xfrm>
            <a:off x="5010912" y="2532888"/>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20</a:t>
            </a:r>
            <a:endParaRPr lang="en-US" sz="1500" dirty="0"/>
          </a:p>
        </p:txBody>
      </p:sp>
      <p:sp>
        <p:nvSpPr>
          <p:cNvPr id="30" name="Shape 28"/>
          <p:cNvSpPr/>
          <p:nvPr/>
        </p:nvSpPr>
        <p:spPr>
          <a:xfrm>
            <a:off x="6592824" y="2468880"/>
            <a:ext cx="1673352" cy="530352"/>
          </a:xfrm>
          <a:prstGeom prst="rect">
            <a:avLst/>
          </a:prstGeom>
          <a:solidFill>
            <a:srgbClr val="F3F4F6"/>
          </a:solidFill>
          <a:ln w="8255">
            <a:solidFill>
              <a:srgbClr val="F3F4F6"/>
            </a:solidFill>
            <a:prstDash val="solid"/>
          </a:ln>
        </p:spPr>
        <p:txBody>
          <a:bodyPr/>
          <a:lstStyle/>
          <a:p>
            <a:endParaRPr lang="en-US"/>
          </a:p>
        </p:txBody>
      </p:sp>
      <p:sp>
        <p:nvSpPr>
          <p:cNvPr id="31" name="Text 29"/>
          <p:cNvSpPr/>
          <p:nvPr/>
        </p:nvSpPr>
        <p:spPr>
          <a:xfrm>
            <a:off x="6684264" y="2532888"/>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24</a:t>
            </a:r>
            <a:endParaRPr lang="en-US" sz="1500" dirty="0"/>
          </a:p>
        </p:txBody>
      </p:sp>
      <p:sp>
        <p:nvSpPr>
          <p:cNvPr id="32" name="Shape 30"/>
          <p:cNvSpPr/>
          <p:nvPr/>
        </p:nvSpPr>
        <p:spPr>
          <a:xfrm>
            <a:off x="8266176" y="2468880"/>
            <a:ext cx="1673352" cy="530352"/>
          </a:xfrm>
          <a:prstGeom prst="rect">
            <a:avLst/>
          </a:prstGeom>
          <a:solidFill>
            <a:srgbClr val="F3F4F6"/>
          </a:solidFill>
          <a:ln w="8255">
            <a:solidFill>
              <a:srgbClr val="F3F4F6"/>
            </a:solidFill>
            <a:prstDash val="solid"/>
          </a:ln>
        </p:spPr>
        <p:txBody>
          <a:bodyPr/>
          <a:lstStyle/>
          <a:p>
            <a:endParaRPr lang="en-US"/>
          </a:p>
        </p:txBody>
      </p:sp>
      <p:sp>
        <p:nvSpPr>
          <p:cNvPr id="33" name="Text 31"/>
          <p:cNvSpPr/>
          <p:nvPr/>
        </p:nvSpPr>
        <p:spPr>
          <a:xfrm>
            <a:off x="8357616" y="2532888"/>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40</a:t>
            </a:r>
            <a:endParaRPr lang="en-US" sz="1500" dirty="0"/>
          </a:p>
        </p:txBody>
      </p:sp>
      <p:sp>
        <p:nvSpPr>
          <p:cNvPr id="34" name="Shape 32"/>
          <p:cNvSpPr/>
          <p:nvPr/>
        </p:nvSpPr>
        <p:spPr>
          <a:xfrm>
            <a:off x="9939528" y="2468880"/>
            <a:ext cx="1746504" cy="530352"/>
          </a:xfrm>
          <a:prstGeom prst="rect">
            <a:avLst/>
          </a:prstGeom>
          <a:solidFill>
            <a:srgbClr val="F3F4F6"/>
          </a:solidFill>
          <a:ln w="8255">
            <a:solidFill>
              <a:srgbClr val="F3F4F6"/>
            </a:solidFill>
            <a:prstDash val="solid"/>
          </a:ln>
        </p:spPr>
        <p:txBody>
          <a:bodyPr/>
          <a:lstStyle/>
          <a:p>
            <a:endParaRPr lang="en-US"/>
          </a:p>
        </p:txBody>
      </p:sp>
      <p:sp>
        <p:nvSpPr>
          <p:cNvPr id="35" name="Text 33"/>
          <p:cNvSpPr/>
          <p:nvPr/>
        </p:nvSpPr>
        <p:spPr>
          <a:xfrm>
            <a:off x="10030968" y="2532888"/>
            <a:ext cx="1563624"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60</a:t>
            </a:r>
            <a:endParaRPr lang="en-US" sz="1500" dirty="0"/>
          </a:p>
        </p:txBody>
      </p:sp>
      <p:sp>
        <p:nvSpPr>
          <p:cNvPr id="36" name="Shape 34"/>
          <p:cNvSpPr/>
          <p:nvPr/>
        </p:nvSpPr>
        <p:spPr>
          <a:xfrm>
            <a:off x="502920" y="2999232"/>
            <a:ext cx="11183112" cy="0"/>
          </a:xfrm>
          <a:prstGeom prst="line">
            <a:avLst/>
          </a:prstGeom>
          <a:noFill/>
          <a:ln w="5715">
            <a:solidFill>
              <a:srgbClr val="D8DBDF"/>
            </a:solidFill>
            <a:prstDash val="solid"/>
          </a:ln>
        </p:spPr>
        <p:txBody>
          <a:bodyPr/>
          <a:lstStyle/>
          <a:p>
            <a:endParaRPr lang="en-US"/>
          </a:p>
        </p:txBody>
      </p:sp>
      <p:sp>
        <p:nvSpPr>
          <p:cNvPr id="37" name="Shape 35"/>
          <p:cNvSpPr/>
          <p:nvPr/>
        </p:nvSpPr>
        <p:spPr>
          <a:xfrm>
            <a:off x="502920" y="2999232"/>
            <a:ext cx="2743200" cy="530352"/>
          </a:xfrm>
          <a:prstGeom prst="rect">
            <a:avLst/>
          </a:prstGeom>
          <a:solidFill>
            <a:srgbClr val="FFFFFF"/>
          </a:solidFill>
          <a:ln w="8255">
            <a:solidFill>
              <a:srgbClr val="FFFFFF"/>
            </a:solidFill>
            <a:prstDash val="solid"/>
          </a:ln>
        </p:spPr>
        <p:txBody>
          <a:bodyPr/>
          <a:lstStyle/>
          <a:p>
            <a:endParaRPr lang="en-US"/>
          </a:p>
        </p:txBody>
      </p:sp>
      <p:sp>
        <p:nvSpPr>
          <p:cNvPr id="38" name="Text 36"/>
          <p:cNvSpPr/>
          <p:nvPr/>
        </p:nvSpPr>
        <p:spPr>
          <a:xfrm>
            <a:off x="594360" y="3063240"/>
            <a:ext cx="2560320" cy="402336"/>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ATMOS allowance</a:t>
            </a:r>
            <a:endParaRPr lang="en-US" sz="1500" dirty="0"/>
          </a:p>
        </p:txBody>
      </p:sp>
      <p:sp>
        <p:nvSpPr>
          <p:cNvPr id="39" name="Shape 37"/>
          <p:cNvSpPr/>
          <p:nvPr/>
        </p:nvSpPr>
        <p:spPr>
          <a:xfrm>
            <a:off x="3246120" y="2999232"/>
            <a:ext cx="1673352" cy="530352"/>
          </a:xfrm>
          <a:prstGeom prst="rect">
            <a:avLst/>
          </a:prstGeom>
          <a:solidFill>
            <a:srgbClr val="FFFFFF"/>
          </a:solidFill>
          <a:ln w="8255">
            <a:solidFill>
              <a:srgbClr val="FFFFFF"/>
            </a:solidFill>
            <a:prstDash val="solid"/>
          </a:ln>
        </p:spPr>
        <p:txBody>
          <a:bodyPr/>
          <a:lstStyle/>
          <a:p>
            <a:endParaRPr lang="en-US"/>
          </a:p>
        </p:txBody>
      </p:sp>
      <p:sp>
        <p:nvSpPr>
          <p:cNvPr id="40" name="Text 38"/>
          <p:cNvSpPr/>
          <p:nvPr/>
        </p:nvSpPr>
        <p:spPr>
          <a:xfrm>
            <a:off x="3337560" y="3063240"/>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14</a:t>
            </a:r>
            <a:endParaRPr lang="en-US" sz="1500" dirty="0"/>
          </a:p>
        </p:txBody>
      </p:sp>
      <p:sp>
        <p:nvSpPr>
          <p:cNvPr id="41" name="Shape 39"/>
          <p:cNvSpPr/>
          <p:nvPr/>
        </p:nvSpPr>
        <p:spPr>
          <a:xfrm>
            <a:off x="4919472" y="2999232"/>
            <a:ext cx="1673352" cy="530352"/>
          </a:xfrm>
          <a:prstGeom prst="rect">
            <a:avLst/>
          </a:prstGeom>
          <a:solidFill>
            <a:srgbClr val="FFFFFF"/>
          </a:solidFill>
          <a:ln w="8255">
            <a:solidFill>
              <a:srgbClr val="FFFFFF"/>
            </a:solidFill>
            <a:prstDash val="solid"/>
          </a:ln>
        </p:spPr>
        <p:txBody>
          <a:bodyPr/>
          <a:lstStyle/>
          <a:p>
            <a:endParaRPr lang="en-US"/>
          </a:p>
        </p:txBody>
      </p:sp>
      <p:sp>
        <p:nvSpPr>
          <p:cNvPr id="42" name="Text 40"/>
          <p:cNvSpPr/>
          <p:nvPr/>
        </p:nvSpPr>
        <p:spPr>
          <a:xfrm>
            <a:off x="5010912" y="3063240"/>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28</a:t>
            </a:r>
            <a:endParaRPr lang="en-US" sz="1500" dirty="0"/>
          </a:p>
        </p:txBody>
      </p:sp>
      <p:sp>
        <p:nvSpPr>
          <p:cNvPr id="43" name="Shape 41"/>
          <p:cNvSpPr/>
          <p:nvPr/>
        </p:nvSpPr>
        <p:spPr>
          <a:xfrm>
            <a:off x="6592824" y="2999232"/>
            <a:ext cx="1673352" cy="530352"/>
          </a:xfrm>
          <a:prstGeom prst="rect">
            <a:avLst/>
          </a:prstGeom>
          <a:solidFill>
            <a:srgbClr val="FFFFFF"/>
          </a:solidFill>
          <a:ln w="8255">
            <a:solidFill>
              <a:srgbClr val="FFFFFF"/>
            </a:solidFill>
            <a:prstDash val="solid"/>
          </a:ln>
        </p:spPr>
        <p:txBody>
          <a:bodyPr/>
          <a:lstStyle/>
          <a:p>
            <a:endParaRPr lang="en-US"/>
          </a:p>
        </p:txBody>
      </p:sp>
      <p:sp>
        <p:nvSpPr>
          <p:cNvPr id="44" name="Text 42"/>
          <p:cNvSpPr/>
          <p:nvPr/>
        </p:nvSpPr>
        <p:spPr>
          <a:xfrm>
            <a:off x="6684264" y="3063240"/>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28</a:t>
            </a:r>
            <a:endParaRPr lang="en-US" sz="1500" dirty="0"/>
          </a:p>
        </p:txBody>
      </p:sp>
      <p:sp>
        <p:nvSpPr>
          <p:cNvPr id="45" name="Shape 43"/>
          <p:cNvSpPr/>
          <p:nvPr/>
        </p:nvSpPr>
        <p:spPr>
          <a:xfrm>
            <a:off x="8266176" y="2999232"/>
            <a:ext cx="1673352" cy="530352"/>
          </a:xfrm>
          <a:prstGeom prst="rect">
            <a:avLst/>
          </a:prstGeom>
          <a:solidFill>
            <a:srgbClr val="FFFFFF"/>
          </a:solidFill>
          <a:ln w="8255">
            <a:solidFill>
              <a:srgbClr val="FFFFFF"/>
            </a:solidFill>
            <a:prstDash val="solid"/>
          </a:ln>
        </p:spPr>
        <p:txBody>
          <a:bodyPr/>
          <a:lstStyle/>
          <a:p>
            <a:endParaRPr lang="en-US"/>
          </a:p>
        </p:txBody>
      </p:sp>
      <p:sp>
        <p:nvSpPr>
          <p:cNvPr id="46" name="Text 44"/>
          <p:cNvSpPr/>
          <p:nvPr/>
        </p:nvSpPr>
        <p:spPr>
          <a:xfrm>
            <a:off x="8357616" y="3063240"/>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56</a:t>
            </a:r>
            <a:endParaRPr lang="en-US" sz="1500" dirty="0"/>
          </a:p>
        </p:txBody>
      </p:sp>
      <p:sp>
        <p:nvSpPr>
          <p:cNvPr id="47" name="Shape 45"/>
          <p:cNvSpPr/>
          <p:nvPr/>
        </p:nvSpPr>
        <p:spPr>
          <a:xfrm>
            <a:off x="9939528" y="2999232"/>
            <a:ext cx="1746504" cy="530352"/>
          </a:xfrm>
          <a:prstGeom prst="rect">
            <a:avLst/>
          </a:prstGeom>
          <a:solidFill>
            <a:srgbClr val="FFFFFF"/>
          </a:solidFill>
          <a:ln w="8255">
            <a:solidFill>
              <a:srgbClr val="FFFFFF"/>
            </a:solidFill>
            <a:prstDash val="solid"/>
          </a:ln>
        </p:spPr>
        <p:txBody>
          <a:bodyPr/>
          <a:lstStyle/>
          <a:p>
            <a:endParaRPr lang="en-US"/>
          </a:p>
        </p:txBody>
      </p:sp>
      <p:sp>
        <p:nvSpPr>
          <p:cNvPr id="48" name="Text 46"/>
          <p:cNvSpPr/>
          <p:nvPr/>
        </p:nvSpPr>
        <p:spPr>
          <a:xfrm>
            <a:off x="10030968" y="3063240"/>
            <a:ext cx="1563624"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84</a:t>
            </a:r>
            <a:endParaRPr lang="en-US" sz="1500" dirty="0"/>
          </a:p>
        </p:txBody>
      </p:sp>
      <p:sp>
        <p:nvSpPr>
          <p:cNvPr id="49" name="Shape 47"/>
          <p:cNvSpPr/>
          <p:nvPr/>
        </p:nvSpPr>
        <p:spPr>
          <a:xfrm>
            <a:off x="502920" y="3529584"/>
            <a:ext cx="11183112" cy="0"/>
          </a:xfrm>
          <a:prstGeom prst="line">
            <a:avLst/>
          </a:prstGeom>
          <a:noFill/>
          <a:ln w="5715">
            <a:solidFill>
              <a:srgbClr val="D8DBDF"/>
            </a:solidFill>
            <a:prstDash val="solid"/>
          </a:ln>
        </p:spPr>
        <p:txBody>
          <a:bodyPr/>
          <a:lstStyle/>
          <a:p>
            <a:endParaRPr lang="en-US"/>
          </a:p>
        </p:txBody>
      </p:sp>
      <p:sp>
        <p:nvSpPr>
          <p:cNvPr id="50" name="Shape 48"/>
          <p:cNvSpPr/>
          <p:nvPr/>
        </p:nvSpPr>
        <p:spPr>
          <a:xfrm>
            <a:off x="502920" y="3529584"/>
            <a:ext cx="2743200" cy="530352"/>
          </a:xfrm>
          <a:prstGeom prst="rect">
            <a:avLst/>
          </a:prstGeom>
          <a:solidFill>
            <a:srgbClr val="F3F4F6"/>
          </a:solidFill>
          <a:ln w="8255">
            <a:solidFill>
              <a:srgbClr val="F3F4F6"/>
            </a:solidFill>
            <a:prstDash val="solid"/>
          </a:ln>
        </p:spPr>
        <p:txBody>
          <a:bodyPr/>
          <a:lstStyle/>
          <a:p>
            <a:endParaRPr lang="en-US"/>
          </a:p>
        </p:txBody>
      </p:sp>
      <p:sp>
        <p:nvSpPr>
          <p:cNvPr id="51" name="Text 49"/>
          <p:cNvSpPr/>
          <p:nvPr/>
        </p:nvSpPr>
        <p:spPr>
          <a:xfrm>
            <a:off x="594360" y="3593592"/>
            <a:ext cx="2560320" cy="402336"/>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Acquisition budget</a:t>
            </a:r>
            <a:endParaRPr lang="en-US" sz="1500" dirty="0"/>
          </a:p>
        </p:txBody>
      </p:sp>
      <p:sp>
        <p:nvSpPr>
          <p:cNvPr id="52" name="Shape 50"/>
          <p:cNvSpPr/>
          <p:nvPr/>
        </p:nvSpPr>
        <p:spPr>
          <a:xfrm>
            <a:off x="3246120" y="3529584"/>
            <a:ext cx="1673352" cy="530352"/>
          </a:xfrm>
          <a:prstGeom prst="rect">
            <a:avLst/>
          </a:prstGeom>
          <a:solidFill>
            <a:srgbClr val="F3F4F6"/>
          </a:solidFill>
          <a:ln w="8255">
            <a:solidFill>
              <a:srgbClr val="F3F4F6"/>
            </a:solidFill>
            <a:prstDash val="solid"/>
          </a:ln>
        </p:spPr>
        <p:txBody>
          <a:bodyPr/>
          <a:lstStyle/>
          <a:p>
            <a:endParaRPr lang="en-US"/>
          </a:p>
        </p:txBody>
      </p:sp>
      <p:sp>
        <p:nvSpPr>
          <p:cNvPr id="53" name="Text 51"/>
          <p:cNvSpPr/>
          <p:nvPr/>
        </p:nvSpPr>
        <p:spPr>
          <a:xfrm>
            <a:off x="3337560" y="3593592"/>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23</a:t>
            </a:r>
            <a:endParaRPr lang="en-US" sz="1500" dirty="0"/>
          </a:p>
        </p:txBody>
      </p:sp>
      <p:sp>
        <p:nvSpPr>
          <p:cNvPr id="54" name="Shape 52"/>
          <p:cNvSpPr/>
          <p:nvPr/>
        </p:nvSpPr>
        <p:spPr>
          <a:xfrm>
            <a:off x="4919472" y="3529584"/>
            <a:ext cx="1673352" cy="530352"/>
          </a:xfrm>
          <a:prstGeom prst="rect">
            <a:avLst/>
          </a:prstGeom>
          <a:solidFill>
            <a:srgbClr val="F3F4F6"/>
          </a:solidFill>
          <a:ln w="8255">
            <a:solidFill>
              <a:srgbClr val="F3F4F6"/>
            </a:solidFill>
            <a:prstDash val="solid"/>
          </a:ln>
        </p:spPr>
        <p:txBody>
          <a:bodyPr/>
          <a:lstStyle/>
          <a:p>
            <a:endParaRPr lang="en-US"/>
          </a:p>
        </p:txBody>
      </p:sp>
      <p:sp>
        <p:nvSpPr>
          <p:cNvPr id="55" name="Text 53"/>
          <p:cNvSpPr/>
          <p:nvPr/>
        </p:nvSpPr>
        <p:spPr>
          <a:xfrm>
            <a:off x="5010912" y="3593592"/>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48</a:t>
            </a:r>
            <a:endParaRPr lang="en-US" sz="1500" dirty="0"/>
          </a:p>
        </p:txBody>
      </p:sp>
      <p:sp>
        <p:nvSpPr>
          <p:cNvPr id="56" name="Shape 54"/>
          <p:cNvSpPr/>
          <p:nvPr/>
        </p:nvSpPr>
        <p:spPr>
          <a:xfrm>
            <a:off x="6592824" y="3529584"/>
            <a:ext cx="1673352" cy="530352"/>
          </a:xfrm>
          <a:prstGeom prst="rect">
            <a:avLst/>
          </a:prstGeom>
          <a:solidFill>
            <a:srgbClr val="F3F4F6"/>
          </a:solidFill>
          <a:ln w="8255">
            <a:solidFill>
              <a:srgbClr val="F3F4F6"/>
            </a:solidFill>
            <a:prstDash val="solid"/>
          </a:ln>
        </p:spPr>
        <p:txBody>
          <a:bodyPr/>
          <a:lstStyle/>
          <a:p>
            <a:endParaRPr lang="en-US"/>
          </a:p>
        </p:txBody>
      </p:sp>
      <p:sp>
        <p:nvSpPr>
          <p:cNvPr id="57" name="Text 55"/>
          <p:cNvSpPr/>
          <p:nvPr/>
        </p:nvSpPr>
        <p:spPr>
          <a:xfrm>
            <a:off x="6684264" y="3593592"/>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52</a:t>
            </a:r>
            <a:endParaRPr lang="en-US" sz="1500" dirty="0"/>
          </a:p>
        </p:txBody>
      </p:sp>
      <p:sp>
        <p:nvSpPr>
          <p:cNvPr id="58" name="Shape 56"/>
          <p:cNvSpPr/>
          <p:nvPr/>
        </p:nvSpPr>
        <p:spPr>
          <a:xfrm>
            <a:off x="8266176" y="3529584"/>
            <a:ext cx="1673352" cy="530352"/>
          </a:xfrm>
          <a:prstGeom prst="rect">
            <a:avLst/>
          </a:prstGeom>
          <a:solidFill>
            <a:srgbClr val="F3F4F6"/>
          </a:solidFill>
          <a:ln w="8255">
            <a:solidFill>
              <a:srgbClr val="F3F4F6"/>
            </a:solidFill>
            <a:prstDash val="solid"/>
          </a:ln>
        </p:spPr>
        <p:txBody>
          <a:bodyPr/>
          <a:lstStyle/>
          <a:p>
            <a:endParaRPr lang="en-US"/>
          </a:p>
        </p:txBody>
      </p:sp>
      <p:sp>
        <p:nvSpPr>
          <p:cNvPr id="59" name="Text 57"/>
          <p:cNvSpPr/>
          <p:nvPr/>
        </p:nvSpPr>
        <p:spPr>
          <a:xfrm>
            <a:off x="8357616" y="3593592"/>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96</a:t>
            </a:r>
            <a:endParaRPr lang="en-US" sz="1500" dirty="0"/>
          </a:p>
        </p:txBody>
      </p:sp>
      <p:sp>
        <p:nvSpPr>
          <p:cNvPr id="60" name="Shape 58"/>
          <p:cNvSpPr/>
          <p:nvPr/>
        </p:nvSpPr>
        <p:spPr>
          <a:xfrm>
            <a:off x="9939528" y="3529584"/>
            <a:ext cx="1746504" cy="530352"/>
          </a:xfrm>
          <a:prstGeom prst="rect">
            <a:avLst/>
          </a:prstGeom>
          <a:solidFill>
            <a:srgbClr val="F3F4F6"/>
          </a:solidFill>
          <a:ln w="8255">
            <a:solidFill>
              <a:srgbClr val="F3F4F6"/>
            </a:solidFill>
            <a:prstDash val="solid"/>
          </a:ln>
        </p:spPr>
        <p:txBody>
          <a:bodyPr/>
          <a:lstStyle/>
          <a:p>
            <a:endParaRPr lang="en-US"/>
          </a:p>
        </p:txBody>
      </p:sp>
      <p:sp>
        <p:nvSpPr>
          <p:cNvPr id="61" name="Text 59"/>
          <p:cNvSpPr/>
          <p:nvPr/>
        </p:nvSpPr>
        <p:spPr>
          <a:xfrm>
            <a:off x="10030968" y="3593592"/>
            <a:ext cx="1563624"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144</a:t>
            </a:r>
            <a:endParaRPr lang="en-US" sz="1500" dirty="0"/>
          </a:p>
        </p:txBody>
      </p:sp>
      <p:sp>
        <p:nvSpPr>
          <p:cNvPr id="62" name="Shape 60"/>
          <p:cNvSpPr/>
          <p:nvPr/>
        </p:nvSpPr>
        <p:spPr>
          <a:xfrm>
            <a:off x="502920" y="4059936"/>
            <a:ext cx="11183112" cy="0"/>
          </a:xfrm>
          <a:prstGeom prst="line">
            <a:avLst/>
          </a:prstGeom>
          <a:noFill/>
          <a:ln w="5715">
            <a:solidFill>
              <a:srgbClr val="D8DBDF"/>
            </a:solidFill>
            <a:prstDash val="solid"/>
          </a:ln>
        </p:spPr>
        <p:txBody>
          <a:bodyPr/>
          <a:lstStyle/>
          <a:p>
            <a:endParaRPr lang="en-US"/>
          </a:p>
        </p:txBody>
      </p:sp>
      <p:sp>
        <p:nvSpPr>
          <p:cNvPr id="63" name="Shape 61"/>
          <p:cNvSpPr/>
          <p:nvPr/>
        </p:nvSpPr>
        <p:spPr>
          <a:xfrm>
            <a:off x="502920" y="4059936"/>
            <a:ext cx="2743200" cy="530352"/>
          </a:xfrm>
          <a:prstGeom prst="rect">
            <a:avLst/>
          </a:prstGeom>
          <a:solidFill>
            <a:srgbClr val="FFFFFF"/>
          </a:solidFill>
          <a:ln w="8255">
            <a:solidFill>
              <a:srgbClr val="FFFFFF"/>
            </a:solidFill>
            <a:prstDash val="solid"/>
          </a:ln>
        </p:spPr>
        <p:txBody>
          <a:bodyPr/>
          <a:lstStyle/>
          <a:p>
            <a:endParaRPr lang="en-US"/>
          </a:p>
        </p:txBody>
      </p:sp>
      <p:sp>
        <p:nvSpPr>
          <p:cNvPr id="64" name="Text 62"/>
          <p:cNvSpPr/>
          <p:nvPr/>
        </p:nvSpPr>
        <p:spPr>
          <a:xfrm>
            <a:off x="594360" y="4123944"/>
            <a:ext cx="2560320" cy="402336"/>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Annual software / support</a:t>
            </a:r>
            <a:endParaRPr lang="en-US" sz="1500" dirty="0"/>
          </a:p>
        </p:txBody>
      </p:sp>
      <p:sp>
        <p:nvSpPr>
          <p:cNvPr id="65" name="Shape 63"/>
          <p:cNvSpPr/>
          <p:nvPr/>
        </p:nvSpPr>
        <p:spPr>
          <a:xfrm>
            <a:off x="3246120" y="4059936"/>
            <a:ext cx="1673352" cy="530352"/>
          </a:xfrm>
          <a:prstGeom prst="rect">
            <a:avLst/>
          </a:prstGeom>
          <a:solidFill>
            <a:srgbClr val="FFFFFF"/>
          </a:solidFill>
          <a:ln w="8255">
            <a:solidFill>
              <a:srgbClr val="FFFFFF"/>
            </a:solidFill>
            <a:prstDash val="solid"/>
          </a:ln>
        </p:spPr>
        <p:txBody>
          <a:bodyPr/>
          <a:lstStyle/>
          <a:p>
            <a:endParaRPr lang="en-US"/>
          </a:p>
        </p:txBody>
      </p:sp>
      <p:sp>
        <p:nvSpPr>
          <p:cNvPr id="66" name="Text 64"/>
          <p:cNvSpPr/>
          <p:nvPr/>
        </p:nvSpPr>
        <p:spPr>
          <a:xfrm>
            <a:off x="3337560" y="4123944"/>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a:t>
            </a:r>
            <a:endParaRPr lang="en-US" sz="1500" dirty="0"/>
          </a:p>
        </p:txBody>
      </p:sp>
      <p:sp>
        <p:nvSpPr>
          <p:cNvPr id="67" name="Shape 65"/>
          <p:cNvSpPr/>
          <p:nvPr/>
        </p:nvSpPr>
        <p:spPr>
          <a:xfrm>
            <a:off x="4919472" y="4059936"/>
            <a:ext cx="1673352" cy="530352"/>
          </a:xfrm>
          <a:prstGeom prst="rect">
            <a:avLst/>
          </a:prstGeom>
          <a:solidFill>
            <a:srgbClr val="FFFFFF"/>
          </a:solidFill>
          <a:ln w="8255">
            <a:solidFill>
              <a:srgbClr val="FFFFFF"/>
            </a:solidFill>
            <a:prstDash val="solid"/>
          </a:ln>
        </p:spPr>
        <p:txBody>
          <a:bodyPr/>
          <a:lstStyle/>
          <a:p>
            <a:endParaRPr lang="en-US"/>
          </a:p>
        </p:txBody>
      </p:sp>
      <p:sp>
        <p:nvSpPr>
          <p:cNvPr id="68" name="Text 66"/>
          <p:cNvSpPr/>
          <p:nvPr/>
        </p:nvSpPr>
        <p:spPr>
          <a:xfrm>
            <a:off x="5010912" y="4123944"/>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6</a:t>
            </a:r>
            <a:endParaRPr lang="en-US" sz="1500" dirty="0"/>
          </a:p>
        </p:txBody>
      </p:sp>
      <p:sp>
        <p:nvSpPr>
          <p:cNvPr id="69" name="Shape 67"/>
          <p:cNvSpPr/>
          <p:nvPr/>
        </p:nvSpPr>
        <p:spPr>
          <a:xfrm>
            <a:off x="6592824" y="4059936"/>
            <a:ext cx="1673352" cy="530352"/>
          </a:xfrm>
          <a:prstGeom prst="rect">
            <a:avLst/>
          </a:prstGeom>
          <a:solidFill>
            <a:srgbClr val="FFFFFF"/>
          </a:solidFill>
          <a:ln w="8255">
            <a:solidFill>
              <a:srgbClr val="FFFFFF"/>
            </a:solidFill>
            <a:prstDash val="solid"/>
          </a:ln>
        </p:spPr>
        <p:txBody>
          <a:bodyPr/>
          <a:lstStyle/>
          <a:p>
            <a:endParaRPr lang="en-US"/>
          </a:p>
        </p:txBody>
      </p:sp>
      <p:sp>
        <p:nvSpPr>
          <p:cNvPr id="70" name="Text 68"/>
          <p:cNvSpPr/>
          <p:nvPr/>
        </p:nvSpPr>
        <p:spPr>
          <a:xfrm>
            <a:off x="6684264" y="4123944"/>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8</a:t>
            </a:r>
            <a:endParaRPr lang="en-US" sz="1500" dirty="0"/>
          </a:p>
        </p:txBody>
      </p:sp>
      <p:sp>
        <p:nvSpPr>
          <p:cNvPr id="71" name="Shape 69"/>
          <p:cNvSpPr/>
          <p:nvPr/>
        </p:nvSpPr>
        <p:spPr>
          <a:xfrm>
            <a:off x="8266176" y="4059936"/>
            <a:ext cx="1673352" cy="530352"/>
          </a:xfrm>
          <a:prstGeom prst="rect">
            <a:avLst/>
          </a:prstGeom>
          <a:solidFill>
            <a:srgbClr val="FFFFFF"/>
          </a:solidFill>
          <a:ln w="8255">
            <a:solidFill>
              <a:srgbClr val="FFFFFF"/>
            </a:solidFill>
            <a:prstDash val="solid"/>
          </a:ln>
        </p:spPr>
        <p:txBody>
          <a:bodyPr/>
          <a:lstStyle/>
          <a:p>
            <a:endParaRPr lang="en-US"/>
          </a:p>
        </p:txBody>
      </p:sp>
      <p:sp>
        <p:nvSpPr>
          <p:cNvPr id="72" name="Text 70"/>
          <p:cNvSpPr/>
          <p:nvPr/>
        </p:nvSpPr>
        <p:spPr>
          <a:xfrm>
            <a:off x="8357616" y="4123944"/>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12</a:t>
            </a:r>
            <a:endParaRPr lang="en-US" sz="1500" dirty="0"/>
          </a:p>
        </p:txBody>
      </p:sp>
      <p:sp>
        <p:nvSpPr>
          <p:cNvPr id="73" name="Shape 71"/>
          <p:cNvSpPr/>
          <p:nvPr/>
        </p:nvSpPr>
        <p:spPr>
          <a:xfrm>
            <a:off x="9939528" y="4059936"/>
            <a:ext cx="1746504" cy="530352"/>
          </a:xfrm>
          <a:prstGeom prst="rect">
            <a:avLst/>
          </a:prstGeom>
          <a:solidFill>
            <a:srgbClr val="FFFFFF"/>
          </a:solidFill>
          <a:ln w="8255">
            <a:solidFill>
              <a:srgbClr val="FFFFFF"/>
            </a:solidFill>
            <a:prstDash val="solid"/>
          </a:ln>
        </p:spPr>
        <p:txBody>
          <a:bodyPr/>
          <a:lstStyle/>
          <a:p>
            <a:endParaRPr lang="en-US"/>
          </a:p>
        </p:txBody>
      </p:sp>
      <p:sp>
        <p:nvSpPr>
          <p:cNvPr id="74" name="Text 72"/>
          <p:cNvSpPr/>
          <p:nvPr/>
        </p:nvSpPr>
        <p:spPr>
          <a:xfrm>
            <a:off x="10030968" y="4123944"/>
            <a:ext cx="1563624"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18</a:t>
            </a:r>
            <a:endParaRPr lang="en-US" sz="1500" dirty="0"/>
          </a:p>
        </p:txBody>
      </p:sp>
      <p:sp>
        <p:nvSpPr>
          <p:cNvPr id="75" name="Shape 73"/>
          <p:cNvSpPr/>
          <p:nvPr/>
        </p:nvSpPr>
        <p:spPr>
          <a:xfrm>
            <a:off x="502920" y="4590288"/>
            <a:ext cx="11183112" cy="0"/>
          </a:xfrm>
          <a:prstGeom prst="line">
            <a:avLst/>
          </a:prstGeom>
          <a:noFill/>
          <a:ln w="5715">
            <a:solidFill>
              <a:srgbClr val="D8DBDF"/>
            </a:solidFill>
            <a:prstDash val="solid"/>
          </a:ln>
        </p:spPr>
        <p:txBody>
          <a:bodyPr/>
          <a:lstStyle/>
          <a:p>
            <a:endParaRPr lang="en-US"/>
          </a:p>
        </p:txBody>
      </p:sp>
      <p:sp>
        <p:nvSpPr>
          <p:cNvPr id="76" name="Shape 74"/>
          <p:cNvSpPr/>
          <p:nvPr/>
        </p:nvSpPr>
        <p:spPr>
          <a:xfrm>
            <a:off x="502920" y="4590288"/>
            <a:ext cx="2743200" cy="530352"/>
          </a:xfrm>
          <a:prstGeom prst="rect">
            <a:avLst/>
          </a:prstGeom>
          <a:solidFill>
            <a:srgbClr val="F3F4F6"/>
          </a:solidFill>
          <a:ln w="8255">
            <a:solidFill>
              <a:srgbClr val="F3F4F6"/>
            </a:solidFill>
            <a:prstDash val="solid"/>
          </a:ln>
        </p:spPr>
        <p:txBody>
          <a:bodyPr/>
          <a:lstStyle/>
          <a:p>
            <a:endParaRPr lang="en-US"/>
          </a:p>
        </p:txBody>
      </p:sp>
      <p:sp>
        <p:nvSpPr>
          <p:cNvPr id="77" name="Text 75"/>
          <p:cNvSpPr/>
          <p:nvPr/>
        </p:nvSpPr>
        <p:spPr>
          <a:xfrm>
            <a:off x="594360" y="4654296"/>
            <a:ext cx="2560320" cy="402336"/>
          </a:xfrm>
          <a:prstGeom prst="rect">
            <a:avLst/>
          </a:prstGeom>
          <a:noFill/>
          <a:ln/>
        </p:spPr>
        <p:txBody>
          <a:bodyPr wrap="square" lIns="0" tIns="0" rIns="0" bIns="0" rtlCol="0" anchor="ctr">
            <a:normAutofit/>
          </a:bodyPr>
          <a:lstStyle/>
          <a:p>
            <a:pPr marL="0" indent="0">
              <a:buNone/>
            </a:pPr>
            <a:r>
              <a:rPr lang="en-US" sz="1500" b="1" dirty="0">
                <a:solidFill>
                  <a:srgbClr val="18191D"/>
                </a:solidFill>
                <a:latin typeface="Arial" pitchFamily="34" charset="0"/>
                <a:ea typeface="Arial" pitchFamily="34" charset="-122"/>
                <a:cs typeface="Arial" pitchFamily="34" charset="-120"/>
              </a:rPr>
              <a:t>3-year narrow TCO*</a:t>
            </a:r>
            <a:endParaRPr lang="en-US" sz="1500" dirty="0"/>
          </a:p>
        </p:txBody>
      </p:sp>
      <p:sp>
        <p:nvSpPr>
          <p:cNvPr id="78" name="Shape 76"/>
          <p:cNvSpPr/>
          <p:nvPr/>
        </p:nvSpPr>
        <p:spPr>
          <a:xfrm>
            <a:off x="3246120" y="4590288"/>
            <a:ext cx="1673352" cy="530352"/>
          </a:xfrm>
          <a:prstGeom prst="rect">
            <a:avLst/>
          </a:prstGeom>
          <a:solidFill>
            <a:srgbClr val="F3F4F6"/>
          </a:solidFill>
          <a:ln w="8255">
            <a:solidFill>
              <a:srgbClr val="F3F4F6"/>
            </a:solidFill>
            <a:prstDash val="solid"/>
          </a:ln>
        </p:spPr>
        <p:txBody>
          <a:bodyPr/>
          <a:lstStyle/>
          <a:p>
            <a:endParaRPr lang="en-US"/>
          </a:p>
        </p:txBody>
      </p:sp>
      <p:sp>
        <p:nvSpPr>
          <p:cNvPr id="79" name="Text 77"/>
          <p:cNvSpPr/>
          <p:nvPr/>
        </p:nvSpPr>
        <p:spPr>
          <a:xfrm>
            <a:off x="3337560" y="4654296"/>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31.5</a:t>
            </a:r>
            <a:endParaRPr lang="en-US" sz="1500" dirty="0"/>
          </a:p>
        </p:txBody>
      </p:sp>
      <p:sp>
        <p:nvSpPr>
          <p:cNvPr id="80" name="Shape 78"/>
          <p:cNvSpPr/>
          <p:nvPr/>
        </p:nvSpPr>
        <p:spPr>
          <a:xfrm>
            <a:off x="4919472" y="4590288"/>
            <a:ext cx="1673352" cy="530352"/>
          </a:xfrm>
          <a:prstGeom prst="rect">
            <a:avLst/>
          </a:prstGeom>
          <a:solidFill>
            <a:srgbClr val="F3F4F6"/>
          </a:solidFill>
          <a:ln w="8255">
            <a:solidFill>
              <a:srgbClr val="F3F4F6"/>
            </a:solidFill>
            <a:prstDash val="solid"/>
          </a:ln>
        </p:spPr>
        <p:txBody>
          <a:bodyPr/>
          <a:lstStyle/>
          <a:p>
            <a:endParaRPr lang="en-US"/>
          </a:p>
        </p:txBody>
      </p:sp>
      <p:sp>
        <p:nvSpPr>
          <p:cNvPr id="81" name="Text 79"/>
          <p:cNvSpPr/>
          <p:nvPr/>
        </p:nvSpPr>
        <p:spPr>
          <a:xfrm>
            <a:off x="5010912" y="4654296"/>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70.4</a:t>
            </a:r>
            <a:endParaRPr lang="en-US" sz="1500" dirty="0"/>
          </a:p>
        </p:txBody>
      </p:sp>
      <p:sp>
        <p:nvSpPr>
          <p:cNvPr id="82" name="Shape 80"/>
          <p:cNvSpPr/>
          <p:nvPr/>
        </p:nvSpPr>
        <p:spPr>
          <a:xfrm>
            <a:off x="6592824" y="4590288"/>
            <a:ext cx="1673352" cy="530352"/>
          </a:xfrm>
          <a:prstGeom prst="rect">
            <a:avLst/>
          </a:prstGeom>
          <a:solidFill>
            <a:srgbClr val="F3F4F6"/>
          </a:solidFill>
          <a:ln w="8255">
            <a:solidFill>
              <a:srgbClr val="F3F4F6"/>
            </a:solidFill>
            <a:prstDash val="solid"/>
          </a:ln>
        </p:spPr>
        <p:txBody>
          <a:bodyPr/>
          <a:lstStyle/>
          <a:p>
            <a:endParaRPr lang="en-US"/>
          </a:p>
        </p:txBody>
      </p:sp>
      <p:sp>
        <p:nvSpPr>
          <p:cNvPr id="83" name="Text 81"/>
          <p:cNvSpPr/>
          <p:nvPr/>
        </p:nvSpPr>
        <p:spPr>
          <a:xfrm>
            <a:off x="6684264" y="4654296"/>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81.0</a:t>
            </a:r>
            <a:endParaRPr lang="en-US" sz="1500" dirty="0"/>
          </a:p>
        </p:txBody>
      </p:sp>
      <p:sp>
        <p:nvSpPr>
          <p:cNvPr id="84" name="Shape 82"/>
          <p:cNvSpPr/>
          <p:nvPr/>
        </p:nvSpPr>
        <p:spPr>
          <a:xfrm>
            <a:off x="8266176" y="4590288"/>
            <a:ext cx="1673352" cy="530352"/>
          </a:xfrm>
          <a:prstGeom prst="rect">
            <a:avLst/>
          </a:prstGeom>
          <a:solidFill>
            <a:srgbClr val="F3F4F6"/>
          </a:solidFill>
          <a:ln w="8255">
            <a:solidFill>
              <a:srgbClr val="F3F4F6"/>
            </a:solidFill>
            <a:prstDash val="solid"/>
          </a:ln>
        </p:spPr>
        <p:txBody>
          <a:bodyPr/>
          <a:lstStyle/>
          <a:p>
            <a:endParaRPr lang="en-US"/>
          </a:p>
        </p:txBody>
      </p:sp>
      <p:sp>
        <p:nvSpPr>
          <p:cNvPr id="85" name="Text 83"/>
          <p:cNvSpPr/>
          <p:nvPr/>
        </p:nvSpPr>
        <p:spPr>
          <a:xfrm>
            <a:off x="8357616" y="4654296"/>
            <a:ext cx="1490472"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140.3</a:t>
            </a:r>
            <a:endParaRPr lang="en-US" sz="1500" dirty="0"/>
          </a:p>
        </p:txBody>
      </p:sp>
      <p:sp>
        <p:nvSpPr>
          <p:cNvPr id="86" name="Shape 84"/>
          <p:cNvSpPr/>
          <p:nvPr/>
        </p:nvSpPr>
        <p:spPr>
          <a:xfrm>
            <a:off x="9939528" y="4590288"/>
            <a:ext cx="1746504" cy="530352"/>
          </a:xfrm>
          <a:prstGeom prst="rect">
            <a:avLst/>
          </a:prstGeom>
          <a:solidFill>
            <a:srgbClr val="F3F4F6"/>
          </a:solidFill>
          <a:ln w="8255">
            <a:solidFill>
              <a:srgbClr val="F3F4F6"/>
            </a:solidFill>
            <a:prstDash val="solid"/>
          </a:ln>
        </p:spPr>
        <p:txBody>
          <a:bodyPr/>
          <a:lstStyle/>
          <a:p>
            <a:endParaRPr lang="en-US"/>
          </a:p>
        </p:txBody>
      </p:sp>
      <p:sp>
        <p:nvSpPr>
          <p:cNvPr id="87" name="Text 85"/>
          <p:cNvSpPr/>
          <p:nvPr/>
        </p:nvSpPr>
        <p:spPr>
          <a:xfrm>
            <a:off x="10030968" y="4654296"/>
            <a:ext cx="1563624" cy="402336"/>
          </a:xfrm>
          <a:prstGeom prst="rect">
            <a:avLst/>
          </a:prstGeom>
          <a:noFill/>
          <a:ln/>
        </p:spPr>
        <p:txBody>
          <a:bodyPr wrap="square" lIns="0" tIns="0" rIns="0" bIns="0" rtlCol="0" anchor="ctr">
            <a:normAutofit/>
          </a:bodyPr>
          <a:lstStyle/>
          <a:p>
            <a:pPr marL="0" indent="0">
              <a:buNone/>
            </a:pPr>
            <a:r>
              <a:rPr lang="en-US" sz="1500" dirty="0">
                <a:solidFill>
                  <a:srgbClr val="18191D"/>
                </a:solidFill>
                <a:latin typeface="Arial" pitchFamily="34" charset="0"/>
                <a:ea typeface="Arial" pitchFamily="34" charset="-122"/>
                <a:cs typeface="Arial" pitchFamily="34" charset="-120"/>
              </a:rPr>
              <a:t>210.1</a:t>
            </a:r>
            <a:endParaRPr lang="en-US" sz="1500" dirty="0"/>
          </a:p>
        </p:txBody>
      </p:sp>
      <p:sp>
        <p:nvSpPr>
          <p:cNvPr id="88" name="Shape 86"/>
          <p:cNvSpPr/>
          <p:nvPr/>
        </p:nvSpPr>
        <p:spPr>
          <a:xfrm>
            <a:off x="502920" y="5120640"/>
            <a:ext cx="11183112" cy="0"/>
          </a:xfrm>
          <a:prstGeom prst="line">
            <a:avLst/>
          </a:prstGeom>
          <a:noFill/>
          <a:ln w="5715">
            <a:solidFill>
              <a:srgbClr val="D8DBDF"/>
            </a:solidFill>
            <a:prstDash val="solid"/>
          </a:ln>
        </p:spPr>
        <p:txBody>
          <a:bodyPr/>
          <a:lstStyle/>
          <a:p>
            <a:endParaRPr lang="en-US"/>
          </a:p>
        </p:txBody>
      </p:sp>
      <p:sp>
        <p:nvSpPr>
          <p:cNvPr id="89" name="Text 87"/>
          <p:cNvSpPr/>
          <p:nvPr/>
        </p:nvSpPr>
        <p:spPr>
          <a:xfrm>
            <a:off x="640080" y="5367528"/>
            <a:ext cx="10789920" cy="274320"/>
          </a:xfrm>
          <a:prstGeom prst="rect">
            <a:avLst/>
          </a:prstGeom>
          <a:noFill/>
          <a:ln/>
        </p:spPr>
        <p:txBody>
          <a:bodyPr wrap="square" lIns="0" tIns="0" rIns="0" bIns="0" rtlCol="0" anchor="ctr">
            <a:normAutofit/>
          </a:bodyPr>
          <a:lstStyle/>
          <a:p>
            <a:pPr marL="0" indent="0">
              <a:buNone/>
            </a:pPr>
            <a:r>
              <a:rPr lang="en-US" sz="1200" dirty="0">
                <a:solidFill>
                  <a:srgbClr val="5B6169"/>
                </a:solidFill>
                <a:latin typeface="Arial" pitchFamily="34" charset="0"/>
                <a:ea typeface="Arial" pitchFamily="34" charset="-122"/>
                <a:cs typeface="Arial" pitchFamily="34" charset="-120"/>
              </a:rPr>
              <a:t>*Purchase + 3 annual subscriptions + energy at assumed draw, PUE 1.4, $0.15/kWh, 8,760h/year.</a:t>
            </a:r>
            <a:endParaRPr lang="en-US" sz="1200" dirty="0"/>
          </a:p>
        </p:txBody>
      </p:sp>
      <p:sp>
        <p:nvSpPr>
          <p:cNvPr id="90" name="Shape 88"/>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91" name="Text 89"/>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Add migration, shared networks/storage, N+1, taxes, financing, NRE and margin. No automatic 70% price or 24.8% saving.</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SUPPORT CONTRACT</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One call requires people, contracts, tools and a supported release.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Response time is not repair time. A software portal is not an enterprise support organization.</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23</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§11</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 [S36]</a:t>
            </a:r>
            <a:endParaRPr lang="en-US" sz="820" dirty="0"/>
          </a:p>
        </p:txBody>
      </p:sp>
      <p:sp>
        <p:nvSpPr>
          <p:cNvPr id="12" name="Shape 10"/>
          <p:cNvSpPr/>
          <p:nvPr/>
        </p:nvSpPr>
        <p:spPr>
          <a:xfrm>
            <a:off x="502920" y="2039112"/>
            <a:ext cx="3602736" cy="2377440"/>
          </a:xfrm>
          <a:prstGeom prst="rect">
            <a:avLst/>
          </a:prstGeom>
          <a:solidFill>
            <a:srgbClr val="F3F4F6"/>
          </a:solidFill>
          <a:ln w="8255">
            <a:solidFill>
              <a:srgbClr val="F3F4F6"/>
            </a:solidFill>
            <a:prstDash val="solid"/>
          </a:ln>
        </p:spPr>
        <p:txBody>
          <a:bodyPr/>
          <a:lstStyle/>
          <a:p>
            <a:endParaRPr lang="en-US"/>
          </a:p>
        </p:txBody>
      </p:sp>
      <p:sp>
        <p:nvSpPr>
          <p:cNvPr id="13" name="Shape 11"/>
          <p:cNvSpPr/>
          <p:nvPr/>
        </p:nvSpPr>
        <p:spPr>
          <a:xfrm>
            <a:off x="502920" y="2039112"/>
            <a:ext cx="50292" cy="2377440"/>
          </a:xfrm>
          <a:prstGeom prst="rect">
            <a:avLst/>
          </a:prstGeom>
          <a:solidFill>
            <a:srgbClr val="E31837"/>
          </a:solidFill>
          <a:ln w="8255">
            <a:solidFill>
              <a:srgbClr val="E31837"/>
            </a:solidFill>
            <a:prstDash val="solid"/>
          </a:ln>
        </p:spPr>
        <p:txBody>
          <a:bodyPr/>
          <a:lstStyle/>
          <a:p>
            <a:endParaRPr lang="en-US"/>
          </a:p>
        </p:txBody>
      </p:sp>
      <p:sp>
        <p:nvSpPr>
          <p:cNvPr id="14" name="Text 12"/>
          <p:cNvSpPr/>
          <p:nvPr/>
        </p:nvSpPr>
        <p:spPr>
          <a:xfrm>
            <a:off x="685800" y="2185416"/>
            <a:ext cx="3236976" cy="42976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CUSTOMER OPERATIONS</a:t>
            </a:r>
            <a:endParaRPr lang="en-US" sz="1400" dirty="0"/>
          </a:p>
        </p:txBody>
      </p:sp>
      <p:sp>
        <p:nvSpPr>
          <p:cNvPr id="15" name="Text 13"/>
          <p:cNvSpPr/>
          <p:nvPr/>
        </p:nvSpPr>
        <p:spPr>
          <a:xfrm>
            <a:off x="685800" y="2743200"/>
            <a:ext cx="3236976" cy="151790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Entitlement + serial/BOM</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Support portal + knowledge base</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Redacted diagnostic bundles</a:t>
            </a:r>
            <a:endParaRPr lang="en-US" sz="1400" dirty="0"/>
          </a:p>
        </p:txBody>
      </p:sp>
      <p:sp>
        <p:nvSpPr>
          <p:cNvPr id="16" name="Shape 14"/>
          <p:cNvSpPr/>
          <p:nvPr/>
        </p:nvSpPr>
        <p:spPr>
          <a:xfrm>
            <a:off x="4288536" y="2039112"/>
            <a:ext cx="3602736" cy="2377440"/>
          </a:xfrm>
          <a:prstGeom prst="rect">
            <a:avLst/>
          </a:prstGeom>
          <a:solidFill>
            <a:srgbClr val="F3F4F6"/>
          </a:solidFill>
          <a:ln w="8255">
            <a:solidFill>
              <a:srgbClr val="F3F4F6"/>
            </a:solidFill>
            <a:prstDash val="solid"/>
          </a:ln>
        </p:spPr>
        <p:txBody>
          <a:bodyPr/>
          <a:lstStyle/>
          <a:p>
            <a:endParaRPr lang="en-US"/>
          </a:p>
        </p:txBody>
      </p:sp>
      <p:sp>
        <p:nvSpPr>
          <p:cNvPr id="17" name="Shape 15"/>
          <p:cNvSpPr/>
          <p:nvPr/>
        </p:nvSpPr>
        <p:spPr>
          <a:xfrm>
            <a:off x="4288536" y="2039112"/>
            <a:ext cx="50292" cy="2377440"/>
          </a:xfrm>
          <a:prstGeom prst="rect">
            <a:avLst/>
          </a:prstGeom>
          <a:solidFill>
            <a:srgbClr val="E31837"/>
          </a:solidFill>
          <a:ln w="8255">
            <a:solidFill>
              <a:srgbClr val="E31837"/>
            </a:solidFill>
            <a:prstDash val="solid"/>
          </a:ln>
        </p:spPr>
        <p:txBody>
          <a:bodyPr/>
          <a:lstStyle/>
          <a:p>
            <a:endParaRPr lang="en-US"/>
          </a:p>
        </p:txBody>
      </p:sp>
      <p:sp>
        <p:nvSpPr>
          <p:cNvPr id="18" name="Text 16"/>
          <p:cNvSpPr/>
          <p:nvPr/>
        </p:nvSpPr>
        <p:spPr>
          <a:xfrm>
            <a:off x="4471416" y="2185416"/>
            <a:ext cx="3236976" cy="42976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ENGINEERING RESPONSE</a:t>
            </a:r>
            <a:endParaRPr lang="en-US" sz="1400" dirty="0"/>
          </a:p>
        </p:txBody>
      </p:sp>
      <p:sp>
        <p:nvSpPr>
          <p:cNvPr id="19" name="Text 17"/>
          <p:cNvSpPr/>
          <p:nvPr/>
        </p:nvSpPr>
        <p:spPr>
          <a:xfrm>
            <a:off x="4471416" y="2743200"/>
            <a:ext cx="3236976" cy="151790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Reproducibility laboratory</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PSIRT / SBOM / CVE response</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Signed releases + offline mirrors</a:t>
            </a:r>
            <a:endParaRPr lang="en-US" sz="1400" dirty="0"/>
          </a:p>
        </p:txBody>
      </p:sp>
      <p:sp>
        <p:nvSpPr>
          <p:cNvPr id="20" name="Shape 18"/>
          <p:cNvSpPr/>
          <p:nvPr/>
        </p:nvSpPr>
        <p:spPr>
          <a:xfrm>
            <a:off x="8074152" y="2039112"/>
            <a:ext cx="3602736" cy="2377440"/>
          </a:xfrm>
          <a:prstGeom prst="rect">
            <a:avLst/>
          </a:prstGeom>
          <a:solidFill>
            <a:srgbClr val="F3F4F6"/>
          </a:solidFill>
          <a:ln w="8255">
            <a:solidFill>
              <a:srgbClr val="F3F4F6"/>
            </a:solidFill>
            <a:prstDash val="solid"/>
          </a:ln>
        </p:spPr>
        <p:txBody>
          <a:bodyPr/>
          <a:lstStyle/>
          <a:p>
            <a:endParaRPr lang="en-US"/>
          </a:p>
        </p:txBody>
      </p:sp>
      <p:sp>
        <p:nvSpPr>
          <p:cNvPr id="21" name="Shape 19"/>
          <p:cNvSpPr/>
          <p:nvPr/>
        </p:nvSpPr>
        <p:spPr>
          <a:xfrm>
            <a:off x="8074152" y="2039112"/>
            <a:ext cx="50292" cy="2377440"/>
          </a:xfrm>
          <a:prstGeom prst="rect">
            <a:avLst/>
          </a:prstGeom>
          <a:solidFill>
            <a:srgbClr val="E31837"/>
          </a:solidFill>
          <a:ln w="8255">
            <a:solidFill>
              <a:srgbClr val="E31837"/>
            </a:solidFill>
            <a:prstDash val="solid"/>
          </a:ln>
        </p:spPr>
        <p:txBody>
          <a:bodyPr/>
          <a:lstStyle/>
          <a:p>
            <a:endParaRPr lang="en-US"/>
          </a:p>
        </p:txBody>
      </p:sp>
      <p:sp>
        <p:nvSpPr>
          <p:cNvPr id="22" name="Text 20"/>
          <p:cNvSpPr/>
          <p:nvPr/>
        </p:nvSpPr>
        <p:spPr>
          <a:xfrm>
            <a:off x="8257032" y="2185416"/>
            <a:ext cx="3236976" cy="42976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FIELD + LIFECYCLE</a:t>
            </a:r>
            <a:endParaRPr lang="en-US" sz="1400" dirty="0"/>
          </a:p>
        </p:txBody>
      </p:sp>
      <p:sp>
        <p:nvSpPr>
          <p:cNvPr id="23" name="Text 21"/>
          <p:cNvSpPr/>
          <p:nvPr/>
        </p:nvSpPr>
        <p:spPr>
          <a:xfrm>
            <a:off x="8257032" y="2743200"/>
            <a:ext cx="3236976" cy="1517904"/>
          </a:xfrm>
          <a:prstGeom prst="rect">
            <a:avLst/>
          </a:prstGeom>
          <a:noFill/>
          <a:ln/>
        </p:spPr>
        <p:txBody>
          <a:bodyPr wrap="square" lIns="0" tIns="0" rIns="0" bIns="0" rtlCol="0" anchor="t">
            <a:normAutofit/>
          </a:bodyPr>
          <a:lstStyle/>
          <a:p>
            <a:pPr marL="0" indent="0">
              <a:buNone/>
            </a:pPr>
            <a:r>
              <a:rPr lang="en-US" sz="1400" dirty="0">
                <a:solidFill>
                  <a:srgbClr val="5B6169"/>
                </a:solidFill>
                <a:latin typeface="Arial" pitchFamily="34" charset="0"/>
                <a:ea typeface="Arial" pitchFamily="34" charset="-122"/>
                <a:cs typeface="Arial" pitchFamily="34" charset="-120"/>
              </a:rPr>
              <a:t>OEM dispatch + regional spares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3-year Production / 5-year LTS targets</a:t>
            </a:r>
            <a:endParaRPr lang="en-US" sz="1400" dirty="0"/>
          </a:p>
          <a:p>
            <a:pPr marL="0" indent="0">
              <a:buNone/>
            </a:pPr>
            <a:r>
              <a:rPr lang="en-US" sz="1400" dirty="0">
                <a:solidFill>
                  <a:srgbClr val="5B6169"/>
                </a:solidFill>
                <a:latin typeface="Arial" pitchFamily="34" charset="0"/>
                <a:ea typeface="Arial" pitchFamily="34" charset="-122"/>
                <a:cs typeface="Arial" pitchFamily="34" charset="-120"/>
              </a:rPr>
              <a:t>Funded extended/vertical channels</a:t>
            </a:r>
            <a:endParaRPr lang="en-US" sz="1400" dirty="0"/>
          </a:p>
        </p:txBody>
      </p:sp>
      <p:sp>
        <p:nvSpPr>
          <p:cNvPr id="24" name="Shape 22"/>
          <p:cNvSpPr/>
          <p:nvPr/>
        </p:nvSpPr>
        <p:spPr>
          <a:xfrm>
            <a:off x="502920" y="4709160"/>
            <a:ext cx="11183112" cy="859536"/>
          </a:xfrm>
          <a:prstGeom prst="rect">
            <a:avLst/>
          </a:prstGeom>
          <a:solidFill>
            <a:srgbClr val="18191D"/>
          </a:solidFill>
          <a:ln w="8255">
            <a:solidFill>
              <a:srgbClr val="18191D"/>
            </a:solidFill>
            <a:prstDash val="solid"/>
          </a:ln>
        </p:spPr>
        <p:txBody>
          <a:bodyPr/>
          <a:lstStyle/>
          <a:p>
            <a:endParaRPr lang="en-US"/>
          </a:p>
        </p:txBody>
      </p:sp>
      <p:sp>
        <p:nvSpPr>
          <p:cNvPr id="25" name="Text 23"/>
          <p:cNvSpPr/>
          <p:nvPr/>
        </p:nvSpPr>
        <p:spPr>
          <a:xfrm>
            <a:off x="704088" y="4818888"/>
            <a:ext cx="3136392" cy="256032"/>
          </a:xfrm>
          <a:prstGeom prst="rect">
            <a:avLst/>
          </a:prstGeom>
          <a:noFill/>
          <a:ln/>
        </p:spPr>
        <p:txBody>
          <a:bodyPr wrap="square" lIns="0" tIns="0" rIns="0" bIns="0" rtlCol="0" anchor="ctr">
            <a:normAutofit/>
          </a:bodyPr>
          <a:lstStyle/>
          <a:p>
            <a:pPr marL="0" indent="0">
              <a:buNone/>
            </a:pPr>
            <a:r>
              <a:rPr lang="en-US" sz="1100" b="1" dirty="0">
                <a:solidFill>
                  <a:srgbClr val="F3A1B0"/>
                </a:solidFill>
                <a:latin typeface="Arial" pitchFamily="34" charset="0"/>
                <a:ea typeface="Arial" pitchFamily="34" charset="-122"/>
                <a:cs typeface="Arial" pitchFamily="34" charset="-120"/>
              </a:rPr>
              <a:t>MODEL / PLATFORM RELEASE</a:t>
            </a:r>
            <a:endParaRPr lang="en-US" sz="1100" dirty="0"/>
          </a:p>
        </p:txBody>
      </p:sp>
      <p:sp>
        <p:nvSpPr>
          <p:cNvPr id="26" name="Text 24"/>
          <p:cNvSpPr/>
          <p:nvPr/>
        </p:nvSpPr>
        <p:spPr>
          <a:xfrm>
            <a:off x="3913632" y="4800600"/>
            <a:ext cx="7543800" cy="566928"/>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Stage → Validate → Canary → Production → Drain</a:t>
            </a:r>
            <a:endParaRPr lang="en-US" sz="1600" dirty="0"/>
          </a:p>
          <a:p>
            <a:pPr marL="0" indent="0">
              <a:buNone/>
            </a:pPr>
            <a:r>
              <a:rPr lang="en-US" sz="1600" b="1" dirty="0">
                <a:solidFill>
                  <a:srgbClr val="FFFFFF"/>
                </a:solidFill>
                <a:latin typeface="Arial" pitchFamily="34" charset="0"/>
                <a:ea typeface="Arial" pitchFamily="34" charset="-122"/>
                <a:cs typeface="Arial" pitchFamily="34" charset="-120"/>
              </a:rPr>
              <a:t>Failure: roll back; never silently mix model/index generations.</a:t>
            </a:r>
            <a:endParaRPr lang="en-US" sz="16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Enterprise target: 24×7 Sev-1 intake and ≤1-hour initial response—but only after staffing and OEM entitlement are contracted.</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COMPLETE MARKET PRIORITIZATION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rgbClr val="18191D"/>
                </a:solidFill>
                <a:latin typeface="Arial" pitchFamily="34" charset="0"/>
                <a:ea typeface="Arial" pitchFamily="34" charset="-122"/>
                <a:cs typeface="Arial" pitchFamily="34" charset="-120"/>
              </a:rPr>
              <a:t>Sixteen market packs, ranked by near-term proof and delivery fit.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Qualitative program prioritization—not market-size estimates, measured ROI or promised payback.</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24</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§16</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marL="0" indent="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94360" y="2029968"/>
            <a:ext cx="5413248" cy="374904"/>
          </a:xfrm>
          <a:prstGeom prst="rect">
            <a:avLst/>
          </a:prstGeom>
          <a:solidFill>
            <a:srgbClr val="FDECEF"/>
          </a:solidFill>
          <a:ln w="8255">
            <a:solidFill>
              <a:srgbClr val="FDECEF"/>
            </a:solidFill>
            <a:prstDash val="solid"/>
          </a:ln>
        </p:spPr>
        <p:txBody>
          <a:bodyPr/>
          <a:lstStyle/>
          <a:p>
            <a:endParaRPr lang="en-US"/>
          </a:p>
        </p:txBody>
      </p:sp>
      <p:sp>
        <p:nvSpPr>
          <p:cNvPr id="13" name="Text 11"/>
          <p:cNvSpPr/>
          <p:nvPr/>
        </p:nvSpPr>
        <p:spPr>
          <a:xfrm>
            <a:off x="704088" y="2066544"/>
            <a:ext cx="5166360" cy="292608"/>
          </a:xfrm>
          <a:prstGeom prst="rect">
            <a:avLst/>
          </a:prstGeom>
          <a:noFill/>
          <a:ln/>
        </p:spPr>
        <p:txBody>
          <a:bodyPr wrap="square" lIns="0" tIns="0" rIns="0" bIns="0" rtlCol="0" anchor="ctr">
            <a:normAutofit/>
          </a:bodyPr>
          <a:lstStyle/>
          <a:p>
            <a:pPr marL="0" indent="0">
              <a:buNone/>
            </a:pPr>
            <a:r>
              <a:rPr lang="en-US" sz="1600" b="1" dirty="0">
                <a:solidFill>
                  <a:srgbClr val="E31837"/>
                </a:solidFill>
                <a:latin typeface="Arial" pitchFamily="34" charset="0"/>
                <a:ea typeface="Arial" pitchFamily="34" charset="-122"/>
                <a:cs typeface="Arial" pitchFamily="34" charset="-120"/>
              </a:rPr>
              <a:t>01 Finance / insurance</a:t>
            </a:r>
            <a:endParaRPr lang="en-US" sz="1600" dirty="0"/>
          </a:p>
        </p:txBody>
      </p:sp>
      <p:sp>
        <p:nvSpPr>
          <p:cNvPr id="14" name="Shape 12"/>
          <p:cNvSpPr/>
          <p:nvPr/>
        </p:nvSpPr>
        <p:spPr>
          <a:xfrm>
            <a:off x="594360" y="2478024"/>
            <a:ext cx="5413248" cy="374904"/>
          </a:xfrm>
          <a:prstGeom prst="rect">
            <a:avLst/>
          </a:prstGeom>
          <a:solidFill>
            <a:srgbClr val="FDECEF"/>
          </a:solidFill>
          <a:ln w="8255">
            <a:solidFill>
              <a:srgbClr val="FDECEF"/>
            </a:solidFill>
            <a:prstDash val="solid"/>
          </a:ln>
        </p:spPr>
        <p:txBody>
          <a:bodyPr/>
          <a:lstStyle/>
          <a:p>
            <a:endParaRPr lang="en-US"/>
          </a:p>
        </p:txBody>
      </p:sp>
      <p:sp>
        <p:nvSpPr>
          <p:cNvPr id="15" name="Text 13"/>
          <p:cNvSpPr/>
          <p:nvPr/>
        </p:nvSpPr>
        <p:spPr>
          <a:xfrm>
            <a:off x="704088" y="2514600"/>
            <a:ext cx="5166360" cy="292608"/>
          </a:xfrm>
          <a:prstGeom prst="rect">
            <a:avLst/>
          </a:prstGeom>
          <a:noFill/>
          <a:ln/>
        </p:spPr>
        <p:txBody>
          <a:bodyPr wrap="square" lIns="0" tIns="0" rIns="0" bIns="0" rtlCol="0" anchor="ctr">
            <a:normAutofit/>
          </a:bodyPr>
          <a:lstStyle/>
          <a:p>
            <a:pPr marL="0" indent="0">
              <a:buNone/>
            </a:pPr>
            <a:r>
              <a:rPr lang="en-US" sz="1600" b="1" dirty="0">
                <a:solidFill>
                  <a:srgbClr val="E31837"/>
                </a:solidFill>
                <a:latin typeface="Arial" pitchFamily="34" charset="0"/>
                <a:ea typeface="Arial" pitchFamily="34" charset="-122"/>
                <a:cs typeface="Arial" pitchFamily="34" charset="-120"/>
              </a:rPr>
              <a:t>02 Manufacturing</a:t>
            </a:r>
            <a:endParaRPr lang="en-US" sz="1600" dirty="0"/>
          </a:p>
        </p:txBody>
      </p:sp>
      <p:sp>
        <p:nvSpPr>
          <p:cNvPr id="16" name="Shape 14"/>
          <p:cNvSpPr/>
          <p:nvPr/>
        </p:nvSpPr>
        <p:spPr>
          <a:xfrm>
            <a:off x="594360" y="2926080"/>
            <a:ext cx="5413248" cy="374904"/>
          </a:xfrm>
          <a:prstGeom prst="rect">
            <a:avLst/>
          </a:prstGeom>
          <a:solidFill>
            <a:srgbClr val="FDECEF"/>
          </a:solidFill>
          <a:ln w="8255">
            <a:solidFill>
              <a:srgbClr val="FDECEF"/>
            </a:solidFill>
            <a:prstDash val="solid"/>
          </a:ln>
        </p:spPr>
        <p:txBody>
          <a:bodyPr/>
          <a:lstStyle/>
          <a:p>
            <a:endParaRPr lang="en-US"/>
          </a:p>
        </p:txBody>
      </p:sp>
      <p:sp>
        <p:nvSpPr>
          <p:cNvPr id="17" name="Text 15"/>
          <p:cNvSpPr/>
          <p:nvPr/>
        </p:nvSpPr>
        <p:spPr>
          <a:xfrm>
            <a:off x="704088" y="2962656"/>
            <a:ext cx="5166360" cy="292608"/>
          </a:xfrm>
          <a:prstGeom prst="rect">
            <a:avLst/>
          </a:prstGeom>
          <a:noFill/>
          <a:ln/>
        </p:spPr>
        <p:txBody>
          <a:bodyPr wrap="square" lIns="0" tIns="0" rIns="0" bIns="0" rtlCol="0" anchor="ctr">
            <a:normAutofit/>
          </a:bodyPr>
          <a:lstStyle/>
          <a:p>
            <a:pPr marL="0" indent="0">
              <a:buNone/>
            </a:pPr>
            <a:r>
              <a:rPr lang="en-US" sz="1600" b="1" dirty="0">
                <a:solidFill>
                  <a:srgbClr val="E31837"/>
                </a:solidFill>
                <a:latin typeface="Arial" pitchFamily="34" charset="0"/>
                <a:ea typeface="Arial" pitchFamily="34" charset="-122"/>
                <a:cs typeface="Arial" pitchFamily="34" charset="-120"/>
              </a:rPr>
              <a:t>03 Energy / utilities</a:t>
            </a:r>
            <a:endParaRPr lang="en-US" sz="1600" dirty="0"/>
          </a:p>
        </p:txBody>
      </p:sp>
      <p:sp>
        <p:nvSpPr>
          <p:cNvPr id="18" name="Shape 16"/>
          <p:cNvSpPr/>
          <p:nvPr/>
        </p:nvSpPr>
        <p:spPr>
          <a:xfrm>
            <a:off x="594360" y="3374136"/>
            <a:ext cx="5413248" cy="374904"/>
          </a:xfrm>
          <a:prstGeom prst="rect">
            <a:avLst/>
          </a:prstGeom>
          <a:solidFill>
            <a:srgbClr val="F3F4F6"/>
          </a:solidFill>
          <a:ln w="8255">
            <a:solidFill>
              <a:srgbClr val="F3F4F6"/>
            </a:solidFill>
            <a:prstDash val="solid"/>
          </a:ln>
        </p:spPr>
        <p:txBody>
          <a:bodyPr/>
          <a:lstStyle/>
          <a:p>
            <a:endParaRPr lang="en-US"/>
          </a:p>
        </p:txBody>
      </p:sp>
      <p:sp>
        <p:nvSpPr>
          <p:cNvPr id="19" name="Text 17"/>
          <p:cNvSpPr/>
          <p:nvPr/>
        </p:nvSpPr>
        <p:spPr>
          <a:xfrm>
            <a:off x="704088" y="3410712"/>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04 Legal / professional</a:t>
            </a:r>
            <a:endParaRPr lang="en-US" sz="1600" dirty="0"/>
          </a:p>
        </p:txBody>
      </p:sp>
      <p:sp>
        <p:nvSpPr>
          <p:cNvPr id="20" name="Shape 18"/>
          <p:cNvSpPr/>
          <p:nvPr/>
        </p:nvSpPr>
        <p:spPr>
          <a:xfrm>
            <a:off x="594360" y="3822192"/>
            <a:ext cx="5413248" cy="374904"/>
          </a:xfrm>
          <a:prstGeom prst="rect">
            <a:avLst/>
          </a:prstGeom>
          <a:solidFill>
            <a:srgbClr val="F3F4F6"/>
          </a:solidFill>
          <a:ln w="8255">
            <a:solidFill>
              <a:srgbClr val="F3F4F6"/>
            </a:solidFill>
            <a:prstDash val="solid"/>
          </a:ln>
        </p:spPr>
        <p:txBody>
          <a:bodyPr/>
          <a:lstStyle/>
          <a:p>
            <a:endParaRPr lang="en-US"/>
          </a:p>
        </p:txBody>
      </p:sp>
      <p:sp>
        <p:nvSpPr>
          <p:cNvPr id="21" name="Text 19"/>
          <p:cNvSpPr/>
          <p:nvPr/>
        </p:nvSpPr>
        <p:spPr>
          <a:xfrm>
            <a:off x="704088" y="3858768"/>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05 Government / sovereign</a:t>
            </a:r>
            <a:endParaRPr lang="en-US" sz="1600" dirty="0"/>
          </a:p>
        </p:txBody>
      </p:sp>
      <p:sp>
        <p:nvSpPr>
          <p:cNvPr id="22" name="Shape 20"/>
          <p:cNvSpPr/>
          <p:nvPr/>
        </p:nvSpPr>
        <p:spPr>
          <a:xfrm>
            <a:off x="594360" y="4270248"/>
            <a:ext cx="5413248" cy="374904"/>
          </a:xfrm>
          <a:prstGeom prst="rect">
            <a:avLst/>
          </a:prstGeom>
          <a:solidFill>
            <a:srgbClr val="F3F4F6"/>
          </a:solidFill>
          <a:ln w="8255">
            <a:solidFill>
              <a:srgbClr val="F3F4F6"/>
            </a:solidFill>
            <a:prstDash val="solid"/>
          </a:ln>
        </p:spPr>
        <p:txBody>
          <a:bodyPr/>
          <a:lstStyle/>
          <a:p>
            <a:endParaRPr lang="en-US"/>
          </a:p>
        </p:txBody>
      </p:sp>
      <p:sp>
        <p:nvSpPr>
          <p:cNvPr id="23" name="Text 21"/>
          <p:cNvSpPr/>
          <p:nvPr/>
        </p:nvSpPr>
        <p:spPr>
          <a:xfrm>
            <a:off x="704088" y="4306824"/>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06 Telecommunications</a:t>
            </a:r>
            <a:endParaRPr lang="en-US" sz="1600" dirty="0"/>
          </a:p>
        </p:txBody>
      </p:sp>
      <p:sp>
        <p:nvSpPr>
          <p:cNvPr id="24" name="Shape 22"/>
          <p:cNvSpPr/>
          <p:nvPr/>
        </p:nvSpPr>
        <p:spPr>
          <a:xfrm>
            <a:off x="594360" y="4718304"/>
            <a:ext cx="5413248" cy="374904"/>
          </a:xfrm>
          <a:prstGeom prst="rect">
            <a:avLst/>
          </a:prstGeom>
          <a:solidFill>
            <a:srgbClr val="F3F4F6"/>
          </a:solidFill>
          <a:ln w="8255">
            <a:solidFill>
              <a:srgbClr val="F3F4F6"/>
            </a:solidFill>
            <a:prstDash val="solid"/>
          </a:ln>
        </p:spPr>
        <p:txBody>
          <a:bodyPr/>
          <a:lstStyle/>
          <a:p>
            <a:endParaRPr lang="en-US"/>
          </a:p>
        </p:txBody>
      </p:sp>
      <p:sp>
        <p:nvSpPr>
          <p:cNvPr id="25" name="Text 23"/>
          <p:cNvSpPr/>
          <p:nvPr/>
        </p:nvSpPr>
        <p:spPr>
          <a:xfrm>
            <a:off x="704088" y="4754880"/>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07 Retail</a:t>
            </a:r>
            <a:endParaRPr lang="en-US" sz="1600" dirty="0"/>
          </a:p>
        </p:txBody>
      </p:sp>
      <p:sp>
        <p:nvSpPr>
          <p:cNvPr id="26" name="Shape 24"/>
          <p:cNvSpPr/>
          <p:nvPr/>
        </p:nvSpPr>
        <p:spPr>
          <a:xfrm>
            <a:off x="594360" y="5166360"/>
            <a:ext cx="5413248" cy="374904"/>
          </a:xfrm>
          <a:prstGeom prst="rect">
            <a:avLst/>
          </a:prstGeom>
          <a:solidFill>
            <a:srgbClr val="F3F4F6"/>
          </a:solidFill>
          <a:ln w="8255">
            <a:solidFill>
              <a:srgbClr val="F3F4F6"/>
            </a:solidFill>
            <a:prstDash val="solid"/>
          </a:ln>
        </p:spPr>
        <p:txBody>
          <a:bodyPr/>
          <a:lstStyle/>
          <a:p>
            <a:endParaRPr lang="en-US"/>
          </a:p>
        </p:txBody>
      </p:sp>
      <p:sp>
        <p:nvSpPr>
          <p:cNvPr id="27" name="Text 25"/>
          <p:cNvSpPr/>
          <p:nvPr/>
        </p:nvSpPr>
        <p:spPr>
          <a:xfrm>
            <a:off x="704088" y="5202936"/>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08 Higher education</a:t>
            </a:r>
            <a:endParaRPr lang="en-US" sz="1600" dirty="0"/>
          </a:p>
        </p:txBody>
      </p:sp>
      <p:sp>
        <p:nvSpPr>
          <p:cNvPr id="28" name="Shape 26"/>
          <p:cNvSpPr/>
          <p:nvPr/>
        </p:nvSpPr>
        <p:spPr>
          <a:xfrm>
            <a:off x="6336792" y="2029968"/>
            <a:ext cx="5413248" cy="374904"/>
          </a:xfrm>
          <a:prstGeom prst="rect">
            <a:avLst/>
          </a:prstGeom>
          <a:solidFill>
            <a:srgbClr val="F3F4F6"/>
          </a:solidFill>
          <a:ln w="8255">
            <a:solidFill>
              <a:srgbClr val="F3F4F6"/>
            </a:solidFill>
            <a:prstDash val="solid"/>
          </a:ln>
        </p:spPr>
        <p:txBody>
          <a:bodyPr/>
          <a:lstStyle/>
          <a:p>
            <a:endParaRPr lang="en-US"/>
          </a:p>
        </p:txBody>
      </p:sp>
      <p:sp>
        <p:nvSpPr>
          <p:cNvPr id="29" name="Text 27"/>
          <p:cNvSpPr/>
          <p:nvPr/>
        </p:nvSpPr>
        <p:spPr>
          <a:xfrm>
            <a:off x="6446520" y="2066544"/>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09 Healthcare knowledge</a:t>
            </a:r>
            <a:endParaRPr lang="en-US" sz="1600" dirty="0"/>
          </a:p>
        </p:txBody>
      </p:sp>
      <p:sp>
        <p:nvSpPr>
          <p:cNvPr id="30" name="Shape 28"/>
          <p:cNvSpPr/>
          <p:nvPr/>
        </p:nvSpPr>
        <p:spPr>
          <a:xfrm>
            <a:off x="6336792" y="2478024"/>
            <a:ext cx="5413248" cy="374904"/>
          </a:xfrm>
          <a:prstGeom prst="rect">
            <a:avLst/>
          </a:prstGeom>
          <a:solidFill>
            <a:srgbClr val="F3F4F6"/>
          </a:solidFill>
          <a:ln w="8255">
            <a:solidFill>
              <a:srgbClr val="F3F4F6"/>
            </a:solidFill>
            <a:prstDash val="solid"/>
          </a:ln>
        </p:spPr>
        <p:txBody>
          <a:bodyPr/>
          <a:lstStyle/>
          <a:p>
            <a:endParaRPr lang="en-US"/>
          </a:p>
        </p:txBody>
      </p:sp>
      <p:sp>
        <p:nvSpPr>
          <p:cNvPr id="31" name="Text 29"/>
          <p:cNvSpPr/>
          <p:nvPr/>
        </p:nvSpPr>
        <p:spPr>
          <a:xfrm>
            <a:off x="6446520" y="2514600"/>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10 Oil / gas / mining</a:t>
            </a:r>
            <a:endParaRPr lang="en-US" sz="1600" dirty="0"/>
          </a:p>
        </p:txBody>
      </p:sp>
      <p:sp>
        <p:nvSpPr>
          <p:cNvPr id="32" name="Shape 30"/>
          <p:cNvSpPr/>
          <p:nvPr/>
        </p:nvSpPr>
        <p:spPr>
          <a:xfrm>
            <a:off x="6336792" y="2926080"/>
            <a:ext cx="5413248" cy="374904"/>
          </a:xfrm>
          <a:prstGeom prst="rect">
            <a:avLst/>
          </a:prstGeom>
          <a:solidFill>
            <a:srgbClr val="F3F4F6"/>
          </a:solidFill>
          <a:ln w="8255">
            <a:solidFill>
              <a:srgbClr val="F3F4F6"/>
            </a:solidFill>
            <a:prstDash val="solid"/>
          </a:ln>
        </p:spPr>
        <p:txBody>
          <a:bodyPr/>
          <a:lstStyle/>
          <a:p>
            <a:endParaRPr lang="en-US"/>
          </a:p>
        </p:txBody>
      </p:sp>
      <p:sp>
        <p:nvSpPr>
          <p:cNvPr id="33" name="Text 31"/>
          <p:cNvSpPr/>
          <p:nvPr/>
        </p:nvSpPr>
        <p:spPr>
          <a:xfrm>
            <a:off x="6446520" y="2962656"/>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11 Geospatial / defense</a:t>
            </a:r>
            <a:endParaRPr lang="en-US" sz="1600" dirty="0"/>
          </a:p>
        </p:txBody>
      </p:sp>
      <p:sp>
        <p:nvSpPr>
          <p:cNvPr id="34" name="Shape 32"/>
          <p:cNvSpPr/>
          <p:nvPr/>
        </p:nvSpPr>
        <p:spPr>
          <a:xfrm>
            <a:off x="6336792" y="3374136"/>
            <a:ext cx="5413248" cy="374904"/>
          </a:xfrm>
          <a:prstGeom prst="rect">
            <a:avLst/>
          </a:prstGeom>
          <a:solidFill>
            <a:srgbClr val="F3F4F6"/>
          </a:solidFill>
          <a:ln w="8255">
            <a:solidFill>
              <a:srgbClr val="F3F4F6"/>
            </a:solidFill>
            <a:prstDash val="solid"/>
          </a:ln>
        </p:spPr>
        <p:txBody>
          <a:bodyPr/>
          <a:lstStyle/>
          <a:p>
            <a:endParaRPr lang="en-US"/>
          </a:p>
        </p:txBody>
      </p:sp>
      <p:sp>
        <p:nvSpPr>
          <p:cNvPr id="35" name="Text 33"/>
          <p:cNvSpPr/>
          <p:nvPr/>
        </p:nvSpPr>
        <p:spPr>
          <a:xfrm>
            <a:off x="6446520" y="3410712"/>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12 Media / entertainment</a:t>
            </a:r>
            <a:endParaRPr lang="en-US" sz="1600" dirty="0"/>
          </a:p>
        </p:txBody>
      </p:sp>
      <p:sp>
        <p:nvSpPr>
          <p:cNvPr id="36" name="Shape 34"/>
          <p:cNvSpPr/>
          <p:nvPr/>
        </p:nvSpPr>
        <p:spPr>
          <a:xfrm>
            <a:off x="6336792" y="3822192"/>
            <a:ext cx="5413248" cy="374904"/>
          </a:xfrm>
          <a:prstGeom prst="rect">
            <a:avLst/>
          </a:prstGeom>
          <a:solidFill>
            <a:srgbClr val="F3F4F6"/>
          </a:solidFill>
          <a:ln w="8255">
            <a:solidFill>
              <a:srgbClr val="F3F4F6"/>
            </a:solidFill>
            <a:prstDash val="solid"/>
          </a:ln>
        </p:spPr>
        <p:txBody>
          <a:bodyPr/>
          <a:lstStyle/>
          <a:p>
            <a:endParaRPr lang="en-US"/>
          </a:p>
        </p:txBody>
      </p:sp>
      <p:sp>
        <p:nvSpPr>
          <p:cNvPr id="37" name="Text 35"/>
          <p:cNvSpPr/>
          <p:nvPr/>
        </p:nvSpPr>
        <p:spPr>
          <a:xfrm>
            <a:off x="6446520" y="3858768"/>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13 Automotive</a:t>
            </a:r>
            <a:endParaRPr lang="en-US" sz="1600" dirty="0"/>
          </a:p>
        </p:txBody>
      </p:sp>
      <p:sp>
        <p:nvSpPr>
          <p:cNvPr id="38" name="Shape 36"/>
          <p:cNvSpPr/>
          <p:nvPr/>
        </p:nvSpPr>
        <p:spPr>
          <a:xfrm>
            <a:off x="6336792" y="4270248"/>
            <a:ext cx="5413248" cy="374904"/>
          </a:xfrm>
          <a:prstGeom prst="rect">
            <a:avLst/>
          </a:prstGeom>
          <a:solidFill>
            <a:srgbClr val="F3F4F6"/>
          </a:solidFill>
          <a:ln w="8255">
            <a:solidFill>
              <a:srgbClr val="F3F4F6"/>
            </a:solidFill>
            <a:prstDash val="solid"/>
          </a:ln>
        </p:spPr>
        <p:txBody>
          <a:bodyPr/>
          <a:lstStyle/>
          <a:p>
            <a:endParaRPr lang="en-US"/>
          </a:p>
        </p:txBody>
      </p:sp>
      <p:sp>
        <p:nvSpPr>
          <p:cNvPr id="39" name="Text 37"/>
          <p:cNvSpPr/>
          <p:nvPr/>
        </p:nvSpPr>
        <p:spPr>
          <a:xfrm>
            <a:off x="6446520" y="4306824"/>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14 Architecture / engineering</a:t>
            </a:r>
            <a:endParaRPr lang="en-US" sz="1600" dirty="0"/>
          </a:p>
        </p:txBody>
      </p:sp>
      <p:sp>
        <p:nvSpPr>
          <p:cNvPr id="40" name="Shape 38"/>
          <p:cNvSpPr/>
          <p:nvPr/>
        </p:nvSpPr>
        <p:spPr>
          <a:xfrm>
            <a:off x="6336792" y="4718304"/>
            <a:ext cx="5413248" cy="374904"/>
          </a:xfrm>
          <a:prstGeom prst="rect">
            <a:avLst/>
          </a:prstGeom>
          <a:solidFill>
            <a:srgbClr val="F3F4F6"/>
          </a:solidFill>
          <a:ln w="8255">
            <a:solidFill>
              <a:srgbClr val="F3F4F6"/>
            </a:solidFill>
            <a:prstDash val="solid"/>
          </a:ln>
        </p:spPr>
        <p:txBody>
          <a:bodyPr/>
          <a:lstStyle/>
          <a:p>
            <a:endParaRPr lang="en-US"/>
          </a:p>
        </p:txBody>
      </p:sp>
      <p:sp>
        <p:nvSpPr>
          <p:cNvPr id="41" name="Text 39"/>
          <p:cNvSpPr/>
          <p:nvPr/>
        </p:nvSpPr>
        <p:spPr>
          <a:xfrm>
            <a:off x="6446520" y="4754880"/>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15 Semiconductor</a:t>
            </a:r>
            <a:endParaRPr lang="en-US" sz="1600" dirty="0"/>
          </a:p>
        </p:txBody>
      </p:sp>
      <p:sp>
        <p:nvSpPr>
          <p:cNvPr id="42" name="Shape 40"/>
          <p:cNvSpPr/>
          <p:nvPr/>
        </p:nvSpPr>
        <p:spPr>
          <a:xfrm>
            <a:off x="6336792" y="5166360"/>
            <a:ext cx="5413248" cy="374904"/>
          </a:xfrm>
          <a:prstGeom prst="rect">
            <a:avLst/>
          </a:prstGeom>
          <a:solidFill>
            <a:srgbClr val="F3F4F6"/>
          </a:solidFill>
          <a:ln w="8255">
            <a:solidFill>
              <a:srgbClr val="F3F4F6"/>
            </a:solidFill>
            <a:prstDash val="solid"/>
          </a:ln>
        </p:spPr>
        <p:txBody>
          <a:bodyPr/>
          <a:lstStyle/>
          <a:p>
            <a:endParaRPr lang="en-US"/>
          </a:p>
        </p:txBody>
      </p:sp>
      <p:sp>
        <p:nvSpPr>
          <p:cNvPr id="43" name="Text 41"/>
          <p:cNvSpPr/>
          <p:nvPr/>
        </p:nvSpPr>
        <p:spPr>
          <a:xfrm>
            <a:off x="6446520" y="5202936"/>
            <a:ext cx="5166360" cy="292608"/>
          </a:xfrm>
          <a:prstGeom prst="rect">
            <a:avLst/>
          </a:prstGeom>
          <a:noFill/>
          <a:ln/>
        </p:spPr>
        <p:txBody>
          <a:bodyPr wrap="square" lIns="0" tIns="0" rIns="0" bIns="0" rtlCol="0" anchor="ctr">
            <a:normAutofit/>
          </a:bodyPr>
          <a:lstStyle/>
          <a:p>
            <a:pPr marL="0" indent="0">
              <a:buNone/>
            </a:pPr>
            <a:r>
              <a:rPr lang="en-US" sz="1600" dirty="0">
                <a:solidFill>
                  <a:srgbClr val="18191D"/>
                </a:solidFill>
                <a:latin typeface="Arial" pitchFamily="34" charset="0"/>
                <a:ea typeface="Arial" pitchFamily="34" charset="-122"/>
                <a:cs typeface="Arial" pitchFamily="34" charset="-120"/>
              </a:rPr>
              <a:t>16 Robotics</a:t>
            </a:r>
            <a:endParaRPr lang="en-US" sz="1600" dirty="0"/>
          </a:p>
        </p:txBody>
      </p:sp>
      <p:sp>
        <p:nvSpPr>
          <p:cNvPr id="44" name="Shape 42"/>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45" name="Text 43"/>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Keep scope on documents, retrieval, features and approved inference—not training, rendering, trading or machine control.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 name="Text 1"/>
          <p:cNvSpPr/>
          <p:nvPr/>
        </p:nvSpPr>
        <p:spPr>
          <a:xfrm>
            <a:off x="475488" y="256032"/>
            <a:ext cx="1828800" cy="256032"/>
          </a:xfrm>
          <a:prstGeom prst="rect">
            <a:avLst/>
          </a:prstGeom>
          <a:noFill/>
          <a:ln/>
        </p:spPr>
        <p:txBody>
          <a:bodyPr wrap="square" lIns="0" tIns="0" rIns="0" bIns="0" rtlCol="0" anchor="ctr">
            <a:normAutofit lnSpcReduction="10000"/>
          </a:bodyPr>
          <a:lstStyle/>
          <a:p>
            <a:pPr marL="0" indent="0">
              <a:buNone/>
            </a:pPr>
            <a:r>
              <a:rPr lang="en-US" sz="1700" b="1" kern="0" spc="20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BACKUP / EVIDENCE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rgbClr val="18191D"/>
                </a:solidFill>
                <a:latin typeface="Arial" pitchFamily="34" charset="0"/>
                <a:ea typeface="Arial" pitchFamily="34" charset="-122"/>
                <a:cs typeface="Arial" pitchFamily="34" charset="-120"/>
              </a:rPr>
              <a:t>Trace the claims. Keep the proposal separate from the proof.</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rgbClr val="5B6169"/>
                </a:solidFill>
                <a:latin typeface="Arial" pitchFamily="34" charset="0"/>
                <a:ea typeface="Arial" pitchFamily="34" charset="-122"/>
                <a:cs typeface="Arial" pitchFamily="34" charset="-120"/>
              </a:rPr>
              <a:t>The linked PRD contains 44 source/input records and the complete cost, performance and use-case assumptions.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marL="0" indent="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marL="0" indent="0" algn="r">
              <a:buNone/>
            </a:pPr>
            <a:r>
              <a:rPr lang="en-US" sz="1000" b="1" dirty="0">
                <a:solidFill>
                  <a:srgbClr val="E31837"/>
                </a:solidFill>
                <a:latin typeface="Arial" pitchFamily="34" charset="0"/>
                <a:ea typeface="Arial" pitchFamily="34" charset="-122"/>
                <a:cs typeface="Arial" pitchFamily="34" charset="-120"/>
              </a:rPr>
              <a:t>25</a:t>
            </a:r>
            <a:endParaRPr lang="en-US" sz="1000" dirty="0"/>
          </a:p>
        </p:txBody>
      </p:sp>
      <p:sp>
        <p:nvSpPr>
          <p:cNvPr id="10" name="Text 8">
            <a:hlinkClick r:id="rId3"/>
          </p:cNvPr>
          <p:cNvSpPr/>
          <p:nvPr/>
        </p:nvSpPr>
        <p:spPr>
          <a:xfrm>
            <a:off x="9491472" y="6501384"/>
            <a:ext cx="1481328" cy="182880"/>
          </a:xfrm>
          <a:prstGeom prst="rect">
            <a:avLst/>
          </a:prstGeom>
          <a:noFill/>
          <a:ln/>
        </p:spPr>
        <p:txBody>
          <a:bodyPr wrap="square" lIns="0" tIns="0" rIns="0" bIns="0" rtlCol="0" anchor="ctr">
            <a:normAutofit/>
          </a:bodyPr>
          <a:lstStyle/>
          <a:p>
            <a:pPr marL="0" indent="0" algn="r">
              <a:buNone/>
            </a:pPr>
            <a:r>
              <a:rPr lang="en-US" sz="900" b="1" u="sng" dirty="0">
                <a:solidFill>
                  <a:srgbClr val="E3183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DETAIL › PRD §20</a:t>
            </a:r>
            <a:endParaRPr lang="en-US" sz="900" dirty="0"/>
          </a:p>
        </p:txBody>
      </p:sp>
      <p:sp>
        <p:nvSpPr>
          <p:cNvPr id="11" name="Shape 9"/>
          <p:cNvSpPr/>
          <p:nvPr/>
        </p:nvSpPr>
        <p:spPr>
          <a:xfrm>
            <a:off x="502920" y="2057400"/>
            <a:ext cx="1645920" cy="438912"/>
          </a:xfrm>
          <a:prstGeom prst="rect">
            <a:avLst/>
          </a:prstGeom>
          <a:solidFill>
            <a:srgbClr val="18191D"/>
          </a:solidFill>
          <a:ln w="8255">
            <a:solidFill>
              <a:srgbClr val="18191D"/>
            </a:solidFill>
            <a:prstDash val="solid"/>
          </a:ln>
        </p:spPr>
        <p:txBody>
          <a:bodyPr/>
          <a:lstStyle/>
          <a:p>
            <a:endParaRPr lang="en-US"/>
          </a:p>
        </p:txBody>
      </p:sp>
      <p:sp>
        <p:nvSpPr>
          <p:cNvPr id="12" name="Text 10"/>
          <p:cNvSpPr/>
          <p:nvPr/>
        </p:nvSpPr>
        <p:spPr>
          <a:xfrm>
            <a:off x="594360" y="2121408"/>
            <a:ext cx="146304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EVIDENCE CLASS</a:t>
            </a:r>
            <a:endParaRPr lang="en-US" sz="1150" dirty="0"/>
          </a:p>
        </p:txBody>
      </p:sp>
      <p:sp>
        <p:nvSpPr>
          <p:cNvPr id="13" name="Shape 11"/>
          <p:cNvSpPr/>
          <p:nvPr/>
        </p:nvSpPr>
        <p:spPr>
          <a:xfrm>
            <a:off x="2148840" y="2057400"/>
            <a:ext cx="4572000" cy="438912"/>
          </a:xfrm>
          <a:prstGeom prst="rect">
            <a:avLst/>
          </a:prstGeom>
          <a:solidFill>
            <a:srgbClr val="18191D"/>
          </a:solidFill>
          <a:ln w="8255">
            <a:solidFill>
              <a:srgbClr val="18191D"/>
            </a:solidFill>
            <a:prstDash val="solid"/>
          </a:ln>
        </p:spPr>
        <p:txBody>
          <a:bodyPr/>
          <a:lstStyle/>
          <a:p>
            <a:endParaRPr lang="en-US"/>
          </a:p>
        </p:txBody>
      </p:sp>
      <p:sp>
        <p:nvSpPr>
          <p:cNvPr id="14" name="Text 12"/>
          <p:cNvSpPr/>
          <p:nvPr/>
        </p:nvSpPr>
        <p:spPr>
          <a:xfrm>
            <a:off x="2240280" y="2121408"/>
            <a:ext cx="4389120"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WHAT IT MEANS</a:t>
            </a:r>
            <a:endParaRPr lang="en-US" sz="1150" dirty="0"/>
          </a:p>
        </p:txBody>
      </p:sp>
      <p:sp>
        <p:nvSpPr>
          <p:cNvPr id="15" name="Shape 13"/>
          <p:cNvSpPr/>
          <p:nvPr/>
        </p:nvSpPr>
        <p:spPr>
          <a:xfrm>
            <a:off x="6720840" y="2057400"/>
            <a:ext cx="4965192" cy="438912"/>
          </a:xfrm>
          <a:prstGeom prst="rect">
            <a:avLst/>
          </a:prstGeom>
          <a:solidFill>
            <a:srgbClr val="18191D"/>
          </a:solidFill>
          <a:ln w="8255">
            <a:solidFill>
              <a:srgbClr val="18191D"/>
            </a:solidFill>
            <a:prstDash val="solid"/>
          </a:ln>
        </p:spPr>
        <p:txBody>
          <a:bodyPr/>
          <a:lstStyle/>
          <a:p>
            <a:endParaRPr lang="en-US"/>
          </a:p>
        </p:txBody>
      </p:sp>
      <p:sp>
        <p:nvSpPr>
          <p:cNvPr id="16" name="Text 14"/>
          <p:cNvSpPr/>
          <p:nvPr/>
        </p:nvSpPr>
        <p:spPr>
          <a:xfrm>
            <a:off x="6812280" y="2121408"/>
            <a:ext cx="4782312" cy="310896"/>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Arial" pitchFamily="34" charset="0"/>
                <a:ea typeface="Arial" pitchFamily="34" charset="-122"/>
                <a:cs typeface="Arial" pitchFamily="34" charset="-120"/>
              </a:rPr>
              <a:t>CLAIM BOUNDARY</a:t>
            </a:r>
            <a:endParaRPr lang="en-US" sz="1150" dirty="0"/>
          </a:p>
        </p:txBody>
      </p:sp>
      <p:sp>
        <p:nvSpPr>
          <p:cNvPr id="17" name="Shape 15"/>
          <p:cNvSpPr/>
          <p:nvPr/>
        </p:nvSpPr>
        <p:spPr>
          <a:xfrm>
            <a:off x="502920" y="2496312"/>
            <a:ext cx="1645920" cy="694944"/>
          </a:xfrm>
          <a:prstGeom prst="rect">
            <a:avLst/>
          </a:prstGeom>
          <a:solidFill>
            <a:srgbClr val="F3F4F6"/>
          </a:solidFill>
          <a:ln w="8255">
            <a:solidFill>
              <a:srgbClr val="F3F4F6"/>
            </a:solidFill>
            <a:prstDash val="solid"/>
          </a:ln>
        </p:spPr>
        <p:txBody>
          <a:bodyPr/>
          <a:lstStyle/>
          <a:p>
            <a:endParaRPr lang="en-US"/>
          </a:p>
        </p:txBody>
      </p:sp>
      <p:sp>
        <p:nvSpPr>
          <p:cNvPr id="18" name="Text 16"/>
          <p:cNvSpPr/>
          <p:nvPr/>
        </p:nvSpPr>
        <p:spPr>
          <a:xfrm>
            <a:off x="594360" y="2560320"/>
            <a:ext cx="1463040" cy="56692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PUBLIC FACT</a:t>
            </a:r>
            <a:endParaRPr lang="en-US" sz="1400" dirty="0"/>
          </a:p>
        </p:txBody>
      </p:sp>
      <p:sp>
        <p:nvSpPr>
          <p:cNvPr id="19" name="Shape 17"/>
          <p:cNvSpPr/>
          <p:nvPr/>
        </p:nvSpPr>
        <p:spPr>
          <a:xfrm>
            <a:off x="2148840" y="2496312"/>
            <a:ext cx="4572000" cy="694944"/>
          </a:xfrm>
          <a:prstGeom prst="rect">
            <a:avLst/>
          </a:prstGeom>
          <a:solidFill>
            <a:srgbClr val="F3F4F6"/>
          </a:solidFill>
          <a:ln w="8255">
            <a:solidFill>
              <a:srgbClr val="F3F4F6"/>
            </a:solidFill>
            <a:prstDash val="solid"/>
          </a:ln>
        </p:spPr>
        <p:txBody>
          <a:bodyPr/>
          <a:lstStyle/>
          <a:p>
            <a:endParaRPr lang="en-US"/>
          </a:p>
        </p:txBody>
      </p:sp>
      <p:sp>
        <p:nvSpPr>
          <p:cNvPr id="20" name="Text 18"/>
          <p:cNvSpPr/>
          <p:nvPr/>
        </p:nvSpPr>
        <p:spPr>
          <a:xfrm>
            <a:off x="2240280" y="2560320"/>
            <a:ext cx="4389120"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Supplier specifications, dated revenue disclosures and published customer accounts.</a:t>
            </a:r>
            <a:endParaRPr lang="en-US" sz="1400" dirty="0"/>
          </a:p>
        </p:txBody>
      </p:sp>
      <p:sp>
        <p:nvSpPr>
          <p:cNvPr id="21" name="Shape 19"/>
          <p:cNvSpPr/>
          <p:nvPr/>
        </p:nvSpPr>
        <p:spPr>
          <a:xfrm>
            <a:off x="6720840" y="2496312"/>
            <a:ext cx="4965192" cy="694944"/>
          </a:xfrm>
          <a:prstGeom prst="rect">
            <a:avLst/>
          </a:prstGeom>
          <a:solidFill>
            <a:srgbClr val="F3F4F6"/>
          </a:solidFill>
          <a:ln w="8255">
            <a:solidFill>
              <a:srgbClr val="F3F4F6"/>
            </a:solidFill>
            <a:prstDash val="solid"/>
          </a:ln>
        </p:spPr>
        <p:txBody>
          <a:bodyPr/>
          <a:lstStyle/>
          <a:p>
            <a:endParaRPr lang="en-US"/>
          </a:p>
        </p:txBody>
      </p:sp>
      <p:sp>
        <p:nvSpPr>
          <p:cNvPr id="22" name="Text 20"/>
          <p:cNvSpPr/>
          <p:nvPr/>
        </p:nvSpPr>
        <p:spPr>
          <a:xfrm>
            <a:off x="6812280" y="2560320"/>
            <a:ext cx="4782312"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Use source scope; vendor case studies are not ATMOS measurements.</a:t>
            </a:r>
            <a:endParaRPr lang="en-US" sz="1400" dirty="0"/>
          </a:p>
        </p:txBody>
      </p:sp>
      <p:sp>
        <p:nvSpPr>
          <p:cNvPr id="23" name="Shape 21"/>
          <p:cNvSpPr/>
          <p:nvPr/>
        </p:nvSpPr>
        <p:spPr>
          <a:xfrm>
            <a:off x="502920" y="3191256"/>
            <a:ext cx="11183112" cy="0"/>
          </a:xfrm>
          <a:prstGeom prst="line">
            <a:avLst/>
          </a:prstGeom>
          <a:noFill/>
          <a:ln w="5715">
            <a:solidFill>
              <a:srgbClr val="D8DBDF"/>
            </a:solidFill>
            <a:prstDash val="solid"/>
          </a:ln>
        </p:spPr>
        <p:txBody>
          <a:bodyPr/>
          <a:lstStyle/>
          <a:p>
            <a:endParaRPr lang="en-US"/>
          </a:p>
        </p:txBody>
      </p:sp>
      <p:sp>
        <p:nvSpPr>
          <p:cNvPr id="24" name="Shape 22"/>
          <p:cNvSpPr/>
          <p:nvPr/>
        </p:nvSpPr>
        <p:spPr>
          <a:xfrm>
            <a:off x="502920" y="3191256"/>
            <a:ext cx="1645920" cy="694944"/>
          </a:xfrm>
          <a:prstGeom prst="rect">
            <a:avLst/>
          </a:prstGeom>
          <a:solidFill>
            <a:srgbClr val="FFFFFF"/>
          </a:solidFill>
          <a:ln w="8255">
            <a:solidFill>
              <a:srgbClr val="FFFFFF"/>
            </a:solidFill>
            <a:prstDash val="solid"/>
          </a:ln>
        </p:spPr>
        <p:txBody>
          <a:bodyPr/>
          <a:lstStyle/>
          <a:p>
            <a:endParaRPr lang="en-US"/>
          </a:p>
        </p:txBody>
      </p:sp>
      <p:sp>
        <p:nvSpPr>
          <p:cNvPr id="25" name="Text 23"/>
          <p:cNvSpPr/>
          <p:nvPr/>
        </p:nvSpPr>
        <p:spPr>
          <a:xfrm>
            <a:off x="594360" y="3255264"/>
            <a:ext cx="1463040" cy="56692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PROPOSED TARGET</a:t>
            </a:r>
            <a:endParaRPr lang="en-US" sz="1400" dirty="0"/>
          </a:p>
        </p:txBody>
      </p:sp>
      <p:sp>
        <p:nvSpPr>
          <p:cNvPr id="26" name="Shape 24"/>
          <p:cNvSpPr/>
          <p:nvPr/>
        </p:nvSpPr>
        <p:spPr>
          <a:xfrm>
            <a:off x="2148840" y="3191256"/>
            <a:ext cx="4572000" cy="694944"/>
          </a:xfrm>
          <a:prstGeom prst="rect">
            <a:avLst/>
          </a:prstGeom>
          <a:solidFill>
            <a:srgbClr val="FFFFFF"/>
          </a:solidFill>
          <a:ln w="8255">
            <a:solidFill>
              <a:srgbClr val="FFFFFF"/>
            </a:solidFill>
            <a:prstDash val="solid"/>
          </a:ln>
        </p:spPr>
        <p:txBody>
          <a:bodyPr/>
          <a:lstStyle/>
          <a:p>
            <a:endParaRPr lang="en-US"/>
          </a:p>
        </p:txBody>
      </p:sp>
      <p:sp>
        <p:nvSpPr>
          <p:cNvPr id="27" name="Text 25"/>
          <p:cNvSpPr/>
          <p:nvPr/>
        </p:nvSpPr>
        <p:spPr>
          <a:xfrm>
            <a:off x="2240280" y="3255264"/>
            <a:ext cx="4389120"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G1/R1 service profiles, recovery goals and support duration.</a:t>
            </a:r>
            <a:endParaRPr lang="en-US" sz="1400" dirty="0"/>
          </a:p>
        </p:txBody>
      </p:sp>
      <p:sp>
        <p:nvSpPr>
          <p:cNvPr id="28" name="Shape 26"/>
          <p:cNvSpPr/>
          <p:nvPr/>
        </p:nvSpPr>
        <p:spPr>
          <a:xfrm>
            <a:off x="6720840" y="3191256"/>
            <a:ext cx="4965192" cy="694944"/>
          </a:xfrm>
          <a:prstGeom prst="rect">
            <a:avLst/>
          </a:prstGeom>
          <a:solidFill>
            <a:srgbClr val="FFFFFF"/>
          </a:solidFill>
          <a:ln w="8255">
            <a:solidFill>
              <a:srgbClr val="FFFFFF"/>
            </a:solidFill>
            <a:prstDash val="solid"/>
          </a:ln>
        </p:spPr>
        <p:txBody>
          <a:bodyPr/>
          <a:lstStyle/>
          <a:p>
            <a:endParaRPr lang="en-US"/>
          </a:p>
        </p:txBody>
      </p:sp>
      <p:sp>
        <p:nvSpPr>
          <p:cNvPr id="29" name="Text 27"/>
          <p:cNvSpPr/>
          <p:nvPr/>
        </p:nvSpPr>
        <p:spPr>
          <a:xfrm>
            <a:off x="6812280" y="3255264"/>
            <a:ext cx="4782312"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Not a customer commitment until physical qualification and contracts.</a:t>
            </a:r>
            <a:endParaRPr lang="en-US" sz="1400" dirty="0"/>
          </a:p>
        </p:txBody>
      </p:sp>
      <p:sp>
        <p:nvSpPr>
          <p:cNvPr id="30" name="Shape 28"/>
          <p:cNvSpPr/>
          <p:nvPr/>
        </p:nvSpPr>
        <p:spPr>
          <a:xfrm>
            <a:off x="502920" y="3886200"/>
            <a:ext cx="11183112" cy="0"/>
          </a:xfrm>
          <a:prstGeom prst="line">
            <a:avLst/>
          </a:prstGeom>
          <a:noFill/>
          <a:ln w="5715">
            <a:solidFill>
              <a:srgbClr val="D8DBDF"/>
            </a:solidFill>
            <a:prstDash val="solid"/>
          </a:ln>
        </p:spPr>
        <p:txBody>
          <a:bodyPr/>
          <a:lstStyle/>
          <a:p>
            <a:endParaRPr lang="en-US"/>
          </a:p>
        </p:txBody>
      </p:sp>
      <p:sp>
        <p:nvSpPr>
          <p:cNvPr id="31" name="Shape 29"/>
          <p:cNvSpPr/>
          <p:nvPr/>
        </p:nvSpPr>
        <p:spPr>
          <a:xfrm>
            <a:off x="502920" y="3886200"/>
            <a:ext cx="1645920" cy="694944"/>
          </a:xfrm>
          <a:prstGeom prst="rect">
            <a:avLst/>
          </a:prstGeom>
          <a:solidFill>
            <a:srgbClr val="F3F4F6"/>
          </a:solidFill>
          <a:ln w="8255">
            <a:solidFill>
              <a:srgbClr val="F3F4F6"/>
            </a:solidFill>
            <a:prstDash val="solid"/>
          </a:ln>
        </p:spPr>
        <p:txBody>
          <a:bodyPr/>
          <a:lstStyle/>
          <a:p>
            <a:endParaRPr lang="en-US"/>
          </a:p>
        </p:txBody>
      </p:sp>
      <p:sp>
        <p:nvSpPr>
          <p:cNvPr id="32" name="Text 30"/>
          <p:cNvSpPr/>
          <p:nvPr/>
        </p:nvSpPr>
        <p:spPr>
          <a:xfrm>
            <a:off x="594360" y="3950208"/>
            <a:ext cx="1463040" cy="56692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BUDGET / SCENARIO</a:t>
            </a:r>
            <a:endParaRPr lang="en-US" sz="1400" dirty="0"/>
          </a:p>
        </p:txBody>
      </p:sp>
      <p:sp>
        <p:nvSpPr>
          <p:cNvPr id="33" name="Shape 31"/>
          <p:cNvSpPr/>
          <p:nvPr/>
        </p:nvSpPr>
        <p:spPr>
          <a:xfrm>
            <a:off x="2148840" y="3886200"/>
            <a:ext cx="4572000" cy="694944"/>
          </a:xfrm>
          <a:prstGeom prst="rect">
            <a:avLst/>
          </a:prstGeom>
          <a:solidFill>
            <a:srgbClr val="F3F4F6"/>
          </a:solidFill>
          <a:ln w="8255">
            <a:solidFill>
              <a:srgbClr val="F3F4F6"/>
            </a:solidFill>
            <a:prstDash val="solid"/>
          </a:ln>
        </p:spPr>
        <p:txBody>
          <a:bodyPr/>
          <a:lstStyle/>
          <a:p>
            <a:endParaRPr lang="en-US"/>
          </a:p>
        </p:txBody>
      </p:sp>
      <p:sp>
        <p:nvSpPr>
          <p:cNvPr id="34" name="Text 32"/>
          <p:cNvSpPr/>
          <p:nvPr/>
        </p:nvSpPr>
        <p:spPr>
          <a:xfrm>
            <a:off x="2240280" y="3950208"/>
            <a:ext cx="4389120"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Module allowance, OEM RFQ budgets, power inputs and productivity arithmetic.</a:t>
            </a:r>
            <a:endParaRPr lang="en-US" sz="1400" dirty="0"/>
          </a:p>
        </p:txBody>
      </p:sp>
      <p:sp>
        <p:nvSpPr>
          <p:cNvPr id="35" name="Shape 33"/>
          <p:cNvSpPr/>
          <p:nvPr/>
        </p:nvSpPr>
        <p:spPr>
          <a:xfrm>
            <a:off x="6720840" y="3886200"/>
            <a:ext cx="4965192" cy="694944"/>
          </a:xfrm>
          <a:prstGeom prst="rect">
            <a:avLst/>
          </a:prstGeom>
          <a:solidFill>
            <a:srgbClr val="F3F4F6"/>
          </a:solidFill>
          <a:ln w="8255">
            <a:solidFill>
              <a:srgbClr val="F3F4F6"/>
            </a:solidFill>
            <a:prstDash val="solid"/>
          </a:ln>
        </p:spPr>
        <p:txBody>
          <a:bodyPr/>
          <a:lstStyle/>
          <a:p>
            <a:endParaRPr lang="en-US"/>
          </a:p>
        </p:txBody>
      </p:sp>
      <p:sp>
        <p:nvSpPr>
          <p:cNvPr id="36" name="Text 34"/>
          <p:cNvSpPr/>
          <p:nvPr/>
        </p:nvSpPr>
        <p:spPr>
          <a:xfrm>
            <a:off x="6812280" y="3950208"/>
            <a:ext cx="4782312"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Not supplier quotes, manufacturing cost, margin or expected savings.</a:t>
            </a:r>
            <a:endParaRPr lang="en-US" sz="1400" dirty="0"/>
          </a:p>
        </p:txBody>
      </p:sp>
      <p:sp>
        <p:nvSpPr>
          <p:cNvPr id="37" name="Shape 35"/>
          <p:cNvSpPr/>
          <p:nvPr/>
        </p:nvSpPr>
        <p:spPr>
          <a:xfrm>
            <a:off x="502920" y="4581144"/>
            <a:ext cx="11183112" cy="0"/>
          </a:xfrm>
          <a:prstGeom prst="line">
            <a:avLst/>
          </a:prstGeom>
          <a:noFill/>
          <a:ln w="5715">
            <a:solidFill>
              <a:srgbClr val="D8DBDF"/>
            </a:solidFill>
            <a:prstDash val="solid"/>
          </a:ln>
        </p:spPr>
        <p:txBody>
          <a:bodyPr/>
          <a:lstStyle/>
          <a:p>
            <a:endParaRPr lang="en-US"/>
          </a:p>
        </p:txBody>
      </p:sp>
      <p:sp>
        <p:nvSpPr>
          <p:cNvPr id="38" name="Shape 36"/>
          <p:cNvSpPr/>
          <p:nvPr/>
        </p:nvSpPr>
        <p:spPr>
          <a:xfrm>
            <a:off x="502920" y="4581144"/>
            <a:ext cx="1645920" cy="694944"/>
          </a:xfrm>
          <a:prstGeom prst="rect">
            <a:avLst/>
          </a:prstGeom>
          <a:solidFill>
            <a:srgbClr val="FFFFFF"/>
          </a:solidFill>
          <a:ln w="8255">
            <a:solidFill>
              <a:srgbClr val="FFFFFF"/>
            </a:solidFill>
            <a:prstDash val="solid"/>
          </a:ln>
        </p:spPr>
        <p:txBody>
          <a:bodyPr/>
          <a:lstStyle/>
          <a:p>
            <a:endParaRPr lang="en-US"/>
          </a:p>
        </p:txBody>
      </p:sp>
      <p:sp>
        <p:nvSpPr>
          <p:cNvPr id="39" name="Text 37"/>
          <p:cNvSpPr/>
          <p:nvPr/>
        </p:nvSpPr>
        <p:spPr>
          <a:xfrm>
            <a:off x="594360" y="4645152"/>
            <a:ext cx="1463040" cy="566928"/>
          </a:xfrm>
          <a:prstGeom prst="rect">
            <a:avLst/>
          </a:prstGeom>
          <a:noFill/>
          <a:ln/>
        </p:spPr>
        <p:txBody>
          <a:bodyPr wrap="square" lIns="0" tIns="0" rIns="0" bIns="0" rtlCol="0" anchor="ctr">
            <a:normAutofit/>
          </a:bodyPr>
          <a:lstStyle/>
          <a:p>
            <a:pPr marL="0" indent="0">
              <a:buNone/>
            </a:pPr>
            <a:r>
              <a:rPr lang="en-US" sz="1400" b="1" dirty="0">
                <a:solidFill>
                  <a:srgbClr val="18191D"/>
                </a:solidFill>
                <a:latin typeface="Arial" pitchFamily="34" charset="0"/>
                <a:ea typeface="Arial" pitchFamily="34" charset="-122"/>
                <a:cs typeface="Arial" pitchFamily="34" charset="-120"/>
              </a:rPr>
              <a:t>MEASURED RESULT</a:t>
            </a:r>
            <a:endParaRPr lang="en-US" sz="1400" dirty="0"/>
          </a:p>
        </p:txBody>
      </p:sp>
      <p:sp>
        <p:nvSpPr>
          <p:cNvPr id="40" name="Shape 38"/>
          <p:cNvSpPr/>
          <p:nvPr/>
        </p:nvSpPr>
        <p:spPr>
          <a:xfrm>
            <a:off x="2148840" y="4581144"/>
            <a:ext cx="4572000" cy="694944"/>
          </a:xfrm>
          <a:prstGeom prst="rect">
            <a:avLst/>
          </a:prstGeom>
          <a:solidFill>
            <a:srgbClr val="FFFFFF"/>
          </a:solidFill>
          <a:ln w="8255">
            <a:solidFill>
              <a:srgbClr val="FFFFFF"/>
            </a:solidFill>
            <a:prstDash val="solid"/>
          </a:ln>
        </p:spPr>
        <p:txBody>
          <a:bodyPr/>
          <a:lstStyle/>
          <a:p>
            <a:endParaRPr lang="en-US"/>
          </a:p>
        </p:txBody>
      </p:sp>
      <p:sp>
        <p:nvSpPr>
          <p:cNvPr id="41" name="Text 39"/>
          <p:cNvSpPr/>
          <p:nvPr/>
        </p:nvSpPr>
        <p:spPr>
          <a:xfrm>
            <a:off x="2240280" y="4645152"/>
            <a:ext cx="4389120"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Named physical test on a frozen workload/BOM/software stack.</a:t>
            </a:r>
            <a:endParaRPr lang="en-US" sz="1400" dirty="0"/>
          </a:p>
        </p:txBody>
      </p:sp>
      <p:sp>
        <p:nvSpPr>
          <p:cNvPr id="42" name="Shape 40"/>
          <p:cNvSpPr/>
          <p:nvPr/>
        </p:nvSpPr>
        <p:spPr>
          <a:xfrm>
            <a:off x="6720840" y="4581144"/>
            <a:ext cx="4965192" cy="694944"/>
          </a:xfrm>
          <a:prstGeom prst="rect">
            <a:avLst/>
          </a:prstGeom>
          <a:solidFill>
            <a:srgbClr val="FFFFFF"/>
          </a:solidFill>
          <a:ln w="8255">
            <a:solidFill>
              <a:srgbClr val="FFFFFF"/>
            </a:solidFill>
            <a:prstDash val="solid"/>
          </a:ln>
        </p:spPr>
        <p:txBody>
          <a:bodyPr/>
          <a:lstStyle/>
          <a:p>
            <a:endParaRPr lang="en-US"/>
          </a:p>
        </p:txBody>
      </p:sp>
      <p:sp>
        <p:nvSpPr>
          <p:cNvPr id="43" name="Text 41"/>
          <p:cNvSpPr/>
          <p:nvPr/>
        </p:nvSpPr>
        <p:spPr>
          <a:xfrm>
            <a:off x="6812280" y="4645152"/>
            <a:ext cx="4782312" cy="566928"/>
          </a:xfrm>
          <a:prstGeom prst="rect">
            <a:avLst/>
          </a:prstGeom>
          <a:noFill/>
          <a:ln/>
        </p:spPr>
        <p:txBody>
          <a:bodyPr wrap="square" lIns="0" tIns="0" rIns="0" bIns="0" rtlCol="0" anchor="ctr">
            <a:normAutofit/>
          </a:bodyPr>
          <a:lstStyle/>
          <a:p>
            <a:pPr marL="0" indent="0">
              <a:buNone/>
            </a:pPr>
            <a:r>
              <a:rPr lang="en-US" sz="1400" dirty="0">
                <a:solidFill>
                  <a:srgbClr val="18191D"/>
                </a:solidFill>
                <a:latin typeface="Arial" pitchFamily="34" charset="0"/>
                <a:ea typeface="Arial" pitchFamily="34" charset="-122"/>
                <a:cs typeface="Arial" pitchFamily="34" charset="-120"/>
              </a:rPr>
              <a:t>No new measured ATMOS results are asserted in this proposal.</a:t>
            </a:r>
            <a:endParaRPr lang="en-US" sz="1400" dirty="0"/>
          </a:p>
        </p:txBody>
      </p:sp>
      <p:sp>
        <p:nvSpPr>
          <p:cNvPr id="44" name="Shape 42"/>
          <p:cNvSpPr/>
          <p:nvPr/>
        </p:nvSpPr>
        <p:spPr>
          <a:xfrm>
            <a:off x="502920" y="5276088"/>
            <a:ext cx="11183112" cy="0"/>
          </a:xfrm>
          <a:prstGeom prst="line">
            <a:avLst/>
          </a:prstGeom>
          <a:noFill/>
          <a:ln w="5715">
            <a:solidFill>
              <a:srgbClr val="D8DBDF"/>
            </a:solidFill>
            <a:prstDash val="solid"/>
          </a:ln>
        </p:spPr>
        <p:txBody>
          <a:bodyPr/>
          <a:lstStyle/>
          <a:p>
            <a:endParaRPr lang="en-US"/>
          </a:p>
        </p:txBody>
      </p:sp>
      <p:sp>
        <p:nvSpPr>
          <p:cNvPr id="45" name="Shape 43"/>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46" name="Text 44"/>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Full linked PRD: SanDisk_ATMOS_AI_Appliance_Strategy_PRD_v3.docx  •  Keep the files together.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13765</Words>
  <Application>Microsoft Macintosh PowerPoint</Application>
  <PresentationFormat>Widescreen</PresentationFormat>
  <Paragraphs>1284</Paragraphs>
  <Slides>30</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AI Appliance Executive Proposal v3</dc:title>
  <dc:subject>Evidence-led private AI appliance portfolio</dc:subject>
  <dc:creator>SanDisk ATMOS planning</dc:creator>
  <cp:lastModifiedBy>Shailesh Pilare</cp:lastModifiedBy>
  <cp:revision>4</cp:revision>
  <dcterms:created xsi:type="dcterms:W3CDTF">2026-10-07T03:51:42Z</dcterms:created>
  <dcterms:modified xsi:type="dcterms:W3CDTF">2026-10-07T21:33:10Z</dcterms:modified>
</cp:coreProperties>
</file>