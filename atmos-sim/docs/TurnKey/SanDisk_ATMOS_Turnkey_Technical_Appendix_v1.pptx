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TECHNICAL DESIGN — appendix to the controlling V3 strategy, not a supported-product announcement.
This appendix deepens V3 sections 7–14. It retains the nine named software products, six Knowledge Agent modes, seven API families, native/retrieval-only execution and OEM-built SanDisk-branded strategy. New proposals: Ubuntu LTS/RKE2/containerd baseline, optional whole-device KVM isolation, digest-pinned repositories, strict quota reservation service and detailed release workflows. The diagrams are logical design, not implemented software. The executive deck is not replaced.
SOURCE BASIS
[B1] SanDisk ATMOS AI Appliance Strategy PRD v3
SanDisk_ATMOS_AI_Appliance_Strategy_PRD_v3.docx
Controlling product baseline: sections 7-14; native/retrieval-only service roles, nine software products, HA, security, lifecycle and offline operation.
[B2] SanDisk ATMOS Executive Proposal v3
SanDisk_ATMOS_AI_Appliance_Executive_Proposal_v3.pptx
Visual and executive baseline. Portfolio and commercial claims are unchanged by this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TECHNICAL DESIGN — appendix to the controlling V3 strategy, not a supported-product announcement.
V3 requires no mandatory cloud dependency for contracted offline service. New design: a separate SanDisk release/support plane and customer-local control/data/execution plane. Release delivery is outbound pull or signed offline import; it is not a remote command channel. A local administrator approves deployment. No prompts, documents, private weights or KV leave by default. Optional external generation is an explicitly approved endpoint, never hidden failover. Customer data repositories and the SanDisk software registry are distinct.
SOURCE BASIS
[B1] SanDisk ATMOS AI Appliance Strategy PRD v3
SanDisk_ATMOS_AI_Appliance_Strategy_PRD_v3.docx
Controlling product baseline: sections 7-14; native/retrieval-only service roles, nine software products, HA, security, lifecycle and offline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TECHNICAL DESIGN — appendix to the controlling V3 strategy, not a supported-product announcement.
V3 specifies a hardened Linux appliance, container runtime and immutable/A-B updates but no distro. Proposed engineering baseline: Ubuntu Server 24.04 LTS, with exact kernel and security patch train selected with the NPU driver. Standard maintenance of the base distro alone does not cover a future five-year appliance contract; validate Ubuntu Pro/extended coverage or migrate the baseline through a qualified release. RKE2/containerd is proposed as a common Kubernetes distribution. A/B composition and boot-health rollback require SanDisk engineering; they are not automatically supplied by RKE2. Optional virtualization uses supported KVM/VFIO, entire IOMMU isolation units and guest-native driver, with no assumed live migration, vGPU, fractional sharing or cross-VM P2P. A logical four-device switch domain need not be an IOMMU group. Separate reset/security topology must be proven.
SOURCE BASIS
[B1] SanDisk ATMOS AI Appliance Strategy PRD v3
SanDisk_ATMOS_AI_Appliance_Strategy_PRD_v3.docx
Controlling product baseline: sections 7-14; native/retrieval-only service roles, nine software products, HA, security, lifecycle and offline operation.
[R1] Ubuntu security maintenance and kernel lifecycle
https://ubuntu.com/security/esm
Enterprise Linux lifecycle reference only; Ubuntu 24.04 LTS is a proposed engineering base, not an approved ATMOS OS.
[R2] RKE2 requirements
https://docs.rke2.io/install/requirements
Kubernetes distribution prerequisites; exact version, OS and ATMOS driver matrix must be qualified.
[R4] RKE2 air-gap installation
https://docs.rke2.io/install/airgap
Bundled containerd, image archives and private registry deployment patterns.
[R5] Linux VFIO
https://docs.kernel.org/driver-api/vfio.html
IOMMU-group-based device assignment; not evidence of ATMOS passthrough, SR-IOV or migration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TECHNICAL DESIGN — appendix to the controlling V3 strategy, not a supported-product announcement.
V3 prefers whole four-device domains and complete-generation readiness. Proposed deployment: platform services and per-tenant service namespaces, dedicated device agent, certified runtime Pods, protected model/data volumes. DRA ResourceClaims and CDI inject approved device handles; neither supplies ATMOS kernels or automatically guarantees NUMA or group admission. SanDisk implements inventory, grouping constraints, prepare/unprepare, reset fencing and health. Use only one allocator for a device in a release. A device-plugin fallback can be validated for restricted upstream compatibility, but do not advertise both as interchangeable. One logical model service can have multiple workers; a Pod is not synonymous with an expert or a single E3.S. Hard trust separation uses dedicated hardware/groups/nodes; namespaces alone are not a hardware boundary.
SOURCE BASIS
[B1] SanDisk ATMOS AI Appliance Strategy PRD v3
SanDisk_ATMOS_AI_Appliance_Strategy_PRD_v3.docx
Controlling product baseline: sections 7-14; native/retrieval-only service roles, nine software products, HA, security, lifecycle and offline operation.
[R6] Kubernetes device plugins
https://kubernetes.io/docs/concepts/extend-kubernetes/compute-storage-net/device-plugins/
Discovery and allocation framework. SanDisk still builds the ATMOS allocation implementation.
[R7] Kubernetes dynamic resource allocation
https://kubernetes.io/docs/concepts/resource-management/dynamic-resource-allocation/
ResourceClaim/ResourceSlice model. Topology-aware ATMOS claims require a driver and version-specific validation.
[R8] Kubernetes resource quotas
https://kubernetes.io/docs/concepts/policy/resource-quotas/
Namespace object/compute quotas, not LLM-token, daily-spend or NPU working-memory enforcement.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TECHNICAL DESIGN — appendix to the controlling V3 strategy, not a supported-product announcement.
Retains V3 CPU, certified NPU and explicitly configured external generation roles. The gateway must remove untrusted caller-supplied tenant headers and derive identity from verified claims/keys. For RAG, budget initial workflow steps, then re-check exact augmented prompt before each model invocation. ACL filtering occurs before evidence is returned to reranking/generation, with final authorization/freshness check on returned documents. Gateway quotas alone cannot allocate NPU working memory. Account actual internal model use and tool steps; do not count only the external request. Streaming usage is metered server-side even if client disconnects. The diagram abstracts return traffic and does not imply synchronous blocking for all clients. No fine-grained GPU-attention/ATMOS-FFN coupling is reintroduced.
SOURCE BASIS
[B1] SanDisk ATMOS AI Appliance Strategy PRD v3
SanDisk_ATMOS_AI_Appliance_Strategy_PRD_v3.docx
Controlling product baseline: sections 7-14; native/retrieval-only service roles, nine software products, HA, security, lifecycle and offline operation.
[R9] KServe with inference gateway integration
https://kserve.github.io/website/docs/model-serving/generative-inference/llmisvc/llmisvc-envoy-ai-gateway
Gateway, inference-pool and usage-accounting precedent. Does not make ATMOS native execution or strict budgets available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TECHNICAL DESIGN — appendix to the controlling V3 strategy, not a supported-product announcement.
V3 names quotas but does not define hard accounting semantics. Proposed addition: SanDisk quota/admission service with atomic durable reservations scoped to tenant/project/model and bounded child reservations for agents. Incoming requests use authenticated identity, not caller-editable headers. Native runtime must reject oversized context or insufficient KV; Kubernetes ResourceQuota governs Pods/CPU/memory/device objects, not LLM tokens. Existing gateway usage accounting is useful, but response-only accounting may allow concurrent requests to overshoot a hard budget. Track tokens server-side, settle actual use, and release only unused reservation after confirmed cancellation/completion. No unbounded retries or guessed billing. Strict production policy rejects new work when authoritative quota state is unavailable unless a pre-issued, bounded local allowance remains. Numerical example is a policy demonstration, not throughput capacity.
SOURCE BASIS
[B1] SanDisk ATMOS AI Appliance Strategy PRD v3
SanDisk_ATMOS_AI_Appliance_Strategy_PRD_v3.docx
Controlling product baseline: sections 7-14; native/retrieval-only service roles, nine software products, HA, security, lifecycle and offline operation.
[R8] Kubernetes resource quotas
https://kubernetes.io/docs/concepts/policy/resource-quotas/
Namespace object/compute quotas, not LLM-token, daily-spend or NPU working-memory enforcement.
[R9] KServe with inference gateway integration
https://kserve.github.io/website/docs/model-serving/generative-inference/llmisvc/llmisvc-envoy-ai-gateway
Gateway, inference-pool and usage-accounting precedent. Does not make ATMOS native execution or strict budgets available automatically.
[R16] Envoy AI Gateway API reference
https://aigateway.envoyproxy.io/docs/latest/api/
Usage-based request/token accounting; the strict reservation ledger in this appendix is additional SanDisk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TECHNICAL DESIGN — appendix to the controlling V3 strategy, not a supported-product announcement.
V3 retains native supported generation or explicit external generation. In this appendix the expert-only offload implementation is not the default. ModelPacks are distinct from container images and from corpus/index generations. Multiple models may share one runtime image if the release matrix allows. Persistent HBF residency is not a backup or a mounted coherent filesystem. LPDDR/SRAM accommodates qualified active KV and transient state; CPU ECC DRAM/NVMe retains orchestration, indexes and durable/rebuild data. An out-of-tree vLLM platform backend must implement model execution, memory/attention and lifecycle semantics; a TT plugin for other hardware is only precedent. Failure fencing must invalidate DMA/buffers and avoid accepting stale completions. Placement remains per-device even when a group has aggregate capacity.
SOURCE BASIS
[B1] SanDisk ATMOS AI Appliance Strategy PRD v3
SanDisk_ATMOS_AI_Appliance_Strategy_PRD_v3.docx
Controlling product baseline: sections 7-14; native/retrieval-only service roles, nine software products, HA, security, lifecycle and offline operation.
[R10] vLLM platform plugin system
https://docs.vllm.ai/en/stable/design/plugin_system/
Out-of-tree platform interfaces and compatibility obligations; pin a tested release.
[R11] Tenstorrent vLLM backend plugin
https://github.com/tenstorrent/vllm-tt-plugin
Native platform-backend precedent. Existing TT hardware support is not ATMOS silicon certification.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TECHNICAL DESIGN — appendix to the controlling V3 strategy, not a supported-product announcement.
Retains V3 HA distinctions. Three RKE2 server members are a control-plane pattern, not automatic database/storage HA. Proposed local metadata database must itself use a tested synchronous durability/failover configuration when RPO 0 is claimed. Local mirrored NVMe protects drive failure, not whole-node failure. Model and data replicas must be complete on surviving nodes and warm enough for the agreed RTO. For a model group spanning multiple nodes, reserve a complete group rather than one node. A PodDisruptionBudget limits voluntary disruptions; it cannot prevent hardware failure. No seamless KV migration, exactly-once external tool action or numerical SLA is implied by topology. A two-worker deployment may use an external third controller but only survives peak if remaining serving capacity is sufficient.
SOURCE BASIS
[B1] SanDisk ATMOS AI Appliance Strategy PRD v3
SanDisk_ATMOS_AI_Appliance_Strategy_PRD_v3.docx
Controlling product baseline: sections 7-14; native/retrieval-only service roles, nine software products, HA, security, lifecycle and offline operation.
[R3] RKE2 high availability
https://docs.rke2.io/install/ha
Three-server control-plane pattern and fixed registration endpoint; does not provide application/data HA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TECHNICAL DESIGN — appendix to the controlling V3 strategy, not a supported-product announcement.
New concrete implementation of V3 backend responsibilities. Engineering Git and private customer model recipes feed isolated CI. CI generates build provenance and SBOM; legal, model-quality, security and hardware release checks approve a digest set. A separated release identity/signing service publishes immutable artifacts and catalog metadata. OEM firmware retains its approved vendor signature chain; the SanDisk manifest binds compatibility, not an unauthorized firmware re-sign. Customer content and private model rights stay scoped. Entitlement grants access; local trust and customer change approval still control activation. A compromised repository must not gain authority to sign new releases. Product security owns advisories, trust rotation and emergency action policy.
SOURCE BASIS
[B1] SanDisk ATMOS AI Appliance Strategy PRD v3
SanDisk_ATMOS_AI_Appliance_Strategy_PRD_v3.docx
Controlling product baseline: sections 7-14; native/retrieval-only service roles, nine software products, HA, security, lifecycle and offline operation.
[R12] Harbor tag immutability
https://goharbor.io/docs/main/working-with-projects/working-with-images/create-tag-immutability-rules/
Registry immutability pattern; pin artifacts by digest and protect retained generations.
[R13] Sigstore signature verification
https://docs.sigstore.dev/cosign/verifying/verify/
Verify identity, digest and signature. Offline trust material and local policy are still required.
[R15] The Update Framework roles and metadata
https://theupdateframework.io/docs/metadata/
Root/targets/snapshot/timestamp separation for update trust, version and freshness. Offline refresh windows need explicit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TECHNICAL DESIGN — appendix to the controlling V3 strategy, not a supported-product announcement.
Repository design is new, not a claim that production SanDisk services exist. Harbor-compatible OCI distribution is a proposed implementation option; large model blobs may be referenced from authenticated content-addressed object storage if the manifest verifies every part. Catalog aliases/channels resolve to exact digest sets before deployment. Tags are human-readable labels, not the security boundary. Customer-local site mirror caches approved artifacts; factory install/recovery packages are separately signed. Retention/garbage collection must follow active and rollback manifests, not indiscriminate age-based deletion. Original checkpoint provenance, compiled NPU program identity, runtime version and supported host architecture are all independently recorded. Secret values and signing private keys never appear in a release bundle.
SOURCE BASIS
[B1] SanDisk ATMOS AI Appliance Strategy PRD v3
SanDisk_ATMOS_AI_Appliance_Strategy_PRD_v3.docx
Controlling product baseline: sections 7-14; native/retrieval-only service roles, nine software products, HA, security, lifecycle and offline operation.
[R12] Harbor tag immutability
https://goharbor.io/docs/main/working-with-projects/working-with-images/create-tag-immutability-rules/
Registry immutability pattern; pin artifacts by digest and protect retained generations.
[R13] Sigstore signature verification
https://docs.sigstore.dev/cosign/verifying/verify/
Verify identity, digest and signature. Offline trust material and local policy are still required.
[R15] The Update Framework roles and metadata
https://theupdateframework.io/docs/metadata/
Root/targets/snapshot/timestamp separation for update trust, version and freshness. Offline refresh windows need explicit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TECHNICAL DESIGN — appendix to the controlling V3 strategy, not a supported-product announcement.
V3 requires offline repository export and no cloud callback for ongoing offline service. New design uses a customer-local update agent which verifies release digests, signature identity, trust metadata, hardware revision, kernel/driver ABI, runtime/ModelPack compatibility and free capacity before activation. Connected mirrors and offline media are untrusted transport until verified. Offline import includes all dependent images, manifests, trust chain/rotation and test evidence; it must not silently fetch missing packages. The customer controls the transfer process. Existing approved service can continue under its contracted offline entitlement when Internet is absent; installation of a new release with expired or invalid update metadata is blocked pending an approved refresh. Air gaps cannot receive real-time revocations; the offline advisory import interval is an explicit residual risk.
SOURCE BASIS
[B1] SanDisk ATMOS AI Appliance Strategy PRD v3
SanDisk_ATMOS_AI_Appliance_Strategy_PRD_v3.docx
Controlling product baseline: sections 7-14; native/retrieval-only service roles, nine software products, HA, security, lifecycle and offline operation.
[R4] RKE2 air-gap installation
https://docs.rke2.io/install/airgap
Bundled containerd, image archives and private registry deployment patterns.
[R13] Sigstore signature verification
https://docs.sigstore.dev/cosign/verifying/verify/
Verify identity, digest and signature. Offline trust material and local policy are still required.
[R14] Sigstore bundle format
https://docs.sigstore.dev/about/bundle/
Signature-verification material. Bundle plus locally provisioned trust enables disconnected verification design.
[R15] The Update Framework roles and metadata
https://theupdateframework.io/docs/metadata/
Root/targets/snapshot/timestamp separation for update trust, version and freshness. Offline refresh windows need explicit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TECHNICAL DESIGN — appendix to the controlling V3 strategy, not a supported-product announcement.
Each step is a proposed customer-visible workflow. Factory provisioning does not install customer credentials or transmit customer datasets. Enrollment supports connected and offline entitlement/identity issuance; no universal bootstrap password survives setup. The local admin receives recovery instructions, supports rotation of bootstrap credentials and disables temporary setup access. Data connectors are approved read-only initially. Readiness is not merely process liveness: complete model/index generation, device ownership, compatible runtime, policy success and smoke/warmup must pass before gateway registration. Checkpoints and evidence support replay of installation by field engineering. A recovered appliance revalidates trust and data generation before serving.
SOURCE BASIS
[B1] SanDisk ATMOS AI Appliance Strategy PRD v3
SanDisk_ATMOS_AI_Appliance_Strategy_PRD_v3.docx
Controlling product baseline: sections 7-14; native/retrieval-only service roles, nine software products, HA, security, lifecycle and offline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TECHNICAL DESIGN — appendix to the controlling V3 strategy, not a supported-product announcement.
V3 defines catalog/BYO certification and ModelPack lifecycle. New detailed workflow: intake pins publisher revision, tokenizer/chat template, license and intended API profile; quarantine inspects serialization and remote-code risks; compiler builds exact target NPU programs/weight layouts/scales; tests cover golden operator and end-to-end outputs, active-state fit, TP/EP/collective topology, quality, ACL/tool behavior, concurrency and faults. Release approval records a hardware/OS/runtime/precision/test tuple. Customer private models may use customer-local build/certification or explicitly authorized isolated hosted builds; no default upload of private weights. Same semantic model version can require different host binaries/target NPU packs. Certification does not mean full upstream model-family coverage. Existing TT plugins supply precedent only.
SOURCE BASIS
[B1] SanDisk ATMOS AI Appliance Strategy PRD v3
SanDisk_ATMOS_AI_Appliance_Strategy_PRD_v3.docx
Controlling product baseline: sections 7-14; native/retrieval-only service roles, nine software products, HA, security, lifecycle and offline operation.
[R10] vLLM platform plugin system
https://docs.vllm.ai/en/stable/design/plugin_system/
Out-of-tree platform interfaces and compatibility obligations; pin a tested release.
[R11] Tenstorrent vLLM backend plugin
https://github.com/tenstorrent/vllm-tt-plugin
Native platform-backend precedent. Existing TT hardware support is not ATMOS silicon certification.
[R13] Sigstore signature verification
https://docs.sigstore.dev/cosign/verifying/verify/
Verify identity, digest and signature. Offline trust material and local policy are still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TECHNICAL DESIGN — appendix to the controlling V3 strategy, not a supported-product announcement.
Available, Staged, Validated, Canary, Production, Draining, Rolled back and Retired are retained source states. A runtime-specific session is pinned to model, tokenizer, solution, policy and collection identity as allowed by current ACL policy. Re-auth/ACL revocation can override a stale session. For generator/reranker changes with compatible embedding/index contracts, retain the index but rerun retrieval/answer quality. Canary sizing is measured, not a fixed percentage guarantee. No spare worker/group capacity means use a documented maintenance window; file space alone does not provide compute reserve. Rollback applies only to approved compatible and non-revoked artifacts. State layout or database migrations can restrict rollback, which must be declared.
SOURCE BASIS
[B1] SanDisk ATMOS AI Appliance Strategy PRD v3
SanDisk_ATMOS_AI_Appliance_Strategy_PRD_v3.docx
Controlling product baseline: sections 7-14; native/retrieval-only service roles, nine software products, HA, security, lifecycle and offline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TECHNICAL DESIGN — appendix to the controlling V3 strategy, not a supported-product announcement.
V3 explicitly requires shadow collections and re-embedding for embedding/index changes. Detailed design adds an ingestion watermark and source-change log so new/changed/deleted documents and ACL revisions reach both active and candidate generations before cutover. Optional dual-read evaluation is tenant-scoped and policy-approved. Atomic pointer change is performed through durable metadata; in-flight requests either remain on a declared generation or retry safely if authorization invalidates it. A retired index is not a backup of revoked access. Parser/chunking/schema changes can require the same full rebuild. Reserve storage, index service memory and ingestion capacity, and do not run rebuild at the expense of admitted interactive SLO without policy.
SOURCE BASIS
[B1] SanDisk ATMOS AI Appliance Strategy PRD v3
SanDisk_ATMOS_AI_Appliance_Strategy_PRD_v3.docx
Controlling product baseline: sections 7-14; native/retrieval-only service roles, nine software products, HA, security, lifecycle and offline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TECHNICAL DESIGN — appendix to the controlling V3 strategy, not a supported-product announcement.
V3 proposes signed platform bundles, candidate boot slot and domain-by-domain updates. New implementation separates OS-image rollback, container/runtime rollback, persistent schema migration and device/OEM firmware recovery. Drain stops new requests, reconciles queues, fences DMA, then upgrades only when surviving capacity/quorum are safe. Verify power-loss handling during write, partial flash, signature failure, image corruption, reboot, unavailable registry and control-plane failure. A/B rootfs does not revert PostgreSQL schemas or NPU flash; supported rollback edges are explicit in ProductRelease. Entitlement and trust metadata are evaluated locally. Disconnected sites stage all dependencies before the window; no interactive Internet downloads during production reboot.
SOURCE BASIS
[B1] SanDisk ATMOS AI Appliance Strategy PRD v3
SanDisk_ATMOS_AI_Appliance_Strategy_PRD_v3.docx
Controlling product baseline: sections 7-14; native/retrieval-only service roles, nine software products, HA, security, lifecycle and offline operation.
[R4] RKE2 air-gap installation
https://docs.rke2.io/install/airgap
Bundled containerd, image archives and private registry deployment patterns.
[R15] The Update Framework roles and metadata
https://theupdateframework.io/docs/metadata/
Root/targets/snapshot/timestamp separation for update trust, version and freshness. Offline refresh windows need explicit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TECHNICAL DESIGN — appendix to the controlling V3 strategy, not a supported-product announcement.
Preserves V3 one-call support and opt-in redacted diagnostics. Proposed case flow: alert → customer local triage → bundle preview/consent → SanDisk case ID and version-correlated reproduction → device/runtime/OEM/PSIRT escalation → approved signed remedy → local verification and closure. Record diagnostics access scope, time, approver and export manifest. If external support is unavailable, local serving does not fail because of that loss. However local policy/database/identity failures need explicit safe operating rules: no limitless fail-open, no bypassing ACLs, bounded offline credentials, no new sessions when hard policy cannot be evaluated. In-flight work behavior depends on validated policy and cancellation fences. Raw content logging is opt-in diagnostic mode with separate retention and authorization.
SOURCE BASIS
[B1] SanDisk ATMOS AI Appliance Strategy PRD v3
SanDisk_ATMOS_AI_Appliance_Strategy_PRD_v3.docx
Controlling product baseline: sections 7-14; native/retrieval-only service roles, nine software products, HA, security, lifecycle and offline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TECHNICAL DESIGN — appendix to the controlling V3 strategy, not a supported-product announcement.
The source lists nine named products: AI OS, Device Service, Model Services, Certified ModelPacks, Serving Manager, Knowledge Agent, Control Center, SDK and Enterprise Support. This compact matrix groups adjacent responsibilities without deleting products. Reuse does not remove integration work; open-source mechanisms do not prove ATMOS compatibility. Suggested technical teams are functions to assign, not staffing commitments. The detailed document includes package boundaries, interface contracts and proof gates. Hardware work remains OEM/silicon-coordinated and no server price or launch timeline is asserted.
SOURCE BASIS
[B1] SanDisk ATMOS AI Appliance Strategy PRD v3
SanDisk_ATMOS_AI_Appliance_Strategy_PRD_v3.docx
Controlling product baseline: sections 7-14; native/retrieval-only service roles, nine software products, HA, security, lifecycle and offline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TECHNICAL DESIGN — appendix to the controlling V3 strategy, not a supported-product announcement.
Acceptance IDs in the companion appendix map the architecture to V3 service and recovery requirements. No new TTFT/throughput guarantee is introduced. Retain the original measured-control discipline: quality, traffic distribution, context/concurrency, memory budgets, tail metrics and failover capacity are evaluated together. Simulator/emulator can test interfaces, lifecycle and resource models but cannot establish physical NPU rate, thermal or OEM behavior. The source calls for 8/16-device proof; this appendix does not add a new commercial SKU or reopen fine-grained GPU offload. Unresolved support/product policy must be explicitly approved, not hidden in implementation defaults.
SOURCE BASIS
[B1] SanDisk ATMOS AI Appliance Strategy PRD v3
SanDisk_ATMOS_AI_Appliance_Strategy_PRD_v3.docx
Controlling product baseline: sections 7-14; native/retrieval-only service roles, nine software products, HA, security, lifecycle and offline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TECHNICAL DESIGN — appendix to the controlling V3 strategy, not a supported-product announcement.
Sources checked 6 October 2026. B1 is the actual V3 PRD present in this conversation. B2 supplies look-and-feel and executive framing. The earlier source PRD v2 may explain lineage, but does not override V3. Technical public documents validate reusable mechanisms only. New proposals are labeled in the appendix: base distro, RKE2, optional KVM, reference namespace layout, quota transaction model, repo layout, release schemas and deployment/runbook details. Complete references, technical scopes and URLs are listed in the DOCX. No sensitive customer data or private keys appear in samples.
SOURCE BASIS
[B1] SanDisk ATMOS AI Appliance Strategy PRD v3
SanDisk_ATMOS_AI_Appliance_Strategy_PRD_v3.docx
Controlling product baseline: sections 7-14; native/retrieval-only service roles, nine software products, HA, security, lifecycle and offline operation.
[R1] Ubuntu security maintenance and kernel lifecycle
https://ubuntu.com/security/esm
Enterprise Linux lifecycle reference only; Ubuntu 24.04 LTS is a proposed engineering base, not an approved ATMOS OS.
[R2] RKE2 requirements
https://docs.rke2.io/install/requirements
Kubernetes distribution prerequisites; exact version, OS and ATMOS driver matrix must be qualified.
[R3] RKE2 high availability
https://docs.rke2.io/install/ha
Three-server control-plane pattern and fixed registration endpoint; does not provide application/data HA by itself.
[R4] RKE2 air-gap installation
https://docs.rke2.io/install/airgap
Bundled containerd, image archives and private registry deployment patterns.
[R5] Linux VFIO
https://docs.kernel.org/driver-api/vfio.html
IOMMU-group-based device assignment; not evidence of ATMOS passthrough, SR-IOV or migration support.
[R6] Kubernetes device plugins
https://kubernetes.io/docs/concepts/extend-kubernetes/compute-storage-net/device-plugins/
Discovery and allocation framework. SanDisk still builds the ATMOS allocation implementation.
[R7] Kubernetes dynamic resource allocation
https://kubernetes.io/docs/concepts/resource-management/dynamic-resource-allocation/
ResourceClaim/ResourceSlice model. Topology-aware ATMOS claims require a driver and version-specific validation.
[R8] Kubernetes resource quotas
https://kubernetes.io/docs/concepts/policy/resource-quotas/
Namespace object/compute quotas, not LLM-token, daily-spend or NPU working-memory enforcement.
[R9] KServe with inference gateway integration
https://kserve.github.io/website/docs/model-serving/generative-inference/llmisvc/llmisvc-envoy-ai-gateway
Gateway, inference-pool and usage-accounting precedent. Does not make ATMOS native execution or strict budgets available automatically.
[R10] vLLM platform plugin system
https://docs.vllm.ai/en/stable/design/plugin_system/
Out-of-tree platform interfaces and compatibility obligations; pin a tested release.
[R11] Tenstorrent vLLM backend plugin
https://github.com/tenstorrent/vllm-tt-plugin
Native platform-backend precedent. Existing TT hardware support is not ATMOS silicon certification.
[R12] Harbor tag immutability
https://goharbor.io/docs/main/working-with-projects/working-with-images/create-tag-immutability-rules/
Registry immutability pattern; pin artifacts by digest and protect retained generations.
[R13] Sigstore signature verification
https://docs.sigstore.dev/cosign/verifying/verify/
Verify identity, digest and signature. Offline trust material and local policy are still required.
[R14] Sigstore bundle format
https://docs.sigstore.dev/about/bundle/
Signature-verification material. Bundle plus locally provisioned trust enables disconnected verification design.
[R15] The Update Framework roles and metadata
https://theupdateframework.io/docs/metadata/
Root/targets/snapshot/timestamp separation for update trust, version and freshness. Offline refresh windows need explicit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SanDisk_ATMOS_Turnkey_Technical_Appendix_v1.docx#TK_A1"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SanDisk_ATMOS_Turnkey_Technical_Appendix_v1.docx#TK_A2"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SanDisk_ATMOS_Turnkey_Technical_Appendix_v1.docx#TK_A3"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SanDisk_ATMOS_Turnkey_Technical_Appendix_v1.docx#TK_A4"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SanDisk_ATMOS_Turnkey_Technical_Appendix_v1.docx#TK_A5"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SanDisk_ATMOS_Turnkey_Technical_Appendix_v1.docx#TK_A6"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SanDisk_ATMOS_Turnkey_Technical_Appendix_v1.docx#TK_A7"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SanDisk_ATMOS_Turnkey_Technical_Appendix_v1.docx#TK_A8"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SanDisk_ATMOS_Turnkey_Technical_Appendix_v1.docx#TK_A9"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SanDisk_ATMOS_Turnkey_Technical_Appendix_v1.docx#TK_A10"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SanDisk_ATMOS_Turnkey_Technical_Appendix_v1.docx#TK_A11"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SanDisk_ATMOS_Turnkey_Technical_Appendix_v1.docx#TK_A12"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SanDisk_ATMOS_Turnkey_Technical_Appendix_v1.docx#TK_A13"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SanDisk_ATMOS_Turnkey_Technical_Appendix_v1.docx#TK_A14"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SanDisk_ATMOS_Turnkey_Technical_Appendix_v1.docx#TK_A15"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SanDisk_ATMOS_Turnkey_Technical_Appendix_v1.docx#TK_A16"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SanDisk_ATMOS_Turnkey_Technical_Appendix_v1.docx#TK_A17"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SanDisk_ATMOS_Turnkey_Technical_Appendix_v1.docx#TK_A18"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SanDisk_ATMOS_Turnkey_Technical_Appendix_v1.docx#TK_SOURCES" TargetMode="External"/><Relationship Id="rId2" Type="http://schemas.openxmlformats.org/officeDocument/2006/relationships/hyperlink" Target="SanDisk_ATMOS_AI_Appliance_Strategy_PRD_v3.docx" TargetMode="External"/><Relationship Id="rId3" Type="http://schemas.openxmlformats.org/officeDocument/2006/relationships/hyperlink" Target="https://ubuntu.com/security/esm" TargetMode="External"/><Relationship Id="rId4" Type="http://schemas.openxmlformats.org/officeDocument/2006/relationships/hyperlink" Target="https://docs.rke2.io/install/requirements" TargetMode="External"/><Relationship Id="rId5" Type="http://schemas.openxmlformats.org/officeDocument/2006/relationships/hyperlink" Target="https://docs.rke2.io/install/ha" TargetMode="External"/><Relationship Id="rId6" Type="http://schemas.openxmlformats.org/officeDocument/2006/relationships/hyperlink" Target="https://docs.rke2.io/install/airgap" TargetMode="External"/><Relationship Id="rId7" Type="http://schemas.openxmlformats.org/officeDocument/2006/relationships/hyperlink" Target="https://docs.kernel.org/driver-api/vfio.html" TargetMode="External"/><Relationship Id="rId8" Type="http://schemas.openxmlformats.org/officeDocument/2006/relationships/hyperlink" Target="https://kubernetes.io/docs/concepts/extend-kubernetes/compute-storage-net/device-plugins/" TargetMode="External"/><Relationship Id="rId9" Type="http://schemas.openxmlformats.org/officeDocument/2006/relationships/hyperlink" Target="https://kubernetes.io/docs/concepts/resource-management/dynamic-resource-allocation/" TargetMode="External"/><Relationship Id="rId10" Type="http://schemas.openxmlformats.org/officeDocument/2006/relationships/hyperlink" Target="https://kubernetes.io/docs/concepts/policy/resource-quotas/" TargetMode="External"/><Relationship Id="rId11" Type="http://schemas.openxmlformats.org/officeDocument/2006/relationships/hyperlink" Target="https://kserve.github.io/website/docs/model-serving/generative-inference/llmisvc/llmisvc-envoy-ai-gateway" TargetMode="External"/><Relationship Id="rId12" Type="http://schemas.openxmlformats.org/officeDocument/2006/relationships/hyperlink" Target="https://docs.vllm.ai/en/stable/design/plugin_system/" TargetMode="External"/><Relationship Id="rId13" Type="http://schemas.openxmlformats.org/officeDocument/2006/relationships/hyperlink" Target="https://github.com/tenstorrent/vllm-tt-plugin" TargetMode="External"/><Relationship Id="rId14" Type="http://schemas.openxmlformats.org/officeDocument/2006/relationships/hyperlink" Target="https://goharbor.io/docs/main/working-with-projects/working-with-images/create-tag-immutability-rules/" TargetMode="External"/><Relationship Id="rId15" Type="http://schemas.openxmlformats.org/officeDocument/2006/relationships/hyperlink" Target="https://docs.sigstore.dev/cosign/verifying/verify/" TargetMode="External"/><Relationship Id="rId16" Type="http://schemas.openxmlformats.org/officeDocument/2006/relationships/hyperlink" Target="https://docs.sigstore.dev/about/bundle/" TargetMode="External"/><Relationship Id="rId17" Type="http://schemas.openxmlformats.org/officeDocument/2006/relationships/hyperlink" Target="https://theupdateframework.io/docs/metadata/" TargetMode="External"/><Relationship Id="rId18" Type="http://schemas.openxmlformats.org/officeDocument/2006/relationships/slideLayout" Target="../slideLayouts/slideLayout1.xml"/><Relationship Id="rId19"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191D"/>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31837"/>
          </a:solidFill>
          <a:ln w="10160">
            <a:solidFill>
              <a:srgbClr val="E31837"/>
            </a:solidFill>
            <a:prstDash val="solid"/>
          </a:ln>
        </p:spPr>
      </p:sp>
      <p:sp>
        <p:nvSpPr>
          <p:cNvPr id="3" name="Text 1"/>
          <p:cNvSpPr/>
          <p:nvPr/>
        </p:nvSpPr>
        <p:spPr>
          <a:xfrm>
            <a:off x="585216" y="393192"/>
            <a:ext cx="2743200" cy="411480"/>
          </a:xfrm>
          <a:prstGeom prst="rect">
            <a:avLst/>
          </a:prstGeom>
          <a:noFill/>
          <a:ln/>
        </p:spPr>
        <p:txBody>
          <a:bodyPr wrap="square" lIns="0" tIns="0" rIns="0" bIns="0" rtlCol="0" anchor="ctr"/>
          <a:lstStyle/>
          <a:p>
            <a:pPr algn="l" indent="0" marL="0">
              <a:buNone/>
            </a:pPr>
            <a:r>
              <a:rPr lang="en-US" sz="2400" b="1" dirty="0">
                <a:solidFill>
                  <a:srgbClr val="E31837"/>
                </a:solidFill>
                <a:latin typeface="Arial" pitchFamily="34" charset="0"/>
                <a:ea typeface="Arial" pitchFamily="34" charset="-122"/>
                <a:cs typeface="Arial" pitchFamily="34" charset="-120"/>
              </a:rPr>
              <a:t>SANDISK</a:t>
            </a:r>
            <a:endParaRPr lang="en-US" sz="2400" dirty="0"/>
          </a:p>
        </p:txBody>
      </p:sp>
      <p:sp>
        <p:nvSpPr>
          <p:cNvPr id="4" name="Text 2"/>
          <p:cNvSpPr/>
          <p:nvPr/>
        </p:nvSpPr>
        <p:spPr>
          <a:xfrm>
            <a:off x="594360" y="1188720"/>
            <a:ext cx="6400800" cy="228600"/>
          </a:xfrm>
          <a:prstGeom prst="rect">
            <a:avLst/>
          </a:prstGeom>
          <a:noFill/>
          <a:ln/>
        </p:spPr>
        <p:txBody>
          <a:bodyPr wrap="square" lIns="0" tIns="0" rIns="0" bIns="0" rtlCol="0" anchor="ctr"/>
          <a:lstStyle/>
          <a:p>
            <a:pPr algn="l" indent="0" marL="0">
              <a:buNone/>
            </a:pPr>
            <a:r>
              <a:rPr lang="en-US" sz="1200" b="1" dirty="0">
                <a:solidFill>
                  <a:srgbClr val="B7BDC6"/>
                </a:solidFill>
                <a:latin typeface="Arial" pitchFamily="34" charset="0"/>
                <a:ea typeface="Arial" pitchFamily="34" charset="-122"/>
                <a:cs typeface="Arial" pitchFamily="34" charset="-120"/>
              </a:rPr>
              <a:t>APPENDIX TO V3  /  TECHNICAL REFERENCE DESIGN</a:t>
            </a:r>
            <a:endParaRPr lang="en-US" sz="1200" dirty="0"/>
          </a:p>
        </p:txBody>
      </p:sp>
      <p:sp>
        <p:nvSpPr>
          <p:cNvPr id="5" name="Text 3"/>
          <p:cNvSpPr/>
          <p:nvPr/>
        </p:nvSpPr>
        <p:spPr>
          <a:xfrm>
            <a:off x="576072" y="1746504"/>
            <a:ext cx="7772400" cy="2148840"/>
          </a:xfrm>
          <a:prstGeom prst="rect">
            <a:avLst/>
          </a:prstGeom>
          <a:noFill/>
          <a:ln/>
        </p:spPr>
        <p:txBody>
          <a:bodyPr wrap="square" lIns="0" tIns="0" rIns="0" bIns="0" rtlCol="0" anchor="ctr"/>
          <a:lstStyle/>
          <a:p>
            <a:pPr algn="l" indent="0" marL="0">
              <a:buNone/>
            </a:pPr>
            <a:r>
              <a:rPr lang="en-US" sz="3800" b="1" dirty="0">
                <a:solidFill>
                  <a:srgbClr val="FFFFFF"/>
                </a:solidFill>
                <a:latin typeface="Arial" pitchFamily="34" charset="0"/>
                <a:ea typeface="Arial" pitchFamily="34" charset="-122"/>
                <a:cs typeface="Arial" pitchFamily="34" charset="-120"/>
              </a:rPr>
              <a:t>The turnkey</a:t>
            </a:r>
            <a:endParaRPr lang="en-US" sz="3800" dirty="0"/>
          </a:p>
          <a:p>
            <a:pPr algn="l" indent="0" marL="0">
              <a:buNone/>
            </a:pPr>
            <a:r>
              <a:rPr lang="en-US" sz="3800" b="1" dirty="0">
                <a:solidFill>
                  <a:srgbClr val="FFFFFF"/>
                </a:solidFill>
                <a:latin typeface="Arial" pitchFamily="34" charset="0"/>
                <a:ea typeface="Arial" pitchFamily="34" charset="-122"/>
                <a:cs typeface="Arial" pitchFamily="34" charset="-120"/>
              </a:rPr>
              <a:t>architecture behind</a:t>
            </a:r>
            <a:endParaRPr lang="en-US" sz="3800" dirty="0"/>
          </a:p>
          <a:p>
            <a:pPr algn="l" indent="0" marL="0">
              <a:buNone/>
            </a:pPr>
            <a:r>
              <a:rPr lang="en-US" sz="3800" b="1" dirty="0">
                <a:solidFill>
                  <a:srgbClr val="FFFFFF"/>
                </a:solidFill>
                <a:latin typeface="Arial" pitchFamily="34" charset="0"/>
                <a:ea typeface="Arial" pitchFamily="34" charset="-122"/>
                <a:cs typeface="Arial" pitchFamily="34" charset="-120"/>
              </a:rPr>
              <a:t>the appliance.</a:t>
            </a:r>
            <a:endParaRPr lang="en-US" sz="3800" dirty="0"/>
          </a:p>
        </p:txBody>
      </p:sp>
      <p:sp>
        <p:nvSpPr>
          <p:cNvPr id="6" name="Text 4"/>
          <p:cNvSpPr/>
          <p:nvPr/>
        </p:nvSpPr>
        <p:spPr>
          <a:xfrm>
            <a:off x="621792" y="4233672"/>
            <a:ext cx="6949440" cy="822960"/>
          </a:xfrm>
          <a:prstGeom prst="rect">
            <a:avLst/>
          </a:prstGeom>
          <a:noFill/>
          <a:ln/>
        </p:spPr>
        <p:txBody>
          <a:bodyPr wrap="square" lIns="0" tIns="0" rIns="0" bIns="0" rtlCol="0" anchor="ctr"/>
          <a:lstStyle/>
          <a:p>
            <a:pPr algn="l" indent="0" marL="0">
              <a:buNone/>
            </a:pPr>
            <a:r>
              <a:rPr lang="en-US" sz="1900" dirty="0">
                <a:solidFill>
                  <a:srgbClr val="DCE0E6"/>
                </a:solidFill>
                <a:latin typeface="Arial" pitchFamily="34" charset="0"/>
                <a:ea typeface="Arial" pitchFamily="34" charset="-122"/>
                <a:cs typeface="Arial" pitchFamily="34" charset="-120"/>
              </a:rPr>
              <a:t>One qualified stack. Local policy. Signed delivery.</a:t>
            </a:r>
            <a:endParaRPr lang="en-US" sz="1900" dirty="0"/>
          </a:p>
          <a:p>
            <a:pPr algn="l" indent="0" marL="0">
              <a:buNone/>
            </a:pPr>
            <a:r>
              <a:rPr lang="en-US" sz="1900" dirty="0">
                <a:solidFill>
                  <a:srgbClr val="DCE0E6"/>
                </a:solidFill>
                <a:latin typeface="Arial" pitchFamily="34" charset="0"/>
                <a:ea typeface="Arial" pitchFamily="34" charset="-122"/>
                <a:cs typeface="Arial" pitchFamily="34" charset="-120"/>
              </a:rPr>
              <a:t>From first boot to model updates and enterprise support.</a:t>
            </a:r>
            <a:endParaRPr lang="en-US" sz="1900" dirty="0"/>
          </a:p>
        </p:txBody>
      </p:sp>
      <p:sp>
        <p:nvSpPr>
          <p:cNvPr id="7" name="Shape 5"/>
          <p:cNvSpPr/>
          <p:nvPr/>
        </p:nvSpPr>
        <p:spPr>
          <a:xfrm>
            <a:off x="8247888" y="1325880"/>
            <a:ext cx="3291840" cy="1143000"/>
          </a:xfrm>
          <a:prstGeom prst="rect">
            <a:avLst/>
          </a:prstGeom>
          <a:solidFill>
            <a:srgbClr val="292B30"/>
          </a:solidFill>
          <a:ln w="10160">
            <a:solidFill>
              <a:srgbClr val="292B30"/>
            </a:solidFill>
            <a:prstDash val="solid"/>
          </a:ln>
        </p:spPr>
      </p:sp>
      <p:sp>
        <p:nvSpPr>
          <p:cNvPr id="8" name="Text 6"/>
          <p:cNvSpPr/>
          <p:nvPr/>
        </p:nvSpPr>
        <p:spPr>
          <a:xfrm>
            <a:off x="8430768" y="1453896"/>
            <a:ext cx="411480" cy="329184"/>
          </a:xfrm>
          <a:prstGeom prst="rect">
            <a:avLst/>
          </a:prstGeom>
          <a:noFill/>
          <a:ln/>
        </p:spPr>
        <p:txBody>
          <a:bodyPr wrap="square" lIns="0" tIns="0" rIns="0" bIns="0" rtlCol="0" anchor="ctr"/>
          <a:lstStyle/>
          <a:p>
            <a:pPr algn="l" indent="0" marL="0">
              <a:buNone/>
            </a:pPr>
            <a:r>
              <a:rPr lang="en-US" sz="2300" b="1" dirty="0">
                <a:solidFill>
                  <a:srgbClr val="FFFFFF"/>
                </a:solidFill>
                <a:latin typeface="Arial" pitchFamily="34" charset="0"/>
                <a:ea typeface="Arial" pitchFamily="34" charset="-122"/>
                <a:cs typeface="Arial" pitchFamily="34" charset="-120"/>
              </a:rPr>
              <a:t>01</a:t>
            </a:r>
            <a:endParaRPr lang="en-US" sz="2300" dirty="0"/>
          </a:p>
        </p:txBody>
      </p:sp>
      <p:sp>
        <p:nvSpPr>
          <p:cNvPr id="9" name="Text 7"/>
          <p:cNvSpPr/>
          <p:nvPr/>
        </p:nvSpPr>
        <p:spPr>
          <a:xfrm>
            <a:off x="8979408" y="1435608"/>
            <a:ext cx="2286000" cy="329184"/>
          </a:xfrm>
          <a:prstGeom prst="rect">
            <a:avLst/>
          </a:prstGeom>
          <a:noFill/>
          <a:ln/>
        </p:spPr>
        <p:txBody>
          <a:bodyPr wrap="square" lIns="0" tIns="0" rIns="0" bIns="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CUSTOMER APPLIANCE</a:t>
            </a:r>
            <a:endParaRPr lang="en-US" sz="1200" dirty="0"/>
          </a:p>
        </p:txBody>
      </p:sp>
      <p:sp>
        <p:nvSpPr>
          <p:cNvPr id="10" name="Text 8"/>
          <p:cNvSpPr/>
          <p:nvPr/>
        </p:nvSpPr>
        <p:spPr>
          <a:xfrm>
            <a:off x="8430768" y="1947672"/>
            <a:ext cx="2852928" cy="301752"/>
          </a:xfrm>
          <a:prstGeom prst="rect">
            <a:avLst/>
          </a:prstGeom>
          <a:noFill/>
          <a:ln/>
        </p:spPr>
        <p:txBody>
          <a:bodyPr wrap="square" lIns="0" tIns="0" rIns="0" bIns="0" rtlCol="0" anchor="ctr"/>
          <a:lstStyle/>
          <a:p>
            <a:pPr algn="l" indent="0" marL="0">
              <a:buNone/>
            </a:pPr>
            <a:r>
              <a:rPr lang="en-US" sz="1150" dirty="0">
                <a:solidFill>
                  <a:srgbClr val="FFFFFF"/>
                </a:solidFill>
                <a:latin typeface="Arial" pitchFamily="34" charset="0"/>
                <a:ea typeface="Arial" pitchFamily="34" charset="-122"/>
                <a:cs typeface="Arial" pitchFamily="34" charset="-120"/>
              </a:rPr>
              <a:t>OS → containers → services → ATMOS</a:t>
            </a:r>
            <a:endParaRPr lang="en-US" sz="1150" dirty="0"/>
          </a:p>
        </p:txBody>
      </p:sp>
      <p:sp>
        <p:nvSpPr>
          <p:cNvPr id="11" name="Shape 9"/>
          <p:cNvSpPr/>
          <p:nvPr/>
        </p:nvSpPr>
        <p:spPr>
          <a:xfrm>
            <a:off x="8247888" y="2761488"/>
            <a:ext cx="3291840" cy="1143000"/>
          </a:xfrm>
          <a:prstGeom prst="rect">
            <a:avLst/>
          </a:prstGeom>
          <a:solidFill>
            <a:srgbClr val="E31837"/>
          </a:solidFill>
          <a:ln w="10160">
            <a:solidFill>
              <a:srgbClr val="E31837"/>
            </a:solidFill>
            <a:prstDash val="solid"/>
          </a:ln>
        </p:spPr>
      </p:sp>
      <p:sp>
        <p:nvSpPr>
          <p:cNvPr id="12" name="Text 10"/>
          <p:cNvSpPr/>
          <p:nvPr/>
        </p:nvSpPr>
        <p:spPr>
          <a:xfrm>
            <a:off x="8430768" y="2889504"/>
            <a:ext cx="411480" cy="329184"/>
          </a:xfrm>
          <a:prstGeom prst="rect">
            <a:avLst/>
          </a:prstGeom>
          <a:noFill/>
          <a:ln/>
        </p:spPr>
        <p:txBody>
          <a:bodyPr wrap="square" lIns="0" tIns="0" rIns="0" bIns="0" rtlCol="0" anchor="ctr"/>
          <a:lstStyle/>
          <a:p>
            <a:pPr algn="l" indent="0" marL="0">
              <a:buNone/>
            </a:pPr>
            <a:r>
              <a:rPr lang="en-US" sz="2300" b="1" dirty="0">
                <a:solidFill>
                  <a:srgbClr val="FFFFFF"/>
                </a:solidFill>
                <a:latin typeface="Arial" pitchFamily="34" charset="0"/>
                <a:ea typeface="Arial" pitchFamily="34" charset="-122"/>
                <a:cs typeface="Arial" pitchFamily="34" charset="-120"/>
              </a:rPr>
              <a:t>02</a:t>
            </a:r>
            <a:endParaRPr lang="en-US" sz="2300" dirty="0"/>
          </a:p>
        </p:txBody>
      </p:sp>
      <p:sp>
        <p:nvSpPr>
          <p:cNvPr id="13" name="Text 11"/>
          <p:cNvSpPr/>
          <p:nvPr/>
        </p:nvSpPr>
        <p:spPr>
          <a:xfrm>
            <a:off x="8979408" y="2871216"/>
            <a:ext cx="2286000" cy="329184"/>
          </a:xfrm>
          <a:prstGeom prst="rect">
            <a:avLst/>
          </a:prstGeom>
          <a:noFill/>
          <a:ln/>
        </p:spPr>
        <p:txBody>
          <a:bodyPr wrap="square" lIns="0" tIns="0" rIns="0" bIns="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SANDISK RELEASE FACTORY</a:t>
            </a:r>
            <a:endParaRPr lang="en-US" sz="1200" dirty="0"/>
          </a:p>
        </p:txBody>
      </p:sp>
      <p:sp>
        <p:nvSpPr>
          <p:cNvPr id="14" name="Text 12"/>
          <p:cNvSpPr/>
          <p:nvPr/>
        </p:nvSpPr>
        <p:spPr>
          <a:xfrm>
            <a:off x="8430768" y="3383280"/>
            <a:ext cx="2852928" cy="301752"/>
          </a:xfrm>
          <a:prstGeom prst="rect">
            <a:avLst/>
          </a:prstGeom>
          <a:noFill/>
          <a:ln/>
        </p:spPr>
        <p:txBody>
          <a:bodyPr wrap="square" lIns="0" tIns="0" rIns="0" bIns="0" rtlCol="0" anchor="ctr"/>
          <a:lstStyle/>
          <a:p>
            <a:pPr algn="l" indent="0" marL="0">
              <a:buNone/>
            </a:pPr>
            <a:r>
              <a:rPr lang="en-US" sz="1150" dirty="0">
                <a:solidFill>
                  <a:srgbClr val="FFFFFF"/>
                </a:solidFill>
                <a:latin typeface="Arial" pitchFamily="34" charset="0"/>
                <a:ea typeface="Arial" pitchFamily="34" charset="-122"/>
                <a:cs typeface="Arial" pitchFamily="34" charset="-120"/>
              </a:rPr>
              <a:t>Build → certify → sign → distribute</a:t>
            </a:r>
            <a:endParaRPr lang="en-US" sz="1150" dirty="0"/>
          </a:p>
        </p:txBody>
      </p:sp>
      <p:sp>
        <p:nvSpPr>
          <p:cNvPr id="15" name="Shape 13"/>
          <p:cNvSpPr/>
          <p:nvPr/>
        </p:nvSpPr>
        <p:spPr>
          <a:xfrm>
            <a:off x="8247888" y="4197096"/>
            <a:ext cx="3291840" cy="1143000"/>
          </a:xfrm>
          <a:prstGeom prst="rect">
            <a:avLst/>
          </a:prstGeom>
          <a:solidFill>
            <a:srgbClr val="292B30"/>
          </a:solidFill>
          <a:ln w="10160">
            <a:solidFill>
              <a:srgbClr val="292B30"/>
            </a:solidFill>
            <a:prstDash val="solid"/>
          </a:ln>
        </p:spPr>
      </p:sp>
      <p:sp>
        <p:nvSpPr>
          <p:cNvPr id="16" name="Text 14"/>
          <p:cNvSpPr/>
          <p:nvPr/>
        </p:nvSpPr>
        <p:spPr>
          <a:xfrm>
            <a:off x="8430768" y="4325112"/>
            <a:ext cx="411480" cy="329184"/>
          </a:xfrm>
          <a:prstGeom prst="rect">
            <a:avLst/>
          </a:prstGeom>
          <a:noFill/>
          <a:ln/>
        </p:spPr>
        <p:txBody>
          <a:bodyPr wrap="square" lIns="0" tIns="0" rIns="0" bIns="0" rtlCol="0" anchor="ctr"/>
          <a:lstStyle/>
          <a:p>
            <a:pPr algn="l" indent="0" marL="0">
              <a:buNone/>
            </a:pPr>
            <a:r>
              <a:rPr lang="en-US" sz="2300" b="1" dirty="0">
                <a:solidFill>
                  <a:srgbClr val="FFFFFF"/>
                </a:solidFill>
                <a:latin typeface="Arial" pitchFamily="34" charset="0"/>
                <a:ea typeface="Arial" pitchFamily="34" charset="-122"/>
                <a:cs typeface="Arial" pitchFamily="34" charset="-120"/>
              </a:rPr>
              <a:t>03</a:t>
            </a:r>
            <a:endParaRPr lang="en-US" sz="2300" dirty="0"/>
          </a:p>
        </p:txBody>
      </p:sp>
      <p:sp>
        <p:nvSpPr>
          <p:cNvPr id="17" name="Text 15"/>
          <p:cNvSpPr/>
          <p:nvPr/>
        </p:nvSpPr>
        <p:spPr>
          <a:xfrm>
            <a:off x="8979408" y="4306824"/>
            <a:ext cx="2286000" cy="329184"/>
          </a:xfrm>
          <a:prstGeom prst="rect">
            <a:avLst/>
          </a:prstGeom>
          <a:noFill/>
          <a:ln/>
        </p:spPr>
        <p:txBody>
          <a:bodyPr wrap="square" lIns="0" tIns="0" rIns="0" bIns="0" rtlCol="0" anchor="ctr"/>
          <a:lstStyle/>
          <a:p>
            <a:pPr algn="l" indent="0" marL="0">
              <a:buNone/>
            </a:pPr>
            <a:r>
              <a:rPr lang="en-US" sz="1200" b="1" dirty="0">
                <a:solidFill>
                  <a:srgbClr val="FFFFFF"/>
                </a:solidFill>
                <a:latin typeface="Arial" pitchFamily="34" charset="0"/>
                <a:ea typeface="Arial" pitchFamily="34" charset="-122"/>
                <a:cs typeface="Arial" pitchFamily="34" charset="-120"/>
              </a:rPr>
              <a:t>OPERATED LIFECYCLE</a:t>
            </a:r>
            <a:endParaRPr lang="en-US" sz="1200" dirty="0"/>
          </a:p>
        </p:txBody>
      </p:sp>
      <p:sp>
        <p:nvSpPr>
          <p:cNvPr id="18" name="Text 16"/>
          <p:cNvSpPr/>
          <p:nvPr/>
        </p:nvSpPr>
        <p:spPr>
          <a:xfrm>
            <a:off x="8430768" y="4818888"/>
            <a:ext cx="2852928" cy="301752"/>
          </a:xfrm>
          <a:prstGeom prst="rect">
            <a:avLst/>
          </a:prstGeom>
          <a:noFill/>
          <a:ln/>
        </p:spPr>
        <p:txBody>
          <a:bodyPr wrap="square" lIns="0" tIns="0" rIns="0" bIns="0" rtlCol="0" anchor="ctr"/>
          <a:lstStyle/>
          <a:p>
            <a:pPr algn="l" indent="0" marL="0">
              <a:buNone/>
            </a:pPr>
            <a:r>
              <a:rPr lang="en-US" sz="1150" dirty="0">
                <a:solidFill>
                  <a:srgbClr val="FFFFFF"/>
                </a:solidFill>
                <a:latin typeface="Arial" pitchFamily="34" charset="0"/>
                <a:ea typeface="Arial" pitchFamily="34" charset="-122"/>
                <a:cs typeface="Arial" pitchFamily="34" charset="-120"/>
              </a:rPr>
              <a:t>Admit → observe → upgrade → recover</a:t>
            </a:r>
            <a:endParaRPr lang="en-US" sz="1150" dirty="0"/>
          </a:p>
        </p:txBody>
      </p:sp>
      <p:sp>
        <p:nvSpPr>
          <p:cNvPr id="19" name="Text 17"/>
          <p:cNvSpPr/>
          <p:nvPr/>
        </p:nvSpPr>
        <p:spPr>
          <a:xfrm>
            <a:off x="621792" y="6199632"/>
            <a:ext cx="9144000" cy="274320"/>
          </a:xfrm>
          <a:prstGeom prst="rect">
            <a:avLst/>
          </a:prstGeom>
          <a:noFill/>
          <a:ln/>
        </p:spPr>
        <p:txBody>
          <a:bodyPr wrap="square" lIns="0" tIns="0" rIns="0" bIns="0" rtlCol="0" anchor="ctr"/>
          <a:lstStyle/>
          <a:p>
            <a:pPr algn="l" indent="0" marL="0">
              <a:buNone/>
            </a:pPr>
            <a:r>
              <a:rPr lang="en-US" sz="1200" dirty="0">
                <a:solidFill>
                  <a:srgbClr val="BDC2CB"/>
                </a:solidFill>
                <a:latin typeface="Arial" pitchFamily="34" charset="0"/>
                <a:ea typeface="Arial" pitchFamily="34" charset="-122"/>
                <a:cs typeface="Arial" pitchFamily="34" charset="-120"/>
              </a:rPr>
              <a:t>Separate PPT + design notes • V3 portfolio remains unchanged</a:t>
            </a:r>
            <a:endParaRPr lang="en-US" sz="1200" dirty="0"/>
          </a:p>
        </p:txBody>
      </p:sp>
      <p:sp>
        <p:nvSpPr>
          <p:cNvPr id="20" name="Text 18"/>
          <p:cNvSpPr/>
          <p:nvPr/>
        </p:nvSpPr>
        <p:spPr>
          <a:xfrm>
            <a:off x="9464040" y="6217920"/>
            <a:ext cx="2103120" cy="274320"/>
          </a:xfrm>
          <a:prstGeom prst="rect">
            <a:avLst/>
          </a:prstGeom>
          <a:noFill/>
          <a:ln/>
        </p:spPr>
        <p:txBody>
          <a:bodyPr wrap="square" lIns="0" tIns="0" rIns="0" bIns="0" rtlCol="0" anchor="ctr"/>
          <a:lstStyle/>
          <a:p>
            <a:pPr algn="r" indent="0" marL="0">
              <a:buNone/>
            </a:pPr>
            <a:r>
              <a:rPr lang="en-US" sz="1100" dirty="0">
                <a:solidFill>
                  <a:srgbClr val="FFFFFF"/>
                </a:solidFill>
                <a:latin typeface="Arial" pitchFamily="34" charset="0"/>
                <a:ea typeface="Arial" pitchFamily="34" charset="-122"/>
                <a:cs typeface="Arial" pitchFamily="34" charset="-120"/>
              </a:rPr>
              <a:t>6 OCT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E31837"/>
          </a:solidFill>
          <a:ln w="10160">
            <a:solidFill>
              <a:srgbClr val="E31837"/>
            </a:solidFill>
            <a:prstDash val="solid"/>
          </a:ln>
        </p:spPr>
      </p:sp>
      <p:sp>
        <p:nvSpPr>
          <p:cNvPr id="3" name="Text 1"/>
          <p:cNvSpPr/>
          <p:nvPr/>
        </p:nvSpPr>
        <p:spPr>
          <a:xfrm>
            <a:off x="457200" y="228600"/>
            <a:ext cx="1645920" cy="228600"/>
          </a:xfrm>
          <a:prstGeom prst="rect">
            <a:avLst/>
          </a:prstGeom>
          <a:noFill/>
          <a:ln/>
        </p:spPr>
        <p:txBody>
          <a:bodyPr wrap="square" lIns="0" tIns="0" rIns="0" bIns="0" rtlCol="0" anchor="ctr"/>
          <a:lstStyle/>
          <a:p>
            <a:pPr algn="l" indent="0" marL="0">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4" name="Text 2"/>
          <p:cNvSpPr/>
          <p:nvPr/>
        </p:nvSpPr>
        <p:spPr>
          <a:xfrm>
            <a:off x="1965960" y="256032"/>
            <a:ext cx="9144000" cy="182880"/>
          </a:xfrm>
          <a:prstGeom prst="rect">
            <a:avLst/>
          </a:prstGeom>
          <a:noFill/>
          <a:ln/>
        </p:spPr>
        <p:txBody>
          <a:bodyPr wrap="square" lIns="0" tIns="0" rIns="0" bIns="0" rtlCol="0" anchor="ctr"/>
          <a:lstStyle/>
          <a:p>
            <a:pPr algn="l" indent="0" marL="0">
              <a:buNone/>
            </a:pPr>
            <a:r>
              <a:rPr lang="en-US" sz="1050" b="1" dirty="0">
                <a:solidFill>
                  <a:srgbClr val="5B6169"/>
                </a:solidFill>
                <a:latin typeface="Arial" pitchFamily="34" charset="0"/>
                <a:ea typeface="Arial" pitchFamily="34" charset="-122"/>
                <a:cs typeface="Arial" pitchFamily="34" charset="-120"/>
              </a:rPr>
              <a:t>ATMOS  /  A1 / COMPLETE SYSTEM</a:t>
            </a:r>
            <a:endParaRPr lang="en-US" sz="1050" dirty="0"/>
          </a:p>
        </p:txBody>
      </p:sp>
      <p:sp>
        <p:nvSpPr>
          <p:cNvPr id="5" name="Text 3"/>
          <p:cNvSpPr/>
          <p:nvPr/>
        </p:nvSpPr>
        <p:spPr>
          <a:xfrm>
            <a:off x="475488" y="758952"/>
            <a:ext cx="11201400" cy="493776"/>
          </a:xfrm>
          <a:prstGeom prst="rect">
            <a:avLst/>
          </a:prstGeom>
          <a:noFill/>
          <a:ln/>
        </p:spPr>
        <p:txBody>
          <a:bodyPr wrap="square" lIns="0" tIns="0" rIns="0" bIns="0" rtlCol="0" anchor="ctr"/>
          <a:lstStyle/>
          <a:p>
            <a:pPr algn="l" indent="0" marL="0">
              <a:buNone/>
            </a:pPr>
            <a:r>
              <a:rPr lang="en-US" sz="2750" b="1" dirty="0">
                <a:solidFill>
                  <a:srgbClr val="18191D"/>
                </a:solidFill>
                <a:latin typeface="Arial" pitchFamily="34" charset="0"/>
                <a:ea typeface="Arial" pitchFamily="34" charset="-122"/>
                <a:cs typeface="Arial" pitchFamily="34" charset="-120"/>
              </a:rPr>
              <a:t>Run private AI locally. Distribute trusted releases separately.</a:t>
            </a:r>
            <a:endParaRPr lang="en-US" sz="2750" dirty="0"/>
          </a:p>
        </p:txBody>
      </p:sp>
      <p:sp>
        <p:nvSpPr>
          <p:cNvPr id="6" name="Text 4"/>
          <p:cNvSpPr/>
          <p:nvPr/>
        </p:nvSpPr>
        <p:spPr>
          <a:xfrm>
            <a:off x="502920" y="1298448"/>
            <a:ext cx="11064240" cy="411480"/>
          </a:xfrm>
          <a:prstGeom prst="rect">
            <a:avLst/>
          </a:prstGeom>
          <a:noFill/>
          <a:ln/>
        </p:spPr>
        <p:txBody>
          <a:bodyPr wrap="square" lIns="0" tIns="0" rIns="0" bIns="0" rtlCol="0" anchor="ctr"/>
          <a:lstStyle/>
          <a:p>
            <a:pPr algn="l" indent="0" marL="0">
              <a:buNone/>
            </a:pPr>
            <a:r>
              <a:rPr lang="en-US" sz="1350" dirty="0">
                <a:solidFill>
                  <a:srgbClr val="5B6169"/>
                </a:solidFill>
                <a:latin typeface="Arial" pitchFamily="34" charset="0"/>
                <a:ea typeface="Arial" pitchFamily="34" charset="-122"/>
                <a:cs typeface="Arial" pitchFamily="34" charset="-120"/>
              </a:rPr>
              <a:t>Customer inference, policy and data remain local; SanDisk operates the release and support plane.</a:t>
            </a:r>
            <a:endParaRPr lang="en-US" sz="1350" dirty="0"/>
          </a:p>
        </p:txBody>
      </p:sp>
      <p:sp>
        <p:nvSpPr>
          <p:cNvPr id="7" name="Shape 5"/>
          <p:cNvSpPr/>
          <p:nvPr/>
        </p:nvSpPr>
        <p:spPr>
          <a:xfrm>
            <a:off x="484632" y="6464808"/>
            <a:ext cx="11237976" cy="0"/>
          </a:xfrm>
          <a:prstGeom prst="line">
            <a:avLst/>
          </a:prstGeom>
          <a:noFill/>
          <a:ln w="7620">
            <a:solidFill>
              <a:srgbClr val="D9DDE3"/>
            </a:solidFill>
            <a:prstDash val="solid"/>
            <a:headEnd type="none"/>
            <a:tailEnd type="none"/>
          </a:ln>
        </p:spPr>
      </p:sp>
      <p:sp>
        <p:nvSpPr>
          <p:cNvPr id="8" name="Text 6"/>
          <p:cNvSpPr/>
          <p:nvPr/>
        </p:nvSpPr>
        <p:spPr>
          <a:xfrm>
            <a:off x="512064" y="6547104"/>
            <a:ext cx="9418320" cy="164592"/>
          </a:xfrm>
          <a:prstGeom prst="rect">
            <a:avLst/>
          </a:prstGeom>
          <a:noFill/>
          <a:ln/>
        </p:spPr>
        <p:txBody>
          <a:bodyPr wrap="square" lIns="0" tIns="0" rIns="0" bIns="0" rtlCol="0" anchor="ctr"/>
          <a:lstStyle/>
          <a:p>
            <a:pPr algn="l" indent="0" marL="0">
              <a:buNone/>
            </a:pPr>
            <a:r>
              <a:rPr lang="en-US" sz="850" dirty="0">
                <a:solidFill>
                  <a:srgbClr val="5B6169"/>
                </a:solidFill>
                <a:latin typeface="Arial" pitchFamily="34" charset="0"/>
                <a:ea typeface="Arial" pitchFamily="34" charset="-122"/>
                <a:cs typeface="Arial" pitchFamily="34" charset="-120"/>
              </a:rPr>
              <a:t>TECHNICAL APPENDIX TO V3  •  6 OCT 2026  •  PROPOSED DESIGN / QUALIFICATION REQUIRED</a:t>
            </a:r>
            <a:endParaRPr lang="en-US" sz="850" dirty="0"/>
          </a:p>
        </p:txBody>
      </p:sp>
      <p:sp>
        <p:nvSpPr>
          <p:cNvPr id="9" name="Text 7"/>
          <p:cNvSpPr/>
          <p:nvPr/>
        </p:nvSpPr>
        <p:spPr>
          <a:xfrm>
            <a:off x="11219688" y="6519672"/>
            <a:ext cx="457200" cy="219456"/>
          </a:xfrm>
          <a:prstGeom prst="rect">
            <a:avLst/>
          </a:prstGeom>
          <a:noFill/>
          <a:ln/>
        </p:spPr>
        <p:txBody>
          <a:bodyPr wrap="square" lIns="0" tIns="0" rIns="0" bIns="0" rtlCol="0" anchor="ctr"/>
          <a:lstStyle/>
          <a:p>
            <a:pPr algn="r" indent="0" marL="0">
              <a:buNone/>
            </a:pPr>
            <a:r>
              <a:rPr lang="en-US" sz="1000" b="1" dirty="0">
                <a:solidFill>
                  <a:srgbClr val="E31837"/>
                </a:solidFill>
                <a:latin typeface="Arial" pitchFamily="34" charset="0"/>
                <a:ea typeface="Arial" pitchFamily="34" charset="-122"/>
                <a:cs typeface="Arial" pitchFamily="34" charset="-120"/>
              </a:rPr>
              <a:t>02</a:t>
            </a:r>
            <a:endParaRPr lang="en-US" sz="1000" dirty="0"/>
          </a:p>
        </p:txBody>
      </p:sp>
      <p:sp>
        <p:nvSpPr>
          <p:cNvPr id="10" name="Text 8">
            <a:hlinkClick r:id="rId1" tooltip=""/>
          </p:cNvPr>
          <p:cNvSpPr/>
          <p:nvPr/>
        </p:nvSpPr>
        <p:spPr>
          <a:xfrm>
            <a:off x="9875520" y="237744"/>
            <a:ext cx="1828800" cy="219456"/>
          </a:xfrm>
          <a:prstGeom prst="rect">
            <a:avLst/>
          </a:prstGeom>
          <a:noFill/>
          <a:ln/>
        </p:spPr>
        <p:txBody>
          <a:bodyPr wrap="square" lIns="0" tIns="0" rIns="0" bIns="0" rtlCol="0" anchor="ctr"/>
          <a:lstStyle/>
          <a:p>
            <a:pPr algn="r" indent="0" marL="0">
              <a:buNone/>
            </a:pPr>
            <a:r>
              <a:rPr lang="en-US" sz="1000"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technical notes</a:t>
            </a:r>
            <a:endParaRPr lang="en-US" sz="1000" dirty="0"/>
          </a:p>
        </p:txBody>
      </p:sp>
      <p:sp>
        <p:nvSpPr>
          <p:cNvPr id="11" name="Shape 9"/>
          <p:cNvSpPr/>
          <p:nvPr/>
        </p:nvSpPr>
        <p:spPr>
          <a:xfrm>
            <a:off x="521208" y="1847088"/>
            <a:ext cx="2953512" cy="3749040"/>
          </a:xfrm>
          <a:prstGeom prst="rect">
            <a:avLst/>
          </a:prstGeom>
          <a:solidFill>
            <a:srgbClr val="F3F4F6"/>
          </a:solidFill>
          <a:ln w="10160">
            <a:solidFill>
              <a:srgbClr val="F3F4F6"/>
            </a:solidFill>
            <a:prstDash val="solid"/>
          </a:ln>
        </p:spPr>
      </p:sp>
      <p:sp>
        <p:nvSpPr>
          <p:cNvPr id="12" name="Shape 10"/>
          <p:cNvSpPr/>
          <p:nvPr/>
        </p:nvSpPr>
        <p:spPr>
          <a:xfrm>
            <a:off x="704088" y="2029968"/>
            <a:ext cx="2148840" cy="301752"/>
          </a:xfrm>
          <a:prstGeom prst="rect">
            <a:avLst>
              <a:gd name="adj" fmla="val 303030"/>
            </a:avLst>
          </a:prstGeom>
          <a:solidFill>
            <a:srgbClr val="FCECEF"/>
          </a:solidFill>
          <a:ln w="10160">
            <a:solidFill>
              <a:srgbClr val="FCECEF"/>
            </a:solidFill>
            <a:prstDash val="solid"/>
          </a:ln>
        </p:spPr>
      </p:sp>
      <p:sp>
        <p:nvSpPr>
          <p:cNvPr id="13" name="Text 11"/>
          <p:cNvSpPr/>
          <p:nvPr/>
        </p:nvSpPr>
        <p:spPr>
          <a:xfrm>
            <a:off x="795528" y="2052828"/>
            <a:ext cx="1965960" cy="256032"/>
          </a:xfrm>
          <a:prstGeom prst="rect">
            <a:avLst/>
          </a:prstGeom>
          <a:noFill/>
          <a:ln/>
        </p:spPr>
        <p:txBody>
          <a:bodyPr wrap="square" lIns="0" tIns="0" rIns="0" bIns="0" rtlCol="0" anchor="ctr"/>
          <a:lstStyle/>
          <a:p>
            <a:pPr algn="l" indent="0" marL="0">
              <a:buNone/>
            </a:pPr>
            <a:r>
              <a:rPr lang="en-US" sz="1030" b="1" dirty="0">
                <a:solidFill>
                  <a:srgbClr val="E31837"/>
                </a:solidFill>
                <a:latin typeface="Arial" pitchFamily="34" charset="0"/>
                <a:ea typeface="Arial" pitchFamily="34" charset="-122"/>
                <a:cs typeface="Arial" pitchFamily="34" charset="-120"/>
              </a:rPr>
              <a:t>SANDISK-OPERATED</a:t>
            </a:r>
            <a:endParaRPr lang="en-US" sz="1030" dirty="0"/>
          </a:p>
        </p:txBody>
      </p:sp>
      <p:sp>
        <p:nvSpPr>
          <p:cNvPr id="14" name="Shape 12"/>
          <p:cNvSpPr/>
          <p:nvPr/>
        </p:nvSpPr>
        <p:spPr>
          <a:xfrm>
            <a:off x="704088" y="2523744"/>
            <a:ext cx="2569464" cy="1078992"/>
          </a:xfrm>
          <a:prstGeom prst="rect">
            <a:avLst>
              <a:gd name="adj" fmla="val 84746"/>
            </a:avLst>
          </a:prstGeom>
          <a:solidFill>
            <a:srgbClr val="18191D"/>
          </a:solidFill>
          <a:ln w="10160">
            <a:solidFill>
              <a:srgbClr val="18191D"/>
            </a:solidFill>
            <a:prstDash val="solid"/>
          </a:ln>
        </p:spPr>
      </p:sp>
      <p:sp>
        <p:nvSpPr>
          <p:cNvPr id="15" name="Text 13"/>
          <p:cNvSpPr/>
          <p:nvPr/>
        </p:nvSpPr>
        <p:spPr>
          <a:xfrm>
            <a:off x="850392" y="2633472"/>
            <a:ext cx="2276856" cy="365760"/>
          </a:xfrm>
          <a:prstGeom prst="rect">
            <a:avLst/>
          </a:prstGeom>
          <a:noFill/>
          <a:ln/>
        </p:spPr>
        <p:txBody>
          <a:bodyPr wrap="square" lIns="0" tIns="0" rIns="0" bIns="0" rtlCol="0" anchor="ctr"/>
          <a:lstStyle/>
          <a:p>
            <a:pPr algn="l" indent="0" marL="0">
              <a:buNone/>
            </a:pPr>
            <a:r>
              <a:rPr lang="en-US" sz="1700" b="1" dirty="0">
                <a:solidFill>
                  <a:srgbClr val="FFFFFF"/>
                </a:solidFill>
                <a:latin typeface="Arial" pitchFamily="34" charset="0"/>
                <a:ea typeface="Arial" pitchFamily="34" charset="-122"/>
                <a:cs typeface="Arial" pitchFamily="34" charset="-120"/>
              </a:rPr>
              <a:t>Release services</a:t>
            </a:r>
            <a:endParaRPr lang="en-US" sz="1700" dirty="0"/>
          </a:p>
        </p:txBody>
      </p:sp>
      <p:sp>
        <p:nvSpPr>
          <p:cNvPr id="16" name="Text 14"/>
          <p:cNvSpPr/>
          <p:nvPr/>
        </p:nvSpPr>
        <p:spPr>
          <a:xfrm>
            <a:off x="850392" y="3090672"/>
            <a:ext cx="2276856" cy="402336"/>
          </a:xfrm>
          <a:prstGeom prst="rect">
            <a:avLst/>
          </a:prstGeom>
          <a:noFill/>
          <a:ln/>
        </p:spPr>
        <p:txBody>
          <a:bodyPr wrap="square" lIns="0" tIns="0" rIns="0" bIns="0" rtlCol="0" anchor="ctr"/>
          <a:lstStyle/>
          <a:p>
            <a:pPr algn="l" indent="0" marL="0">
              <a:buNone/>
            </a:pPr>
            <a:r>
              <a:rPr lang="en-US" sz="1310" dirty="0">
                <a:solidFill>
                  <a:srgbClr val="FFFFFF"/>
                </a:solidFill>
                <a:latin typeface="Arial" pitchFamily="34" charset="0"/>
                <a:ea typeface="Arial" pitchFamily="34" charset="-122"/>
                <a:cs typeface="Arial" pitchFamily="34" charset="-120"/>
              </a:rPr>
              <a:t>Catalog • entitlement • signed bundles</a:t>
            </a:r>
            <a:endParaRPr lang="en-US" sz="1310" dirty="0"/>
          </a:p>
        </p:txBody>
      </p:sp>
      <p:sp>
        <p:nvSpPr>
          <p:cNvPr id="17" name="Shape 15"/>
          <p:cNvSpPr/>
          <p:nvPr/>
        </p:nvSpPr>
        <p:spPr>
          <a:xfrm>
            <a:off x="704088" y="3776472"/>
            <a:ext cx="2569464" cy="1207008"/>
          </a:xfrm>
          <a:prstGeom prst="rect">
            <a:avLst>
              <a:gd name="adj" fmla="val 75758"/>
            </a:avLst>
          </a:prstGeom>
          <a:solidFill>
            <a:srgbClr val="FFFFFF"/>
          </a:solidFill>
          <a:ln w="10160">
            <a:solidFill>
              <a:srgbClr val="FFFFFF"/>
            </a:solidFill>
            <a:prstDash val="solid"/>
          </a:ln>
        </p:spPr>
      </p:sp>
      <p:sp>
        <p:nvSpPr>
          <p:cNvPr id="18" name="Text 16"/>
          <p:cNvSpPr/>
          <p:nvPr/>
        </p:nvSpPr>
        <p:spPr>
          <a:xfrm>
            <a:off x="850392" y="3886200"/>
            <a:ext cx="2276856" cy="365760"/>
          </a:xfrm>
          <a:prstGeom prst="rect">
            <a:avLst/>
          </a:prstGeom>
          <a:noFill/>
          <a:ln/>
        </p:spPr>
        <p:txBody>
          <a:bodyPr wrap="square" lIns="0" tIns="0" rIns="0" bIns="0" rtlCol="0" anchor="ctr"/>
          <a:lstStyle/>
          <a:p>
            <a:pPr algn="l" indent="0" marL="0">
              <a:buNone/>
            </a:pPr>
            <a:r>
              <a:rPr lang="en-US" sz="1700" b="1" dirty="0">
                <a:solidFill>
                  <a:srgbClr val="18191D"/>
                </a:solidFill>
                <a:latin typeface="Arial" pitchFamily="34" charset="0"/>
                <a:ea typeface="Arial" pitchFamily="34" charset="-122"/>
                <a:cs typeface="Arial" pitchFamily="34" charset="-120"/>
              </a:rPr>
              <a:t>Support services</a:t>
            </a:r>
            <a:endParaRPr lang="en-US" sz="1700" dirty="0"/>
          </a:p>
        </p:txBody>
      </p:sp>
      <p:sp>
        <p:nvSpPr>
          <p:cNvPr id="19" name="Text 17"/>
          <p:cNvSpPr/>
          <p:nvPr/>
        </p:nvSpPr>
        <p:spPr>
          <a:xfrm>
            <a:off x="850392" y="4343400"/>
            <a:ext cx="2276856" cy="530352"/>
          </a:xfrm>
          <a:prstGeom prst="rect">
            <a:avLst/>
          </a:prstGeom>
          <a:noFill/>
          <a:ln/>
        </p:spPr>
        <p:txBody>
          <a:bodyPr wrap="square" lIns="0" tIns="0" rIns="0" bIns="0" rtlCol="0" anchor="ctr"/>
          <a:lstStyle/>
          <a:p>
            <a:pPr algn="l" indent="0" marL="0">
              <a:buNone/>
            </a:pPr>
            <a:r>
              <a:rPr lang="en-US" sz="1310" dirty="0">
                <a:solidFill>
                  <a:srgbClr val="5B6169"/>
                </a:solidFill>
                <a:latin typeface="Arial" pitchFamily="34" charset="0"/>
                <a:ea typeface="Arial" pitchFamily="34" charset="-122"/>
                <a:cs typeface="Arial" pitchFamily="34" charset="-120"/>
              </a:rPr>
              <a:t>PSIRT • cases • compatibility lab</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OEM escalation</a:t>
            </a:r>
            <a:endParaRPr lang="en-US" sz="1310" dirty="0"/>
          </a:p>
        </p:txBody>
      </p:sp>
      <p:sp>
        <p:nvSpPr>
          <p:cNvPr id="20" name="Shape 18"/>
          <p:cNvSpPr/>
          <p:nvPr/>
        </p:nvSpPr>
        <p:spPr>
          <a:xfrm>
            <a:off x="3950208" y="1847088"/>
            <a:ext cx="7717536" cy="3749040"/>
          </a:xfrm>
          <a:prstGeom prst="rect">
            <a:avLst/>
          </a:prstGeom>
          <a:solidFill>
            <a:srgbClr val="F3F4F6"/>
          </a:solidFill>
          <a:ln w="10160">
            <a:solidFill>
              <a:srgbClr val="F3F4F6"/>
            </a:solidFill>
            <a:prstDash val="solid"/>
          </a:ln>
        </p:spPr>
      </p:sp>
      <p:sp>
        <p:nvSpPr>
          <p:cNvPr id="21" name="Shape 19"/>
          <p:cNvSpPr/>
          <p:nvPr/>
        </p:nvSpPr>
        <p:spPr>
          <a:xfrm>
            <a:off x="4142232" y="2029968"/>
            <a:ext cx="2816352" cy="301752"/>
          </a:xfrm>
          <a:prstGeom prst="rect">
            <a:avLst>
              <a:gd name="adj" fmla="val 303030"/>
            </a:avLst>
          </a:prstGeom>
          <a:solidFill>
            <a:srgbClr val="FCECEF"/>
          </a:solidFill>
          <a:ln w="10160">
            <a:solidFill>
              <a:srgbClr val="FCECEF"/>
            </a:solidFill>
            <a:prstDash val="solid"/>
          </a:ln>
        </p:spPr>
      </p:sp>
      <p:sp>
        <p:nvSpPr>
          <p:cNvPr id="22" name="Text 20"/>
          <p:cNvSpPr/>
          <p:nvPr/>
        </p:nvSpPr>
        <p:spPr>
          <a:xfrm>
            <a:off x="4233672" y="2052828"/>
            <a:ext cx="2633472" cy="256032"/>
          </a:xfrm>
          <a:prstGeom prst="rect">
            <a:avLst/>
          </a:prstGeom>
          <a:noFill/>
          <a:ln/>
        </p:spPr>
        <p:txBody>
          <a:bodyPr wrap="square" lIns="0" tIns="0" rIns="0" bIns="0" rtlCol="0" anchor="ctr"/>
          <a:lstStyle/>
          <a:p>
            <a:pPr algn="l" indent="0" marL="0">
              <a:buNone/>
            </a:pPr>
            <a:r>
              <a:rPr lang="en-US" sz="1030" b="1" dirty="0">
                <a:solidFill>
                  <a:srgbClr val="E31837"/>
                </a:solidFill>
                <a:latin typeface="Arial" pitchFamily="34" charset="0"/>
                <a:ea typeface="Arial" pitchFamily="34" charset="-122"/>
                <a:cs typeface="Arial" pitchFamily="34" charset="-120"/>
              </a:rPr>
              <a:t>CUSTOMER TRUST BOUNDARY</a:t>
            </a:r>
            <a:endParaRPr lang="en-US" sz="1030" dirty="0"/>
          </a:p>
        </p:txBody>
      </p:sp>
      <p:sp>
        <p:nvSpPr>
          <p:cNvPr id="23" name="Shape 21"/>
          <p:cNvSpPr/>
          <p:nvPr/>
        </p:nvSpPr>
        <p:spPr>
          <a:xfrm>
            <a:off x="4169664" y="2551176"/>
            <a:ext cx="3236976" cy="996696"/>
          </a:xfrm>
          <a:prstGeom prst="rect">
            <a:avLst/>
          </a:prstGeom>
          <a:solidFill>
            <a:srgbClr val="FFFFFF"/>
          </a:solidFill>
          <a:ln w="10160">
            <a:solidFill>
              <a:srgbClr val="FFFFFF"/>
            </a:solidFill>
            <a:prstDash val="solid"/>
          </a:ln>
        </p:spPr>
      </p:sp>
      <p:sp>
        <p:nvSpPr>
          <p:cNvPr id="24" name="Text 22"/>
          <p:cNvSpPr/>
          <p:nvPr/>
        </p:nvSpPr>
        <p:spPr>
          <a:xfrm>
            <a:off x="4279392" y="2624328"/>
            <a:ext cx="3017520"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Local Control Center</a:t>
            </a:r>
            <a:endParaRPr lang="en-US" sz="1450" dirty="0"/>
          </a:p>
        </p:txBody>
      </p:sp>
      <p:sp>
        <p:nvSpPr>
          <p:cNvPr id="25" name="Text 23"/>
          <p:cNvSpPr/>
          <p:nvPr/>
        </p:nvSpPr>
        <p:spPr>
          <a:xfrm>
            <a:off x="4279392" y="2990088"/>
            <a:ext cx="3017520" cy="493776"/>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RBAC • policy • updates • diagnostics</a:t>
            </a:r>
            <a:endParaRPr lang="en-US" sz="1250" dirty="0"/>
          </a:p>
        </p:txBody>
      </p:sp>
      <p:sp>
        <p:nvSpPr>
          <p:cNvPr id="26" name="Shape 24"/>
          <p:cNvSpPr/>
          <p:nvPr/>
        </p:nvSpPr>
        <p:spPr>
          <a:xfrm>
            <a:off x="7754112" y="2551176"/>
            <a:ext cx="3694176" cy="996696"/>
          </a:xfrm>
          <a:prstGeom prst="rect">
            <a:avLst/>
          </a:prstGeom>
          <a:solidFill>
            <a:srgbClr val="FCECEF"/>
          </a:solidFill>
          <a:ln w="10160">
            <a:solidFill>
              <a:srgbClr val="FCECEF"/>
            </a:solidFill>
            <a:prstDash val="solid"/>
          </a:ln>
        </p:spPr>
      </p:sp>
      <p:sp>
        <p:nvSpPr>
          <p:cNvPr id="27" name="Text 25"/>
          <p:cNvSpPr/>
          <p:nvPr/>
        </p:nvSpPr>
        <p:spPr>
          <a:xfrm>
            <a:off x="7863840" y="2624328"/>
            <a:ext cx="3474720"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Gateway + Knowledge Agent</a:t>
            </a:r>
            <a:endParaRPr lang="en-US" sz="1450" dirty="0"/>
          </a:p>
        </p:txBody>
      </p:sp>
      <p:sp>
        <p:nvSpPr>
          <p:cNvPr id="28" name="Text 26"/>
          <p:cNvSpPr/>
          <p:nvPr/>
        </p:nvSpPr>
        <p:spPr>
          <a:xfrm>
            <a:off x="7863840" y="2990088"/>
            <a:ext cx="3474720" cy="493776"/>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HTTPS API • ACLs • bounded workflows</a:t>
            </a:r>
            <a:endParaRPr lang="en-US" sz="1250" dirty="0"/>
          </a:p>
        </p:txBody>
      </p:sp>
      <p:sp>
        <p:nvSpPr>
          <p:cNvPr id="29" name="Shape 27"/>
          <p:cNvSpPr/>
          <p:nvPr/>
        </p:nvSpPr>
        <p:spPr>
          <a:xfrm>
            <a:off x="4169664" y="3794760"/>
            <a:ext cx="3236976" cy="1289304"/>
          </a:xfrm>
          <a:prstGeom prst="rect">
            <a:avLst/>
          </a:prstGeom>
          <a:solidFill>
            <a:srgbClr val="FFFFFF"/>
          </a:solidFill>
          <a:ln w="10160">
            <a:solidFill>
              <a:srgbClr val="FFFFFF"/>
            </a:solidFill>
            <a:prstDash val="solid"/>
          </a:ln>
        </p:spPr>
      </p:sp>
      <p:sp>
        <p:nvSpPr>
          <p:cNvPr id="30" name="Text 28"/>
          <p:cNvSpPr/>
          <p:nvPr/>
        </p:nvSpPr>
        <p:spPr>
          <a:xfrm>
            <a:off x="4279392" y="3867912"/>
            <a:ext cx="3017520"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Local artifacts + durable state</a:t>
            </a:r>
            <a:endParaRPr lang="en-US" sz="1450" dirty="0"/>
          </a:p>
        </p:txBody>
      </p:sp>
      <p:sp>
        <p:nvSpPr>
          <p:cNvPr id="31" name="Text 29"/>
          <p:cNvSpPr/>
          <p:nvPr/>
        </p:nvSpPr>
        <p:spPr>
          <a:xfrm>
            <a:off x="4279392" y="4233672"/>
            <a:ext cx="3017520" cy="786384"/>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Registry cache • models • indexes</a:t>
            </a:r>
            <a:endParaRPr lang="en-US" sz="1250" dirty="0"/>
          </a:p>
          <a:p>
            <a:pPr algn="l" indent="0" marL="0">
              <a:buNone/>
            </a:pPr>
            <a:r>
              <a:rPr lang="en-US" sz="1250" dirty="0">
                <a:solidFill>
                  <a:srgbClr val="5B6169"/>
                </a:solidFill>
                <a:latin typeface="Arial" pitchFamily="34" charset="0"/>
                <a:ea typeface="Arial" pitchFamily="34" charset="-122"/>
                <a:cs typeface="Arial" pitchFamily="34" charset="-120"/>
              </a:rPr>
              <a:t>Audit • configuration • backups</a:t>
            </a:r>
            <a:endParaRPr lang="en-US" sz="1250" dirty="0"/>
          </a:p>
        </p:txBody>
      </p:sp>
      <p:sp>
        <p:nvSpPr>
          <p:cNvPr id="32" name="Shape 30"/>
          <p:cNvSpPr/>
          <p:nvPr/>
        </p:nvSpPr>
        <p:spPr>
          <a:xfrm>
            <a:off x="7754112" y="3794760"/>
            <a:ext cx="3694176" cy="1289304"/>
          </a:xfrm>
          <a:prstGeom prst="rect">
            <a:avLst/>
          </a:prstGeom>
          <a:solidFill>
            <a:srgbClr val="18191D"/>
          </a:solidFill>
          <a:ln w="10160">
            <a:solidFill>
              <a:srgbClr val="18191D"/>
            </a:solidFill>
            <a:prstDash val="solid"/>
          </a:ln>
        </p:spPr>
      </p:sp>
      <p:sp>
        <p:nvSpPr>
          <p:cNvPr id="33" name="Text 31"/>
          <p:cNvSpPr/>
          <p:nvPr/>
        </p:nvSpPr>
        <p:spPr>
          <a:xfrm>
            <a:off x="7863840" y="3867912"/>
            <a:ext cx="3474720" cy="301752"/>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Serving Manager + ATMOS runtime</a:t>
            </a:r>
            <a:endParaRPr lang="en-US" sz="1450" dirty="0"/>
          </a:p>
        </p:txBody>
      </p:sp>
      <p:sp>
        <p:nvSpPr>
          <p:cNvPr id="34" name="Text 32"/>
          <p:cNvSpPr/>
          <p:nvPr/>
        </p:nvSpPr>
        <p:spPr>
          <a:xfrm>
            <a:off x="7863840" y="4233672"/>
            <a:ext cx="3474720" cy="786384"/>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Certified CPU/NPU paths</a:t>
            </a:r>
            <a:endParaRPr lang="en-US" sz="1250" dirty="0"/>
          </a:p>
          <a:p>
            <a:pPr algn="l" indent="0" marL="0">
              <a:buNone/>
            </a:pPr>
            <a:r>
              <a:rPr lang="en-US" sz="1250" dirty="0">
                <a:solidFill>
                  <a:srgbClr val="FFFFFF"/>
                </a:solidFill>
                <a:latin typeface="Arial" pitchFamily="34" charset="0"/>
                <a:ea typeface="Arial" pitchFamily="34" charset="-122"/>
                <a:cs typeface="Arial" pitchFamily="34" charset="-120"/>
              </a:rPr>
              <a:t>Whole model groups • local KV</a:t>
            </a:r>
            <a:endParaRPr lang="en-US" sz="1250" dirty="0"/>
          </a:p>
        </p:txBody>
      </p:sp>
      <p:sp>
        <p:nvSpPr>
          <p:cNvPr id="35" name="Shape 33"/>
          <p:cNvSpPr/>
          <p:nvPr/>
        </p:nvSpPr>
        <p:spPr>
          <a:xfrm>
            <a:off x="3282696" y="3108960"/>
            <a:ext cx="877824" cy="0"/>
          </a:xfrm>
          <a:prstGeom prst="line">
            <a:avLst/>
          </a:prstGeom>
          <a:noFill/>
          <a:ln w="19050">
            <a:solidFill>
              <a:srgbClr val="E31837"/>
            </a:solidFill>
            <a:prstDash val="dash"/>
            <a:headEnd type="none"/>
            <a:tailEnd type="triangle"/>
          </a:ln>
        </p:spPr>
      </p:sp>
      <p:sp>
        <p:nvSpPr>
          <p:cNvPr id="36" name="Text 34"/>
          <p:cNvSpPr/>
          <p:nvPr/>
        </p:nvSpPr>
        <p:spPr>
          <a:xfrm>
            <a:off x="3474720" y="3337560"/>
            <a:ext cx="566928" cy="384048"/>
          </a:xfrm>
          <a:prstGeom prst="rect">
            <a:avLst/>
          </a:prstGeom>
          <a:noFill/>
          <a:ln/>
        </p:spPr>
        <p:txBody>
          <a:bodyPr wrap="square" lIns="0" tIns="0" rIns="0" bIns="0" rtlCol="0" anchor="ctr"/>
          <a:lstStyle/>
          <a:p>
            <a:pPr algn="ctr" indent="0" marL="0">
              <a:buNone/>
            </a:pPr>
            <a:r>
              <a:rPr lang="en-US" sz="970" dirty="0">
                <a:solidFill>
                  <a:srgbClr val="5B6169"/>
                </a:solidFill>
                <a:latin typeface="Arial" pitchFamily="34" charset="0"/>
                <a:ea typeface="Arial" pitchFamily="34" charset="-122"/>
                <a:cs typeface="Arial" pitchFamily="34" charset="-120"/>
              </a:rPr>
              <a:t>pull / import</a:t>
            </a:r>
            <a:endParaRPr lang="en-US" sz="970" dirty="0"/>
          </a:p>
        </p:txBody>
      </p:sp>
      <p:sp>
        <p:nvSpPr>
          <p:cNvPr id="37" name="Shape 35"/>
          <p:cNvSpPr/>
          <p:nvPr/>
        </p:nvSpPr>
        <p:spPr>
          <a:xfrm>
            <a:off x="9601200" y="3557016"/>
            <a:ext cx="0" cy="228600"/>
          </a:xfrm>
          <a:prstGeom prst="line">
            <a:avLst/>
          </a:prstGeom>
          <a:noFill/>
          <a:ln w="19050">
            <a:solidFill>
              <a:srgbClr val="E31837"/>
            </a:solidFill>
            <a:prstDash val="solid"/>
            <a:headEnd type="none"/>
            <a:tailEnd type="triangle"/>
          </a:ln>
        </p:spPr>
      </p:sp>
      <p:sp>
        <p:nvSpPr>
          <p:cNvPr id="38" name="Shape 36"/>
          <p:cNvSpPr/>
          <p:nvPr/>
        </p:nvSpPr>
        <p:spPr>
          <a:xfrm>
            <a:off x="7406640" y="4434840"/>
            <a:ext cx="329184" cy="0"/>
          </a:xfrm>
          <a:prstGeom prst="line">
            <a:avLst/>
          </a:prstGeom>
          <a:noFill/>
          <a:ln w="19050">
            <a:solidFill>
              <a:srgbClr val="5B6169"/>
            </a:solidFill>
            <a:prstDash val="solid"/>
            <a:headEnd type="none"/>
            <a:tailEnd type="triangle"/>
          </a:ln>
        </p:spPr>
      </p:sp>
      <p:sp>
        <p:nvSpPr>
          <p:cNvPr id="39" name="Shape 37"/>
          <p:cNvSpPr/>
          <p:nvPr/>
        </p:nvSpPr>
        <p:spPr>
          <a:xfrm>
            <a:off x="475488" y="5843016"/>
            <a:ext cx="11228832" cy="457200"/>
          </a:xfrm>
          <a:prstGeom prst="rect">
            <a:avLst/>
          </a:prstGeom>
          <a:solidFill>
            <a:srgbClr val="FCECEF"/>
          </a:solidFill>
          <a:ln w="10160">
            <a:solidFill>
              <a:srgbClr val="FCECEF"/>
            </a:solidFill>
            <a:prstDash val="solid"/>
          </a:ln>
        </p:spPr>
      </p:sp>
      <p:sp>
        <p:nvSpPr>
          <p:cNvPr id="40" name="Text 38"/>
          <p:cNvSpPr/>
          <p:nvPr/>
        </p:nvSpPr>
        <p:spPr>
          <a:xfrm>
            <a:off x="621792" y="5893308"/>
            <a:ext cx="10936224" cy="347472"/>
          </a:xfrm>
          <a:prstGeom prst="rect">
            <a:avLst/>
          </a:prstGeom>
          <a:noFill/>
          <a:ln/>
        </p:spPr>
        <p:txBody>
          <a:bodyPr wrap="square" lIns="0" tIns="0" rIns="0" bIns="0" rtlCol="0" anchor="ctr"/>
          <a:lstStyle/>
          <a:p>
            <a:pPr algn="l" indent="0" marL="0">
              <a:buNone/>
            </a:pPr>
            <a:r>
              <a:rPr lang="en-US" sz="1300" b="1" dirty="0">
                <a:solidFill>
                  <a:srgbClr val="E31837"/>
                </a:solidFill>
                <a:latin typeface="Arial" pitchFamily="34" charset="0"/>
                <a:ea typeface="Arial" pitchFamily="34" charset="-122"/>
                <a:cs typeface="Arial" pitchFamily="34" charset="-120"/>
              </a:rPr>
              <a:t>No mandatory cloud callback for inference. External generation and support upload require explicit customer policy.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E31837"/>
          </a:solidFill>
          <a:ln w="10160">
            <a:solidFill>
              <a:srgbClr val="E31837"/>
            </a:solidFill>
            <a:prstDash val="solid"/>
          </a:ln>
        </p:spPr>
      </p:sp>
      <p:sp>
        <p:nvSpPr>
          <p:cNvPr id="3" name="Text 1"/>
          <p:cNvSpPr/>
          <p:nvPr/>
        </p:nvSpPr>
        <p:spPr>
          <a:xfrm>
            <a:off x="457200" y="228600"/>
            <a:ext cx="1645920" cy="228600"/>
          </a:xfrm>
          <a:prstGeom prst="rect">
            <a:avLst/>
          </a:prstGeom>
          <a:noFill/>
          <a:ln/>
        </p:spPr>
        <p:txBody>
          <a:bodyPr wrap="square" lIns="0" tIns="0" rIns="0" bIns="0" rtlCol="0" anchor="ctr"/>
          <a:lstStyle/>
          <a:p>
            <a:pPr algn="l" indent="0" marL="0">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4" name="Text 2"/>
          <p:cNvSpPr/>
          <p:nvPr/>
        </p:nvSpPr>
        <p:spPr>
          <a:xfrm>
            <a:off x="1965960" y="256032"/>
            <a:ext cx="9144000" cy="182880"/>
          </a:xfrm>
          <a:prstGeom prst="rect">
            <a:avLst/>
          </a:prstGeom>
          <a:noFill/>
          <a:ln/>
        </p:spPr>
        <p:txBody>
          <a:bodyPr wrap="square" lIns="0" tIns="0" rIns="0" bIns="0" rtlCol="0" anchor="ctr"/>
          <a:lstStyle/>
          <a:p>
            <a:pPr algn="l" indent="0" marL="0">
              <a:buNone/>
            </a:pPr>
            <a:r>
              <a:rPr lang="en-US" sz="1050" b="1" dirty="0">
                <a:solidFill>
                  <a:srgbClr val="5B6169"/>
                </a:solidFill>
                <a:latin typeface="Arial" pitchFamily="34" charset="0"/>
                <a:ea typeface="Arial" pitchFamily="34" charset="-122"/>
                <a:cs typeface="Arial" pitchFamily="34" charset="-120"/>
              </a:rPr>
              <a:t>ATMOS  /  A2 / BASE OS + ISOLATION</a:t>
            </a:r>
            <a:endParaRPr lang="en-US" sz="1050" dirty="0"/>
          </a:p>
        </p:txBody>
      </p:sp>
      <p:sp>
        <p:nvSpPr>
          <p:cNvPr id="5" name="Text 3"/>
          <p:cNvSpPr/>
          <p:nvPr/>
        </p:nvSpPr>
        <p:spPr>
          <a:xfrm>
            <a:off x="475488" y="758952"/>
            <a:ext cx="11201400" cy="493776"/>
          </a:xfrm>
          <a:prstGeom prst="rect">
            <a:avLst/>
          </a:prstGeom>
          <a:noFill/>
          <a:ln/>
        </p:spPr>
        <p:txBody>
          <a:bodyPr wrap="square" lIns="0" tIns="0" rIns="0" bIns="0" rtlCol="0" anchor="ctr"/>
          <a:lstStyle/>
          <a:p>
            <a:pPr algn="l" indent="0" marL="0">
              <a:buNone/>
            </a:pPr>
            <a:r>
              <a:rPr lang="en-US" sz="2750" b="1" dirty="0">
                <a:solidFill>
                  <a:srgbClr val="18191D"/>
                </a:solidFill>
                <a:latin typeface="Arial" pitchFamily="34" charset="0"/>
                <a:ea typeface="Arial" pitchFamily="34" charset="-122"/>
                <a:cs typeface="Arial" pitchFamily="34" charset="-120"/>
              </a:rPr>
              <a:t>One hardened host stack; no hypervisor in the default path.</a:t>
            </a:r>
            <a:endParaRPr lang="en-US" sz="2750" dirty="0"/>
          </a:p>
        </p:txBody>
      </p:sp>
      <p:sp>
        <p:nvSpPr>
          <p:cNvPr id="6" name="Text 4"/>
          <p:cNvSpPr/>
          <p:nvPr/>
        </p:nvSpPr>
        <p:spPr>
          <a:xfrm>
            <a:off x="502920" y="1298448"/>
            <a:ext cx="11064240" cy="411480"/>
          </a:xfrm>
          <a:prstGeom prst="rect">
            <a:avLst/>
          </a:prstGeom>
          <a:noFill/>
          <a:ln/>
        </p:spPr>
        <p:txBody>
          <a:bodyPr wrap="square" lIns="0" tIns="0" rIns="0" bIns="0" rtlCol="0" anchor="ctr"/>
          <a:lstStyle/>
          <a:p>
            <a:pPr algn="l" indent="0" marL="0">
              <a:buNone/>
            </a:pPr>
            <a:r>
              <a:rPr lang="en-US" sz="1350" dirty="0">
                <a:solidFill>
                  <a:srgbClr val="5B6169"/>
                </a:solidFill>
                <a:latin typeface="Arial" pitchFamily="34" charset="0"/>
                <a:ea typeface="Arial" pitchFamily="34" charset="-122"/>
                <a:cs typeface="Arial" pitchFamily="34" charset="-120"/>
              </a:rPr>
              <a:t>Use a repeatable appliance image rather than asking each customer to assemble Linux and Kubernetes.</a:t>
            </a:r>
            <a:endParaRPr lang="en-US" sz="1350" dirty="0"/>
          </a:p>
        </p:txBody>
      </p:sp>
      <p:sp>
        <p:nvSpPr>
          <p:cNvPr id="7" name="Shape 5"/>
          <p:cNvSpPr/>
          <p:nvPr/>
        </p:nvSpPr>
        <p:spPr>
          <a:xfrm>
            <a:off x="484632" y="6464808"/>
            <a:ext cx="11237976" cy="0"/>
          </a:xfrm>
          <a:prstGeom prst="line">
            <a:avLst/>
          </a:prstGeom>
          <a:noFill/>
          <a:ln w="7620">
            <a:solidFill>
              <a:srgbClr val="D9DDE3"/>
            </a:solidFill>
            <a:prstDash val="solid"/>
            <a:headEnd type="none"/>
            <a:tailEnd type="none"/>
          </a:ln>
        </p:spPr>
      </p:sp>
      <p:sp>
        <p:nvSpPr>
          <p:cNvPr id="8" name="Text 6"/>
          <p:cNvSpPr/>
          <p:nvPr/>
        </p:nvSpPr>
        <p:spPr>
          <a:xfrm>
            <a:off x="512064" y="6547104"/>
            <a:ext cx="9418320" cy="164592"/>
          </a:xfrm>
          <a:prstGeom prst="rect">
            <a:avLst/>
          </a:prstGeom>
          <a:noFill/>
          <a:ln/>
        </p:spPr>
        <p:txBody>
          <a:bodyPr wrap="square" lIns="0" tIns="0" rIns="0" bIns="0" rtlCol="0" anchor="ctr"/>
          <a:lstStyle/>
          <a:p>
            <a:pPr algn="l" indent="0" marL="0">
              <a:buNone/>
            </a:pPr>
            <a:r>
              <a:rPr lang="en-US" sz="850" dirty="0">
                <a:solidFill>
                  <a:srgbClr val="5B6169"/>
                </a:solidFill>
                <a:latin typeface="Arial" pitchFamily="34" charset="0"/>
                <a:ea typeface="Arial" pitchFamily="34" charset="-122"/>
                <a:cs typeface="Arial" pitchFamily="34" charset="-120"/>
              </a:rPr>
              <a:t>TECHNICAL APPENDIX TO V3  •  6 OCT 2026  •  PROPOSED DESIGN / QUALIFICATION REQUIRED</a:t>
            </a:r>
            <a:endParaRPr lang="en-US" sz="850" dirty="0"/>
          </a:p>
        </p:txBody>
      </p:sp>
      <p:sp>
        <p:nvSpPr>
          <p:cNvPr id="9" name="Text 7"/>
          <p:cNvSpPr/>
          <p:nvPr/>
        </p:nvSpPr>
        <p:spPr>
          <a:xfrm>
            <a:off x="11219688" y="6519672"/>
            <a:ext cx="457200" cy="219456"/>
          </a:xfrm>
          <a:prstGeom prst="rect">
            <a:avLst/>
          </a:prstGeom>
          <a:noFill/>
          <a:ln/>
        </p:spPr>
        <p:txBody>
          <a:bodyPr wrap="square" lIns="0" tIns="0" rIns="0" bIns="0" rtlCol="0" anchor="ctr"/>
          <a:lstStyle/>
          <a:p>
            <a:pPr algn="r" indent="0" marL="0">
              <a:buNone/>
            </a:pPr>
            <a:r>
              <a:rPr lang="en-US" sz="1000" b="1" dirty="0">
                <a:solidFill>
                  <a:srgbClr val="E31837"/>
                </a:solidFill>
                <a:latin typeface="Arial" pitchFamily="34" charset="0"/>
                <a:ea typeface="Arial" pitchFamily="34" charset="-122"/>
                <a:cs typeface="Arial" pitchFamily="34" charset="-120"/>
              </a:rPr>
              <a:t>03</a:t>
            </a:r>
            <a:endParaRPr lang="en-US" sz="1000" dirty="0"/>
          </a:p>
        </p:txBody>
      </p:sp>
      <p:sp>
        <p:nvSpPr>
          <p:cNvPr id="10" name="Text 8">
            <a:hlinkClick r:id="rId1" tooltip=""/>
          </p:cNvPr>
          <p:cNvSpPr/>
          <p:nvPr/>
        </p:nvSpPr>
        <p:spPr>
          <a:xfrm>
            <a:off x="9875520" y="237744"/>
            <a:ext cx="1828800" cy="219456"/>
          </a:xfrm>
          <a:prstGeom prst="rect">
            <a:avLst/>
          </a:prstGeom>
          <a:noFill/>
          <a:ln/>
        </p:spPr>
        <p:txBody>
          <a:bodyPr wrap="square" lIns="0" tIns="0" rIns="0" bIns="0" rtlCol="0" anchor="ctr"/>
          <a:lstStyle/>
          <a:p>
            <a:pPr algn="r" indent="0" marL="0">
              <a:buNone/>
            </a:pPr>
            <a:r>
              <a:rPr lang="en-US" sz="1000"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technical notes</a:t>
            </a:r>
            <a:endParaRPr lang="en-US" sz="1000" dirty="0"/>
          </a:p>
        </p:txBody>
      </p:sp>
      <p:sp>
        <p:nvSpPr>
          <p:cNvPr id="11" name="Shape 9"/>
          <p:cNvSpPr/>
          <p:nvPr/>
        </p:nvSpPr>
        <p:spPr>
          <a:xfrm>
            <a:off x="548640" y="1883664"/>
            <a:ext cx="7434072" cy="585216"/>
          </a:xfrm>
          <a:prstGeom prst="rect">
            <a:avLst/>
          </a:prstGeom>
          <a:solidFill>
            <a:srgbClr val="F3F4F6"/>
          </a:solidFill>
          <a:ln w="10160">
            <a:solidFill>
              <a:srgbClr val="F3F4F6"/>
            </a:solidFill>
            <a:prstDash val="solid"/>
          </a:ln>
        </p:spPr>
      </p:sp>
      <p:sp>
        <p:nvSpPr>
          <p:cNvPr id="12" name="Text 10"/>
          <p:cNvSpPr/>
          <p:nvPr/>
        </p:nvSpPr>
        <p:spPr>
          <a:xfrm>
            <a:off x="713232" y="1965960"/>
            <a:ext cx="2322576" cy="393192"/>
          </a:xfrm>
          <a:prstGeom prst="rect">
            <a:avLst/>
          </a:prstGeom>
          <a:noFill/>
          <a:ln/>
        </p:spPr>
        <p:txBody>
          <a:bodyPr wrap="square" lIns="0" tIns="0" rIns="0" bIns="0" rtlCol="0" anchor="ctr"/>
          <a:lstStyle/>
          <a:p>
            <a:pPr algn="l" indent="0" marL="0">
              <a:buNone/>
            </a:pPr>
            <a:r>
              <a:rPr lang="en-US" sz="1400" b="1" dirty="0">
                <a:solidFill>
                  <a:srgbClr val="18191D"/>
                </a:solidFill>
                <a:latin typeface="Arial" pitchFamily="34" charset="0"/>
                <a:ea typeface="Arial" pitchFamily="34" charset="-122"/>
                <a:cs typeface="Arial" pitchFamily="34" charset="-120"/>
              </a:rPr>
              <a:t>APIs + user experience</a:t>
            </a:r>
            <a:endParaRPr lang="en-US" sz="1400" dirty="0"/>
          </a:p>
        </p:txBody>
      </p:sp>
      <p:sp>
        <p:nvSpPr>
          <p:cNvPr id="13" name="Text 11"/>
          <p:cNvSpPr/>
          <p:nvPr/>
        </p:nvSpPr>
        <p:spPr>
          <a:xfrm>
            <a:off x="3172968" y="1975104"/>
            <a:ext cx="4617720" cy="365760"/>
          </a:xfrm>
          <a:prstGeom prst="rect">
            <a:avLst/>
          </a:prstGeom>
          <a:noFill/>
          <a:ln/>
        </p:spPr>
        <p:txBody>
          <a:bodyPr wrap="square" lIns="0" tIns="0" rIns="0" bIns="0" rtlCol="0" anchor="ctr"/>
          <a:lstStyle/>
          <a:p>
            <a:pPr algn="l" indent="0" marL="0">
              <a:buNone/>
            </a:pPr>
            <a:r>
              <a:rPr lang="en-US" sz="1210" dirty="0">
                <a:solidFill>
                  <a:srgbClr val="5B6169"/>
                </a:solidFill>
                <a:latin typeface="Arial" pitchFamily="34" charset="0"/>
                <a:ea typeface="Arial" pitchFamily="34" charset="-122"/>
                <a:cs typeface="Arial" pitchFamily="34" charset="-120"/>
              </a:rPr>
              <a:t>Gateway • Knowledge Agent • Control Center</a:t>
            </a:r>
            <a:endParaRPr lang="en-US" sz="1210" dirty="0"/>
          </a:p>
        </p:txBody>
      </p:sp>
      <p:sp>
        <p:nvSpPr>
          <p:cNvPr id="14" name="Shape 12"/>
          <p:cNvSpPr/>
          <p:nvPr/>
        </p:nvSpPr>
        <p:spPr>
          <a:xfrm>
            <a:off x="548640" y="2606040"/>
            <a:ext cx="7434072" cy="585216"/>
          </a:xfrm>
          <a:prstGeom prst="rect">
            <a:avLst/>
          </a:prstGeom>
          <a:solidFill>
            <a:srgbClr val="F3F4F6"/>
          </a:solidFill>
          <a:ln w="10160">
            <a:solidFill>
              <a:srgbClr val="F3F4F6"/>
            </a:solidFill>
            <a:prstDash val="solid"/>
          </a:ln>
        </p:spPr>
      </p:sp>
      <p:sp>
        <p:nvSpPr>
          <p:cNvPr id="15" name="Text 13"/>
          <p:cNvSpPr/>
          <p:nvPr/>
        </p:nvSpPr>
        <p:spPr>
          <a:xfrm>
            <a:off x="713232" y="2688336"/>
            <a:ext cx="2322576" cy="393192"/>
          </a:xfrm>
          <a:prstGeom prst="rect">
            <a:avLst/>
          </a:prstGeom>
          <a:noFill/>
          <a:ln/>
        </p:spPr>
        <p:txBody>
          <a:bodyPr wrap="square" lIns="0" tIns="0" rIns="0" bIns="0" rtlCol="0" anchor="ctr"/>
          <a:lstStyle/>
          <a:p>
            <a:pPr algn="l" indent="0" marL="0">
              <a:buNone/>
            </a:pPr>
            <a:r>
              <a:rPr lang="en-US" sz="1400" b="1" dirty="0">
                <a:solidFill>
                  <a:srgbClr val="18191D"/>
                </a:solidFill>
                <a:latin typeface="Arial" pitchFamily="34" charset="0"/>
                <a:ea typeface="Arial" pitchFamily="34" charset="-122"/>
                <a:cs typeface="Arial" pitchFamily="34" charset="-120"/>
              </a:rPr>
              <a:t>Certified containers</a:t>
            </a:r>
            <a:endParaRPr lang="en-US" sz="1400" dirty="0"/>
          </a:p>
        </p:txBody>
      </p:sp>
      <p:sp>
        <p:nvSpPr>
          <p:cNvPr id="16" name="Text 14"/>
          <p:cNvSpPr/>
          <p:nvPr/>
        </p:nvSpPr>
        <p:spPr>
          <a:xfrm>
            <a:off x="3172968" y="2697480"/>
            <a:ext cx="4617720" cy="365760"/>
          </a:xfrm>
          <a:prstGeom prst="rect">
            <a:avLst/>
          </a:prstGeom>
          <a:noFill/>
          <a:ln/>
        </p:spPr>
        <p:txBody>
          <a:bodyPr wrap="square" lIns="0" tIns="0" rIns="0" bIns="0" rtlCol="0" anchor="ctr"/>
          <a:lstStyle/>
          <a:p>
            <a:pPr algn="l" indent="0" marL="0">
              <a:buNone/>
            </a:pPr>
            <a:r>
              <a:rPr lang="en-US" sz="1210" dirty="0">
                <a:solidFill>
                  <a:srgbClr val="5B6169"/>
                </a:solidFill>
                <a:latin typeface="Arial" pitchFamily="34" charset="0"/>
                <a:ea typeface="Arial" pitchFamily="34" charset="-122"/>
                <a:cs typeface="Arial" pitchFamily="34" charset="-120"/>
              </a:rPr>
              <a:t>Model Services • Serving Manager • connectors</a:t>
            </a:r>
            <a:endParaRPr lang="en-US" sz="1210" dirty="0"/>
          </a:p>
        </p:txBody>
      </p:sp>
      <p:sp>
        <p:nvSpPr>
          <p:cNvPr id="17" name="Shape 15"/>
          <p:cNvSpPr/>
          <p:nvPr/>
        </p:nvSpPr>
        <p:spPr>
          <a:xfrm>
            <a:off x="548640" y="3328416"/>
            <a:ext cx="7434072" cy="585216"/>
          </a:xfrm>
          <a:prstGeom prst="rect">
            <a:avLst/>
          </a:prstGeom>
          <a:solidFill>
            <a:srgbClr val="F3F4F6"/>
          </a:solidFill>
          <a:ln w="10160">
            <a:solidFill>
              <a:srgbClr val="F3F4F6"/>
            </a:solidFill>
            <a:prstDash val="solid"/>
          </a:ln>
        </p:spPr>
      </p:sp>
      <p:sp>
        <p:nvSpPr>
          <p:cNvPr id="18" name="Text 16"/>
          <p:cNvSpPr/>
          <p:nvPr/>
        </p:nvSpPr>
        <p:spPr>
          <a:xfrm>
            <a:off x="713232" y="3410712"/>
            <a:ext cx="2322576" cy="393192"/>
          </a:xfrm>
          <a:prstGeom prst="rect">
            <a:avLst/>
          </a:prstGeom>
          <a:noFill/>
          <a:ln/>
        </p:spPr>
        <p:txBody>
          <a:bodyPr wrap="square" lIns="0" tIns="0" rIns="0" bIns="0" rtlCol="0" anchor="ctr"/>
          <a:lstStyle/>
          <a:p>
            <a:pPr algn="l" indent="0" marL="0">
              <a:buNone/>
            </a:pPr>
            <a:r>
              <a:rPr lang="en-US" sz="1400" b="1" dirty="0">
                <a:solidFill>
                  <a:srgbClr val="18191D"/>
                </a:solidFill>
                <a:latin typeface="Arial" pitchFamily="34" charset="0"/>
                <a:ea typeface="Arial" pitchFamily="34" charset="-122"/>
                <a:cs typeface="Arial" pitchFamily="34" charset="-120"/>
              </a:rPr>
              <a:t>Container platform</a:t>
            </a:r>
            <a:endParaRPr lang="en-US" sz="1400" dirty="0"/>
          </a:p>
        </p:txBody>
      </p:sp>
      <p:sp>
        <p:nvSpPr>
          <p:cNvPr id="19" name="Text 17"/>
          <p:cNvSpPr/>
          <p:nvPr/>
        </p:nvSpPr>
        <p:spPr>
          <a:xfrm>
            <a:off x="3172968" y="3419856"/>
            <a:ext cx="4617720" cy="365760"/>
          </a:xfrm>
          <a:prstGeom prst="rect">
            <a:avLst/>
          </a:prstGeom>
          <a:noFill/>
          <a:ln/>
        </p:spPr>
        <p:txBody>
          <a:bodyPr wrap="square" lIns="0" tIns="0" rIns="0" bIns="0" rtlCol="0" anchor="ctr"/>
          <a:lstStyle/>
          <a:p>
            <a:pPr algn="l" indent="0" marL="0">
              <a:buNone/>
            </a:pPr>
            <a:r>
              <a:rPr lang="en-US" sz="1210" dirty="0">
                <a:solidFill>
                  <a:srgbClr val="5B6169"/>
                </a:solidFill>
                <a:latin typeface="Arial" pitchFamily="34" charset="0"/>
                <a:ea typeface="Arial" pitchFamily="34" charset="-122"/>
                <a:cs typeface="Arial" pitchFamily="34" charset="-120"/>
              </a:rPr>
              <a:t>RKE2 Kubernetes + bundled containerd • CNI/CSI</a:t>
            </a:r>
            <a:endParaRPr lang="en-US" sz="1210" dirty="0"/>
          </a:p>
        </p:txBody>
      </p:sp>
      <p:sp>
        <p:nvSpPr>
          <p:cNvPr id="20" name="Shape 18"/>
          <p:cNvSpPr/>
          <p:nvPr/>
        </p:nvSpPr>
        <p:spPr>
          <a:xfrm>
            <a:off x="548640" y="4050792"/>
            <a:ext cx="7434072" cy="585216"/>
          </a:xfrm>
          <a:prstGeom prst="rect">
            <a:avLst/>
          </a:prstGeom>
          <a:solidFill>
            <a:srgbClr val="18191D"/>
          </a:solidFill>
          <a:ln w="10160">
            <a:solidFill>
              <a:srgbClr val="18191D"/>
            </a:solidFill>
            <a:prstDash val="solid"/>
          </a:ln>
        </p:spPr>
      </p:sp>
      <p:sp>
        <p:nvSpPr>
          <p:cNvPr id="21" name="Text 19"/>
          <p:cNvSpPr/>
          <p:nvPr/>
        </p:nvSpPr>
        <p:spPr>
          <a:xfrm>
            <a:off x="713232" y="4133088"/>
            <a:ext cx="2322576" cy="393192"/>
          </a:xfrm>
          <a:prstGeom prst="rect">
            <a:avLst/>
          </a:prstGeom>
          <a:noFill/>
          <a:ln/>
        </p:spPr>
        <p:txBody>
          <a:bodyPr wrap="square" lIns="0" tIns="0" rIns="0" bIns="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ATMOS AI OS</a:t>
            </a:r>
            <a:endParaRPr lang="en-US" sz="1400" dirty="0"/>
          </a:p>
        </p:txBody>
      </p:sp>
      <p:sp>
        <p:nvSpPr>
          <p:cNvPr id="22" name="Text 20"/>
          <p:cNvSpPr/>
          <p:nvPr/>
        </p:nvSpPr>
        <p:spPr>
          <a:xfrm>
            <a:off x="3172968" y="4142232"/>
            <a:ext cx="4617720" cy="365760"/>
          </a:xfrm>
          <a:prstGeom prst="rect">
            <a:avLst/>
          </a:prstGeom>
          <a:noFill/>
          <a:ln/>
        </p:spPr>
        <p:txBody>
          <a:bodyPr wrap="square" lIns="0" tIns="0" rIns="0" bIns="0" rtlCol="0" anchor="ctr"/>
          <a:lstStyle/>
          <a:p>
            <a:pPr algn="l" indent="0" marL="0">
              <a:buNone/>
            </a:pPr>
            <a:r>
              <a:rPr lang="en-US" sz="1210" dirty="0">
                <a:solidFill>
                  <a:srgbClr val="FFFFFF"/>
                </a:solidFill>
                <a:latin typeface="Arial" pitchFamily="34" charset="0"/>
                <a:ea typeface="Arial" pitchFamily="34" charset="-122"/>
                <a:cs typeface="Arial" pitchFamily="34" charset="-120"/>
              </a:rPr>
              <a:t>Ubuntu Server 24.04 LTS engineering base • pinned kernel + driver</a:t>
            </a:r>
            <a:endParaRPr lang="en-US" sz="1210" dirty="0"/>
          </a:p>
        </p:txBody>
      </p:sp>
      <p:sp>
        <p:nvSpPr>
          <p:cNvPr id="23" name="Shape 21"/>
          <p:cNvSpPr/>
          <p:nvPr/>
        </p:nvSpPr>
        <p:spPr>
          <a:xfrm>
            <a:off x="548640" y="4773168"/>
            <a:ext cx="7434072" cy="585216"/>
          </a:xfrm>
          <a:prstGeom prst="rect">
            <a:avLst/>
          </a:prstGeom>
          <a:solidFill>
            <a:srgbClr val="E31837"/>
          </a:solidFill>
          <a:ln w="10160">
            <a:solidFill>
              <a:srgbClr val="E31837"/>
            </a:solidFill>
            <a:prstDash val="solid"/>
          </a:ln>
        </p:spPr>
      </p:sp>
      <p:sp>
        <p:nvSpPr>
          <p:cNvPr id="24" name="Text 22"/>
          <p:cNvSpPr/>
          <p:nvPr/>
        </p:nvSpPr>
        <p:spPr>
          <a:xfrm>
            <a:off x="713232" y="4855464"/>
            <a:ext cx="2322576" cy="393192"/>
          </a:xfrm>
          <a:prstGeom prst="rect">
            <a:avLst/>
          </a:prstGeom>
          <a:noFill/>
          <a:ln/>
        </p:spPr>
        <p:txBody>
          <a:bodyPr wrap="square" lIns="0" tIns="0" rIns="0" bIns="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Qualified OEM platform</a:t>
            </a:r>
            <a:endParaRPr lang="en-US" sz="1400" dirty="0"/>
          </a:p>
        </p:txBody>
      </p:sp>
      <p:sp>
        <p:nvSpPr>
          <p:cNvPr id="25" name="Text 23"/>
          <p:cNvSpPr/>
          <p:nvPr/>
        </p:nvSpPr>
        <p:spPr>
          <a:xfrm>
            <a:off x="3172968" y="4864608"/>
            <a:ext cx="4617720" cy="365760"/>
          </a:xfrm>
          <a:prstGeom prst="rect">
            <a:avLst/>
          </a:prstGeom>
          <a:noFill/>
          <a:ln/>
        </p:spPr>
        <p:txBody>
          <a:bodyPr wrap="square" lIns="0" tIns="0" rIns="0" bIns="0" rtlCol="0" anchor="ctr"/>
          <a:lstStyle/>
          <a:p>
            <a:pPr algn="l" indent="0" marL="0">
              <a:buNone/>
            </a:pPr>
            <a:r>
              <a:rPr lang="en-US" sz="1210" dirty="0">
                <a:solidFill>
                  <a:srgbClr val="FFFFFF"/>
                </a:solidFill>
                <a:latin typeface="Arial" pitchFamily="34" charset="0"/>
                <a:ea typeface="Arial" pitchFamily="34" charset="-122"/>
                <a:cs typeface="Arial" pitchFamily="34" charset="-120"/>
              </a:rPr>
              <a:t>UEFI / TPM • BMC • ECC DRAM • NVMe • ATMOS E3.S</a:t>
            </a:r>
            <a:endParaRPr lang="en-US" sz="1210" dirty="0"/>
          </a:p>
        </p:txBody>
      </p:sp>
      <p:sp>
        <p:nvSpPr>
          <p:cNvPr id="26" name="Shape 24"/>
          <p:cNvSpPr/>
          <p:nvPr/>
        </p:nvSpPr>
        <p:spPr>
          <a:xfrm>
            <a:off x="8311896" y="1883664"/>
            <a:ext cx="3328416" cy="1709928"/>
          </a:xfrm>
          <a:prstGeom prst="rect">
            <a:avLst>
              <a:gd name="adj" fmla="val 53476"/>
            </a:avLst>
          </a:prstGeom>
          <a:solidFill>
            <a:srgbClr val="FCECEF"/>
          </a:solidFill>
          <a:ln w="10160">
            <a:solidFill>
              <a:srgbClr val="FCECEF"/>
            </a:solidFill>
            <a:prstDash val="solid"/>
          </a:ln>
        </p:spPr>
      </p:sp>
      <p:sp>
        <p:nvSpPr>
          <p:cNvPr id="27" name="Text 25"/>
          <p:cNvSpPr/>
          <p:nvPr/>
        </p:nvSpPr>
        <p:spPr>
          <a:xfrm>
            <a:off x="8458200" y="1993392"/>
            <a:ext cx="3035808" cy="548640"/>
          </a:xfrm>
          <a:prstGeom prst="rect">
            <a:avLst/>
          </a:prstGeom>
          <a:noFill/>
          <a:ln/>
        </p:spPr>
        <p:txBody>
          <a:bodyPr wrap="square" lIns="0" tIns="0" rIns="0" bIns="0" rtlCol="0" anchor="ctr"/>
          <a:lstStyle/>
          <a:p>
            <a:pPr algn="l" indent="0" marL="0">
              <a:buNone/>
            </a:pPr>
            <a:r>
              <a:rPr lang="en-US" sz="1800" b="1" dirty="0">
                <a:solidFill>
                  <a:srgbClr val="E31837"/>
                </a:solidFill>
                <a:latin typeface="Arial" pitchFamily="34" charset="0"/>
                <a:ea typeface="Arial" pitchFamily="34" charset="-122"/>
                <a:cs typeface="Arial" pitchFamily="34" charset="-120"/>
              </a:rPr>
              <a:t>Default: bare metal</a:t>
            </a:r>
            <a:endParaRPr lang="en-US" sz="1800" dirty="0"/>
          </a:p>
        </p:txBody>
      </p:sp>
      <p:sp>
        <p:nvSpPr>
          <p:cNvPr id="28" name="Text 26"/>
          <p:cNvSpPr/>
          <p:nvPr/>
        </p:nvSpPr>
        <p:spPr>
          <a:xfrm>
            <a:off x="8458200" y="2633472"/>
            <a:ext cx="3035808" cy="850392"/>
          </a:xfrm>
          <a:prstGeom prst="rect">
            <a:avLst/>
          </a:prstGeom>
          <a:noFill/>
          <a:ln/>
        </p:spPr>
        <p:txBody>
          <a:bodyPr wrap="square" lIns="0" tIns="0" rIns="0" bIns="0" rtlCol="0" anchor="ctr"/>
          <a:lstStyle/>
          <a:p>
            <a:pPr algn="l" indent="0" marL="0">
              <a:buNone/>
            </a:pPr>
            <a:r>
              <a:rPr lang="en-US" sz="1310" dirty="0">
                <a:solidFill>
                  <a:srgbClr val="5B6169"/>
                </a:solidFill>
                <a:latin typeface="Arial" pitchFamily="34" charset="0"/>
                <a:ea typeface="Arial" pitchFamily="34" charset="-122"/>
                <a:cs typeface="Arial" pitchFamily="34" charset="-120"/>
              </a:rPr>
              <a:t>No extra VM boundary in the NPU path.</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Secure boot + measured release + A/B recovery.</a:t>
            </a:r>
            <a:endParaRPr lang="en-US" sz="1310" dirty="0"/>
          </a:p>
        </p:txBody>
      </p:sp>
      <p:sp>
        <p:nvSpPr>
          <p:cNvPr id="29" name="Shape 27"/>
          <p:cNvSpPr/>
          <p:nvPr/>
        </p:nvSpPr>
        <p:spPr>
          <a:xfrm>
            <a:off x="8311896" y="3794760"/>
            <a:ext cx="3328416" cy="1572768"/>
          </a:xfrm>
          <a:prstGeom prst="rect">
            <a:avLst>
              <a:gd name="adj" fmla="val 58140"/>
            </a:avLst>
          </a:prstGeom>
          <a:solidFill>
            <a:srgbClr val="F3F4F6"/>
          </a:solidFill>
          <a:ln w="10160">
            <a:solidFill>
              <a:srgbClr val="F3F4F6"/>
            </a:solidFill>
            <a:prstDash val="solid"/>
          </a:ln>
        </p:spPr>
      </p:sp>
      <p:sp>
        <p:nvSpPr>
          <p:cNvPr id="30" name="Text 28"/>
          <p:cNvSpPr/>
          <p:nvPr/>
        </p:nvSpPr>
        <p:spPr>
          <a:xfrm>
            <a:off x="8458200" y="3904488"/>
            <a:ext cx="3035808" cy="548640"/>
          </a:xfrm>
          <a:prstGeom prst="rect">
            <a:avLst/>
          </a:prstGeom>
          <a:noFill/>
          <a:ln/>
        </p:spPr>
        <p:txBody>
          <a:bodyPr wrap="square" lIns="0" tIns="0" rIns="0" bIns="0" rtlCol="0" anchor="ctr"/>
          <a:lstStyle/>
          <a:p>
            <a:pPr algn="l" indent="0" marL="0">
              <a:buNone/>
            </a:pPr>
            <a:r>
              <a:rPr lang="en-US" sz="1700" b="1" dirty="0">
                <a:solidFill>
                  <a:srgbClr val="18191D"/>
                </a:solidFill>
                <a:latin typeface="Arial" pitchFamily="34" charset="0"/>
                <a:ea typeface="Arial" pitchFamily="34" charset="-122"/>
                <a:cs typeface="Arial" pitchFamily="34" charset="-120"/>
              </a:rPr>
              <a:t>Optional: KVM profile</a:t>
            </a:r>
            <a:endParaRPr lang="en-US" sz="1700" dirty="0"/>
          </a:p>
        </p:txBody>
      </p:sp>
      <p:sp>
        <p:nvSpPr>
          <p:cNvPr id="31" name="Text 29"/>
          <p:cNvSpPr/>
          <p:nvPr/>
        </p:nvSpPr>
        <p:spPr>
          <a:xfrm>
            <a:off x="8458200" y="4544568"/>
            <a:ext cx="3035808" cy="713232"/>
          </a:xfrm>
          <a:prstGeom prst="rect">
            <a:avLst/>
          </a:prstGeom>
          <a:noFill/>
          <a:ln/>
        </p:spPr>
        <p:txBody>
          <a:bodyPr wrap="square" lIns="0" tIns="0" rIns="0" bIns="0" rtlCol="0" anchor="ctr"/>
          <a:lstStyle/>
          <a:p>
            <a:pPr algn="l" indent="0" marL="0">
              <a:buNone/>
            </a:pPr>
            <a:r>
              <a:rPr lang="en-US" sz="1310" dirty="0">
                <a:solidFill>
                  <a:srgbClr val="5B6169"/>
                </a:solidFill>
                <a:latin typeface="Arial" pitchFamily="34" charset="0"/>
                <a:ea typeface="Arial" pitchFamily="34" charset="-122"/>
                <a:cs typeface="Arial" pitchFamily="34" charset="-120"/>
              </a:rPr>
              <a:t>Whole qualified IOMMU/device group assigned to one guest.</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No assumed SR-IOV or live migration.</a:t>
            </a:r>
            <a:endParaRPr lang="en-US" sz="1310" dirty="0"/>
          </a:p>
        </p:txBody>
      </p:sp>
      <p:sp>
        <p:nvSpPr>
          <p:cNvPr id="32" name="Shape 30"/>
          <p:cNvSpPr/>
          <p:nvPr/>
        </p:nvSpPr>
        <p:spPr>
          <a:xfrm>
            <a:off x="475488" y="5843016"/>
            <a:ext cx="11228832" cy="457200"/>
          </a:xfrm>
          <a:prstGeom prst="rect">
            <a:avLst/>
          </a:prstGeom>
          <a:solidFill>
            <a:srgbClr val="FCECEF"/>
          </a:solidFill>
          <a:ln w="10160">
            <a:solidFill>
              <a:srgbClr val="FCECEF"/>
            </a:solidFill>
            <a:prstDash val="solid"/>
          </a:ln>
        </p:spPr>
      </p:sp>
      <p:sp>
        <p:nvSpPr>
          <p:cNvPr id="33" name="Text 31"/>
          <p:cNvSpPr/>
          <p:nvPr/>
        </p:nvSpPr>
        <p:spPr>
          <a:xfrm>
            <a:off x="621792" y="5893308"/>
            <a:ext cx="10936224" cy="347472"/>
          </a:xfrm>
          <a:prstGeom prst="rect">
            <a:avLst/>
          </a:prstGeom>
          <a:noFill/>
          <a:ln/>
        </p:spPr>
        <p:txBody>
          <a:bodyPr wrap="square" lIns="0" tIns="0" rIns="0" bIns="0" rtlCol="0" anchor="ctr"/>
          <a:lstStyle/>
          <a:p>
            <a:pPr algn="l" indent="0" marL="0">
              <a:buNone/>
            </a:pPr>
            <a:r>
              <a:rPr lang="en-US" sz="1300" b="1" dirty="0">
                <a:solidFill>
                  <a:srgbClr val="E31837"/>
                </a:solidFill>
                <a:latin typeface="Arial" pitchFamily="34" charset="0"/>
                <a:ea typeface="Arial" pitchFamily="34" charset="-122"/>
                <a:cs typeface="Arial" pitchFamily="34" charset="-120"/>
              </a:rPr>
              <a:t>Ubuntu/RKE2 and passthrough are proposed qualification choices—not V3-approved components or ATMOS compatibility claims.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E31837"/>
          </a:solidFill>
          <a:ln w="10160">
            <a:solidFill>
              <a:srgbClr val="E31837"/>
            </a:solidFill>
            <a:prstDash val="solid"/>
          </a:ln>
        </p:spPr>
      </p:sp>
      <p:sp>
        <p:nvSpPr>
          <p:cNvPr id="3" name="Text 1"/>
          <p:cNvSpPr/>
          <p:nvPr/>
        </p:nvSpPr>
        <p:spPr>
          <a:xfrm>
            <a:off x="457200" y="228600"/>
            <a:ext cx="1645920" cy="228600"/>
          </a:xfrm>
          <a:prstGeom prst="rect">
            <a:avLst/>
          </a:prstGeom>
          <a:noFill/>
          <a:ln/>
        </p:spPr>
        <p:txBody>
          <a:bodyPr wrap="square" lIns="0" tIns="0" rIns="0" bIns="0" rtlCol="0" anchor="ctr"/>
          <a:lstStyle/>
          <a:p>
            <a:pPr algn="l" indent="0" marL="0">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4" name="Text 2"/>
          <p:cNvSpPr/>
          <p:nvPr/>
        </p:nvSpPr>
        <p:spPr>
          <a:xfrm>
            <a:off x="1965960" y="256032"/>
            <a:ext cx="9144000" cy="182880"/>
          </a:xfrm>
          <a:prstGeom prst="rect">
            <a:avLst/>
          </a:prstGeom>
          <a:noFill/>
          <a:ln/>
        </p:spPr>
        <p:txBody>
          <a:bodyPr wrap="square" lIns="0" tIns="0" rIns="0" bIns="0" rtlCol="0" anchor="ctr"/>
          <a:lstStyle/>
          <a:p>
            <a:pPr algn="l" indent="0" marL="0">
              <a:buNone/>
            </a:pPr>
            <a:r>
              <a:rPr lang="en-US" sz="1050" b="1" dirty="0">
                <a:solidFill>
                  <a:srgbClr val="5B6169"/>
                </a:solidFill>
                <a:latin typeface="Arial" pitchFamily="34" charset="0"/>
                <a:ea typeface="Arial" pitchFamily="34" charset="-122"/>
                <a:cs typeface="Arial" pitchFamily="34" charset="-120"/>
              </a:rPr>
              <a:t>ATMOS  /  A3 / KUBERNETES + DEVICES</a:t>
            </a:r>
            <a:endParaRPr lang="en-US" sz="1050" dirty="0"/>
          </a:p>
        </p:txBody>
      </p:sp>
      <p:sp>
        <p:nvSpPr>
          <p:cNvPr id="5" name="Text 3"/>
          <p:cNvSpPr/>
          <p:nvPr/>
        </p:nvSpPr>
        <p:spPr>
          <a:xfrm>
            <a:off x="475488" y="758952"/>
            <a:ext cx="11201400" cy="493776"/>
          </a:xfrm>
          <a:prstGeom prst="rect">
            <a:avLst/>
          </a:prstGeom>
          <a:noFill/>
          <a:ln/>
        </p:spPr>
        <p:txBody>
          <a:bodyPr wrap="square" lIns="0" tIns="0" rIns="0" bIns="0" rtlCol="0" anchor="ctr"/>
          <a:lstStyle/>
          <a:p>
            <a:pPr algn="l" indent="0" marL="0">
              <a:buNone/>
            </a:pPr>
            <a:r>
              <a:rPr lang="en-US" sz="2750" b="1" dirty="0">
                <a:solidFill>
                  <a:srgbClr val="18191D"/>
                </a:solidFill>
                <a:latin typeface="Arial" pitchFamily="34" charset="0"/>
                <a:ea typeface="Arial" pitchFamily="34" charset="-122"/>
                <a:cs typeface="Arial" pitchFamily="34" charset="-120"/>
              </a:rPr>
              <a:t>Deploy complete model groups—not per-token routing decisions.</a:t>
            </a:r>
            <a:endParaRPr lang="en-US" sz="2750" dirty="0"/>
          </a:p>
        </p:txBody>
      </p:sp>
      <p:sp>
        <p:nvSpPr>
          <p:cNvPr id="6" name="Text 4"/>
          <p:cNvSpPr/>
          <p:nvPr/>
        </p:nvSpPr>
        <p:spPr>
          <a:xfrm>
            <a:off x="502920" y="1298448"/>
            <a:ext cx="11064240" cy="411480"/>
          </a:xfrm>
          <a:prstGeom prst="rect">
            <a:avLst/>
          </a:prstGeom>
          <a:noFill/>
          <a:ln/>
        </p:spPr>
        <p:txBody>
          <a:bodyPr wrap="square" lIns="0" tIns="0" rIns="0" bIns="0" rtlCol="0" anchor="ctr"/>
          <a:lstStyle/>
          <a:p>
            <a:pPr algn="l" indent="0" marL="0">
              <a:buNone/>
            </a:pPr>
            <a:r>
              <a:rPr lang="en-US" sz="1350" dirty="0">
                <a:solidFill>
                  <a:srgbClr val="5B6169"/>
                </a:solidFill>
                <a:latin typeface="Arial" pitchFamily="34" charset="0"/>
                <a:ea typeface="Arial" pitchFamily="34" charset="-122"/>
                <a:cs typeface="Arial" pitchFamily="34" charset="-120"/>
              </a:rPr>
              <a:t>Kubernetes allocates hardware; the ATMOS runtime implements inference and native device communication.</a:t>
            </a:r>
            <a:endParaRPr lang="en-US" sz="1350" dirty="0"/>
          </a:p>
        </p:txBody>
      </p:sp>
      <p:sp>
        <p:nvSpPr>
          <p:cNvPr id="7" name="Shape 5"/>
          <p:cNvSpPr/>
          <p:nvPr/>
        </p:nvSpPr>
        <p:spPr>
          <a:xfrm>
            <a:off x="484632" y="6464808"/>
            <a:ext cx="11237976" cy="0"/>
          </a:xfrm>
          <a:prstGeom prst="line">
            <a:avLst/>
          </a:prstGeom>
          <a:noFill/>
          <a:ln w="7620">
            <a:solidFill>
              <a:srgbClr val="D9DDE3"/>
            </a:solidFill>
            <a:prstDash val="solid"/>
            <a:headEnd type="none"/>
            <a:tailEnd type="none"/>
          </a:ln>
        </p:spPr>
      </p:sp>
      <p:sp>
        <p:nvSpPr>
          <p:cNvPr id="8" name="Text 6"/>
          <p:cNvSpPr/>
          <p:nvPr/>
        </p:nvSpPr>
        <p:spPr>
          <a:xfrm>
            <a:off x="512064" y="6547104"/>
            <a:ext cx="9418320" cy="164592"/>
          </a:xfrm>
          <a:prstGeom prst="rect">
            <a:avLst/>
          </a:prstGeom>
          <a:noFill/>
          <a:ln/>
        </p:spPr>
        <p:txBody>
          <a:bodyPr wrap="square" lIns="0" tIns="0" rIns="0" bIns="0" rtlCol="0" anchor="ctr"/>
          <a:lstStyle/>
          <a:p>
            <a:pPr algn="l" indent="0" marL="0">
              <a:buNone/>
            </a:pPr>
            <a:r>
              <a:rPr lang="en-US" sz="850" dirty="0">
                <a:solidFill>
                  <a:srgbClr val="5B6169"/>
                </a:solidFill>
                <a:latin typeface="Arial" pitchFamily="34" charset="0"/>
                <a:ea typeface="Arial" pitchFamily="34" charset="-122"/>
                <a:cs typeface="Arial" pitchFamily="34" charset="-120"/>
              </a:rPr>
              <a:t>TECHNICAL APPENDIX TO V3  •  6 OCT 2026  •  PROPOSED DESIGN / QUALIFICATION REQUIRED</a:t>
            </a:r>
            <a:endParaRPr lang="en-US" sz="850" dirty="0"/>
          </a:p>
        </p:txBody>
      </p:sp>
      <p:sp>
        <p:nvSpPr>
          <p:cNvPr id="9" name="Text 7"/>
          <p:cNvSpPr/>
          <p:nvPr/>
        </p:nvSpPr>
        <p:spPr>
          <a:xfrm>
            <a:off x="11219688" y="6519672"/>
            <a:ext cx="457200" cy="219456"/>
          </a:xfrm>
          <a:prstGeom prst="rect">
            <a:avLst/>
          </a:prstGeom>
          <a:noFill/>
          <a:ln/>
        </p:spPr>
        <p:txBody>
          <a:bodyPr wrap="square" lIns="0" tIns="0" rIns="0" bIns="0" rtlCol="0" anchor="ctr"/>
          <a:lstStyle/>
          <a:p>
            <a:pPr algn="r" indent="0" marL="0">
              <a:buNone/>
            </a:pPr>
            <a:r>
              <a:rPr lang="en-US" sz="1000" b="1" dirty="0">
                <a:solidFill>
                  <a:srgbClr val="E31837"/>
                </a:solidFill>
                <a:latin typeface="Arial" pitchFamily="34" charset="0"/>
                <a:ea typeface="Arial" pitchFamily="34" charset="-122"/>
                <a:cs typeface="Arial" pitchFamily="34" charset="-120"/>
              </a:rPr>
              <a:t>04</a:t>
            </a:r>
            <a:endParaRPr lang="en-US" sz="1000" dirty="0"/>
          </a:p>
        </p:txBody>
      </p:sp>
      <p:sp>
        <p:nvSpPr>
          <p:cNvPr id="10" name="Text 8">
            <a:hlinkClick r:id="rId1" tooltip=""/>
          </p:cNvPr>
          <p:cNvSpPr/>
          <p:nvPr/>
        </p:nvSpPr>
        <p:spPr>
          <a:xfrm>
            <a:off x="9875520" y="237744"/>
            <a:ext cx="1828800" cy="219456"/>
          </a:xfrm>
          <a:prstGeom prst="rect">
            <a:avLst/>
          </a:prstGeom>
          <a:noFill/>
          <a:ln/>
        </p:spPr>
        <p:txBody>
          <a:bodyPr wrap="square" lIns="0" tIns="0" rIns="0" bIns="0" rtlCol="0" anchor="ctr"/>
          <a:lstStyle/>
          <a:p>
            <a:pPr algn="r" indent="0" marL="0">
              <a:buNone/>
            </a:pPr>
            <a:r>
              <a:rPr lang="en-US" sz="1000"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technical notes</a:t>
            </a:r>
            <a:endParaRPr lang="en-US" sz="1000" dirty="0"/>
          </a:p>
        </p:txBody>
      </p:sp>
      <p:sp>
        <p:nvSpPr>
          <p:cNvPr id="11" name="Shape 9"/>
          <p:cNvSpPr/>
          <p:nvPr/>
        </p:nvSpPr>
        <p:spPr>
          <a:xfrm>
            <a:off x="576072" y="1874520"/>
            <a:ext cx="11045952" cy="576072"/>
          </a:xfrm>
          <a:prstGeom prst="rect">
            <a:avLst/>
          </a:prstGeom>
          <a:solidFill>
            <a:srgbClr val="18191D"/>
          </a:solidFill>
          <a:ln w="10160">
            <a:solidFill>
              <a:srgbClr val="18191D"/>
            </a:solidFill>
            <a:prstDash val="solid"/>
          </a:ln>
        </p:spPr>
      </p:sp>
      <p:sp>
        <p:nvSpPr>
          <p:cNvPr id="12" name="Text 10"/>
          <p:cNvSpPr/>
          <p:nvPr/>
        </p:nvSpPr>
        <p:spPr>
          <a:xfrm>
            <a:off x="685800" y="1947672"/>
            <a:ext cx="10826496" cy="301752"/>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Customer cluster: one certified distribution and allocation mode per release</a:t>
            </a:r>
            <a:endParaRPr lang="en-US" sz="1450" dirty="0"/>
          </a:p>
        </p:txBody>
      </p:sp>
      <p:sp>
        <p:nvSpPr>
          <p:cNvPr id="13" name="Shape 11"/>
          <p:cNvSpPr/>
          <p:nvPr/>
        </p:nvSpPr>
        <p:spPr>
          <a:xfrm>
            <a:off x="576072" y="2670048"/>
            <a:ext cx="2852928" cy="2569464"/>
          </a:xfrm>
          <a:prstGeom prst="rect">
            <a:avLst>
              <a:gd name="adj" fmla="val 35587"/>
            </a:avLst>
          </a:prstGeom>
          <a:solidFill>
            <a:srgbClr val="F3F4F6"/>
          </a:solidFill>
          <a:ln w="10160">
            <a:solidFill>
              <a:srgbClr val="F3F4F6"/>
            </a:solidFill>
            <a:prstDash val="solid"/>
          </a:ln>
        </p:spPr>
      </p:sp>
      <p:sp>
        <p:nvSpPr>
          <p:cNvPr id="14" name="Text 12"/>
          <p:cNvSpPr/>
          <p:nvPr/>
        </p:nvSpPr>
        <p:spPr>
          <a:xfrm>
            <a:off x="722376" y="2779776"/>
            <a:ext cx="2560320" cy="548640"/>
          </a:xfrm>
          <a:prstGeom prst="rect">
            <a:avLst/>
          </a:prstGeom>
          <a:noFill/>
          <a:ln/>
        </p:spPr>
        <p:txBody>
          <a:bodyPr wrap="square" lIns="0" tIns="0" rIns="0" bIns="0" rtlCol="0" anchor="ctr"/>
          <a:lstStyle/>
          <a:p>
            <a:pPr algn="l" indent="0" marL="0">
              <a:buNone/>
            </a:pPr>
            <a:r>
              <a:rPr lang="en-US" sz="1800" b="1" dirty="0">
                <a:solidFill>
                  <a:srgbClr val="18191D"/>
                </a:solidFill>
                <a:latin typeface="Arial" pitchFamily="34" charset="0"/>
                <a:ea typeface="Arial" pitchFamily="34" charset="-122"/>
                <a:cs typeface="Arial" pitchFamily="34" charset="-120"/>
              </a:rPr>
              <a:t>Platform namespace</a:t>
            </a:r>
            <a:endParaRPr lang="en-US" sz="1800" dirty="0"/>
          </a:p>
        </p:txBody>
      </p:sp>
      <p:sp>
        <p:nvSpPr>
          <p:cNvPr id="15" name="Text 13"/>
          <p:cNvSpPr/>
          <p:nvPr/>
        </p:nvSpPr>
        <p:spPr>
          <a:xfrm>
            <a:off x="722376" y="3419856"/>
            <a:ext cx="2560320" cy="1709928"/>
          </a:xfrm>
          <a:prstGeom prst="rect">
            <a:avLst/>
          </a:prstGeom>
          <a:noFill/>
          <a:ln/>
        </p:spPr>
        <p:txBody>
          <a:bodyPr wrap="square" lIns="0" tIns="0" rIns="0" bIns="0" rtlCol="0" anchor="ctr"/>
          <a:lstStyle/>
          <a:p>
            <a:pPr algn="l" indent="0" marL="0">
              <a:buNone/>
            </a:pPr>
            <a:r>
              <a:rPr lang="en-US" sz="1310" dirty="0">
                <a:solidFill>
                  <a:srgbClr val="5B6169"/>
                </a:solidFill>
                <a:latin typeface="Arial" pitchFamily="34" charset="0"/>
                <a:ea typeface="Arial" pitchFamily="34" charset="-122"/>
                <a:cs typeface="Arial" pitchFamily="34" charset="-120"/>
              </a:rPr>
              <a:t>Gateway / policy</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Serving Manager / operator</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Catalog / metrics / audit</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Privileged device agent only</a:t>
            </a:r>
            <a:endParaRPr lang="en-US" sz="1310" dirty="0"/>
          </a:p>
        </p:txBody>
      </p:sp>
      <p:sp>
        <p:nvSpPr>
          <p:cNvPr id="16" name="Shape 14"/>
          <p:cNvSpPr/>
          <p:nvPr/>
        </p:nvSpPr>
        <p:spPr>
          <a:xfrm>
            <a:off x="3739896" y="2670048"/>
            <a:ext cx="3529584" cy="2569464"/>
          </a:xfrm>
          <a:prstGeom prst="rect">
            <a:avLst>
              <a:gd name="adj" fmla="val 35587"/>
            </a:avLst>
          </a:prstGeom>
          <a:solidFill>
            <a:srgbClr val="FCECEF"/>
          </a:solidFill>
          <a:ln w="10160">
            <a:solidFill>
              <a:srgbClr val="FCECEF"/>
            </a:solidFill>
            <a:prstDash val="solid"/>
          </a:ln>
        </p:spPr>
      </p:sp>
      <p:sp>
        <p:nvSpPr>
          <p:cNvPr id="17" name="Text 15"/>
          <p:cNvSpPr/>
          <p:nvPr/>
        </p:nvSpPr>
        <p:spPr>
          <a:xfrm>
            <a:off x="3886200" y="2779776"/>
            <a:ext cx="3236976" cy="548640"/>
          </a:xfrm>
          <a:prstGeom prst="rect">
            <a:avLst/>
          </a:prstGeom>
          <a:noFill/>
          <a:ln/>
        </p:spPr>
        <p:txBody>
          <a:bodyPr wrap="square" lIns="0" tIns="0" rIns="0" bIns="0" rtlCol="0" anchor="ctr"/>
          <a:lstStyle/>
          <a:p>
            <a:pPr algn="l" indent="0" marL="0">
              <a:buNone/>
            </a:pPr>
            <a:r>
              <a:rPr lang="en-US" sz="1800" b="1" dirty="0">
                <a:solidFill>
                  <a:srgbClr val="E31837"/>
                </a:solidFill>
                <a:latin typeface="Arial" pitchFamily="34" charset="0"/>
                <a:ea typeface="Arial" pitchFamily="34" charset="-122"/>
                <a:cs typeface="Arial" pitchFamily="34" charset="-120"/>
              </a:rPr>
              <a:t>Tenant service namespace</a:t>
            </a:r>
            <a:endParaRPr lang="en-US" sz="1800" dirty="0"/>
          </a:p>
        </p:txBody>
      </p:sp>
      <p:sp>
        <p:nvSpPr>
          <p:cNvPr id="18" name="Text 16"/>
          <p:cNvSpPr/>
          <p:nvPr/>
        </p:nvSpPr>
        <p:spPr>
          <a:xfrm>
            <a:off x="3886200" y="3419856"/>
            <a:ext cx="3236976" cy="1709928"/>
          </a:xfrm>
          <a:prstGeom prst="rect">
            <a:avLst/>
          </a:prstGeom>
          <a:noFill/>
          <a:ln/>
        </p:spPr>
        <p:txBody>
          <a:bodyPr wrap="square" lIns="0" tIns="0" rIns="0" bIns="0" rtlCol="0" anchor="ctr"/>
          <a:lstStyle/>
          <a:p>
            <a:pPr algn="l" indent="0" marL="0">
              <a:buNone/>
            </a:pPr>
            <a:r>
              <a:rPr lang="en-US" sz="1310" dirty="0">
                <a:solidFill>
                  <a:srgbClr val="5B6169"/>
                </a:solidFill>
                <a:latin typeface="Arial" pitchFamily="34" charset="0"/>
                <a:ea typeface="Arial" pitchFamily="34" charset="-122"/>
                <a:cs typeface="Arial" pitchFamily="34" charset="-120"/>
              </a:rPr>
              <a:t>ModelDeployment → readiness</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Worker Pod(s) + signed runtime</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Read-only ModelPack mount</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Private collection / key references</a:t>
            </a:r>
            <a:endParaRPr lang="en-US" sz="1310" dirty="0"/>
          </a:p>
        </p:txBody>
      </p:sp>
      <p:sp>
        <p:nvSpPr>
          <p:cNvPr id="19" name="Shape 17"/>
          <p:cNvSpPr/>
          <p:nvPr/>
        </p:nvSpPr>
        <p:spPr>
          <a:xfrm>
            <a:off x="7598664" y="2670048"/>
            <a:ext cx="4014216" cy="2569464"/>
          </a:xfrm>
          <a:prstGeom prst="rect">
            <a:avLst>
              <a:gd name="adj" fmla="val 35587"/>
            </a:avLst>
          </a:prstGeom>
          <a:solidFill>
            <a:srgbClr val="F3F4F6"/>
          </a:solidFill>
          <a:ln w="10160">
            <a:solidFill>
              <a:srgbClr val="F3F4F6"/>
            </a:solidFill>
            <a:prstDash val="solid"/>
          </a:ln>
        </p:spPr>
      </p:sp>
      <p:sp>
        <p:nvSpPr>
          <p:cNvPr id="20" name="Text 18"/>
          <p:cNvSpPr/>
          <p:nvPr/>
        </p:nvSpPr>
        <p:spPr>
          <a:xfrm>
            <a:off x="7744968" y="2779776"/>
            <a:ext cx="3721608" cy="548640"/>
          </a:xfrm>
          <a:prstGeom prst="rect">
            <a:avLst/>
          </a:prstGeom>
          <a:noFill/>
          <a:ln/>
        </p:spPr>
        <p:txBody>
          <a:bodyPr wrap="square" lIns="0" tIns="0" rIns="0" bIns="0" rtlCol="0" anchor="ctr"/>
          <a:lstStyle/>
          <a:p>
            <a:pPr algn="l" indent="0" marL="0">
              <a:buNone/>
            </a:pPr>
            <a:r>
              <a:rPr lang="en-US" sz="1800" b="1" dirty="0">
                <a:solidFill>
                  <a:srgbClr val="18191D"/>
                </a:solidFill>
                <a:latin typeface="Arial" pitchFamily="34" charset="0"/>
                <a:ea typeface="Arial" pitchFamily="34" charset="-122"/>
                <a:cs typeface="Arial" pitchFamily="34" charset="-120"/>
              </a:rPr>
              <a:t>ATMOS allocation domain</a:t>
            </a:r>
            <a:endParaRPr lang="en-US" sz="1800" dirty="0"/>
          </a:p>
        </p:txBody>
      </p:sp>
      <p:sp>
        <p:nvSpPr>
          <p:cNvPr id="21" name="Text 19"/>
          <p:cNvSpPr/>
          <p:nvPr/>
        </p:nvSpPr>
        <p:spPr>
          <a:xfrm>
            <a:off x="7744968" y="3419856"/>
            <a:ext cx="3721608" cy="1709928"/>
          </a:xfrm>
          <a:prstGeom prst="rect">
            <a:avLst/>
          </a:prstGeom>
          <a:noFill/>
          <a:ln/>
        </p:spPr>
        <p:txBody>
          <a:bodyPr wrap="square" lIns="0" tIns="0" rIns="0" bIns="0" rtlCol="0" anchor="ctr"/>
          <a:lstStyle/>
          <a:p>
            <a:pPr algn="l" indent="0" marL="0">
              <a:buNone/>
            </a:pPr>
            <a:r>
              <a:rPr lang="en-US" sz="1310" dirty="0">
                <a:solidFill>
                  <a:srgbClr val="5B6169"/>
                </a:solidFill>
                <a:latin typeface="Arial" pitchFamily="34" charset="0"/>
                <a:ea typeface="Arial" pitchFamily="34" charset="-122"/>
                <a:cs typeface="Arial" pitchFamily="34" charset="-120"/>
              </a:rPr>
              <a:t>ResourceClaim → device IDs</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4 × x4 workers behind one switch</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Same NUMA preference / trust group</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Per-device HBF + LPDDR fit</a:t>
            </a:r>
            <a:endParaRPr lang="en-US" sz="1310" dirty="0"/>
          </a:p>
        </p:txBody>
      </p:sp>
      <p:sp>
        <p:nvSpPr>
          <p:cNvPr id="22" name="Shape 20"/>
          <p:cNvSpPr/>
          <p:nvPr/>
        </p:nvSpPr>
        <p:spPr>
          <a:xfrm>
            <a:off x="3438144" y="3931920"/>
            <a:ext cx="283464" cy="0"/>
          </a:xfrm>
          <a:prstGeom prst="line">
            <a:avLst/>
          </a:prstGeom>
          <a:noFill/>
          <a:ln w="19050">
            <a:solidFill>
              <a:srgbClr val="E31837"/>
            </a:solidFill>
            <a:prstDash val="solid"/>
            <a:headEnd type="none"/>
            <a:tailEnd type="triangle"/>
          </a:ln>
        </p:spPr>
      </p:sp>
      <p:sp>
        <p:nvSpPr>
          <p:cNvPr id="23" name="Shape 21"/>
          <p:cNvSpPr/>
          <p:nvPr/>
        </p:nvSpPr>
        <p:spPr>
          <a:xfrm>
            <a:off x="7269480" y="3931920"/>
            <a:ext cx="310896" cy="0"/>
          </a:xfrm>
          <a:prstGeom prst="line">
            <a:avLst/>
          </a:prstGeom>
          <a:noFill/>
          <a:ln w="19050">
            <a:solidFill>
              <a:srgbClr val="E31837"/>
            </a:solidFill>
            <a:prstDash val="solid"/>
            <a:headEnd type="none"/>
            <a:tailEnd type="triangle"/>
          </a:ln>
        </p:spPr>
      </p:sp>
      <p:sp>
        <p:nvSpPr>
          <p:cNvPr id="24" name="Text 22"/>
          <p:cNvSpPr/>
          <p:nvPr/>
        </p:nvSpPr>
        <p:spPr>
          <a:xfrm>
            <a:off x="612648" y="5477256"/>
            <a:ext cx="10972800" cy="237744"/>
          </a:xfrm>
          <a:prstGeom prst="rect">
            <a:avLst/>
          </a:prstGeom>
          <a:noFill/>
          <a:ln/>
        </p:spPr>
        <p:txBody>
          <a:bodyPr wrap="square" lIns="0" tIns="0" rIns="0" bIns="0" rtlCol="0" anchor="ctr"/>
          <a:lstStyle/>
          <a:p>
            <a:pPr algn="l" indent="0" marL="0">
              <a:buNone/>
            </a:pPr>
            <a:r>
              <a:rPr lang="en-US" sz="1300" dirty="0">
                <a:solidFill>
                  <a:srgbClr val="5B6169"/>
                </a:solidFill>
                <a:latin typeface="Arial" pitchFamily="34" charset="0"/>
                <a:ea typeface="Arial" pitchFamily="34" charset="-122"/>
                <a:cs typeface="Arial" pitchFamily="34" charset="-120"/>
              </a:rPr>
              <a:t>W4 / D8 single node: no service HA.  Enterprise: 3 control-plane members + complete serving replicas.</a:t>
            </a:r>
            <a:endParaRPr lang="en-US" sz="1300" dirty="0"/>
          </a:p>
        </p:txBody>
      </p:sp>
      <p:sp>
        <p:nvSpPr>
          <p:cNvPr id="25" name="Shape 23"/>
          <p:cNvSpPr/>
          <p:nvPr/>
        </p:nvSpPr>
        <p:spPr>
          <a:xfrm>
            <a:off x="475488" y="5843016"/>
            <a:ext cx="11228832" cy="457200"/>
          </a:xfrm>
          <a:prstGeom prst="rect">
            <a:avLst/>
          </a:prstGeom>
          <a:solidFill>
            <a:srgbClr val="FCECEF"/>
          </a:solidFill>
          <a:ln w="10160">
            <a:solidFill>
              <a:srgbClr val="FCECEF"/>
            </a:solidFill>
            <a:prstDash val="solid"/>
          </a:ln>
        </p:spPr>
      </p:sp>
      <p:sp>
        <p:nvSpPr>
          <p:cNvPr id="26" name="Text 24"/>
          <p:cNvSpPr/>
          <p:nvPr/>
        </p:nvSpPr>
        <p:spPr>
          <a:xfrm>
            <a:off x="621792" y="5893308"/>
            <a:ext cx="10936224" cy="347472"/>
          </a:xfrm>
          <a:prstGeom prst="rect">
            <a:avLst/>
          </a:prstGeom>
          <a:noFill/>
          <a:ln/>
        </p:spPr>
        <p:txBody>
          <a:bodyPr wrap="square" lIns="0" tIns="0" rIns="0" bIns="0" rtlCol="0" anchor="ctr"/>
          <a:lstStyle/>
          <a:p>
            <a:pPr algn="l" indent="0" marL="0">
              <a:buNone/>
            </a:pPr>
            <a:r>
              <a:rPr lang="en-US" sz="1300" b="1" dirty="0">
                <a:solidFill>
                  <a:srgbClr val="E31837"/>
                </a:solidFill>
                <a:latin typeface="Arial" pitchFamily="34" charset="0"/>
                <a:ea typeface="Arial" pitchFamily="34" charset="-122"/>
                <a:cs typeface="Arial" pitchFamily="34" charset="-120"/>
              </a:rPr>
              <a:t>Preferred DRA + CDI path needs an ATMOS driver. A device-plugin fallback is a separate, pinned compatibility profile.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E31837"/>
          </a:solidFill>
          <a:ln w="10160">
            <a:solidFill>
              <a:srgbClr val="E31837"/>
            </a:solidFill>
            <a:prstDash val="solid"/>
          </a:ln>
        </p:spPr>
      </p:sp>
      <p:sp>
        <p:nvSpPr>
          <p:cNvPr id="3" name="Text 1"/>
          <p:cNvSpPr/>
          <p:nvPr/>
        </p:nvSpPr>
        <p:spPr>
          <a:xfrm>
            <a:off x="457200" y="228600"/>
            <a:ext cx="1645920" cy="228600"/>
          </a:xfrm>
          <a:prstGeom prst="rect">
            <a:avLst/>
          </a:prstGeom>
          <a:noFill/>
          <a:ln/>
        </p:spPr>
        <p:txBody>
          <a:bodyPr wrap="square" lIns="0" tIns="0" rIns="0" bIns="0" rtlCol="0" anchor="ctr"/>
          <a:lstStyle/>
          <a:p>
            <a:pPr algn="l" indent="0" marL="0">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4" name="Text 2"/>
          <p:cNvSpPr/>
          <p:nvPr/>
        </p:nvSpPr>
        <p:spPr>
          <a:xfrm>
            <a:off x="1965960" y="256032"/>
            <a:ext cx="9144000" cy="182880"/>
          </a:xfrm>
          <a:prstGeom prst="rect">
            <a:avLst/>
          </a:prstGeom>
          <a:noFill/>
          <a:ln/>
        </p:spPr>
        <p:txBody>
          <a:bodyPr wrap="square" lIns="0" tIns="0" rIns="0" bIns="0" rtlCol="0" anchor="ctr"/>
          <a:lstStyle/>
          <a:p>
            <a:pPr algn="l" indent="0" marL="0">
              <a:buNone/>
            </a:pPr>
            <a:r>
              <a:rPr lang="en-US" sz="1050" b="1" dirty="0">
                <a:solidFill>
                  <a:srgbClr val="5B6169"/>
                </a:solidFill>
                <a:latin typeface="Arial" pitchFamily="34" charset="0"/>
                <a:ea typeface="Arial" pitchFamily="34" charset="-122"/>
                <a:cs typeface="Arial" pitchFamily="34" charset="-120"/>
              </a:rPr>
              <a:t>ATMOS  /  A4 / REQUEST FLOW</a:t>
            </a:r>
            <a:endParaRPr lang="en-US" sz="1050" dirty="0"/>
          </a:p>
        </p:txBody>
      </p:sp>
      <p:sp>
        <p:nvSpPr>
          <p:cNvPr id="5" name="Text 3"/>
          <p:cNvSpPr/>
          <p:nvPr/>
        </p:nvSpPr>
        <p:spPr>
          <a:xfrm>
            <a:off x="475488" y="758952"/>
            <a:ext cx="11201400" cy="493776"/>
          </a:xfrm>
          <a:prstGeom prst="rect">
            <a:avLst/>
          </a:prstGeom>
          <a:noFill/>
          <a:ln/>
        </p:spPr>
        <p:txBody>
          <a:bodyPr wrap="square" lIns="0" tIns="0" rIns="0" bIns="0" rtlCol="0" anchor="ctr"/>
          <a:lstStyle/>
          <a:p>
            <a:pPr algn="l" indent="0" marL="0">
              <a:buNone/>
            </a:pPr>
            <a:r>
              <a:rPr lang="en-US" sz="2750" b="1" dirty="0">
                <a:solidFill>
                  <a:srgbClr val="18191D"/>
                </a:solidFill>
                <a:latin typeface="Arial" pitchFamily="34" charset="0"/>
                <a:ea typeface="Arial" pitchFamily="34" charset="-122"/>
                <a:cs typeface="Arial" pitchFamily="34" charset="-120"/>
              </a:rPr>
              <a:t>Trace a request from identity to a governed answer.</a:t>
            </a:r>
            <a:endParaRPr lang="en-US" sz="2750" dirty="0"/>
          </a:p>
        </p:txBody>
      </p:sp>
      <p:sp>
        <p:nvSpPr>
          <p:cNvPr id="6" name="Text 4"/>
          <p:cNvSpPr/>
          <p:nvPr/>
        </p:nvSpPr>
        <p:spPr>
          <a:xfrm>
            <a:off x="502920" y="1298448"/>
            <a:ext cx="11064240" cy="411480"/>
          </a:xfrm>
          <a:prstGeom prst="rect">
            <a:avLst/>
          </a:prstGeom>
          <a:noFill/>
          <a:ln/>
        </p:spPr>
        <p:txBody>
          <a:bodyPr wrap="square" lIns="0" tIns="0" rIns="0" bIns="0" rtlCol="0" anchor="ctr"/>
          <a:lstStyle/>
          <a:p>
            <a:pPr algn="l" indent="0" marL="0">
              <a:buNone/>
            </a:pPr>
            <a:r>
              <a:rPr lang="en-US" sz="1350" dirty="0">
                <a:solidFill>
                  <a:srgbClr val="5B6169"/>
                </a:solidFill>
                <a:latin typeface="Arial" pitchFamily="34" charset="0"/>
                <a:ea typeface="Arial" pitchFamily="34" charset="-122"/>
                <a:cs typeface="Arial" pitchFamily="34" charset="-120"/>
              </a:rPr>
              <a:t>The public API never bypasses tenant authorization, resource admission or collection ACLs.</a:t>
            </a:r>
            <a:endParaRPr lang="en-US" sz="1350" dirty="0"/>
          </a:p>
        </p:txBody>
      </p:sp>
      <p:sp>
        <p:nvSpPr>
          <p:cNvPr id="7" name="Shape 5"/>
          <p:cNvSpPr/>
          <p:nvPr/>
        </p:nvSpPr>
        <p:spPr>
          <a:xfrm>
            <a:off x="484632" y="6464808"/>
            <a:ext cx="11237976" cy="0"/>
          </a:xfrm>
          <a:prstGeom prst="line">
            <a:avLst/>
          </a:prstGeom>
          <a:noFill/>
          <a:ln w="7620">
            <a:solidFill>
              <a:srgbClr val="D9DDE3"/>
            </a:solidFill>
            <a:prstDash val="solid"/>
            <a:headEnd type="none"/>
            <a:tailEnd type="none"/>
          </a:ln>
        </p:spPr>
      </p:sp>
      <p:sp>
        <p:nvSpPr>
          <p:cNvPr id="8" name="Text 6"/>
          <p:cNvSpPr/>
          <p:nvPr/>
        </p:nvSpPr>
        <p:spPr>
          <a:xfrm>
            <a:off x="512064" y="6547104"/>
            <a:ext cx="9418320" cy="164592"/>
          </a:xfrm>
          <a:prstGeom prst="rect">
            <a:avLst/>
          </a:prstGeom>
          <a:noFill/>
          <a:ln/>
        </p:spPr>
        <p:txBody>
          <a:bodyPr wrap="square" lIns="0" tIns="0" rIns="0" bIns="0" rtlCol="0" anchor="ctr"/>
          <a:lstStyle/>
          <a:p>
            <a:pPr algn="l" indent="0" marL="0">
              <a:buNone/>
            </a:pPr>
            <a:r>
              <a:rPr lang="en-US" sz="850" dirty="0">
                <a:solidFill>
                  <a:srgbClr val="5B6169"/>
                </a:solidFill>
                <a:latin typeface="Arial" pitchFamily="34" charset="0"/>
                <a:ea typeface="Arial" pitchFamily="34" charset="-122"/>
                <a:cs typeface="Arial" pitchFamily="34" charset="-120"/>
              </a:rPr>
              <a:t>TECHNICAL APPENDIX TO V3  •  6 OCT 2026  •  PROPOSED DESIGN / QUALIFICATION REQUIRED</a:t>
            </a:r>
            <a:endParaRPr lang="en-US" sz="850" dirty="0"/>
          </a:p>
        </p:txBody>
      </p:sp>
      <p:sp>
        <p:nvSpPr>
          <p:cNvPr id="9" name="Text 7"/>
          <p:cNvSpPr/>
          <p:nvPr/>
        </p:nvSpPr>
        <p:spPr>
          <a:xfrm>
            <a:off x="11219688" y="6519672"/>
            <a:ext cx="457200" cy="219456"/>
          </a:xfrm>
          <a:prstGeom prst="rect">
            <a:avLst/>
          </a:prstGeom>
          <a:noFill/>
          <a:ln/>
        </p:spPr>
        <p:txBody>
          <a:bodyPr wrap="square" lIns="0" tIns="0" rIns="0" bIns="0" rtlCol="0" anchor="ctr"/>
          <a:lstStyle/>
          <a:p>
            <a:pPr algn="r" indent="0" marL="0">
              <a:buNone/>
            </a:pPr>
            <a:r>
              <a:rPr lang="en-US" sz="1000" b="1" dirty="0">
                <a:solidFill>
                  <a:srgbClr val="E31837"/>
                </a:solidFill>
                <a:latin typeface="Arial" pitchFamily="34" charset="0"/>
                <a:ea typeface="Arial" pitchFamily="34" charset="-122"/>
                <a:cs typeface="Arial" pitchFamily="34" charset="-120"/>
              </a:rPr>
              <a:t>05</a:t>
            </a:r>
            <a:endParaRPr lang="en-US" sz="1000" dirty="0"/>
          </a:p>
        </p:txBody>
      </p:sp>
      <p:sp>
        <p:nvSpPr>
          <p:cNvPr id="10" name="Text 8">
            <a:hlinkClick r:id="rId1" tooltip=""/>
          </p:cNvPr>
          <p:cNvSpPr/>
          <p:nvPr/>
        </p:nvSpPr>
        <p:spPr>
          <a:xfrm>
            <a:off x="9875520" y="237744"/>
            <a:ext cx="1828800" cy="219456"/>
          </a:xfrm>
          <a:prstGeom prst="rect">
            <a:avLst/>
          </a:prstGeom>
          <a:noFill/>
          <a:ln/>
        </p:spPr>
        <p:txBody>
          <a:bodyPr wrap="square" lIns="0" tIns="0" rIns="0" bIns="0" rtlCol="0" anchor="ctr"/>
          <a:lstStyle/>
          <a:p>
            <a:pPr algn="r" indent="0" marL="0">
              <a:buNone/>
            </a:pPr>
            <a:r>
              <a:rPr lang="en-US" sz="1000"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technical notes</a:t>
            </a:r>
            <a:endParaRPr lang="en-US" sz="1000" dirty="0"/>
          </a:p>
        </p:txBody>
      </p:sp>
      <p:sp>
        <p:nvSpPr>
          <p:cNvPr id="11" name="Shape 9"/>
          <p:cNvSpPr/>
          <p:nvPr/>
        </p:nvSpPr>
        <p:spPr>
          <a:xfrm>
            <a:off x="548640" y="1965960"/>
            <a:ext cx="2020824" cy="1207008"/>
          </a:xfrm>
          <a:prstGeom prst="rect">
            <a:avLst/>
          </a:prstGeom>
          <a:solidFill>
            <a:srgbClr val="F3F4F6"/>
          </a:solidFill>
          <a:ln w="10160">
            <a:solidFill>
              <a:srgbClr val="F3F4F6"/>
            </a:solidFill>
            <a:prstDash val="solid"/>
          </a:ln>
        </p:spPr>
      </p:sp>
      <p:sp>
        <p:nvSpPr>
          <p:cNvPr id="12" name="Text 10"/>
          <p:cNvSpPr/>
          <p:nvPr/>
        </p:nvSpPr>
        <p:spPr>
          <a:xfrm>
            <a:off x="658368" y="2039112"/>
            <a:ext cx="1801368"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1  Authenticate</a:t>
            </a:r>
            <a:endParaRPr lang="en-US" sz="1450" dirty="0"/>
          </a:p>
        </p:txBody>
      </p:sp>
      <p:sp>
        <p:nvSpPr>
          <p:cNvPr id="13" name="Text 11"/>
          <p:cNvSpPr/>
          <p:nvPr/>
        </p:nvSpPr>
        <p:spPr>
          <a:xfrm>
            <a:off x="658368" y="2404872"/>
            <a:ext cx="1801368" cy="704088"/>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OIDC / service key</a:t>
            </a:r>
            <a:endParaRPr lang="en-US" sz="1250" dirty="0"/>
          </a:p>
          <a:p>
            <a:pPr algn="l" indent="0" marL="0">
              <a:buNone/>
            </a:pPr>
            <a:r>
              <a:rPr lang="en-US" sz="1250" dirty="0">
                <a:solidFill>
                  <a:srgbClr val="5B6169"/>
                </a:solidFill>
                <a:latin typeface="Arial" pitchFamily="34" charset="0"/>
                <a:ea typeface="Arial" pitchFamily="34" charset="-122"/>
                <a:cs typeface="Arial" pitchFamily="34" charset="-120"/>
              </a:rPr>
              <a:t>Trusted tenant claims</a:t>
            </a:r>
            <a:endParaRPr lang="en-US" sz="1250" dirty="0"/>
          </a:p>
        </p:txBody>
      </p:sp>
      <p:sp>
        <p:nvSpPr>
          <p:cNvPr id="14" name="Shape 12"/>
          <p:cNvSpPr/>
          <p:nvPr/>
        </p:nvSpPr>
        <p:spPr>
          <a:xfrm>
            <a:off x="2569464" y="2569464"/>
            <a:ext cx="228600" cy="0"/>
          </a:xfrm>
          <a:prstGeom prst="line">
            <a:avLst/>
          </a:prstGeom>
          <a:noFill/>
          <a:ln w="19050">
            <a:solidFill>
              <a:srgbClr val="E31837"/>
            </a:solidFill>
            <a:prstDash val="solid"/>
            <a:headEnd type="none"/>
            <a:tailEnd type="triangle"/>
          </a:ln>
        </p:spPr>
      </p:sp>
      <p:sp>
        <p:nvSpPr>
          <p:cNvPr id="15" name="Shape 13"/>
          <p:cNvSpPr/>
          <p:nvPr/>
        </p:nvSpPr>
        <p:spPr>
          <a:xfrm>
            <a:off x="2816352" y="1965960"/>
            <a:ext cx="2020824" cy="1207008"/>
          </a:xfrm>
          <a:prstGeom prst="rect">
            <a:avLst/>
          </a:prstGeom>
          <a:solidFill>
            <a:srgbClr val="F3F4F6"/>
          </a:solidFill>
          <a:ln w="10160">
            <a:solidFill>
              <a:srgbClr val="F3F4F6"/>
            </a:solidFill>
            <a:prstDash val="solid"/>
          </a:ln>
        </p:spPr>
      </p:sp>
      <p:sp>
        <p:nvSpPr>
          <p:cNvPr id="16" name="Text 14"/>
          <p:cNvSpPr/>
          <p:nvPr/>
        </p:nvSpPr>
        <p:spPr>
          <a:xfrm>
            <a:off x="2926080" y="2039112"/>
            <a:ext cx="1801368"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2  Admit</a:t>
            </a:r>
            <a:endParaRPr lang="en-US" sz="1450" dirty="0"/>
          </a:p>
        </p:txBody>
      </p:sp>
      <p:sp>
        <p:nvSpPr>
          <p:cNvPr id="17" name="Text 15"/>
          <p:cNvSpPr/>
          <p:nvPr/>
        </p:nvSpPr>
        <p:spPr>
          <a:xfrm>
            <a:off x="2926080" y="2404872"/>
            <a:ext cx="1801368" cy="704088"/>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Policy + quota hold</a:t>
            </a:r>
            <a:endParaRPr lang="en-US" sz="1250" dirty="0"/>
          </a:p>
          <a:p>
            <a:pPr algn="l" indent="0" marL="0">
              <a:buNone/>
            </a:pPr>
            <a:r>
              <a:rPr lang="en-US" sz="1250" dirty="0">
                <a:solidFill>
                  <a:srgbClr val="5B6169"/>
                </a:solidFill>
                <a:latin typeface="Arial" pitchFamily="34" charset="0"/>
                <a:ea typeface="Arial" pitchFamily="34" charset="-122"/>
                <a:cs typeface="Arial" pitchFamily="34" charset="-120"/>
              </a:rPr>
              <a:t>Context + queue limits</a:t>
            </a:r>
            <a:endParaRPr lang="en-US" sz="1250" dirty="0"/>
          </a:p>
        </p:txBody>
      </p:sp>
      <p:sp>
        <p:nvSpPr>
          <p:cNvPr id="18" name="Shape 16"/>
          <p:cNvSpPr/>
          <p:nvPr/>
        </p:nvSpPr>
        <p:spPr>
          <a:xfrm>
            <a:off x="4837176" y="2569464"/>
            <a:ext cx="228600" cy="0"/>
          </a:xfrm>
          <a:prstGeom prst="line">
            <a:avLst/>
          </a:prstGeom>
          <a:noFill/>
          <a:ln w="19050">
            <a:solidFill>
              <a:srgbClr val="E31837"/>
            </a:solidFill>
            <a:prstDash val="solid"/>
            <a:headEnd type="none"/>
            <a:tailEnd type="triangle"/>
          </a:ln>
        </p:spPr>
      </p:sp>
      <p:sp>
        <p:nvSpPr>
          <p:cNvPr id="19" name="Shape 17"/>
          <p:cNvSpPr/>
          <p:nvPr/>
        </p:nvSpPr>
        <p:spPr>
          <a:xfrm>
            <a:off x="5084064" y="1965960"/>
            <a:ext cx="2020824" cy="1207008"/>
          </a:xfrm>
          <a:prstGeom prst="rect">
            <a:avLst/>
          </a:prstGeom>
          <a:solidFill>
            <a:srgbClr val="F3F4F6"/>
          </a:solidFill>
          <a:ln w="10160">
            <a:solidFill>
              <a:srgbClr val="F3F4F6"/>
            </a:solidFill>
            <a:prstDash val="solid"/>
          </a:ln>
        </p:spPr>
      </p:sp>
      <p:sp>
        <p:nvSpPr>
          <p:cNvPr id="20" name="Text 18"/>
          <p:cNvSpPr/>
          <p:nvPr/>
        </p:nvSpPr>
        <p:spPr>
          <a:xfrm>
            <a:off x="5193792" y="2039112"/>
            <a:ext cx="1801368"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3  Retrieve</a:t>
            </a:r>
            <a:endParaRPr lang="en-US" sz="1450" dirty="0"/>
          </a:p>
        </p:txBody>
      </p:sp>
      <p:sp>
        <p:nvSpPr>
          <p:cNvPr id="21" name="Text 19"/>
          <p:cNvSpPr/>
          <p:nvPr/>
        </p:nvSpPr>
        <p:spPr>
          <a:xfrm>
            <a:off x="5193792" y="2404872"/>
            <a:ext cx="1801368" cy="704088"/>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Source ACL filter</a:t>
            </a:r>
            <a:endParaRPr lang="en-US" sz="1250" dirty="0"/>
          </a:p>
          <a:p>
            <a:pPr algn="l" indent="0" marL="0">
              <a:buNone/>
            </a:pPr>
            <a:r>
              <a:rPr lang="en-US" sz="1250" dirty="0">
                <a:solidFill>
                  <a:srgbClr val="5B6169"/>
                </a:solidFill>
                <a:latin typeface="Arial" pitchFamily="34" charset="0"/>
                <a:ea typeface="Arial" pitchFamily="34" charset="-122"/>
                <a:cs typeface="Arial" pitchFamily="34" charset="-120"/>
              </a:rPr>
              <a:t>CPU ANN / sparse</a:t>
            </a:r>
            <a:endParaRPr lang="en-US" sz="1250" dirty="0"/>
          </a:p>
        </p:txBody>
      </p:sp>
      <p:sp>
        <p:nvSpPr>
          <p:cNvPr id="22" name="Shape 20"/>
          <p:cNvSpPr/>
          <p:nvPr/>
        </p:nvSpPr>
        <p:spPr>
          <a:xfrm>
            <a:off x="7104888" y="2569464"/>
            <a:ext cx="228600" cy="0"/>
          </a:xfrm>
          <a:prstGeom prst="line">
            <a:avLst/>
          </a:prstGeom>
          <a:noFill/>
          <a:ln w="19050">
            <a:solidFill>
              <a:srgbClr val="E31837"/>
            </a:solidFill>
            <a:prstDash val="solid"/>
            <a:headEnd type="none"/>
            <a:tailEnd type="triangle"/>
          </a:ln>
        </p:spPr>
      </p:sp>
      <p:sp>
        <p:nvSpPr>
          <p:cNvPr id="23" name="Shape 21"/>
          <p:cNvSpPr/>
          <p:nvPr/>
        </p:nvSpPr>
        <p:spPr>
          <a:xfrm>
            <a:off x="7351776" y="1965960"/>
            <a:ext cx="2020824" cy="1207008"/>
          </a:xfrm>
          <a:prstGeom prst="rect">
            <a:avLst/>
          </a:prstGeom>
          <a:solidFill>
            <a:srgbClr val="F3F4F6"/>
          </a:solidFill>
          <a:ln w="10160">
            <a:solidFill>
              <a:srgbClr val="F3F4F6"/>
            </a:solidFill>
            <a:prstDash val="solid"/>
          </a:ln>
        </p:spPr>
      </p:sp>
      <p:sp>
        <p:nvSpPr>
          <p:cNvPr id="24" name="Text 22"/>
          <p:cNvSpPr/>
          <p:nvPr/>
        </p:nvSpPr>
        <p:spPr>
          <a:xfrm>
            <a:off x="7461504" y="2039112"/>
            <a:ext cx="1801368"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4  Execute</a:t>
            </a:r>
            <a:endParaRPr lang="en-US" sz="1450" dirty="0"/>
          </a:p>
        </p:txBody>
      </p:sp>
      <p:sp>
        <p:nvSpPr>
          <p:cNvPr id="25" name="Text 23"/>
          <p:cNvSpPr/>
          <p:nvPr/>
        </p:nvSpPr>
        <p:spPr>
          <a:xfrm>
            <a:off x="7461504" y="2404872"/>
            <a:ext cx="1801368" cy="704088"/>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Certified rerank</a:t>
            </a:r>
            <a:endParaRPr lang="en-US" sz="1250" dirty="0"/>
          </a:p>
          <a:p>
            <a:pPr algn="l" indent="0" marL="0">
              <a:buNone/>
            </a:pPr>
            <a:r>
              <a:rPr lang="en-US" sz="1250" dirty="0">
                <a:solidFill>
                  <a:srgbClr val="5B6169"/>
                </a:solidFill>
                <a:latin typeface="Arial" pitchFamily="34" charset="0"/>
                <a:ea typeface="Arial" pitchFamily="34" charset="-122"/>
                <a:cs typeface="Arial" pitchFamily="34" charset="-120"/>
              </a:rPr>
              <a:t>Selected generation</a:t>
            </a:r>
            <a:endParaRPr lang="en-US" sz="1250" dirty="0"/>
          </a:p>
        </p:txBody>
      </p:sp>
      <p:sp>
        <p:nvSpPr>
          <p:cNvPr id="26" name="Shape 24"/>
          <p:cNvSpPr/>
          <p:nvPr/>
        </p:nvSpPr>
        <p:spPr>
          <a:xfrm>
            <a:off x="9372600" y="2569464"/>
            <a:ext cx="228600" cy="0"/>
          </a:xfrm>
          <a:prstGeom prst="line">
            <a:avLst/>
          </a:prstGeom>
          <a:noFill/>
          <a:ln w="19050">
            <a:solidFill>
              <a:srgbClr val="E31837"/>
            </a:solidFill>
            <a:prstDash val="solid"/>
            <a:headEnd type="none"/>
            <a:tailEnd type="triangle"/>
          </a:ln>
        </p:spPr>
      </p:sp>
      <p:sp>
        <p:nvSpPr>
          <p:cNvPr id="27" name="Shape 25"/>
          <p:cNvSpPr/>
          <p:nvPr/>
        </p:nvSpPr>
        <p:spPr>
          <a:xfrm>
            <a:off x="9619488" y="1965960"/>
            <a:ext cx="2020824" cy="1207008"/>
          </a:xfrm>
          <a:prstGeom prst="rect">
            <a:avLst/>
          </a:prstGeom>
          <a:solidFill>
            <a:srgbClr val="18191D"/>
          </a:solidFill>
          <a:ln w="10160">
            <a:solidFill>
              <a:srgbClr val="18191D"/>
            </a:solidFill>
            <a:prstDash val="solid"/>
          </a:ln>
        </p:spPr>
      </p:sp>
      <p:sp>
        <p:nvSpPr>
          <p:cNvPr id="28" name="Text 26"/>
          <p:cNvSpPr/>
          <p:nvPr/>
        </p:nvSpPr>
        <p:spPr>
          <a:xfrm>
            <a:off x="9729216" y="2039112"/>
            <a:ext cx="1801368" cy="301752"/>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5  Respond</a:t>
            </a:r>
            <a:endParaRPr lang="en-US" sz="1450" dirty="0"/>
          </a:p>
        </p:txBody>
      </p:sp>
      <p:sp>
        <p:nvSpPr>
          <p:cNvPr id="29" name="Text 27"/>
          <p:cNvSpPr/>
          <p:nvPr/>
        </p:nvSpPr>
        <p:spPr>
          <a:xfrm>
            <a:off x="9729216" y="2404872"/>
            <a:ext cx="1801368" cy="704088"/>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Citations / output</a:t>
            </a:r>
            <a:endParaRPr lang="en-US" sz="1250" dirty="0"/>
          </a:p>
          <a:p>
            <a:pPr algn="l" indent="0" marL="0">
              <a:buNone/>
            </a:pPr>
            <a:r>
              <a:rPr lang="en-US" sz="1250" dirty="0">
                <a:solidFill>
                  <a:srgbClr val="FFFFFF"/>
                </a:solidFill>
                <a:latin typeface="Arial" pitchFamily="34" charset="0"/>
                <a:ea typeface="Arial" pitchFamily="34" charset="-122"/>
                <a:cs typeface="Arial" pitchFamily="34" charset="-120"/>
              </a:rPr>
              <a:t>Usage + audit</a:t>
            </a:r>
            <a:endParaRPr lang="en-US" sz="1250" dirty="0"/>
          </a:p>
        </p:txBody>
      </p:sp>
      <p:sp>
        <p:nvSpPr>
          <p:cNvPr id="30" name="Shape 28"/>
          <p:cNvSpPr/>
          <p:nvPr/>
        </p:nvSpPr>
        <p:spPr>
          <a:xfrm>
            <a:off x="576072" y="3575304"/>
            <a:ext cx="3410712" cy="1709928"/>
          </a:xfrm>
          <a:prstGeom prst="rect">
            <a:avLst>
              <a:gd name="adj" fmla="val 53476"/>
            </a:avLst>
          </a:prstGeom>
          <a:solidFill>
            <a:srgbClr val="F3F4F6"/>
          </a:solidFill>
          <a:ln w="10160">
            <a:solidFill>
              <a:srgbClr val="F3F4F6"/>
            </a:solidFill>
            <a:prstDash val="solid"/>
          </a:ln>
        </p:spPr>
      </p:sp>
      <p:sp>
        <p:nvSpPr>
          <p:cNvPr id="31" name="Text 29"/>
          <p:cNvSpPr/>
          <p:nvPr/>
        </p:nvSpPr>
        <p:spPr>
          <a:xfrm>
            <a:off x="722376" y="3685032"/>
            <a:ext cx="3118104" cy="548640"/>
          </a:xfrm>
          <a:prstGeom prst="rect">
            <a:avLst/>
          </a:prstGeom>
          <a:noFill/>
          <a:ln/>
        </p:spPr>
        <p:txBody>
          <a:bodyPr wrap="square" lIns="0" tIns="0" rIns="0" bIns="0" rtlCol="0" anchor="ctr"/>
          <a:lstStyle/>
          <a:p>
            <a:pPr algn="l" indent="0" marL="0">
              <a:buNone/>
            </a:pPr>
            <a:r>
              <a:rPr lang="en-US" sz="1800" b="1" dirty="0">
                <a:solidFill>
                  <a:srgbClr val="18191D"/>
                </a:solidFill>
                <a:latin typeface="Arial" pitchFamily="34" charset="0"/>
                <a:ea typeface="Arial" pitchFamily="34" charset="-122"/>
                <a:cs typeface="Arial" pitchFamily="34" charset="-120"/>
              </a:rPr>
              <a:t>CPU service plane</a:t>
            </a:r>
            <a:endParaRPr lang="en-US" sz="1800" dirty="0"/>
          </a:p>
        </p:txBody>
      </p:sp>
      <p:sp>
        <p:nvSpPr>
          <p:cNvPr id="32" name="Text 30"/>
          <p:cNvSpPr/>
          <p:nvPr/>
        </p:nvSpPr>
        <p:spPr>
          <a:xfrm>
            <a:off x="722376" y="4325112"/>
            <a:ext cx="3118104" cy="850392"/>
          </a:xfrm>
          <a:prstGeom prst="rect">
            <a:avLst/>
          </a:prstGeom>
          <a:noFill/>
          <a:ln/>
        </p:spPr>
        <p:txBody>
          <a:bodyPr wrap="square" lIns="0" tIns="0" rIns="0" bIns="0" rtlCol="0" anchor="ctr"/>
          <a:lstStyle/>
          <a:p>
            <a:pPr algn="l" indent="0" marL="0">
              <a:buNone/>
            </a:pPr>
            <a:r>
              <a:rPr lang="en-US" sz="1310" dirty="0">
                <a:solidFill>
                  <a:srgbClr val="5B6169"/>
                </a:solidFill>
                <a:latin typeface="Arial" pitchFamily="34" charset="0"/>
                <a:ea typeface="Arial" pitchFamily="34" charset="-122"/>
                <a:cs typeface="Arial" pitchFamily="34" charset="-120"/>
              </a:rPr>
              <a:t>Connectors, parsing, authorization, indexes, orchestration and declared host operators.</a:t>
            </a:r>
            <a:endParaRPr lang="en-US" sz="1310" dirty="0"/>
          </a:p>
        </p:txBody>
      </p:sp>
      <p:sp>
        <p:nvSpPr>
          <p:cNvPr id="33" name="Shape 31"/>
          <p:cNvSpPr/>
          <p:nvPr/>
        </p:nvSpPr>
        <p:spPr>
          <a:xfrm>
            <a:off x="4389120" y="3575304"/>
            <a:ext cx="3410712" cy="1709928"/>
          </a:xfrm>
          <a:prstGeom prst="rect">
            <a:avLst>
              <a:gd name="adj" fmla="val 53476"/>
            </a:avLst>
          </a:prstGeom>
          <a:solidFill>
            <a:srgbClr val="FCECEF"/>
          </a:solidFill>
          <a:ln w="10160">
            <a:solidFill>
              <a:srgbClr val="FCECEF"/>
            </a:solidFill>
            <a:prstDash val="solid"/>
          </a:ln>
        </p:spPr>
      </p:sp>
      <p:sp>
        <p:nvSpPr>
          <p:cNvPr id="34" name="Text 32"/>
          <p:cNvSpPr/>
          <p:nvPr/>
        </p:nvSpPr>
        <p:spPr>
          <a:xfrm>
            <a:off x="4535424" y="3685032"/>
            <a:ext cx="3118104" cy="548640"/>
          </a:xfrm>
          <a:prstGeom prst="rect">
            <a:avLst/>
          </a:prstGeom>
          <a:noFill/>
          <a:ln/>
        </p:spPr>
        <p:txBody>
          <a:bodyPr wrap="square" lIns="0" tIns="0" rIns="0" bIns="0" rtlCol="0" anchor="ctr"/>
          <a:lstStyle/>
          <a:p>
            <a:pPr algn="l" indent="0" marL="0">
              <a:buNone/>
            </a:pPr>
            <a:r>
              <a:rPr lang="en-US" sz="1800" b="1" dirty="0">
                <a:solidFill>
                  <a:srgbClr val="E31837"/>
                </a:solidFill>
                <a:latin typeface="Arial" pitchFamily="34" charset="0"/>
                <a:ea typeface="Arial" pitchFamily="34" charset="-122"/>
                <a:cs typeface="Arial" pitchFamily="34" charset="-120"/>
              </a:rPr>
              <a:t>ATMOS-native service</a:t>
            </a:r>
            <a:endParaRPr lang="en-US" sz="1800" dirty="0"/>
          </a:p>
        </p:txBody>
      </p:sp>
      <p:sp>
        <p:nvSpPr>
          <p:cNvPr id="35" name="Text 33"/>
          <p:cNvSpPr/>
          <p:nvPr/>
        </p:nvSpPr>
        <p:spPr>
          <a:xfrm>
            <a:off x="4535424" y="4325112"/>
            <a:ext cx="3118104" cy="850392"/>
          </a:xfrm>
          <a:prstGeom prst="rect">
            <a:avLst/>
          </a:prstGeom>
          <a:noFill/>
          <a:ln/>
        </p:spPr>
        <p:txBody>
          <a:bodyPr wrap="square" lIns="0" tIns="0" rIns="0" bIns="0" rtlCol="0" anchor="ctr"/>
          <a:lstStyle/>
          <a:p>
            <a:pPr algn="l" indent="0" marL="0">
              <a:buNone/>
            </a:pPr>
            <a:r>
              <a:rPr lang="en-US" sz="1310" dirty="0">
                <a:solidFill>
                  <a:srgbClr val="5B6169"/>
                </a:solidFill>
                <a:latin typeface="Arial" pitchFamily="34" charset="0"/>
                <a:ea typeface="Arial" pitchFamily="34" charset="-122"/>
                <a:cs typeface="Arial" pitchFamily="34" charset="-120"/>
              </a:rPr>
              <a:t>Certified model/reranker; native attention, KV and expert computation where supported.</a:t>
            </a:r>
            <a:endParaRPr lang="en-US" sz="1310" dirty="0"/>
          </a:p>
        </p:txBody>
      </p:sp>
      <p:sp>
        <p:nvSpPr>
          <p:cNvPr id="36" name="Shape 34"/>
          <p:cNvSpPr/>
          <p:nvPr/>
        </p:nvSpPr>
        <p:spPr>
          <a:xfrm>
            <a:off x="8193024" y="3575304"/>
            <a:ext cx="3410712" cy="1709928"/>
          </a:xfrm>
          <a:prstGeom prst="rect">
            <a:avLst>
              <a:gd name="adj" fmla="val 53476"/>
            </a:avLst>
          </a:prstGeom>
          <a:solidFill>
            <a:srgbClr val="F3F4F6"/>
          </a:solidFill>
          <a:ln w="10160">
            <a:solidFill>
              <a:srgbClr val="F3F4F6"/>
            </a:solidFill>
            <a:prstDash val="solid"/>
          </a:ln>
        </p:spPr>
      </p:sp>
      <p:sp>
        <p:nvSpPr>
          <p:cNvPr id="37" name="Text 35"/>
          <p:cNvSpPr/>
          <p:nvPr/>
        </p:nvSpPr>
        <p:spPr>
          <a:xfrm>
            <a:off x="8339328" y="3685032"/>
            <a:ext cx="3118104" cy="548640"/>
          </a:xfrm>
          <a:prstGeom prst="rect">
            <a:avLst/>
          </a:prstGeom>
          <a:noFill/>
          <a:ln/>
        </p:spPr>
        <p:txBody>
          <a:bodyPr wrap="square" lIns="0" tIns="0" rIns="0" bIns="0" rtlCol="0" anchor="ctr"/>
          <a:lstStyle/>
          <a:p>
            <a:pPr algn="l" indent="0" marL="0">
              <a:buNone/>
            </a:pPr>
            <a:r>
              <a:rPr lang="en-US" sz="1800" b="1" dirty="0">
                <a:solidFill>
                  <a:srgbClr val="18191D"/>
                </a:solidFill>
                <a:latin typeface="Arial" pitchFamily="34" charset="0"/>
                <a:ea typeface="Arial" pitchFamily="34" charset="-122"/>
                <a:cs typeface="Arial" pitchFamily="34" charset="-120"/>
              </a:rPr>
              <a:t>Approved external LLM</a:t>
            </a:r>
            <a:endParaRPr lang="en-US" sz="1800" dirty="0"/>
          </a:p>
        </p:txBody>
      </p:sp>
      <p:sp>
        <p:nvSpPr>
          <p:cNvPr id="38" name="Text 36"/>
          <p:cNvSpPr/>
          <p:nvPr/>
        </p:nvSpPr>
        <p:spPr>
          <a:xfrm>
            <a:off x="8339328" y="4325112"/>
            <a:ext cx="3118104" cy="850392"/>
          </a:xfrm>
          <a:prstGeom prst="rect">
            <a:avLst/>
          </a:prstGeom>
          <a:noFill/>
          <a:ln/>
        </p:spPr>
        <p:txBody>
          <a:bodyPr wrap="square" lIns="0" tIns="0" rIns="0" bIns="0" rtlCol="0" anchor="ctr"/>
          <a:lstStyle/>
          <a:p>
            <a:pPr algn="l" indent="0" marL="0">
              <a:buNone/>
            </a:pPr>
            <a:r>
              <a:rPr lang="en-US" sz="1310" dirty="0">
                <a:solidFill>
                  <a:srgbClr val="5B6169"/>
                </a:solidFill>
                <a:latin typeface="Arial" pitchFamily="34" charset="0"/>
                <a:ea typeface="Arial" pitchFamily="34" charset="-122"/>
                <a:cs typeface="Arial" pitchFamily="34" charset="-120"/>
              </a:rPr>
              <a:t>Optional endpoint at request boundary. Explicit data policy, budget and timeout.</a:t>
            </a:r>
            <a:endParaRPr lang="en-US" sz="1310" dirty="0"/>
          </a:p>
        </p:txBody>
      </p:sp>
      <p:sp>
        <p:nvSpPr>
          <p:cNvPr id="39" name="Shape 37"/>
          <p:cNvSpPr/>
          <p:nvPr/>
        </p:nvSpPr>
        <p:spPr>
          <a:xfrm>
            <a:off x="475488" y="5843016"/>
            <a:ext cx="11228832" cy="457200"/>
          </a:xfrm>
          <a:prstGeom prst="rect">
            <a:avLst/>
          </a:prstGeom>
          <a:solidFill>
            <a:srgbClr val="FCECEF"/>
          </a:solidFill>
          <a:ln w="10160">
            <a:solidFill>
              <a:srgbClr val="FCECEF"/>
            </a:solidFill>
            <a:prstDash val="solid"/>
          </a:ln>
        </p:spPr>
      </p:sp>
      <p:sp>
        <p:nvSpPr>
          <p:cNvPr id="40" name="Text 38"/>
          <p:cNvSpPr/>
          <p:nvPr/>
        </p:nvSpPr>
        <p:spPr>
          <a:xfrm>
            <a:off x="621792" y="5893308"/>
            <a:ext cx="10936224" cy="347472"/>
          </a:xfrm>
          <a:prstGeom prst="rect">
            <a:avLst/>
          </a:prstGeom>
          <a:noFill/>
          <a:ln/>
        </p:spPr>
        <p:txBody>
          <a:bodyPr wrap="square" lIns="0" tIns="0" rIns="0" bIns="0" rtlCol="0" anchor="ctr"/>
          <a:lstStyle/>
          <a:p>
            <a:pPr algn="l" indent="0" marL="0">
              <a:buNone/>
            </a:pPr>
            <a:r>
              <a:rPr lang="en-US" sz="1300" b="1" dirty="0">
                <a:solidFill>
                  <a:srgbClr val="E31837"/>
                </a:solidFill>
                <a:latin typeface="Arial" pitchFamily="34" charset="0"/>
                <a:ea typeface="Arial" pitchFamily="34" charset="-122"/>
                <a:cs typeface="Arial" pitchFamily="34" charset="-120"/>
              </a:rPr>
              <a:t>Every internal agent model/tool call inherits the original tenant, budget, deadline and generation constraints.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E31837"/>
          </a:solidFill>
          <a:ln w="10160">
            <a:solidFill>
              <a:srgbClr val="E31837"/>
            </a:solidFill>
            <a:prstDash val="solid"/>
          </a:ln>
        </p:spPr>
      </p:sp>
      <p:sp>
        <p:nvSpPr>
          <p:cNvPr id="3" name="Text 1"/>
          <p:cNvSpPr/>
          <p:nvPr/>
        </p:nvSpPr>
        <p:spPr>
          <a:xfrm>
            <a:off x="457200" y="228600"/>
            <a:ext cx="1645920" cy="228600"/>
          </a:xfrm>
          <a:prstGeom prst="rect">
            <a:avLst/>
          </a:prstGeom>
          <a:noFill/>
          <a:ln/>
        </p:spPr>
        <p:txBody>
          <a:bodyPr wrap="square" lIns="0" tIns="0" rIns="0" bIns="0" rtlCol="0" anchor="ctr"/>
          <a:lstStyle/>
          <a:p>
            <a:pPr algn="l" indent="0" marL="0">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4" name="Text 2"/>
          <p:cNvSpPr/>
          <p:nvPr/>
        </p:nvSpPr>
        <p:spPr>
          <a:xfrm>
            <a:off x="1965960" y="256032"/>
            <a:ext cx="9144000" cy="182880"/>
          </a:xfrm>
          <a:prstGeom prst="rect">
            <a:avLst/>
          </a:prstGeom>
          <a:noFill/>
          <a:ln/>
        </p:spPr>
        <p:txBody>
          <a:bodyPr wrap="square" lIns="0" tIns="0" rIns="0" bIns="0" rtlCol="0" anchor="ctr"/>
          <a:lstStyle/>
          <a:p>
            <a:pPr algn="l" indent="0" marL="0">
              <a:buNone/>
            </a:pPr>
            <a:r>
              <a:rPr lang="en-US" sz="1050" b="1" dirty="0">
                <a:solidFill>
                  <a:srgbClr val="5B6169"/>
                </a:solidFill>
                <a:latin typeface="Arial" pitchFamily="34" charset="0"/>
                <a:ea typeface="Arial" pitchFamily="34" charset="-122"/>
                <a:cs typeface="Arial" pitchFamily="34" charset="-120"/>
              </a:rPr>
              <a:t>ATMOS  /  A5 / QUOTAS + LIMITS</a:t>
            </a:r>
            <a:endParaRPr lang="en-US" sz="1050" dirty="0"/>
          </a:p>
        </p:txBody>
      </p:sp>
      <p:sp>
        <p:nvSpPr>
          <p:cNvPr id="5" name="Text 3"/>
          <p:cNvSpPr/>
          <p:nvPr/>
        </p:nvSpPr>
        <p:spPr>
          <a:xfrm>
            <a:off x="475488" y="758952"/>
            <a:ext cx="11201400" cy="493776"/>
          </a:xfrm>
          <a:prstGeom prst="rect">
            <a:avLst/>
          </a:prstGeom>
          <a:noFill/>
          <a:ln/>
        </p:spPr>
        <p:txBody>
          <a:bodyPr wrap="square" lIns="0" tIns="0" rIns="0" bIns="0" rtlCol="0" anchor="ctr"/>
          <a:lstStyle/>
          <a:p>
            <a:pPr algn="l" indent="0" marL="0">
              <a:buNone/>
            </a:pPr>
            <a:r>
              <a:rPr lang="en-US" sz="2750" b="1" dirty="0">
                <a:solidFill>
                  <a:srgbClr val="18191D"/>
                </a:solidFill>
                <a:latin typeface="Arial" pitchFamily="34" charset="0"/>
                <a:ea typeface="Arial" pitchFamily="34" charset="-122"/>
                <a:cs typeface="Arial" pitchFamily="34" charset="-120"/>
              </a:rPr>
              <a:t>Quotas need four enforcement points—not one token counter.</a:t>
            </a:r>
            <a:endParaRPr lang="en-US" sz="2750" dirty="0"/>
          </a:p>
        </p:txBody>
      </p:sp>
      <p:sp>
        <p:nvSpPr>
          <p:cNvPr id="6" name="Text 4"/>
          <p:cNvSpPr/>
          <p:nvPr/>
        </p:nvSpPr>
        <p:spPr>
          <a:xfrm>
            <a:off x="502920" y="1298448"/>
            <a:ext cx="11064240" cy="411480"/>
          </a:xfrm>
          <a:prstGeom prst="rect">
            <a:avLst/>
          </a:prstGeom>
          <a:noFill/>
          <a:ln/>
        </p:spPr>
        <p:txBody>
          <a:bodyPr wrap="square" lIns="0" tIns="0" rIns="0" bIns="0" rtlCol="0" anchor="ctr"/>
          <a:lstStyle/>
          <a:p>
            <a:pPr algn="l" indent="0" marL="0">
              <a:buNone/>
            </a:pPr>
            <a:r>
              <a:rPr lang="en-US" sz="1350" dirty="0">
                <a:solidFill>
                  <a:srgbClr val="5B6169"/>
                </a:solidFill>
                <a:latin typeface="Arial" pitchFamily="34" charset="0"/>
                <a:ea typeface="Arial" pitchFamily="34" charset="-122"/>
                <a:cs typeface="Arial" pitchFamily="34" charset="-120"/>
              </a:rPr>
              <a:t>Separate customer usage policy from Kubernetes quotas and physical model capacity.</a:t>
            </a:r>
            <a:endParaRPr lang="en-US" sz="1350" dirty="0"/>
          </a:p>
        </p:txBody>
      </p:sp>
      <p:sp>
        <p:nvSpPr>
          <p:cNvPr id="7" name="Shape 5"/>
          <p:cNvSpPr/>
          <p:nvPr/>
        </p:nvSpPr>
        <p:spPr>
          <a:xfrm>
            <a:off x="484632" y="6464808"/>
            <a:ext cx="11237976" cy="0"/>
          </a:xfrm>
          <a:prstGeom prst="line">
            <a:avLst/>
          </a:prstGeom>
          <a:noFill/>
          <a:ln w="7620">
            <a:solidFill>
              <a:srgbClr val="D9DDE3"/>
            </a:solidFill>
            <a:prstDash val="solid"/>
            <a:headEnd type="none"/>
            <a:tailEnd type="none"/>
          </a:ln>
        </p:spPr>
      </p:sp>
      <p:sp>
        <p:nvSpPr>
          <p:cNvPr id="8" name="Text 6"/>
          <p:cNvSpPr/>
          <p:nvPr/>
        </p:nvSpPr>
        <p:spPr>
          <a:xfrm>
            <a:off x="512064" y="6547104"/>
            <a:ext cx="9418320" cy="164592"/>
          </a:xfrm>
          <a:prstGeom prst="rect">
            <a:avLst/>
          </a:prstGeom>
          <a:noFill/>
          <a:ln/>
        </p:spPr>
        <p:txBody>
          <a:bodyPr wrap="square" lIns="0" tIns="0" rIns="0" bIns="0" rtlCol="0" anchor="ctr"/>
          <a:lstStyle/>
          <a:p>
            <a:pPr algn="l" indent="0" marL="0">
              <a:buNone/>
            </a:pPr>
            <a:r>
              <a:rPr lang="en-US" sz="850" dirty="0">
                <a:solidFill>
                  <a:srgbClr val="5B6169"/>
                </a:solidFill>
                <a:latin typeface="Arial" pitchFamily="34" charset="0"/>
                <a:ea typeface="Arial" pitchFamily="34" charset="-122"/>
                <a:cs typeface="Arial" pitchFamily="34" charset="-120"/>
              </a:rPr>
              <a:t>TECHNICAL APPENDIX TO V3  •  6 OCT 2026  •  PROPOSED DESIGN / QUALIFICATION REQUIRED</a:t>
            </a:r>
            <a:endParaRPr lang="en-US" sz="850" dirty="0"/>
          </a:p>
        </p:txBody>
      </p:sp>
      <p:sp>
        <p:nvSpPr>
          <p:cNvPr id="9" name="Text 7"/>
          <p:cNvSpPr/>
          <p:nvPr/>
        </p:nvSpPr>
        <p:spPr>
          <a:xfrm>
            <a:off x="11219688" y="6519672"/>
            <a:ext cx="457200" cy="219456"/>
          </a:xfrm>
          <a:prstGeom prst="rect">
            <a:avLst/>
          </a:prstGeom>
          <a:noFill/>
          <a:ln/>
        </p:spPr>
        <p:txBody>
          <a:bodyPr wrap="square" lIns="0" tIns="0" rIns="0" bIns="0" rtlCol="0" anchor="ctr"/>
          <a:lstStyle/>
          <a:p>
            <a:pPr algn="r" indent="0" marL="0">
              <a:buNone/>
            </a:pPr>
            <a:r>
              <a:rPr lang="en-US" sz="1000" b="1" dirty="0">
                <a:solidFill>
                  <a:srgbClr val="E31837"/>
                </a:solidFill>
                <a:latin typeface="Arial" pitchFamily="34" charset="0"/>
                <a:ea typeface="Arial" pitchFamily="34" charset="-122"/>
                <a:cs typeface="Arial" pitchFamily="34" charset="-120"/>
              </a:rPr>
              <a:t>06</a:t>
            </a:r>
            <a:endParaRPr lang="en-US" sz="1000" dirty="0"/>
          </a:p>
        </p:txBody>
      </p:sp>
      <p:sp>
        <p:nvSpPr>
          <p:cNvPr id="10" name="Text 8">
            <a:hlinkClick r:id="rId1" tooltip=""/>
          </p:cNvPr>
          <p:cNvSpPr/>
          <p:nvPr/>
        </p:nvSpPr>
        <p:spPr>
          <a:xfrm>
            <a:off x="9875520" y="237744"/>
            <a:ext cx="1828800" cy="219456"/>
          </a:xfrm>
          <a:prstGeom prst="rect">
            <a:avLst/>
          </a:prstGeom>
          <a:noFill/>
          <a:ln/>
        </p:spPr>
        <p:txBody>
          <a:bodyPr wrap="square" lIns="0" tIns="0" rIns="0" bIns="0" rtlCol="0" anchor="ctr"/>
          <a:lstStyle/>
          <a:p>
            <a:pPr algn="r" indent="0" marL="0">
              <a:buNone/>
            </a:pPr>
            <a:r>
              <a:rPr lang="en-US" sz="1000"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technical notes</a:t>
            </a:r>
            <a:endParaRPr lang="en-US" sz="1000" dirty="0"/>
          </a:p>
        </p:txBody>
      </p:sp>
      <p:sp>
        <p:nvSpPr>
          <p:cNvPr id="11" name="Shape 9"/>
          <p:cNvSpPr/>
          <p:nvPr/>
        </p:nvSpPr>
        <p:spPr>
          <a:xfrm>
            <a:off x="576072" y="1920240"/>
            <a:ext cx="2596896" cy="301752"/>
          </a:xfrm>
          <a:prstGeom prst="rect">
            <a:avLst>
              <a:gd name="adj" fmla="val 303030"/>
            </a:avLst>
          </a:prstGeom>
          <a:solidFill>
            <a:srgbClr val="FCECEF"/>
          </a:solidFill>
          <a:ln w="10160">
            <a:solidFill>
              <a:srgbClr val="FCECEF"/>
            </a:solidFill>
            <a:prstDash val="solid"/>
          </a:ln>
        </p:spPr>
      </p:sp>
      <p:sp>
        <p:nvSpPr>
          <p:cNvPr id="12" name="Text 10"/>
          <p:cNvSpPr/>
          <p:nvPr/>
        </p:nvSpPr>
        <p:spPr>
          <a:xfrm>
            <a:off x="667512" y="1943100"/>
            <a:ext cx="2414016" cy="256032"/>
          </a:xfrm>
          <a:prstGeom prst="rect">
            <a:avLst/>
          </a:prstGeom>
          <a:noFill/>
          <a:ln/>
        </p:spPr>
        <p:txBody>
          <a:bodyPr wrap="square" lIns="0" tIns="0" rIns="0" bIns="0" rtlCol="0" anchor="ctr"/>
          <a:lstStyle/>
          <a:p>
            <a:pPr algn="l" indent="0" marL="0">
              <a:buNone/>
            </a:pPr>
            <a:r>
              <a:rPr lang="en-US" sz="1030" b="1" dirty="0">
                <a:solidFill>
                  <a:srgbClr val="E31837"/>
                </a:solidFill>
                <a:latin typeface="Arial" pitchFamily="34" charset="0"/>
                <a:ea typeface="Arial" pitchFamily="34" charset="-122"/>
                <a:cs typeface="Arial" pitchFamily="34" charset="-120"/>
              </a:rPr>
              <a:t>GATEWAY</a:t>
            </a:r>
            <a:endParaRPr lang="en-US" sz="1030" dirty="0"/>
          </a:p>
        </p:txBody>
      </p:sp>
      <p:sp>
        <p:nvSpPr>
          <p:cNvPr id="13" name="Shape 11"/>
          <p:cNvSpPr/>
          <p:nvPr/>
        </p:nvSpPr>
        <p:spPr>
          <a:xfrm>
            <a:off x="576072" y="2386584"/>
            <a:ext cx="2587752" cy="1929384"/>
          </a:xfrm>
          <a:prstGeom prst="rect">
            <a:avLst>
              <a:gd name="adj" fmla="val 47393"/>
            </a:avLst>
          </a:prstGeom>
          <a:solidFill>
            <a:srgbClr val="F3F4F6"/>
          </a:solidFill>
          <a:ln w="10160">
            <a:solidFill>
              <a:srgbClr val="F3F4F6"/>
            </a:solidFill>
            <a:prstDash val="solid"/>
          </a:ln>
        </p:spPr>
      </p:sp>
      <p:sp>
        <p:nvSpPr>
          <p:cNvPr id="14" name="Text 12"/>
          <p:cNvSpPr/>
          <p:nvPr/>
        </p:nvSpPr>
        <p:spPr>
          <a:xfrm>
            <a:off x="722376" y="2496312"/>
            <a:ext cx="2295144" cy="548640"/>
          </a:xfrm>
          <a:prstGeom prst="rect">
            <a:avLst/>
          </a:prstGeom>
          <a:noFill/>
          <a:ln/>
        </p:spPr>
        <p:txBody>
          <a:bodyPr wrap="square" lIns="0" tIns="0" rIns="0" bIns="0" rtlCol="0" anchor="ctr"/>
          <a:lstStyle/>
          <a:p>
            <a:pPr algn="l" indent="0" marL="0">
              <a:buNone/>
            </a:pPr>
            <a:r>
              <a:rPr lang="en-US" sz="1620" b="1" dirty="0">
                <a:solidFill>
                  <a:srgbClr val="18191D"/>
                </a:solidFill>
                <a:latin typeface="Arial" pitchFamily="34" charset="0"/>
                <a:ea typeface="Arial" pitchFamily="34" charset="-122"/>
                <a:cs typeface="Arial" pitchFamily="34" charset="-120"/>
              </a:rPr>
              <a:t>Identity + burst control</a:t>
            </a:r>
            <a:endParaRPr lang="en-US" sz="1620" dirty="0"/>
          </a:p>
        </p:txBody>
      </p:sp>
      <p:sp>
        <p:nvSpPr>
          <p:cNvPr id="15" name="Text 13"/>
          <p:cNvSpPr/>
          <p:nvPr/>
        </p:nvSpPr>
        <p:spPr>
          <a:xfrm>
            <a:off x="722376" y="3136392"/>
            <a:ext cx="2295144" cy="1069848"/>
          </a:xfrm>
          <a:prstGeom prst="rect">
            <a:avLst/>
          </a:prstGeom>
          <a:noFill/>
          <a:ln/>
        </p:spPr>
        <p:txBody>
          <a:bodyPr wrap="square" lIns="0" tIns="0" rIns="0" bIns="0" rtlCol="0" anchor="ctr"/>
          <a:lstStyle/>
          <a:p>
            <a:pPr algn="l" indent="0" marL="0">
              <a:buNone/>
            </a:pPr>
            <a:r>
              <a:rPr lang="en-US" sz="1310" dirty="0">
                <a:solidFill>
                  <a:srgbClr val="5B6169"/>
                </a:solidFill>
                <a:latin typeface="Arial" pitchFamily="34" charset="0"/>
                <a:ea typeface="Arial" pitchFamily="34" charset="-122"/>
                <a:cs typeface="Arial" pitchFamily="34" charset="-120"/>
              </a:rPr>
              <a:t>Requests/min • allowed APIs</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Model access • payload size</a:t>
            </a:r>
            <a:endParaRPr lang="en-US" sz="1310" dirty="0"/>
          </a:p>
        </p:txBody>
      </p:sp>
      <p:sp>
        <p:nvSpPr>
          <p:cNvPr id="16" name="Shape 14"/>
          <p:cNvSpPr/>
          <p:nvPr/>
        </p:nvSpPr>
        <p:spPr>
          <a:xfrm>
            <a:off x="3383280" y="1920240"/>
            <a:ext cx="2596896" cy="301752"/>
          </a:xfrm>
          <a:prstGeom prst="rect">
            <a:avLst>
              <a:gd name="adj" fmla="val 303030"/>
            </a:avLst>
          </a:prstGeom>
          <a:solidFill>
            <a:srgbClr val="FCECEF"/>
          </a:solidFill>
          <a:ln w="10160">
            <a:solidFill>
              <a:srgbClr val="FCECEF"/>
            </a:solidFill>
            <a:prstDash val="solid"/>
          </a:ln>
        </p:spPr>
      </p:sp>
      <p:sp>
        <p:nvSpPr>
          <p:cNvPr id="17" name="Text 15"/>
          <p:cNvSpPr/>
          <p:nvPr/>
        </p:nvSpPr>
        <p:spPr>
          <a:xfrm>
            <a:off x="3474720" y="1943100"/>
            <a:ext cx="2414016" cy="256032"/>
          </a:xfrm>
          <a:prstGeom prst="rect">
            <a:avLst/>
          </a:prstGeom>
          <a:noFill/>
          <a:ln/>
        </p:spPr>
        <p:txBody>
          <a:bodyPr wrap="square" lIns="0" tIns="0" rIns="0" bIns="0" rtlCol="0" anchor="ctr"/>
          <a:lstStyle/>
          <a:p>
            <a:pPr algn="l" indent="0" marL="0">
              <a:buNone/>
            </a:pPr>
            <a:r>
              <a:rPr lang="en-US" sz="1030" b="1" dirty="0">
                <a:solidFill>
                  <a:srgbClr val="E31837"/>
                </a:solidFill>
                <a:latin typeface="Arial" pitchFamily="34" charset="0"/>
                <a:ea typeface="Arial" pitchFamily="34" charset="-122"/>
                <a:cs typeface="Arial" pitchFamily="34" charset="-120"/>
              </a:rPr>
              <a:t>SERVING MANAGER</a:t>
            </a:r>
            <a:endParaRPr lang="en-US" sz="1030" dirty="0"/>
          </a:p>
        </p:txBody>
      </p:sp>
      <p:sp>
        <p:nvSpPr>
          <p:cNvPr id="18" name="Shape 16"/>
          <p:cNvSpPr/>
          <p:nvPr/>
        </p:nvSpPr>
        <p:spPr>
          <a:xfrm>
            <a:off x="3383280" y="2386584"/>
            <a:ext cx="2587752" cy="1929384"/>
          </a:xfrm>
          <a:prstGeom prst="rect">
            <a:avLst>
              <a:gd name="adj" fmla="val 47393"/>
            </a:avLst>
          </a:prstGeom>
          <a:solidFill>
            <a:srgbClr val="F3F4F6"/>
          </a:solidFill>
          <a:ln w="10160">
            <a:solidFill>
              <a:srgbClr val="F3F4F6"/>
            </a:solidFill>
            <a:prstDash val="solid"/>
          </a:ln>
        </p:spPr>
      </p:sp>
      <p:sp>
        <p:nvSpPr>
          <p:cNvPr id="19" name="Text 17"/>
          <p:cNvSpPr/>
          <p:nvPr/>
        </p:nvSpPr>
        <p:spPr>
          <a:xfrm>
            <a:off x="3529584" y="2496312"/>
            <a:ext cx="2295144" cy="548640"/>
          </a:xfrm>
          <a:prstGeom prst="rect">
            <a:avLst/>
          </a:prstGeom>
          <a:noFill/>
          <a:ln/>
        </p:spPr>
        <p:txBody>
          <a:bodyPr wrap="square" lIns="0" tIns="0" rIns="0" bIns="0" rtlCol="0" anchor="ctr"/>
          <a:lstStyle/>
          <a:p>
            <a:pPr algn="l" indent="0" marL="0">
              <a:buNone/>
            </a:pPr>
            <a:r>
              <a:rPr lang="en-US" sz="1620" b="1" dirty="0">
                <a:solidFill>
                  <a:srgbClr val="18191D"/>
                </a:solidFill>
                <a:latin typeface="Arial" pitchFamily="34" charset="0"/>
                <a:ea typeface="Arial" pitchFamily="34" charset="-122"/>
                <a:cs typeface="Arial" pitchFamily="34" charset="-120"/>
              </a:rPr>
              <a:t>Admission + fairness</a:t>
            </a:r>
            <a:endParaRPr lang="en-US" sz="1620" dirty="0"/>
          </a:p>
        </p:txBody>
      </p:sp>
      <p:sp>
        <p:nvSpPr>
          <p:cNvPr id="20" name="Text 18"/>
          <p:cNvSpPr/>
          <p:nvPr/>
        </p:nvSpPr>
        <p:spPr>
          <a:xfrm>
            <a:off x="3529584" y="3136392"/>
            <a:ext cx="2295144" cy="1069848"/>
          </a:xfrm>
          <a:prstGeom prst="rect">
            <a:avLst/>
          </a:prstGeom>
          <a:noFill/>
          <a:ln/>
        </p:spPr>
        <p:txBody>
          <a:bodyPr wrap="square" lIns="0" tIns="0" rIns="0" bIns="0" rtlCol="0" anchor="ctr"/>
          <a:lstStyle/>
          <a:p>
            <a:pPr algn="l" indent="0" marL="0">
              <a:buNone/>
            </a:pPr>
            <a:r>
              <a:rPr lang="en-US" sz="1310" dirty="0">
                <a:solidFill>
                  <a:srgbClr val="5B6169"/>
                </a:solidFill>
                <a:latin typeface="Arial" pitchFamily="34" charset="0"/>
                <a:ea typeface="Arial" pitchFamily="34" charset="-122"/>
                <a:cs typeface="Arial" pitchFamily="34" charset="-120"/>
              </a:rPr>
              <a:t>In-flight / queue limits</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Interactive vs batch policy</a:t>
            </a:r>
            <a:endParaRPr lang="en-US" sz="1310" dirty="0"/>
          </a:p>
        </p:txBody>
      </p:sp>
      <p:sp>
        <p:nvSpPr>
          <p:cNvPr id="21" name="Shape 19"/>
          <p:cNvSpPr/>
          <p:nvPr/>
        </p:nvSpPr>
        <p:spPr>
          <a:xfrm>
            <a:off x="6190488" y="1920240"/>
            <a:ext cx="2596896" cy="301752"/>
          </a:xfrm>
          <a:prstGeom prst="rect">
            <a:avLst>
              <a:gd name="adj" fmla="val 303030"/>
            </a:avLst>
          </a:prstGeom>
          <a:solidFill>
            <a:srgbClr val="FCECEF"/>
          </a:solidFill>
          <a:ln w="10160">
            <a:solidFill>
              <a:srgbClr val="FCECEF"/>
            </a:solidFill>
            <a:prstDash val="solid"/>
          </a:ln>
        </p:spPr>
      </p:sp>
      <p:sp>
        <p:nvSpPr>
          <p:cNvPr id="22" name="Text 20"/>
          <p:cNvSpPr/>
          <p:nvPr/>
        </p:nvSpPr>
        <p:spPr>
          <a:xfrm>
            <a:off x="6281928" y="1943100"/>
            <a:ext cx="2414016" cy="256032"/>
          </a:xfrm>
          <a:prstGeom prst="rect">
            <a:avLst/>
          </a:prstGeom>
          <a:noFill/>
          <a:ln/>
        </p:spPr>
        <p:txBody>
          <a:bodyPr wrap="square" lIns="0" tIns="0" rIns="0" bIns="0" rtlCol="0" anchor="ctr"/>
          <a:lstStyle/>
          <a:p>
            <a:pPr algn="l" indent="0" marL="0">
              <a:buNone/>
            </a:pPr>
            <a:r>
              <a:rPr lang="en-US" sz="1030" b="1" dirty="0">
                <a:solidFill>
                  <a:srgbClr val="E31837"/>
                </a:solidFill>
                <a:latin typeface="Arial" pitchFamily="34" charset="0"/>
                <a:ea typeface="Arial" pitchFamily="34" charset="-122"/>
                <a:cs typeface="Arial" pitchFamily="34" charset="-120"/>
              </a:rPr>
              <a:t>MODEL RUNTIME</a:t>
            </a:r>
            <a:endParaRPr lang="en-US" sz="1030" dirty="0"/>
          </a:p>
        </p:txBody>
      </p:sp>
      <p:sp>
        <p:nvSpPr>
          <p:cNvPr id="23" name="Shape 21"/>
          <p:cNvSpPr/>
          <p:nvPr/>
        </p:nvSpPr>
        <p:spPr>
          <a:xfrm>
            <a:off x="6190488" y="2386584"/>
            <a:ext cx="2587752" cy="1929384"/>
          </a:xfrm>
          <a:prstGeom prst="rect">
            <a:avLst>
              <a:gd name="adj" fmla="val 47393"/>
            </a:avLst>
          </a:prstGeom>
          <a:solidFill>
            <a:srgbClr val="F3F4F6"/>
          </a:solidFill>
          <a:ln w="10160">
            <a:solidFill>
              <a:srgbClr val="F3F4F6"/>
            </a:solidFill>
            <a:prstDash val="solid"/>
          </a:ln>
        </p:spPr>
      </p:sp>
      <p:sp>
        <p:nvSpPr>
          <p:cNvPr id="24" name="Text 22"/>
          <p:cNvSpPr/>
          <p:nvPr/>
        </p:nvSpPr>
        <p:spPr>
          <a:xfrm>
            <a:off x="6336792" y="2496312"/>
            <a:ext cx="2295144" cy="548640"/>
          </a:xfrm>
          <a:prstGeom prst="rect">
            <a:avLst/>
          </a:prstGeom>
          <a:noFill/>
          <a:ln/>
        </p:spPr>
        <p:txBody>
          <a:bodyPr wrap="square" lIns="0" tIns="0" rIns="0" bIns="0" rtlCol="0" anchor="ctr"/>
          <a:lstStyle/>
          <a:p>
            <a:pPr algn="l" indent="0" marL="0">
              <a:buNone/>
            </a:pPr>
            <a:r>
              <a:rPr lang="en-US" sz="1620" b="1" dirty="0">
                <a:solidFill>
                  <a:srgbClr val="18191D"/>
                </a:solidFill>
                <a:latin typeface="Arial" pitchFamily="34" charset="0"/>
                <a:ea typeface="Arial" pitchFamily="34" charset="-122"/>
                <a:cs typeface="Arial" pitchFamily="34" charset="-120"/>
              </a:rPr>
              <a:t>Hard execution limits</a:t>
            </a:r>
            <a:endParaRPr lang="en-US" sz="1620" dirty="0"/>
          </a:p>
        </p:txBody>
      </p:sp>
      <p:sp>
        <p:nvSpPr>
          <p:cNvPr id="25" name="Text 23"/>
          <p:cNvSpPr/>
          <p:nvPr/>
        </p:nvSpPr>
        <p:spPr>
          <a:xfrm>
            <a:off x="6336792" y="3136392"/>
            <a:ext cx="2295144" cy="1069848"/>
          </a:xfrm>
          <a:prstGeom prst="rect">
            <a:avLst/>
          </a:prstGeom>
          <a:noFill/>
          <a:ln/>
        </p:spPr>
        <p:txBody>
          <a:bodyPr wrap="square" lIns="0" tIns="0" rIns="0" bIns="0" rtlCol="0" anchor="ctr"/>
          <a:lstStyle/>
          <a:p>
            <a:pPr algn="l" indent="0" marL="0">
              <a:buNone/>
            </a:pPr>
            <a:r>
              <a:rPr lang="en-US" sz="1310" dirty="0">
                <a:solidFill>
                  <a:srgbClr val="5B6169"/>
                </a:solidFill>
                <a:latin typeface="Arial" pitchFamily="34" charset="0"/>
                <a:ea typeface="Arial" pitchFamily="34" charset="-122"/>
                <a:cs typeface="Arial" pitchFamily="34" charset="-120"/>
              </a:rPr>
              <a:t>Context + output cap</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KV / scratch / batch fit</a:t>
            </a:r>
            <a:endParaRPr lang="en-US" sz="1310" dirty="0"/>
          </a:p>
        </p:txBody>
      </p:sp>
      <p:sp>
        <p:nvSpPr>
          <p:cNvPr id="26" name="Shape 24"/>
          <p:cNvSpPr/>
          <p:nvPr/>
        </p:nvSpPr>
        <p:spPr>
          <a:xfrm>
            <a:off x="8997696" y="1920240"/>
            <a:ext cx="2596896" cy="301752"/>
          </a:xfrm>
          <a:prstGeom prst="rect">
            <a:avLst>
              <a:gd name="adj" fmla="val 303030"/>
            </a:avLst>
          </a:prstGeom>
          <a:solidFill>
            <a:srgbClr val="FCECEF"/>
          </a:solidFill>
          <a:ln w="10160">
            <a:solidFill>
              <a:srgbClr val="FCECEF"/>
            </a:solidFill>
            <a:prstDash val="solid"/>
          </a:ln>
        </p:spPr>
      </p:sp>
      <p:sp>
        <p:nvSpPr>
          <p:cNvPr id="27" name="Text 25"/>
          <p:cNvSpPr/>
          <p:nvPr/>
        </p:nvSpPr>
        <p:spPr>
          <a:xfrm>
            <a:off x="9089136" y="1943100"/>
            <a:ext cx="2414016" cy="256032"/>
          </a:xfrm>
          <a:prstGeom prst="rect">
            <a:avLst/>
          </a:prstGeom>
          <a:noFill/>
          <a:ln/>
        </p:spPr>
        <p:txBody>
          <a:bodyPr wrap="square" lIns="0" tIns="0" rIns="0" bIns="0" rtlCol="0" anchor="ctr"/>
          <a:lstStyle/>
          <a:p>
            <a:pPr algn="l" indent="0" marL="0">
              <a:buNone/>
            </a:pPr>
            <a:r>
              <a:rPr lang="en-US" sz="1030" b="1" dirty="0">
                <a:solidFill>
                  <a:srgbClr val="E31837"/>
                </a:solidFill>
                <a:latin typeface="Arial" pitchFamily="34" charset="0"/>
                <a:ea typeface="Arial" pitchFamily="34" charset="-122"/>
                <a:cs typeface="Arial" pitchFamily="34" charset="-120"/>
              </a:rPr>
              <a:t>DURABLE BUDGET</a:t>
            </a:r>
            <a:endParaRPr lang="en-US" sz="1030" dirty="0"/>
          </a:p>
        </p:txBody>
      </p:sp>
      <p:sp>
        <p:nvSpPr>
          <p:cNvPr id="28" name="Shape 26"/>
          <p:cNvSpPr/>
          <p:nvPr/>
        </p:nvSpPr>
        <p:spPr>
          <a:xfrm>
            <a:off x="8997696" y="2386584"/>
            <a:ext cx="2587752" cy="1929384"/>
          </a:xfrm>
          <a:prstGeom prst="rect">
            <a:avLst>
              <a:gd name="adj" fmla="val 47393"/>
            </a:avLst>
          </a:prstGeom>
          <a:solidFill>
            <a:srgbClr val="18191D"/>
          </a:solidFill>
          <a:ln w="10160">
            <a:solidFill>
              <a:srgbClr val="18191D"/>
            </a:solidFill>
            <a:prstDash val="solid"/>
          </a:ln>
        </p:spPr>
      </p:sp>
      <p:sp>
        <p:nvSpPr>
          <p:cNvPr id="29" name="Text 27"/>
          <p:cNvSpPr/>
          <p:nvPr/>
        </p:nvSpPr>
        <p:spPr>
          <a:xfrm>
            <a:off x="9144000" y="2496312"/>
            <a:ext cx="2295144" cy="548640"/>
          </a:xfrm>
          <a:prstGeom prst="rect">
            <a:avLst/>
          </a:prstGeom>
          <a:noFill/>
          <a:ln/>
        </p:spPr>
        <p:txBody>
          <a:bodyPr wrap="square" lIns="0" tIns="0" rIns="0" bIns="0" rtlCol="0" anchor="ctr"/>
          <a:lstStyle/>
          <a:p>
            <a:pPr algn="l" indent="0" marL="0">
              <a:buNone/>
            </a:pPr>
            <a:r>
              <a:rPr lang="en-US" sz="1620" b="1" dirty="0">
                <a:solidFill>
                  <a:srgbClr val="FFFFFF"/>
                </a:solidFill>
                <a:latin typeface="Arial" pitchFamily="34" charset="0"/>
                <a:ea typeface="Arial" pitchFamily="34" charset="-122"/>
                <a:cs typeface="Arial" pitchFamily="34" charset="-120"/>
              </a:rPr>
              <a:t>Tenant / project ledger</a:t>
            </a:r>
            <a:endParaRPr lang="en-US" sz="1620" dirty="0"/>
          </a:p>
        </p:txBody>
      </p:sp>
      <p:sp>
        <p:nvSpPr>
          <p:cNvPr id="30" name="Text 28"/>
          <p:cNvSpPr/>
          <p:nvPr/>
        </p:nvSpPr>
        <p:spPr>
          <a:xfrm>
            <a:off x="9144000" y="3136392"/>
            <a:ext cx="2295144" cy="1069848"/>
          </a:xfrm>
          <a:prstGeom prst="rect">
            <a:avLst/>
          </a:prstGeom>
          <a:noFill/>
          <a:ln/>
        </p:spPr>
        <p:txBody>
          <a:bodyPr wrap="square" lIns="0" tIns="0" rIns="0" bIns="0" rtlCol="0" anchor="ctr"/>
          <a:lstStyle/>
          <a:p>
            <a:pPr algn="l" indent="0" marL="0">
              <a:buNone/>
            </a:pPr>
            <a:r>
              <a:rPr lang="en-US" sz="1310" dirty="0">
                <a:solidFill>
                  <a:srgbClr val="FFFFFF"/>
                </a:solidFill>
                <a:latin typeface="Arial" pitchFamily="34" charset="0"/>
                <a:ea typeface="Arial" pitchFamily="34" charset="-122"/>
                <a:cs typeface="Arial" pitchFamily="34" charset="-120"/>
              </a:rPr>
              <a:t>Reserve → meter → settle</a:t>
            </a:r>
            <a:endParaRPr lang="en-US" sz="1310" dirty="0"/>
          </a:p>
          <a:p>
            <a:pPr algn="l" indent="0" marL="0">
              <a:buNone/>
            </a:pPr>
            <a:r>
              <a:rPr lang="en-US" sz="1310" dirty="0">
                <a:solidFill>
                  <a:srgbClr val="FFFFFF"/>
                </a:solidFill>
                <a:latin typeface="Arial" pitchFamily="34" charset="0"/>
                <a:ea typeface="Arial" pitchFamily="34" charset="-122"/>
                <a:cs typeface="Arial" pitchFamily="34" charset="-120"/>
              </a:rPr>
              <a:t>Agent child calls included</a:t>
            </a:r>
            <a:endParaRPr lang="en-US" sz="1310" dirty="0"/>
          </a:p>
        </p:txBody>
      </p:sp>
      <p:sp>
        <p:nvSpPr>
          <p:cNvPr id="31" name="Shape 29"/>
          <p:cNvSpPr/>
          <p:nvPr/>
        </p:nvSpPr>
        <p:spPr>
          <a:xfrm>
            <a:off x="576072" y="4608576"/>
            <a:ext cx="11027664" cy="850392"/>
          </a:xfrm>
          <a:prstGeom prst="rect">
            <a:avLst/>
          </a:prstGeom>
          <a:solidFill>
            <a:srgbClr val="FCECEF"/>
          </a:solidFill>
          <a:ln w="10160">
            <a:solidFill>
              <a:srgbClr val="FCECEF"/>
            </a:solidFill>
            <a:prstDash val="solid"/>
          </a:ln>
        </p:spPr>
      </p:sp>
      <p:sp>
        <p:nvSpPr>
          <p:cNvPr id="32" name="Text 30"/>
          <p:cNvSpPr/>
          <p:nvPr/>
        </p:nvSpPr>
        <p:spPr>
          <a:xfrm>
            <a:off x="740664" y="4727448"/>
            <a:ext cx="3081528" cy="228600"/>
          </a:xfrm>
          <a:prstGeom prst="rect">
            <a:avLst/>
          </a:prstGeom>
          <a:noFill/>
          <a:ln/>
        </p:spPr>
        <p:txBody>
          <a:bodyPr wrap="square" lIns="0" tIns="0" rIns="0" bIns="0" rtlCol="0" anchor="ctr"/>
          <a:lstStyle/>
          <a:p>
            <a:pPr algn="l" indent="0" marL="0">
              <a:buNone/>
            </a:pPr>
            <a:r>
              <a:rPr lang="en-US" sz="1090" b="1" dirty="0">
                <a:solidFill>
                  <a:srgbClr val="E31837"/>
                </a:solidFill>
                <a:latin typeface="Arial" pitchFamily="34" charset="0"/>
                <a:ea typeface="Arial" pitchFamily="34" charset="-122"/>
                <a:cs typeface="Arial" pitchFamily="34" charset="-120"/>
              </a:rPr>
              <a:t>ILLUSTRATIVE QUOTA CHECK</a:t>
            </a:r>
            <a:endParaRPr lang="en-US" sz="1090" dirty="0"/>
          </a:p>
        </p:txBody>
      </p:sp>
      <p:sp>
        <p:nvSpPr>
          <p:cNvPr id="33" name="Text 31"/>
          <p:cNvSpPr/>
          <p:nvPr/>
        </p:nvSpPr>
        <p:spPr>
          <a:xfrm>
            <a:off x="3813048" y="4709160"/>
            <a:ext cx="7589520" cy="539496"/>
          </a:xfrm>
          <a:prstGeom prst="rect">
            <a:avLst/>
          </a:prstGeom>
          <a:noFill/>
          <a:ln/>
        </p:spPr>
        <p:txBody>
          <a:bodyPr wrap="square" lIns="0" tIns="0" rIns="0" bIns="0" rtlCol="0" anchor="ctr"/>
          <a:lstStyle/>
          <a:p>
            <a:pPr algn="l" indent="0" marL="0">
              <a:buNone/>
            </a:pPr>
            <a:r>
              <a:rPr lang="en-US" sz="1400" dirty="0">
                <a:solidFill>
                  <a:srgbClr val="18191D"/>
                </a:solidFill>
                <a:latin typeface="Arial" pitchFamily="34" charset="0"/>
                <a:ea typeface="Arial" pitchFamily="34" charset="-122"/>
                <a:cs typeface="Arial" pitchFamily="34" charset="-120"/>
              </a:rPr>
              <a:t>2,048 prompt + 512 output reserve = 2,560 tokens.</a:t>
            </a:r>
            <a:endParaRPr lang="en-US" sz="1400" dirty="0"/>
          </a:p>
          <a:p>
            <a:pPr algn="l" indent="0" marL="0">
              <a:buNone/>
            </a:pPr>
            <a:r>
              <a:rPr lang="en-US" sz="1400" dirty="0">
                <a:solidFill>
                  <a:srgbClr val="18191D"/>
                </a:solidFill>
                <a:latin typeface="Arial" pitchFamily="34" charset="0"/>
                <a:ea typeface="Arial" pitchFamily="34" charset="-122"/>
                <a:cs typeface="Arial" pitchFamily="34" charset="-120"/>
              </a:rPr>
              <a:t>Only 2,400 remaining? Reject before starting; do not overspend then discover it.</a:t>
            </a:r>
            <a:endParaRPr lang="en-US" sz="1400" dirty="0"/>
          </a:p>
        </p:txBody>
      </p:sp>
      <p:sp>
        <p:nvSpPr>
          <p:cNvPr id="34" name="Shape 32"/>
          <p:cNvSpPr/>
          <p:nvPr/>
        </p:nvSpPr>
        <p:spPr>
          <a:xfrm>
            <a:off x="475488" y="5843016"/>
            <a:ext cx="11228832" cy="457200"/>
          </a:xfrm>
          <a:prstGeom prst="rect">
            <a:avLst/>
          </a:prstGeom>
          <a:solidFill>
            <a:srgbClr val="FCECEF"/>
          </a:solidFill>
          <a:ln w="10160">
            <a:solidFill>
              <a:srgbClr val="FCECEF"/>
            </a:solidFill>
            <a:prstDash val="solid"/>
          </a:ln>
        </p:spPr>
      </p:sp>
      <p:sp>
        <p:nvSpPr>
          <p:cNvPr id="35" name="Text 33"/>
          <p:cNvSpPr/>
          <p:nvPr/>
        </p:nvSpPr>
        <p:spPr>
          <a:xfrm>
            <a:off x="621792" y="5893308"/>
            <a:ext cx="10936224" cy="347472"/>
          </a:xfrm>
          <a:prstGeom prst="rect">
            <a:avLst/>
          </a:prstGeom>
          <a:noFill/>
          <a:ln/>
        </p:spPr>
        <p:txBody>
          <a:bodyPr wrap="square" lIns="0" tIns="0" rIns="0" bIns="0" rtlCol="0" anchor="ctr"/>
          <a:lstStyle/>
          <a:p>
            <a:pPr algn="l" indent="0" marL="0">
              <a:buNone/>
            </a:pPr>
            <a:r>
              <a:rPr lang="en-US" sz="1300" b="1" dirty="0">
                <a:solidFill>
                  <a:srgbClr val="E31837"/>
                </a:solidFill>
                <a:latin typeface="Arial" pitchFamily="34" charset="0"/>
                <a:ea typeface="Arial" pitchFamily="34" charset="-122"/>
                <a:cs typeface="Arial" pitchFamily="34" charset="-120"/>
              </a:rPr>
              <a:t>429 = policy/quota rejection. 503 = no safe serving capacity. Global budgets cannot be enforced by per-Pod counters alone.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E31837"/>
          </a:solidFill>
          <a:ln w="10160">
            <a:solidFill>
              <a:srgbClr val="E31837"/>
            </a:solidFill>
            <a:prstDash val="solid"/>
          </a:ln>
        </p:spPr>
      </p:sp>
      <p:sp>
        <p:nvSpPr>
          <p:cNvPr id="3" name="Text 1"/>
          <p:cNvSpPr/>
          <p:nvPr/>
        </p:nvSpPr>
        <p:spPr>
          <a:xfrm>
            <a:off x="457200" y="228600"/>
            <a:ext cx="1645920" cy="228600"/>
          </a:xfrm>
          <a:prstGeom prst="rect">
            <a:avLst/>
          </a:prstGeom>
          <a:noFill/>
          <a:ln/>
        </p:spPr>
        <p:txBody>
          <a:bodyPr wrap="square" lIns="0" tIns="0" rIns="0" bIns="0" rtlCol="0" anchor="ctr"/>
          <a:lstStyle/>
          <a:p>
            <a:pPr algn="l" indent="0" marL="0">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4" name="Text 2"/>
          <p:cNvSpPr/>
          <p:nvPr/>
        </p:nvSpPr>
        <p:spPr>
          <a:xfrm>
            <a:off x="1965960" y="256032"/>
            <a:ext cx="9144000" cy="182880"/>
          </a:xfrm>
          <a:prstGeom prst="rect">
            <a:avLst/>
          </a:prstGeom>
          <a:noFill/>
          <a:ln/>
        </p:spPr>
        <p:txBody>
          <a:bodyPr wrap="square" lIns="0" tIns="0" rIns="0" bIns="0" rtlCol="0" anchor="ctr"/>
          <a:lstStyle/>
          <a:p>
            <a:pPr algn="l" indent="0" marL="0">
              <a:buNone/>
            </a:pPr>
            <a:r>
              <a:rPr lang="en-US" sz="1050" b="1" dirty="0">
                <a:solidFill>
                  <a:srgbClr val="5B6169"/>
                </a:solidFill>
                <a:latin typeface="Arial" pitchFamily="34" charset="0"/>
                <a:ea typeface="Arial" pitchFamily="34" charset="-122"/>
                <a:cs typeface="Arial" pitchFamily="34" charset="-120"/>
              </a:rPr>
              <a:t>ATMOS  /  A6 / RUNTIME + MEMORY</a:t>
            </a:r>
            <a:endParaRPr lang="en-US" sz="1050" dirty="0"/>
          </a:p>
        </p:txBody>
      </p:sp>
      <p:sp>
        <p:nvSpPr>
          <p:cNvPr id="5" name="Text 3"/>
          <p:cNvSpPr/>
          <p:nvPr/>
        </p:nvSpPr>
        <p:spPr>
          <a:xfrm>
            <a:off x="475488" y="758952"/>
            <a:ext cx="11201400" cy="493776"/>
          </a:xfrm>
          <a:prstGeom prst="rect">
            <a:avLst/>
          </a:prstGeom>
          <a:noFill/>
          <a:ln/>
        </p:spPr>
        <p:txBody>
          <a:bodyPr wrap="square" lIns="0" tIns="0" rIns="0" bIns="0" rtlCol="0" anchor="ctr"/>
          <a:lstStyle/>
          <a:p>
            <a:pPr algn="l" indent="0" marL="0">
              <a:buNone/>
            </a:pPr>
            <a:r>
              <a:rPr lang="en-US" sz="2750" b="1" dirty="0">
                <a:solidFill>
                  <a:srgbClr val="18191D"/>
                </a:solidFill>
                <a:latin typeface="Arial" pitchFamily="34" charset="0"/>
                <a:ea typeface="Arial" pitchFamily="34" charset="-122"/>
                <a:cs typeface="Arial" pitchFamily="34" charset="-120"/>
              </a:rPr>
              <a:t>Keep code, model artifacts and customer data separate.</a:t>
            </a:r>
            <a:endParaRPr lang="en-US" sz="2750" dirty="0"/>
          </a:p>
        </p:txBody>
      </p:sp>
      <p:sp>
        <p:nvSpPr>
          <p:cNvPr id="6" name="Text 4"/>
          <p:cNvSpPr/>
          <p:nvPr/>
        </p:nvSpPr>
        <p:spPr>
          <a:xfrm>
            <a:off x="502920" y="1298448"/>
            <a:ext cx="11064240" cy="411480"/>
          </a:xfrm>
          <a:prstGeom prst="rect">
            <a:avLst/>
          </a:prstGeom>
          <a:noFill/>
          <a:ln/>
        </p:spPr>
        <p:txBody>
          <a:bodyPr wrap="square" lIns="0" tIns="0" rIns="0" bIns="0" rtlCol="0" anchor="ctr"/>
          <a:lstStyle/>
          <a:p>
            <a:pPr algn="l" indent="0" marL="0">
              <a:buNone/>
            </a:pPr>
            <a:r>
              <a:rPr lang="en-US" sz="1350" dirty="0">
                <a:solidFill>
                  <a:srgbClr val="5B6169"/>
                </a:solidFill>
                <a:latin typeface="Arial" pitchFamily="34" charset="0"/>
                <a:ea typeface="Arial" pitchFamily="34" charset="-122"/>
                <a:cs typeface="Arial" pitchFamily="34" charset="-120"/>
              </a:rPr>
              <a:t>The native ATMOS backend owns its full certified execution path; vLLM is an integration option, not the NPU implementation.</a:t>
            </a:r>
            <a:endParaRPr lang="en-US" sz="1350" dirty="0"/>
          </a:p>
        </p:txBody>
      </p:sp>
      <p:sp>
        <p:nvSpPr>
          <p:cNvPr id="7" name="Shape 5"/>
          <p:cNvSpPr/>
          <p:nvPr/>
        </p:nvSpPr>
        <p:spPr>
          <a:xfrm>
            <a:off x="484632" y="6464808"/>
            <a:ext cx="11237976" cy="0"/>
          </a:xfrm>
          <a:prstGeom prst="line">
            <a:avLst/>
          </a:prstGeom>
          <a:noFill/>
          <a:ln w="7620">
            <a:solidFill>
              <a:srgbClr val="D9DDE3"/>
            </a:solidFill>
            <a:prstDash val="solid"/>
            <a:headEnd type="none"/>
            <a:tailEnd type="none"/>
          </a:ln>
        </p:spPr>
      </p:sp>
      <p:sp>
        <p:nvSpPr>
          <p:cNvPr id="8" name="Text 6"/>
          <p:cNvSpPr/>
          <p:nvPr/>
        </p:nvSpPr>
        <p:spPr>
          <a:xfrm>
            <a:off x="512064" y="6547104"/>
            <a:ext cx="9418320" cy="164592"/>
          </a:xfrm>
          <a:prstGeom prst="rect">
            <a:avLst/>
          </a:prstGeom>
          <a:noFill/>
          <a:ln/>
        </p:spPr>
        <p:txBody>
          <a:bodyPr wrap="square" lIns="0" tIns="0" rIns="0" bIns="0" rtlCol="0" anchor="ctr"/>
          <a:lstStyle/>
          <a:p>
            <a:pPr algn="l" indent="0" marL="0">
              <a:buNone/>
            </a:pPr>
            <a:r>
              <a:rPr lang="en-US" sz="850" dirty="0">
                <a:solidFill>
                  <a:srgbClr val="5B6169"/>
                </a:solidFill>
                <a:latin typeface="Arial" pitchFamily="34" charset="0"/>
                <a:ea typeface="Arial" pitchFamily="34" charset="-122"/>
                <a:cs typeface="Arial" pitchFamily="34" charset="-120"/>
              </a:rPr>
              <a:t>TECHNICAL APPENDIX TO V3  •  6 OCT 2026  •  PROPOSED DESIGN / QUALIFICATION REQUIRED</a:t>
            </a:r>
            <a:endParaRPr lang="en-US" sz="850" dirty="0"/>
          </a:p>
        </p:txBody>
      </p:sp>
      <p:sp>
        <p:nvSpPr>
          <p:cNvPr id="9" name="Text 7"/>
          <p:cNvSpPr/>
          <p:nvPr/>
        </p:nvSpPr>
        <p:spPr>
          <a:xfrm>
            <a:off x="11219688" y="6519672"/>
            <a:ext cx="457200" cy="219456"/>
          </a:xfrm>
          <a:prstGeom prst="rect">
            <a:avLst/>
          </a:prstGeom>
          <a:noFill/>
          <a:ln/>
        </p:spPr>
        <p:txBody>
          <a:bodyPr wrap="square" lIns="0" tIns="0" rIns="0" bIns="0" rtlCol="0" anchor="ctr"/>
          <a:lstStyle/>
          <a:p>
            <a:pPr algn="r" indent="0" marL="0">
              <a:buNone/>
            </a:pPr>
            <a:r>
              <a:rPr lang="en-US" sz="1000" b="1" dirty="0">
                <a:solidFill>
                  <a:srgbClr val="E31837"/>
                </a:solidFill>
                <a:latin typeface="Arial" pitchFamily="34" charset="0"/>
                <a:ea typeface="Arial" pitchFamily="34" charset="-122"/>
                <a:cs typeface="Arial" pitchFamily="34" charset="-120"/>
              </a:rPr>
              <a:t>07</a:t>
            </a:r>
            <a:endParaRPr lang="en-US" sz="1000" dirty="0"/>
          </a:p>
        </p:txBody>
      </p:sp>
      <p:sp>
        <p:nvSpPr>
          <p:cNvPr id="10" name="Text 8">
            <a:hlinkClick r:id="rId1" tooltip=""/>
          </p:cNvPr>
          <p:cNvSpPr/>
          <p:nvPr/>
        </p:nvSpPr>
        <p:spPr>
          <a:xfrm>
            <a:off x="9875520" y="237744"/>
            <a:ext cx="1828800" cy="219456"/>
          </a:xfrm>
          <a:prstGeom prst="rect">
            <a:avLst/>
          </a:prstGeom>
          <a:noFill/>
          <a:ln/>
        </p:spPr>
        <p:txBody>
          <a:bodyPr wrap="square" lIns="0" tIns="0" rIns="0" bIns="0" rtlCol="0" anchor="ctr"/>
          <a:lstStyle/>
          <a:p>
            <a:pPr algn="r" indent="0" marL="0">
              <a:buNone/>
            </a:pPr>
            <a:r>
              <a:rPr lang="en-US" sz="1000"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technical notes</a:t>
            </a:r>
            <a:endParaRPr lang="en-US" sz="1000" dirty="0"/>
          </a:p>
        </p:txBody>
      </p:sp>
      <p:sp>
        <p:nvSpPr>
          <p:cNvPr id="11" name="Shape 9"/>
          <p:cNvSpPr/>
          <p:nvPr/>
        </p:nvSpPr>
        <p:spPr>
          <a:xfrm>
            <a:off x="585216" y="1920240"/>
            <a:ext cx="3182112" cy="932688"/>
          </a:xfrm>
          <a:prstGeom prst="rect">
            <a:avLst/>
          </a:prstGeom>
          <a:solidFill>
            <a:srgbClr val="F3F4F6"/>
          </a:solidFill>
          <a:ln w="10160">
            <a:solidFill>
              <a:srgbClr val="F3F4F6"/>
            </a:solidFill>
            <a:prstDash val="solid"/>
          </a:ln>
        </p:spPr>
      </p:sp>
      <p:sp>
        <p:nvSpPr>
          <p:cNvPr id="12" name="Text 10"/>
          <p:cNvSpPr/>
          <p:nvPr/>
        </p:nvSpPr>
        <p:spPr>
          <a:xfrm>
            <a:off x="694944" y="1993392"/>
            <a:ext cx="2962656"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Runtime container image</a:t>
            </a:r>
            <a:endParaRPr lang="en-US" sz="1450" dirty="0"/>
          </a:p>
        </p:txBody>
      </p:sp>
      <p:sp>
        <p:nvSpPr>
          <p:cNvPr id="13" name="Text 11"/>
          <p:cNvSpPr/>
          <p:nvPr/>
        </p:nvSpPr>
        <p:spPr>
          <a:xfrm>
            <a:off x="694944" y="2359152"/>
            <a:ext cx="2962656" cy="429768"/>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API / worker / compiler-compatible libraries</a:t>
            </a:r>
            <a:endParaRPr lang="en-US" sz="1250" dirty="0"/>
          </a:p>
        </p:txBody>
      </p:sp>
      <p:sp>
        <p:nvSpPr>
          <p:cNvPr id="14" name="Shape 12"/>
          <p:cNvSpPr/>
          <p:nvPr/>
        </p:nvSpPr>
        <p:spPr>
          <a:xfrm>
            <a:off x="585216" y="3108960"/>
            <a:ext cx="3182112" cy="1069848"/>
          </a:xfrm>
          <a:prstGeom prst="rect">
            <a:avLst/>
          </a:prstGeom>
          <a:solidFill>
            <a:srgbClr val="FCECEF"/>
          </a:solidFill>
          <a:ln w="10160">
            <a:solidFill>
              <a:srgbClr val="FCECEF"/>
            </a:solidFill>
            <a:prstDash val="solid"/>
          </a:ln>
        </p:spPr>
      </p:sp>
      <p:sp>
        <p:nvSpPr>
          <p:cNvPr id="15" name="Text 13"/>
          <p:cNvSpPr/>
          <p:nvPr/>
        </p:nvSpPr>
        <p:spPr>
          <a:xfrm>
            <a:off x="694944" y="3182112"/>
            <a:ext cx="2962656"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Signed ModelPack</a:t>
            </a:r>
            <a:endParaRPr lang="en-US" sz="1450" dirty="0"/>
          </a:p>
        </p:txBody>
      </p:sp>
      <p:sp>
        <p:nvSpPr>
          <p:cNvPr id="16" name="Text 14"/>
          <p:cNvSpPr/>
          <p:nvPr/>
        </p:nvSpPr>
        <p:spPr>
          <a:xfrm>
            <a:off x="694944" y="3547872"/>
            <a:ext cx="2962656" cy="566928"/>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Weights + tokenizer + NPU program</a:t>
            </a:r>
            <a:endParaRPr lang="en-US" sz="1250" dirty="0"/>
          </a:p>
          <a:p>
            <a:pPr algn="l" indent="0" marL="0">
              <a:buNone/>
            </a:pPr>
            <a:r>
              <a:rPr lang="en-US" sz="1250" dirty="0">
                <a:solidFill>
                  <a:srgbClr val="5B6169"/>
                </a:solidFill>
                <a:latin typeface="Arial" pitchFamily="34" charset="0"/>
                <a:ea typeface="Arial" pitchFamily="34" charset="-122"/>
                <a:cs typeface="Arial" pitchFamily="34" charset="-120"/>
              </a:rPr>
              <a:t>Memory plan + API / quality envelope</a:t>
            </a:r>
            <a:endParaRPr lang="en-US" sz="1250" dirty="0"/>
          </a:p>
        </p:txBody>
      </p:sp>
      <p:sp>
        <p:nvSpPr>
          <p:cNvPr id="17" name="Shape 15"/>
          <p:cNvSpPr/>
          <p:nvPr/>
        </p:nvSpPr>
        <p:spPr>
          <a:xfrm>
            <a:off x="585216" y="4434840"/>
            <a:ext cx="3182112" cy="960120"/>
          </a:xfrm>
          <a:prstGeom prst="rect">
            <a:avLst/>
          </a:prstGeom>
          <a:solidFill>
            <a:srgbClr val="F3F4F6"/>
          </a:solidFill>
          <a:ln w="10160">
            <a:solidFill>
              <a:srgbClr val="F3F4F6"/>
            </a:solidFill>
            <a:prstDash val="solid"/>
          </a:ln>
        </p:spPr>
      </p:sp>
      <p:sp>
        <p:nvSpPr>
          <p:cNvPr id="18" name="Text 16"/>
          <p:cNvSpPr/>
          <p:nvPr/>
        </p:nvSpPr>
        <p:spPr>
          <a:xfrm>
            <a:off x="694944" y="4507992"/>
            <a:ext cx="2962656"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Customer data generation</a:t>
            </a:r>
            <a:endParaRPr lang="en-US" sz="1450" dirty="0"/>
          </a:p>
        </p:txBody>
      </p:sp>
      <p:sp>
        <p:nvSpPr>
          <p:cNvPr id="19" name="Text 17"/>
          <p:cNvSpPr/>
          <p:nvPr/>
        </p:nvSpPr>
        <p:spPr>
          <a:xfrm>
            <a:off x="694944" y="4873752"/>
            <a:ext cx="2962656" cy="457200"/>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Source documents + ACLs + indexes</a:t>
            </a:r>
            <a:endParaRPr lang="en-US" sz="1250" dirty="0"/>
          </a:p>
        </p:txBody>
      </p:sp>
      <p:sp>
        <p:nvSpPr>
          <p:cNvPr id="20" name="Shape 18"/>
          <p:cNvSpPr/>
          <p:nvPr/>
        </p:nvSpPr>
        <p:spPr>
          <a:xfrm>
            <a:off x="4315968" y="1920240"/>
            <a:ext cx="7269480" cy="3474720"/>
          </a:xfrm>
          <a:prstGeom prst="rect">
            <a:avLst/>
          </a:prstGeom>
          <a:solidFill>
            <a:srgbClr val="F3F4F6"/>
          </a:solidFill>
          <a:ln w="10160">
            <a:solidFill>
              <a:srgbClr val="F3F4F6"/>
            </a:solidFill>
            <a:prstDash val="solid"/>
          </a:ln>
        </p:spPr>
      </p:sp>
      <p:sp>
        <p:nvSpPr>
          <p:cNvPr id="21" name="Shape 19"/>
          <p:cNvSpPr/>
          <p:nvPr/>
        </p:nvSpPr>
        <p:spPr>
          <a:xfrm>
            <a:off x="4498848" y="2084832"/>
            <a:ext cx="3968496" cy="301752"/>
          </a:xfrm>
          <a:prstGeom prst="rect">
            <a:avLst>
              <a:gd name="adj" fmla="val 303030"/>
            </a:avLst>
          </a:prstGeom>
          <a:solidFill>
            <a:srgbClr val="FCECEF"/>
          </a:solidFill>
          <a:ln w="10160">
            <a:solidFill>
              <a:srgbClr val="FCECEF"/>
            </a:solidFill>
            <a:prstDash val="solid"/>
          </a:ln>
        </p:spPr>
      </p:sp>
      <p:sp>
        <p:nvSpPr>
          <p:cNvPr id="22" name="Text 20"/>
          <p:cNvSpPr/>
          <p:nvPr/>
        </p:nvSpPr>
        <p:spPr>
          <a:xfrm>
            <a:off x="4590288" y="2107692"/>
            <a:ext cx="3785616" cy="256032"/>
          </a:xfrm>
          <a:prstGeom prst="rect">
            <a:avLst/>
          </a:prstGeom>
          <a:noFill/>
          <a:ln/>
        </p:spPr>
        <p:txBody>
          <a:bodyPr wrap="square" lIns="0" tIns="0" rIns="0" bIns="0" rtlCol="0" anchor="ctr"/>
          <a:lstStyle/>
          <a:p>
            <a:pPr algn="l" indent="0" marL="0">
              <a:buNone/>
            </a:pPr>
            <a:r>
              <a:rPr lang="en-US" sz="1030" b="1" dirty="0">
                <a:solidFill>
                  <a:srgbClr val="E31837"/>
                </a:solidFill>
                <a:latin typeface="Arial" pitchFamily="34" charset="0"/>
                <a:ea typeface="Arial" pitchFamily="34" charset="-122"/>
                <a:cs typeface="Arial" pitchFamily="34" charset="-120"/>
              </a:rPr>
              <a:t>CERTIFIED WORKER + DEVICE GROUP</a:t>
            </a:r>
            <a:endParaRPr lang="en-US" sz="1030" dirty="0"/>
          </a:p>
        </p:txBody>
      </p:sp>
      <p:sp>
        <p:nvSpPr>
          <p:cNvPr id="23" name="Shape 21"/>
          <p:cNvSpPr/>
          <p:nvPr/>
        </p:nvSpPr>
        <p:spPr>
          <a:xfrm>
            <a:off x="4544568" y="2688336"/>
            <a:ext cx="6793992" cy="795528"/>
          </a:xfrm>
          <a:prstGeom prst="rect">
            <a:avLst/>
          </a:prstGeom>
          <a:solidFill>
            <a:srgbClr val="FFFFFF"/>
          </a:solidFill>
          <a:ln w="10160">
            <a:solidFill>
              <a:srgbClr val="FFFFFF"/>
            </a:solidFill>
            <a:prstDash val="solid"/>
          </a:ln>
        </p:spPr>
      </p:sp>
      <p:sp>
        <p:nvSpPr>
          <p:cNvPr id="24" name="Text 22"/>
          <p:cNvSpPr/>
          <p:nvPr/>
        </p:nvSpPr>
        <p:spPr>
          <a:xfrm>
            <a:off x="4654296" y="2761488"/>
            <a:ext cx="6574536"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Serving runtime / optional vLLM platform backend</a:t>
            </a:r>
            <a:endParaRPr lang="en-US" sz="1450" dirty="0"/>
          </a:p>
        </p:txBody>
      </p:sp>
      <p:sp>
        <p:nvSpPr>
          <p:cNvPr id="25" name="Text 23"/>
          <p:cNvSpPr/>
          <p:nvPr/>
        </p:nvSpPr>
        <p:spPr>
          <a:xfrm>
            <a:off x="4654296" y="3127248"/>
            <a:ext cx="6574536" cy="292608"/>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Load pack → allocate state → execute → return / cancel</a:t>
            </a:r>
            <a:endParaRPr lang="en-US" sz="1250" dirty="0"/>
          </a:p>
        </p:txBody>
      </p:sp>
      <p:sp>
        <p:nvSpPr>
          <p:cNvPr id="26" name="Shape 24"/>
          <p:cNvSpPr/>
          <p:nvPr/>
        </p:nvSpPr>
        <p:spPr>
          <a:xfrm>
            <a:off x="4544568" y="3749040"/>
            <a:ext cx="1993392" cy="1280160"/>
          </a:xfrm>
          <a:prstGeom prst="rect">
            <a:avLst/>
          </a:prstGeom>
          <a:solidFill>
            <a:srgbClr val="18191D"/>
          </a:solidFill>
          <a:ln w="10160">
            <a:solidFill>
              <a:srgbClr val="18191D"/>
            </a:solidFill>
            <a:prstDash val="solid"/>
          </a:ln>
        </p:spPr>
      </p:sp>
      <p:sp>
        <p:nvSpPr>
          <p:cNvPr id="27" name="Text 25"/>
          <p:cNvSpPr/>
          <p:nvPr/>
        </p:nvSpPr>
        <p:spPr>
          <a:xfrm>
            <a:off x="4654296" y="3822192"/>
            <a:ext cx="1773936" cy="301752"/>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HBF</a:t>
            </a:r>
            <a:endParaRPr lang="en-US" sz="1450" dirty="0"/>
          </a:p>
        </p:txBody>
      </p:sp>
      <p:sp>
        <p:nvSpPr>
          <p:cNvPr id="28" name="Text 26"/>
          <p:cNvSpPr/>
          <p:nvPr/>
        </p:nvSpPr>
        <p:spPr>
          <a:xfrm>
            <a:off x="4654296" y="4187952"/>
            <a:ext cx="1773936" cy="777240"/>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Resident model /</a:t>
            </a:r>
            <a:endParaRPr lang="en-US" sz="1250" dirty="0"/>
          </a:p>
          <a:p>
            <a:pPr algn="l" indent="0" marL="0">
              <a:buNone/>
            </a:pPr>
            <a:r>
              <a:rPr lang="en-US" sz="1250" dirty="0">
                <a:solidFill>
                  <a:srgbClr val="FFFFFF"/>
                </a:solidFill>
                <a:latin typeface="Arial" pitchFamily="34" charset="0"/>
                <a:ea typeface="Arial" pitchFamily="34" charset="-122"/>
                <a:cs typeface="Arial" pitchFamily="34" charset="-120"/>
              </a:rPr>
              <a:t>certified data</a:t>
            </a:r>
            <a:endParaRPr lang="en-US" sz="1250" dirty="0"/>
          </a:p>
        </p:txBody>
      </p:sp>
      <p:sp>
        <p:nvSpPr>
          <p:cNvPr id="29" name="Shape 27"/>
          <p:cNvSpPr/>
          <p:nvPr/>
        </p:nvSpPr>
        <p:spPr>
          <a:xfrm>
            <a:off x="6839712" y="3749040"/>
            <a:ext cx="1993392" cy="1280160"/>
          </a:xfrm>
          <a:prstGeom prst="rect">
            <a:avLst/>
          </a:prstGeom>
          <a:solidFill>
            <a:srgbClr val="E31837"/>
          </a:solidFill>
          <a:ln w="10160">
            <a:solidFill>
              <a:srgbClr val="E31837"/>
            </a:solidFill>
            <a:prstDash val="solid"/>
          </a:ln>
        </p:spPr>
      </p:sp>
      <p:sp>
        <p:nvSpPr>
          <p:cNvPr id="30" name="Text 28"/>
          <p:cNvSpPr/>
          <p:nvPr/>
        </p:nvSpPr>
        <p:spPr>
          <a:xfrm>
            <a:off x="6949440" y="3822192"/>
            <a:ext cx="1773936" cy="301752"/>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LPDDR / SRAM</a:t>
            </a:r>
            <a:endParaRPr lang="en-US" sz="1450" dirty="0"/>
          </a:p>
        </p:txBody>
      </p:sp>
      <p:sp>
        <p:nvSpPr>
          <p:cNvPr id="31" name="Text 29"/>
          <p:cNvSpPr/>
          <p:nvPr/>
        </p:nvSpPr>
        <p:spPr>
          <a:xfrm>
            <a:off x="6949440" y="4187952"/>
            <a:ext cx="1773936" cy="777240"/>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Active KV / tiles</a:t>
            </a:r>
            <a:endParaRPr lang="en-US" sz="1250" dirty="0"/>
          </a:p>
          <a:p>
            <a:pPr algn="l" indent="0" marL="0">
              <a:buNone/>
            </a:pPr>
            <a:r>
              <a:rPr lang="en-US" sz="1250" dirty="0">
                <a:solidFill>
                  <a:srgbClr val="FFFFFF"/>
                </a:solidFill>
                <a:latin typeface="Arial" pitchFamily="34" charset="0"/>
                <a:ea typeface="Arial" pitchFamily="34" charset="-122"/>
                <a:cs typeface="Arial" pitchFamily="34" charset="-120"/>
              </a:rPr>
              <a:t>Buffers / scratch</a:t>
            </a:r>
            <a:endParaRPr lang="en-US" sz="1250" dirty="0"/>
          </a:p>
        </p:txBody>
      </p:sp>
      <p:sp>
        <p:nvSpPr>
          <p:cNvPr id="32" name="Shape 30"/>
          <p:cNvSpPr/>
          <p:nvPr/>
        </p:nvSpPr>
        <p:spPr>
          <a:xfrm>
            <a:off x="9144000" y="3749040"/>
            <a:ext cx="2185416" cy="1280160"/>
          </a:xfrm>
          <a:prstGeom prst="rect">
            <a:avLst/>
          </a:prstGeom>
          <a:solidFill>
            <a:srgbClr val="18191D"/>
          </a:solidFill>
          <a:ln w="10160">
            <a:solidFill>
              <a:srgbClr val="18191D"/>
            </a:solidFill>
            <a:prstDash val="solid"/>
          </a:ln>
        </p:spPr>
      </p:sp>
      <p:sp>
        <p:nvSpPr>
          <p:cNvPr id="33" name="Text 31"/>
          <p:cNvSpPr/>
          <p:nvPr/>
        </p:nvSpPr>
        <p:spPr>
          <a:xfrm>
            <a:off x="9253728" y="3822192"/>
            <a:ext cx="1965960" cy="301752"/>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NPU</a:t>
            </a:r>
            <a:endParaRPr lang="en-US" sz="1450" dirty="0"/>
          </a:p>
        </p:txBody>
      </p:sp>
      <p:sp>
        <p:nvSpPr>
          <p:cNvPr id="34" name="Text 32"/>
          <p:cNvSpPr/>
          <p:nvPr/>
        </p:nvSpPr>
        <p:spPr>
          <a:xfrm>
            <a:off x="9253728" y="4187952"/>
            <a:ext cx="1965960" cy="777240"/>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Certified operators</a:t>
            </a:r>
            <a:endParaRPr lang="en-US" sz="1250" dirty="0"/>
          </a:p>
          <a:p>
            <a:pPr algn="l" indent="0" marL="0">
              <a:buNone/>
            </a:pPr>
            <a:r>
              <a:rPr lang="en-US" sz="1250" dirty="0">
                <a:solidFill>
                  <a:srgbClr val="FFFFFF"/>
                </a:solidFill>
                <a:latin typeface="Arial" pitchFamily="34" charset="0"/>
                <a:ea typeface="Arial" pitchFamily="34" charset="-122"/>
                <a:cs typeface="Arial" pitchFamily="34" charset="-120"/>
              </a:rPr>
              <a:t>Native collectives</a:t>
            </a:r>
            <a:endParaRPr lang="en-US" sz="1250" dirty="0"/>
          </a:p>
        </p:txBody>
      </p:sp>
      <p:sp>
        <p:nvSpPr>
          <p:cNvPr id="35" name="Shape 33"/>
          <p:cNvSpPr/>
          <p:nvPr/>
        </p:nvSpPr>
        <p:spPr>
          <a:xfrm>
            <a:off x="3767328" y="2386584"/>
            <a:ext cx="758952" cy="612648"/>
          </a:xfrm>
          <a:prstGeom prst="line">
            <a:avLst/>
          </a:prstGeom>
          <a:noFill/>
          <a:ln w="19050">
            <a:solidFill>
              <a:srgbClr val="E31837"/>
            </a:solidFill>
            <a:prstDash val="solid"/>
            <a:headEnd type="none"/>
            <a:tailEnd type="triangle"/>
          </a:ln>
        </p:spPr>
      </p:sp>
      <p:sp>
        <p:nvSpPr>
          <p:cNvPr id="36" name="Shape 34"/>
          <p:cNvSpPr/>
          <p:nvPr/>
        </p:nvSpPr>
        <p:spPr>
          <a:xfrm>
            <a:off x="3767328" y="3639312"/>
            <a:ext cx="758952" cy="612648"/>
          </a:xfrm>
          <a:prstGeom prst="line">
            <a:avLst/>
          </a:prstGeom>
          <a:noFill/>
          <a:ln w="19050">
            <a:solidFill>
              <a:srgbClr val="E31837"/>
            </a:solidFill>
            <a:prstDash val="solid"/>
            <a:headEnd type="none"/>
            <a:tailEnd type="triangle"/>
          </a:ln>
        </p:spPr>
      </p:sp>
      <p:sp>
        <p:nvSpPr>
          <p:cNvPr id="37" name="Shape 35"/>
          <p:cNvSpPr/>
          <p:nvPr/>
        </p:nvSpPr>
        <p:spPr>
          <a:xfrm>
            <a:off x="3767328" y="4892040"/>
            <a:ext cx="448056" cy="0"/>
          </a:xfrm>
          <a:prstGeom prst="line">
            <a:avLst/>
          </a:prstGeom>
          <a:noFill/>
          <a:ln w="16510">
            <a:solidFill>
              <a:srgbClr val="5B6169"/>
            </a:solidFill>
            <a:prstDash val="dash"/>
            <a:headEnd type="none"/>
            <a:tailEnd type="triangle"/>
          </a:ln>
        </p:spPr>
      </p:sp>
      <p:sp>
        <p:nvSpPr>
          <p:cNvPr id="38" name="Text 36"/>
          <p:cNvSpPr/>
          <p:nvPr/>
        </p:nvSpPr>
        <p:spPr>
          <a:xfrm>
            <a:off x="2331720" y="5504688"/>
            <a:ext cx="5029200" cy="246888"/>
          </a:xfrm>
          <a:prstGeom prst="rect">
            <a:avLst/>
          </a:prstGeom>
          <a:noFill/>
          <a:ln/>
        </p:spPr>
        <p:txBody>
          <a:bodyPr wrap="square" lIns="0" tIns="0" rIns="0" bIns="0" rtlCol="0" anchor="ctr"/>
          <a:lstStyle/>
          <a:p>
            <a:pPr algn="l" indent="0" marL="0">
              <a:buNone/>
            </a:pPr>
            <a:r>
              <a:rPr lang="en-US" sz="1100" dirty="0">
                <a:solidFill>
                  <a:srgbClr val="5B6169"/>
                </a:solidFill>
                <a:latin typeface="Arial" pitchFamily="34" charset="0"/>
                <a:ea typeface="Arial" pitchFamily="34" charset="-122"/>
                <a:cs typeface="Arial" pitchFamily="34" charset="-120"/>
              </a:rPr>
              <a:t>CPU indexes / storage</a:t>
            </a:r>
            <a:endParaRPr lang="en-US" sz="1100" dirty="0"/>
          </a:p>
          <a:p>
            <a:pPr algn="l" indent="0" marL="0">
              <a:buNone/>
            </a:pPr>
            <a:r>
              <a:rPr lang="en-US" sz="1100" dirty="0">
                <a:solidFill>
                  <a:srgbClr val="5B6169"/>
                </a:solidFill>
                <a:latin typeface="Arial" pitchFamily="34" charset="0"/>
                <a:ea typeface="Arial" pitchFamily="34" charset="-122"/>
                <a:cs typeface="Arial" pitchFamily="34" charset="-120"/>
              </a:rPr>
              <a:t>—not automatic HBF load</a:t>
            </a:r>
            <a:endParaRPr lang="en-US" sz="1100" dirty="0"/>
          </a:p>
        </p:txBody>
      </p:sp>
      <p:sp>
        <p:nvSpPr>
          <p:cNvPr id="39" name="Shape 37"/>
          <p:cNvSpPr/>
          <p:nvPr/>
        </p:nvSpPr>
        <p:spPr>
          <a:xfrm>
            <a:off x="475488" y="5843016"/>
            <a:ext cx="11228832" cy="457200"/>
          </a:xfrm>
          <a:prstGeom prst="rect">
            <a:avLst/>
          </a:prstGeom>
          <a:solidFill>
            <a:srgbClr val="FCECEF"/>
          </a:solidFill>
          <a:ln w="10160">
            <a:solidFill>
              <a:srgbClr val="FCECEF"/>
            </a:solidFill>
            <a:prstDash val="solid"/>
          </a:ln>
        </p:spPr>
      </p:sp>
      <p:sp>
        <p:nvSpPr>
          <p:cNvPr id="40" name="Text 38"/>
          <p:cNvSpPr/>
          <p:nvPr/>
        </p:nvSpPr>
        <p:spPr>
          <a:xfrm>
            <a:off x="621792" y="5893308"/>
            <a:ext cx="10936224" cy="347472"/>
          </a:xfrm>
          <a:prstGeom prst="rect">
            <a:avLst/>
          </a:prstGeom>
          <a:noFill/>
          <a:ln/>
        </p:spPr>
        <p:txBody>
          <a:bodyPr wrap="square" lIns="0" tIns="0" rIns="0" bIns="0" rtlCol="0" anchor="ctr"/>
          <a:lstStyle/>
          <a:p>
            <a:pPr algn="l" indent="0" marL="0">
              <a:buNone/>
            </a:pPr>
            <a:r>
              <a:rPr lang="en-US" sz="1300" b="1" dirty="0">
                <a:solidFill>
                  <a:srgbClr val="E31837"/>
                </a:solidFill>
                <a:latin typeface="Arial" pitchFamily="34" charset="0"/>
                <a:ea typeface="Arial" pitchFamily="34" charset="-122"/>
                <a:cs typeface="Arial" pitchFamily="34" charset="-120"/>
              </a:rPr>
              <a:t>A ModelPack that fits in HBF is not enough: attention, KV, runtime operators, topology and API behavior must also be certified.</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E31837"/>
          </a:solidFill>
          <a:ln w="10160">
            <a:solidFill>
              <a:srgbClr val="E31837"/>
            </a:solidFill>
            <a:prstDash val="solid"/>
          </a:ln>
        </p:spPr>
      </p:sp>
      <p:sp>
        <p:nvSpPr>
          <p:cNvPr id="3" name="Text 1"/>
          <p:cNvSpPr/>
          <p:nvPr/>
        </p:nvSpPr>
        <p:spPr>
          <a:xfrm>
            <a:off x="457200" y="228600"/>
            <a:ext cx="1645920" cy="228600"/>
          </a:xfrm>
          <a:prstGeom prst="rect">
            <a:avLst/>
          </a:prstGeom>
          <a:noFill/>
          <a:ln/>
        </p:spPr>
        <p:txBody>
          <a:bodyPr wrap="square" lIns="0" tIns="0" rIns="0" bIns="0" rtlCol="0" anchor="ctr"/>
          <a:lstStyle/>
          <a:p>
            <a:pPr algn="l" indent="0" marL="0">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4" name="Text 2"/>
          <p:cNvSpPr/>
          <p:nvPr/>
        </p:nvSpPr>
        <p:spPr>
          <a:xfrm>
            <a:off x="1965960" y="256032"/>
            <a:ext cx="9144000" cy="182880"/>
          </a:xfrm>
          <a:prstGeom prst="rect">
            <a:avLst/>
          </a:prstGeom>
          <a:noFill/>
          <a:ln/>
        </p:spPr>
        <p:txBody>
          <a:bodyPr wrap="square" lIns="0" tIns="0" rIns="0" bIns="0" rtlCol="0" anchor="ctr"/>
          <a:lstStyle/>
          <a:p>
            <a:pPr algn="l" indent="0" marL="0">
              <a:buNone/>
            </a:pPr>
            <a:r>
              <a:rPr lang="en-US" sz="1050" b="1" dirty="0">
                <a:solidFill>
                  <a:srgbClr val="5B6169"/>
                </a:solidFill>
                <a:latin typeface="Arial" pitchFamily="34" charset="0"/>
                <a:ea typeface="Arial" pitchFamily="34" charset="-122"/>
                <a:cs typeface="Arial" pitchFamily="34" charset="-120"/>
              </a:rPr>
              <a:t>ATMOS  /  A7 / ENTERPRISE HA</a:t>
            </a:r>
            <a:endParaRPr lang="en-US" sz="1050" dirty="0"/>
          </a:p>
        </p:txBody>
      </p:sp>
      <p:sp>
        <p:nvSpPr>
          <p:cNvPr id="5" name="Text 3"/>
          <p:cNvSpPr/>
          <p:nvPr/>
        </p:nvSpPr>
        <p:spPr>
          <a:xfrm>
            <a:off x="475488" y="758952"/>
            <a:ext cx="11201400" cy="493776"/>
          </a:xfrm>
          <a:prstGeom prst="rect">
            <a:avLst/>
          </a:prstGeom>
          <a:noFill/>
          <a:ln/>
        </p:spPr>
        <p:txBody>
          <a:bodyPr wrap="square" lIns="0" tIns="0" rIns="0" bIns="0" rtlCol="0" anchor="ctr"/>
          <a:lstStyle/>
          <a:p>
            <a:pPr algn="l" indent="0" marL="0">
              <a:buNone/>
            </a:pPr>
            <a:r>
              <a:rPr lang="en-US" sz="2750" b="1" dirty="0">
                <a:solidFill>
                  <a:srgbClr val="18191D"/>
                </a:solidFill>
                <a:latin typeface="Arial" pitchFamily="34" charset="0"/>
                <a:ea typeface="Arial" pitchFamily="34" charset="-122"/>
                <a:cs typeface="Arial" pitchFamily="34" charset="-120"/>
              </a:rPr>
              <a:t>Protect serving, control and durable data independently.</a:t>
            </a:r>
            <a:endParaRPr lang="en-US" sz="2750" dirty="0"/>
          </a:p>
        </p:txBody>
      </p:sp>
      <p:sp>
        <p:nvSpPr>
          <p:cNvPr id="6" name="Text 4"/>
          <p:cNvSpPr/>
          <p:nvPr/>
        </p:nvSpPr>
        <p:spPr>
          <a:xfrm>
            <a:off x="502920" y="1298448"/>
            <a:ext cx="11064240" cy="411480"/>
          </a:xfrm>
          <a:prstGeom prst="rect">
            <a:avLst/>
          </a:prstGeom>
          <a:noFill/>
          <a:ln/>
        </p:spPr>
        <p:txBody>
          <a:bodyPr wrap="square" lIns="0" tIns="0" rIns="0" bIns="0" rtlCol="0" anchor="ctr"/>
          <a:lstStyle/>
          <a:p>
            <a:pPr algn="l" indent="0" marL="0">
              <a:buNone/>
            </a:pPr>
            <a:r>
              <a:rPr lang="en-US" sz="1350" dirty="0">
                <a:solidFill>
                  <a:srgbClr val="5B6169"/>
                </a:solidFill>
                <a:latin typeface="Arial" pitchFamily="34" charset="0"/>
                <a:ea typeface="Arial" pitchFamily="34" charset="-122"/>
                <a:cs typeface="Arial" pitchFamily="34" charset="-120"/>
              </a:rPr>
              <a:t>Complete model groups and failure-reserve capacity—not redundant PSUs—make the service resilient.</a:t>
            </a:r>
            <a:endParaRPr lang="en-US" sz="1350" dirty="0"/>
          </a:p>
        </p:txBody>
      </p:sp>
      <p:sp>
        <p:nvSpPr>
          <p:cNvPr id="7" name="Shape 5"/>
          <p:cNvSpPr/>
          <p:nvPr/>
        </p:nvSpPr>
        <p:spPr>
          <a:xfrm>
            <a:off x="484632" y="6464808"/>
            <a:ext cx="11237976" cy="0"/>
          </a:xfrm>
          <a:prstGeom prst="line">
            <a:avLst/>
          </a:prstGeom>
          <a:noFill/>
          <a:ln w="7620">
            <a:solidFill>
              <a:srgbClr val="D9DDE3"/>
            </a:solidFill>
            <a:prstDash val="solid"/>
            <a:headEnd type="none"/>
            <a:tailEnd type="none"/>
          </a:ln>
        </p:spPr>
      </p:sp>
      <p:sp>
        <p:nvSpPr>
          <p:cNvPr id="8" name="Text 6"/>
          <p:cNvSpPr/>
          <p:nvPr/>
        </p:nvSpPr>
        <p:spPr>
          <a:xfrm>
            <a:off x="512064" y="6547104"/>
            <a:ext cx="9418320" cy="164592"/>
          </a:xfrm>
          <a:prstGeom prst="rect">
            <a:avLst/>
          </a:prstGeom>
          <a:noFill/>
          <a:ln/>
        </p:spPr>
        <p:txBody>
          <a:bodyPr wrap="square" lIns="0" tIns="0" rIns="0" bIns="0" rtlCol="0" anchor="ctr"/>
          <a:lstStyle/>
          <a:p>
            <a:pPr algn="l" indent="0" marL="0">
              <a:buNone/>
            </a:pPr>
            <a:r>
              <a:rPr lang="en-US" sz="850" dirty="0">
                <a:solidFill>
                  <a:srgbClr val="5B6169"/>
                </a:solidFill>
                <a:latin typeface="Arial" pitchFamily="34" charset="0"/>
                <a:ea typeface="Arial" pitchFamily="34" charset="-122"/>
                <a:cs typeface="Arial" pitchFamily="34" charset="-120"/>
              </a:rPr>
              <a:t>TECHNICAL APPENDIX TO V3  •  6 OCT 2026  •  PROPOSED DESIGN / QUALIFICATION REQUIRED</a:t>
            </a:r>
            <a:endParaRPr lang="en-US" sz="850" dirty="0"/>
          </a:p>
        </p:txBody>
      </p:sp>
      <p:sp>
        <p:nvSpPr>
          <p:cNvPr id="9" name="Text 7"/>
          <p:cNvSpPr/>
          <p:nvPr/>
        </p:nvSpPr>
        <p:spPr>
          <a:xfrm>
            <a:off x="11219688" y="6519672"/>
            <a:ext cx="457200" cy="219456"/>
          </a:xfrm>
          <a:prstGeom prst="rect">
            <a:avLst/>
          </a:prstGeom>
          <a:noFill/>
          <a:ln/>
        </p:spPr>
        <p:txBody>
          <a:bodyPr wrap="square" lIns="0" tIns="0" rIns="0" bIns="0" rtlCol="0" anchor="ctr"/>
          <a:lstStyle/>
          <a:p>
            <a:pPr algn="r" indent="0" marL="0">
              <a:buNone/>
            </a:pPr>
            <a:r>
              <a:rPr lang="en-US" sz="1000" b="1" dirty="0">
                <a:solidFill>
                  <a:srgbClr val="E31837"/>
                </a:solidFill>
                <a:latin typeface="Arial" pitchFamily="34" charset="0"/>
                <a:ea typeface="Arial" pitchFamily="34" charset="-122"/>
                <a:cs typeface="Arial" pitchFamily="34" charset="-120"/>
              </a:rPr>
              <a:t>08</a:t>
            </a:r>
            <a:endParaRPr lang="en-US" sz="1000" dirty="0"/>
          </a:p>
        </p:txBody>
      </p:sp>
      <p:sp>
        <p:nvSpPr>
          <p:cNvPr id="10" name="Text 8">
            <a:hlinkClick r:id="rId1" tooltip=""/>
          </p:cNvPr>
          <p:cNvSpPr/>
          <p:nvPr/>
        </p:nvSpPr>
        <p:spPr>
          <a:xfrm>
            <a:off x="9875520" y="237744"/>
            <a:ext cx="1828800" cy="219456"/>
          </a:xfrm>
          <a:prstGeom prst="rect">
            <a:avLst/>
          </a:prstGeom>
          <a:noFill/>
          <a:ln/>
        </p:spPr>
        <p:txBody>
          <a:bodyPr wrap="square" lIns="0" tIns="0" rIns="0" bIns="0" rtlCol="0" anchor="ctr"/>
          <a:lstStyle/>
          <a:p>
            <a:pPr algn="r" indent="0" marL="0">
              <a:buNone/>
            </a:pPr>
            <a:r>
              <a:rPr lang="en-US" sz="1000"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technical notes</a:t>
            </a:r>
            <a:endParaRPr lang="en-US" sz="1000" dirty="0"/>
          </a:p>
        </p:txBody>
      </p:sp>
      <p:sp>
        <p:nvSpPr>
          <p:cNvPr id="11" name="Shape 9"/>
          <p:cNvSpPr/>
          <p:nvPr/>
        </p:nvSpPr>
        <p:spPr>
          <a:xfrm>
            <a:off x="603504" y="1929384"/>
            <a:ext cx="7516368" cy="621792"/>
          </a:xfrm>
          <a:prstGeom prst="rect">
            <a:avLst/>
          </a:prstGeom>
          <a:solidFill>
            <a:srgbClr val="18191D"/>
          </a:solidFill>
          <a:ln w="10160">
            <a:solidFill>
              <a:srgbClr val="18191D"/>
            </a:solidFill>
            <a:prstDash val="solid"/>
          </a:ln>
        </p:spPr>
      </p:sp>
      <p:sp>
        <p:nvSpPr>
          <p:cNvPr id="12" name="Text 10"/>
          <p:cNvSpPr/>
          <p:nvPr/>
        </p:nvSpPr>
        <p:spPr>
          <a:xfrm>
            <a:off x="713232" y="2002536"/>
            <a:ext cx="7296912" cy="301752"/>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Redundant service ingress / ready-endpoint selection</a:t>
            </a:r>
            <a:endParaRPr lang="en-US" sz="1450" dirty="0"/>
          </a:p>
        </p:txBody>
      </p:sp>
      <p:sp>
        <p:nvSpPr>
          <p:cNvPr id="13" name="Shape 11"/>
          <p:cNvSpPr/>
          <p:nvPr/>
        </p:nvSpPr>
        <p:spPr>
          <a:xfrm>
            <a:off x="603504" y="2834640"/>
            <a:ext cx="2377440" cy="1289304"/>
          </a:xfrm>
          <a:prstGeom prst="rect">
            <a:avLst>
              <a:gd name="adj" fmla="val 70922"/>
            </a:avLst>
          </a:prstGeom>
          <a:solidFill>
            <a:srgbClr val="F3F4F6"/>
          </a:solidFill>
          <a:ln w="10160">
            <a:solidFill>
              <a:srgbClr val="F3F4F6"/>
            </a:solidFill>
            <a:prstDash val="solid"/>
          </a:ln>
        </p:spPr>
      </p:sp>
      <p:sp>
        <p:nvSpPr>
          <p:cNvPr id="14" name="Text 12"/>
          <p:cNvSpPr/>
          <p:nvPr/>
        </p:nvSpPr>
        <p:spPr>
          <a:xfrm>
            <a:off x="749808" y="2944368"/>
            <a:ext cx="2084832" cy="365760"/>
          </a:xfrm>
          <a:prstGeom prst="rect">
            <a:avLst/>
          </a:prstGeom>
          <a:noFill/>
          <a:ln/>
        </p:spPr>
        <p:txBody>
          <a:bodyPr wrap="square" lIns="0" tIns="0" rIns="0" bIns="0" rtlCol="0" anchor="ctr"/>
          <a:lstStyle/>
          <a:p>
            <a:pPr algn="l" indent="0" marL="0">
              <a:buNone/>
            </a:pPr>
            <a:r>
              <a:rPr lang="en-US" sz="1600" b="1" dirty="0">
                <a:solidFill>
                  <a:srgbClr val="18191D"/>
                </a:solidFill>
                <a:latin typeface="Arial" pitchFamily="34" charset="0"/>
                <a:ea typeface="Arial" pitchFamily="34" charset="-122"/>
                <a:cs typeface="Arial" pitchFamily="34" charset="-120"/>
              </a:rPr>
              <a:t>Serving node 1</a:t>
            </a:r>
            <a:endParaRPr lang="en-US" sz="1600" dirty="0"/>
          </a:p>
        </p:txBody>
      </p:sp>
      <p:sp>
        <p:nvSpPr>
          <p:cNvPr id="15" name="Text 13"/>
          <p:cNvSpPr/>
          <p:nvPr/>
        </p:nvSpPr>
        <p:spPr>
          <a:xfrm>
            <a:off x="749808" y="3401568"/>
            <a:ext cx="2084832" cy="612648"/>
          </a:xfrm>
          <a:prstGeom prst="rect">
            <a:avLst/>
          </a:prstGeom>
          <a:noFill/>
          <a:ln/>
        </p:spPr>
        <p:txBody>
          <a:bodyPr wrap="square" lIns="0" tIns="0" rIns="0" bIns="0" rtlCol="0" anchor="ctr"/>
          <a:lstStyle/>
          <a:p>
            <a:pPr algn="l" indent="0" marL="0">
              <a:buNone/>
            </a:pPr>
            <a:r>
              <a:rPr lang="en-US" sz="1310" dirty="0">
                <a:solidFill>
                  <a:srgbClr val="5B6169"/>
                </a:solidFill>
                <a:latin typeface="Arial" pitchFamily="34" charset="0"/>
                <a:ea typeface="Arial" pitchFamily="34" charset="-122"/>
                <a:cs typeface="Arial" pitchFamily="34" charset="-120"/>
              </a:rPr>
              <a:t>Complete model/index service</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Independent fault domain</a:t>
            </a:r>
            <a:endParaRPr lang="en-US" sz="1310" dirty="0"/>
          </a:p>
        </p:txBody>
      </p:sp>
      <p:sp>
        <p:nvSpPr>
          <p:cNvPr id="16" name="Shape 14"/>
          <p:cNvSpPr/>
          <p:nvPr/>
        </p:nvSpPr>
        <p:spPr>
          <a:xfrm>
            <a:off x="1773936" y="2560320"/>
            <a:ext cx="0" cy="256032"/>
          </a:xfrm>
          <a:prstGeom prst="line">
            <a:avLst/>
          </a:prstGeom>
          <a:noFill/>
          <a:ln w="19050">
            <a:solidFill>
              <a:srgbClr val="E31837"/>
            </a:solidFill>
            <a:prstDash val="solid"/>
            <a:headEnd type="none"/>
            <a:tailEnd type="triangle"/>
          </a:ln>
        </p:spPr>
      </p:sp>
      <p:sp>
        <p:nvSpPr>
          <p:cNvPr id="17" name="Shape 15"/>
          <p:cNvSpPr/>
          <p:nvPr/>
        </p:nvSpPr>
        <p:spPr>
          <a:xfrm>
            <a:off x="3163824" y="2834640"/>
            <a:ext cx="2377440" cy="1289304"/>
          </a:xfrm>
          <a:prstGeom prst="rect">
            <a:avLst>
              <a:gd name="adj" fmla="val 70922"/>
            </a:avLst>
          </a:prstGeom>
          <a:solidFill>
            <a:srgbClr val="F3F4F6"/>
          </a:solidFill>
          <a:ln w="10160">
            <a:solidFill>
              <a:srgbClr val="F3F4F6"/>
            </a:solidFill>
            <a:prstDash val="solid"/>
          </a:ln>
        </p:spPr>
      </p:sp>
      <p:sp>
        <p:nvSpPr>
          <p:cNvPr id="18" name="Text 16"/>
          <p:cNvSpPr/>
          <p:nvPr/>
        </p:nvSpPr>
        <p:spPr>
          <a:xfrm>
            <a:off x="3310128" y="2944368"/>
            <a:ext cx="2084832" cy="365760"/>
          </a:xfrm>
          <a:prstGeom prst="rect">
            <a:avLst/>
          </a:prstGeom>
          <a:noFill/>
          <a:ln/>
        </p:spPr>
        <p:txBody>
          <a:bodyPr wrap="square" lIns="0" tIns="0" rIns="0" bIns="0" rtlCol="0" anchor="ctr"/>
          <a:lstStyle/>
          <a:p>
            <a:pPr algn="l" indent="0" marL="0">
              <a:buNone/>
            </a:pPr>
            <a:r>
              <a:rPr lang="en-US" sz="1600" b="1" dirty="0">
                <a:solidFill>
                  <a:srgbClr val="18191D"/>
                </a:solidFill>
                <a:latin typeface="Arial" pitchFamily="34" charset="0"/>
                <a:ea typeface="Arial" pitchFamily="34" charset="-122"/>
                <a:cs typeface="Arial" pitchFamily="34" charset="-120"/>
              </a:rPr>
              <a:t>Serving node 2</a:t>
            </a:r>
            <a:endParaRPr lang="en-US" sz="1600" dirty="0"/>
          </a:p>
        </p:txBody>
      </p:sp>
      <p:sp>
        <p:nvSpPr>
          <p:cNvPr id="19" name="Text 17"/>
          <p:cNvSpPr/>
          <p:nvPr/>
        </p:nvSpPr>
        <p:spPr>
          <a:xfrm>
            <a:off x="3310128" y="3401568"/>
            <a:ext cx="2084832" cy="612648"/>
          </a:xfrm>
          <a:prstGeom prst="rect">
            <a:avLst/>
          </a:prstGeom>
          <a:noFill/>
          <a:ln/>
        </p:spPr>
        <p:txBody>
          <a:bodyPr wrap="square" lIns="0" tIns="0" rIns="0" bIns="0" rtlCol="0" anchor="ctr"/>
          <a:lstStyle/>
          <a:p>
            <a:pPr algn="l" indent="0" marL="0">
              <a:buNone/>
            </a:pPr>
            <a:r>
              <a:rPr lang="en-US" sz="1310" dirty="0">
                <a:solidFill>
                  <a:srgbClr val="5B6169"/>
                </a:solidFill>
                <a:latin typeface="Arial" pitchFamily="34" charset="0"/>
                <a:ea typeface="Arial" pitchFamily="34" charset="-122"/>
                <a:cs typeface="Arial" pitchFamily="34" charset="-120"/>
              </a:rPr>
              <a:t>Complete model/index service</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Independent fault domain</a:t>
            </a:r>
            <a:endParaRPr lang="en-US" sz="1310" dirty="0"/>
          </a:p>
        </p:txBody>
      </p:sp>
      <p:sp>
        <p:nvSpPr>
          <p:cNvPr id="20" name="Shape 18"/>
          <p:cNvSpPr/>
          <p:nvPr/>
        </p:nvSpPr>
        <p:spPr>
          <a:xfrm>
            <a:off x="4334256" y="2560320"/>
            <a:ext cx="0" cy="256032"/>
          </a:xfrm>
          <a:prstGeom prst="line">
            <a:avLst/>
          </a:prstGeom>
          <a:noFill/>
          <a:ln w="19050">
            <a:solidFill>
              <a:srgbClr val="E31837"/>
            </a:solidFill>
            <a:prstDash val="solid"/>
            <a:headEnd type="none"/>
            <a:tailEnd type="triangle"/>
          </a:ln>
        </p:spPr>
      </p:sp>
      <p:sp>
        <p:nvSpPr>
          <p:cNvPr id="21" name="Shape 19"/>
          <p:cNvSpPr/>
          <p:nvPr/>
        </p:nvSpPr>
        <p:spPr>
          <a:xfrm>
            <a:off x="5724144" y="2834640"/>
            <a:ext cx="2377440" cy="1289304"/>
          </a:xfrm>
          <a:prstGeom prst="rect">
            <a:avLst>
              <a:gd name="adj" fmla="val 70922"/>
            </a:avLst>
          </a:prstGeom>
          <a:solidFill>
            <a:srgbClr val="FCECEF"/>
          </a:solidFill>
          <a:ln w="10160">
            <a:solidFill>
              <a:srgbClr val="FCECEF"/>
            </a:solidFill>
            <a:prstDash val="solid"/>
          </a:ln>
        </p:spPr>
      </p:sp>
      <p:sp>
        <p:nvSpPr>
          <p:cNvPr id="22" name="Text 20"/>
          <p:cNvSpPr/>
          <p:nvPr/>
        </p:nvSpPr>
        <p:spPr>
          <a:xfrm>
            <a:off x="5870448" y="2944368"/>
            <a:ext cx="2084832" cy="365760"/>
          </a:xfrm>
          <a:prstGeom prst="rect">
            <a:avLst/>
          </a:prstGeom>
          <a:noFill/>
          <a:ln/>
        </p:spPr>
        <p:txBody>
          <a:bodyPr wrap="square" lIns="0" tIns="0" rIns="0" bIns="0" rtlCol="0" anchor="ctr"/>
          <a:lstStyle/>
          <a:p>
            <a:pPr algn="l" indent="0" marL="0">
              <a:buNone/>
            </a:pPr>
            <a:r>
              <a:rPr lang="en-US" sz="1600" b="1" dirty="0">
                <a:solidFill>
                  <a:srgbClr val="E31837"/>
                </a:solidFill>
                <a:latin typeface="Arial" pitchFamily="34" charset="0"/>
                <a:ea typeface="Arial" pitchFamily="34" charset="-122"/>
                <a:cs typeface="Arial" pitchFamily="34" charset="-120"/>
              </a:rPr>
              <a:t>Serving node 3</a:t>
            </a:r>
            <a:endParaRPr lang="en-US" sz="1600" dirty="0"/>
          </a:p>
        </p:txBody>
      </p:sp>
      <p:sp>
        <p:nvSpPr>
          <p:cNvPr id="23" name="Text 21"/>
          <p:cNvSpPr/>
          <p:nvPr/>
        </p:nvSpPr>
        <p:spPr>
          <a:xfrm>
            <a:off x="5870448" y="3401568"/>
            <a:ext cx="2084832" cy="612648"/>
          </a:xfrm>
          <a:prstGeom prst="rect">
            <a:avLst/>
          </a:prstGeom>
          <a:noFill/>
          <a:ln/>
        </p:spPr>
        <p:txBody>
          <a:bodyPr wrap="square" lIns="0" tIns="0" rIns="0" bIns="0" rtlCol="0" anchor="ctr"/>
          <a:lstStyle/>
          <a:p>
            <a:pPr algn="l" indent="0" marL="0">
              <a:buNone/>
            </a:pPr>
            <a:r>
              <a:rPr lang="en-US" sz="1310" dirty="0">
                <a:solidFill>
                  <a:srgbClr val="5B6169"/>
                </a:solidFill>
                <a:latin typeface="Arial" pitchFamily="34" charset="0"/>
                <a:ea typeface="Arial" pitchFamily="34" charset="-122"/>
                <a:cs typeface="Arial" pitchFamily="34" charset="-120"/>
              </a:rPr>
              <a:t>Warm N+1 reserve</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Complete ready packs</a:t>
            </a:r>
            <a:endParaRPr lang="en-US" sz="1310" dirty="0"/>
          </a:p>
        </p:txBody>
      </p:sp>
      <p:sp>
        <p:nvSpPr>
          <p:cNvPr id="24" name="Shape 22"/>
          <p:cNvSpPr/>
          <p:nvPr/>
        </p:nvSpPr>
        <p:spPr>
          <a:xfrm>
            <a:off x="6894576" y="2560320"/>
            <a:ext cx="0" cy="256032"/>
          </a:xfrm>
          <a:prstGeom prst="line">
            <a:avLst/>
          </a:prstGeom>
          <a:noFill/>
          <a:ln w="19050">
            <a:solidFill>
              <a:srgbClr val="E31837"/>
            </a:solidFill>
            <a:prstDash val="solid"/>
            <a:headEnd type="none"/>
            <a:tailEnd type="triangle"/>
          </a:ln>
        </p:spPr>
      </p:sp>
      <p:sp>
        <p:nvSpPr>
          <p:cNvPr id="25" name="Shape 23"/>
          <p:cNvSpPr/>
          <p:nvPr/>
        </p:nvSpPr>
        <p:spPr>
          <a:xfrm>
            <a:off x="603504" y="4517136"/>
            <a:ext cx="3602736" cy="896112"/>
          </a:xfrm>
          <a:prstGeom prst="rect">
            <a:avLst/>
          </a:prstGeom>
          <a:solidFill>
            <a:srgbClr val="F3F4F6"/>
          </a:solidFill>
          <a:ln w="10160">
            <a:solidFill>
              <a:srgbClr val="F3F4F6"/>
            </a:solidFill>
            <a:prstDash val="solid"/>
          </a:ln>
        </p:spPr>
      </p:sp>
      <p:sp>
        <p:nvSpPr>
          <p:cNvPr id="26" name="Text 24"/>
          <p:cNvSpPr/>
          <p:nvPr/>
        </p:nvSpPr>
        <p:spPr>
          <a:xfrm>
            <a:off x="713232" y="4590288"/>
            <a:ext cx="3383280"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Control plane: 3 quorum members</a:t>
            </a:r>
            <a:endParaRPr lang="en-US" sz="1450" dirty="0"/>
          </a:p>
        </p:txBody>
      </p:sp>
      <p:sp>
        <p:nvSpPr>
          <p:cNvPr id="27" name="Text 25"/>
          <p:cNvSpPr/>
          <p:nvPr/>
        </p:nvSpPr>
        <p:spPr>
          <a:xfrm>
            <a:off x="713232" y="4956048"/>
            <a:ext cx="3383280" cy="393192"/>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Separate registration / admin endpoint</a:t>
            </a:r>
            <a:endParaRPr lang="en-US" sz="1250" dirty="0"/>
          </a:p>
        </p:txBody>
      </p:sp>
      <p:sp>
        <p:nvSpPr>
          <p:cNvPr id="28" name="Shape 26"/>
          <p:cNvSpPr/>
          <p:nvPr/>
        </p:nvSpPr>
        <p:spPr>
          <a:xfrm>
            <a:off x="4453128" y="4517136"/>
            <a:ext cx="3666744" cy="896112"/>
          </a:xfrm>
          <a:prstGeom prst="rect">
            <a:avLst/>
          </a:prstGeom>
          <a:solidFill>
            <a:srgbClr val="F3F4F6"/>
          </a:solidFill>
          <a:ln w="10160">
            <a:solidFill>
              <a:srgbClr val="F3F4F6"/>
            </a:solidFill>
            <a:prstDash val="solid"/>
          </a:ln>
        </p:spPr>
      </p:sp>
      <p:sp>
        <p:nvSpPr>
          <p:cNvPr id="29" name="Text 27"/>
          <p:cNvSpPr/>
          <p:nvPr/>
        </p:nvSpPr>
        <p:spPr>
          <a:xfrm>
            <a:off x="4562856" y="4590288"/>
            <a:ext cx="3447288"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Durable data: protected separately</a:t>
            </a:r>
            <a:endParaRPr lang="en-US" sz="1450" dirty="0"/>
          </a:p>
        </p:txBody>
      </p:sp>
      <p:sp>
        <p:nvSpPr>
          <p:cNvPr id="30" name="Text 28"/>
          <p:cNvSpPr/>
          <p:nvPr/>
        </p:nvSpPr>
        <p:spPr>
          <a:xfrm>
            <a:off x="4562856" y="4956048"/>
            <a:ext cx="3447288" cy="393192"/>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Catalog / budgets / sources / audit</a:t>
            </a:r>
            <a:endParaRPr lang="en-US" sz="1250" dirty="0"/>
          </a:p>
        </p:txBody>
      </p:sp>
      <p:sp>
        <p:nvSpPr>
          <p:cNvPr id="31" name="Shape 29"/>
          <p:cNvSpPr/>
          <p:nvPr/>
        </p:nvSpPr>
        <p:spPr>
          <a:xfrm>
            <a:off x="8449056" y="1929384"/>
            <a:ext cx="3145536" cy="3493008"/>
          </a:xfrm>
          <a:prstGeom prst="rect">
            <a:avLst>
              <a:gd name="adj" fmla="val 29070"/>
            </a:avLst>
          </a:prstGeom>
          <a:solidFill>
            <a:srgbClr val="18191D"/>
          </a:solidFill>
          <a:ln w="10160">
            <a:solidFill>
              <a:srgbClr val="18191D"/>
            </a:solidFill>
            <a:prstDash val="solid"/>
          </a:ln>
        </p:spPr>
      </p:sp>
      <p:sp>
        <p:nvSpPr>
          <p:cNvPr id="32" name="Text 30"/>
          <p:cNvSpPr/>
          <p:nvPr/>
        </p:nvSpPr>
        <p:spPr>
          <a:xfrm>
            <a:off x="8595360" y="2039112"/>
            <a:ext cx="2852928" cy="548640"/>
          </a:xfrm>
          <a:prstGeom prst="rect">
            <a:avLst/>
          </a:prstGeom>
          <a:noFill/>
          <a:ln/>
        </p:spPr>
        <p:txBody>
          <a:bodyPr wrap="square" lIns="0" tIns="0" rIns="0" bIns="0" rtlCol="0" anchor="ctr"/>
          <a:lstStyle/>
          <a:p>
            <a:pPr algn="l" indent="0" marL="0">
              <a:buNone/>
            </a:pPr>
            <a:r>
              <a:rPr lang="en-US" sz="2000" b="1" dirty="0">
                <a:solidFill>
                  <a:srgbClr val="FFFFFF"/>
                </a:solidFill>
                <a:latin typeface="Arial" pitchFamily="34" charset="0"/>
                <a:ea typeface="Arial" pitchFamily="34" charset="-122"/>
                <a:cs typeface="Arial" pitchFamily="34" charset="-120"/>
              </a:rPr>
              <a:t>Failure contract</a:t>
            </a:r>
            <a:endParaRPr lang="en-US" sz="2000" dirty="0"/>
          </a:p>
        </p:txBody>
      </p:sp>
      <p:sp>
        <p:nvSpPr>
          <p:cNvPr id="33" name="Text 31"/>
          <p:cNvSpPr/>
          <p:nvPr/>
        </p:nvSpPr>
        <p:spPr>
          <a:xfrm>
            <a:off x="8595360" y="2679192"/>
            <a:ext cx="2852928" cy="2633472"/>
          </a:xfrm>
          <a:prstGeom prst="rect">
            <a:avLst/>
          </a:prstGeom>
          <a:noFill/>
          <a:ln/>
        </p:spPr>
        <p:txBody>
          <a:bodyPr wrap="square" lIns="0" tIns="0" rIns="0" bIns="0" rtlCol="0" anchor="ctr"/>
          <a:lstStyle/>
          <a:p>
            <a:pPr algn="l" indent="0" marL="0">
              <a:buNone/>
            </a:pPr>
            <a:r>
              <a:rPr lang="en-US" sz="1310" dirty="0">
                <a:solidFill>
                  <a:srgbClr val="FFFFFF"/>
                </a:solidFill>
                <a:latin typeface="Arial" pitchFamily="34" charset="0"/>
                <a:ea typeface="Arial" pitchFamily="34" charset="-122"/>
                <a:cs typeface="Arial" pitchFamily="34" charset="-120"/>
              </a:rPr>
              <a:t>New work → healthy replicas</a:t>
            </a:r>
            <a:endParaRPr lang="en-US" sz="1310" dirty="0"/>
          </a:p>
          <a:p>
            <a:pPr algn="l" indent="0" marL="0">
              <a:buNone/>
            </a:pPr>
            <a:endParaRPr lang="en-US" sz="1310" dirty="0"/>
          </a:p>
          <a:p>
            <a:pPr algn="l" indent="0" marL="0">
              <a:buNone/>
            </a:pPr>
            <a:r>
              <a:rPr lang="en-US" sz="1310" dirty="0">
                <a:solidFill>
                  <a:srgbClr val="FFFFFF"/>
                </a:solidFill>
                <a:latin typeface="Arial" pitchFamily="34" charset="0"/>
                <a:ea typeface="Arial" pitchFamily="34" charset="-122"/>
                <a:cs typeface="Arial" pitchFamily="34" charset="-120"/>
              </a:rPr>
              <a:t>In-flight streams may restart</a:t>
            </a:r>
            <a:endParaRPr lang="en-US" sz="1310" dirty="0"/>
          </a:p>
          <a:p>
            <a:pPr algn="l" indent="0" marL="0">
              <a:buNone/>
            </a:pPr>
            <a:endParaRPr lang="en-US" sz="1310" dirty="0"/>
          </a:p>
          <a:p>
            <a:pPr algn="l" indent="0" marL="0">
              <a:buNone/>
            </a:pPr>
            <a:r>
              <a:rPr lang="en-US" sz="1310" dirty="0">
                <a:solidFill>
                  <a:srgbClr val="FFFFFF"/>
                </a:solidFill>
                <a:latin typeface="Arial" pitchFamily="34" charset="0"/>
                <a:ea typeface="Arial" pitchFamily="34" charset="-122"/>
                <a:cs typeface="Arial" pitchFamily="34" charset="-120"/>
              </a:rPr>
              <a:t>Metadata quorum ≠ model HA</a:t>
            </a:r>
            <a:endParaRPr lang="en-US" sz="1310" dirty="0"/>
          </a:p>
          <a:p>
            <a:pPr algn="l" indent="0" marL="0">
              <a:buNone/>
            </a:pPr>
            <a:endParaRPr lang="en-US" sz="1310" dirty="0"/>
          </a:p>
          <a:p>
            <a:pPr algn="l" indent="0" marL="0">
              <a:buNone/>
            </a:pPr>
            <a:r>
              <a:rPr lang="en-US" sz="1310" dirty="0">
                <a:solidFill>
                  <a:srgbClr val="FFFFFF"/>
                </a:solidFill>
                <a:latin typeface="Arial" pitchFamily="34" charset="0"/>
                <a:ea typeface="Arial" pitchFamily="34" charset="-122"/>
                <a:cs typeface="Arial" pitchFamily="34" charset="-120"/>
              </a:rPr>
              <a:t>One node alone has no service HA</a:t>
            </a:r>
            <a:endParaRPr lang="en-US" sz="1310" dirty="0"/>
          </a:p>
        </p:txBody>
      </p:sp>
      <p:sp>
        <p:nvSpPr>
          <p:cNvPr id="34" name="Shape 32"/>
          <p:cNvSpPr/>
          <p:nvPr/>
        </p:nvSpPr>
        <p:spPr>
          <a:xfrm>
            <a:off x="475488" y="5843016"/>
            <a:ext cx="11228832" cy="457200"/>
          </a:xfrm>
          <a:prstGeom prst="rect">
            <a:avLst/>
          </a:prstGeom>
          <a:solidFill>
            <a:srgbClr val="FCECEF"/>
          </a:solidFill>
          <a:ln w="10160">
            <a:solidFill>
              <a:srgbClr val="FCECEF"/>
            </a:solidFill>
            <a:prstDash val="solid"/>
          </a:ln>
        </p:spPr>
      </p:sp>
      <p:sp>
        <p:nvSpPr>
          <p:cNvPr id="35" name="Text 33"/>
          <p:cNvSpPr/>
          <p:nvPr/>
        </p:nvSpPr>
        <p:spPr>
          <a:xfrm>
            <a:off x="621792" y="5893308"/>
            <a:ext cx="10936224" cy="347472"/>
          </a:xfrm>
          <a:prstGeom prst="rect">
            <a:avLst/>
          </a:prstGeom>
          <a:noFill/>
          <a:ln/>
        </p:spPr>
        <p:txBody>
          <a:bodyPr wrap="square" lIns="0" tIns="0" rIns="0" bIns="0" rtlCol="0" anchor="ctr"/>
          <a:lstStyle/>
          <a:p>
            <a:pPr algn="l" indent="0" marL="0">
              <a:buNone/>
            </a:pPr>
            <a:r>
              <a:rPr lang="en-US" sz="1300" b="1" dirty="0">
                <a:solidFill>
                  <a:srgbClr val="E31837"/>
                </a:solidFill>
                <a:latin typeface="Arial" pitchFamily="34" charset="0"/>
                <a:ea typeface="Arial" pitchFamily="34" charset="-122"/>
                <a:cs typeface="Arial" pitchFamily="34" charset="-120"/>
              </a:rPr>
              <a:t>N = ceil(peak load / measured SLO-compliant rate) + 1, only when one node is a complete service unit.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E31837"/>
          </a:solidFill>
          <a:ln w="10160">
            <a:solidFill>
              <a:srgbClr val="E31837"/>
            </a:solidFill>
            <a:prstDash val="solid"/>
          </a:ln>
        </p:spPr>
      </p:sp>
      <p:sp>
        <p:nvSpPr>
          <p:cNvPr id="3" name="Text 1"/>
          <p:cNvSpPr/>
          <p:nvPr/>
        </p:nvSpPr>
        <p:spPr>
          <a:xfrm>
            <a:off x="457200" y="228600"/>
            <a:ext cx="1645920" cy="228600"/>
          </a:xfrm>
          <a:prstGeom prst="rect">
            <a:avLst/>
          </a:prstGeom>
          <a:noFill/>
          <a:ln/>
        </p:spPr>
        <p:txBody>
          <a:bodyPr wrap="square" lIns="0" tIns="0" rIns="0" bIns="0" rtlCol="0" anchor="ctr"/>
          <a:lstStyle/>
          <a:p>
            <a:pPr algn="l" indent="0" marL="0">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4" name="Text 2"/>
          <p:cNvSpPr/>
          <p:nvPr/>
        </p:nvSpPr>
        <p:spPr>
          <a:xfrm>
            <a:off x="1965960" y="256032"/>
            <a:ext cx="9144000" cy="182880"/>
          </a:xfrm>
          <a:prstGeom prst="rect">
            <a:avLst/>
          </a:prstGeom>
          <a:noFill/>
          <a:ln/>
        </p:spPr>
        <p:txBody>
          <a:bodyPr wrap="square" lIns="0" tIns="0" rIns="0" bIns="0" rtlCol="0" anchor="ctr"/>
          <a:lstStyle/>
          <a:p>
            <a:pPr algn="l" indent="0" marL="0">
              <a:buNone/>
            </a:pPr>
            <a:r>
              <a:rPr lang="en-US" sz="1050" b="1" dirty="0">
                <a:solidFill>
                  <a:srgbClr val="5B6169"/>
                </a:solidFill>
                <a:latin typeface="Arial" pitchFamily="34" charset="0"/>
                <a:ea typeface="Arial" pitchFamily="34" charset="-122"/>
                <a:cs typeface="Arial" pitchFamily="34" charset="-120"/>
              </a:rPr>
              <a:t>ATMOS  /  A8 / SANDISK BACKEND</a:t>
            </a:r>
            <a:endParaRPr lang="en-US" sz="1050" dirty="0"/>
          </a:p>
        </p:txBody>
      </p:sp>
      <p:sp>
        <p:nvSpPr>
          <p:cNvPr id="5" name="Text 3"/>
          <p:cNvSpPr/>
          <p:nvPr/>
        </p:nvSpPr>
        <p:spPr>
          <a:xfrm>
            <a:off x="475488" y="758952"/>
            <a:ext cx="11201400" cy="493776"/>
          </a:xfrm>
          <a:prstGeom prst="rect">
            <a:avLst/>
          </a:prstGeom>
          <a:noFill/>
          <a:ln/>
        </p:spPr>
        <p:txBody>
          <a:bodyPr wrap="square" lIns="0" tIns="0" rIns="0" bIns="0" rtlCol="0" anchor="ctr"/>
          <a:lstStyle/>
          <a:p>
            <a:pPr algn="l" indent="0" marL="0">
              <a:buNone/>
            </a:pPr>
            <a:r>
              <a:rPr lang="en-US" sz="2750" b="1" dirty="0">
                <a:solidFill>
                  <a:srgbClr val="18191D"/>
                </a:solidFill>
                <a:latin typeface="Arial" pitchFamily="34" charset="0"/>
                <a:ea typeface="Arial" pitchFamily="34" charset="-122"/>
                <a:cs typeface="Arial" pitchFamily="34" charset="-120"/>
              </a:rPr>
              <a:t>Operate a release factory behind every appliance.</a:t>
            </a:r>
            <a:endParaRPr lang="en-US" sz="2750" dirty="0"/>
          </a:p>
        </p:txBody>
      </p:sp>
      <p:sp>
        <p:nvSpPr>
          <p:cNvPr id="6" name="Text 4"/>
          <p:cNvSpPr/>
          <p:nvPr/>
        </p:nvSpPr>
        <p:spPr>
          <a:xfrm>
            <a:off x="502920" y="1298448"/>
            <a:ext cx="11064240" cy="411480"/>
          </a:xfrm>
          <a:prstGeom prst="rect">
            <a:avLst/>
          </a:prstGeom>
          <a:noFill/>
          <a:ln/>
        </p:spPr>
        <p:txBody>
          <a:bodyPr wrap="square" lIns="0" tIns="0" rIns="0" bIns="0" rtlCol="0" anchor="ctr"/>
          <a:lstStyle/>
          <a:p>
            <a:pPr algn="l" indent="0" marL="0">
              <a:buNone/>
            </a:pPr>
            <a:r>
              <a:rPr lang="en-US" sz="1350" dirty="0">
                <a:solidFill>
                  <a:srgbClr val="5B6169"/>
                </a:solidFill>
                <a:latin typeface="Arial" pitchFamily="34" charset="0"/>
                <a:ea typeface="Arial" pitchFamily="34" charset="-122"/>
                <a:cs typeface="Arial" pitchFamily="34" charset="-120"/>
              </a:rPr>
              <a:t>This is a SanDisk engineering and support system—not a cloud dependency on the customer’s inference path.</a:t>
            </a:r>
            <a:endParaRPr lang="en-US" sz="1350" dirty="0"/>
          </a:p>
        </p:txBody>
      </p:sp>
      <p:sp>
        <p:nvSpPr>
          <p:cNvPr id="7" name="Shape 5"/>
          <p:cNvSpPr/>
          <p:nvPr/>
        </p:nvSpPr>
        <p:spPr>
          <a:xfrm>
            <a:off x="484632" y="6464808"/>
            <a:ext cx="11237976" cy="0"/>
          </a:xfrm>
          <a:prstGeom prst="line">
            <a:avLst/>
          </a:prstGeom>
          <a:noFill/>
          <a:ln w="7620">
            <a:solidFill>
              <a:srgbClr val="D9DDE3"/>
            </a:solidFill>
            <a:prstDash val="solid"/>
            <a:headEnd type="none"/>
            <a:tailEnd type="none"/>
          </a:ln>
        </p:spPr>
      </p:sp>
      <p:sp>
        <p:nvSpPr>
          <p:cNvPr id="8" name="Text 6"/>
          <p:cNvSpPr/>
          <p:nvPr/>
        </p:nvSpPr>
        <p:spPr>
          <a:xfrm>
            <a:off x="512064" y="6547104"/>
            <a:ext cx="9418320" cy="164592"/>
          </a:xfrm>
          <a:prstGeom prst="rect">
            <a:avLst/>
          </a:prstGeom>
          <a:noFill/>
          <a:ln/>
        </p:spPr>
        <p:txBody>
          <a:bodyPr wrap="square" lIns="0" tIns="0" rIns="0" bIns="0" rtlCol="0" anchor="ctr"/>
          <a:lstStyle/>
          <a:p>
            <a:pPr algn="l" indent="0" marL="0">
              <a:buNone/>
            </a:pPr>
            <a:r>
              <a:rPr lang="en-US" sz="850" dirty="0">
                <a:solidFill>
                  <a:srgbClr val="5B6169"/>
                </a:solidFill>
                <a:latin typeface="Arial" pitchFamily="34" charset="0"/>
                <a:ea typeface="Arial" pitchFamily="34" charset="-122"/>
                <a:cs typeface="Arial" pitchFamily="34" charset="-120"/>
              </a:rPr>
              <a:t>TECHNICAL APPENDIX TO V3  •  6 OCT 2026  •  PROPOSED DESIGN / QUALIFICATION REQUIRED</a:t>
            </a:r>
            <a:endParaRPr lang="en-US" sz="850" dirty="0"/>
          </a:p>
        </p:txBody>
      </p:sp>
      <p:sp>
        <p:nvSpPr>
          <p:cNvPr id="9" name="Text 7"/>
          <p:cNvSpPr/>
          <p:nvPr/>
        </p:nvSpPr>
        <p:spPr>
          <a:xfrm>
            <a:off x="11219688" y="6519672"/>
            <a:ext cx="457200" cy="219456"/>
          </a:xfrm>
          <a:prstGeom prst="rect">
            <a:avLst/>
          </a:prstGeom>
          <a:noFill/>
          <a:ln/>
        </p:spPr>
        <p:txBody>
          <a:bodyPr wrap="square" lIns="0" tIns="0" rIns="0" bIns="0" rtlCol="0" anchor="ctr"/>
          <a:lstStyle/>
          <a:p>
            <a:pPr algn="r" indent="0" marL="0">
              <a:buNone/>
            </a:pPr>
            <a:r>
              <a:rPr lang="en-US" sz="1000" b="1" dirty="0">
                <a:solidFill>
                  <a:srgbClr val="E31837"/>
                </a:solidFill>
                <a:latin typeface="Arial" pitchFamily="34" charset="0"/>
                <a:ea typeface="Arial" pitchFamily="34" charset="-122"/>
                <a:cs typeface="Arial" pitchFamily="34" charset="-120"/>
              </a:rPr>
              <a:t>09</a:t>
            </a:r>
            <a:endParaRPr lang="en-US" sz="1000" dirty="0"/>
          </a:p>
        </p:txBody>
      </p:sp>
      <p:sp>
        <p:nvSpPr>
          <p:cNvPr id="10" name="Text 8">
            <a:hlinkClick r:id="rId1" tooltip=""/>
          </p:cNvPr>
          <p:cNvSpPr/>
          <p:nvPr/>
        </p:nvSpPr>
        <p:spPr>
          <a:xfrm>
            <a:off x="9875520" y="237744"/>
            <a:ext cx="1828800" cy="219456"/>
          </a:xfrm>
          <a:prstGeom prst="rect">
            <a:avLst/>
          </a:prstGeom>
          <a:noFill/>
          <a:ln/>
        </p:spPr>
        <p:txBody>
          <a:bodyPr wrap="square" lIns="0" tIns="0" rIns="0" bIns="0" rtlCol="0" anchor="ctr"/>
          <a:lstStyle/>
          <a:p>
            <a:pPr algn="r" indent="0" marL="0">
              <a:buNone/>
            </a:pPr>
            <a:r>
              <a:rPr lang="en-US" sz="1000"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technical notes</a:t>
            </a:r>
            <a:endParaRPr lang="en-US" sz="1000" dirty="0"/>
          </a:p>
        </p:txBody>
      </p:sp>
      <p:sp>
        <p:nvSpPr>
          <p:cNvPr id="11" name="Shape 9"/>
          <p:cNvSpPr/>
          <p:nvPr/>
        </p:nvSpPr>
        <p:spPr>
          <a:xfrm>
            <a:off x="548640" y="1993392"/>
            <a:ext cx="2020824" cy="1261872"/>
          </a:xfrm>
          <a:prstGeom prst="rect">
            <a:avLst/>
          </a:prstGeom>
          <a:solidFill>
            <a:srgbClr val="F3F4F6"/>
          </a:solidFill>
          <a:ln w="10160">
            <a:solidFill>
              <a:srgbClr val="F3F4F6"/>
            </a:solidFill>
            <a:prstDash val="solid"/>
          </a:ln>
        </p:spPr>
      </p:sp>
      <p:sp>
        <p:nvSpPr>
          <p:cNvPr id="12" name="Text 10"/>
          <p:cNvSpPr/>
          <p:nvPr/>
        </p:nvSpPr>
        <p:spPr>
          <a:xfrm>
            <a:off x="658368" y="2066544"/>
            <a:ext cx="1801368"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Source / recipes</a:t>
            </a:r>
            <a:endParaRPr lang="en-US" sz="1450" dirty="0"/>
          </a:p>
        </p:txBody>
      </p:sp>
      <p:sp>
        <p:nvSpPr>
          <p:cNvPr id="13" name="Text 11"/>
          <p:cNvSpPr/>
          <p:nvPr/>
        </p:nvSpPr>
        <p:spPr>
          <a:xfrm>
            <a:off x="658368" y="2432304"/>
            <a:ext cx="1801368" cy="758952"/>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Reviewed commits</a:t>
            </a:r>
            <a:endParaRPr lang="en-US" sz="1250" dirty="0"/>
          </a:p>
          <a:p>
            <a:pPr algn="l" indent="0" marL="0">
              <a:buNone/>
            </a:pPr>
            <a:r>
              <a:rPr lang="en-US" sz="1250" dirty="0">
                <a:solidFill>
                  <a:srgbClr val="5B6169"/>
                </a:solidFill>
                <a:latin typeface="Arial" pitchFamily="34" charset="0"/>
                <a:ea typeface="Arial" pitchFamily="34" charset="-122"/>
                <a:cs typeface="Arial" pitchFamily="34" charset="-120"/>
              </a:rPr>
              <a:t>Pinned inputs</a:t>
            </a:r>
            <a:endParaRPr lang="en-US" sz="1250" dirty="0"/>
          </a:p>
        </p:txBody>
      </p:sp>
      <p:sp>
        <p:nvSpPr>
          <p:cNvPr id="14" name="Shape 12"/>
          <p:cNvSpPr/>
          <p:nvPr/>
        </p:nvSpPr>
        <p:spPr>
          <a:xfrm>
            <a:off x="2569464" y="2624328"/>
            <a:ext cx="228600" cy="0"/>
          </a:xfrm>
          <a:prstGeom prst="line">
            <a:avLst/>
          </a:prstGeom>
          <a:noFill/>
          <a:ln w="19050">
            <a:solidFill>
              <a:srgbClr val="E31837"/>
            </a:solidFill>
            <a:prstDash val="solid"/>
            <a:headEnd type="none"/>
            <a:tailEnd type="triangle"/>
          </a:ln>
        </p:spPr>
      </p:sp>
      <p:sp>
        <p:nvSpPr>
          <p:cNvPr id="15" name="Shape 13"/>
          <p:cNvSpPr/>
          <p:nvPr/>
        </p:nvSpPr>
        <p:spPr>
          <a:xfrm>
            <a:off x="2816352" y="1993392"/>
            <a:ext cx="2020824" cy="1261872"/>
          </a:xfrm>
          <a:prstGeom prst="rect">
            <a:avLst/>
          </a:prstGeom>
          <a:solidFill>
            <a:srgbClr val="F3F4F6"/>
          </a:solidFill>
          <a:ln w="10160">
            <a:solidFill>
              <a:srgbClr val="F3F4F6"/>
            </a:solidFill>
            <a:prstDash val="solid"/>
          </a:ln>
        </p:spPr>
      </p:sp>
      <p:sp>
        <p:nvSpPr>
          <p:cNvPr id="16" name="Text 14"/>
          <p:cNvSpPr/>
          <p:nvPr/>
        </p:nvSpPr>
        <p:spPr>
          <a:xfrm>
            <a:off x="2926080" y="2066544"/>
            <a:ext cx="1801368"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Build / compile</a:t>
            </a:r>
            <a:endParaRPr lang="en-US" sz="1450" dirty="0"/>
          </a:p>
        </p:txBody>
      </p:sp>
      <p:sp>
        <p:nvSpPr>
          <p:cNvPr id="17" name="Text 15"/>
          <p:cNvSpPr/>
          <p:nvPr/>
        </p:nvSpPr>
        <p:spPr>
          <a:xfrm>
            <a:off x="2926080" y="2432304"/>
            <a:ext cx="1801368" cy="758952"/>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Isolated runners</a:t>
            </a:r>
            <a:endParaRPr lang="en-US" sz="1250" dirty="0"/>
          </a:p>
          <a:p>
            <a:pPr algn="l" indent="0" marL="0">
              <a:buNone/>
            </a:pPr>
            <a:r>
              <a:rPr lang="en-US" sz="1250" dirty="0">
                <a:solidFill>
                  <a:srgbClr val="5B6169"/>
                </a:solidFill>
                <a:latin typeface="Arial" pitchFamily="34" charset="0"/>
                <a:ea typeface="Arial" pitchFamily="34" charset="-122"/>
                <a:cs typeface="Arial" pitchFamily="34" charset="-120"/>
              </a:rPr>
              <a:t>SBOM + provenance</a:t>
            </a:r>
            <a:endParaRPr lang="en-US" sz="1250" dirty="0"/>
          </a:p>
        </p:txBody>
      </p:sp>
      <p:sp>
        <p:nvSpPr>
          <p:cNvPr id="18" name="Shape 16"/>
          <p:cNvSpPr/>
          <p:nvPr/>
        </p:nvSpPr>
        <p:spPr>
          <a:xfrm>
            <a:off x="4837176" y="2624328"/>
            <a:ext cx="228600" cy="0"/>
          </a:xfrm>
          <a:prstGeom prst="line">
            <a:avLst/>
          </a:prstGeom>
          <a:noFill/>
          <a:ln w="19050">
            <a:solidFill>
              <a:srgbClr val="E31837"/>
            </a:solidFill>
            <a:prstDash val="solid"/>
            <a:headEnd type="none"/>
            <a:tailEnd type="triangle"/>
          </a:ln>
        </p:spPr>
      </p:sp>
      <p:sp>
        <p:nvSpPr>
          <p:cNvPr id="19" name="Shape 17"/>
          <p:cNvSpPr/>
          <p:nvPr/>
        </p:nvSpPr>
        <p:spPr>
          <a:xfrm>
            <a:off x="5084064" y="1993392"/>
            <a:ext cx="2020824" cy="1261872"/>
          </a:xfrm>
          <a:prstGeom prst="rect">
            <a:avLst/>
          </a:prstGeom>
          <a:solidFill>
            <a:srgbClr val="F3F4F6"/>
          </a:solidFill>
          <a:ln w="10160">
            <a:solidFill>
              <a:srgbClr val="F3F4F6"/>
            </a:solidFill>
            <a:prstDash val="solid"/>
          </a:ln>
        </p:spPr>
      </p:sp>
      <p:sp>
        <p:nvSpPr>
          <p:cNvPr id="20" name="Text 18"/>
          <p:cNvSpPr/>
          <p:nvPr/>
        </p:nvSpPr>
        <p:spPr>
          <a:xfrm>
            <a:off x="5193792" y="2066544"/>
            <a:ext cx="1801368"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Certify</a:t>
            </a:r>
            <a:endParaRPr lang="en-US" sz="1450" dirty="0"/>
          </a:p>
        </p:txBody>
      </p:sp>
      <p:sp>
        <p:nvSpPr>
          <p:cNvPr id="21" name="Text 19"/>
          <p:cNvSpPr/>
          <p:nvPr/>
        </p:nvSpPr>
        <p:spPr>
          <a:xfrm>
            <a:off x="5193792" y="2432304"/>
            <a:ext cx="1801368" cy="758952"/>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Golden models</a:t>
            </a:r>
            <a:endParaRPr lang="en-US" sz="1250" dirty="0"/>
          </a:p>
          <a:p>
            <a:pPr algn="l" indent="0" marL="0">
              <a:buNone/>
            </a:pPr>
            <a:r>
              <a:rPr lang="en-US" sz="1250" dirty="0">
                <a:solidFill>
                  <a:srgbClr val="5B6169"/>
                </a:solidFill>
                <a:latin typeface="Arial" pitchFamily="34" charset="0"/>
                <a:ea typeface="Arial" pitchFamily="34" charset="-122"/>
                <a:cs typeface="Arial" pitchFamily="34" charset="-120"/>
              </a:rPr>
              <a:t>Hardware / failure tests</a:t>
            </a:r>
            <a:endParaRPr lang="en-US" sz="1250" dirty="0"/>
          </a:p>
        </p:txBody>
      </p:sp>
      <p:sp>
        <p:nvSpPr>
          <p:cNvPr id="22" name="Shape 20"/>
          <p:cNvSpPr/>
          <p:nvPr/>
        </p:nvSpPr>
        <p:spPr>
          <a:xfrm>
            <a:off x="7104888" y="2624328"/>
            <a:ext cx="228600" cy="0"/>
          </a:xfrm>
          <a:prstGeom prst="line">
            <a:avLst/>
          </a:prstGeom>
          <a:noFill/>
          <a:ln w="19050">
            <a:solidFill>
              <a:srgbClr val="E31837"/>
            </a:solidFill>
            <a:prstDash val="solid"/>
            <a:headEnd type="none"/>
            <a:tailEnd type="triangle"/>
          </a:ln>
        </p:spPr>
      </p:sp>
      <p:sp>
        <p:nvSpPr>
          <p:cNvPr id="23" name="Shape 21"/>
          <p:cNvSpPr/>
          <p:nvPr/>
        </p:nvSpPr>
        <p:spPr>
          <a:xfrm>
            <a:off x="7351776" y="1993392"/>
            <a:ext cx="2020824" cy="1261872"/>
          </a:xfrm>
          <a:prstGeom prst="rect">
            <a:avLst/>
          </a:prstGeom>
          <a:solidFill>
            <a:srgbClr val="F3F4F6"/>
          </a:solidFill>
          <a:ln w="10160">
            <a:solidFill>
              <a:srgbClr val="F3F4F6"/>
            </a:solidFill>
            <a:prstDash val="solid"/>
          </a:ln>
        </p:spPr>
      </p:sp>
      <p:sp>
        <p:nvSpPr>
          <p:cNvPr id="24" name="Text 22"/>
          <p:cNvSpPr/>
          <p:nvPr/>
        </p:nvSpPr>
        <p:spPr>
          <a:xfrm>
            <a:off x="7461504" y="2066544"/>
            <a:ext cx="1801368"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Sign / approve</a:t>
            </a:r>
            <a:endParaRPr lang="en-US" sz="1450" dirty="0"/>
          </a:p>
        </p:txBody>
      </p:sp>
      <p:sp>
        <p:nvSpPr>
          <p:cNvPr id="25" name="Text 23"/>
          <p:cNvSpPr/>
          <p:nvPr/>
        </p:nvSpPr>
        <p:spPr>
          <a:xfrm>
            <a:off x="7461504" y="2432304"/>
            <a:ext cx="1801368" cy="758952"/>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Release authority</a:t>
            </a:r>
            <a:endParaRPr lang="en-US" sz="1250" dirty="0"/>
          </a:p>
          <a:p>
            <a:pPr algn="l" indent="0" marL="0">
              <a:buNone/>
            </a:pPr>
            <a:r>
              <a:rPr lang="en-US" sz="1250" dirty="0">
                <a:solidFill>
                  <a:srgbClr val="5B6169"/>
                </a:solidFill>
                <a:latin typeface="Arial" pitchFamily="34" charset="0"/>
                <a:ea typeface="Arial" pitchFamily="34" charset="-122"/>
                <a:cs typeface="Arial" pitchFamily="34" charset="-120"/>
              </a:rPr>
              <a:t>Protected signing keys</a:t>
            </a:r>
            <a:endParaRPr lang="en-US" sz="1250" dirty="0"/>
          </a:p>
        </p:txBody>
      </p:sp>
      <p:sp>
        <p:nvSpPr>
          <p:cNvPr id="26" name="Shape 24"/>
          <p:cNvSpPr/>
          <p:nvPr/>
        </p:nvSpPr>
        <p:spPr>
          <a:xfrm>
            <a:off x="9372600" y="2624328"/>
            <a:ext cx="228600" cy="0"/>
          </a:xfrm>
          <a:prstGeom prst="line">
            <a:avLst/>
          </a:prstGeom>
          <a:noFill/>
          <a:ln w="19050">
            <a:solidFill>
              <a:srgbClr val="E31837"/>
            </a:solidFill>
            <a:prstDash val="solid"/>
            <a:headEnd type="none"/>
            <a:tailEnd type="triangle"/>
          </a:ln>
        </p:spPr>
      </p:sp>
      <p:sp>
        <p:nvSpPr>
          <p:cNvPr id="27" name="Shape 25"/>
          <p:cNvSpPr/>
          <p:nvPr/>
        </p:nvSpPr>
        <p:spPr>
          <a:xfrm>
            <a:off x="9619488" y="1993392"/>
            <a:ext cx="2020824" cy="1261872"/>
          </a:xfrm>
          <a:prstGeom prst="rect">
            <a:avLst/>
          </a:prstGeom>
          <a:solidFill>
            <a:srgbClr val="18191D"/>
          </a:solidFill>
          <a:ln w="10160">
            <a:solidFill>
              <a:srgbClr val="18191D"/>
            </a:solidFill>
            <a:prstDash val="solid"/>
          </a:ln>
        </p:spPr>
      </p:sp>
      <p:sp>
        <p:nvSpPr>
          <p:cNvPr id="28" name="Text 26"/>
          <p:cNvSpPr/>
          <p:nvPr/>
        </p:nvSpPr>
        <p:spPr>
          <a:xfrm>
            <a:off x="9729216" y="2066544"/>
            <a:ext cx="1801368" cy="301752"/>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Publish</a:t>
            </a:r>
            <a:endParaRPr lang="en-US" sz="1450" dirty="0"/>
          </a:p>
        </p:txBody>
      </p:sp>
      <p:sp>
        <p:nvSpPr>
          <p:cNvPr id="29" name="Text 27"/>
          <p:cNvSpPr/>
          <p:nvPr/>
        </p:nvSpPr>
        <p:spPr>
          <a:xfrm>
            <a:off x="9729216" y="2432304"/>
            <a:ext cx="1801368" cy="758952"/>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Immutable artifacts</a:t>
            </a:r>
            <a:endParaRPr lang="en-US" sz="1250" dirty="0"/>
          </a:p>
          <a:p>
            <a:pPr algn="l" indent="0" marL="0">
              <a:buNone/>
            </a:pPr>
            <a:r>
              <a:rPr lang="en-US" sz="1250" dirty="0">
                <a:solidFill>
                  <a:srgbClr val="FFFFFF"/>
                </a:solidFill>
                <a:latin typeface="Arial" pitchFamily="34" charset="0"/>
                <a:ea typeface="Arial" pitchFamily="34" charset="-122"/>
                <a:cs typeface="Arial" pitchFamily="34" charset="-120"/>
              </a:rPr>
              <a:t>Catalog + entitlement</a:t>
            </a:r>
            <a:endParaRPr lang="en-US" sz="1250" dirty="0"/>
          </a:p>
        </p:txBody>
      </p:sp>
      <p:sp>
        <p:nvSpPr>
          <p:cNvPr id="30" name="Shape 28"/>
          <p:cNvSpPr/>
          <p:nvPr/>
        </p:nvSpPr>
        <p:spPr>
          <a:xfrm>
            <a:off x="603504" y="3657600"/>
            <a:ext cx="3419856" cy="1691640"/>
          </a:xfrm>
          <a:prstGeom prst="rect">
            <a:avLst>
              <a:gd name="adj" fmla="val 54054"/>
            </a:avLst>
          </a:prstGeom>
          <a:solidFill>
            <a:srgbClr val="F3F4F6"/>
          </a:solidFill>
          <a:ln w="10160">
            <a:solidFill>
              <a:srgbClr val="F3F4F6"/>
            </a:solidFill>
            <a:prstDash val="solid"/>
          </a:ln>
        </p:spPr>
      </p:sp>
      <p:sp>
        <p:nvSpPr>
          <p:cNvPr id="31" name="Text 29"/>
          <p:cNvSpPr/>
          <p:nvPr/>
        </p:nvSpPr>
        <p:spPr>
          <a:xfrm>
            <a:off x="749808" y="3767328"/>
            <a:ext cx="3127248" cy="548640"/>
          </a:xfrm>
          <a:prstGeom prst="rect">
            <a:avLst/>
          </a:prstGeom>
          <a:noFill/>
          <a:ln/>
        </p:spPr>
        <p:txBody>
          <a:bodyPr wrap="square" lIns="0" tIns="0" rIns="0" bIns="0" rtlCol="0" anchor="ctr"/>
          <a:lstStyle/>
          <a:p>
            <a:pPr algn="l" indent="0" marL="0">
              <a:buNone/>
            </a:pPr>
            <a:r>
              <a:rPr lang="en-US" sz="1700" b="1" dirty="0">
                <a:solidFill>
                  <a:srgbClr val="18191D"/>
                </a:solidFill>
                <a:latin typeface="Arial" pitchFamily="34" charset="0"/>
                <a:ea typeface="Arial" pitchFamily="34" charset="-122"/>
                <a:cs typeface="Arial" pitchFamily="34" charset="-120"/>
              </a:rPr>
              <a:t>Customer + fleet services</a:t>
            </a:r>
            <a:endParaRPr lang="en-US" sz="1700" dirty="0"/>
          </a:p>
        </p:txBody>
      </p:sp>
      <p:sp>
        <p:nvSpPr>
          <p:cNvPr id="32" name="Text 30"/>
          <p:cNvSpPr/>
          <p:nvPr/>
        </p:nvSpPr>
        <p:spPr>
          <a:xfrm>
            <a:off x="749808" y="4407408"/>
            <a:ext cx="3127248" cy="832104"/>
          </a:xfrm>
          <a:prstGeom prst="rect">
            <a:avLst/>
          </a:prstGeom>
          <a:noFill/>
          <a:ln/>
        </p:spPr>
        <p:txBody>
          <a:bodyPr wrap="square" lIns="0" tIns="0" rIns="0" bIns="0" rtlCol="0" anchor="ctr"/>
          <a:lstStyle/>
          <a:p>
            <a:pPr algn="l" indent="0" marL="0">
              <a:buNone/>
            </a:pPr>
            <a:r>
              <a:rPr lang="en-US" sz="1310" dirty="0">
                <a:solidFill>
                  <a:srgbClr val="5B6169"/>
                </a:solidFill>
                <a:latin typeface="Arial" pitchFamily="34" charset="0"/>
                <a:ea typeface="Arial" pitchFamily="34" charset="-122"/>
                <a:cs typeface="Arial" pitchFamily="34" charset="-120"/>
              </a:rPr>
              <a:t>Serial / BOM / license record</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Download entitlement / lifecycle</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Opt-in diagnostics and cases</a:t>
            </a:r>
            <a:endParaRPr lang="en-US" sz="1310" dirty="0"/>
          </a:p>
        </p:txBody>
      </p:sp>
      <p:sp>
        <p:nvSpPr>
          <p:cNvPr id="33" name="Shape 31"/>
          <p:cNvSpPr/>
          <p:nvPr/>
        </p:nvSpPr>
        <p:spPr>
          <a:xfrm>
            <a:off x="4379976" y="3657600"/>
            <a:ext cx="3419856" cy="1691640"/>
          </a:xfrm>
          <a:prstGeom prst="rect">
            <a:avLst>
              <a:gd name="adj" fmla="val 54054"/>
            </a:avLst>
          </a:prstGeom>
          <a:solidFill>
            <a:srgbClr val="FCECEF"/>
          </a:solidFill>
          <a:ln w="10160">
            <a:solidFill>
              <a:srgbClr val="FCECEF"/>
            </a:solidFill>
            <a:prstDash val="solid"/>
          </a:ln>
        </p:spPr>
      </p:sp>
      <p:sp>
        <p:nvSpPr>
          <p:cNvPr id="34" name="Text 32"/>
          <p:cNvSpPr/>
          <p:nvPr/>
        </p:nvSpPr>
        <p:spPr>
          <a:xfrm>
            <a:off x="4526280" y="3767328"/>
            <a:ext cx="3127248" cy="548640"/>
          </a:xfrm>
          <a:prstGeom prst="rect">
            <a:avLst/>
          </a:prstGeom>
          <a:noFill/>
          <a:ln/>
        </p:spPr>
        <p:txBody>
          <a:bodyPr wrap="square" lIns="0" tIns="0" rIns="0" bIns="0" rtlCol="0" anchor="ctr"/>
          <a:lstStyle/>
          <a:p>
            <a:pPr algn="l" indent="0" marL="0">
              <a:buNone/>
            </a:pPr>
            <a:r>
              <a:rPr lang="en-US" sz="1700" b="1" dirty="0">
                <a:solidFill>
                  <a:srgbClr val="E31837"/>
                </a:solidFill>
                <a:latin typeface="Arial" pitchFamily="34" charset="0"/>
                <a:ea typeface="Arial" pitchFamily="34" charset="-122"/>
                <a:cs typeface="Arial" pitchFamily="34" charset="-120"/>
              </a:rPr>
              <a:t>Release control services</a:t>
            </a:r>
            <a:endParaRPr lang="en-US" sz="1700" dirty="0"/>
          </a:p>
        </p:txBody>
      </p:sp>
      <p:sp>
        <p:nvSpPr>
          <p:cNvPr id="35" name="Text 33"/>
          <p:cNvSpPr/>
          <p:nvPr/>
        </p:nvSpPr>
        <p:spPr>
          <a:xfrm>
            <a:off x="4526280" y="4407408"/>
            <a:ext cx="3127248" cy="832104"/>
          </a:xfrm>
          <a:prstGeom prst="rect">
            <a:avLst/>
          </a:prstGeom>
          <a:noFill/>
          <a:ln/>
        </p:spPr>
        <p:txBody>
          <a:bodyPr wrap="square" lIns="0" tIns="0" rIns="0" bIns="0" rtlCol="0" anchor="ctr"/>
          <a:lstStyle/>
          <a:p>
            <a:pPr algn="l" indent="0" marL="0">
              <a:buNone/>
            </a:pPr>
            <a:r>
              <a:rPr lang="en-US" sz="1310" dirty="0">
                <a:solidFill>
                  <a:srgbClr val="5B6169"/>
                </a:solidFill>
                <a:latin typeface="Arial" pitchFamily="34" charset="0"/>
                <a:ea typeface="Arial" pitchFamily="34" charset="-122"/>
                <a:cs typeface="Arial" pitchFamily="34" charset="-120"/>
              </a:rPr>
              <a:t>Compatibility + rollout channels</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Revocation / CVE advisories</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Offline export + rollback archive</a:t>
            </a:r>
            <a:endParaRPr lang="en-US" sz="1310" dirty="0"/>
          </a:p>
        </p:txBody>
      </p:sp>
      <p:sp>
        <p:nvSpPr>
          <p:cNvPr id="36" name="Shape 34"/>
          <p:cNvSpPr/>
          <p:nvPr/>
        </p:nvSpPr>
        <p:spPr>
          <a:xfrm>
            <a:off x="8174736" y="3657600"/>
            <a:ext cx="3419856" cy="1691640"/>
          </a:xfrm>
          <a:prstGeom prst="rect">
            <a:avLst>
              <a:gd name="adj" fmla="val 54054"/>
            </a:avLst>
          </a:prstGeom>
          <a:solidFill>
            <a:srgbClr val="F3F4F6"/>
          </a:solidFill>
          <a:ln w="10160">
            <a:solidFill>
              <a:srgbClr val="F3F4F6"/>
            </a:solidFill>
            <a:prstDash val="solid"/>
          </a:ln>
        </p:spPr>
      </p:sp>
      <p:sp>
        <p:nvSpPr>
          <p:cNvPr id="37" name="Text 35"/>
          <p:cNvSpPr/>
          <p:nvPr/>
        </p:nvSpPr>
        <p:spPr>
          <a:xfrm>
            <a:off x="8321040" y="3767328"/>
            <a:ext cx="3127248" cy="548640"/>
          </a:xfrm>
          <a:prstGeom prst="rect">
            <a:avLst/>
          </a:prstGeom>
          <a:noFill/>
          <a:ln/>
        </p:spPr>
        <p:txBody>
          <a:bodyPr wrap="square" lIns="0" tIns="0" rIns="0" bIns="0" rtlCol="0" anchor="ctr"/>
          <a:lstStyle/>
          <a:p>
            <a:pPr algn="l" indent="0" marL="0">
              <a:buNone/>
            </a:pPr>
            <a:r>
              <a:rPr lang="en-US" sz="1700" b="1" dirty="0">
                <a:solidFill>
                  <a:srgbClr val="18191D"/>
                </a:solidFill>
                <a:latin typeface="Arial" pitchFamily="34" charset="0"/>
                <a:ea typeface="Arial" pitchFamily="34" charset="-122"/>
                <a:cs typeface="Arial" pitchFamily="34" charset="-120"/>
              </a:rPr>
              <a:t>Support + partner services</a:t>
            </a:r>
            <a:endParaRPr lang="en-US" sz="1700" dirty="0"/>
          </a:p>
        </p:txBody>
      </p:sp>
      <p:sp>
        <p:nvSpPr>
          <p:cNvPr id="38" name="Text 36"/>
          <p:cNvSpPr/>
          <p:nvPr/>
        </p:nvSpPr>
        <p:spPr>
          <a:xfrm>
            <a:off x="8321040" y="4407408"/>
            <a:ext cx="3127248" cy="832104"/>
          </a:xfrm>
          <a:prstGeom prst="rect">
            <a:avLst/>
          </a:prstGeom>
          <a:noFill/>
          <a:ln/>
        </p:spPr>
        <p:txBody>
          <a:bodyPr wrap="square" lIns="0" tIns="0" rIns="0" bIns="0" rtlCol="0" anchor="ctr"/>
          <a:lstStyle/>
          <a:p>
            <a:pPr algn="l" indent="0" marL="0">
              <a:buNone/>
            </a:pPr>
            <a:r>
              <a:rPr lang="en-US" sz="1310" dirty="0">
                <a:solidFill>
                  <a:srgbClr val="5B6169"/>
                </a:solidFill>
                <a:latin typeface="Arial" pitchFamily="34" charset="0"/>
                <a:ea typeface="Arial" pitchFamily="34" charset="-122"/>
                <a:cs typeface="Arial" pitchFamily="34" charset="-120"/>
              </a:rPr>
              <a:t>Reproduction lab / PSIRT</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OEM RMA and field escalation</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Knowledge base / release notes</a:t>
            </a:r>
            <a:endParaRPr lang="en-US" sz="1310" dirty="0"/>
          </a:p>
        </p:txBody>
      </p:sp>
      <p:sp>
        <p:nvSpPr>
          <p:cNvPr id="39" name="Shape 37"/>
          <p:cNvSpPr/>
          <p:nvPr/>
        </p:nvSpPr>
        <p:spPr>
          <a:xfrm>
            <a:off x="475488" y="5843016"/>
            <a:ext cx="11228832" cy="457200"/>
          </a:xfrm>
          <a:prstGeom prst="rect">
            <a:avLst/>
          </a:prstGeom>
          <a:solidFill>
            <a:srgbClr val="FCECEF"/>
          </a:solidFill>
          <a:ln w="10160">
            <a:solidFill>
              <a:srgbClr val="FCECEF"/>
            </a:solidFill>
            <a:prstDash val="solid"/>
          </a:ln>
        </p:spPr>
      </p:sp>
      <p:sp>
        <p:nvSpPr>
          <p:cNvPr id="40" name="Text 38"/>
          <p:cNvSpPr/>
          <p:nvPr/>
        </p:nvSpPr>
        <p:spPr>
          <a:xfrm>
            <a:off x="621792" y="5893308"/>
            <a:ext cx="10936224" cy="347472"/>
          </a:xfrm>
          <a:prstGeom prst="rect">
            <a:avLst/>
          </a:prstGeom>
          <a:noFill/>
          <a:ln/>
        </p:spPr>
        <p:txBody>
          <a:bodyPr wrap="square" lIns="0" tIns="0" rIns="0" bIns="0" rtlCol="0" anchor="ctr"/>
          <a:lstStyle/>
          <a:p>
            <a:pPr algn="l" indent="0" marL="0">
              <a:buNone/>
            </a:pPr>
            <a:r>
              <a:rPr lang="en-US" sz="1300" b="1" dirty="0">
                <a:solidFill>
                  <a:srgbClr val="E31837"/>
                </a:solidFill>
                <a:latin typeface="Arial" pitchFamily="34" charset="0"/>
                <a:ea typeface="Arial" pitchFamily="34" charset="-122"/>
                <a:cs typeface="Arial" pitchFamily="34" charset="-120"/>
              </a:rPr>
              <a:t>Only a release service can publish production artifacts. Build workers must not hold unrestricted production signing credentials.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E31837"/>
          </a:solidFill>
          <a:ln w="10160">
            <a:solidFill>
              <a:srgbClr val="E31837"/>
            </a:solidFill>
            <a:prstDash val="solid"/>
          </a:ln>
        </p:spPr>
      </p:sp>
      <p:sp>
        <p:nvSpPr>
          <p:cNvPr id="3" name="Text 1"/>
          <p:cNvSpPr/>
          <p:nvPr/>
        </p:nvSpPr>
        <p:spPr>
          <a:xfrm>
            <a:off x="457200" y="228600"/>
            <a:ext cx="1645920" cy="228600"/>
          </a:xfrm>
          <a:prstGeom prst="rect">
            <a:avLst/>
          </a:prstGeom>
          <a:noFill/>
          <a:ln/>
        </p:spPr>
        <p:txBody>
          <a:bodyPr wrap="square" lIns="0" tIns="0" rIns="0" bIns="0" rtlCol="0" anchor="ctr"/>
          <a:lstStyle/>
          <a:p>
            <a:pPr algn="l" indent="0" marL="0">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4" name="Text 2"/>
          <p:cNvSpPr/>
          <p:nvPr/>
        </p:nvSpPr>
        <p:spPr>
          <a:xfrm>
            <a:off x="1965960" y="256032"/>
            <a:ext cx="9144000" cy="182880"/>
          </a:xfrm>
          <a:prstGeom prst="rect">
            <a:avLst/>
          </a:prstGeom>
          <a:noFill/>
          <a:ln/>
        </p:spPr>
        <p:txBody>
          <a:bodyPr wrap="square" lIns="0" tIns="0" rIns="0" bIns="0" rtlCol="0" anchor="ctr"/>
          <a:lstStyle/>
          <a:p>
            <a:pPr algn="l" indent="0" marL="0">
              <a:buNone/>
            </a:pPr>
            <a:r>
              <a:rPr lang="en-US" sz="1050" b="1" dirty="0">
                <a:solidFill>
                  <a:srgbClr val="5B6169"/>
                </a:solidFill>
                <a:latin typeface="Arial" pitchFamily="34" charset="0"/>
                <a:ea typeface="Arial" pitchFamily="34" charset="-122"/>
                <a:cs typeface="Arial" pitchFamily="34" charset="-120"/>
              </a:rPr>
              <a:t>ATMOS  /  A9 / REPOSITORIES + MANIFEST</a:t>
            </a:r>
            <a:endParaRPr lang="en-US" sz="1050" dirty="0"/>
          </a:p>
        </p:txBody>
      </p:sp>
      <p:sp>
        <p:nvSpPr>
          <p:cNvPr id="5" name="Text 3"/>
          <p:cNvSpPr/>
          <p:nvPr/>
        </p:nvSpPr>
        <p:spPr>
          <a:xfrm>
            <a:off x="475488" y="758952"/>
            <a:ext cx="11201400" cy="493776"/>
          </a:xfrm>
          <a:prstGeom prst="rect">
            <a:avLst/>
          </a:prstGeom>
          <a:noFill/>
          <a:ln/>
        </p:spPr>
        <p:txBody>
          <a:bodyPr wrap="square" lIns="0" tIns="0" rIns="0" bIns="0" rtlCol="0" anchor="ctr"/>
          <a:lstStyle/>
          <a:p>
            <a:pPr algn="l" indent="0" marL="0">
              <a:buNone/>
            </a:pPr>
            <a:r>
              <a:rPr lang="en-US" sz="2750" b="1" dirty="0">
                <a:solidFill>
                  <a:srgbClr val="18191D"/>
                </a:solidFill>
                <a:latin typeface="Arial" pitchFamily="34" charset="0"/>
                <a:ea typeface="Arial" pitchFamily="34" charset="-122"/>
                <a:cs typeface="Arial" pitchFamily="34" charset="-120"/>
              </a:rPr>
              <a:t>Bind every release to digests—not mutable tags or filenames.</a:t>
            </a:r>
            <a:endParaRPr lang="en-US" sz="2750" dirty="0"/>
          </a:p>
        </p:txBody>
      </p:sp>
      <p:sp>
        <p:nvSpPr>
          <p:cNvPr id="6" name="Text 4"/>
          <p:cNvSpPr/>
          <p:nvPr/>
        </p:nvSpPr>
        <p:spPr>
          <a:xfrm>
            <a:off x="502920" y="1298448"/>
            <a:ext cx="11064240" cy="411480"/>
          </a:xfrm>
          <a:prstGeom prst="rect">
            <a:avLst/>
          </a:prstGeom>
          <a:noFill/>
          <a:ln/>
        </p:spPr>
        <p:txBody>
          <a:bodyPr wrap="square" lIns="0" tIns="0" rIns="0" bIns="0" rtlCol="0" anchor="ctr"/>
          <a:lstStyle/>
          <a:p>
            <a:pPr algn="l" indent="0" marL="0">
              <a:buNone/>
            </a:pPr>
            <a:r>
              <a:rPr lang="en-US" sz="1350" dirty="0">
                <a:solidFill>
                  <a:srgbClr val="5B6169"/>
                </a:solidFill>
                <a:latin typeface="Arial" pitchFamily="34" charset="0"/>
                <a:ea typeface="Arial" pitchFamily="34" charset="-122"/>
                <a:cs typeface="Arial" pitchFamily="34" charset="-120"/>
              </a:rPr>
              <a:t>Four repositories serve different jobs; a signed compatibility manifest connects them.</a:t>
            </a:r>
            <a:endParaRPr lang="en-US" sz="1350" dirty="0"/>
          </a:p>
        </p:txBody>
      </p:sp>
      <p:sp>
        <p:nvSpPr>
          <p:cNvPr id="7" name="Shape 5"/>
          <p:cNvSpPr/>
          <p:nvPr/>
        </p:nvSpPr>
        <p:spPr>
          <a:xfrm>
            <a:off x="484632" y="6464808"/>
            <a:ext cx="11237976" cy="0"/>
          </a:xfrm>
          <a:prstGeom prst="line">
            <a:avLst/>
          </a:prstGeom>
          <a:noFill/>
          <a:ln w="7620">
            <a:solidFill>
              <a:srgbClr val="D9DDE3"/>
            </a:solidFill>
            <a:prstDash val="solid"/>
            <a:headEnd type="none"/>
            <a:tailEnd type="none"/>
          </a:ln>
        </p:spPr>
      </p:sp>
      <p:sp>
        <p:nvSpPr>
          <p:cNvPr id="8" name="Text 6"/>
          <p:cNvSpPr/>
          <p:nvPr/>
        </p:nvSpPr>
        <p:spPr>
          <a:xfrm>
            <a:off x="512064" y="6547104"/>
            <a:ext cx="9418320" cy="164592"/>
          </a:xfrm>
          <a:prstGeom prst="rect">
            <a:avLst/>
          </a:prstGeom>
          <a:noFill/>
          <a:ln/>
        </p:spPr>
        <p:txBody>
          <a:bodyPr wrap="square" lIns="0" tIns="0" rIns="0" bIns="0" rtlCol="0" anchor="ctr"/>
          <a:lstStyle/>
          <a:p>
            <a:pPr algn="l" indent="0" marL="0">
              <a:buNone/>
            </a:pPr>
            <a:r>
              <a:rPr lang="en-US" sz="850" dirty="0">
                <a:solidFill>
                  <a:srgbClr val="5B6169"/>
                </a:solidFill>
                <a:latin typeface="Arial" pitchFamily="34" charset="0"/>
                <a:ea typeface="Arial" pitchFamily="34" charset="-122"/>
                <a:cs typeface="Arial" pitchFamily="34" charset="-120"/>
              </a:rPr>
              <a:t>TECHNICAL APPENDIX TO V3  •  6 OCT 2026  •  PROPOSED DESIGN / QUALIFICATION REQUIRED</a:t>
            </a:r>
            <a:endParaRPr lang="en-US" sz="850" dirty="0"/>
          </a:p>
        </p:txBody>
      </p:sp>
      <p:sp>
        <p:nvSpPr>
          <p:cNvPr id="9" name="Text 7"/>
          <p:cNvSpPr/>
          <p:nvPr/>
        </p:nvSpPr>
        <p:spPr>
          <a:xfrm>
            <a:off x="11219688" y="6519672"/>
            <a:ext cx="457200" cy="219456"/>
          </a:xfrm>
          <a:prstGeom prst="rect">
            <a:avLst/>
          </a:prstGeom>
          <a:noFill/>
          <a:ln/>
        </p:spPr>
        <p:txBody>
          <a:bodyPr wrap="square" lIns="0" tIns="0" rIns="0" bIns="0" rtlCol="0" anchor="ctr"/>
          <a:lstStyle/>
          <a:p>
            <a:pPr algn="r" indent="0" marL="0">
              <a:buNone/>
            </a:pPr>
            <a:r>
              <a:rPr lang="en-US" sz="1000" b="1" dirty="0">
                <a:solidFill>
                  <a:srgbClr val="E31837"/>
                </a:solidFill>
                <a:latin typeface="Arial" pitchFamily="34" charset="0"/>
                <a:ea typeface="Arial" pitchFamily="34" charset="-122"/>
                <a:cs typeface="Arial" pitchFamily="34" charset="-120"/>
              </a:rPr>
              <a:t>10</a:t>
            </a:r>
            <a:endParaRPr lang="en-US" sz="1000" dirty="0"/>
          </a:p>
        </p:txBody>
      </p:sp>
      <p:sp>
        <p:nvSpPr>
          <p:cNvPr id="10" name="Text 8">
            <a:hlinkClick r:id="rId1" tooltip=""/>
          </p:cNvPr>
          <p:cNvSpPr/>
          <p:nvPr/>
        </p:nvSpPr>
        <p:spPr>
          <a:xfrm>
            <a:off x="9875520" y="237744"/>
            <a:ext cx="1828800" cy="219456"/>
          </a:xfrm>
          <a:prstGeom prst="rect">
            <a:avLst/>
          </a:prstGeom>
          <a:noFill/>
          <a:ln/>
        </p:spPr>
        <p:txBody>
          <a:bodyPr wrap="square" lIns="0" tIns="0" rIns="0" bIns="0" rtlCol="0" anchor="ctr"/>
          <a:lstStyle/>
          <a:p>
            <a:pPr algn="r" indent="0" marL="0">
              <a:buNone/>
            </a:pPr>
            <a:r>
              <a:rPr lang="en-US" sz="1000"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technical notes</a:t>
            </a:r>
            <a:endParaRPr lang="en-US" sz="1000" dirty="0"/>
          </a:p>
        </p:txBody>
      </p:sp>
      <p:sp>
        <p:nvSpPr>
          <p:cNvPr id="11" name="Shape 9"/>
          <p:cNvSpPr/>
          <p:nvPr/>
        </p:nvSpPr>
        <p:spPr>
          <a:xfrm>
            <a:off x="594360" y="1874520"/>
            <a:ext cx="5586984" cy="704088"/>
          </a:xfrm>
          <a:prstGeom prst="rect">
            <a:avLst/>
          </a:prstGeom>
          <a:solidFill>
            <a:srgbClr val="FCECEF"/>
          </a:solidFill>
          <a:ln w="10160">
            <a:solidFill>
              <a:srgbClr val="FCECEF"/>
            </a:solidFill>
            <a:prstDash val="solid"/>
          </a:ln>
        </p:spPr>
      </p:sp>
      <p:sp>
        <p:nvSpPr>
          <p:cNvPr id="12" name="Text 10"/>
          <p:cNvSpPr/>
          <p:nvPr/>
        </p:nvSpPr>
        <p:spPr>
          <a:xfrm>
            <a:off x="704088" y="1947672"/>
            <a:ext cx="5367528"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SOURCE GIT</a:t>
            </a:r>
            <a:endParaRPr lang="en-US" sz="1450" dirty="0"/>
          </a:p>
        </p:txBody>
      </p:sp>
      <p:sp>
        <p:nvSpPr>
          <p:cNvPr id="13" name="Text 11"/>
          <p:cNvSpPr/>
          <p:nvPr/>
        </p:nvSpPr>
        <p:spPr>
          <a:xfrm>
            <a:off x="704088" y="2313432"/>
            <a:ext cx="5367528" cy="201168"/>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OS/image recipes, charts, device code, model build recipes and tests.</a:t>
            </a:r>
            <a:endParaRPr lang="en-US" sz="1250" dirty="0"/>
          </a:p>
        </p:txBody>
      </p:sp>
      <p:sp>
        <p:nvSpPr>
          <p:cNvPr id="14" name="Shape 12"/>
          <p:cNvSpPr/>
          <p:nvPr/>
        </p:nvSpPr>
        <p:spPr>
          <a:xfrm>
            <a:off x="594360" y="2715768"/>
            <a:ext cx="5586984" cy="704088"/>
          </a:xfrm>
          <a:prstGeom prst="rect">
            <a:avLst/>
          </a:prstGeom>
          <a:solidFill>
            <a:srgbClr val="F3F4F6"/>
          </a:solidFill>
          <a:ln w="10160">
            <a:solidFill>
              <a:srgbClr val="F3F4F6"/>
            </a:solidFill>
            <a:prstDash val="solid"/>
          </a:ln>
        </p:spPr>
      </p:sp>
      <p:sp>
        <p:nvSpPr>
          <p:cNvPr id="15" name="Text 13"/>
          <p:cNvSpPr/>
          <p:nvPr/>
        </p:nvSpPr>
        <p:spPr>
          <a:xfrm>
            <a:off x="704088" y="2788920"/>
            <a:ext cx="5367528"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OCI REGISTRY</a:t>
            </a:r>
            <a:endParaRPr lang="en-US" sz="1450" dirty="0"/>
          </a:p>
        </p:txBody>
      </p:sp>
      <p:sp>
        <p:nvSpPr>
          <p:cNvPr id="16" name="Text 14"/>
          <p:cNvSpPr/>
          <p:nvPr/>
        </p:nvSpPr>
        <p:spPr>
          <a:xfrm>
            <a:off x="704088" y="3154680"/>
            <a:ext cx="5367528" cy="201168"/>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Runtime images • charts • signed ModelPack manifests.</a:t>
            </a:r>
            <a:endParaRPr lang="en-US" sz="1250" dirty="0"/>
          </a:p>
        </p:txBody>
      </p:sp>
      <p:sp>
        <p:nvSpPr>
          <p:cNvPr id="17" name="Shape 15"/>
          <p:cNvSpPr/>
          <p:nvPr/>
        </p:nvSpPr>
        <p:spPr>
          <a:xfrm>
            <a:off x="594360" y="3557016"/>
            <a:ext cx="5586984" cy="704088"/>
          </a:xfrm>
          <a:prstGeom prst="rect">
            <a:avLst/>
          </a:prstGeom>
          <a:solidFill>
            <a:srgbClr val="FCECEF"/>
          </a:solidFill>
          <a:ln w="10160">
            <a:solidFill>
              <a:srgbClr val="FCECEF"/>
            </a:solidFill>
            <a:prstDash val="solid"/>
          </a:ln>
        </p:spPr>
      </p:sp>
      <p:sp>
        <p:nvSpPr>
          <p:cNvPr id="18" name="Text 16"/>
          <p:cNvSpPr/>
          <p:nvPr/>
        </p:nvSpPr>
        <p:spPr>
          <a:xfrm>
            <a:off x="704088" y="3630168"/>
            <a:ext cx="5367528"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RELEASE OBJECT STORE</a:t>
            </a:r>
            <a:endParaRPr lang="en-US" sz="1450" dirty="0"/>
          </a:p>
        </p:txBody>
      </p:sp>
      <p:sp>
        <p:nvSpPr>
          <p:cNvPr id="19" name="Text 17"/>
          <p:cNvSpPr/>
          <p:nvPr/>
        </p:nvSpPr>
        <p:spPr>
          <a:xfrm>
            <a:off x="704088" y="3995928"/>
            <a:ext cx="5367528" cy="201168"/>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OS/recovery • firmware • model blobs • offline bundles.</a:t>
            </a:r>
            <a:endParaRPr lang="en-US" sz="1250" dirty="0"/>
          </a:p>
        </p:txBody>
      </p:sp>
      <p:sp>
        <p:nvSpPr>
          <p:cNvPr id="20" name="Shape 18"/>
          <p:cNvSpPr/>
          <p:nvPr/>
        </p:nvSpPr>
        <p:spPr>
          <a:xfrm>
            <a:off x="594360" y="4398264"/>
            <a:ext cx="5586984" cy="704088"/>
          </a:xfrm>
          <a:prstGeom prst="rect">
            <a:avLst/>
          </a:prstGeom>
          <a:solidFill>
            <a:srgbClr val="F3F4F6"/>
          </a:solidFill>
          <a:ln w="10160">
            <a:solidFill>
              <a:srgbClr val="F3F4F6"/>
            </a:solidFill>
            <a:prstDash val="solid"/>
          </a:ln>
        </p:spPr>
      </p:sp>
      <p:sp>
        <p:nvSpPr>
          <p:cNvPr id="21" name="Text 19"/>
          <p:cNvSpPr/>
          <p:nvPr/>
        </p:nvSpPr>
        <p:spPr>
          <a:xfrm>
            <a:off x="704088" y="4471416"/>
            <a:ext cx="5367528"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CATALOG + EVIDENCE</a:t>
            </a:r>
            <a:endParaRPr lang="en-US" sz="1450" dirty="0"/>
          </a:p>
        </p:txBody>
      </p:sp>
      <p:sp>
        <p:nvSpPr>
          <p:cNvPr id="22" name="Text 20"/>
          <p:cNvSpPr/>
          <p:nvPr/>
        </p:nvSpPr>
        <p:spPr>
          <a:xfrm>
            <a:off x="704088" y="4837176"/>
            <a:ext cx="5367528" cy="201168"/>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Compatibility • licenses • evidence • channels • revocations.</a:t>
            </a:r>
            <a:endParaRPr lang="en-US" sz="1250" dirty="0"/>
          </a:p>
        </p:txBody>
      </p:sp>
      <p:sp>
        <p:nvSpPr>
          <p:cNvPr id="23" name="Shape 21"/>
          <p:cNvSpPr/>
          <p:nvPr/>
        </p:nvSpPr>
        <p:spPr>
          <a:xfrm>
            <a:off x="6739128" y="1874520"/>
            <a:ext cx="4855464" cy="3227832"/>
          </a:xfrm>
          <a:prstGeom prst="rect">
            <a:avLst>
              <a:gd name="adj" fmla="val 28329"/>
            </a:avLst>
          </a:prstGeom>
          <a:solidFill>
            <a:srgbClr val="18191D"/>
          </a:solidFill>
          <a:ln w="10160">
            <a:solidFill>
              <a:srgbClr val="18191D"/>
            </a:solidFill>
            <a:prstDash val="solid"/>
          </a:ln>
        </p:spPr>
      </p:sp>
      <p:sp>
        <p:nvSpPr>
          <p:cNvPr id="24" name="Text 22"/>
          <p:cNvSpPr/>
          <p:nvPr/>
        </p:nvSpPr>
        <p:spPr>
          <a:xfrm>
            <a:off x="6885432" y="1984248"/>
            <a:ext cx="4562856"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Arial" pitchFamily="34" charset="0"/>
                <a:ea typeface="Arial" pitchFamily="34" charset="-122"/>
                <a:cs typeface="Arial" pitchFamily="34" charset="-120"/>
              </a:rPr>
              <a:t>ProductRelease manifest</a:t>
            </a:r>
            <a:endParaRPr lang="en-US" sz="2300" dirty="0"/>
          </a:p>
        </p:txBody>
      </p:sp>
      <p:sp>
        <p:nvSpPr>
          <p:cNvPr id="25" name="Text 23"/>
          <p:cNvSpPr/>
          <p:nvPr/>
        </p:nvSpPr>
        <p:spPr>
          <a:xfrm>
            <a:off x="6885432" y="2624328"/>
            <a:ext cx="4562856" cy="2368296"/>
          </a:xfrm>
          <a:prstGeom prst="rect">
            <a:avLst/>
          </a:prstGeom>
          <a:noFill/>
          <a:ln/>
        </p:spPr>
        <p:txBody>
          <a:bodyPr wrap="square" lIns="0" tIns="0" rIns="0" bIns="0" rtlCol="0" anchor="ctr"/>
          <a:lstStyle/>
          <a:p>
            <a:pPr algn="l" indent="0" marL="0">
              <a:buNone/>
            </a:pPr>
            <a:r>
              <a:rPr lang="en-US" sz="1310" dirty="0">
                <a:solidFill>
                  <a:srgbClr val="FFFFFF"/>
                </a:solidFill>
                <a:latin typeface="Arial" pitchFamily="34" charset="0"/>
                <a:ea typeface="Arial" pitchFamily="34" charset="-122"/>
                <a:cs typeface="Arial" pitchFamily="34" charset="-120"/>
              </a:rPr>
              <a:t>OS + kernel + driver identity</a:t>
            </a:r>
            <a:endParaRPr lang="en-US" sz="1310" dirty="0"/>
          </a:p>
          <a:p>
            <a:pPr algn="l" indent="0" marL="0">
              <a:buNone/>
            </a:pPr>
            <a:r>
              <a:rPr lang="en-US" sz="1310" dirty="0">
                <a:solidFill>
                  <a:srgbClr val="FFFFFF"/>
                </a:solidFill>
                <a:latin typeface="Arial" pitchFamily="34" charset="0"/>
                <a:ea typeface="Arial" pitchFamily="34" charset="-122"/>
                <a:cs typeface="Arial" pitchFamily="34" charset="-120"/>
              </a:rPr>
              <a:t>Firmware / switch compatibility</a:t>
            </a:r>
            <a:endParaRPr lang="en-US" sz="1310" dirty="0"/>
          </a:p>
          <a:p>
            <a:pPr algn="l" indent="0" marL="0">
              <a:buNone/>
            </a:pPr>
            <a:r>
              <a:rPr lang="en-US" sz="1310" dirty="0">
                <a:solidFill>
                  <a:srgbClr val="FFFFFF"/>
                </a:solidFill>
                <a:latin typeface="Arial" pitchFamily="34" charset="0"/>
                <a:ea typeface="Arial" pitchFamily="34" charset="-122"/>
                <a:cs typeface="Arial" pitchFamily="34" charset="-120"/>
              </a:rPr>
              <a:t>Runtime + ModelPack digests</a:t>
            </a:r>
            <a:endParaRPr lang="en-US" sz="1310" dirty="0"/>
          </a:p>
          <a:p>
            <a:pPr algn="l" indent="0" marL="0">
              <a:buNone/>
            </a:pPr>
            <a:r>
              <a:rPr lang="en-US" sz="1310" dirty="0">
                <a:solidFill>
                  <a:srgbClr val="FFFFFF"/>
                </a:solidFill>
                <a:latin typeface="Arial" pitchFamily="34" charset="0"/>
                <a:ea typeface="Arial" pitchFamily="34" charset="-122"/>
                <a:cs typeface="Arial" pitchFamily="34" charset="-120"/>
              </a:rPr>
              <a:t>Topology + service-profile limits</a:t>
            </a:r>
            <a:endParaRPr lang="en-US" sz="1310" dirty="0"/>
          </a:p>
          <a:p>
            <a:pPr algn="l" indent="0" marL="0">
              <a:buNone/>
            </a:pPr>
            <a:r>
              <a:rPr lang="en-US" sz="1310" dirty="0">
                <a:solidFill>
                  <a:srgbClr val="FFFFFF"/>
                </a:solidFill>
                <a:latin typeface="Arial" pitchFamily="34" charset="0"/>
                <a:ea typeface="Arial" pitchFamily="34" charset="-122"/>
                <a:cs typeface="Arial" pitchFamily="34" charset="-120"/>
              </a:rPr>
              <a:t>Trust version + rollback constraints</a:t>
            </a:r>
            <a:endParaRPr lang="en-US" sz="1310" dirty="0"/>
          </a:p>
          <a:p>
            <a:pPr algn="l" indent="0" marL="0">
              <a:buNone/>
            </a:pPr>
            <a:r>
              <a:rPr lang="en-US" sz="1310" dirty="0">
                <a:solidFill>
                  <a:srgbClr val="FFFFFF"/>
                </a:solidFill>
                <a:latin typeface="Arial" pitchFamily="34" charset="0"/>
                <a:ea typeface="Arial" pitchFamily="34" charset="-122"/>
                <a:cs typeface="Arial" pitchFamily="34" charset="-120"/>
              </a:rPr>
              <a:t>Approval and test-evidence references</a:t>
            </a:r>
            <a:endParaRPr lang="en-US" sz="1310" dirty="0"/>
          </a:p>
        </p:txBody>
      </p:sp>
      <p:sp>
        <p:nvSpPr>
          <p:cNvPr id="26" name="Shape 24"/>
          <p:cNvSpPr/>
          <p:nvPr/>
        </p:nvSpPr>
        <p:spPr>
          <a:xfrm>
            <a:off x="6190488" y="3465576"/>
            <a:ext cx="521208" cy="0"/>
          </a:xfrm>
          <a:prstGeom prst="line">
            <a:avLst/>
          </a:prstGeom>
          <a:noFill/>
          <a:ln w="19050">
            <a:solidFill>
              <a:srgbClr val="E31837"/>
            </a:solidFill>
            <a:prstDash val="solid"/>
            <a:headEnd type="none"/>
            <a:tailEnd type="triangle"/>
          </a:ln>
        </p:spPr>
      </p:sp>
      <p:sp>
        <p:nvSpPr>
          <p:cNvPr id="27" name="Text 25"/>
          <p:cNvSpPr/>
          <p:nvPr/>
        </p:nvSpPr>
        <p:spPr>
          <a:xfrm>
            <a:off x="6784848" y="5321808"/>
            <a:ext cx="4681728" cy="320040"/>
          </a:xfrm>
          <a:prstGeom prst="rect">
            <a:avLst/>
          </a:prstGeom>
          <a:noFill/>
          <a:ln/>
        </p:spPr>
        <p:txBody>
          <a:bodyPr wrap="square" lIns="0" tIns="0" rIns="0" bIns="0" rtlCol="0" anchor="ctr"/>
          <a:lstStyle/>
          <a:p>
            <a:pPr algn="l" indent="0" marL="0">
              <a:buNone/>
            </a:pPr>
            <a:r>
              <a:rPr lang="en-US" sz="1200" dirty="0">
                <a:solidFill>
                  <a:srgbClr val="5B6169"/>
                </a:solidFill>
                <a:latin typeface="Arial" pitchFamily="34" charset="0"/>
                <a:ea typeface="Arial" pitchFamily="34" charset="-122"/>
                <a:cs typeface="Arial" pitchFamily="34" charset="-120"/>
              </a:rPr>
              <a:t>Customer documents, indexes and secrets belong in customer-local protected stores—not this public product catalog.</a:t>
            </a:r>
            <a:endParaRPr lang="en-US" sz="1200" dirty="0"/>
          </a:p>
        </p:txBody>
      </p:sp>
      <p:sp>
        <p:nvSpPr>
          <p:cNvPr id="28" name="Shape 26"/>
          <p:cNvSpPr/>
          <p:nvPr/>
        </p:nvSpPr>
        <p:spPr>
          <a:xfrm>
            <a:off x="475488" y="5843016"/>
            <a:ext cx="11228832" cy="457200"/>
          </a:xfrm>
          <a:prstGeom prst="rect">
            <a:avLst/>
          </a:prstGeom>
          <a:solidFill>
            <a:srgbClr val="FCECEF"/>
          </a:solidFill>
          <a:ln w="10160">
            <a:solidFill>
              <a:srgbClr val="FCECEF"/>
            </a:solidFill>
            <a:prstDash val="solid"/>
          </a:ln>
        </p:spPr>
      </p:sp>
      <p:sp>
        <p:nvSpPr>
          <p:cNvPr id="29" name="Text 27"/>
          <p:cNvSpPr/>
          <p:nvPr/>
        </p:nvSpPr>
        <p:spPr>
          <a:xfrm>
            <a:off x="621792" y="5893308"/>
            <a:ext cx="10936224" cy="347472"/>
          </a:xfrm>
          <a:prstGeom prst="rect">
            <a:avLst/>
          </a:prstGeom>
          <a:noFill/>
          <a:ln/>
        </p:spPr>
        <p:txBody>
          <a:bodyPr wrap="square" lIns="0" tIns="0" rIns="0" bIns="0" rtlCol="0" anchor="ctr"/>
          <a:lstStyle/>
          <a:p>
            <a:pPr algn="l" indent="0" marL="0">
              <a:buNone/>
            </a:pPr>
            <a:r>
              <a:rPr lang="en-US" sz="1300" b="1" dirty="0">
                <a:solidFill>
                  <a:srgbClr val="E31837"/>
                </a:solidFill>
                <a:latin typeface="Arial" pitchFamily="34" charset="0"/>
                <a:ea typeface="Arial" pitchFamily="34" charset="-122"/>
                <a:cs typeface="Arial" pitchFamily="34" charset="-120"/>
              </a:rPr>
              <a:t>A model weight update does not require rebuilding every runtime image. A new runtime must still pass the compatibility matrix.</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E31837"/>
          </a:solidFill>
          <a:ln w="10160">
            <a:solidFill>
              <a:srgbClr val="E31837"/>
            </a:solidFill>
            <a:prstDash val="solid"/>
          </a:ln>
        </p:spPr>
      </p:sp>
      <p:sp>
        <p:nvSpPr>
          <p:cNvPr id="3" name="Text 1"/>
          <p:cNvSpPr/>
          <p:nvPr/>
        </p:nvSpPr>
        <p:spPr>
          <a:xfrm>
            <a:off x="457200" y="228600"/>
            <a:ext cx="1645920" cy="228600"/>
          </a:xfrm>
          <a:prstGeom prst="rect">
            <a:avLst/>
          </a:prstGeom>
          <a:noFill/>
          <a:ln/>
        </p:spPr>
        <p:txBody>
          <a:bodyPr wrap="square" lIns="0" tIns="0" rIns="0" bIns="0" rtlCol="0" anchor="ctr"/>
          <a:lstStyle/>
          <a:p>
            <a:pPr algn="l" indent="0" marL="0">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4" name="Text 2"/>
          <p:cNvSpPr/>
          <p:nvPr/>
        </p:nvSpPr>
        <p:spPr>
          <a:xfrm>
            <a:off x="1965960" y="256032"/>
            <a:ext cx="9144000" cy="182880"/>
          </a:xfrm>
          <a:prstGeom prst="rect">
            <a:avLst/>
          </a:prstGeom>
          <a:noFill/>
          <a:ln/>
        </p:spPr>
        <p:txBody>
          <a:bodyPr wrap="square" lIns="0" tIns="0" rIns="0" bIns="0" rtlCol="0" anchor="ctr"/>
          <a:lstStyle/>
          <a:p>
            <a:pPr algn="l" indent="0" marL="0">
              <a:buNone/>
            </a:pPr>
            <a:r>
              <a:rPr lang="en-US" sz="1050" b="1" dirty="0">
                <a:solidFill>
                  <a:srgbClr val="5B6169"/>
                </a:solidFill>
                <a:latin typeface="Arial" pitchFamily="34" charset="0"/>
                <a:ea typeface="Arial" pitchFamily="34" charset="-122"/>
                <a:cs typeface="Arial" pitchFamily="34" charset="-120"/>
              </a:rPr>
              <a:t>ATMOS  /  A10 / IMAGE DELIVERY</a:t>
            </a:r>
            <a:endParaRPr lang="en-US" sz="1050" dirty="0"/>
          </a:p>
        </p:txBody>
      </p:sp>
      <p:sp>
        <p:nvSpPr>
          <p:cNvPr id="5" name="Text 3"/>
          <p:cNvSpPr/>
          <p:nvPr/>
        </p:nvSpPr>
        <p:spPr>
          <a:xfrm>
            <a:off x="475488" y="758952"/>
            <a:ext cx="11201400" cy="493776"/>
          </a:xfrm>
          <a:prstGeom prst="rect">
            <a:avLst/>
          </a:prstGeom>
          <a:noFill/>
          <a:ln/>
        </p:spPr>
        <p:txBody>
          <a:bodyPr wrap="square" lIns="0" tIns="0" rIns="0" bIns="0" rtlCol="0" anchor="ctr"/>
          <a:lstStyle/>
          <a:p>
            <a:pPr algn="l" indent="0" marL="0">
              <a:buNone/>
            </a:pPr>
            <a:r>
              <a:rPr lang="en-US" sz="2750" b="1" dirty="0">
                <a:solidFill>
                  <a:srgbClr val="18191D"/>
                </a:solidFill>
                <a:latin typeface="Arial" pitchFamily="34" charset="0"/>
                <a:ea typeface="Arial" pitchFamily="34" charset="-122"/>
                <a:cs typeface="Arial" pitchFamily="34" charset="-120"/>
              </a:rPr>
              <a:t>One trusted release; three delivery routes.</a:t>
            </a:r>
            <a:endParaRPr lang="en-US" sz="2750" dirty="0"/>
          </a:p>
        </p:txBody>
      </p:sp>
      <p:sp>
        <p:nvSpPr>
          <p:cNvPr id="6" name="Text 4"/>
          <p:cNvSpPr/>
          <p:nvPr/>
        </p:nvSpPr>
        <p:spPr>
          <a:xfrm>
            <a:off x="502920" y="1298448"/>
            <a:ext cx="11064240" cy="411480"/>
          </a:xfrm>
          <a:prstGeom prst="rect">
            <a:avLst/>
          </a:prstGeom>
          <a:noFill/>
          <a:ln/>
        </p:spPr>
        <p:txBody>
          <a:bodyPr wrap="square" lIns="0" tIns="0" rIns="0" bIns="0" rtlCol="0" anchor="ctr"/>
          <a:lstStyle/>
          <a:p>
            <a:pPr algn="l" indent="0" marL="0">
              <a:buNone/>
            </a:pPr>
            <a:r>
              <a:rPr lang="en-US" sz="1350" dirty="0">
                <a:solidFill>
                  <a:srgbClr val="5B6169"/>
                </a:solidFill>
                <a:latin typeface="Arial" pitchFamily="34" charset="0"/>
                <a:ea typeface="Arial" pitchFamily="34" charset="-122"/>
                <a:cs typeface="Arial" pitchFamily="34" charset="-120"/>
              </a:rPr>
              <a:t>Factory, connected and air-gapped installations use the same digest and compatibility checks.</a:t>
            </a:r>
            <a:endParaRPr lang="en-US" sz="1350" dirty="0"/>
          </a:p>
        </p:txBody>
      </p:sp>
      <p:sp>
        <p:nvSpPr>
          <p:cNvPr id="7" name="Shape 5"/>
          <p:cNvSpPr/>
          <p:nvPr/>
        </p:nvSpPr>
        <p:spPr>
          <a:xfrm>
            <a:off x="484632" y="6464808"/>
            <a:ext cx="11237976" cy="0"/>
          </a:xfrm>
          <a:prstGeom prst="line">
            <a:avLst/>
          </a:prstGeom>
          <a:noFill/>
          <a:ln w="7620">
            <a:solidFill>
              <a:srgbClr val="D9DDE3"/>
            </a:solidFill>
            <a:prstDash val="solid"/>
            <a:headEnd type="none"/>
            <a:tailEnd type="none"/>
          </a:ln>
        </p:spPr>
      </p:sp>
      <p:sp>
        <p:nvSpPr>
          <p:cNvPr id="8" name="Text 6"/>
          <p:cNvSpPr/>
          <p:nvPr/>
        </p:nvSpPr>
        <p:spPr>
          <a:xfrm>
            <a:off x="512064" y="6547104"/>
            <a:ext cx="9418320" cy="164592"/>
          </a:xfrm>
          <a:prstGeom prst="rect">
            <a:avLst/>
          </a:prstGeom>
          <a:noFill/>
          <a:ln/>
        </p:spPr>
        <p:txBody>
          <a:bodyPr wrap="square" lIns="0" tIns="0" rIns="0" bIns="0" rtlCol="0" anchor="ctr"/>
          <a:lstStyle/>
          <a:p>
            <a:pPr algn="l" indent="0" marL="0">
              <a:buNone/>
            </a:pPr>
            <a:r>
              <a:rPr lang="en-US" sz="850" dirty="0">
                <a:solidFill>
                  <a:srgbClr val="5B6169"/>
                </a:solidFill>
                <a:latin typeface="Arial" pitchFamily="34" charset="0"/>
                <a:ea typeface="Arial" pitchFamily="34" charset="-122"/>
                <a:cs typeface="Arial" pitchFamily="34" charset="-120"/>
              </a:rPr>
              <a:t>TECHNICAL APPENDIX TO V3  •  6 OCT 2026  •  PROPOSED DESIGN / QUALIFICATION REQUIRED</a:t>
            </a:r>
            <a:endParaRPr lang="en-US" sz="850" dirty="0"/>
          </a:p>
        </p:txBody>
      </p:sp>
      <p:sp>
        <p:nvSpPr>
          <p:cNvPr id="9" name="Text 7"/>
          <p:cNvSpPr/>
          <p:nvPr/>
        </p:nvSpPr>
        <p:spPr>
          <a:xfrm>
            <a:off x="11219688" y="6519672"/>
            <a:ext cx="457200" cy="219456"/>
          </a:xfrm>
          <a:prstGeom prst="rect">
            <a:avLst/>
          </a:prstGeom>
          <a:noFill/>
          <a:ln/>
        </p:spPr>
        <p:txBody>
          <a:bodyPr wrap="square" lIns="0" tIns="0" rIns="0" bIns="0" rtlCol="0" anchor="ctr"/>
          <a:lstStyle/>
          <a:p>
            <a:pPr algn="r" indent="0" marL="0">
              <a:buNone/>
            </a:pPr>
            <a:r>
              <a:rPr lang="en-US" sz="1000" b="1" dirty="0">
                <a:solidFill>
                  <a:srgbClr val="E31837"/>
                </a:solidFill>
                <a:latin typeface="Arial" pitchFamily="34" charset="0"/>
                <a:ea typeface="Arial" pitchFamily="34" charset="-122"/>
                <a:cs typeface="Arial" pitchFamily="34" charset="-120"/>
              </a:rPr>
              <a:t>11</a:t>
            </a:r>
            <a:endParaRPr lang="en-US" sz="1000" dirty="0"/>
          </a:p>
        </p:txBody>
      </p:sp>
      <p:sp>
        <p:nvSpPr>
          <p:cNvPr id="10" name="Text 8">
            <a:hlinkClick r:id="rId1" tooltip=""/>
          </p:cNvPr>
          <p:cNvSpPr/>
          <p:nvPr/>
        </p:nvSpPr>
        <p:spPr>
          <a:xfrm>
            <a:off x="9875520" y="237744"/>
            <a:ext cx="1828800" cy="219456"/>
          </a:xfrm>
          <a:prstGeom prst="rect">
            <a:avLst/>
          </a:prstGeom>
          <a:noFill/>
          <a:ln/>
        </p:spPr>
        <p:txBody>
          <a:bodyPr wrap="square" lIns="0" tIns="0" rIns="0" bIns="0" rtlCol="0" anchor="ctr"/>
          <a:lstStyle/>
          <a:p>
            <a:pPr algn="r" indent="0" marL="0">
              <a:buNone/>
            </a:pPr>
            <a:r>
              <a:rPr lang="en-US" sz="1000"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technical notes</a:t>
            </a:r>
            <a:endParaRPr lang="en-US" sz="1000" dirty="0"/>
          </a:p>
        </p:txBody>
      </p:sp>
      <p:sp>
        <p:nvSpPr>
          <p:cNvPr id="11" name="Shape 9"/>
          <p:cNvSpPr/>
          <p:nvPr/>
        </p:nvSpPr>
        <p:spPr>
          <a:xfrm>
            <a:off x="594360" y="2029968"/>
            <a:ext cx="2322576" cy="3319272"/>
          </a:xfrm>
          <a:prstGeom prst="rect">
            <a:avLst>
              <a:gd name="adj" fmla="val 39370"/>
            </a:avLst>
          </a:prstGeom>
          <a:solidFill>
            <a:srgbClr val="18191D"/>
          </a:solidFill>
          <a:ln w="10160">
            <a:solidFill>
              <a:srgbClr val="18191D"/>
            </a:solidFill>
            <a:prstDash val="solid"/>
          </a:ln>
        </p:spPr>
      </p:sp>
      <p:sp>
        <p:nvSpPr>
          <p:cNvPr id="12" name="Text 10"/>
          <p:cNvSpPr/>
          <p:nvPr/>
        </p:nvSpPr>
        <p:spPr>
          <a:xfrm>
            <a:off x="740664" y="2139696"/>
            <a:ext cx="2029968" cy="786384"/>
          </a:xfrm>
          <a:prstGeom prst="rect">
            <a:avLst/>
          </a:prstGeom>
          <a:noFill/>
          <a:ln/>
        </p:spPr>
        <p:txBody>
          <a:bodyPr wrap="square" lIns="0" tIns="0" rIns="0" bIns="0" rtlCol="0" anchor="ctr"/>
          <a:lstStyle/>
          <a:p>
            <a:pPr algn="l" indent="0" marL="0">
              <a:buNone/>
            </a:pPr>
            <a:r>
              <a:rPr lang="en-US" sz="2300" b="1" dirty="0">
                <a:solidFill>
                  <a:srgbClr val="FFFFFF"/>
                </a:solidFill>
                <a:latin typeface="Arial" pitchFamily="34" charset="0"/>
                <a:ea typeface="Arial" pitchFamily="34" charset="-122"/>
                <a:cs typeface="Arial" pitchFamily="34" charset="-120"/>
              </a:rPr>
              <a:t>Approved</a:t>
            </a:r>
            <a:endParaRPr lang="en-US" sz="2300" dirty="0"/>
          </a:p>
          <a:p>
            <a:pPr algn="l" indent="0" marL="0">
              <a:buNone/>
            </a:pPr>
            <a:r>
              <a:rPr lang="en-US" sz="2300" b="1" dirty="0">
                <a:solidFill>
                  <a:srgbClr val="FFFFFF"/>
                </a:solidFill>
                <a:latin typeface="Arial" pitchFamily="34" charset="0"/>
                <a:ea typeface="Arial" pitchFamily="34" charset="-122"/>
                <a:cs typeface="Arial" pitchFamily="34" charset="-120"/>
              </a:rPr>
              <a:t>release</a:t>
            </a:r>
            <a:endParaRPr lang="en-US" sz="2300" dirty="0"/>
          </a:p>
        </p:txBody>
      </p:sp>
      <p:sp>
        <p:nvSpPr>
          <p:cNvPr id="13" name="Text 11"/>
          <p:cNvSpPr/>
          <p:nvPr/>
        </p:nvSpPr>
        <p:spPr>
          <a:xfrm>
            <a:off x="740664" y="3108960"/>
            <a:ext cx="2029968" cy="2130552"/>
          </a:xfrm>
          <a:prstGeom prst="rect">
            <a:avLst/>
          </a:prstGeom>
          <a:noFill/>
          <a:ln/>
        </p:spPr>
        <p:txBody>
          <a:bodyPr wrap="square" lIns="0" tIns="0" rIns="0" bIns="0" rtlCol="0" anchor="ctr"/>
          <a:lstStyle/>
          <a:p>
            <a:pPr algn="l" indent="0" marL="0">
              <a:buNone/>
            </a:pPr>
            <a:r>
              <a:rPr lang="en-US" sz="1310" dirty="0">
                <a:solidFill>
                  <a:srgbClr val="FFFFFF"/>
                </a:solidFill>
                <a:latin typeface="Arial" pitchFamily="34" charset="0"/>
                <a:ea typeface="Arial" pitchFamily="34" charset="-122"/>
                <a:cs typeface="Arial" pitchFamily="34" charset="-120"/>
              </a:rPr>
              <a:t>Signed manifest</a:t>
            </a:r>
            <a:endParaRPr lang="en-US" sz="1310" dirty="0"/>
          </a:p>
          <a:p>
            <a:pPr algn="l" indent="0" marL="0">
              <a:buNone/>
            </a:pPr>
            <a:r>
              <a:rPr lang="en-US" sz="1310" dirty="0">
                <a:solidFill>
                  <a:srgbClr val="FFFFFF"/>
                </a:solidFill>
                <a:latin typeface="Arial" pitchFamily="34" charset="0"/>
                <a:ea typeface="Arial" pitchFamily="34" charset="-122"/>
                <a:cs typeface="Arial" pitchFamily="34" charset="-120"/>
              </a:rPr>
              <a:t>OCI artifacts</a:t>
            </a:r>
            <a:endParaRPr lang="en-US" sz="1310" dirty="0"/>
          </a:p>
          <a:p>
            <a:pPr algn="l" indent="0" marL="0">
              <a:buNone/>
            </a:pPr>
            <a:r>
              <a:rPr lang="en-US" sz="1310" dirty="0">
                <a:solidFill>
                  <a:srgbClr val="FFFFFF"/>
                </a:solidFill>
                <a:latin typeface="Arial" pitchFamily="34" charset="0"/>
                <a:ea typeface="Arial" pitchFamily="34" charset="-122"/>
                <a:cs typeface="Arial" pitchFamily="34" charset="-120"/>
              </a:rPr>
              <a:t>OS / recovery</a:t>
            </a:r>
            <a:endParaRPr lang="en-US" sz="1310" dirty="0"/>
          </a:p>
          <a:p>
            <a:pPr algn="l" indent="0" marL="0">
              <a:buNone/>
            </a:pPr>
            <a:r>
              <a:rPr lang="en-US" sz="1310" dirty="0">
                <a:solidFill>
                  <a:srgbClr val="FFFFFF"/>
                </a:solidFill>
                <a:latin typeface="Arial" pitchFamily="34" charset="0"/>
                <a:ea typeface="Arial" pitchFamily="34" charset="-122"/>
                <a:cs typeface="Arial" pitchFamily="34" charset="-120"/>
              </a:rPr>
              <a:t>Model blobs</a:t>
            </a:r>
            <a:endParaRPr lang="en-US" sz="1310" dirty="0"/>
          </a:p>
          <a:p>
            <a:pPr algn="l" indent="0" marL="0">
              <a:buNone/>
            </a:pPr>
            <a:r>
              <a:rPr lang="en-US" sz="1310" dirty="0">
                <a:solidFill>
                  <a:srgbClr val="FFFFFF"/>
                </a:solidFill>
                <a:latin typeface="Arial" pitchFamily="34" charset="0"/>
                <a:ea typeface="Arial" pitchFamily="34" charset="-122"/>
                <a:cs typeface="Arial" pitchFamily="34" charset="-120"/>
              </a:rPr>
              <a:t>Trust metadata</a:t>
            </a:r>
            <a:endParaRPr lang="en-US" sz="1310" dirty="0"/>
          </a:p>
        </p:txBody>
      </p:sp>
      <p:sp>
        <p:nvSpPr>
          <p:cNvPr id="14" name="Shape 12"/>
          <p:cNvSpPr/>
          <p:nvPr/>
        </p:nvSpPr>
        <p:spPr>
          <a:xfrm>
            <a:off x="3584448" y="1975104"/>
            <a:ext cx="4974336" cy="978408"/>
          </a:xfrm>
          <a:prstGeom prst="rect">
            <a:avLst/>
          </a:prstGeom>
          <a:solidFill>
            <a:srgbClr val="F3F4F6"/>
          </a:solidFill>
          <a:ln w="10160">
            <a:solidFill>
              <a:srgbClr val="F3F4F6"/>
            </a:solidFill>
            <a:prstDash val="solid"/>
          </a:ln>
        </p:spPr>
      </p:sp>
      <p:sp>
        <p:nvSpPr>
          <p:cNvPr id="15" name="Text 13"/>
          <p:cNvSpPr/>
          <p:nvPr/>
        </p:nvSpPr>
        <p:spPr>
          <a:xfrm>
            <a:off x="3694176" y="2048256"/>
            <a:ext cx="4754880"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OEM factory</a:t>
            </a:r>
            <a:endParaRPr lang="en-US" sz="1450" dirty="0"/>
          </a:p>
        </p:txBody>
      </p:sp>
      <p:sp>
        <p:nvSpPr>
          <p:cNvPr id="16" name="Text 14"/>
          <p:cNvSpPr/>
          <p:nvPr/>
        </p:nvSpPr>
        <p:spPr>
          <a:xfrm>
            <a:off x="3694176" y="2414016"/>
            <a:ext cx="4754880" cy="475488"/>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Validated install media → burn-in → serialized release record</a:t>
            </a:r>
            <a:endParaRPr lang="en-US" sz="1250" dirty="0"/>
          </a:p>
        </p:txBody>
      </p:sp>
      <p:sp>
        <p:nvSpPr>
          <p:cNvPr id="17" name="Shape 15"/>
          <p:cNvSpPr/>
          <p:nvPr/>
        </p:nvSpPr>
        <p:spPr>
          <a:xfrm>
            <a:off x="2926080" y="2478024"/>
            <a:ext cx="621792" cy="0"/>
          </a:xfrm>
          <a:prstGeom prst="line">
            <a:avLst/>
          </a:prstGeom>
          <a:noFill/>
          <a:ln w="19050">
            <a:solidFill>
              <a:srgbClr val="E31837"/>
            </a:solidFill>
            <a:prstDash val="solid"/>
            <a:headEnd type="none"/>
            <a:tailEnd type="triangle"/>
          </a:ln>
        </p:spPr>
      </p:sp>
      <p:sp>
        <p:nvSpPr>
          <p:cNvPr id="18" name="Shape 16"/>
          <p:cNvSpPr/>
          <p:nvPr/>
        </p:nvSpPr>
        <p:spPr>
          <a:xfrm>
            <a:off x="8577072" y="2478024"/>
            <a:ext cx="585216" cy="0"/>
          </a:xfrm>
          <a:prstGeom prst="line">
            <a:avLst/>
          </a:prstGeom>
          <a:noFill/>
          <a:ln w="19050">
            <a:solidFill>
              <a:srgbClr val="E31837"/>
            </a:solidFill>
            <a:prstDash val="solid"/>
            <a:headEnd type="none"/>
            <a:tailEnd type="triangle"/>
          </a:ln>
        </p:spPr>
      </p:sp>
      <p:sp>
        <p:nvSpPr>
          <p:cNvPr id="19" name="Shape 17"/>
          <p:cNvSpPr/>
          <p:nvPr/>
        </p:nvSpPr>
        <p:spPr>
          <a:xfrm>
            <a:off x="3584448" y="3163824"/>
            <a:ext cx="4974336" cy="978408"/>
          </a:xfrm>
          <a:prstGeom prst="rect">
            <a:avLst/>
          </a:prstGeom>
          <a:solidFill>
            <a:srgbClr val="F3F4F6"/>
          </a:solidFill>
          <a:ln w="10160">
            <a:solidFill>
              <a:srgbClr val="F3F4F6"/>
            </a:solidFill>
            <a:prstDash val="solid"/>
          </a:ln>
        </p:spPr>
      </p:sp>
      <p:sp>
        <p:nvSpPr>
          <p:cNvPr id="20" name="Text 18"/>
          <p:cNvSpPr/>
          <p:nvPr/>
        </p:nvSpPr>
        <p:spPr>
          <a:xfrm>
            <a:off x="3694176" y="3236976"/>
            <a:ext cx="4754880"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Connected customer</a:t>
            </a:r>
            <a:endParaRPr lang="en-US" sz="1450" dirty="0"/>
          </a:p>
        </p:txBody>
      </p:sp>
      <p:sp>
        <p:nvSpPr>
          <p:cNvPr id="21" name="Text 19"/>
          <p:cNvSpPr/>
          <p:nvPr/>
        </p:nvSpPr>
        <p:spPr>
          <a:xfrm>
            <a:off x="3694176" y="3602736"/>
            <a:ext cx="4754880" cy="475488"/>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Customer-approved pull → local mirror/cache → maintenance window</a:t>
            </a:r>
            <a:endParaRPr lang="en-US" sz="1250" dirty="0"/>
          </a:p>
        </p:txBody>
      </p:sp>
      <p:sp>
        <p:nvSpPr>
          <p:cNvPr id="22" name="Shape 20"/>
          <p:cNvSpPr/>
          <p:nvPr/>
        </p:nvSpPr>
        <p:spPr>
          <a:xfrm>
            <a:off x="2926080" y="3666744"/>
            <a:ext cx="621792" cy="0"/>
          </a:xfrm>
          <a:prstGeom prst="line">
            <a:avLst/>
          </a:prstGeom>
          <a:noFill/>
          <a:ln w="19050">
            <a:solidFill>
              <a:srgbClr val="E31837"/>
            </a:solidFill>
            <a:prstDash val="solid"/>
            <a:headEnd type="none"/>
            <a:tailEnd type="triangle"/>
          </a:ln>
        </p:spPr>
      </p:sp>
      <p:sp>
        <p:nvSpPr>
          <p:cNvPr id="23" name="Shape 21"/>
          <p:cNvSpPr/>
          <p:nvPr/>
        </p:nvSpPr>
        <p:spPr>
          <a:xfrm>
            <a:off x="8577072" y="3666744"/>
            <a:ext cx="585216" cy="0"/>
          </a:xfrm>
          <a:prstGeom prst="line">
            <a:avLst/>
          </a:prstGeom>
          <a:noFill/>
          <a:ln w="19050">
            <a:solidFill>
              <a:srgbClr val="E31837"/>
            </a:solidFill>
            <a:prstDash val="solid"/>
            <a:headEnd type="none"/>
            <a:tailEnd type="triangle"/>
          </a:ln>
        </p:spPr>
      </p:sp>
      <p:sp>
        <p:nvSpPr>
          <p:cNvPr id="24" name="Shape 22"/>
          <p:cNvSpPr/>
          <p:nvPr/>
        </p:nvSpPr>
        <p:spPr>
          <a:xfrm>
            <a:off x="3584448" y="4352544"/>
            <a:ext cx="4974336" cy="978408"/>
          </a:xfrm>
          <a:prstGeom prst="rect">
            <a:avLst/>
          </a:prstGeom>
          <a:solidFill>
            <a:srgbClr val="FCECEF"/>
          </a:solidFill>
          <a:ln w="10160">
            <a:solidFill>
              <a:srgbClr val="FCECEF"/>
            </a:solidFill>
            <a:prstDash val="solid"/>
          </a:ln>
        </p:spPr>
      </p:sp>
      <p:sp>
        <p:nvSpPr>
          <p:cNvPr id="25" name="Text 23"/>
          <p:cNvSpPr/>
          <p:nvPr/>
        </p:nvSpPr>
        <p:spPr>
          <a:xfrm>
            <a:off x="3694176" y="4425696"/>
            <a:ext cx="4754880"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Disconnected customer</a:t>
            </a:r>
            <a:endParaRPr lang="en-US" sz="1450" dirty="0"/>
          </a:p>
        </p:txBody>
      </p:sp>
      <p:sp>
        <p:nvSpPr>
          <p:cNvPr id="26" name="Text 24"/>
          <p:cNvSpPr/>
          <p:nvPr/>
        </p:nvSpPr>
        <p:spPr>
          <a:xfrm>
            <a:off x="3694176" y="4791456"/>
            <a:ext cx="4754880" cy="475488"/>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Signed export → approved transfer → quarantine / local verification</a:t>
            </a:r>
            <a:endParaRPr lang="en-US" sz="1250" dirty="0"/>
          </a:p>
        </p:txBody>
      </p:sp>
      <p:sp>
        <p:nvSpPr>
          <p:cNvPr id="27" name="Shape 25"/>
          <p:cNvSpPr/>
          <p:nvPr/>
        </p:nvSpPr>
        <p:spPr>
          <a:xfrm>
            <a:off x="2926080" y="4855464"/>
            <a:ext cx="621792" cy="0"/>
          </a:xfrm>
          <a:prstGeom prst="line">
            <a:avLst/>
          </a:prstGeom>
          <a:noFill/>
          <a:ln w="19050">
            <a:solidFill>
              <a:srgbClr val="E31837"/>
            </a:solidFill>
            <a:prstDash val="solid"/>
            <a:headEnd type="none"/>
            <a:tailEnd type="triangle"/>
          </a:ln>
        </p:spPr>
      </p:sp>
      <p:sp>
        <p:nvSpPr>
          <p:cNvPr id="28" name="Shape 26"/>
          <p:cNvSpPr/>
          <p:nvPr/>
        </p:nvSpPr>
        <p:spPr>
          <a:xfrm>
            <a:off x="8577072" y="4855464"/>
            <a:ext cx="585216" cy="0"/>
          </a:xfrm>
          <a:prstGeom prst="line">
            <a:avLst/>
          </a:prstGeom>
          <a:noFill/>
          <a:ln w="19050">
            <a:solidFill>
              <a:srgbClr val="E31837"/>
            </a:solidFill>
            <a:prstDash val="solid"/>
            <a:headEnd type="none"/>
            <a:tailEnd type="triangle"/>
          </a:ln>
        </p:spPr>
      </p:sp>
      <p:sp>
        <p:nvSpPr>
          <p:cNvPr id="29" name="Shape 27"/>
          <p:cNvSpPr/>
          <p:nvPr/>
        </p:nvSpPr>
        <p:spPr>
          <a:xfrm>
            <a:off x="9198864" y="2029968"/>
            <a:ext cx="2395728" cy="3319272"/>
          </a:xfrm>
          <a:prstGeom prst="rect">
            <a:avLst>
              <a:gd name="adj" fmla="val 38168"/>
            </a:avLst>
          </a:prstGeom>
          <a:solidFill>
            <a:srgbClr val="E31837"/>
          </a:solidFill>
          <a:ln w="10160">
            <a:solidFill>
              <a:srgbClr val="E31837"/>
            </a:solidFill>
            <a:prstDash val="solid"/>
          </a:ln>
        </p:spPr>
      </p:sp>
      <p:sp>
        <p:nvSpPr>
          <p:cNvPr id="30" name="Text 28"/>
          <p:cNvSpPr/>
          <p:nvPr/>
        </p:nvSpPr>
        <p:spPr>
          <a:xfrm>
            <a:off x="9345168" y="2139696"/>
            <a:ext cx="2103120" cy="786384"/>
          </a:xfrm>
          <a:prstGeom prst="rect">
            <a:avLst/>
          </a:prstGeom>
          <a:noFill/>
          <a:ln/>
        </p:spPr>
        <p:txBody>
          <a:bodyPr wrap="square" lIns="0" tIns="0" rIns="0" bIns="0" rtlCol="0" anchor="ctr"/>
          <a:lstStyle/>
          <a:p>
            <a:pPr algn="l" indent="0" marL="0">
              <a:buNone/>
            </a:pPr>
            <a:r>
              <a:rPr lang="en-US" sz="2200" b="1" dirty="0">
                <a:solidFill>
                  <a:srgbClr val="FFFFFF"/>
                </a:solidFill>
                <a:latin typeface="Arial" pitchFamily="34" charset="0"/>
                <a:ea typeface="Arial" pitchFamily="34" charset="-122"/>
                <a:cs typeface="Arial" pitchFamily="34" charset="-120"/>
              </a:rPr>
              <a:t>Local</a:t>
            </a:r>
            <a:endParaRPr lang="en-US" sz="2200" dirty="0"/>
          </a:p>
          <a:p>
            <a:pPr algn="l" indent="0" marL="0">
              <a:buNone/>
            </a:pPr>
            <a:r>
              <a:rPr lang="en-US" sz="2200" b="1" dirty="0">
                <a:solidFill>
                  <a:srgbClr val="FFFFFF"/>
                </a:solidFill>
                <a:latin typeface="Arial" pitchFamily="34" charset="0"/>
                <a:ea typeface="Arial" pitchFamily="34" charset="-122"/>
                <a:cs typeface="Arial" pitchFamily="34" charset="-120"/>
              </a:rPr>
              <a:t>update agent</a:t>
            </a:r>
            <a:endParaRPr lang="en-US" sz="2200" dirty="0"/>
          </a:p>
        </p:txBody>
      </p:sp>
      <p:sp>
        <p:nvSpPr>
          <p:cNvPr id="31" name="Text 29"/>
          <p:cNvSpPr/>
          <p:nvPr/>
        </p:nvSpPr>
        <p:spPr>
          <a:xfrm>
            <a:off x="9345168" y="3108960"/>
            <a:ext cx="2103120" cy="2130552"/>
          </a:xfrm>
          <a:prstGeom prst="rect">
            <a:avLst/>
          </a:prstGeom>
          <a:noFill/>
          <a:ln/>
        </p:spPr>
        <p:txBody>
          <a:bodyPr wrap="square" lIns="0" tIns="0" rIns="0" bIns="0" rtlCol="0" anchor="ctr"/>
          <a:lstStyle/>
          <a:p>
            <a:pPr algn="l" indent="0" marL="0">
              <a:buNone/>
            </a:pPr>
            <a:r>
              <a:rPr lang="en-US" sz="1310" dirty="0">
                <a:solidFill>
                  <a:srgbClr val="FFFFFF"/>
                </a:solidFill>
                <a:latin typeface="Arial" pitchFamily="34" charset="0"/>
                <a:ea typeface="Arial" pitchFamily="34" charset="-122"/>
                <a:cs typeface="Arial" pitchFamily="34" charset="-120"/>
              </a:rPr>
              <a:t>Verify trust</a:t>
            </a:r>
            <a:endParaRPr lang="en-US" sz="1310" dirty="0"/>
          </a:p>
          <a:p>
            <a:pPr algn="l" indent="0" marL="0">
              <a:buNone/>
            </a:pPr>
            <a:r>
              <a:rPr lang="en-US" sz="1310" dirty="0">
                <a:solidFill>
                  <a:srgbClr val="FFFFFF"/>
                </a:solidFill>
                <a:latin typeface="Arial" pitchFamily="34" charset="0"/>
                <a:ea typeface="Arial" pitchFamily="34" charset="-122"/>
                <a:cs typeface="Arial" pitchFamily="34" charset="-120"/>
              </a:rPr>
              <a:t>Check BOM + ABI</a:t>
            </a:r>
            <a:endParaRPr lang="en-US" sz="1310" dirty="0"/>
          </a:p>
          <a:p>
            <a:pPr algn="l" indent="0" marL="0">
              <a:buNone/>
            </a:pPr>
            <a:r>
              <a:rPr lang="en-US" sz="1310" dirty="0">
                <a:solidFill>
                  <a:srgbClr val="FFFFFF"/>
                </a:solidFill>
                <a:latin typeface="Arial" pitchFamily="34" charset="0"/>
                <a:ea typeface="Arial" pitchFamily="34" charset="-122"/>
                <a:cs typeface="Arial" pitchFamily="34" charset="-120"/>
              </a:rPr>
              <a:t>Check free space</a:t>
            </a:r>
            <a:endParaRPr lang="en-US" sz="1310" dirty="0"/>
          </a:p>
          <a:p>
            <a:pPr algn="l" indent="0" marL="0">
              <a:buNone/>
            </a:pPr>
            <a:r>
              <a:rPr lang="en-US" sz="1310" dirty="0">
                <a:solidFill>
                  <a:srgbClr val="FFFFFF"/>
                </a:solidFill>
                <a:latin typeface="Arial" pitchFamily="34" charset="0"/>
                <a:ea typeface="Arial" pitchFamily="34" charset="-122"/>
                <a:cs typeface="Arial" pitchFamily="34" charset="-120"/>
              </a:rPr>
              <a:t>Stage / test</a:t>
            </a:r>
            <a:endParaRPr lang="en-US" sz="1310" dirty="0"/>
          </a:p>
          <a:p>
            <a:pPr algn="l" indent="0" marL="0">
              <a:buNone/>
            </a:pPr>
            <a:r>
              <a:rPr lang="en-US" sz="1310" dirty="0">
                <a:solidFill>
                  <a:srgbClr val="FFFFFF"/>
                </a:solidFill>
                <a:latin typeface="Arial" pitchFamily="34" charset="0"/>
                <a:ea typeface="Arial" pitchFamily="34" charset="-122"/>
                <a:cs typeface="Arial" pitchFamily="34" charset="-120"/>
              </a:rPr>
              <a:t>Admin activates</a:t>
            </a:r>
            <a:endParaRPr lang="en-US" sz="1310" dirty="0"/>
          </a:p>
        </p:txBody>
      </p:sp>
      <p:sp>
        <p:nvSpPr>
          <p:cNvPr id="32" name="Shape 30"/>
          <p:cNvSpPr/>
          <p:nvPr/>
        </p:nvSpPr>
        <p:spPr>
          <a:xfrm>
            <a:off x="475488" y="5843016"/>
            <a:ext cx="11228832" cy="457200"/>
          </a:xfrm>
          <a:prstGeom prst="rect">
            <a:avLst/>
          </a:prstGeom>
          <a:solidFill>
            <a:srgbClr val="FCECEF"/>
          </a:solidFill>
          <a:ln w="10160">
            <a:solidFill>
              <a:srgbClr val="FCECEF"/>
            </a:solidFill>
            <a:prstDash val="solid"/>
          </a:ln>
        </p:spPr>
      </p:sp>
      <p:sp>
        <p:nvSpPr>
          <p:cNvPr id="33" name="Text 31"/>
          <p:cNvSpPr/>
          <p:nvPr/>
        </p:nvSpPr>
        <p:spPr>
          <a:xfrm>
            <a:off x="621792" y="5893308"/>
            <a:ext cx="10936224" cy="347472"/>
          </a:xfrm>
          <a:prstGeom prst="rect">
            <a:avLst/>
          </a:prstGeom>
          <a:noFill/>
          <a:ln/>
        </p:spPr>
        <p:txBody>
          <a:bodyPr wrap="square" lIns="0" tIns="0" rIns="0" bIns="0" rtlCol="0" anchor="ctr"/>
          <a:lstStyle/>
          <a:p>
            <a:pPr algn="l" indent="0" marL="0">
              <a:buNone/>
            </a:pPr>
            <a:r>
              <a:rPr lang="en-US" sz="1300" b="1" dirty="0">
                <a:solidFill>
                  <a:srgbClr val="E31837"/>
                </a:solidFill>
                <a:latin typeface="Arial" pitchFamily="34" charset="0"/>
                <a:ea typeface="Arial" pitchFamily="34" charset="-122"/>
                <a:cs typeface="Arial" pitchFamily="34" charset="-120"/>
              </a:rPr>
              <a:t>No Internet dependency to serve installed, entitled workloads. Offline updates still require fresh approved trust and vulnerability metadata.</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E31837"/>
          </a:solidFill>
          <a:ln w="10160">
            <a:solidFill>
              <a:srgbClr val="E31837"/>
            </a:solidFill>
            <a:prstDash val="solid"/>
          </a:ln>
        </p:spPr>
      </p:sp>
      <p:sp>
        <p:nvSpPr>
          <p:cNvPr id="3" name="Text 1"/>
          <p:cNvSpPr/>
          <p:nvPr/>
        </p:nvSpPr>
        <p:spPr>
          <a:xfrm>
            <a:off x="457200" y="228600"/>
            <a:ext cx="1645920" cy="228600"/>
          </a:xfrm>
          <a:prstGeom prst="rect">
            <a:avLst/>
          </a:prstGeom>
          <a:noFill/>
          <a:ln/>
        </p:spPr>
        <p:txBody>
          <a:bodyPr wrap="square" lIns="0" tIns="0" rIns="0" bIns="0" rtlCol="0" anchor="ctr"/>
          <a:lstStyle/>
          <a:p>
            <a:pPr algn="l" indent="0" marL="0">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4" name="Text 2"/>
          <p:cNvSpPr/>
          <p:nvPr/>
        </p:nvSpPr>
        <p:spPr>
          <a:xfrm>
            <a:off x="1965960" y="256032"/>
            <a:ext cx="9144000" cy="182880"/>
          </a:xfrm>
          <a:prstGeom prst="rect">
            <a:avLst/>
          </a:prstGeom>
          <a:noFill/>
          <a:ln/>
        </p:spPr>
        <p:txBody>
          <a:bodyPr wrap="square" lIns="0" tIns="0" rIns="0" bIns="0" rtlCol="0" anchor="ctr"/>
          <a:lstStyle/>
          <a:p>
            <a:pPr algn="l" indent="0" marL="0">
              <a:buNone/>
            </a:pPr>
            <a:r>
              <a:rPr lang="en-US" sz="1050" b="1" dirty="0">
                <a:solidFill>
                  <a:srgbClr val="5B6169"/>
                </a:solidFill>
                <a:latin typeface="Arial" pitchFamily="34" charset="0"/>
                <a:ea typeface="Arial" pitchFamily="34" charset="-122"/>
                <a:cs typeface="Arial" pitchFamily="34" charset="-120"/>
              </a:rPr>
              <a:t>ATMOS  /  A11 / DAY-0 TO FIRST SERVICE</a:t>
            </a:r>
            <a:endParaRPr lang="en-US" sz="1050" dirty="0"/>
          </a:p>
        </p:txBody>
      </p:sp>
      <p:sp>
        <p:nvSpPr>
          <p:cNvPr id="5" name="Text 3"/>
          <p:cNvSpPr/>
          <p:nvPr/>
        </p:nvSpPr>
        <p:spPr>
          <a:xfrm>
            <a:off x="475488" y="758952"/>
            <a:ext cx="11201400" cy="493776"/>
          </a:xfrm>
          <a:prstGeom prst="rect">
            <a:avLst/>
          </a:prstGeom>
          <a:noFill/>
          <a:ln/>
        </p:spPr>
        <p:txBody>
          <a:bodyPr wrap="square" lIns="0" tIns="0" rIns="0" bIns="0" rtlCol="0" anchor="ctr"/>
          <a:lstStyle/>
          <a:p>
            <a:pPr algn="l" indent="0" marL="0">
              <a:buNone/>
            </a:pPr>
            <a:r>
              <a:rPr lang="en-US" sz="2750" b="1" dirty="0">
                <a:solidFill>
                  <a:srgbClr val="18191D"/>
                </a:solidFill>
                <a:latin typeface="Arial" pitchFamily="34" charset="0"/>
                <a:ea typeface="Arial" pitchFamily="34" charset="-122"/>
                <a:cs typeface="Arial" pitchFamily="34" charset="-120"/>
              </a:rPr>
              <a:t>First boot ends with a tested service—not a shell prompt.</a:t>
            </a:r>
            <a:endParaRPr lang="en-US" sz="2750" dirty="0"/>
          </a:p>
        </p:txBody>
      </p:sp>
      <p:sp>
        <p:nvSpPr>
          <p:cNvPr id="6" name="Text 4"/>
          <p:cNvSpPr/>
          <p:nvPr/>
        </p:nvSpPr>
        <p:spPr>
          <a:xfrm>
            <a:off x="502920" y="1298448"/>
            <a:ext cx="11064240" cy="411480"/>
          </a:xfrm>
          <a:prstGeom prst="rect">
            <a:avLst/>
          </a:prstGeom>
          <a:noFill/>
          <a:ln/>
        </p:spPr>
        <p:txBody>
          <a:bodyPr wrap="square" lIns="0" tIns="0" rIns="0" bIns="0" rtlCol="0" anchor="ctr"/>
          <a:lstStyle/>
          <a:p>
            <a:pPr algn="l" indent="0" marL="0">
              <a:buNone/>
            </a:pPr>
            <a:r>
              <a:rPr lang="en-US" sz="1350" dirty="0">
                <a:solidFill>
                  <a:srgbClr val="5B6169"/>
                </a:solidFill>
                <a:latin typeface="Arial" pitchFamily="34" charset="0"/>
                <a:ea typeface="Arial" pitchFamily="34" charset="-122"/>
                <a:cs typeface="Arial" pitchFamily="34" charset="-120"/>
              </a:rPr>
              <a:t>The setup experience captures a reproducible DeploymentRecord for support and future updates.</a:t>
            </a:r>
            <a:endParaRPr lang="en-US" sz="1350" dirty="0"/>
          </a:p>
        </p:txBody>
      </p:sp>
      <p:sp>
        <p:nvSpPr>
          <p:cNvPr id="7" name="Shape 5"/>
          <p:cNvSpPr/>
          <p:nvPr/>
        </p:nvSpPr>
        <p:spPr>
          <a:xfrm>
            <a:off x="484632" y="6464808"/>
            <a:ext cx="11237976" cy="0"/>
          </a:xfrm>
          <a:prstGeom prst="line">
            <a:avLst/>
          </a:prstGeom>
          <a:noFill/>
          <a:ln w="7620">
            <a:solidFill>
              <a:srgbClr val="D9DDE3"/>
            </a:solidFill>
            <a:prstDash val="solid"/>
            <a:headEnd type="none"/>
            <a:tailEnd type="none"/>
          </a:ln>
        </p:spPr>
      </p:sp>
      <p:sp>
        <p:nvSpPr>
          <p:cNvPr id="8" name="Text 6"/>
          <p:cNvSpPr/>
          <p:nvPr/>
        </p:nvSpPr>
        <p:spPr>
          <a:xfrm>
            <a:off x="512064" y="6547104"/>
            <a:ext cx="9418320" cy="164592"/>
          </a:xfrm>
          <a:prstGeom prst="rect">
            <a:avLst/>
          </a:prstGeom>
          <a:noFill/>
          <a:ln/>
        </p:spPr>
        <p:txBody>
          <a:bodyPr wrap="square" lIns="0" tIns="0" rIns="0" bIns="0" rtlCol="0" anchor="ctr"/>
          <a:lstStyle/>
          <a:p>
            <a:pPr algn="l" indent="0" marL="0">
              <a:buNone/>
            </a:pPr>
            <a:r>
              <a:rPr lang="en-US" sz="850" dirty="0">
                <a:solidFill>
                  <a:srgbClr val="5B6169"/>
                </a:solidFill>
                <a:latin typeface="Arial" pitchFamily="34" charset="0"/>
                <a:ea typeface="Arial" pitchFamily="34" charset="-122"/>
                <a:cs typeface="Arial" pitchFamily="34" charset="-120"/>
              </a:rPr>
              <a:t>TECHNICAL APPENDIX TO V3  •  6 OCT 2026  •  PROPOSED DESIGN / QUALIFICATION REQUIRED</a:t>
            </a:r>
            <a:endParaRPr lang="en-US" sz="850" dirty="0"/>
          </a:p>
        </p:txBody>
      </p:sp>
      <p:sp>
        <p:nvSpPr>
          <p:cNvPr id="9" name="Text 7"/>
          <p:cNvSpPr/>
          <p:nvPr/>
        </p:nvSpPr>
        <p:spPr>
          <a:xfrm>
            <a:off x="11219688" y="6519672"/>
            <a:ext cx="457200" cy="219456"/>
          </a:xfrm>
          <a:prstGeom prst="rect">
            <a:avLst/>
          </a:prstGeom>
          <a:noFill/>
          <a:ln/>
        </p:spPr>
        <p:txBody>
          <a:bodyPr wrap="square" lIns="0" tIns="0" rIns="0" bIns="0" rtlCol="0" anchor="ctr"/>
          <a:lstStyle/>
          <a:p>
            <a:pPr algn="r" indent="0" marL="0">
              <a:buNone/>
            </a:pPr>
            <a:r>
              <a:rPr lang="en-US" sz="1000" b="1" dirty="0">
                <a:solidFill>
                  <a:srgbClr val="E31837"/>
                </a:solidFill>
                <a:latin typeface="Arial" pitchFamily="34" charset="0"/>
                <a:ea typeface="Arial" pitchFamily="34" charset="-122"/>
                <a:cs typeface="Arial" pitchFamily="34" charset="-120"/>
              </a:rPr>
              <a:t>12</a:t>
            </a:r>
            <a:endParaRPr lang="en-US" sz="1000" dirty="0"/>
          </a:p>
        </p:txBody>
      </p:sp>
      <p:sp>
        <p:nvSpPr>
          <p:cNvPr id="10" name="Text 8">
            <a:hlinkClick r:id="rId1" tooltip=""/>
          </p:cNvPr>
          <p:cNvSpPr/>
          <p:nvPr/>
        </p:nvSpPr>
        <p:spPr>
          <a:xfrm>
            <a:off x="9875520" y="237744"/>
            <a:ext cx="1828800" cy="219456"/>
          </a:xfrm>
          <a:prstGeom prst="rect">
            <a:avLst/>
          </a:prstGeom>
          <a:noFill/>
          <a:ln/>
        </p:spPr>
        <p:txBody>
          <a:bodyPr wrap="square" lIns="0" tIns="0" rIns="0" bIns="0" rtlCol="0" anchor="ctr"/>
          <a:lstStyle/>
          <a:p>
            <a:pPr algn="r" indent="0" marL="0">
              <a:buNone/>
            </a:pPr>
            <a:r>
              <a:rPr lang="en-US" sz="1000"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technical notes</a:t>
            </a:r>
            <a:endParaRPr lang="en-US" sz="1000" dirty="0"/>
          </a:p>
        </p:txBody>
      </p:sp>
      <p:sp>
        <p:nvSpPr>
          <p:cNvPr id="11" name="Shape 9"/>
          <p:cNvSpPr/>
          <p:nvPr/>
        </p:nvSpPr>
        <p:spPr>
          <a:xfrm>
            <a:off x="548640" y="1956816"/>
            <a:ext cx="1642872" cy="1280160"/>
          </a:xfrm>
          <a:prstGeom prst="rect">
            <a:avLst/>
          </a:prstGeom>
          <a:solidFill>
            <a:srgbClr val="F3F4F6"/>
          </a:solidFill>
          <a:ln w="10160">
            <a:solidFill>
              <a:srgbClr val="F3F4F6"/>
            </a:solidFill>
            <a:prstDash val="solid"/>
          </a:ln>
        </p:spPr>
      </p:sp>
      <p:sp>
        <p:nvSpPr>
          <p:cNvPr id="12" name="Text 10"/>
          <p:cNvSpPr/>
          <p:nvPr/>
        </p:nvSpPr>
        <p:spPr>
          <a:xfrm>
            <a:off x="658368" y="2029968"/>
            <a:ext cx="1423416"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1  Hardware</a:t>
            </a:r>
            <a:endParaRPr lang="en-US" sz="1450" dirty="0"/>
          </a:p>
        </p:txBody>
      </p:sp>
      <p:sp>
        <p:nvSpPr>
          <p:cNvPr id="13" name="Text 11"/>
          <p:cNvSpPr/>
          <p:nvPr/>
        </p:nvSpPr>
        <p:spPr>
          <a:xfrm>
            <a:off x="658368" y="2395728"/>
            <a:ext cx="1423416" cy="777240"/>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BOM / serial check</a:t>
            </a:r>
            <a:endParaRPr lang="en-US" sz="1250" dirty="0"/>
          </a:p>
          <a:p>
            <a:pPr algn="l" indent="0" marL="0">
              <a:buNone/>
            </a:pPr>
            <a:r>
              <a:rPr lang="en-US" sz="1250" dirty="0">
                <a:solidFill>
                  <a:srgbClr val="5B6169"/>
                </a:solidFill>
                <a:latin typeface="Arial" pitchFamily="34" charset="0"/>
                <a:ea typeface="Arial" pitchFamily="34" charset="-122"/>
                <a:cs typeface="Arial" pitchFamily="34" charset="-120"/>
              </a:rPr>
              <a:t>Firmware / DMA health</a:t>
            </a:r>
            <a:endParaRPr lang="en-US" sz="1250" dirty="0"/>
          </a:p>
        </p:txBody>
      </p:sp>
      <p:sp>
        <p:nvSpPr>
          <p:cNvPr id="14" name="Shape 12"/>
          <p:cNvSpPr/>
          <p:nvPr/>
        </p:nvSpPr>
        <p:spPr>
          <a:xfrm>
            <a:off x="2191512" y="2596896"/>
            <a:ext cx="228600" cy="0"/>
          </a:xfrm>
          <a:prstGeom prst="line">
            <a:avLst/>
          </a:prstGeom>
          <a:noFill/>
          <a:ln w="19050">
            <a:solidFill>
              <a:srgbClr val="E31837"/>
            </a:solidFill>
            <a:prstDash val="solid"/>
            <a:headEnd type="none"/>
            <a:tailEnd type="triangle"/>
          </a:ln>
        </p:spPr>
      </p:sp>
      <p:sp>
        <p:nvSpPr>
          <p:cNvPr id="15" name="Shape 13"/>
          <p:cNvSpPr/>
          <p:nvPr/>
        </p:nvSpPr>
        <p:spPr>
          <a:xfrm>
            <a:off x="2438400" y="1956816"/>
            <a:ext cx="1642872" cy="1280160"/>
          </a:xfrm>
          <a:prstGeom prst="rect">
            <a:avLst/>
          </a:prstGeom>
          <a:solidFill>
            <a:srgbClr val="F3F4F6"/>
          </a:solidFill>
          <a:ln w="10160">
            <a:solidFill>
              <a:srgbClr val="F3F4F6"/>
            </a:solidFill>
            <a:prstDash val="solid"/>
          </a:ln>
        </p:spPr>
      </p:sp>
      <p:sp>
        <p:nvSpPr>
          <p:cNvPr id="16" name="Text 14"/>
          <p:cNvSpPr/>
          <p:nvPr/>
        </p:nvSpPr>
        <p:spPr>
          <a:xfrm>
            <a:off x="2548128" y="2029968"/>
            <a:ext cx="1423416"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2  Trust</a:t>
            </a:r>
            <a:endParaRPr lang="en-US" sz="1450" dirty="0"/>
          </a:p>
        </p:txBody>
      </p:sp>
      <p:sp>
        <p:nvSpPr>
          <p:cNvPr id="17" name="Text 15"/>
          <p:cNvSpPr/>
          <p:nvPr/>
        </p:nvSpPr>
        <p:spPr>
          <a:xfrm>
            <a:off x="2548128" y="2395728"/>
            <a:ext cx="1423416" cy="777240"/>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Secure enrollment</a:t>
            </a:r>
            <a:endParaRPr lang="en-US" sz="1250" dirty="0"/>
          </a:p>
          <a:p>
            <a:pPr algn="l" indent="0" marL="0">
              <a:buNone/>
            </a:pPr>
            <a:r>
              <a:rPr lang="en-US" sz="1250" dirty="0">
                <a:solidFill>
                  <a:srgbClr val="5B6169"/>
                </a:solidFill>
                <a:latin typeface="Arial" pitchFamily="34" charset="0"/>
                <a:ea typeface="Arial" pitchFamily="34" charset="-122"/>
                <a:cs typeface="Arial" pitchFamily="34" charset="-120"/>
              </a:rPr>
              <a:t>Local admin + recovery</a:t>
            </a:r>
            <a:endParaRPr lang="en-US" sz="1250" dirty="0"/>
          </a:p>
        </p:txBody>
      </p:sp>
      <p:sp>
        <p:nvSpPr>
          <p:cNvPr id="18" name="Shape 16"/>
          <p:cNvSpPr/>
          <p:nvPr/>
        </p:nvSpPr>
        <p:spPr>
          <a:xfrm>
            <a:off x="4081272" y="2596896"/>
            <a:ext cx="228600" cy="0"/>
          </a:xfrm>
          <a:prstGeom prst="line">
            <a:avLst/>
          </a:prstGeom>
          <a:noFill/>
          <a:ln w="19050">
            <a:solidFill>
              <a:srgbClr val="E31837"/>
            </a:solidFill>
            <a:prstDash val="solid"/>
            <a:headEnd type="none"/>
            <a:tailEnd type="triangle"/>
          </a:ln>
        </p:spPr>
      </p:sp>
      <p:sp>
        <p:nvSpPr>
          <p:cNvPr id="19" name="Shape 17"/>
          <p:cNvSpPr/>
          <p:nvPr/>
        </p:nvSpPr>
        <p:spPr>
          <a:xfrm>
            <a:off x="4328160" y="1956816"/>
            <a:ext cx="1642872" cy="1280160"/>
          </a:xfrm>
          <a:prstGeom prst="rect">
            <a:avLst/>
          </a:prstGeom>
          <a:solidFill>
            <a:srgbClr val="F3F4F6"/>
          </a:solidFill>
          <a:ln w="10160">
            <a:solidFill>
              <a:srgbClr val="F3F4F6"/>
            </a:solidFill>
            <a:prstDash val="solid"/>
          </a:ln>
        </p:spPr>
      </p:sp>
      <p:sp>
        <p:nvSpPr>
          <p:cNvPr id="20" name="Text 18"/>
          <p:cNvSpPr/>
          <p:nvPr/>
        </p:nvSpPr>
        <p:spPr>
          <a:xfrm>
            <a:off x="4437888" y="2029968"/>
            <a:ext cx="1423416"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3  Site</a:t>
            </a:r>
            <a:endParaRPr lang="en-US" sz="1450" dirty="0"/>
          </a:p>
        </p:txBody>
      </p:sp>
      <p:sp>
        <p:nvSpPr>
          <p:cNvPr id="21" name="Text 19"/>
          <p:cNvSpPr/>
          <p:nvPr/>
        </p:nvSpPr>
        <p:spPr>
          <a:xfrm>
            <a:off x="4437888" y="2395728"/>
            <a:ext cx="1423416" cy="777240"/>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DNS / NTP / TLS</a:t>
            </a:r>
            <a:endParaRPr lang="en-US" sz="1250" dirty="0"/>
          </a:p>
          <a:p>
            <a:pPr algn="l" indent="0" marL="0">
              <a:buNone/>
            </a:pPr>
            <a:r>
              <a:rPr lang="en-US" sz="1250" dirty="0">
                <a:solidFill>
                  <a:srgbClr val="5B6169"/>
                </a:solidFill>
                <a:latin typeface="Arial" pitchFamily="34" charset="0"/>
                <a:ea typeface="Arial" pitchFamily="34" charset="-122"/>
                <a:cs typeface="Arial" pitchFamily="34" charset="-120"/>
              </a:rPr>
              <a:t>Identity + storage</a:t>
            </a:r>
            <a:endParaRPr lang="en-US" sz="1250" dirty="0"/>
          </a:p>
        </p:txBody>
      </p:sp>
      <p:sp>
        <p:nvSpPr>
          <p:cNvPr id="22" name="Shape 20"/>
          <p:cNvSpPr/>
          <p:nvPr/>
        </p:nvSpPr>
        <p:spPr>
          <a:xfrm>
            <a:off x="5971032" y="2596896"/>
            <a:ext cx="228600" cy="0"/>
          </a:xfrm>
          <a:prstGeom prst="line">
            <a:avLst/>
          </a:prstGeom>
          <a:noFill/>
          <a:ln w="19050">
            <a:solidFill>
              <a:srgbClr val="E31837"/>
            </a:solidFill>
            <a:prstDash val="solid"/>
            <a:headEnd type="none"/>
            <a:tailEnd type="triangle"/>
          </a:ln>
        </p:spPr>
      </p:sp>
      <p:sp>
        <p:nvSpPr>
          <p:cNvPr id="23" name="Shape 21"/>
          <p:cNvSpPr/>
          <p:nvPr/>
        </p:nvSpPr>
        <p:spPr>
          <a:xfrm>
            <a:off x="6217920" y="1956816"/>
            <a:ext cx="1642872" cy="1280160"/>
          </a:xfrm>
          <a:prstGeom prst="rect">
            <a:avLst/>
          </a:prstGeom>
          <a:solidFill>
            <a:srgbClr val="F3F4F6"/>
          </a:solidFill>
          <a:ln w="10160">
            <a:solidFill>
              <a:srgbClr val="F3F4F6"/>
            </a:solidFill>
            <a:prstDash val="solid"/>
          </a:ln>
        </p:spPr>
      </p:sp>
      <p:sp>
        <p:nvSpPr>
          <p:cNvPr id="24" name="Text 22"/>
          <p:cNvSpPr/>
          <p:nvPr/>
        </p:nvSpPr>
        <p:spPr>
          <a:xfrm>
            <a:off x="6327648" y="2029968"/>
            <a:ext cx="1423416"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4  Policy</a:t>
            </a:r>
            <a:endParaRPr lang="en-US" sz="1450" dirty="0"/>
          </a:p>
        </p:txBody>
      </p:sp>
      <p:sp>
        <p:nvSpPr>
          <p:cNvPr id="25" name="Text 23"/>
          <p:cNvSpPr/>
          <p:nvPr/>
        </p:nvSpPr>
        <p:spPr>
          <a:xfrm>
            <a:off x="6327648" y="2395728"/>
            <a:ext cx="1423416" cy="777240"/>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Projects / quotas</a:t>
            </a:r>
            <a:endParaRPr lang="en-US" sz="1250" dirty="0"/>
          </a:p>
          <a:p>
            <a:pPr algn="l" indent="0" marL="0">
              <a:buNone/>
            </a:pPr>
            <a:r>
              <a:rPr lang="en-US" sz="1250" dirty="0">
                <a:solidFill>
                  <a:srgbClr val="5B6169"/>
                </a:solidFill>
                <a:latin typeface="Arial" pitchFamily="34" charset="0"/>
                <a:ea typeface="Arial" pitchFamily="34" charset="-122"/>
                <a:cs typeface="Arial" pitchFamily="34" charset="-120"/>
              </a:rPr>
              <a:t>Sources / ACLs</a:t>
            </a:r>
            <a:endParaRPr lang="en-US" sz="1250" dirty="0"/>
          </a:p>
        </p:txBody>
      </p:sp>
      <p:sp>
        <p:nvSpPr>
          <p:cNvPr id="26" name="Shape 24"/>
          <p:cNvSpPr/>
          <p:nvPr/>
        </p:nvSpPr>
        <p:spPr>
          <a:xfrm>
            <a:off x="7860792" y="2596896"/>
            <a:ext cx="228600" cy="0"/>
          </a:xfrm>
          <a:prstGeom prst="line">
            <a:avLst/>
          </a:prstGeom>
          <a:noFill/>
          <a:ln w="19050">
            <a:solidFill>
              <a:srgbClr val="E31837"/>
            </a:solidFill>
            <a:prstDash val="solid"/>
            <a:headEnd type="none"/>
            <a:tailEnd type="triangle"/>
          </a:ln>
        </p:spPr>
      </p:sp>
      <p:sp>
        <p:nvSpPr>
          <p:cNvPr id="27" name="Shape 25"/>
          <p:cNvSpPr/>
          <p:nvPr/>
        </p:nvSpPr>
        <p:spPr>
          <a:xfrm>
            <a:off x="8107680" y="1956816"/>
            <a:ext cx="1642872" cy="1280160"/>
          </a:xfrm>
          <a:prstGeom prst="rect">
            <a:avLst/>
          </a:prstGeom>
          <a:solidFill>
            <a:srgbClr val="F3F4F6"/>
          </a:solidFill>
          <a:ln w="10160">
            <a:solidFill>
              <a:srgbClr val="F3F4F6"/>
            </a:solidFill>
            <a:prstDash val="solid"/>
          </a:ln>
        </p:spPr>
      </p:sp>
      <p:sp>
        <p:nvSpPr>
          <p:cNvPr id="28" name="Text 26"/>
          <p:cNvSpPr/>
          <p:nvPr/>
        </p:nvSpPr>
        <p:spPr>
          <a:xfrm>
            <a:off x="8217408" y="2029968"/>
            <a:ext cx="1423416"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5  Model</a:t>
            </a:r>
            <a:endParaRPr lang="en-US" sz="1450" dirty="0"/>
          </a:p>
        </p:txBody>
      </p:sp>
      <p:sp>
        <p:nvSpPr>
          <p:cNvPr id="29" name="Text 27"/>
          <p:cNvSpPr/>
          <p:nvPr/>
        </p:nvSpPr>
        <p:spPr>
          <a:xfrm>
            <a:off x="8217408" y="2395728"/>
            <a:ext cx="1423416" cy="777240"/>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Import signed pack</a:t>
            </a:r>
            <a:endParaRPr lang="en-US" sz="1250" dirty="0"/>
          </a:p>
          <a:p>
            <a:pPr algn="l" indent="0" marL="0">
              <a:buNone/>
            </a:pPr>
            <a:r>
              <a:rPr lang="en-US" sz="1250" dirty="0">
                <a:solidFill>
                  <a:srgbClr val="5B6169"/>
                </a:solidFill>
                <a:latin typeface="Arial" pitchFamily="34" charset="0"/>
                <a:ea typeface="Arial" pitchFamily="34" charset="-122"/>
                <a:cs typeface="Arial" pitchFamily="34" charset="-120"/>
              </a:rPr>
              <a:t>Allocate + warm up</a:t>
            </a:r>
            <a:endParaRPr lang="en-US" sz="1250" dirty="0"/>
          </a:p>
        </p:txBody>
      </p:sp>
      <p:sp>
        <p:nvSpPr>
          <p:cNvPr id="30" name="Shape 28"/>
          <p:cNvSpPr/>
          <p:nvPr/>
        </p:nvSpPr>
        <p:spPr>
          <a:xfrm>
            <a:off x="9750552" y="2596896"/>
            <a:ext cx="228600" cy="0"/>
          </a:xfrm>
          <a:prstGeom prst="line">
            <a:avLst/>
          </a:prstGeom>
          <a:noFill/>
          <a:ln w="19050">
            <a:solidFill>
              <a:srgbClr val="E31837"/>
            </a:solidFill>
            <a:prstDash val="solid"/>
            <a:headEnd type="none"/>
            <a:tailEnd type="triangle"/>
          </a:ln>
        </p:spPr>
      </p:sp>
      <p:sp>
        <p:nvSpPr>
          <p:cNvPr id="31" name="Shape 29"/>
          <p:cNvSpPr/>
          <p:nvPr/>
        </p:nvSpPr>
        <p:spPr>
          <a:xfrm>
            <a:off x="9997440" y="1956816"/>
            <a:ext cx="1642872" cy="1280160"/>
          </a:xfrm>
          <a:prstGeom prst="rect">
            <a:avLst/>
          </a:prstGeom>
          <a:solidFill>
            <a:srgbClr val="18191D"/>
          </a:solidFill>
          <a:ln w="10160">
            <a:solidFill>
              <a:srgbClr val="18191D"/>
            </a:solidFill>
            <a:prstDash val="solid"/>
          </a:ln>
        </p:spPr>
      </p:sp>
      <p:sp>
        <p:nvSpPr>
          <p:cNvPr id="32" name="Text 30"/>
          <p:cNvSpPr/>
          <p:nvPr/>
        </p:nvSpPr>
        <p:spPr>
          <a:xfrm>
            <a:off x="10107168" y="2029968"/>
            <a:ext cx="1423416" cy="301752"/>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6  Publish</a:t>
            </a:r>
            <a:endParaRPr lang="en-US" sz="1450" dirty="0"/>
          </a:p>
        </p:txBody>
      </p:sp>
      <p:sp>
        <p:nvSpPr>
          <p:cNvPr id="33" name="Text 31"/>
          <p:cNvSpPr/>
          <p:nvPr/>
        </p:nvSpPr>
        <p:spPr>
          <a:xfrm>
            <a:off x="10107168" y="2395728"/>
            <a:ext cx="1423416" cy="777240"/>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Golden smoke test</a:t>
            </a:r>
            <a:endParaRPr lang="en-US" sz="1250" dirty="0"/>
          </a:p>
          <a:p>
            <a:pPr algn="l" indent="0" marL="0">
              <a:buNone/>
            </a:pPr>
            <a:r>
              <a:rPr lang="en-US" sz="1250" dirty="0">
                <a:solidFill>
                  <a:srgbClr val="FFFFFF"/>
                </a:solidFill>
                <a:latin typeface="Arial" pitchFamily="34" charset="0"/>
                <a:ea typeface="Arial" pitchFamily="34" charset="-122"/>
                <a:cs typeface="Arial" pitchFamily="34" charset="-120"/>
              </a:rPr>
              <a:t>Ready API / user UI</a:t>
            </a:r>
            <a:endParaRPr lang="en-US" sz="1250" dirty="0"/>
          </a:p>
        </p:txBody>
      </p:sp>
      <p:sp>
        <p:nvSpPr>
          <p:cNvPr id="34" name="Shape 32"/>
          <p:cNvSpPr/>
          <p:nvPr/>
        </p:nvSpPr>
        <p:spPr>
          <a:xfrm>
            <a:off x="585216" y="3685032"/>
            <a:ext cx="3438144" cy="1773936"/>
          </a:xfrm>
          <a:prstGeom prst="rect">
            <a:avLst>
              <a:gd name="adj" fmla="val 51546"/>
            </a:avLst>
          </a:prstGeom>
          <a:solidFill>
            <a:srgbClr val="F3F4F6"/>
          </a:solidFill>
          <a:ln w="10160">
            <a:solidFill>
              <a:srgbClr val="F3F4F6"/>
            </a:solidFill>
            <a:prstDash val="solid"/>
          </a:ln>
        </p:spPr>
      </p:sp>
      <p:sp>
        <p:nvSpPr>
          <p:cNvPr id="35" name="Text 33"/>
          <p:cNvSpPr/>
          <p:nvPr/>
        </p:nvSpPr>
        <p:spPr>
          <a:xfrm>
            <a:off x="731520" y="3794760"/>
            <a:ext cx="3145536" cy="548640"/>
          </a:xfrm>
          <a:prstGeom prst="rect">
            <a:avLst/>
          </a:prstGeom>
          <a:noFill/>
          <a:ln/>
        </p:spPr>
        <p:txBody>
          <a:bodyPr wrap="square" lIns="0" tIns="0" rIns="0" bIns="0" rtlCol="0" anchor="ctr"/>
          <a:lstStyle/>
          <a:p>
            <a:pPr algn="l" indent="0" marL="0">
              <a:buNone/>
            </a:pPr>
            <a:r>
              <a:rPr lang="en-US" sz="1800" b="1" dirty="0">
                <a:solidFill>
                  <a:srgbClr val="18191D"/>
                </a:solidFill>
                <a:latin typeface="Arial" pitchFamily="34" charset="0"/>
                <a:ea typeface="Arial" pitchFamily="34" charset="-122"/>
                <a:cs typeface="Arial" pitchFamily="34" charset="-120"/>
              </a:rPr>
              <a:t>Factory record</a:t>
            </a:r>
            <a:endParaRPr lang="en-US" sz="1800" dirty="0"/>
          </a:p>
        </p:txBody>
      </p:sp>
      <p:sp>
        <p:nvSpPr>
          <p:cNvPr id="36" name="Text 34"/>
          <p:cNvSpPr/>
          <p:nvPr/>
        </p:nvSpPr>
        <p:spPr>
          <a:xfrm>
            <a:off x="731520" y="4434840"/>
            <a:ext cx="3145536" cy="914400"/>
          </a:xfrm>
          <a:prstGeom prst="rect">
            <a:avLst/>
          </a:prstGeom>
          <a:noFill/>
          <a:ln/>
        </p:spPr>
        <p:txBody>
          <a:bodyPr wrap="square" lIns="0" tIns="0" rIns="0" bIns="0" rtlCol="0" anchor="ctr"/>
          <a:lstStyle/>
          <a:p>
            <a:pPr algn="l" indent="0" marL="0">
              <a:buNone/>
            </a:pPr>
            <a:r>
              <a:rPr lang="en-US" sz="1310" dirty="0">
                <a:solidFill>
                  <a:srgbClr val="5B6169"/>
                </a:solidFill>
                <a:latin typeface="Arial" pitchFamily="34" charset="0"/>
                <a:ea typeface="Arial" pitchFamily="34" charset="-122"/>
                <a:cs typeface="Arial" pitchFamily="34" charset="-120"/>
              </a:rPr>
              <a:t>OEM config + device IDs</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OS/driver/runtime digests</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Burn-in and release evidence</a:t>
            </a:r>
            <a:endParaRPr lang="en-US" sz="1310" dirty="0"/>
          </a:p>
        </p:txBody>
      </p:sp>
      <p:sp>
        <p:nvSpPr>
          <p:cNvPr id="37" name="Shape 35"/>
          <p:cNvSpPr/>
          <p:nvPr/>
        </p:nvSpPr>
        <p:spPr>
          <a:xfrm>
            <a:off x="4361688" y="3685032"/>
            <a:ext cx="3438144" cy="1773936"/>
          </a:xfrm>
          <a:prstGeom prst="rect">
            <a:avLst>
              <a:gd name="adj" fmla="val 51546"/>
            </a:avLst>
          </a:prstGeom>
          <a:solidFill>
            <a:srgbClr val="FCECEF"/>
          </a:solidFill>
          <a:ln w="10160">
            <a:solidFill>
              <a:srgbClr val="FCECEF"/>
            </a:solidFill>
            <a:prstDash val="solid"/>
          </a:ln>
        </p:spPr>
      </p:sp>
      <p:sp>
        <p:nvSpPr>
          <p:cNvPr id="38" name="Text 36"/>
          <p:cNvSpPr/>
          <p:nvPr/>
        </p:nvSpPr>
        <p:spPr>
          <a:xfrm>
            <a:off x="4507992" y="3794760"/>
            <a:ext cx="3145536" cy="548640"/>
          </a:xfrm>
          <a:prstGeom prst="rect">
            <a:avLst/>
          </a:prstGeom>
          <a:noFill/>
          <a:ln/>
        </p:spPr>
        <p:txBody>
          <a:bodyPr wrap="square" lIns="0" tIns="0" rIns="0" bIns="0" rtlCol="0" anchor="ctr"/>
          <a:lstStyle/>
          <a:p>
            <a:pPr algn="l" indent="0" marL="0">
              <a:buNone/>
            </a:pPr>
            <a:r>
              <a:rPr lang="en-US" sz="1800" b="1" dirty="0">
                <a:solidFill>
                  <a:srgbClr val="E31837"/>
                </a:solidFill>
                <a:latin typeface="Arial" pitchFamily="34" charset="0"/>
                <a:ea typeface="Arial" pitchFamily="34" charset="-122"/>
                <a:cs typeface="Arial" pitchFamily="34" charset="-120"/>
              </a:rPr>
              <a:t>Site deployment record</a:t>
            </a:r>
            <a:endParaRPr lang="en-US" sz="1800" dirty="0"/>
          </a:p>
        </p:txBody>
      </p:sp>
      <p:sp>
        <p:nvSpPr>
          <p:cNvPr id="39" name="Text 37"/>
          <p:cNvSpPr/>
          <p:nvPr/>
        </p:nvSpPr>
        <p:spPr>
          <a:xfrm>
            <a:off x="4507992" y="4434840"/>
            <a:ext cx="3145536" cy="914400"/>
          </a:xfrm>
          <a:prstGeom prst="rect">
            <a:avLst/>
          </a:prstGeom>
          <a:noFill/>
          <a:ln/>
        </p:spPr>
        <p:txBody>
          <a:bodyPr wrap="square" lIns="0" tIns="0" rIns="0" bIns="0" rtlCol="0" anchor="ctr"/>
          <a:lstStyle/>
          <a:p>
            <a:pPr algn="l" indent="0" marL="0">
              <a:buNone/>
            </a:pPr>
            <a:r>
              <a:rPr lang="en-US" sz="1310" dirty="0">
                <a:solidFill>
                  <a:srgbClr val="5B6169"/>
                </a:solidFill>
                <a:latin typeface="Arial" pitchFamily="34" charset="0"/>
                <a:ea typeface="Arial" pitchFamily="34" charset="-122"/>
                <a:cs typeface="Arial" pitchFamily="34" charset="-120"/>
              </a:rPr>
              <a:t>Identity / network / data policy</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Pack / collection generations</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Quota revision + endpoint map</a:t>
            </a:r>
            <a:endParaRPr lang="en-US" sz="1310" dirty="0"/>
          </a:p>
        </p:txBody>
      </p:sp>
      <p:sp>
        <p:nvSpPr>
          <p:cNvPr id="40" name="Shape 38"/>
          <p:cNvSpPr/>
          <p:nvPr/>
        </p:nvSpPr>
        <p:spPr>
          <a:xfrm>
            <a:off x="8138160" y="3685032"/>
            <a:ext cx="3438144" cy="1773936"/>
          </a:xfrm>
          <a:prstGeom prst="rect">
            <a:avLst>
              <a:gd name="adj" fmla="val 51546"/>
            </a:avLst>
          </a:prstGeom>
          <a:solidFill>
            <a:srgbClr val="F3F4F6"/>
          </a:solidFill>
          <a:ln w="10160">
            <a:solidFill>
              <a:srgbClr val="F3F4F6"/>
            </a:solidFill>
            <a:prstDash val="solid"/>
          </a:ln>
        </p:spPr>
      </p:sp>
      <p:sp>
        <p:nvSpPr>
          <p:cNvPr id="41" name="Text 39"/>
          <p:cNvSpPr/>
          <p:nvPr/>
        </p:nvSpPr>
        <p:spPr>
          <a:xfrm>
            <a:off x="8284464" y="3794760"/>
            <a:ext cx="3145536" cy="548640"/>
          </a:xfrm>
          <a:prstGeom prst="rect">
            <a:avLst/>
          </a:prstGeom>
          <a:noFill/>
          <a:ln/>
        </p:spPr>
        <p:txBody>
          <a:bodyPr wrap="square" lIns="0" tIns="0" rIns="0" bIns="0" rtlCol="0" anchor="ctr"/>
          <a:lstStyle/>
          <a:p>
            <a:pPr algn="l" indent="0" marL="0">
              <a:buNone/>
            </a:pPr>
            <a:r>
              <a:rPr lang="en-US" sz="1800" b="1" dirty="0">
                <a:solidFill>
                  <a:srgbClr val="18191D"/>
                </a:solidFill>
                <a:latin typeface="Arial" pitchFamily="34" charset="0"/>
                <a:ea typeface="Arial" pitchFamily="34" charset="-122"/>
                <a:cs typeface="Arial" pitchFamily="34" charset="-120"/>
              </a:rPr>
              <a:t>Ready means complete</a:t>
            </a:r>
            <a:endParaRPr lang="en-US" sz="1800" dirty="0"/>
          </a:p>
        </p:txBody>
      </p:sp>
      <p:sp>
        <p:nvSpPr>
          <p:cNvPr id="42" name="Text 40"/>
          <p:cNvSpPr/>
          <p:nvPr/>
        </p:nvSpPr>
        <p:spPr>
          <a:xfrm>
            <a:off x="8284464" y="4434840"/>
            <a:ext cx="3145536" cy="914400"/>
          </a:xfrm>
          <a:prstGeom prst="rect">
            <a:avLst/>
          </a:prstGeom>
          <a:noFill/>
          <a:ln/>
        </p:spPr>
        <p:txBody>
          <a:bodyPr wrap="square" lIns="0" tIns="0" rIns="0" bIns="0" rtlCol="0" anchor="ctr"/>
          <a:lstStyle/>
          <a:p>
            <a:pPr algn="l" indent="0" marL="0">
              <a:buNone/>
            </a:pPr>
            <a:r>
              <a:rPr lang="en-US" sz="1310" dirty="0">
                <a:solidFill>
                  <a:srgbClr val="5B6169"/>
                </a:solidFill>
                <a:latin typeface="Arial" pitchFamily="34" charset="0"/>
                <a:ea typeface="Arial" pitchFamily="34" charset="-122"/>
                <a:cs typeface="Arial" pitchFamily="34" charset="-120"/>
              </a:rPr>
              <a:t>Healthy allocated devices</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Trusted pack + memory fit</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Golden tests + service warmup</a:t>
            </a:r>
            <a:endParaRPr lang="en-US" sz="1310" dirty="0"/>
          </a:p>
        </p:txBody>
      </p:sp>
      <p:sp>
        <p:nvSpPr>
          <p:cNvPr id="43" name="Shape 41"/>
          <p:cNvSpPr/>
          <p:nvPr/>
        </p:nvSpPr>
        <p:spPr>
          <a:xfrm>
            <a:off x="475488" y="5843016"/>
            <a:ext cx="11228832" cy="457200"/>
          </a:xfrm>
          <a:prstGeom prst="rect">
            <a:avLst/>
          </a:prstGeom>
          <a:solidFill>
            <a:srgbClr val="FCECEF"/>
          </a:solidFill>
          <a:ln w="10160">
            <a:solidFill>
              <a:srgbClr val="FCECEF"/>
            </a:solidFill>
            <a:prstDash val="solid"/>
          </a:ln>
        </p:spPr>
      </p:sp>
      <p:sp>
        <p:nvSpPr>
          <p:cNvPr id="44" name="Text 42"/>
          <p:cNvSpPr/>
          <p:nvPr/>
        </p:nvSpPr>
        <p:spPr>
          <a:xfrm>
            <a:off x="621792" y="5893308"/>
            <a:ext cx="10936224" cy="347472"/>
          </a:xfrm>
          <a:prstGeom prst="rect">
            <a:avLst/>
          </a:prstGeom>
          <a:noFill/>
          <a:ln/>
        </p:spPr>
        <p:txBody>
          <a:bodyPr wrap="square" lIns="0" tIns="0" rIns="0" bIns="0" rtlCol="0" anchor="ctr"/>
          <a:lstStyle/>
          <a:p>
            <a:pPr algn="l" indent="0" marL="0">
              <a:buNone/>
            </a:pPr>
            <a:r>
              <a:rPr lang="en-US" sz="1300" b="1" dirty="0">
                <a:solidFill>
                  <a:srgbClr val="E31837"/>
                </a:solidFill>
                <a:latin typeface="Arial" pitchFamily="34" charset="0"/>
                <a:ea typeface="Arial" pitchFamily="34" charset="-122"/>
                <a:cs typeface="Arial" pitchFamily="34" charset="-120"/>
              </a:rPr>
              <a:t>The V3 one-business-day target is first evaluated service after site readiness—not completion of a large corpus ingestion.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E31837"/>
          </a:solidFill>
          <a:ln w="10160">
            <a:solidFill>
              <a:srgbClr val="E31837"/>
            </a:solidFill>
            <a:prstDash val="solid"/>
          </a:ln>
        </p:spPr>
      </p:sp>
      <p:sp>
        <p:nvSpPr>
          <p:cNvPr id="3" name="Text 1"/>
          <p:cNvSpPr/>
          <p:nvPr/>
        </p:nvSpPr>
        <p:spPr>
          <a:xfrm>
            <a:off x="457200" y="228600"/>
            <a:ext cx="1645920" cy="228600"/>
          </a:xfrm>
          <a:prstGeom prst="rect">
            <a:avLst/>
          </a:prstGeom>
          <a:noFill/>
          <a:ln/>
        </p:spPr>
        <p:txBody>
          <a:bodyPr wrap="square" lIns="0" tIns="0" rIns="0" bIns="0" rtlCol="0" anchor="ctr"/>
          <a:lstStyle/>
          <a:p>
            <a:pPr algn="l" indent="0" marL="0">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4" name="Text 2"/>
          <p:cNvSpPr/>
          <p:nvPr/>
        </p:nvSpPr>
        <p:spPr>
          <a:xfrm>
            <a:off x="1965960" y="256032"/>
            <a:ext cx="9144000" cy="182880"/>
          </a:xfrm>
          <a:prstGeom prst="rect">
            <a:avLst/>
          </a:prstGeom>
          <a:noFill/>
          <a:ln/>
        </p:spPr>
        <p:txBody>
          <a:bodyPr wrap="square" lIns="0" tIns="0" rIns="0" bIns="0" rtlCol="0" anchor="ctr"/>
          <a:lstStyle/>
          <a:p>
            <a:pPr algn="l" indent="0" marL="0">
              <a:buNone/>
            </a:pPr>
            <a:r>
              <a:rPr lang="en-US" sz="1050" b="1" dirty="0">
                <a:solidFill>
                  <a:srgbClr val="5B6169"/>
                </a:solidFill>
                <a:latin typeface="Arial" pitchFamily="34" charset="0"/>
                <a:ea typeface="Arial" pitchFamily="34" charset="-122"/>
                <a:cs typeface="Arial" pitchFamily="34" charset="-120"/>
              </a:rPr>
              <a:t>ATMOS  /  A12 / ADDING A NEW MODEL</a:t>
            </a:r>
            <a:endParaRPr lang="en-US" sz="1050" dirty="0"/>
          </a:p>
        </p:txBody>
      </p:sp>
      <p:sp>
        <p:nvSpPr>
          <p:cNvPr id="5" name="Text 3"/>
          <p:cNvSpPr/>
          <p:nvPr/>
        </p:nvSpPr>
        <p:spPr>
          <a:xfrm>
            <a:off x="475488" y="758952"/>
            <a:ext cx="11201400" cy="493776"/>
          </a:xfrm>
          <a:prstGeom prst="rect">
            <a:avLst/>
          </a:prstGeom>
          <a:noFill/>
          <a:ln/>
        </p:spPr>
        <p:txBody>
          <a:bodyPr wrap="square" lIns="0" tIns="0" rIns="0" bIns="0" rtlCol="0" anchor="ctr"/>
          <a:lstStyle/>
          <a:p>
            <a:pPr algn="l" indent="0" marL="0">
              <a:buNone/>
            </a:pPr>
            <a:r>
              <a:rPr lang="en-US" sz="2750" b="1" dirty="0">
                <a:solidFill>
                  <a:srgbClr val="18191D"/>
                </a:solidFill>
                <a:latin typeface="Arial" pitchFamily="34" charset="0"/>
                <a:ea typeface="Arial" pitchFamily="34" charset="-122"/>
                <a:cs typeface="Arial" pitchFamily="34" charset="-120"/>
              </a:rPr>
              <a:t>Treat model onboarding as a product certification workflow.</a:t>
            </a:r>
            <a:endParaRPr lang="en-US" sz="2750" dirty="0"/>
          </a:p>
        </p:txBody>
      </p:sp>
      <p:sp>
        <p:nvSpPr>
          <p:cNvPr id="6" name="Text 4"/>
          <p:cNvSpPr/>
          <p:nvPr/>
        </p:nvSpPr>
        <p:spPr>
          <a:xfrm>
            <a:off x="502920" y="1298448"/>
            <a:ext cx="11064240" cy="411480"/>
          </a:xfrm>
          <a:prstGeom prst="rect">
            <a:avLst/>
          </a:prstGeom>
          <a:noFill/>
          <a:ln/>
        </p:spPr>
        <p:txBody>
          <a:bodyPr wrap="square" lIns="0" tIns="0" rIns="0" bIns="0" rtlCol="0" anchor="ctr"/>
          <a:lstStyle/>
          <a:p>
            <a:pPr algn="l" indent="0" marL="0">
              <a:buNone/>
            </a:pPr>
            <a:r>
              <a:rPr lang="en-US" sz="1350" dirty="0">
                <a:solidFill>
                  <a:srgbClr val="5B6169"/>
                </a:solidFill>
                <a:latin typeface="Arial" pitchFamily="34" charset="0"/>
                <a:ea typeface="Arial" pitchFamily="34" charset="-122"/>
                <a:cs typeface="Arial" pitchFamily="34" charset="-120"/>
              </a:rPr>
              <a:t>The customer chooses a certified catalog item; SanDisk and the NPU partner own preparation and qualification.</a:t>
            </a:r>
            <a:endParaRPr lang="en-US" sz="1350" dirty="0"/>
          </a:p>
        </p:txBody>
      </p:sp>
      <p:sp>
        <p:nvSpPr>
          <p:cNvPr id="7" name="Shape 5"/>
          <p:cNvSpPr/>
          <p:nvPr/>
        </p:nvSpPr>
        <p:spPr>
          <a:xfrm>
            <a:off x="484632" y="6464808"/>
            <a:ext cx="11237976" cy="0"/>
          </a:xfrm>
          <a:prstGeom prst="line">
            <a:avLst/>
          </a:prstGeom>
          <a:noFill/>
          <a:ln w="7620">
            <a:solidFill>
              <a:srgbClr val="D9DDE3"/>
            </a:solidFill>
            <a:prstDash val="solid"/>
            <a:headEnd type="none"/>
            <a:tailEnd type="none"/>
          </a:ln>
        </p:spPr>
      </p:sp>
      <p:sp>
        <p:nvSpPr>
          <p:cNvPr id="8" name="Text 6"/>
          <p:cNvSpPr/>
          <p:nvPr/>
        </p:nvSpPr>
        <p:spPr>
          <a:xfrm>
            <a:off x="512064" y="6547104"/>
            <a:ext cx="9418320" cy="164592"/>
          </a:xfrm>
          <a:prstGeom prst="rect">
            <a:avLst/>
          </a:prstGeom>
          <a:noFill/>
          <a:ln/>
        </p:spPr>
        <p:txBody>
          <a:bodyPr wrap="square" lIns="0" tIns="0" rIns="0" bIns="0" rtlCol="0" anchor="ctr"/>
          <a:lstStyle/>
          <a:p>
            <a:pPr algn="l" indent="0" marL="0">
              <a:buNone/>
            </a:pPr>
            <a:r>
              <a:rPr lang="en-US" sz="850" dirty="0">
                <a:solidFill>
                  <a:srgbClr val="5B6169"/>
                </a:solidFill>
                <a:latin typeface="Arial" pitchFamily="34" charset="0"/>
                <a:ea typeface="Arial" pitchFamily="34" charset="-122"/>
                <a:cs typeface="Arial" pitchFamily="34" charset="-120"/>
              </a:rPr>
              <a:t>TECHNICAL APPENDIX TO V3  •  6 OCT 2026  •  PROPOSED DESIGN / QUALIFICATION REQUIRED</a:t>
            </a:r>
            <a:endParaRPr lang="en-US" sz="850" dirty="0"/>
          </a:p>
        </p:txBody>
      </p:sp>
      <p:sp>
        <p:nvSpPr>
          <p:cNvPr id="9" name="Text 7"/>
          <p:cNvSpPr/>
          <p:nvPr/>
        </p:nvSpPr>
        <p:spPr>
          <a:xfrm>
            <a:off x="11219688" y="6519672"/>
            <a:ext cx="457200" cy="219456"/>
          </a:xfrm>
          <a:prstGeom prst="rect">
            <a:avLst/>
          </a:prstGeom>
          <a:noFill/>
          <a:ln/>
        </p:spPr>
        <p:txBody>
          <a:bodyPr wrap="square" lIns="0" tIns="0" rIns="0" bIns="0" rtlCol="0" anchor="ctr"/>
          <a:lstStyle/>
          <a:p>
            <a:pPr algn="r" indent="0" marL="0">
              <a:buNone/>
            </a:pPr>
            <a:r>
              <a:rPr lang="en-US" sz="1000" b="1" dirty="0">
                <a:solidFill>
                  <a:srgbClr val="E31837"/>
                </a:solidFill>
                <a:latin typeface="Arial" pitchFamily="34" charset="0"/>
                <a:ea typeface="Arial" pitchFamily="34" charset="-122"/>
                <a:cs typeface="Arial" pitchFamily="34" charset="-120"/>
              </a:rPr>
              <a:t>13</a:t>
            </a:r>
            <a:endParaRPr lang="en-US" sz="1000" dirty="0"/>
          </a:p>
        </p:txBody>
      </p:sp>
      <p:sp>
        <p:nvSpPr>
          <p:cNvPr id="10" name="Text 8">
            <a:hlinkClick r:id="rId1" tooltip=""/>
          </p:cNvPr>
          <p:cNvSpPr/>
          <p:nvPr/>
        </p:nvSpPr>
        <p:spPr>
          <a:xfrm>
            <a:off x="9875520" y="237744"/>
            <a:ext cx="1828800" cy="219456"/>
          </a:xfrm>
          <a:prstGeom prst="rect">
            <a:avLst/>
          </a:prstGeom>
          <a:noFill/>
          <a:ln/>
        </p:spPr>
        <p:txBody>
          <a:bodyPr wrap="square" lIns="0" tIns="0" rIns="0" bIns="0" rtlCol="0" anchor="ctr"/>
          <a:lstStyle/>
          <a:p>
            <a:pPr algn="r" indent="0" marL="0">
              <a:buNone/>
            </a:pPr>
            <a:r>
              <a:rPr lang="en-US" sz="1000"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technical notes</a:t>
            </a:r>
            <a:endParaRPr lang="en-US" sz="1000" dirty="0"/>
          </a:p>
        </p:txBody>
      </p:sp>
      <p:sp>
        <p:nvSpPr>
          <p:cNvPr id="11" name="Shape 9"/>
          <p:cNvSpPr/>
          <p:nvPr/>
        </p:nvSpPr>
        <p:spPr>
          <a:xfrm>
            <a:off x="548640" y="1920240"/>
            <a:ext cx="2587752" cy="1234440"/>
          </a:xfrm>
          <a:prstGeom prst="rect">
            <a:avLst/>
          </a:prstGeom>
          <a:solidFill>
            <a:srgbClr val="F3F4F6"/>
          </a:solidFill>
          <a:ln w="10160">
            <a:solidFill>
              <a:srgbClr val="F3F4F6"/>
            </a:solidFill>
            <a:prstDash val="solid"/>
          </a:ln>
        </p:spPr>
      </p:sp>
      <p:sp>
        <p:nvSpPr>
          <p:cNvPr id="12" name="Text 10"/>
          <p:cNvSpPr/>
          <p:nvPr/>
        </p:nvSpPr>
        <p:spPr>
          <a:xfrm>
            <a:off x="658368" y="1993392"/>
            <a:ext cx="2368296"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1  Intake</a:t>
            </a:r>
            <a:endParaRPr lang="en-US" sz="1450" dirty="0"/>
          </a:p>
        </p:txBody>
      </p:sp>
      <p:sp>
        <p:nvSpPr>
          <p:cNvPr id="13" name="Text 11"/>
          <p:cNvSpPr/>
          <p:nvPr/>
        </p:nvSpPr>
        <p:spPr>
          <a:xfrm>
            <a:off x="658368" y="2359152"/>
            <a:ext cx="2368296" cy="731520"/>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Publisher / customer</a:t>
            </a:r>
            <a:endParaRPr lang="en-US" sz="1250" dirty="0"/>
          </a:p>
          <a:p>
            <a:pPr algn="l" indent="0" marL="0">
              <a:buNone/>
            </a:pPr>
            <a:r>
              <a:rPr lang="en-US" sz="1250" dirty="0">
                <a:solidFill>
                  <a:srgbClr val="5B6169"/>
                </a:solidFill>
                <a:latin typeface="Arial" pitchFamily="34" charset="0"/>
                <a:ea typeface="Arial" pitchFamily="34" charset="-122"/>
                <a:cs typeface="Arial" pitchFamily="34" charset="-120"/>
              </a:rPr>
              <a:t>Use case + APIs</a:t>
            </a:r>
            <a:endParaRPr lang="en-US" sz="1250" dirty="0"/>
          </a:p>
        </p:txBody>
      </p:sp>
      <p:sp>
        <p:nvSpPr>
          <p:cNvPr id="14" name="Shape 12"/>
          <p:cNvSpPr/>
          <p:nvPr/>
        </p:nvSpPr>
        <p:spPr>
          <a:xfrm>
            <a:off x="3136392" y="2537460"/>
            <a:ext cx="228600" cy="0"/>
          </a:xfrm>
          <a:prstGeom prst="line">
            <a:avLst/>
          </a:prstGeom>
          <a:noFill/>
          <a:ln w="19050">
            <a:solidFill>
              <a:srgbClr val="E31837"/>
            </a:solidFill>
            <a:prstDash val="solid"/>
            <a:headEnd type="none"/>
            <a:tailEnd type="triangle"/>
          </a:ln>
        </p:spPr>
      </p:sp>
      <p:sp>
        <p:nvSpPr>
          <p:cNvPr id="15" name="Shape 13"/>
          <p:cNvSpPr/>
          <p:nvPr/>
        </p:nvSpPr>
        <p:spPr>
          <a:xfrm>
            <a:off x="3383280" y="1920240"/>
            <a:ext cx="2587752" cy="1234440"/>
          </a:xfrm>
          <a:prstGeom prst="rect">
            <a:avLst/>
          </a:prstGeom>
          <a:solidFill>
            <a:srgbClr val="F3F4F6"/>
          </a:solidFill>
          <a:ln w="10160">
            <a:solidFill>
              <a:srgbClr val="F3F4F6"/>
            </a:solidFill>
            <a:prstDash val="solid"/>
          </a:ln>
        </p:spPr>
      </p:sp>
      <p:sp>
        <p:nvSpPr>
          <p:cNvPr id="16" name="Text 14"/>
          <p:cNvSpPr/>
          <p:nvPr/>
        </p:nvSpPr>
        <p:spPr>
          <a:xfrm>
            <a:off x="3493008" y="1993392"/>
            <a:ext cx="2368296"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2  Quarantine</a:t>
            </a:r>
            <a:endParaRPr lang="en-US" sz="1450" dirty="0"/>
          </a:p>
        </p:txBody>
      </p:sp>
      <p:sp>
        <p:nvSpPr>
          <p:cNvPr id="17" name="Text 15"/>
          <p:cNvSpPr/>
          <p:nvPr/>
        </p:nvSpPr>
        <p:spPr>
          <a:xfrm>
            <a:off x="3493008" y="2359152"/>
            <a:ext cx="2368296" cy="731520"/>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License / provenance</a:t>
            </a:r>
            <a:endParaRPr lang="en-US" sz="1250" dirty="0"/>
          </a:p>
          <a:p>
            <a:pPr algn="l" indent="0" marL="0">
              <a:buNone/>
            </a:pPr>
            <a:r>
              <a:rPr lang="en-US" sz="1250" dirty="0">
                <a:solidFill>
                  <a:srgbClr val="5B6169"/>
                </a:solidFill>
                <a:latin typeface="Arial" pitchFamily="34" charset="0"/>
                <a:ea typeface="Arial" pitchFamily="34" charset="-122"/>
                <a:cs typeface="Arial" pitchFamily="34" charset="-120"/>
              </a:rPr>
              <a:t>Unsafe-code checks</a:t>
            </a:r>
            <a:endParaRPr lang="en-US" sz="1250" dirty="0"/>
          </a:p>
        </p:txBody>
      </p:sp>
      <p:sp>
        <p:nvSpPr>
          <p:cNvPr id="18" name="Shape 16"/>
          <p:cNvSpPr/>
          <p:nvPr/>
        </p:nvSpPr>
        <p:spPr>
          <a:xfrm>
            <a:off x="5971032" y="2537460"/>
            <a:ext cx="228600" cy="0"/>
          </a:xfrm>
          <a:prstGeom prst="line">
            <a:avLst/>
          </a:prstGeom>
          <a:noFill/>
          <a:ln w="19050">
            <a:solidFill>
              <a:srgbClr val="E31837"/>
            </a:solidFill>
            <a:prstDash val="solid"/>
            <a:headEnd type="none"/>
            <a:tailEnd type="triangle"/>
          </a:ln>
        </p:spPr>
      </p:sp>
      <p:sp>
        <p:nvSpPr>
          <p:cNvPr id="19" name="Shape 17"/>
          <p:cNvSpPr/>
          <p:nvPr/>
        </p:nvSpPr>
        <p:spPr>
          <a:xfrm>
            <a:off x="6217920" y="1920240"/>
            <a:ext cx="2587752" cy="1234440"/>
          </a:xfrm>
          <a:prstGeom prst="rect">
            <a:avLst/>
          </a:prstGeom>
          <a:solidFill>
            <a:srgbClr val="F3F4F6"/>
          </a:solidFill>
          <a:ln w="10160">
            <a:solidFill>
              <a:srgbClr val="F3F4F6"/>
            </a:solidFill>
            <a:prstDash val="solid"/>
          </a:ln>
        </p:spPr>
      </p:sp>
      <p:sp>
        <p:nvSpPr>
          <p:cNvPr id="20" name="Text 18"/>
          <p:cNvSpPr/>
          <p:nvPr/>
        </p:nvSpPr>
        <p:spPr>
          <a:xfrm>
            <a:off x="6327648" y="1993392"/>
            <a:ext cx="2368296"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3  Prepare</a:t>
            </a:r>
            <a:endParaRPr lang="en-US" sz="1450" dirty="0"/>
          </a:p>
        </p:txBody>
      </p:sp>
      <p:sp>
        <p:nvSpPr>
          <p:cNvPr id="21" name="Text 19"/>
          <p:cNvSpPr/>
          <p:nvPr/>
        </p:nvSpPr>
        <p:spPr>
          <a:xfrm>
            <a:off x="6327648" y="2359152"/>
            <a:ext cx="2368296" cy="731520"/>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Pin tokenizer / dtype</a:t>
            </a:r>
            <a:endParaRPr lang="en-US" sz="1250" dirty="0"/>
          </a:p>
          <a:p>
            <a:pPr algn="l" indent="0" marL="0">
              <a:buNone/>
            </a:pPr>
            <a:r>
              <a:rPr lang="en-US" sz="1250" dirty="0">
                <a:solidFill>
                  <a:srgbClr val="5B6169"/>
                </a:solidFill>
                <a:latin typeface="Arial" pitchFamily="34" charset="0"/>
                <a:ea typeface="Arial" pitchFamily="34" charset="-122"/>
                <a:cs typeface="Arial" pitchFamily="34" charset="-120"/>
              </a:rPr>
              <a:t>Compile NPU plan</a:t>
            </a:r>
            <a:endParaRPr lang="en-US" sz="1250" dirty="0"/>
          </a:p>
        </p:txBody>
      </p:sp>
      <p:sp>
        <p:nvSpPr>
          <p:cNvPr id="22" name="Shape 20"/>
          <p:cNvSpPr/>
          <p:nvPr/>
        </p:nvSpPr>
        <p:spPr>
          <a:xfrm>
            <a:off x="8805672" y="2537460"/>
            <a:ext cx="228600" cy="0"/>
          </a:xfrm>
          <a:prstGeom prst="line">
            <a:avLst/>
          </a:prstGeom>
          <a:noFill/>
          <a:ln w="19050">
            <a:solidFill>
              <a:srgbClr val="E31837"/>
            </a:solidFill>
            <a:prstDash val="solid"/>
            <a:headEnd type="none"/>
            <a:tailEnd type="triangle"/>
          </a:ln>
        </p:spPr>
      </p:sp>
      <p:sp>
        <p:nvSpPr>
          <p:cNvPr id="23" name="Shape 21"/>
          <p:cNvSpPr/>
          <p:nvPr/>
        </p:nvSpPr>
        <p:spPr>
          <a:xfrm>
            <a:off x="9052560" y="1920240"/>
            <a:ext cx="2587752" cy="1234440"/>
          </a:xfrm>
          <a:prstGeom prst="rect">
            <a:avLst/>
          </a:prstGeom>
          <a:solidFill>
            <a:srgbClr val="18191D"/>
          </a:solidFill>
          <a:ln w="10160">
            <a:solidFill>
              <a:srgbClr val="18191D"/>
            </a:solidFill>
            <a:prstDash val="solid"/>
          </a:ln>
        </p:spPr>
      </p:sp>
      <p:sp>
        <p:nvSpPr>
          <p:cNvPr id="24" name="Text 22"/>
          <p:cNvSpPr/>
          <p:nvPr/>
        </p:nvSpPr>
        <p:spPr>
          <a:xfrm>
            <a:off x="9162288" y="1993392"/>
            <a:ext cx="2368296" cy="301752"/>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4  Validate</a:t>
            </a:r>
            <a:endParaRPr lang="en-US" sz="1450" dirty="0"/>
          </a:p>
        </p:txBody>
      </p:sp>
      <p:sp>
        <p:nvSpPr>
          <p:cNvPr id="25" name="Text 23"/>
          <p:cNvSpPr/>
          <p:nvPr/>
        </p:nvSpPr>
        <p:spPr>
          <a:xfrm>
            <a:off x="9162288" y="2359152"/>
            <a:ext cx="2368296" cy="731520"/>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Quality + memory</a:t>
            </a:r>
            <a:endParaRPr lang="en-US" sz="1250" dirty="0"/>
          </a:p>
          <a:p>
            <a:pPr algn="l" indent="0" marL="0">
              <a:buNone/>
            </a:pPr>
            <a:r>
              <a:rPr lang="en-US" sz="1250" dirty="0">
                <a:solidFill>
                  <a:srgbClr val="FFFFFF"/>
                </a:solidFill>
                <a:latin typeface="Arial" pitchFamily="34" charset="0"/>
                <a:ea typeface="Arial" pitchFamily="34" charset="-122"/>
                <a:cs typeface="Arial" pitchFamily="34" charset="-120"/>
              </a:rPr>
              <a:t>SLO / failure / security</a:t>
            </a:r>
            <a:endParaRPr lang="en-US" sz="1250" dirty="0"/>
          </a:p>
        </p:txBody>
      </p:sp>
      <p:sp>
        <p:nvSpPr>
          <p:cNvPr id="26" name="Shape 24"/>
          <p:cNvSpPr/>
          <p:nvPr/>
        </p:nvSpPr>
        <p:spPr>
          <a:xfrm>
            <a:off x="548640" y="3813048"/>
            <a:ext cx="2587752" cy="1234440"/>
          </a:xfrm>
          <a:prstGeom prst="rect">
            <a:avLst/>
          </a:prstGeom>
          <a:solidFill>
            <a:srgbClr val="F3F4F6"/>
          </a:solidFill>
          <a:ln w="10160">
            <a:solidFill>
              <a:srgbClr val="F3F4F6"/>
            </a:solidFill>
            <a:prstDash val="solid"/>
          </a:ln>
        </p:spPr>
      </p:sp>
      <p:sp>
        <p:nvSpPr>
          <p:cNvPr id="27" name="Text 25"/>
          <p:cNvSpPr/>
          <p:nvPr/>
        </p:nvSpPr>
        <p:spPr>
          <a:xfrm>
            <a:off x="658368" y="3886200"/>
            <a:ext cx="2368296"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5  Approve</a:t>
            </a:r>
            <a:endParaRPr lang="en-US" sz="1450" dirty="0"/>
          </a:p>
        </p:txBody>
      </p:sp>
      <p:sp>
        <p:nvSpPr>
          <p:cNvPr id="28" name="Text 26"/>
          <p:cNvSpPr/>
          <p:nvPr/>
        </p:nvSpPr>
        <p:spPr>
          <a:xfrm>
            <a:off x="658368" y="4251960"/>
            <a:ext cx="2368296" cy="731520"/>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Model + security owners</a:t>
            </a:r>
            <a:endParaRPr lang="en-US" sz="1250" dirty="0"/>
          </a:p>
          <a:p>
            <a:pPr algn="l" indent="0" marL="0">
              <a:buNone/>
            </a:pPr>
            <a:r>
              <a:rPr lang="en-US" sz="1250" dirty="0">
                <a:solidFill>
                  <a:srgbClr val="5B6169"/>
                </a:solidFill>
                <a:latin typeface="Arial" pitchFamily="34" charset="0"/>
                <a:ea typeface="Arial" pitchFamily="34" charset="-122"/>
                <a:cs typeface="Arial" pitchFamily="34" charset="-120"/>
              </a:rPr>
              <a:t>Complete evidence</a:t>
            </a:r>
            <a:endParaRPr lang="en-US" sz="1250" dirty="0"/>
          </a:p>
        </p:txBody>
      </p:sp>
      <p:sp>
        <p:nvSpPr>
          <p:cNvPr id="29" name="Shape 27"/>
          <p:cNvSpPr/>
          <p:nvPr/>
        </p:nvSpPr>
        <p:spPr>
          <a:xfrm>
            <a:off x="3136392" y="4430268"/>
            <a:ext cx="228600" cy="0"/>
          </a:xfrm>
          <a:prstGeom prst="line">
            <a:avLst/>
          </a:prstGeom>
          <a:noFill/>
          <a:ln w="19050">
            <a:solidFill>
              <a:srgbClr val="E31837"/>
            </a:solidFill>
            <a:prstDash val="solid"/>
            <a:headEnd type="none"/>
            <a:tailEnd type="triangle"/>
          </a:ln>
        </p:spPr>
      </p:sp>
      <p:sp>
        <p:nvSpPr>
          <p:cNvPr id="30" name="Shape 28"/>
          <p:cNvSpPr/>
          <p:nvPr/>
        </p:nvSpPr>
        <p:spPr>
          <a:xfrm>
            <a:off x="3383280" y="3813048"/>
            <a:ext cx="2587752" cy="1234440"/>
          </a:xfrm>
          <a:prstGeom prst="rect">
            <a:avLst/>
          </a:prstGeom>
          <a:solidFill>
            <a:srgbClr val="F3F4F6"/>
          </a:solidFill>
          <a:ln w="10160">
            <a:solidFill>
              <a:srgbClr val="F3F4F6"/>
            </a:solidFill>
            <a:prstDash val="solid"/>
          </a:ln>
        </p:spPr>
      </p:sp>
      <p:sp>
        <p:nvSpPr>
          <p:cNvPr id="31" name="Text 29"/>
          <p:cNvSpPr/>
          <p:nvPr/>
        </p:nvSpPr>
        <p:spPr>
          <a:xfrm>
            <a:off x="3493008" y="3886200"/>
            <a:ext cx="2368296"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6  Sign</a:t>
            </a:r>
            <a:endParaRPr lang="en-US" sz="1450" dirty="0"/>
          </a:p>
        </p:txBody>
      </p:sp>
      <p:sp>
        <p:nvSpPr>
          <p:cNvPr id="32" name="Text 30"/>
          <p:cNvSpPr/>
          <p:nvPr/>
        </p:nvSpPr>
        <p:spPr>
          <a:xfrm>
            <a:off x="3493008" y="4251960"/>
            <a:ext cx="2368296" cy="731520"/>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ModelPack + tests</a:t>
            </a:r>
            <a:endParaRPr lang="en-US" sz="1250" dirty="0"/>
          </a:p>
          <a:p>
            <a:pPr algn="l" indent="0" marL="0">
              <a:buNone/>
            </a:pPr>
            <a:r>
              <a:rPr lang="en-US" sz="1250" dirty="0">
                <a:solidFill>
                  <a:srgbClr val="5B6169"/>
                </a:solidFill>
                <a:latin typeface="Arial" pitchFamily="34" charset="0"/>
                <a:ea typeface="Arial" pitchFamily="34" charset="-122"/>
                <a:cs typeface="Arial" pitchFamily="34" charset="-120"/>
              </a:rPr>
              <a:t>Runtime / hardware IDs</a:t>
            </a:r>
            <a:endParaRPr lang="en-US" sz="1250" dirty="0"/>
          </a:p>
        </p:txBody>
      </p:sp>
      <p:sp>
        <p:nvSpPr>
          <p:cNvPr id="33" name="Shape 31"/>
          <p:cNvSpPr/>
          <p:nvPr/>
        </p:nvSpPr>
        <p:spPr>
          <a:xfrm>
            <a:off x="5971032" y="4430268"/>
            <a:ext cx="228600" cy="0"/>
          </a:xfrm>
          <a:prstGeom prst="line">
            <a:avLst/>
          </a:prstGeom>
          <a:noFill/>
          <a:ln w="19050">
            <a:solidFill>
              <a:srgbClr val="E31837"/>
            </a:solidFill>
            <a:prstDash val="solid"/>
            <a:headEnd type="none"/>
            <a:tailEnd type="triangle"/>
          </a:ln>
        </p:spPr>
      </p:sp>
      <p:sp>
        <p:nvSpPr>
          <p:cNvPr id="34" name="Shape 32"/>
          <p:cNvSpPr/>
          <p:nvPr/>
        </p:nvSpPr>
        <p:spPr>
          <a:xfrm>
            <a:off x="6217920" y="3813048"/>
            <a:ext cx="2587752" cy="1234440"/>
          </a:xfrm>
          <a:prstGeom prst="rect">
            <a:avLst/>
          </a:prstGeom>
          <a:solidFill>
            <a:srgbClr val="F3F4F6"/>
          </a:solidFill>
          <a:ln w="10160">
            <a:solidFill>
              <a:srgbClr val="F3F4F6"/>
            </a:solidFill>
            <a:prstDash val="solid"/>
          </a:ln>
        </p:spPr>
      </p:sp>
      <p:sp>
        <p:nvSpPr>
          <p:cNvPr id="35" name="Text 33"/>
          <p:cNvSpPr/>
          <p:nvPr/>
        </p:nvSpPr>
        <p:spPr>
          <a:xfrm>
            <a:off x="6327648" y="3886200"/>
            <a:ext cx="2368296"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7  Publish</a:t>
            </a:r>
            <a:endParaRPr lang="en-US" sz="1450" dirty="0"/>
          </a:p>
        </p:txBody>
      </p:sp>
      <p:sp>
        <p:nvSpPr>
          <p:cNvPr id="36" name="Text 34"/>
          <p:cNvSpPr/>
          <p:nvPr/>
        </p:nvSpPr>
        <p:spPr>
          <a:xfrm>
            <a:off x="6327648" y="4251960"/>
            <a:ext cx="2368296" cy="731520"/>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Catalog + entitlement</a:t>
            </a:r>
            <a:endParaRPr lang="en-US" sz="1250" dirty="0"/>
          </a:p>
          <a:p>
            <a:pPr algn="l" indent="0" marL="0">
              <a:buNone/>
            </a:pPr>
            <a:r>
              <a:rPr lang="en-US" sz="1250" dirty="0">
                <a:solidFill>
                  <a:srgbClr val="5B6169"/>
                </a:solidFill>
                <a:latin typeface="Arial" pitchFamily="34" charset="0"/>
                <a:ea typeface="Arial" pitchFamily="34" charset="-122"/>
                <a:cs typeface="Arial" pitchFamily="34" charset="-120"/>
              </a:rPr>
              <a:t>Supported profile</a:t>
            </a:r>
            <a:endParaRPr lang="en-US" sz="1250" dirty="0"/>
          </a:p>
        </p:txBody>
      </p:sp>
      <p:sp>
        <p:nvSpPr>
          <p:cNvPr id="37" name="Shape 35"/>
          <p:cNvSpPr/>
          <p:nvPr/>
        </p:nvSpPr>
        <p:spPr>
          <a:xfrm>
            <a:off x="8805672" y="4430268"/>
            <a:ext cx="228600" cy="0"/>
          </a:xfrm>
          <a:prstGeom prst="line">
            <a:avLst/>
          </a:prstGeom>
          <a:noFill/>
          <a:ln w="19050">
            <a:solidFill>
              <a:srgbClr val="E31837"/>
            </a:solidFill>
            <a:prstDash val="solid"/>
            <a:headEnd type="none"/>
            <a:tailEnd type="triangle"/>
          </a:ln>
        </p:spPr>
      </p:sp>
      <p:sp>
        <p:nvSpPr>
          <p:cNvPr id="38" name="Shape 36"/>
          <p:cNvSpPr/>
          <p:nvPr/>
        </p:nvSpPr>
        <p:spPr>
          <a:xfrm>
            <a:off x="9052560" y="3813048"/>
            <a:ext cx="2587752" cy="1234440"/>
          </a:xfrm>
          <a:prstGeom prst="rect">
            <a:avLst/>
          </a:prstGeom>
          <a:solidFill>
            <a:srgbClr val="18191D"/>
          </a:solidFill>
          <a:ln w="10160">
            <a:solidFill>
              <a:srgbClr val="18191D"/>
            </a:solidFill>
            <a:prstDash val="solid"/>
          </a:ln>
        </p:spPr>
      </p:sp>
      <p:sp>
        <p:nvSpPr>
          <p:cNvPr id="39" name="Text 37"/>
          <p:cNvSpPr/>
          <p:nvPr/>
        </p:nvSpPr>
        <p:spPr>
          <a:xfrm>
            <a:off x="9162288" y="3886200"/>
            <a:ext cx="2368296" cy="301752"/>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8  Deploy</a:t>
            </a:r>
            <a:endParaRPr lang="en-US" sz="1450" dirty="0"/>
          </a:p>
        </p:txBody>
      </p:sp>
      <p:sp>
        <p:nvSpPr>
          <p:cNvPr id="40" name="Text 38"/>
          <p:cNvSpPr/>
          <p:nvPr/>
        </p:nvSpPr>
        <p:spPr>
          <a:xfrm>
            <a:off x="9162288" y="4251960"/>
            <a:ext cx="2368296" cy="731520"/>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Local stage / validate</a:t>
            </a:r>
            <a:endParaRPr lang="en-US" sz="1250" dirty="0"/>
          </a:p>
          <a:p>
            <a:pPr algn="l" indent="0" marL="0">
              <a:buNone/>
            </a:pPr>
            <a:r>
              <a:rPr lang="en-US" sz="1250" dirty="0">
                <a:solidFill>
                  <a:srgbClr val="FFFFFF"/>
                </a:solidFill>
                <a:latin typeface="Arial" pitchFamily="34" charset="0"/>
                <a:ea typeface="Arial" pitchFamily="34" charset="-122"/>
                <a:cs typeface="Arial" pitchFamily="34" charset="-120"/>
              </a:rPr>
              <a:t>Canary / promotion</a:t>
            </a:r>
            <a:endParaRPr lang="en-US" sz="1250" dirty="0"/>
          </a:p>
        </p:txBody>
      </p:sp>
      <p:sp>
        <p:nvSpPr>
          <p:cNvPr id="41" name="Shape 39"/>
          <p:cNvSpPr/>
          <p:nvPr/>
        </p:nvSpPr>
        <p:spPr>
          <a:xfrm>
            <a:off x="10698480" y="3172968"/>
            <a:ext cx="0" cy="329184"/>
          </a:xfrm>
          <a:prstGeom prst="line">
            <a:avLst/>
          </a:prstGeom>
          <a:noFill/>
          <a:ln w="15240">
            <a:solidFill>
              <a:srgbClr val="5B6169"/>
            </a:solidFill>
            <a:prstDash val="solid"/>
            <a:headEnd type="none"/>
            <a:tailEnd type="none"/>
          </a:ln>
        </p:spPr>
      </p:sp>
      <p:sp>
        <p:nvSpPr>
          <p:cNvPr id="42" name="Shape 40"/>
          <p:cNvSpPr/>
          <p:nvPr/>
        </p:nvSpPr>
        <p:spPr>
          <a:xfrm>
            <a:off x="10698480" y="3502152"/>
            <a:ext cx="-9976104" cy="0"/>
          </a:xfrm>
          <a:prstGeom prst="line">
            <a:avLst/>
          </a:prstGeom>
          <a:noFill/>
          <a:ln w="15240">
            <a:solidFill>
              <a:srgbClr val="5B6169"/>
            </a:solidFill>
            <a:prstDash val="solid"/>
            <a:headEnd type="none"/>
            <a:tailEnd type="none"/>
          </a:ln>
        </p:spPr>
      </p:sp>
      <p:sp>
        <p:nvSpPr>
          <p:cNvPr id="43" name="Shape 41"/>
          <p:cNvSpPr/>
          <p:nvPr/>
        </p:nvSpPr>
        <p:spPr>
          <a:xfrm>
            <a:off x="722376" y="3502152"/>
            <a:ext cx="0" cy="274320"/>
          </a:xfrm>
          <a:prstGeom prst="line">
            <a:avLst/>
          </a:prstGeom>
          <a:noFill/>
          <a:ln w="15240">
            <a:solidFill>
              <a:srgbClr val="5B6169"/>
            </a:solidFill>
            <a:prstDash val="solid"/>
            <a:headEnd type="none"/>
            <a:tailEnd type="triangle"/>
          </a:ln>
        </p:spPr>
      </p:sp>
      <p:sp>
        <p:nvSpPr>
          <p:cNvPr id="44" name="Shape 42"/>
          <p:cNvSpPr/>
          <p:nvPr/>
        </p:nvSpPr>
        <p:spPr>
          <a:xfrm>
            <a:off x="475488" y="5843016"/>
            <a:ext cx="11228832" cy="457200"/>
          </a:xfrm>
          <a:prstGeom prst="rect">
            <a:avLst/>
          </a:prstGeom>
          <a:solidFill>
            <a:srgbClr val="FCECEF"/>
          </a:solidFill>
          <a:ln w="10160">
            <a:solidFill>
              <a:srgbClr val="FCECEF"/>
            </a:solidFill>
            <a:prstDash val="solid"/>
          </a:ln>
        </p:spPr>
      </p:sp>
      <p:sp>
        <p:nvSpPr>
          <p:cNvPr id="45" name="Text 43"/>
          <p:cNvSpPr/>
          <p:nvPr/>
        </p:nvSpPr>
        <p:spPr>
          <a:xfrm>
            <a:off x="621792" y="5893308"/>
            <a:ext cx="10936224" cy="347472"/>
          </a:xfrm>
          <a:prstGeom prst="rect">
            <a:avLst/>
          </a:prstGeom>
          <a:noFill/>
          <a:ln/>
        </p:spPr>
        <p:txBody>
          <a:bodyPr wrap="square" lIns="0" tIns="0" rIns="0" bIns="0" rtlCol="0" anchor="ctr"/>
          <a:lstStyle/>
          <a:p>
            <a:pPr algn="l" indent="0" marL="0">
              <a:buNone/>
            </a:pPr>
            <a:r>
              <a:rPr lang="en-US" sz="1300" b="1" dirty="0">
                <a:solidFill>
                  <a:srgbClr val="E31837"/>
                </a:solidFill>
                <a:latin typeface="Arial" pitchFamily="34" charset="0"/>
                <a:ea typeface="Arial" pitchFamily="34" charset="-122"/>
                <a:cs typeface="Arial" pitchFamily="34" charset="-120"/>
              </a:rPr>
              <a:t>Unknown operators or insufficient KV are certification blockers—not reasons to claim compatibility from a model name alone.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E31837"/>
          </a:solidFill>
          <a:ln w="10160">
            <a:solidFill>
              <a:srgbClr val="E31837"/>
            </a:solidFill>
            <a:prstDash val="solid"/>
          </a:ln>
        </p:spPr>
      </p:sp>
      <p:sp>
        <p:nvSpPr>
          <p:cNvPr id="3" name="Text 1"/>
          <p:cNvSpPr/>
          <p:nvPr/>
        </p:nvSpPr>
        <p:spPr>
          <a:xfrm>
            <a:off x="457200" y="228600"/>
            <a:ext cx="1645920" cy="228600"/>
          </a:xfrm>
          <a:prstGeom prst="rect">
            <a:avLst/>
          </a:prstGeom>
          <a:noFill/>
          <a:ln/>
        </p:spPr>
        <p:txBody>
          <a:bodyPr wrap="square" lIns="0" tIns="0" rIns="0" bIns="0" rtlCol="0" anchor="ctr"/>
          <a:lstStyle/>
          <a:p>
            <a:pPr algn="l" indent="0" marL="0">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4" name="Text 2"/>
          <p:cNvSpPr/>
          <p:nvPr/>
        </p:nvSpPr>
        <p:spPr>
          <a:xfrm>
            <a:off x="1965960" y="256032"/>
            <a:ext cx="9144000" cy="182880"/>
          </a:xfrm>
          <a:prstGeom prst="rect">
            <a:avLst/>
          </a:prstGeom>
          <a:noFill/>
          <a:ln/>
        </p:spPr>
        <p:txBody>
          <a:bodyPr wrap="square" lIns="0" tIns="0" rIns="0" bIns="0" rtlCol="0" anchor="ctr"/>
          <a:lstStyle/>
          <a:p>
            <a:pPr algn="l" indent="0" marL="0">
              <a:buNone/>
            </a:pPr>
            <a:r>
              <a:rPr lang="en-US" sz="1050" b="1" dirty="0">
                <a:solidFill>
                  <a:srgbClr val="5B6169"/>
                </a:solidFill>
                <a:latin typeface="Arial" pitchFamily="34" charset="0"/>
                <a:ea typeface="Arial" pitchFamily="34" charset="-122"/>
                <a:cs typeface="Arial" pitchFamily="34" charset="-120"/>
              </a:rPr>
              <a:t>ATMOS  /  A13 / MODEL GENERATION UPDATES</a:t>
            </a:r>
            <a:endParaRPr lang="en-US" sz="1050" dirty="0"/>
          </a:p>
        </p:txBody>
      </p:sp>
      <p:sp>
        <p:nvSpPr>
          <p:cNvPr id="5" name="Text 3"/>
          <p:cNvSpPr/>
          <p:nvPr/>
        </p:nvSpPr>
        <p:spPr>
          <a:xfrm>
            <a:off x="475488" y="758952"/>
            <a:ext cx="11201400" cy="493776"/>
          </a:xfrm>
          <a:prstGeom prst="rect">
            <a:avLst/>
          </a:prstGeom>
          <a:noFill/>
          <a:ln/>
        </p:spPr>
        <p:txBody>
          <a:bodyPr wrap="square" lIns="0" tIns="0" rIns="0" bIns="0" rtlCol="0" anchor="ctr"/>
          <a:lstStyle/>
          <a:p>
            <a:pPr algn="l" indent="0" marL="0">
              <a:buNone/>
            </a:pPr>
            <a:r>
              <a:rPr lang="en-US" sz="2750" b="1" dirty="0">
                <a:solidFill>
                  <a:srgbClr val="18191D"/>
                </a:solidFill>
                <a:latin typeface="Arial" pitchFamily="34" charset="0"/>
                <a:ea typeface="Arial" pitchFamily="34" charset="-122"/>
                <a:cs typeface="Arial" pitchFamily="34" charset="-120"/>
              </a:rPr>
              <a:t>Promote a new model generation without moving active sessions.</a:t>
            </a:r>
            <a:endParaRPr lang="en-US" sz="2750" dirty="0"/>
          </a:p>
        </p:txBody>
      </p:sp>
      <p:sp>
        <p:nvSpPr>
          <p:cNvPr id="6" name="Text 4"/>
          <p:cNvSpPr/>
          <p:nvPr/>
        </p:nvSpPr>
        <p:spPr>
          <a:xfrm>
            <a:off x="502920" y="1298448"/>
            <a:ext cx="11064240" cy="411480"/>
          </a:xfrm>
          <a:prstGeom prst="rect">
            <a:avLst/>
          </a:prstGeom>
          <a:noFill/>
          <a:ln/>
        </p:spPr>
        <p:txBody>
          <a:bodyPr wrap="square" lIns="0" tIns="0" rIns="0" bIns="0" rtlCol="0" anchor="ctr"/>
          <a:lstStyle/>
          <a:p>
            <a:pPr algn="l" indent="0" marL="0">
              <a:buNone/>
            </a:pPr>
            <a:r>
              <a:rPr lang="en-US" sz="1350" dirty="0">
                <a:solidFill>
                  <a:srgbClr val="5B6169"/>
                </a:solidFill>
                <a:latin typeface="Arial" pitchFamily="34" charset="0"/>
                <a:ea typeface="Arial" pitchFamily="34" charset="-122"/>
                <a:cs typeface="Arial" pitchFamily="34" charset="-120"/>
              </a:rPr>
              <a:t>Keep the V3 lifecycle; add explicit capacity, health and rollback decisions at every transition.</a:t>
            </a:r>
            <a:endParaRPr lang="en-US" sz="1350" dirty="0"/>
          </a:p>
        </p:txBody>
      </p:sp>
      <p:sp>
        <p:nvSpPr>
          <p:cNvPr id="7" name="Shape 5"/>
          <p:cNvSpPr/>
          <p:nvPr/>
        </p:nvSpPr>
        <p:spPr>
          <a:xfrm>
            <a:off x="484632" y="6464808"/>
            <a:ext cx="11237976" cy="0"/>
          </a:xfrm>
          <a:prstGeom prst="line">
            <a:avLst/>
          </a:prstGeom>
          <a:noFill/>
          <a:ln w="7620">
            <a:solidFill>
              <a:srgbClr val="D9DDE3"/>
            </a:solidFill>
            <a:prstDash val="solid"/>
            <a:headEnd type="none"/>
            <a:tailEnd type="none"/>
          </a:ln>
        </p:spPr>
      </p:sp>
      <p:sp>
        <p:nvSpPr>
          <p:cNvPr id="8" name="Text 6"/>
          <p:cNvSpPr/>
          <p:nvPr/>
        </p:nvSpPr>
        <p:spPr>
          <a:xfrm>
            <a:off x="512064" y="6547104"/>
            <a:ext cx="9418320" cy="164592"/>
          </a:xfrm>
          <a:prstGeom prst="rect">
            <a:avLst/>
          </a:prstGeom>
          <a:noFill/>
          <a:ln/>
        </p:spPr>
        <p:txBody>
          <a:bodyPr wrap="square" lIns="0" tIns="0" rIns="0" bIns="0" rtlCol="0" anchor="ctr"/>
          <a:lstStyle/>
          <a:p>
            <a:pPr algn="l" indent="0" marL="0">
              <a:buNone/>
            </a:pPr>
            <a:r>
              <a:rPr lang="en-US" sz="850" dirty="0">
                <a:solidFill>
                  <a:srgbClr val="5B6169"/>
                </a:solidFill>
                <a:latin typeface="Arial" pitchFamily="34" charset="0"/>
                <a:ea typeface="Arial" pitchFamily="34" charset="-122"/>
                <a:cs typeface="Arial" pitchFamily="34" charset="-120"/>
              </a:rPr>
              <a:t>TECHNICAL APPENDIX TO V3  •  6 OCT 2026  •  PROPOSED DESIGN / QUALIFICATION REQUIRED</a:t>
            </a:r>
            <a:endParaRPr lang="en-US" sz="850" dirty="0"/>
          </a:p>
        </p:txBody>
      </p:sp>
      <p:sp>
        <p:nvSpPr>
          <p:cNvPr id="9" name="Text 7"/>
          <p:cNvSpPr/>
          <p:nvPr/>
        </p:nvSpPr>
        <p:spPr>
          <a:xfrm>
            <a:off x="11219688" y="6519672"/>
            <a:ext cx="457200" cy="219456"/>
          </a:xfrm>
          <a:prstGeom prst="rect">
            <a:avLst/>
          </a:prstGeom>
          <a:noFill/>
          <a:ln/>
        </p:spPr>
        <p:txBody>
          <a:bodyPr wrap="square" lIns="0" tIns="0" rIns="0" bIns="0" rtlCol="0" anchor="ctr"/>
          <a:lstStyle/>
          <a:p>
            <a:pPr algn="r" indent="0" marL="0">
              <a:buNone/>
            </a:pPr>
            <a:r>
              <a:rPr lang="en-US" sz="1000" b="1" dirty="0">
                <a:solidFill>
                  <a:srgbClr val="E31837"/>
                </a:solidFill>
                <a:latin typeface="Arial" pitchFamily="34" charset="0"/>
                <a:ea typeface="Arial" pitchFamily="34" charset="-122"/>
                <a:cs typeface="Arial" pitchFamily="34" charset="-120"/>
              </a:rPr>
              <a:t>14</a:t>
            </a:r>
            <a:endParaRPr lang="en-US" sz="1000" dirty="0"/>
          </a:p>
        </p:txBody>
      </p:sp>
      <p:sp>
        <p:nvSpPr>
          <p:cNvPr id="10" name="Text 8">
            <a:hlinkClick r:id="rId1" tooltip=""/>
          </p:cNvPr>
          <p:cNvSpPr/>
          <p:nvPr/>
        </p:nvSpPr>
        <p:spPr>
          <a:xfrm>
            <a:off x="9875520" y="237744"/>
            <a:ext cx="1828800" cy="219456"/>
          </a:xfrm>
          <a:prstGeom prst="rect">
            <a:avLst/>
          </a:prstGeom>
          <a:noFill/>
          <a:ln/>
        </p:spPr>
        <p:txBody>
          <a:bodyPr wrap="square" lIns="0" tIns="0" rIns="0" bIns="0" rtlCol="0" anchor="ctr"/>
          <a:lstStyle/>
          <a:p>
            <a:pPr algn="r" indent="0" marL="0">
              <a:buNone/>
            </a:pPr>
            <a:r>
              <a:rPr lang="en-US" sz="1000"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technical notes</a:t>
            </a:r>
            <a:endParaRPr lang="en-US" sz="1000" dirty="0"/>
          </a:p>
        </p:txBody>
      </p:sp>
      <p:sp>
        <p:nvSpPr>
          <p:cNvPr id="11" name="Shape 9"/>
          <p:cNvSpPr/>
          <p:nvPr/>
        </p:nvSpPr>
        <p:spPr>
          <a:xfrm>
            <a:off x="548640" y="1993392"/>
            <a:ext cx="2020824" cy="987552"/>
          </a:xfrm>
          <a:prstGeom prst="rect">
            <a:avLst/>
          </a:prstGeom>
          <a:solidFill>
            <a:srgbClr val="F3F4F6"/>
          </a:solidFill>
          <a:ln w="10160">
            <a:solidFill>
              <a:srgbClr val="F3F4F6"/>
            </a:solidFill>
            <a:prstDash val="solid"/>
          </a:ln>
        </p:spPr>
      </p:sp>
      <p:sp>
        <p:nvSpPr>
          <p:cNvPr id="12" name="Text 10"/>
          <p:cNvSpPr/>
          <p:nvPr/>
        </p:nvSpPr>
        <p:spPr>
          <a:xfrm>
            <a:off x="658368" y="2066544"/>
            <a:ext cx="1801368"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Available</a:t>
            </a:r>
            <a:endParaRPr lang="en-US" sz="1450" dirty="0"/>
          </a:p>
        </p:txBody>
      </p:sp>
      <p:sp>
        <p:nvSpPr>
          <p:cNvPr id="13" name="Text 11"/>
          <p:cNvSpPr/>
          <p:nvPr/>
        </p:nvSpPr>
        <p:spPr>
          <a:xfrm>
            <a:off x="658368" y="2432304"/>
            <a:ext cx="1801368" cy="484632"/>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Catalog only</a:t>
            </a:r>
            <a:endParaRPr lang="en-US" sz="1250" dirty="0"/>
          </a:p>
        </p:txBody>
      </p:sp>
      <p:sp>
        <p:nvSpPr>
          <p:cNvPr id="14" name="Shape 12"/>
          <p:cNvSpPr/>
          <p:nvPr/>
        </p:nvSpPr>
        <p:spPr>
          <a:xfrm>
            <a:off x="2569464" y="2487168"/>
            <a:ext cx="228600" cy="0"/>
          </a:xfrm>
          <a:prstGeom prst="line">
            <a:avLst/>
          </a:prstGeom>
          <a:noFill/>
          <a:ln w="19050">
            <a:solidFill>
              <a:srgbClr val="E31837"/>
            </a:solidFill>
            <a:prstDash val="solid"/>
            <a:headEnd type="none"/>
            <a:tailEnd type="triangle"/>
          </a:ln>
        </p:spPr>
      </p:sp>
      <p:sp>
        <p:nvSpPr>
          <p:cNvPr id="15" name="Shape 13"/>
          <p:cNvSpPr/>
          <p:nvPr/>
        </p:nvSpPr>
        <p:spPr>
          <a:xfrm>
            <a:off x="2816352" y="1993392"/>
            <a:ext cx="2020824" cy="987552"/>
          </a:xfrm>
          <a:prstGeom prst="rect">
            <a:avLst/>
          </a:prstGeom>
          <a:solidFill>
            <a:srgbClr val="F3F4F6"/>
          </a:solidFill>
          <a:ln w="10160">
            <a:solidFill>
              <a:srgbClr val="F3F4F6"/>
            </a:solidFill>
            <a:prstDash val="solid"/>
          </a:ln>
        </p:spPr>
      </p:sp>
      <p:sp>
        <p:nvSpPr>
          <p:cNvPr id="16" name="Text 14"/>
          <p:cNvSpPr/>
          <p:nvPr/>
        </p:nvSpPr>
        <p:spPr>
          <a:xfrm>
            <a:off x="2926080" y="2066544"/>
            <a:ext cx="1801368"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Staged</a:t>
            </a:r>
            <a:endParaRPr lang="en-US" sz="1450" dirty="0"/>
          </a:p>
        </p:txBody>
      </p:sp>
      <p:sp>
        <p:nvSpPr>
          <p:cNvPr id="17" name="Text 15"/>
          <p:cNvSpPr/>
          <p:nvPr/>
        </p:nvSpPr>
        <p:spPr>
          <a:xfrm>
            <a:off x="2926080" y="2432304"/>
            <a:ext cx="1801368" cy="484632"/>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Verified / reserved</a:t>
            </a:r>
            <a:endParaRPr lang="en-US" sz="1250" dirty="0"/>
          </a:p>
        </p:txBody>
      </p:sp>
      <p:sp>
        <p:nvSpPr>
          <p:cNvPr id="18" name="Shape 16"/>
          <p:cNvSpPr/>
          <p:nvPr/>
        </p:nvSpPr>
        <p:spPr>
          <a:xfrm>
            <a:off x="4837176" y="2487168"/>
            <a:ext cx="228600" cy="0"/>
          </a:xfrm>
          <a:prstGeom prst="line">
            <a:avLst/>
          </a:prstGeom>
          <a:noFill/>
          <a:ln w="19050">
            <a:solidFill>
              <a:srgbClr val="E31837"/>
            </a:solidFill>
            <a:prstDash val="solid"/>
            <a:headEnd type="none"/>
            <a:tailEnd type="triangle"/>
          </a:ln>
        </p:spPr>
      </p:sp>
      <p:sp>
        <p:nvSpPr>
          <p:cNvPr id="19" name="Shape 17"/>
          <p:cNvSpPr/>
          <p:nvPr/>
        </p:nvSpPr>
        <p:spPr>
          <a:xfrm>
            <a:off x="5084064" y="1993392"/>
            <a:ext cx="2020824" cy="987552"/>
          </a:xfrm>
          <a:prstGeom prst="rect">
            <a:avLst/>
          </a:prstGeom>
          <a:solidFill>
            <a:srgbClr val="F3F4F6"/>
          </a:solidFill>
          <a:ln w="10160">
            <a:solidFill>
              <a:srgbClr val="F3F4F6"/>
            </a:solidFill>
            <a:prstDash val="solid"/>
          </a:ln>
        </p:spPr>
      </p:sp>
      <p:sp>
        <p:nvSpPr>
          <p:cNvPr id="20" name="Text 18"/>
          <p:cNvSpPr/>
          <p:nvPr/>
        </p:nvSpPr>
        <p:spPr>
          <a:xfrm>
            <a:off x="5193792" y="2066544"/>
            <a:ext cx="1801368"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Validated</a:t>
            </a:r>
            <a:endParaRPr lang="en-US" sz="1450" dirty="0"/>
          </a:p>
        </p:txBody>
      </p:sp>
      <p:sp>
        <p:nvSpPr>
          <p:cNvPr id="21" name="Text 19"/>
          <p:cNvSpPr/>
          <p:nvPr/>
        </p:nvSpPr>
        <p:spPr>
          <a:xfrm>
            <a:off x="5193792" y="2432304"/>
            <a:ext cx="1801368" cy="484632"/>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Golden + fit tests</a:t>
            </a:r>
            <a:endParaRPr lang="en-US" sz="1250" dirty="0"/>
          </a:p>
        </p:txBody>
      </p:sp>
      <p:sp>
        <p:nvSpPr>
          <p:cNvPr id="22" name="Shape 20"/>
          <p:cNvSpPr/>
          <p:nvPr/>
        </p:nvSpPr>
        <p:spPr>
          <a:xfrm>
            <a:off x="7104888" y="2487168"/>
            <a:ext cx="228600" cy="0"/>
          </a:xfrm>
          <a:prstGeom prst="line">
            <a:avLst/>
          </a:prstGeom>
          <a:noFill/>
          <a:ln w="19050">
            <a:solidFill>
              <a:srgbClr val="E31837"/>
            </a:solidFill>
            <a:prstDash val="solid"/>
            <a:headEnd type="none"/>
            <a:tailEnd type="triangle"/>
          </a:ln>
        </p:spPr>
      </p:sp>
      <p:sp>
        <p:nvSpPr>
          <p:cNvPr id="23" name="Shape 21"/>
          <p:cNvSpPr/>
          <p:nvPr/>
        </p:nvSpPr>
        <p:spPr>
          <a:xfrm>
            <a:off x="7351776" y="1993392"/>
            <a:ext cx="2020824" cy="987552"/>
          </a:xfrm>
          <a:prstGeom prst="rect">
            <a:avLst/>
          </a:prstGeom>
          <a:solidFill>
            <a:srgbClr val="F3F4F6"/>
          </a:solidFill>
          <a:ln w="10160">
            <a:solidFill>
              <a:srgbClr val="F3F4F6"/>
            </a:solidFill>
            <a:prstDash val="solid"/>
          </a:ln>
        </p:spPr>
      </p:sp>
      <p:sp>
        <p:nvSpPr>
          <p:cNvPr id="24" name="Text 22"/>
          <p:cNvSpPr/>
          <p:nvPr/>
        </p:nvSpPr>
        <p:spPr>
          <a:xfrm>
            <a:off x="7461504" y="2066544"/>
            <a:ext cx="1801368"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Canary</a:t>
            </a:r>
            <a:endParaRPr lang="en-US" sz="1450" dirty="0"/>
          </a:p>
        </p:txBody>
      </p:sp>
      <p:sp>
        <p:nvSpPr>
          <p:cNvPr id="25" name="Text 23"/>
          <p:cNvSpPr/>
          <p:nvPr/>
        </p:nvSpPr>
        <p:spPr>
          <a:xfrm>
            <a:off x="7461504" y="2432304"/>
            <a:ext cx="1801368" cy="484632"/>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Shadow / small share</a:t>
            </a:r>
            <a:endParaRPr lang="en-US" sz="1250" dirty="0"/>
          </a:p>
        </p:txBody>
      </p:sp>
      <p:sp>
        <p:nvSpPr>
          <p:cNvPr id="26" name="Shape 24"/>
          <p:cNvSpPr/>
          <p:nvPr/>
        </p:nvSpPr>
        <p:spPr>
          <a:xfrm>
            <a:off x="9372600" y="2487168"/>
            <a:ext cx="228600" cy="0"/>
          </a:xfrm>
          <a:prstGeom prst="line">
            <a:avLst/>
          </a:prstGeom>
          <a:noFill/>
          <a:ln w="19050">
            <a:solidFill>
              <a:srgbClr val="E31837"/>
            </a:solidFill>
            <a:prstDash val="solid"/>
            <a:headEnd type="none"/>
            <a:tailEnd type="triangle"/>
          </a:ln>
        </p:spPr>
      </p:sp>
      <p:sp>
        <p:nvSpPr>
          <p:cNvPr id="27" name="Shape 25"/>
          <p:cNvSpPr/>
          <p:nvPr/>
        </p:nvSpPr>
        <p:spPr>
          <a:xfrm>
            <a:off x="9619488" y="1993392"/>
            <a:ext cx="2020824" cy="987552"/>
          </a:xfrm>
          <a:prstGeom prst="rect">
            <a:avLst/>
          </a:prstGeom>
          <a:solidFill>
            <a:srgbClr val="18191D"/>
          </a:solidFill>
          <a:ln w="10160">
            <a:solidFill>
              <a:srgbClr val="18191D"/>
            </a:solidFill>
            <a:prstDash val="solid"/>
          </a:ln>
        </p:spPr>
      </p:sp>
      <p:sp>
        <p:nvSpPr>
          <p:cNvPr id="28" name="Text 26"/>
          <p:cNvSpPr/>
          <p:nvPr/>
        </p:nvSpPr>
        <p:spPr>
          <a:xfrm>
            <a:off x="9729216" y="2066544"/>
            <a:ext cx="1801368" cy="301752"/>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Production</a:t>
            </a:r>
            <a:endParaRPr lang="en-US" sz="1450" dirty="0"/>
          </a:p>
        </p:txBody>
      </p:sp>
      <p:sp>
        <p:nvSpPr>
          <p:cNvPr id="29" name="Text 27"/>
          <p:cNvSpPr/>
          <p:nvPr/>
        </p:nvSpPr>
        <p:spPr>
          <a:xfrm>
            <a:off x="9729216" y="2432304"/>
            <a:ext cx="1801368" cy="484632"/>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Default new sessions</a:t>
            </a:r>
            <a:endParaRPr lang="en-US" sz="1250" dirty="0"/>
          </a:p>
        </p:txBody>
      </p:sp>
      <p:sp>
        <p:nvSpPr>
          <p:cNvPr id="30" name="Shape 28"/>
          <p:cNvSpPr/>
          <p:nvPr/>
        </p:nvSpPr>
        <p:spPr>
          <a:xfrm>
            <a:off x="594360" y="3493008"/>
            <a:ext cx="3374136" cy="1856232"/>
          </a:xfrm>
          <a:prstGeom prst="rect">
            <a:avLst>
              <a:gd name="adj" fmla="val 49261"/>
            </a:avLst>
          </a:prstGeom>
          <a:solidFill>
            <a:srgbClr val="F3F4F6"/>
          </a:solidFill>
          <a:ln w="10160">
            <a:solidFill>
              <a:srgbClr val="F3F4F6"/>
            </a:solidFill>
            <a:prstDash val="solid"/>
          </a:ln>
        </p:spPr>
      </p:sp>
      <p:sp>
        <p:nvSpPr>
          <p:cNvPr id="31" name="Text 29"/>
          <p:cNvSpPr/>
          <p:nvPr/>
        </p:nvSpPr>
        <p:spPr>
          <a:xfrm>
            <a:off x="740664" y="3602736"/>
            <a:ext cx="3081528" cy="548640"/>
          </a:xfrm>
          <a:prstGeom prst="rect">
            <a:avLst/>
          </a:prstGeom>
          <a:noFill/>
          <a:ln/>
        </p:spPr>
        <p:txBody>
          <a:bodyPr wrap="square" lIns="0" tIns="0" rIns="0" bIns="0" rtlCol="0" anchor="ctr"/>
          <a:lstStyle/>
          <a:p>
            <a:pPr algn="l" indent="0" marL="0">
              <a:buNone/>
            </a:pPr>
            <a:r>
              <a:rPr lang="en-US" sz="1800" b="1" dirty="0">
                <a:solidFill>
                  <a:srgbClr val="18191D"/>
                </a:solidFill>
                <a:latin typeface="Arial" pitchFamily="34" charset="0"/>
                <a:ea typeface="Arial" pitchFamily="34" charset="-122"/>
                <a:cs typeface="Arial" pitchFamily="34" charset="-120"/>
              </a:rPr>
              <a:t>Generation A</a:t>
            </a:r>
            <a:endParaRPr lang="en-US" sz="1800" dirty="0"/>
          </a:p>
        </p:txBody>
      </p:sp>
      <p:sp>
        <p:nvSpPr>
          <p:cNvPr id="32" name="Text 30"/>
          <p:cNvSpPr/>
          <p:nvPr/>
        </p:nvSpPr>
        <p:spPr>
          <a:xfrm>
            <a:off x="740664" y="4242816"/>
            <a:ext cx="3081528" cy="996696"/>
          </a:xfrm>
          <a:prstGeom prst="rect">
            <a:avLst/>
          </a:prstGeom>
          <a:noFill/>
          <a:ln/>
        </p:spPr>
        <p:txBody>
          <a:bodyPr wrap="square" lIns="0" tIns="0" rIns="0" bIns="0" rtlCol="0" anchor="ctr"/>
          <a:lstStyle/>
          <a:p>
            <a:pPr algn="l" indent="0" marL="0">
              <a:buNone/>
            </a:pPr>
            <a:r>
              <a:rPr lang="en-US" sz="1310" dirty="0">
                <a:solidFill>
                  <a:srgbClr val="5B6169"/>
                </a:solidFill>
                <a:latin typeface="Arial" pitchFamily="34" charset="0"/>
                <a:ea typeface="Arial" pitchFamily="34" charset="-122"/>
                <a:cs typeface="Arial" pitchFamily="34" charset="-120"/>
              </a:rPr>
              <a:t>Current sessions remain pinned.</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Drain after B is promoted.</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Retain trusted rollback artifacts.</a:t>
            </a:r>
            <a:endParaRPr lang="en-US" sz="1310" dirty="0"/>
          </a:p>
        </p:txBody>
      </p:sp>
      <p:sp>
        <p:nvSpPr>
          <p:cNvPr id="33" name="Shape 31"/>
          <p:cNvSpPr/>
          <p:nvPr/>
        </p:nvSpPr>
        <p:spPr>
          <a:xfrm>
            <a:off x="4407408" y="3493008"/>
            <a:ext cx="3374136" cy="1856232"/>
          </a:xfrm>
          <a:prstGeom prst="rect">
            <a:avLst>
              <a:gd name="adj" fmla="val 49261"/>
            </a:avLst>
          </a:prstGeom>
          <a:solidFill>
            <a:srgbClr val="FCECEF"/>
          </a:solidFill>
          <a:ln w="10160">
            <a:solidFill>
              <a:srgbClr val="FCECEF"/>
            </a:solidFill>
            <a:prstDash val="solid"/>
          </a:ln>
        </p:spPr>
      </p:sp>
      <p:sp>
        <p:nvSpPr>
          <p:cNvPr id="34" name="Text 32"/>
          <p:cNvSpPr/>
          <p:nvPr/>
        </p:nvSpPr>
        <p:spPr>
          <a:xfrm>
            <a:off x="4553712" y="3602736"/>
            <a:ext cx="3081528" cy="548640"/>
          </a:xfrm>
          <a:prstGeom prst="rect">
            <a:avLst/>
          </a:prstGeom>
          <a:noFill/>
          <a:ln/>
        </p:spPr>
        <p:txBody>
          <a:bodyPr wrap="square" lIns="0" tIns="0" rIns="0" bIns="0" rtlCol="0" anchor="ctr"/>
          <a:lstStyle/>
          <a:p>
            <a:pPr algn="l" indent="0" marL="0">
              <a:buNone/>
            </a:pPr>
            <a:r>
              <a:rPr lang="en-US" sz="1800" b="1" dirty="0">
                <a:solidFill>
                  <a:srgbClr val="E31837"/>
                </a:solidFill>
                <a:latin typeface="Arial" pitchFamily="34" charset="0"/>
                <a:ea typeface="Arial" pitchFamily="34" charset="-122"/>
                <a:cs typeface="Arial" pitchFamily="34" charset="-120"/>
              </a:rPr>
              <a:t>Generation B</a:t>
            </a:r>
            <a:endParaRPr lang="en-US" sz="1800" dirty="0"/>
          </a:p>
        </p:txBody>
      </p:sp>
      <p:sp>
        <p:nvSpPr>
          <p:cNvPr id="35" name="Text 33"/>
          <p:cNvSpPr/>
          <p:nvPr/>
        </p:nvSpPr>
        <p:spPr>
          <a:xfrm>
            <a:off x="4553712" y="4242816"/>
            <a:ext cx="3081528" cy="996696"/>
          </a:xfrm>
          <a:prstGeom prst="rect">
            <a:avLst/>
          </a:prstGeom>
          <a:noFill/>
          <a:ln/>
        </p:spPr>
        <p:txBody>
          <a:bodyPr wrap="square" lIns="0" tIns="0" rIns="0" bIns="0" rtlCol="0" anchor="ctr"/>
          <a:lstStyle/>
          <a:p>
            <a:pPr algn="l" indent="0" marL="0">
              <a:buNone/>
            </a:pPr>
            <a:r>
              <a:rPr lang="en-US" sz="1310" dirty="0">
                <a:solidFill>
                  <a:srgbClr val="5B6169"/>
                </a:solidFill>
                <a:latin typeface="Arial" pitchFamily="34" charset="0"/>
                <a:ea typeface="Arial" pitchFamily="34" charset="-122"/>
                <a:cs typeface="Arial" pitchFamily="34" charset="-120"/>
              </a:rPr>
              <a:t>Own runtime / model identity.</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Quality, error and tail checks.</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New sessions only after approval.</a:t>
            </a:r>
            <a:endParaRPr lang="en-US" sz="1310" dirty="0"/>
          </a:p>
        </p:txBody>
      </p:sp>
      <p:sp>
        <p:nvSpPr>
          <p:cNvPr id="36" name="Shape 34"/>
          <p:cNvSpPr/>
          <p:nvPr/>
        </p:nvSpPr>
        <p:spPr>
          <a:xfrm>
            <a:off x="8202168" y="3493008"/>
            <a:ext cx="3374136" cy="1856232"/>
          </a:xfrm>
          <a:prstGeom prst="rect">
            <a:avLst>
              <a:gd name="adj" fmla="val 49261"/>
            </a:avLst>
          </a:prstGeom>
          <a:solidFill>
            <a:srgbClr val="18191D"/>
          </a:solidFill>
          <a:ln w="10160">
            <a:solidFill>
              <a:srgbClr val="18191D"/>
            </a:solidFill>
            <a:prstDash val="solid"/>
          </a:ln>
        </p:spPr>
      </p:sp>
      <p:sp>
        <p:nvSpPr>
          <p:cNvPr id="37" name="Text 35"/>
          <p:cNvSpPr/>
          <p:nvPr/>
        </p:nvSpPr>
        <p:spPr>
          <a:xfrm>
            <a:off x="8348472" y="3602736"/>
            <a:ext cx="3081528"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Arial" pitchFamily="34" charset="0"/>
                <a:ea typeface="Arial" pitchFamily="34" charset="-122"/>
                <a:cs typeface="Arial" pitchFamily="34" charset="-120"/>
              </a:rPr>
              <a:t>Promotion decision</a:t>
            </a:r>
            <a:endParaRPr lang="en-US" sz="1800" dirty="0"/>
          </a:p>
        </p:txBody>
      </p:sp>
      <p:sp>
        <p:nvSpPr>
          <p:cNvPr id="38" name="Text 36"/>
          <p:cNvSpPr/>
          <p:nvPr/>
        </p:nvSpPr>
        <p:spPr>
          <a:xfrm>
            <a:off x="8348472" y="4242816"/>
            <a:ext cx="3081528" cy="996696"/>
          </a:xfrm>
          <a:prstGeom prst="rect">
            <a:avLst/>
          </a:prstGeom>
          <a:noFill/>
          <a:ln/>
        </p:spPr>
        <p:txBody>
          <a:bodyPr wrap="square" lIns="0" tIns="0" rIns="0" bIns="0" rtlCol="0" anchor="ctr"/>
          <a:lstStyle/>
          <a:p>
            <a:pPr algn="l" indent="0" marL="0">
              <a:buNone/>
            </a:pPr>
            <a:r>
              <a:rPr lang="en-US" sz="1310" dirty="0">
                <a:solidFill>
                  <a:srgbClr val="FFFFFF"/>
                </a:solidFill>
                <a:latin typeface="Arial" pitchFamily="34" charset="0"/>
                <a:ea typeface="Arial" pitchFamily="34" charset="-122"/>
                <a:cs typeface="Arial" pitchFamily="34" charset="-120"/>
              </a:rPr>
              <a:t>Pass → production → draining → retired</a:t>
            </a:r>
            <a:endParaRPr lang="en-US" sz="1310" dirty="0"/>
          </a:p>
          <a:p>
            <a:pPr algn="l" indent="0" marL="0">
              <a:buNone/>
            </a:pPr>
            <a:r>
              <a:rPr lang="en-US" sz="1310" dirty="0">
                <a:solidFill>
                  <a:srgbClr val="FFFFFF"/>
                </a:solidFill>
                <a:latin typeface="Arial" pitchFamily="34" charset="0"/>
                <a:ea typeface="Arial" pitchFamily="34" charset="-122"/>
                <a:cs typeface="Arial" pitchFamily="34" charset="-120"/>
              </a:rPr>
              <a:t>Fail → rolled back</a:t>
            </a:r>
            <a:endParaRPr lang="en-US" sz="1310" dirty="0"/>
          </a:p>
          <a:p>
            <a:pPr algn="l" indent="0" marL="0">
              <a:buNone/>
            </a:pPr>
            <a:r>
              <a:rPr lang="en-US" sz="1310" dirty="0">
                <a:solidFill>
                  <a:srgbClr val="FFFFFF"/>
                </a:solidFill>
                <a:latin typeface="Arial" pitchFamily="34" charset="0"/>
                <a:ea typeface="Arial" pitchFamily="34" charset="-122"/>
                <a:cs typeface="Arial" pitchFamily="34" charset="-120"/>
              </a:rPr>
              <a:t>No reserve → planned maintenance</a:t>
            </a:r>
            <a:endParaRPr lang="en-US" sz="1310" dirty="0"/>
          </a:p>
        </p:txBody>
      </p:sp>
      <p:sp>
        <p:nvSpPr>
          <p:cNvPr id="39" name="Shape 37"/>
          <p:cNvSpPr/>
          <p:nvPr/>
        </p:nvSpPr>
        <p:spPr>
          <a:xfrm>
            <a:off x="7882128" y="2761488"/>
            <a:ext cx="0" cy="493776"/>
          </a:xfrm>
          <a:prstGeom prst="line">
            <a:avLst/>
          </a:prstGeom>
          <a:noFill/>
          <a:ln w="16510">
            <a:solidFill>
              <a:srgbClr val="E31837"/>
            </a:solidFill>
            <a:prstDash val="solid"/>
            <a:headEnd type="none"/>
            <a:tailEnd type="none"/>
          </a:ln>
        </p:spPr>
      </p:sp>
      <p:sp>
        <p:nvSpPr>
          <p:cNvPr id="40" name="Text 38"/>
          <p:cNvSpPr/>
          <p:nvPr/>
        </p:nvSpPr>
        <p:spPr>
          <a:xfrm>
            <a:off x="5751576" y="3145536"/>
            <a:ext cx="4306824" cy="228600"/>
          </a:xfrm>
          <a:prstGeom prst="rect">
            <a:avLst/>
          </a:prstGeom>
          <a:noFill/>
          <a:ln/>
        </p:spPr>
        <p:txBody>
          <a:bodyPr wrap="square" lIns="0" tIns="0" rIns="0" bIns="0" rtlCol="0" anchor="ctr"/>
          <a:lstStyle/>
          <a:p>
            <a:pPr algn="l" indent="0" marL="0">
              <a:buNone/>
            </a:pPr>
            <a:r>
              <a:rPr lang="en-US" sz="1140" b="1" dirty="0">
                <a:solidFill>
                  <a:srgbClr val="E31837"/>
                </a:solidFill>
                <a:latin typeface="Arial" pitchFamily="34" charset="0"/>
                <a:ea typeface="Arial" pitchFamily="34" charset="-122"/>
                <a:cs typeface="Arial" pitchFamily="34" charset="-120"/>
              </a:rPr>
              <a:t>failure → prior approved generation</a:t>
            </a:r>
            <a:endParaRPr lang="en-US" sz="1140" dirty="0"/>
          </a:p>
        </p:txBody>
      </p:sp>
      <p:sp>
        <p:nvSpPr>
          <p:cNvPr id="41" name="Shape 39"/>
          <p:cNvSpPr/>
          <p:nvPr/>
        </p:nvSpPr>
        <p:spPr>
          <a:xfrm>
            <a:off x="475488" y="5843016"/>
            <a:ext cx="11228832" cy="457200"/>
          </a:xfrm>
          <a:prstGeom prst="rect">
            <a:avLst/>
          </a:prstGeom>
          <a:solidFill>
            <a:srgbClr val="FCECEF"/>
          </a:solidFill>
          <a:ln w="10160">
            <a:solidFill>
              <a:srgbClr val="FCECEF"/>
            </a:solidFill>
            <a:prstDash val="solid"/>
          </a:ln>
        </p:spPr>
      </p:sp>
      <p:sp>
        <p:nvSpPr>
          <p:cNvPr id="42" name="Text 40"/>
          <p:cNvSpPr/>
          <p:nvPr/>
        </p:nvSpPr>
        <p:spPr>
          <a:xfrm>
            <a:off x="621792" y="5893308"/>
            <a:ext cx="10936224" cy="347472"/>
          </a:xfrm>
          <a:prstGeom prst="rect">
            <a:avLst/>
          </a:prstGeom>
          <a:noFill/>
          <a:ln/>
        </p:spPr>
        <p:txBody>
          <a:bodyPr wrap="square" lIns="0" tIns="0" rIns="0" bIns="0" rtlCol="0" anchor="ctr"/>
          <a:lstStyle/>
          <a:p>
            <a:pPr algn="l" indent="0" marL="0">
              <a:buNone/>
            </a:pPr>
            <a:r>
              <a:rPr lang="en-US" sz="1300" b="1" dirty="0">
                <a:solidFill>
                  <a:srgbClr val="E31837"/>
                </a:solidFill>
                <a:latin typeface="Arial" pitchFamily="34" charset="0"/>
                <a:ea typeface="Arial" pitchFamily="34" charset="-122"/>
                <a:cs typeface="Arial" pitchFamily="34" charset="-120"/>
              </a:rPr>
              <a:t>Reserve active + candidate + rollback artifacts. Never overwrite weights under an in-flight request or claim zero-downtime without spare capacity.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E31837"/>
          </a:solidFill>
          <a:ln w="10160">
            <a:solidFill>
              <a:srgbClr val="E31837"/>
            </a:solidFill>
            <a:prstDash val="solid"/>
          </a:ln>
        </p:spPr>
      </p:sp>
      <p:sp>
        <p:nvSpPr>
          <p:cNvPr id="3" name="Text 1"/>
          <p:cNvSpPr/>
          <p:nvPr/>
        </p:nvSpPr>
        <p:spPr>
          <a:xfrm>
            <a:off x="457200" y="228600"/>
            <a:ext cx="1645920" cy="228600"/>
          </a:xfrm>
          <a:prstGeom prst="rect">
            <a:avLst/>
          </a:prstGeom>
          <a:noFill/>
          <a:ln/>
        </p:spPr>
        <p:txBody>
          <a:bodyPr wrap="square" lIns="0" tIns="0" rIns="0" bIns="0" rtlCol="0" anchor="ctr"/>
          <a:lstStyle/>
          <a:p>
            <a:pPr algn="l" indent="0" marL="0">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4" name="Text 2"/>
          <p:cNvSpPr/>
          <p:nvPr/>
        </p:nvSpPr>
        <p:spPr>
          <a:xfrm>
            <a:off x="1965960" y="256032"/>
            <a:ext cx="9144000" cy="182880"/>
          </a:xfrm>
          <a:prstGeom prst="rect">
            <a:avLst/>
          </a:prstGeom>
          <a:noFill/>
          <a:ln/>
        </p:spPr>
        <p:txBody>
          <a:bodyPr wrap="square" lIns="0" tIns="0" rIns="0" bIns="0" rtlCol="0" anchor="ctr"/>
          <a:lstStyle/>
          <a:p>
            <a:pPr algn="l" indent="0" marL="0">
              <a:buNone/>
            </a:pPr>
            <a:r>
              <a:rPr lang="en-US" sz="1050" b="1" dirty="0">
                <a:solidFill>
                  <a:srgbClr val="5B6169"/>
                </a:solidFill>
                <a:latin typeface="Arial" pitchFamily="34" charset="0"/>
                <a:ea typeface="Arial" pitchFamily="34" charset="-122"/>
                <a:cs typeface="Arial" pitchFamily="34" charset="-120"/>
              </a:rPr>
              <a:t>ATMOS  /  A14 / EMBEDDINGS + INDEXES</a:t>
            </a:r>
            <a:endParaRPr lang="en-US" sz="1050" dirty="0"/>
          </a:p>
        </p:txBody>
      </p:sp>
      <p:sp>
        <p:nvSpPr>
          <p:cNvPr id="5" name="Text 3"/>
          <p:cNvSpPr/>
          <p:nvPr/>
        </p:nvSpPr>
        <p:spPr>
          <a:xfrm>
            <a:off x="475488" y="758952"/>
            <a:ext cx="11201400" cy="493776"/>
          </a:xfrm>
          <a:prstGeom prst="rect">
            <a:avLst/>
          </a:prstGeom>
          <a:noFill/>
          <a:ln/>
        </p:spPr>
        <p:txBody>
          <a:bodyPr wrap="square" lIns="0" tIns="0" rIns="0" bIns="0" rtlCol="0" anchor="ctr"/>
          <a:lstStyle/>
          <a:p>
            <a:pPr algn="l" indent="0" marL="0">
              <a:buNone/>
            </a:pPr>
            <a:r>
              <a:rPr lang="en-US" sz="2750" b="1" dirty="0">
                <a:solidFill>
                  <a:srgbClr val="18191D"/>
                </a:solidFill>
                <a:latin typeface="Arial" pitchFamily="34" charset="0"/>
                <a:ea typeface="Arial" pitchFamily="34" charset="-122"/>
                <a:cs typeface="Arial" pitchFamily="34" charset="-120"/>
              </a:rPr>
              <a:t>An embedding change needs a new collection generation.</a:t>
            </a:r>
            <a:endParaRPr lang="en-US" sz="2750" dirty="0"/>
          </a:p>
        </p:txBody>
      </p:sp>
      <p:sp>
        <p:nvSpPr>
          <p:cNvPr id="6" name="Text 4"/>
          <p:cNvSpPr/>
          <p:nvPr/>
        </p:nvSpPr>
        <p:spPr>
          <a:xfrm>
            <a:off x="502920" y="1298448"/>
            <a:ext cx="11064240" cy="411480"/>
          </a:xfrm>
          <a:prstGeom prst="rect">
            <a:avLst/>
          </a:prstGeom>
          <a:noFill/>
          <a:ln/>
        </p:spPr>
        <p:txBody>
          <a:bodyPr wrap="square" lIns="0" tIns="0" rIns="0" bIns="0" rtlCol="0" anchor="ctr"/>
          <a:lstStyle/>
          <a:p>
            <a:pPr algn="l" indent="0" marL="0">
              <a:buNone/>
            </a:pPr>
            <a:r>
              <a:rPr lang="en-US" sz="1350" dirty="0">
                <a:solidFill>
                  <a:srgbClr val="5B6169"/>
                </a:solidFill>
                <a:latin typeface="Arial" pitchFamily="34" charset="0"/>
                <a:ea typeface="Arial" pitchFamily="34" charset="-122"/>
                <a:cs typeface="Arial" pitchFamily="34" charset="-120"/>
              </a:rPr>
              <a:t>Do not overwrite an active index or mix incompatible vectors behind one collection name.</a:t>
            </a:r>
            <a:endParaRPr lang="en-US" sz="1350" dirty="0"/>
          </a:p>
        </p:txBody>
      </p:sp>
      <p:sp>
        <p:nvSpPr>
          <p:cNvPr id="7" name="Shape 5"/>
          <p:cNvSpPr/>
          <p:nvPr/>
        </p:nvSpPr>
        <p:spPr>
          <a:xfrm>
            <a:off x="484632" y="6464808"/>
            <a:ext cx="11237976" cy="0"/>
          </a:xfrm>
          <a:prstGeom prst="line">
            <a:avLst/>
          </a:prstGeom>
          <a:noFill/>
          <a:ln w="7620">
            <a:solidFill>
              <a:srgbClr val="D9DDE3"/>
            </a:solidFill>
            <a:prstDash val="solid"/>
            <a:headEnd type="none"/>
            <a:tailEnd type="none"/>
          </a:ln>
        </p:spPr>
      </p:sp>
      <p:sp>
        <p:nvSpPr>
          <p:cNvPr id="8" name="Text 6"/>
          <p:cNvSpPr/>
          <p:nvPr/>
        </p:nvSpPr>
        <p:spPr>
          <a:xfrm>
            <a:off x="512064" y="6547104"/>
            <a:ext cx="9418320" cy="164592"/>
          </a:xfrm>
          <a:prstGeom prst="rect">
            <a:avLst/>
          </a:prstGeom>
          <a:noFill/>
          <a:ln/>
        </p:spPr>
        <p:txBody>
          <a:bodyPr wrap="square" lIns="0" tIns="0" rIns="0" bIns="0" rtlCol="0" anchor="ctr"/>
          <a:lstStyle/>
          <a:p>
            <a:pPr algn="l" indent="0" marL="0">
              <a:buNone/>
            </a:pPr>
            <a:r>
              <a:rPr lang="en-US" sz="850" dirty="0">
                <a:solidFill>
                  <a:srgbClr val="5B6169"/>
                </a:solidFill>
                <a:latin typeface="Arial" pitchFamily="34" charset="0"/>
                <a:ea typeface="Arial" pitchFamily="34" charset="-122"/>
                <a:cs typeface="Arial" pitchFamily="34" charset="-120"/>
              </a:rPr>
              <a:t>TECHNICAL APPENDIX TO V3  •  6 OCT 2026  •  PROPOSED DESIGN / QUALIFICATION REQUIRED</a:t>
            </a:r>
            <a:endParaRPr lang="en-US" sz="850" dirty="0"/>
          </a:p>
        </p:txBody>
      </p:sp>
      <p:sp>
        <p:nvSpPr>
          <p:cNvPr id="9" name="Text 7"/>
          <p:cNvSpPr/>
          <p:nvPr/>
        </p:nvSpPr>
        <p:spPr>
          <a:xfrm>
            <a:off x="11219688" y="6519672"/>
            <a:ext cx="457200" cy="219456"/>
          </a:xfrm>
          <a:prstGeom prst="rect">
            <a:avLst/>
          </a:prstGeom>
          <a:noFill/>
          <a:ln/>
        </p:spPr>
        <p:txBody>
          <a:bodyPr wrap="square" lIns="0" tIns="0" rIns="0" bIns="0" rtlCol="0" anchor="ctr"/>
          <a:lstStyle/>
          <a:p>
            <a:pPr algn="r" indent="0" marL="0">
              <a:buNone/>
            </a:pPr>
            <a:r>
              <a:rPr lang="en-US" sz="1000" b="1" dirty="0">
                <a:solidFill>
                  <a:srgbClr val="E31837"/>
                </a:solidFill>
                <a:latin typeface="Arial" pitchFamily="34" charset="0"/>
                <a:ea typeface="Arial" pitchFamily="34" charset="-122"/>
                <a:cs typeface="Arial" pitchFamily="34" charset="-120"/>
              </a:rPr>
              <a:t>15</a:t>
            </a:r>
            <a:endParaRPr lang="en-US" sz="1000" dirty="0"/>
          </a:p>
        </p:txBody>
      </p:sp>
      <p:sp>
        <p:nvSpPr>
          <p:cNvPr id="10" name="Text 8">
            <a:hlinkClick r:id="rId1" tooltip=""/>
          </p:cNvPr>
          <p:cNvSpPr/>
          <p:nvPr/>
        </p:nvSpPr>
        <p:spPr>
          <a:xfrm>
            <a:off x="9875520" y="237744"/>
            <a:ext cx="1828800" cy="219456"/>
          </a:xfrm>
          <a:prstGeom prst="rect">
            <a:avLst/>
          </a:prstGeom>
          <a:noFill/>
          <a:ln/>
        </p:spPr>
        <p:txBody>
          <a:bodyPr wrap="square" lIns="0" tIns="0" rIns="0" bIns="0" rtlCol="0" anchor="ctr"/>
          <a:lstStyle/>
          <a:p>
            <a:pPr algn="r" indent="0" marL="0">
              <a:buNone/>
            </a:pPr>
            <a:r>
              <a:rPr lang="en-US" sz="1000"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technical notes</a:t>
            </a:r>
            <a:endParaRPr lang="en-US" sz="1000" dirty="0"/>
          </a:p>
        </p:txBody>
      </p:sp>
      <p:sp>
        <p:nvSpPr>
          <p:cNvPr id="11" name="Shape 9"/>
          <p:cNvSpPr/>
          <p:nvPr/>
        </p:nvSpPr>
        <p:spPr>
          <a:xfrm>
            <a:off x="594360" y="1965960"/>
            <a:ext cx="2560320" cy="3346704"/>
          </a:xfrm>
          <a:prstGeom prst="rect">
            <a:avLst/>
          </a:prstGeom>
          <a:solidFill>
            <a:srgbClr val="18191D"/>
          </a:solidFill>
          <a:ln w="10160">
            <a:solidFill>
              <a:srgbClr val="18191D"/>
            </a:solidFill>
            <a:prstDash val="solid"/>
          </a:ln>
        </p:spPr>
      </p:sp>
      <p:sp>
        <p:nvSpPr>
          <p:cNvPr id="12" name="Text 10"/>
          <p:cNvSpPr/>
          <p:nvPr/>
        </p:nvSpPr>
        <p:spPr>
          <a:xfrm>
            <a:off x="704088" y="2039112"/>
            <a:ext cx="2340864" cy="301752"/>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Governed source log</a:t>
            </a:r>
            <a:endParaRPr lang="en-US" sz="1450" dirty="0"/>
          </a:p>
        </p:txBody>
      </p:sp>
      <p:sp>
        <p:nvSpPr>
          <p:cNvPr id="13" name="Text 11"/>
          <p:cNvSpPr/>
          <p:nvPr/>
        </p:nvSpPr>
        <p:spPr>
          <a:xfrm>
            <a:off x="704088" y="2404872"/>
            <a:ext cx="2340864" cy="2843784"/>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Versioned documents</a:t>
            </a:r>
            <a:endParaRPr lang="en-US" sz="1250" dirty="0"/>
          </a:p>
          <a:p>
            <a:pPr algn="l" indent="0" marL="0">
              <a:buNone/>
            </a:pPr>
            <a:r>
              <a:rPr lang="en-US" sz="1250" dirty="0">
                <a:solidFill>
                  <a:srgbClr val="FFFFFF"/>
                </a:solidFill>
                <a:latin typeface="Arial" pitchFamily="34" charset="0"/>
                <a:ea typeface="Arial" pitchFamily="34" charset="-122"/>
                <a:cs typeface="Arial" pitchFamily="34" charset="-120"/>
              </a:rPr>
              <a:t>ACL changes</a:t>
            </a:r>
            <a:endParaRPr lang="en-US" sz="1250" dirty="0"/>
          </a:p>
          <a:p>
            <a:pPr algn="l" indent="0" marL="0">
              <a:buNone/>
            </a:pPr>
            <a:r>
              <a:rPr lang="en-US" sz="1250" dirty="0">
                <a:solidFill>
                  <a:srgbClr val="FFFFFF"/>
                </a:solidFill>
                <a:latin typeface="Arial" pitchFamily="34" charset="0"/>
                <a:ea typeface="Arial" pitchFamily="34" charset="-122"/>
                <a:cs typeface="Arial" pitchFamily="34" charset="-120"/>
              </a:rPr>
              <a:t>Deletion tombstones</a:t>
            </a:r>
            <a:endParaRPr lang="en-US" sz="1250" dirty="0"/>
          </a:p>
          <a:p>
            <a:pPr algn="l" indent="0" marL="0">
              <a:buNone/>
            </a:pPr>
            <a:r>
              <a:rPr lang="en-US" sz="1250" dirty="0">
                <a:solidFill>
                  <a:srgbClr val="FFFFFF"/>
                </a:solidFill>
                <a:latin typeface="Arial" pitchFamily="34" charset="0"/>
                <a:ea typeface="Arial" pitchFamily="34" charset="-122"/>
                <a:cs typeface="Arial" pitchFamily="34" charset="-120"/>
              </a:rPr>
              <a:t>Incremental updates</a:t>
            </a:r>
            <a:endParaRPr lang="en-US" sz="1250" dirty="0"/>
          </a:p>
        </p:txBody>
      </p:sp>
      <p:sp>
        <p:nvSpPr>
          <p:cNvPr id="14" name="Shape 12"/>
          <p:cNvSpPr/>
          <p:nvPr/>
        </p:nvSpPr>
        <p:spPr>
          <a:xfrm>
            <a:off x="3749040" y="1965960"/>
            <a:ext cx="4014216" cy="1353312"/>
          </a:xfrm>
          <a:prstGeom prst="rect">
            <a:avLst/>
          </a:prstGeom>
          <a:solidFill>
            <a:srgbClr val="F3F4F6"/>
          </a:solidFill>
          <a:ln w="10160">
            <a:solidFill>
              <a:srgbClr val="F3F4F6"/>
            </a:solidFill>
            <a:prstDash val="solid"/>
          </a:ln>
        </p:spPr>
      </p:sp>
      <p:sp>
        <p:nvSpPr>
          <p:cNvPr id="15" name="Text 13"/>
          <p:cNvSpPr/>
          <p:nvPr/>
        </p:nvSpPr>
        <p:spPr>
          <a:xfrm>
            <a:off x="3858768" y="2039112"/>
            <a:ext cx="3794760"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Generation A • serves current traffic</a:t>
            </a:r>
            <a:endParaRPr lang="en-US" sz="1450" dirty="0"/>
          </a:p>
        </p:txBody>
      </p:sp>
      <p:sp>
        <p:nvSpPr>
          <p:cNvPr id="16" name="Text 14"/>
          <p:cNvSpPr/>
          <p:nvPr/>
        </p:nvSpPr>
        <p:spPr>
          <a:xfrm>
            <a:off x="3858768" y="2404872"/>
            <a:ext cx="3794760" cy="850392"/>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Embedding A → index A</a:t>
            </a:r>
            <a:endParaRPr lang="en-US" sz="1250" dirty="0"/>
          </a:p>
          <a:p>
            <a:pPr algn="l" indent="0" marL="0">
              <a:buNone/>
            </a:pPr>
            <a:r>
              <a:rPr lang="en-US" sz="1250" dirty="0">
                <a:solidFill>
                  <a:srgbClr val="5B6169"/>
                </a:solidFill>
                <a:latin typeface="Arial" pitchFamily="34" charset="0"/>
                <a:ea typeface="Arial" pitchFamily="34" charset="-122"/>
                <a:cs typeface="Arial" pitchFamily="34" charset="-120"/>
              </a:rPr>
              <a:t>Current collection pointer</a:t>
            </a:r>
            <a:endParaRPr lang="en-US" sz="1250" dirty="0"/>
          </a:p>
        </p:txBody>
      </p:sp>
      <p:sp>
        <p:nvSpPr>
          <p:cNvPr id="17" name="Shape 15"/>
          <p:cNvSpPr/>
          <p:nvPr/>
        </p:nvSpPr>
        <p:spPr>
          <a:xfrm>
            <a:off x="3749040" y="3840480"/>
            <a:ext cx="4014216" cy="1353312"/>
          </a:xfrm>
          <a:prstGeom prst="rect">
            <a:avLst/>
          </a:prstGeom>
          <a:solidFill>
            <a:srgbClr val="FCECEF"/>
          </a:solidFill>
          <a:ln w="10160">
            <a:solidFill>
              <a:srgbClr val="FCECEF"/>
            </a:solidFill>
            <a:prstDash val="solid"/>
          </a:ln>
        </p:spPr>
      </p:sp>
      <p:sp>
        <p:nvSpPr>
          <p:cNvPr id="18" name="Text 16"/>
          <p:cNvSpPr/>
          <p:nvPr/>
        </p:nvSpPr>
        <p:spPr>
          <a:xfrm>
            <a:off x="3858768" y="3913632"/>
            <a:ext cx="3794760"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Generation B • shadow build</a:t>
            </a:r>
            <a:endParaRPr lang="en-US" sz="1450" dirty="0"/>
          </a:p>
        </p:txBody>
      </p:sp>
      <p:sp>
        <p:nvSpPr>
          <p:cNvPr id="19" name="Text 17"/>
          <p:cNvSpPr/>
          <p:nvPr/>
        </p:nvSpPr>
        <p:spPr>
          <a:xfrm>
            <a:off x="3858768" y="4279392"/>
            <a:ext cx="3794760" cy="850392"/>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Embedding B → index B</a:t>
            </a:r>
            <a:endParaRPr lang="en-US" sz="1250" dirty="0"/>
          </a:p>
          <a:p>
            <a:pPr algn="l" indent="0" marL="0">
              <a:buNone/>
            </a:pPr>
            <a:r>
              <a:rPr lang="en-US" sz="1250" dirty="0">
                <a:solidFill>
                  <a:srgbClr val="5B6169"/>
                </a:solidFill>
                <a:latin typeface="Arial" pitchFamily="34" charset="0"/>
                <a:ea typeface="Arial" pitchFamily="34" charset="-122"/>
                <a:cs typeface="Arial" pitchFamily="34" charset="-120"/>
              </a:rPr>
              <a:t>Re-embed / evaluate / catch up</a:t>
            </a:r>
            <a:endParaRPr lang="en-US" sz="1250" dirty="0"/>
          </a:p>
        </p:txBody>
      </p:sp>
      <p:sp>
        <p:nvSpPr>
          <p:cNvPr id="20" name="Shape 18"/>
          <p:cNvSpPr/>
          <p:nvPr/>
        </p:nvSpPr>
        <p:spPr>
          <a:xfrm>
            <a:off x="3163824" y="2642616"/>
            <a:ext cx="566928" cy="0"/>
          </a:xfrm>
          <a:prstGeom prst="line">
            <a:avLst/>
          </a:prstGeom>
          <a:noFill/>
          <a:ln w="19050">
            <a:solidFill>
              <a:srgbClr val="E31837"/>
            </a:solidFill>
            <a:prstDash val="solid"/>
            <a:headEnd type="none"/>
            <a:tailEnd type="triangle"/>
          </a:ln>
        </p:spPr>
      </p:sp>
      <p:sp>
        <p:nvSpPr>
          <p:cNvPr id="21" name="Shape 19"/>
          <p:cNvSpPr/>
          <p:nvPr/>
        </p:nvSpPr>
        <p:spPr>
          <a:xfrm>
            <a:off x="3163824" y="4517136"/>
            <a:ext cx="566928" cy="0"/>
          </a:xfrm>
          <a:prstGeom prst="line">
            <a:avLst/>
          </a:prstGeom>
          <a:noFill/>
          <a:ln w="19050">
            <a:solidFill>
              <a:srgbClr val="E31837"/>
            </a:solidFill>
            <a:prstDash val="solid"/>
            <a:headEnd type="none"/>
            <a:tailEnd type="triangle"/>
          </a:ln>
        </p:spPr>
      </p:sp>
      <p:sp>
        <p:nvSpPr>
          <p:cNvPr id="22" name="Shape 20"/>
          <p:cNvSpPr/>
          <p:nvPr/>
        </p:nvSpPr>
        <p:spPr>
          <a:xfrm>
            <a:off x="8348472" y="1965960"/>
            <a:ext cx="3218688" cy="3227832"/>
          </a:xfrm>
          <a:prstGeom prst="rect">
            <a:avLst>
              <a:gd name="adj" fmla="val 28409"/>
            </a:avLst>
          </a:prstGeom>
          <a:solidFill>
            <a:srgbClr val="F3F4F6"/>
          </a:solidFill>
          <a:ln w="10160">
            <a:solidFill>
              <a:srgbClr val="F3F4F6"/>
            </a:solidFill>
            <a:prstDash val="solid"/>
          </a:ln>
        </p:spPr>
      </p:sp>
      <p:sp>
        <p:nvSpPr>
          <p:cNvPr id="23" name="Text 21"/>
          <p:cNvSpPr/>
          <p:nvPr/>
        </p:nvSpPr>
        <p:spPr>
          <a:xfrm>
            <a:off x="8494776" y="2075688"/>
            <a:ext cx="2926080" cy="548640"/>
          </a:xfrm>
          <a:prstGeom prst="rect">
            <a:avLst/>
          </a:prstGeom>
          <a:noFill/>
          <a:ln/>
        </p:spPr>
        <p:txBody>
          <a:bodyPr wrap="square" lIns="0" tIns="0" rIns="0" bIns="0" rtlCol="0" anchor="ctr"/>
          <a:lstStyle/>
          <a:p>
            <a:pPr algn="l" indent="0" marL="0">
              <a:buNone/>
            </a:pPr>
            <a:r>
              <a:rPr lang="en-US" sz="1800" b="1" dirty="0">
                <a:solidFill>
                  <a:srgbClr val="18191D"/>
                </a:solidFill>
                <a:latin typeface="Arial" pitchFamily="34" charset="0"/>
                <a:ea typeface="Arial" pitchFamily="34" charset="-122"/>
                <a:cs typeface="Arial" pitchFamily="34" charset="-120"/>
              </a:rPr>
              <a:t>Atomic cutover</a:t>
            </a:r>
            <a:endParaRPr lang="en-US" sz="1800" dirty="0"/>
          </a:p>
        </p:txBody>
      </p:sp>
      <p:sp>
        <p:nvSpPr>
          <p:cNvPr id="24" name="Text 22"/>
          <p:cNvSpPr/>
          <p:nvPr/>
        </p:nvSpPr>
        <p:spPr>
          <a:xfrm>
            <a:off x="8494776" y="2715768"/>
            <a:ext cx="2926080" cy="2368296"/>
          </a:xfrm>
          <a:prstGeom prst="rect">
            <a:avLst/>
          </a:prstGeom>
          <a:noFill/>
          <a:ln/>
        </p:spPr>
        <p:txBody>
          <a:bodyPr wrap="square" lIns="0" tIns="0" rIns="0" bIns="0" rtlCol="0" anchor="ctr"/>
          <a:lstStyle/>
          <a:p>
            <a:pPr algn="l" indent="0" marL="0">
              <a:buNone/>
            </a:pPr>
            <a:r>
              <a:rPr lang="en-US" sz="1310" dirty="0">
                <a:solidFill>
                  <a:srgbClr val="5B6169"/>
                </a:solidFill>
                <a:latin typeface="Arial" pitchFamily="34" charset="0"/>
                <a:ea typeface="Arial" pitchFamily="34" charset="-122"/>
                <a:cs typeface="Arial" pitchFamily="34" charset="-120"/>
              </a:rPr>
              <a:t>Validate relevance + ACLs</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Catch up to cutover watermark</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Switch collection pointer</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Retain authorized rollback</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Reclaim only after hold window</a:t>
            </a:r>
            <a:endParaRPr lang="en-US" sz="1310" dirty="0"/>
          </a:p>
        </p:txBody>
      </p:sp>
      <p:sp>
        <p:nvSpPr>
          <p:cNvPr id="25" name="Shape 23"/>
          <p:cNvSpPr/>
          <p:nvPr/>
        </p:nvSpPr>
        <p:spPr>
          <a:xfrm>
            <a:off x="7781544" y="4517136"/>
            <a:ext cx="548640" cy="0"/>
          </a:xfrm>
          <a:prstGeom prst="line">
            <a:avLst/>
          </a:prstGeom>
          <a:noFill/>
          <a:ln w="19050">
            <a:solidFill>
              <a:srgbClr val="E31837"/>
            </a:solidFill>
            <a:prstDash val="solid"/>
            <a:headEnd type="none"/>
            <a:tailEnd type="triangle"/>
          </a:ln>
        </p:spPr>
      </p:sp>
      <p:sp>
        <p:nvSpPr>
          <p:cNvPr id="26" name="Shape 24"/>
          <p:cNvSpPr/>
          <p:nvPr/>
        </p:nvSpPr>
        <p:spPr>
          <a:xfrm>
            <a:off x="475488" y="5843016"/>
            <a:ext cx="11228832" cy="457200"/>
          </a:xfrm>
          <a:prstGeom prst="rect">
            <a:avLst/>
          </a:prstGeom>
          <a:solidFill>
            <a:srgbClr val="FCECEF"/>
          </a:solidFill>
          <a:ln w="10160">
            <a:solidFill>
              <a:srgbClr val="FCECEF"/>
            </a:solidFill>
            <a:prstDash val="solid"/>
          </a:ln>
        </p:spPr>
      </p:sp>
      <p:sp>
        <p:nvSpPr>
          <p:cNvPr id="27" name="Text 25"/>
          <p:cNvSpPr/>
          <p:nvPr/>
        </p:nvSpPr>
        <p:spPr>
          <a:xfrm>
            <a:off x="621792" y="5893308"/>
            <a:ext cx="10936224" cy="347472"/>
          </a:xfrm>
          <a:prstGeom prst="rect">
            <a:avLst/>
          </a:prstGeom>
          <a:noFill/>
          <a:ln/>
        </p:spPr>
        <p:txBody>
          <a:bodyPr wrap="square" lIns="0" tIns="0" rIns="0" bIns="0" rtlCol="0" anchor="ctr"/>
          <a:lstStyle/>
          <a:p>
            <a:pPr algn="l" indent="0" marL="0">
              <a:buNone/>
            </a:pPr>
            <a:r>
              <a:rPr lang="en-US" sz="1300" b="1" dirty="0">
                <a:solidFill>
                  <a:srgbClr val="E31837"/>
                </a:solidFill>
                <a:latin typeface="Arial" pitchFamily="34" charset="0"/>
                <a:ea typeface="Arial" pitchFamily="34" charset="-122"/>
                <a:cs typeface="Arial" pitchFamily="34" charset="-120"/>
              </a:rPr>
              <a:t>A rollback must never resurrect deleted documents or revoked access. Apply current ACL/tombstone state to every retained generation.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E31837"/>
          </a:solidFill>
          <a:ln w="10160">
            <a:solidFill>
              <a:srgbClr val="E31837"/>
            </a:solidFill>
            <a:prstDash val="solid"/>
          </a:ln>
        </p:spPr>
      </p:sp>
      <p:sp>
        <p:nvSpPr>
          <p:cNvPr id="3" name="Text 1"/>
          <p:cNvSpPr/>
          <p:nvPr/>
        </p:nvSpPr>
        <p:spPr>
          <a:xfrm>
            <a:off x="457200" y="228600"/>
            <a:ext cx="1645920" cy="228600"/>
          </a:xfrm>
          <a:prstGeom prst="rect">
            <a:avLst/>
          </a:prstGeom>
          <a:noFill/>
          <a:ln/>
        </p:spPr>
        <p:txBody>
          <a:bodyPr wrap="square" lIns="0" tIns="0" rIns="0" bIns="0" rtlCol="0" anchor="ctr"/>
          <a:lstStyle/>
          <a:p>
            <a:pPr algn="l" indent="0" marL="0">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4" name="Text 2"/>
          <p:cNvSpPr/>
          <p:nvPr/>
        </p:nvSpPr>
        <p:spPr>
          <a:xfrm>
            <a:off x="1965960" y="256032"/>
            <a:ext cx="9144000" cy="182880"/>
          </a:xfrm>
          <a:prstGeom prst="rect">
            <a:avLst/>
          </a:prstGeom>
          <a:noFill/>
          <a:ln/>
        </p:spPr>
        <p:txBody>
          <a:bodyPr wrap="square" lIns="0" tIns="0" rIns="0" bIns="0" rtlCol="0" anchor="ctr"/>
          <a:lstStyle/>
          <a:p>
            <a:pPr algn="l" indent="0" marL="0">
              <a:buNone/>
            </a:pPr>
            <a:r>
              <a:rPr lang="en-US" sz="1050" b="1" dirty="0">
                <a:solidFill>
                  <a:srgbClr val="5B6169"/>
                </a:solidFill>
                <a:latin typeface="Arial" pitchFamily="34" charset="0"/>
                <a:ea typeface="Arial" pitchFamily="34" charset="-122"/>
                <a:cs typeface="Arial" pitchFamily="34" charset="-120"/>
              </a:rPr>
              <a:t>ATMOS  /  A15 / PLATFORM UPDATE</a:t>
            </a:r>
            <a:endParaRPr lang="en-US" sz="1050" dirty="0"/>
          </a:p>
        </p:txBody>
      </p:sp>
      <p:sp>
        <p:nvSpPr>
          <p:cNvPr id="5" name="Text 3"/>
          <p:cNvSpPr/>
          <p:nvPr/>
        </p:nvSpPr>
        <p:spPr>
          <a:xfrm>
            <a:off x="475488" y="758952"/>
            <a:ext cx="11201400" cy="493776"/>
          </a:xfrm>
          <a:prstGeom prst="rect">
            <a:avLst/>
          </a:prstGeom>
          <a:noFill/>
          <a:ln/>
        </p:spPr>
        <p:txBody>
          <a:bodyPr wrap="square" lIns="0" tIns="0" rIns="0" bIns="0" rtlCol="0" anchor="ctr"/>
          <a:lstStyle/>
          <a:p>
            <a:pPr algn="l" indent="0" marL="0">
              <a:buNone/>
            </a:pPr>
            <a:r>
              <a:rPr lang="en-US" sz="2750" b="1" dirty="0">
                <a:solidFill>
                  <a:srgbClr val="18191D"/>
                </a:solidFill>
                <a:latin typeface="Arial" pitchFamily="34" charset="0"/>
                <a:ea typeface="Arial" pitchFamily="34" charset="-122"/>
                <a:cs typeface="Arial" pitchFamily="34" charset="-120"/>
              </a:rPr>
              <a:t>A/B OS recovery is not firmware or database rollback.</a:t>
            </a:r>
            <a:endParaRPr lang="en-US" sz="2750" dirty="0"/>
          </a:p>
        </p:txBody>
      </p:sp>
      <p:sp>
        <p:nvSpPr>
          <p:cNvPr id="6" name="Text 4"/>
          <p:cNvSpPr/>
          <p:nvPr/>
        </p:nvSpPr>
        <p:spPr>
          <a:xfrm>
            <a:off x="502920" y="1298448"/>
            <a:ext cx="11064240" cy="411480"/>
          </a:xfrm>
          <a:prstGeom prst="rect">
            <a:avLst/>
          </a:prstGeom>
          <a:noFill/>
          <a:ln/>
        </p:spPr>
        <p:txBody>
          <a:bodyPr wrap="square" lIns="0" tIns="0" rIns="0" bIns="0" rtlCol="0" anchor="ctr"/>
          <a:lstStyle/>
          <a:p>
            <a:pPr algn="l" indent="0" marL="0">
              <a:buNone/>
            </a:pPr>
            <a:r>
              <a:rPr lang="en-US" sz="1350" dirty="0">
                <a:solidFill>
                  <a:srgbClr val="5B6169"/>
                </a:solidFill>
                <a:latin typeface="Arial" pitchFamily="34" charset="0"/>
                <a:ea typeface="Arial" pitchFamily="34" charset="-122"/>
                <a:cs typeface="Arial" pitchFamily="34" charset="-120"/>
              </a:rPr>
              <a:t>A coordinated platform release advances one failure domain at a time.</a:t>
            </a:r>
            <a:endParaRPr lang="en-US" sz="1350" dirty="0"/>
          </a:p>
        </p:txBody>
      </p:sp>
      <p:sp>
        <p:nvSpPr>
          <p:cNvPr id="7" name="Shape 5"/>
          <p:cNvSpPr/>
          <p:nvPr/>
        </p:nvSpPr>
        <p:spPr>
          <a:xfrm>
            <a:off x="484632" y="6464808"/>
            <a:ext cx="11237976" cy="0"/>
          </a:xfrm>
          <a:prstGeom prst="line">
            <a:avLst/>
          </a:prstGeom>
          <a:noFill/>
          <a:ln w="7620">
            <a:solidFill>
              <a:srgbClr val="D9DDE3"/>
            </a:solidFill>
            <a:prstDash val="solid"/>
            <a:headEnd type="none"/>
            <a:tailEnd type="none"/>
          </a:ln>
        </p:spPr>
      </p:sp>
      <p:sp>
        <p:nvSpPr>
          <p:cNvPr id="8" name="Text 6"/>
          <p:cNvSpPr/>
          <p:nvPr/>
        </p:nvSpPr>
        <p:spPr>
          <a:xfrm>
            <a:off x="512064" y="6547104"/>
            <a:ext cx="9418320" cy="164592"/>
          </a:xfrm>
          <a:prstGeom prst="rect">
            <a:avLst/>
          </a:prstGeom>
          <a:noFill/>
          <a:ln/>
        </p:spPr>
        <p:txBody>
          <a:bodyPr wrap="square" lIns="0" tIns="0" rIns="0" bIns="0" rtlCol="0" anchor="ctr"/>
          <a:lstStyle/>
          <a:p>
            <a:pPr algn="l" indent="0" marL="0">
              <a:buNone/>
            </a:pPr>
            <a:r>
              <a:rPr lang="en-US" sz="850" dirty="0">
                <a:solidFill>
                  <a:srgbClr val="5B6169"/>
                </a:solidFill>
                <a:latin typeface="Arial" pitchFamily="34" charset="0"/>
                <a:ea typeface="Arial" pitchFamily="34" charset="-122"/>
                <a:cs typeface="Arial" pitchFamily="34" charset="-120"/>
              </a:rPr>
              <a:t>TECHNICAL APPENDIX TO V3  •  6 OCT 2026  •  PROPOSED DESIGN / QUALIFICATION REQUIRED</a:t>
            </a:r>
            <a:endParaRPr lang="en-US" sz="850" dirty="0"/>
          </a:p>
        </p:txBody>
      </p:sp>
      <p:sp>
        <p:nvSpPr>
          <p:cNvPr id="9" name="Text 7"/>
          <p:cNvSpPr/>
          <p:nvPr/>
        </p:nvSpPr>
        <p:spPr>
          <a:xfrm>
            <a:off x="11219688" y="6519672"/>
            <a:ext cx="457200" cy="219456"/>
          </a:xfrm>
          <a:prstGeom prst="rect">
            <a:avLst/>
          </a:prstGeom>
          <a:noFill/>
          <a:ln/>
        </p:spPr>
        <p:txBody>
          <a:bodyPr wrap="square" lIns="0" tIns="0" rIns="0" bIns="0" rtlCol="0" anchor="ctr"/>
          <a:lstStyle/>
          <a:p>
            <a:pPr algn="r" indent="0" marL="0">
              <a:buNone/>
            </a:pPr>
            <a:r>
              <a:rPr lang="en-US" sz="1000" b="1" dirty="0">
                <a:solidFill>
                  <a:srgbClr val="E31837"/>
                </a:solidFill>
                <a:latin typeface="Arial" pitchFamily="34" charset="0"/>
                <a:ea typeface="Arial" pitchFamily="34" charset="-122"/>
                <a:cs typeface="Arial" pitchFamily="34" charset="-120"/>
              </a:rPr>
              <a:t>16</a:t>
            </a:r>
            <a:endParaRPr lang="en-US" sz="1000" dirty="0"/>
          </a:p>
        </p:txBody>
      </p:sp>
      <p:sp>
        <p:nvSpPr>
          <p:cNvPr id="10" name="Text 8">
            <a:hlinkClick r:id="rId1" tooltip=""/>
          </p:cNvPr>
          <p:cNvSpPr/>
          <p:nvPr/>
        </p:nvSpPr>
        <p:spPr>
          <a:xfrm>
            <a:off x="9875520" y="237744"/>
            <a:ext cx="1828800" cy="219456"/>
          </a:xfrm>
          <a:prstGeom prst="rect">
            <a:avLst/>
          </a:prstGeom>
          <a:noFill/>
          <a:ln/>
        </p:spPr>
        <p:txBody>
          <a:bodyPr wrap="square" lIns="0" tIns="0" rIns="0" bIns="0" rtlCol="0" anchor="ctr"/>
          <a:lstStyle/>
          <a:p>
            <a:pPr algn="r" indent="0" marL="0">
              <a:buNone/>
            </a:pPr>
            <a:r>
              <a:rPr lang="en-US" sz="1000"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technical notes</a:t>
            </a:r>
            <a:endParaRPr lang="en-US" sz="1000" dirty="0"/>
          </a:p>
        </p:txBody>
      </p:sp>
      <p:sp>
        <p:nvSpPr>
          <p:cNvPr id="11" name="Shape 9"/>
          <p:cNvSpPr/>
          <p:nvPr/>
        </p:nvSpPr>
        <p:spPr>
          <a:xfrm>
            <a:off x="548640" y="1965960"/>
            <a:ext cx="2020824" cy="1179576"/>
          </a:xfrm>
          <a:prstGeom prst="rect">
            <a:avLst/>
          </a:prstGeom>
          <a:solidFill>
            <a:srgbClr val="F3F4F6"/>
          </a:solidFill>
          <a:ln w="10160">
            <a:solidFill>
              <a:srgbClr val="F3F4F6"/>
            </a:solidFill>
            <a:prstDash val="solid"/>
          </a:ln>
        </p:spPr>
      </p:sp>
      <p:sp>
        <p:nvSpPr>
          <p:cNvPr id="12" name="Text 10"/>
          <p:cNvSpPr/>
          <p:nvPr/>
        </p:nvSpPr>
        <p:spPr>
          <a:xfrm>
            <a:off x="658368" y="2039112"/>
            <a:ext cx="1801368"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Preflight</a:t>
            </a:r>
            <a:endParaRPr lang="en-US" sz="1450" dirty="0"/>
          </a:p>
        </p:txBody>
      </p:sp>
      <p:sp>
        <p:nvSpPr>
          <p:cNvPr id="13" name="Text 11"/>
          <p:cNvSpPr/>
          <p:nvPr/>
        </p:nvSpPr>
        <p:spPr>
          <a:xfrm>
            <a:off x="658368" y="2404872"/>
            <a:ext cx="1801368" cy="676656"/>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Health / reserve</a:t>
            </a:r>
            <a:endParaRPr lang="en-US" sz="1250" dirty="0"/>
          </a:p>
          <a:p>
            <a:pPr algn="l" indent="0" marL="0">
              <a:buNone/>
            </a:pPr>
            <a:r>
              <a:rPr lang="en-US" sz="1250" dirty="0">
                <a:solidFill>
                  <a:srgbClr val="5B6169"/>
                </a:solidFill>
                <a:latin typeface="Arial" pitchFamily="34" charset="0"/>
                <a:ea typeface="Arial" pitchFamily="34" charset="-122"/>
                <a:cs typeface="Arial" pitchFamily="34" charset="-120"/>
              </a:rPr>
              <a:t>Backup / trust</a:t>
            </a:r>
            <a:endParaRPr lang="en-US" sz="1250" dirty="0"/>
          </a:p>
        </p:txBody>
      </p:sp>
      <p:sp>
        <p:nvSpPr>
          <p:cNvPr id="14" name="Shape 12"/>
          <p:cNvSpPr/>
          <p:nvPr/>
        </p:nvSpPr>
        <p:spPr>
          <a:xfrm>
            <a:off x="2569464" y="2555748"/>
            <a:ext cx="228600" cy="0"/>
          </a:xfrm>
          <a:prstGeom prst="line">
            <a:avLst/>
          </a:prstGeom>
          <a:noFill/>
          <a:ln w="19050">
            <a:solidFill>
              <a:srgbClr val="E31837"/>
            </a:solidFill>
            <a:prstDash val="solid"/>
            <a:headEnd type="none"/>
            <a:tailEnd type="triangle"/>
          </a:ln>
        </p:spPr>
      </p:sp>
      <p:sp>
        <p:nvSpPr>
          <p:cNvPr id="15" name="Shape 13"/>
          <p:cNvSpPr/>
          <p:nvPr/>
        </p:nvSpPr>
        <p:spPr>
          <a:xfrm>
            <a:off x="2816352" y="1965960"/>
            <a:ext cx="2020824" cy="1179576"/>
          </a:xfrm>
          <a:prstGeom prst="rect">
            <a:avLst/>
          </a:prstGeom>
          <a:solidFill>
            <a:srgbClr val="F3F4F6"/>
          </a:solidFill>
          <a:ln w="10160">
            <a:solidFill>
              <a:srgbClr val="F3F4F6"/>
            </a:solidFill>
            <a:prstDash val="solid"/>
          </a:ln>
        </p:spPr>
      </p:sp>
      <p:sp>
        <p:nvSpPr>
          <p:cNvPr id="16" name="Text 14"/>
          <p:cNvSpPr/>
          <p:nvPr/>
        </p:nvSpPr>
        <p:spPr>
          <a:xfrm>
            <a:off x="2926080" y="2039112"/>
            <a:ext cx="1801368"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Drain</a:t>
            </a:r>
            <a:endParaRPr lang="en-US" sz="1450" dirty="0"/>
          </a:p>
        </p:txBody>
      </p:sp>
      <p:sp>
        <p:nvSpPr>
          <p:cNvPr id="17" name="Text 15"/>
          <p:cNvSpPr/>
          <p:nvPr/>
        </p:nvSpPr>
        <p:spPr>
          <a:xfrm>
            <a:off x="2926080" y="2404872"/>
            <a:ext cx="1801368" cy="676656"/>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Stop new work</a:t>
            </a:r>
            <a:endParaRPr lang="en-US" sz="1250" dirty="0"/>
          </a:p>
          <a:p>
            <a:pPr algn="l" indent="0" marL="0">
              <a:buNone/>
            </a:pPr>
            <a:r>
              <a:rPr lang="en-US" sz="1250" dirty="0">
                <a:solidFill>
                  <a:srgbClr val="5B6169"/>
                </a:solidFill>
                <a:latin typeface="Arial" pitchFamily="34" charset="0"/>
                <a:ea typeface="Arial" pitchFamily="34" charset="-122"/>
                <a:cs typeface="Arial" pitchFamily="34" charset="-120"/>
              </a:rPr>
              <a:t>Fence active DMA</a:t>
            </a:r>
            <a:endParaRPr lang="en-US" sz="1250" dirty="0"/>
          </a:p>
        </p:txBody>
      </p:sp>
      <p:sp>
        <p:nvSpPr>
          <p:cNvPr id="18" name="Shape 16"/>
          <p:cNvSpPr/>
          <p:nvPr/>
        </p:nvSpPr>
        <p:spPr>
          <a:xfrm>
            <a:off x="4837176" y="2555748"/>
            <a:ext cx="228600" cy="0"/>
          </a:xfrm>
          <a:prstGeom prst="line">
            <a:avLst/>
          </a:prstGeom>
          <a:noFill/>
          <a:ln w="19050">
            <a:solidFill>
              <a:srgbClr val="E31837"/>
            </a:solidFill>
            <a:prstDash val="solid"/>
            <a:headEnd type="none"/>
            <a:tailEnd type="triangle"/>
          </a:ln>
        </p:spPr>
      </p:sp>
      <p:sp>
        <p:nvSpPr>
          <p:cNvPr id="19" name="Shape 17"/>
          <p:cNvSpPr/>
          <p:nvPr/>
        </p:nvSpPr>
        <p:spPr>
          <a:xfrm>
            <a:off x="5084064" y="1965960"/>
            <a:ext cx="2020824" cy="1179576"/>
          </a:xfrm>
          <a:prstGeom prst="rect">
            <a:avLst/>
          </a:prstGeom>
          <a:solidFill>
            <a:srgbClr val="F3F4F6"/>
          </a:solidFill>
          <a:ln w="10160">
            <a:solidFill>
              <a:srgbClr val="F3F4F6"/>
            </a:solidFill>
            <a:prstDash val="solid"/>
          </a:ln>
        </p:spPr>
      </p:sp>
      <p:sp>
        <p:nvSpPr>
          <p:cNvPr id="20" name="Text 18"/>
          <p:cNvSpPr/>
          <p:nvPr/>
        </p:nvSpPr>
        <p:spPr>
          <a:xfrm>
            <a:off x="5193792" y="2039112"/>
            <a:ext cx="1801368"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Stage B</a:t>
            </a:r>
            <a:endParaRPr lang="en-US" sz="1450" dirty="0"/>
          </a:p>
        </p:txBody>
      </p:sp>
      <p:sp>
        <p:nvSpPr>
          <p:cNvPr id="21" name="Text 19"/>
          <p:cNvSpPr/>
          <p:nvPr/>
        </p:nvSpPr>
        <p:spPr>
          <a:xfrm>
            <a:off x="5193792" y="2404872"/>
            <a:ext cx="1801368" cy="676656"/>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Signed OS + images</a:t>
            </a:r>
            <a:endParaRPr lang="en-US" sz="1250" dirty="0"/>
          </a:p>
          <a:p>
            <a:pPr algn="l" indent="0" marL="0">
              <a:buNone/>
            </a:pPr>
            <a:r>
              <a:rPr lang="en-US" sz="1250" dirty="0">
                <a:solidFill>
                  <a:srgbClr val="5B6169"/>
                </a:solidFill>
                <a:latin typeface="Arial" pitchFamily="34" charset="0"/>
                <a:ea typeface="Arial" pitchFamily="34" charset="-122"/>
                <a:cs typeface="Arial" pitchFamily="34" charset="-120"/>
              </a:rPr>
              <a:t>Approved firmware plan</a:t>
            </a:r>
            <a:endParaRPr lang="en-US" sz="1250" dirty="0"/>
          </a:p>
        </p:txBody>
      </p:sp>
      <p:sp>
        <p:nvSpPr>
          <p:cNvPr id="22" name="Shape 20"/>
          <p:cNvSpPr/>
          <p:nvPr/>
        </p:nvSpPr>
        <p:spPr>
          <a:xfrm>
            <a:off x="7104888" y="2555748"/>
            <a:ext cx="228600" cy="0"/>
          </a:xfrm>
          <a:prstGeom prst="line">
            <a:avLst/>
          </a:prstGeom>
          <a:noFill/>
          <a:ln w="19050">
            <a:solidFill>
              <a:srgbClr val="E31837"/>
            </a:solidFill>
            <a:prstDash val="solid"/>
            <a:headEnd type="none"/>
            <a:tailEnd type="triangle"/>
          </a:ln>
        </p:spPr>
      </p:sp>
      <p:sp>
        <p:nvSpPr>
          <p:cNvPr id="23" name="Shape 21"/>
          <p:cNvSpPr/>
          <p:nvPr/>
        </p:nvSpPr>
        <p:spPr>
          <a:xfrm>
            <a:off x="7351776" y="1965960"/>
            <a:ext cx="2020824" cy="1179576"/>
          </a:xfrm>
          <a:prstGeom prst="rect">
            <a:avLst/>
          </a:prstGeom>
          <a:solidFill>
            <a:srgbClr val="F3F4F6"/>
          </a:solidFill>
          <a:ln w="10160">
            <a:solidFill>
              <a:srgbClr val="F3F4F6"/>
            </a:solidFill>
            <a:prstDash val="solid"/>
          </a:ln>
        </p:spPr>
      </p:sp>
      <p:sp>
        <p:nvSpPr>
          <p:cNvPr id="24" name="Text 22"/>
          <p:cNvSpPr/>
          <p:nvPr/>
        </p:nvSpPr>
        <p:spPr>
          <a:xfrm>
            <a:off x="7461504" y="2039112"/>
            <a:ext cx="1801368"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Test</a:t>
            </a:r>
            <a:endParaRPr lang="en-US" sz="1450" dirty="0"/>
          </a:p>
        </p:txBody>
      </p:sp>
      <p:sp>
        <p:nvSpPr>
          <p:cNvPr id="25" name="Text 23"/>
          <p:cNvSpPr/>
          <p:nvPr/>
        </p:nvSpPr>
        <p:spPr>
          <a:xfrm>
            <a:off x="7461504" y="2404872"/>
            <a:ext cx="1801368" cy="676656"/>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Boot / device smoke</a:t>
            </a:r>
            <a:endParaRPr lang="en-US" sz="1250" dirty="0"/>
          </a:p>
          <a:p>
            <a:pPr algn="l" indent="0" marL="0">
              <a:buNone/>
            </a:pPr>
            <a:r>
              <a:rPr lang="en-US" sz="1250" dirty="0">
                <a:solidFill>
                  <a:srgbClr val="5B6169"/>
                </a:solidFill>
                <a:latin typeface="Arial" pitchFamily="34" charset="0"/>
                <a:ea typeface="Arial" pitchFamily="34" charset="-122"/>
                <a:cs typeface="Arial" pitchFamily="34" charset="-120"/>
              </a:rPr>
              <a:t>Canary service</a:t>
            </a:r>
            <a:endParaRPr lang="en-US" sz="1250" dirty="0"/>
          </a:p>
        </p:txBody>
      </p:sp>
      <p:sp>
        <p:nvSpPr>
          <p:cNvPr id="26" name="Shape 24"/>
          <p:cNvSpPr/>
          <p:nvPr/>
        </p:nvSpPr>
        <p:spPr>
          <a:xfrm>
            <a:off x="9372600" y="2555748"/>
            <a:ext cx="228600" cy="0"/>
          </a:xfrm>
          <a:prstGeom prst="line">
            <a:avLst/>
          </a:prstGeom>
          <a:noFill/>
          <a:ln w="19050">
            <a:solidFill>
              <a:srgbClr val="E31837"/>
            </a:solidFill>
            <a:prstDash val="solid"/>
            <a:headEnd type="none"/>
            <a:tailEnd type="triangle"/>
          </a:ln>
        </p:spPr>
      </p:sp>
      <p:sp>
        <p:nvSpPr>
          <p:cNvPr id="27" name="Shape 25"/>
          <p:cNvSpPr/>
          <p:nvPr/>
        </p:nvSpPr>
        <p:spPr>
          <a:xfrm>
            <a:off x="9619488" y="1965960"/>
            <a:ext cx="2020824" cy="1179576"/>
          </a:xfrm>
          <a:prstGeom prst="rect">
            <a:avLst/>
          </a:prstGeom>
          <a:solidFill>
            <a:srgbClr val="18191D"/>
          </a:solidFill>
          <a:ln w="10160">
            <a:solidFill>
              <a:srgbClr val="18191D"/>
            </a:solidFill>
            <a:prstDash val="solid"/>
          </a:ln>
        </p:spPr>
      </p:sp>
      <p:sp>
        <p:nvSpPr>
          <p:cNvPr id="28" name="Text 26"/>
          <p:cNvSpPr/>
          <p:nvPr/>
        </p:nvSpPr>
        <p:spPr>
          <a:xfrm>
            <a:off x="9729216" y="2039112"/>
            <a:ext cx="1801368" cy="301752"/>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Decide</a:t>
            </a:r>
            <a:endParaRPr lang="en-US" sz="1450" dirty="0"/>
          </a:p>
        </p:txBody>
      </p:sp>
      <p:sp>
        <p:nvSpPr>
          <p:cNvPr id="29" name="Text 27"/>
          <p:cNvSpPr/>
          <p:nvPr/>
        </p:nvSpPr>
        <p:spPr>
          <a:xfrm>
            <a:off x="9729216" y="2404872"/>
            <a:ext cx="1801368" cy="676656"/>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Promote or recover</a:t>
            </a:r>
            <a:endParaRPr lang="en-US" sz="1250" dirty="0"/>
          </a:p>
          <a:p>
            <a:pPr algn="l" indent="0" marL="0">
              <a:buNone/>
            </a:pPr>
            <a:r>
              <a:rPr lang="en-US" sz="1250" dirty="0">
                <a:solidFill>
                  <a:srgbClr val="FFFFFF"/>
                </a:solidFill>
                <a:latin typeface="Arial" pitchFamily="34" charset="0"/>
                <a:ea typeface="Arial" pitchFamily="34" charset="-122"/>
                <a:cs typeface="Arial" pitchFamily="34" charset="-120"/>
              </a:rPr>
              <a:t>Then next domain</a:t>
            </a:r>
            <a:endParaRPr lang="en-US" sz="1250" dirty="0"/>
          </a:p>
        </p:txBody>
      </p:sp>
      <p:sp>
        <p:nvSpPr>
          <p:cNvPr id="30" name="Shape 28"/>
          <p:cNvSpPr/>
          <p:nvPr/>
        </p:nvSpPr>
        <p:spPr>
          <a:xfrm>
            <a:off x="594360" y="3657600"/>
            <a:ext cx="3429000" cy="1801368"/>
          </a:xfrm>
          <a:prstGeom prst="rect">
            <a:avLst>
              <a:gd name="adj" fmla="val 50761"/>
            </a:avLst>
          </a:prstGeom>
          <a:solidFill>
            <a:srgbClr val="F3F4F6"/>
          </a:solidFill>
          <a:ln w="10160">
            <a:solidFill>
              <a:srgbClr val="F3F4F6"/>
            </a:solidFill>
            <a:prstDash val="solid"/>
          </a:ln>
        </p:spPr>
      </p:sp>
      <p:sp>
        <p:nvSpPr>
          <p:cNvPr id="31" name="Text 29"/>
          <p:cNvSpPr/>
          <p:nvPr/>
        </p:nvSpPr>
        <p:spPr>
          <a:xfrm>
            <a:off x="740664" y="3767328"/>
            <a:ext cx="3136392" cy="548640"/>
          </a:xfrm>
          <a:prstGeom prst="rect">
            <a:avLst/>
          </a:prstGeom>
          <a:noFill/>
          <a:ln/>
        </p:spPr>
        <p:txBody>
          <a:bodyPr wrap="square" lIns="0" tIns="0" rIns="0" bIns="0" rtlCol="0" anchor="ctr"/>
          <a:lstStyle/>
          <a:p>
            <a:pPr algn="l" indent="0" marL="0">
              <a:buNone/>
            </a:pPr>
            <a:r>
              <a:rPr lang="en-US" sz="1800" b="1" dirty="0">
                <a:solidFill>
                  <a:srgbClr val="18191D"/>
                </a:solidFill>
                <a:latin typeface="Arial" pitchFamily="34" charset="0"/>
                <a:ea typeface="Arial" pitchFamily="34" charset="-122"/>
                <a:cs typeface="Arial" pitchFamily="34" charset="-120"/>
              </a:rPr>
              <a:t>OS / containers</a:t>
            </a:r>
            <a:endParaRPr lang="en-US" sz="1800" dirty="0"/>
          </a:p>
        </p:txBody>
      </p:sp>
      <p:sp>
        <p:nvSpPr>
          <p:cNvPr id="32" name="Text 30"/>
          <p:cNvSpPr/>
          <p:nvPr/>
        </p:nvSpPr>
        <p:spPr>
          <a:xfrm>
            <a:off x="740664" y="4407408"/>
            <a:ext cx="3136392" cy="941832"/>
          </a:xfrm>
          <a:prstGeom prst="rect">
            <a:avLst/>
          </a:prstGeom>
          <a:noFill/>
          <a:ln/>
        </p:spPr>
        <p:txBody>
          <a:bodyPr wrap="square" lIns="0" tIns="0" rIns="0" bIns="0" rtlCol="0" anchor="ctr"/>
          <a:lstStyle/>
          <a:p>
            <a:pPr algn="l" indent="0" marL="0">
              <a:buNone/>
            </a:pPr>
            <a:r>
              <a:rPr lang="en-US" sz="1310" dirty="0">
                <a:solidFill>
                  <a:srgbClr val="5B6169"/>
                </a:solidFill>
                <a:latin typeface="Arial" pitchFamily="34" charset="0"/>
                <a:ea typeface="Arial" pitchFamily="34" charset="-122"/>
                <a:cs typeface="Arial" pitchFamily="34" charset="-120"/>
              </a:rPr>
              <a:t>Boot-health fallback to known-good image. Preserve local data on separate volumes.</a:t>
            </a:r>
            <a:endParaRPr lang="en-US" sz="1310" dirty="0"/>
          </a:p>
        </p:txBody>
      </p:sp>
      <p:sp>
        <p:nvSpPr>
          <p:cNvPr id="33" name="Shape 31"/>
          <p:cNvSpPr/>
          <p:nvPr/>
        </p:nvSpPr>
        <p:spPr>
          <a:xfrm>
            <a:off x="4370832" y="3657600"/>
            <a:ext cx="3429000" cy="1801368"/>
          </a:xfrm>
          <a:prstGeom prst="rect">
            <a:avLst>
              <a:gd name="adj" fmla="val 50761"/>
            </a:avLst>
          </a:prstGeom>
          <a:solidFill>
            <a:srgbClr val="FCECEF"/>
          </a:solidFill>
          <a:ln w="10160">
            <a:solidFill>
              <a:srgbClr val="FCECEF"/>
            </a:solidFill>
            <a:prstDash val="solid"/>
          </a:ln>
        </p:spPr>
      </p:sp>
      <p:sp>
        <p:nvSpPr>
          <p:cNvPr id="34" name="Text 32"/>
          <p:cNvSpPr/>
          <p:nvPr/>
        </p:nvSpPr>
        <p:spPr>
          <a:xfrm>
            <a:off x="4517136" y="3767328"/>
            <a:ext cx="3136392" cy="548640"/>
          </a:xfrm>
          <a:prstGeom prst="rect">
            <a:avLst/>
          </a:prstGeom>
          <a:noFill/>
          <a:ln/>
        </p:spPr>
        <p:txBody>
          <a:bodyPr wrap="square" lIns="0" tIns="0" rIns="0" bIns="0" rtlCol="0" anchor="ctr"/>
          <a:lstStyle/>
          <a:p>
            <a:pPr algn="l" indent="0" marL="0">
              <a:buNone/>
            </a:pPr>
            <a:r>
              <a:rPr lang="en-US" sz="1800" b="1" dirty="0">
                <a:solidFill>
                  <a:srgbClr val="E31837"/>
                </a:solidFill>
                <a:latin typeface="Arial" pitchFamily="34" charset="0"/>
                <a:ea typeface="Arial" pitchFamily="34" charset="-122"/>
                <a:cs typeface="Arial" pitchFamily="34" charset="-120"/>
              </a:rPr>
              <a:t>Firmware / device</a:t>
            </a:r>
            <a:endParaRPr lang="en-US" sz="1800" dirty="0"/>
          </a:p>
        </p:txBody>
      </p:sp>
      <p:sp>
        <p:nvSpPr>
          <p:cNvPr id="35" name="Text 33"/>
          <p:cNvSpPr/>
          <p:nvPr/>
        </p:nvSpPr>
        <p:spPr>
          <a:xfrm>
            <a:off x="4517136" y="4407408"/>
            <a:ext cx="3136392" cy="941832"/>
          </a:xfrm>
          <a:prstGeom prst="rect">
            <a:avLst/>
          </a:prstGeom>
          <a:noFill/>
          <a:ln/>
        </p:spPr>
        <p:txBody>
          <a:bodyPr wrap="square" lIns="0" tIns="0" rIns="0" bIns="0" rtlCol="0" anchor="ctr"/>
          <a:lstStyle/>
          <a:p>
            <a:pPr algn="l" indent="0" marL="0">
              <a:buNone/>
            </a:pPr>
            <a:r>
              <a:rPr lang="en-US" sz="1310" dirty="0">
                <a:solidFill>
                  <a:srgbClr val="5B6169"/>
                </a:solidFill>
                <a:latin typeface="Arial" pitchFamily="34" charset="0"/>
                <a:ea typeface="Arial" pitchFamily="34" charset="-122"/>
                <a:cs typeface="Arial" pitchFamily="34" charset="-120"/>
              </a:rPr>
              <a:t>OEM-authorized recovery path. Anti-rollback/security floor may prevent downgrade.</a:t>
            </a:r>
            <a:endParaRPr lang="en-US" sz="1310" dirty="0"/>
          </a:p>
        </p:txBody>
      </p:sp>
      <p:sp>
        <p:nvSpPr>
          <p:cNvPr id="36" name="Shape 34"/>
          <p:cNvSpPr/>
          <p:nvPr/>
        </p:nvSpPr>
        <p:spPr>
          <a:xfrm>
            <a:off x="8165592" y="3657600"/>
            <a:ext cx="3429000" cy="1801368"/>
          </a:xfrm>
          <a:prstGeom prst="rect">
            <a:avLst>
              <a:gd name="adj" fmla="val 50761"/>
            </a:avLst>
          </a:prstGeom>
          <a:solidFill>
            <a:srgbClr val="F3F4F6"/>
          </a:solidFill>
          <a:ln w="10160">
            <a:solidFill>
              <a:srgbClr val="F3F4F6"/>
            </a:solidFill>
            <a:prstDash val="solid"/>
          </a:ln>
        </p:spPr>
      </p:sp>
      <p:sp>
        <p:nvSpPr>
          <p:cNvPr id="37" name="Text 35"/>
          <p:cNvSpPr/>
          <p:nvPr/>
        </p:nvSpPr>
        <p:spPr>
          <a:xfrm>
            <a:off x="8311896" y="3767328"/>
            <a:ext cx="3136392" cy="548640"/>
          </a:xfrm>
          <a:prstGeom prst="rect">
            <a:avLst/>
          </a:prstGeom>
          <a:noFill/>
          <a:ln/>
        </p:spPr>
        <p:txBody>
          <a:bodyPr wrap="square" lIns="0" tIns="0" rIns="0" bIns="0" rtlCol="0" anchor="ctr"/>
          <a:lstStyle/>
          <a:p>
            <a:pPr algn="l" indent="0" marL="0">
              <a:buNone/>
            </a:pPr>
            <a:r>
              <a:rPr lang="en-US" sz="1800" b="1" dirty="0">
                <a:solidFill>
                  <a:srgbClr val="18191D"/>
                </a:solidFill>
                <a:latin typeface="Arial" pitchFamily="34" charset="0"/>
                <a:ea typeface="Arial" pitchFamily="34" charset="-122"/>
                <a:cs typeface="Arial" pitchFamily="34" charset="-120"/>
              </a:rPr>
              <a:t>Database / index</a:t>
            </a:r>
            <a:endParaRPr lang="en-US" sz="1800" dirty="0"/>
          </a:p>
        </p:txBody>
      </p:sp>
      <p:sp>
        <p:nvSpPr>
          <p:cNvPr id="38" name="Text 36"/>
          <p:cNvSpPr/>
          <p:nvPr/>
        </p:nvSpPr>
        <p:spPr>
          <a:xfrm>
            <a:off x="8311896" y="4407408"/>
            <a:ext cx="3136392" cy="941832"/>
          </a:xfrm>
          <a:prstGeom prst="rect">
            <a:avLst/>
          </a:prstGeom>
          <a:noFill/>
          <a:ln/>
        </p:spPr>
        <p:txBody>
          <a:bodyPr wrap="square" lIns="0" tIns="0" rIns="0" bIns="0" rtlCol="0" anchor="ctr"/>
          <a:lstStyle/>
          <a:p>
            <a:pPr algn="l" indent="0" marL="0">
              <a:buNone/>
            </a:pPr>
            <a:r>
              <a:rPr lang="en-US" sz="1310" dirty="0">
                <a:solidFill>
                  <a:srgbClr val="5B6169"/>
                </a:solidFill>
                <a:latin typeface="Arial" pitchFamily="34" charset="0"/>
                <a:ea typeface="Arial" pitchFamily="34" charset="-122"/>
                <a:cs typeface="Arial" pitchFamily="34" charset="-120"/>
              </a:rPr>
              <a:t>Expand-contract or tested restore. Schema rollback is not solved by booting slot A.</a:t>
            </a:r>
            <a:endParaRPr lang="en-US" sz="1310" dirty="0"/>
          </a:p>
        </p:txBody>
      </p:sp>
      <p:sp>
        <p:nvSpPr>
          <p:cNvPr id="39" name="Shape 37"/>
          <p:cNvSpPr/>
          <p:nvPr/>
        </p:nvSpPr>
        <p:spPr>
          <a:xfrm>
            <a:off x="475488" y="5843016"/>
            <a:ext cx="11228832" cy="457200"/>
          </a:xfrm>
          <a:prstGeom prst="rect">
            <a:avLst/>
          </a:prstGeom>
          <a:solidFill>
            <a:srgbClr val="FCECEF"/>
          </a:solidFill>
          <a:ln w="10160">
            <a:solidFill>
              <a:srgbClr val="FCECEF"/>
            </a:solidFill>
            <a:prstDash val="solid"/>
          </a:ln>
        </p:spPr>
      </p:sp>
      <p:sp>
        <p:nvSpPr>
          <p:cNvPr id="40" name="Text 38"/>
          <p:cNvSpPr/>
          <p:nvPr/>
        </p:nvSpPr>
        <p:spPr>
          <a:xfrm>
            <a:off x="621792" y="5893308"/>
            <a:ext cx="10936224" cy="347472"/>
          </a:xfrm>
          <a:prstGeom prst="rect">
            <a:avLst/>
          </a:prstGeom>
          <a:noFill/>
          <a:ln/>
        </p:spPr>
        <p:txBody>
          <a:bodyPr wrap="square" lIns="0" tIns="0" rIns="0" bIns="0" rtlCol="0" anchor="ctr"/>
          <a:lstStyle/>
          <a:p>
            <a:pPr algn="l" indent="0" marL="0">
              <a:buNone/>
            </a:pPr>
            <a:r>
              <a:rPr lang="en-US" sz="1300" b="1" dirty="0">
                <a:solidFill>
                  <a:srgbClr val="E31837"/>
                </a:solidFill>
                <a:latin typeface="Arial" pitchFamily="34" charset="0"/>
                <a:ea typeface="Arial" pitchFamily="34" charset="-122"/>
                <a:cs typeface="Arial" pitchFamily="34" charset="-120"/>
              </a:rPr>
              <a:t>Never auto-revert to a revoked vulnerable version. A failed update can require recovery or maintenance—not silent downgrade.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E31837"/>
          </a:solidFill>
          <a:ln w="10160">
            <a:solidFill>
              <a:srgbClr val="E31837"/>
            </a:solidFill>
            <a:prstDash val="solid"/>
          </a:ln>
        </p:spPr>
      </p:sp>
      <p:sp>
        <p:nvSpPr>
          <p:cNvPr id="3" name="Text 1"/>
          <p:cNvSpPr/>
          <p:nvPr/>
        </p:nvSpPr>
        <p:spPr>
          <a:xfrm>
            <a:off x="457200" y="228600"/>
            <a:ext cx="1645920" cy="228600"/>
          </a:xfrm>
          <a:prstGeom prst="rect">
            <a:avLst/>
          </a:prstGeom>
          <a:noFill/>
          <a:ln/>
        </p:spPr>
        <p:txBody>
          <a:bodyPr wrap="square" lIns="0" tIns="0" rIns="0" bIns="0" rtlCol="0" anchor="ctr"/>
          <a:lstStyle/>
          <a:p>
            <a:pPr algn="l" indent="0" marL="0">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4" name="Text 2"/>
          <p:cNvSpPr/>
          <p:nvPr/>
        </p:nvSpPr>
        <p:spPr>
          <a:xfrm>
            <a:off x="1965960" y="256032"/>
            <a:ext cx="9144000" cy="182880"/>
          </a:xfrm>
          <a:prstGeom prst="rect">
            <a:avLst/>
          </a:prstGeom>
          <a:noFill/>
          <a:ln/>
        </p:spPr>
        <p:txBody>
          <a:bodyPr wrap="square" lIns="0" tIns="0" rIns="0" bIns="0" rtlCol="0" anchor="ctr"/>
          <a:lstStyle/>
          <a:p>
            <a:pPr algn="l" indent="0" marL="0">
              <a:buNone/>
            </a:pPr>
            <a:r>
              <a:rPr lang="en-US" sz="1050" b="1" dirty="0">
                <a:solidFill>
                  <a:srgbClr val="5B6169"/>
                </a:solidFill>
                <a:latin typeface="Arial" pitchFamily="34" charset="0"/>
                <a:ea typeface="Arial" pitchFamily="34" charset="-122"/>
                <a:cs typeface="Arial" pitchFamily="34" charset="-120"/>
              </a:rPr>
              <a:t>ATMOS  /  A16 / CONTROL CENTER + SUPPORT</a:t>
            </a:r>
            <a:endParaRPr lang="en-US" sz="1050" dirty="0"/>
          </a:p>
        </p:txBody>
      </p:sp>
      <p:sp>
        <p:nvSpPr>
          <p:cNvPr id="5" name="Text 3"/>
          <p:cNvSpPr/>
          <p:nvPr/>
        </p:nvSpPr>
        <p:spPr>
          <a:xfrm>
            <a:off x="475488" y="758952"/>
            <a:ext cx="11201400" cy="493776"/>
          </a:xfrm>
          <a:prstGeom prst="rect">
            <a:avLst/>
          </a:prstGeom>
          <a:noFill/>
          <a:ln/>
        </p:spPr>
        <p:txBody>
          <a:bodyPr wrap="square" lIns="0" tIns="0" rIns="0" bIns="0" rtlCol="0" anchor="ctr"/>
          <a:lstStyle/>
          <a:p>
            <a:pPr algn="l" indent="0" marL="0">
              <a:buNone/>
            </a:pPr>
            <a:r>
              <a:rPr lang="en-US" sz="2750" b="1" dirty="0">
                <a:solidFill>
                  <a:srgbClr val="18191D"/>
                </a:solidFill>
                <a:latin typeface="Arial" pitchFamily="34" charset="0"/>
                <a:ea typeface="Arial" pitchFamily="34" charset="-122"/>
                <a:cs typeface="Arial" pitchFamily="34" charset="-120"/>
              </a:rPr>
              <a:t>Operate locally. Escalate through one controlled support route.</a:t>
            </a:r>
            <a:endParaRPr lang="en-US" sz="2750" dirty="0"/>
          </a:p>
        </p:txBody>
      </p:sp>
      <p:sp>
        <p:nvSpPr>
          <p:cNvPr id="6" name="Text 4"/>
          <p:cNvSpPr/>
          <p:nvPr/>
        </p:nvSpPr>
        <p:spPr>
          <a:xfrm>
            <a:off x="502920" y="1298448"/>
            <a:ext cx="11064240" cy="411480"/>
          </a:xfrm>
          <a:prstGeom prst="rect">
            <a:avLst/>
          </a:prstGeom>
          <a:noFill/>
          <a:ln/>
        </p:spPr>
        <p:txBody>
          <a:bodyPr wrap="square" lIns="0" tIns="0" rIns="0" bIns="0" rtlCol="0" anchor="ctr"/>
          <a:lstStyle/>
          <a:p>
            <a:pPr algn="l" indent="0" marL="0">
              <a:buNone/>
            </a:pPr>
            <a:r>
              <a:rPr lang="en-US" sz="1350" dirty="0">
                <a:solidFill>
                  <a:srgbClr val="5B6169"/>
                </a:solidFill>
                <a:latin typeface="Arial" pitchFamily="34" charset="0"/>
                <a:ea typeface="Arial" pitchFamily="34" charset="-122"/>
                <a:cs typeface="Arial" pitchFamily="34" charset="-120"/>
              </a:rPr>
              <a:t>Separate administrative configuration, health telemetry and customer content throughout the support workflow.</a:t>
            </a:r>
            <a:endParaRPr lang="en-US" sz="1350" dirty="0"/>
          </a:p>
        </p:txBody>
      </p:sp>
      <p:sp>
        <p:nvSpPr>
          <p:cNvPr id="7" name="Shape 5"/>
          <p:cNvSpPr/>
          <p:nvPr/>
        </p:nvSpPr>
        <p:spPr>
          <a:xfrm>
            <a:off x="484632" y="6464808"/>
            <a:ext cx="11237976" cy="0"/>
          </a:xfrm>
          <a:prstGeom prst="line">
            <a:avLst/>
          </a:prstGeom>
          <a:noFill/>
          <a:ln w="7620">
            <a:solidFill>
              <a:srgbClr val="D9DDE3"/>
            </a:solidFill>
            <a:prstDash val="solid"/>
            <a:headEnd type="none"/>
            <a:tailEnd type="none"/>
          </a:ln>
        </p:spPr>
      </p:sp>
      <p:sp>
        <p:nvSpPr>
          <p:cNvPr id="8" name="Text 6"/>
          <p:cNvSpPr/>
          <p:nvPr/>
        </p:nvSpPr>
        <p:spPr>
          <a:xfrm>
            <a:off x="512064" y="6547104"/>
            <a:ext cx="9418320" cy="164592"/>
          </a:xfrm>
          <a:prstGeom prst="rect">
            <a:avLst/>
          </a:prstGeom>
          <a:noFill/>
          <a:ln/>
        </p:spPr>
        <p:txBody>
          <a:bodyPr wrap="square" lIns="0" tIns="0" rIns="0" bIns="0" rtlCol="0" anchor="ctr"/>
          <a:lstStyle/>
          <a:p>
            <a:pPr algn="l" indent="0" marL="0">
              <a:buNone/>
            </a:pPr>
            <a:r>
              <a:rPr lang="en-US" sz="850" dirty="0">
                <a:solidFill>
                  <a:srgbClr val="5B6169"/>
                </a:solidFill>
                <a:latin typeface="Arial" pitchFamily="34" charset="0"/>
                <a:ea typeface="Arial" pitchFamily="34" charset="-122"/>
                <a:cs typeface="Arial" pitchFamily="34" charset="-120"/>
              </a:rPr>
              <a:t>TECHNICAL APPENDIX TO V3  •  6 OCT 2026  •  PROPOSED DESIGN / QUALIFICATION REQUIRED</a:t>
            </a:r>
            <a:endParaRPr lang="en-US" sz="850" dirty="0"/>
          </a:p>
        </p:txBody>
      </p:sp>
      <p:sp>
        <p:nvSpPr>
          <p:cNvPr id="9" name="Text 7"/>
          <p:cNvSpPr/>
          <p:nvPr/>
        </p:nvSpPr>
        <p:spPr>
          <a:xfrm>
            <a:off x="11219688" y="6519672"/>
            <a:ext cx="457200" cy="219456"/>
          </a:xfrm>
          <a:prstGeom prst="rect">
            <a:avLst/>
          </a:prstGeom>
          <a:noFill/>
          <a:ln/>
        </p:spPr>
        <p:txBody>
          <a:bodyPr wrap="square" lIns="0" tIns="0" rIns="0" bIns="0" rtlCol="0" anchor="ctr"/>
          <a:lstStyle/>
          <a:p>
            <a:pPr algn="r" indent="0" marL="0">
              <a:buNone/>
            </a:pPr>
            <a:r>
              <a:rPr lang="en-US" sz="1000" b="1" dirty="0">
                <a:solidFill>
                  <a:srgbClr val="E31837"/>
                </a:solidFill>
                <a:latin typeface="Arial" pitchFamily="34" charset="0"/>
                <a:ea typeface="Arial" pitchFamily="34" charset="-122"/>
                <a:cs typeface="Arial" pitchFamily="34" charset="-120"/>
              </a:rPr>
              <a:t>17</a:t>
            </a:r>
            <a:endParaRPr lang="en-US" sz="1000" dirty="0"/>
          </a:p>
        </p:txBody>
      </p:sp>
      <p:sp>
        <p:nvSpPr>
          <p:cNvPr id="10" name="Text 8">
            <a:hlinkClick r:id="rId1" tooltip=""/>
          </p:cNvPr>
          <p:cNvSpPr/>
          <p:nvPr/>
        </p:nvSpPr>
        <p:spPr>
          <a:xfrm>
            <a:off x="9875520" y="237744"/>
            <a:ext cx="1828800" cy="219456"/>
          </a:xfrm>
          <a:prstGeom prst="rect">
            <a:avLst/>
          </a:prstGeom>
          <a:noFill/>
          <a:ln/>
        </p:spPr>
        <p:txBody>
          <a:bodyPr wrap="square" lIns="0" tIns="0" rIns="0" bIns="0" rtlCol="0" anchor="ctr"/>
          <a:lstStyle/>
          <a:p>
            <a:pPr algn="r" indent="0" marL="0">
              <a:buNone/>
            </a:pPr>
            <a:r>
              <a:rPr lang="en-US" sz="1000"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technical notes</a:t>
            </a:r>
            <a:endParaRPr lang="en-US" sz="1000" dirty="0"/>
          </a:p>
        </p:txBody>
      </p:sp>
      <p:sp>
        <p:nvSpPr>
          <p:cNvPr id="11" name="Shape 9"/>
          <p:cNvSpPr/>
          <p:nvPr/>
        </p:nvSpPr>
        <p:spPr>
          <a:xfrm>
            <a:off x="594360" y="1965960"/>
            <a:ext cx="3666744" cy="3566160"/>
          </a:xfrm>
          <a:prstGeom prst="rect">
            <a:avLst>
              <a:gd name="adj" fmla="val 25641"/>
            </a:avLst>
          </a:prstGeom>
          <a:solidFill>
            <a:srgbClr val="18191D"/>
          </a:solidFill>
          <a:ln w="10160">
            <a:solidFill>
              <a:srgbClr val="18191D"/>
            </a:solidFill>
            <a:prstDash val="solid"/>
          </a:ln>
        </p:spPr>
      </p:sp>
      <p:sp>
        <p:nvSpPr>
          <p:cNvPr id="12" name="Text 10"/>
          <p:cNvSpPr/>
          <p:nvPr/>
        </p:nvSpPr>
        <p:spPr>
          <a:xfrm>
            <a:off x="740664" y="2075688"/>
            <a:ext cx="3374136" cy="548640"/>
          </a:xfrm>
          <a:prstGeom prst="rect">
            <a:avLst/>
          </a:prstGeom>
          <a:noFill/>
          <a:ln/>
        </p:spPr>
        <p:txBody>
          <a:bodyPr wrap="square" lIns="0" tIns="0" rIns="0" bIns="0" rtlCol="0" anchor="ctr"/>
          <a:lstStyle/>
          <a:p>
            <a:pPr algn="l" indent="0" marL="0">
              <a:buNone/>
            </a:pPr>
            <a:r>
              <a:rPr lang="en-US" sz="2200" b="1" dirty="0">
                <a:solidFill>
                  <a:srgbClr val="FFFFFF"/>
                </a:solidFill>
                <a:latin typeface="Arial" pitchFamily="34" charset="0"/>
                <a:ea typeface="Arial" pitchFamily="34" charset="-122"/>
                <a:cs typeface="Arial" pitchFamily="34" charset="-120"/>
              </a:rPr>
              <a:t>Local Control Center</a:t>
            </a:r>
            <a:endParaRPr lang="en-US" sz="2200" dirty="0"/>
          </a:p>
        </p:txBody>
      </p:sp>
      <p:sp>
        <p:nvSpPr>
          <p:cNvPr id="13" name="Text 11"/>
          <p:cNvSpPr/>
          <p:nvPr/>
        </p:nvSpPr>
        <p:spPr>
          <a:xfrm>
            <a:off x="740664" y="2715768"/>
            <a:ext cx="3374136" cy="2706624"/>
          </a:xfrm>
          <a:prstGeom prst="rect">
            <a:avLst/>
          </a:prstGeom>
          <a:noFill/>
          <a:ln/>
        </p:spPr>
        <p:txBody>
          <a:bodyPr wrap="square" lIns="0" tIns="0" rIns="0" bIns="0" rtlCol="0" anchor="ctr"/>
          <a:lstStyle/>
          <a:p>
            <a:pPr algn="l" indent="0" marL="0">
              <a:buNone/>
            </a:pPr>
            <a:r>
              <a:rPr lang="en-US" sz="1310" dirty="0">
                <a:solidFill>
                  <a:srgbClr val="FFFFFF"/>
                </a:solidFill>
                <a:latin typeface="Arial" pitchFamily="34" charset="0"/>
                <a:ea typeface="Arial" pitchFamily="34" charset="-122"/>
                <a:cs typeface="Arial" pitchFamily="34" charset="-120"/>
              </a:rPr>
              <a:t>Fleet / BOM / release / device health</a:t>
            </a:r>
            <a:endParaRPr lang="en-US" sz="1310" dirty="0"/>
          </a:p>
          <a:p>
            <a:pPr algn="l" indent="0" marL="0">
              <a:buNone/>
            </a:pPr>
            <a:r>
              <a:rPr lang="en-US" sz="1310" dirty="0">
                <a:solidFill>
                  <a:srgbClr val="FFFFFF"/>
                </a:solidFill>
                <a:latin typeface="Arial" pitchFamily="34" charset="0"/>
                <a:ea typeface="Arial" pitchFamily="34" charset="-122"/>
                <a:cs typeface="Arial" pitchFamily="34" charset="-120"/>
              </a:rPr>
              <a:t>Models / collections / queues / SLO</a:t>
            </a:r>
            <a:endParaRPr lang="en-US" sz="1310" dirty="0"/>
          </a:p>
          <a:p>
            <a:pPr algn="l" indent="0" marL="0">
              <a:buNone/>
            </a:pPr>
            <a:r>
              <a:rPr lang="en-US" sz="1310" dirty="0">
                <a:solidFill>
                  <a:srgbClr val="FFFFFF"/>
                </a:solidFill>
                <a:latin typeface="Arial" pitchFamily="34" charset="0"/>
                <a:ea typeface="Arial" pitchFamily="34" charset="-122"/>
                <a:cs typeface="Arial" pitchFamily="34" charset="-120"/>
              </a:rPr>
              <a:t>Tenants / quotas / denial reasons</a:t>
            </a:r>
            <a:endParaRPr lang="en-US" sz="1310" dirty="0"/>
          </a:p>
          <a:p>
            <a:pPr algn="l" indent="0" marL="0">
              <a:buNone/>
            </a:pPr>
            <a:r>
              <a:rPr lang="en-US" sz="1310" dirty="0">
                <a:solidFill>
                  <a:srgbClr val="FFFFFF"/>
                </a:solidFill>
                <a:latin typeface="Arial" pitchFamily="34" charset="0"/>
                <a:ea typeface="Arial" pitchFamily="34" charset="-122"/>
                <a:cs typeface="Arial" pitchFamily="34" charset="-120"/>
              </a:rPr>
              <a:t>Updates / canaries / drift / rollback</a:t>
            </a:r>
            <a:endParaRPr lang="en-US" sz="1310" dirty="0"/>
          </a:p>
          <a:p>
            <a:pPr algn="l" indent="0" marL="0">
              <a:buNone/>
            </a:pPr>
            <a:r>
              <a:rPr lang="en-US" sz="1310" dirty="0">
                <a:solidFill>
                  <a:srgbClr val="FFFFFF"/>
                </a:solidFill>
                <a:latin typeface="Arial" pitchFamily="34" charset="0"/>
                <a:ea typeface="Arial" pitchFamily="34" charset="-122"/>
                <a:cs typeface="Arial" pitchFamily="34" charset="-120"/>
              </a:rPr>
              <a:t>Backup / restore / local audit</a:t>
            </a:r>
            <a:endParaRPr lang="en-US" sz="1310" dirty="0"/>
          </a:p>
        </p:txBody>
      </p:sp>
      <p:sp>
        <p:nvSpPr>
          <p:cNvPr id="14" name="Shape 12"/>
          <p:cNvSpPr/>
          <p:nvPr/>
        </p:nvSpPr>
        <p:spPr>
          <a:xfrm>
            <a:off x="548640" y="1828800"/>
            <a:ext cx="3840480" cy="3739896"/>
          </a:xfrm>
          <a:prstGeom prst="rect">
            <a:avLst/>
          </a:prstGeom>
          <a:solidFill>
            <a:srgbClr val="FFFFFF"/>
          </a:solidFill>
          <a:ln w="10160">
            <a:solidFill>
              <a:srgbClr val="FFFFFF"/>
            </a:solidFill>
            <a:prstDash val="solid"/>
          </a:ln>
        </p:spPr>
      </p:sp>
      <p:sp>
        <p:nvSpPr>
          <p:cNvPr id="15" name="Shape 13"/>
          <p:cNvSpPr/>
          <p:nvPr/>
        </p:nvSpPr>
        <p:spPr>
          <a:xfrm>
            <a:off x="594360" y="1965960"/>
            <a:ext cx="3666744" cy="3566160"/>
          </a:xfrm>
          <a:prstGeom prst="rect">
            <a:avLst>
              <a:gd name="adj" fmla="val 25641"/>
            </a:avLst>
          </a:prstGeom>
          <a:solidFill>
            <a:srgbClr val="18191D"/>
          </a:solidFill>
          <a:ln w="10160">
            <a:solidFill>
              <a:srgbClr val="18191D"/>
            </a:solidFill>
            <a:prstDash val="solid"/>
          </a:ln>
        </p:spPr>
      </p:sp>
      <p:sp>
        <p:nvSpPr>
          <p:cNvPr id="16" name="Text 14"/>
          <p:cNvSpPr/>
          <p:nvPr/>
        </p:nvSpPr>
        <p:spPr>
          <a:xfrm>
            <a:off x="740664" y="2075688"/>
            <a:ext cx="3374136" cy="548640"/>
          </a:xfrm>
          <a:prstGeom prst="rect">
            <a:avLst/>
          </a:prstGeom>
          <a:noFill/>
          <a:ln/>
        </p:spPr>
        <p:txBody>
          <a:bodyPr wrap="square" lIns="0" tIns="0" rIns="0" bIns="0" rtlCol="0" anchor="ctr"/>
          <a:lstStyle/>
          <a:p>
            <a:pPr algn="l" indent="0" marL="0">
              <a:buNone/>
            </a:pPr>
            <a:r>
              <a:rPr lang="en-US" sz="2200" b="1" dirty="0">
                <a:solidFill>
                  <a:srgbClr val="FFFFFF"/>
                </a:solidFill>
                <a:latin typeface="Arial" pitchFamily="34" charset="0"/>
                <a:ea typeface="Arial" pitchFamily="34" charset="-122"/>
                <a:cs typeface="Arial" pitchFamily="34" charset="-120"/>
              </a:rPr>
              <a:t>Local Control Center</a:t>
            </a:r>
            <a:endParaRPr lang="en-US" sz="2200" dirty="0"/>
          </a:p>
        </p:txBody>
      </p:sp>
      <p:sp>
        <p:nvSpPr>
          <p:cNvPr id="17" name="Text 15"/>
          <p:cNvSpPr/>
          <p:nvPr/>
        </p:nvSpPr>
        <p:spPr>
          <a:xfrm>
            <a:off x="740664" y="2715768"/>
            <a:ext cx="3374136" cy="2706624"/>
          </a:xfrm>
          <a:prstGeom prst="rect">
            <a:avLst/>
          </a:prstGeom>
          <a:noFill/>
          <a:ln/>
        </p:spPr>
        <p:txBody>
          <a:bodyPr wrap="square" lIns="0" tIns="0" rIns="0" bIns="0" rtlCol="0" anchor="ctr"/>
          <a:lstStyle/>
          <a:p>
            <a:pPr algn="l" indent="0" marL="0">
              <a:buNone/>
            </a:pPr>
            <a:r>
              <a:rPr lang="en-US" sz="1310" dirty="0">
                <a:solidFill>
                  <a:srgbClr val="FFFFFF"/>
                </a:solidFill>
                <a:latin typeface="Arial" pitchFamily="34" charset="0"/>
                <a:ea typeface="Arial" pitchFamily="34" charset="-122"/>
                <a:cs typeface="Arial" pitchFamily="34" charset="-120"/>
              </a:rPr>
              <a:t>Fleet / BOM / release / device health</a:t>
            </a:r>
            <a:endParaRPr lang="en-US" sz="1310" dirty="0"/>
          </a:p>
          <a:p>
            <a:pPr algn="l" indent="0" marL="0">
              <a:buNone/>
            </a:pPr>
            <a:r>
              <a:rPr lang="en-US" sz="1310" dirty="0">
                <a:solidFill>
                  <a:srgbClr val="FFFFFF"/>
                </a:solidFill>
                <a:latin typeface="Arial" pitchFamily="34" charset="0"/>
                <a:ea typeface="Arial" pitchFamily="34" charset="-122"/>
                <a:cs typeface="Arial" pitchFamily="34" charset="-120"/>
              </a:rPr>
              <a:t>Models / collections / queues / SLO</a:t>
            </a:r>
            <a:endParaRPr lang="en-US" sz="1310" dirty="0"/>
          </a:p>
          <a:p>
            <a:pPr algn="l" indent="0" marL="0">
              <a:buNone/>
            </a:pPr>
            <a:r>
              <a:rPr lang="en-US" sz="1310" dirty="0">
                <a:solidFill>
                  <a:srgbClr val="FFFFFF"/>
                </a:solidFill>
                <a:latin typeface="Arial" pitchFamily="34" charset="0"/>
                <a:ea typeface="Arial" pitchFamily="34" charset="-122"/>
                <a:cs typeface="Arial" pitchFamily="34" charset="-120"/>
              </a:rPr>
              <a:t>Tenants / quotas / denial reasons</a:t>
            </a:r>
            <a:endParaRPr lang="en-US" sz="1310" dirty="0"/>
          </a:p>
          <a:p>
            <a:pPr algn="l" indent="0" marL="0">
              <a:buNone/>
            </a:pPr>
            <a:r>
              <a:rPr lang="en-US" sz="1310" dirty="0">
                <a:solidFill>
                  <a:srgbClr val="FFFFFF"/>
                </a:solidFill>
                <a:latin typeface="Arial" pitchFamily="34" charset="0"/>
                <a:ea typeface="Arial" pitchFamily="34" charset="-122"/>
                <a:cs typeface="Arial" pitchFamily="34" charset="-120"/>
              </a:rPr>
              <a:t>Updates / canaries / drift / rollback</a:t>
            </a:r>
            <a:endParaRPr lang="en-US" sz="1310" dirty="0"/>
          </a:p>
          <a:p>
            <a:pPr algn="l" indent="0" marL="0">
              <a:buNone/>
            </a:pPr>
            <a:r>
              <a:rPr lang="en-US" sz="1310" dirty="0">
                <a:solidFill>
                  <a:srgbClr val="FFFFFF"/>
                </a:solidFill>
                <a:latin typeface="Arial" pitchFamily="34" charset="0"/>
                <a:ea typeface="Arial" pitchFamily="34" charset="-122"/>
                <a:cs typeface="Arial" pitchFamily="34" charset="-120"/>
              </a:rPr>
              <a:t>Backup / restore / local audit</a:t>
            </a:r>
            <a:endParaRPr lang="en-US" sz="1310" dirty="0"/>
          </a:p>
        </p:txBody>
      </p:sp>
      <p:sp>
        <p:nvSpPr>
          <p:cNvPr id="18" name="Shape 16"/>
          <p:cNvSpPr/>
          <p:nvPr/>
        </p:nvSpPr>
        <p:spPr>
          <a:xfrm>
            <a:off x="4681728" y="2048256"/>
            <a:ext cx="2103120" cy="1188720"/>
          </a:xfrm>
          <a:prstGeom prst="rect">
            <a:avLst/>
          </a:prstGeom>
          <a:solidFill>
            <a:srgbClr val="F3F4F6"/>
          </a:solidFill>
          <a:ln w="10160">
            <a:solidFill>
              <a:srgbClr val="F3F4F6"/>
            </a:solidFill>
            <a:prstDash val="solid"/>
          </a:ln>
        </p:spPr>
      </p:sp>
      <p:sp>
        <p:nvSpPr>
          <p:cNvPr id="19" name="Text 17"/>
          <p:cNvSpPr/>
          <p:nvPr/>
        </p:nvSpPr>
        <p:spPr>
          <a:xfrm>
            <a:off x="4791456" y="2121408"/>
            <a:ext cx="1883664"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1  Collect</a:t>
            </a:r>
            <a:endParaRPr lang="en-US" sz="1450" dirty="0"/>
          </a:p>
        </p:txBody>
      </p:sp>
      <p:sp>
        <p:nvSpPr>
          <p:cNvPr id="20" name="Text 18"/>
          <p:cNvSpPr/>
          <p:nvPr/>
        </p:nvSpPr>
        <p:spPr>
          <a:xfrm>
            <a:off x="4791456" y="2487168"/>
            <a:ext cx="1883664" cy="685800"/>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Redacted metadata</a:t>
            </a:r>
            <a:endParaRPr lang="en-US" sz="1250" dirty="0"/>
          </a:p>
          <a:p>
            <a:pPr algn="l" indent="0" marL="0">
              <a:buNone/>
            </a:pPr>
            <a:r>
              <a:rPr lang="en-US" sz="1250" dirty="0">
                <a:solidFill>
                  <a:srgbClr val="5B6169"/>
                </a:solidFill>
                <a:latin typeface="Arial" pitchFamily="34" charset="0"/>
                <a:ea typeface="Arial" pitchFamily="34" charset="-122"/>
                <a:cs typeface="Arial" pitchFamily="34" charset="-120"/>
              </a:rPr>
              <a:t>No content by default</a:t>
            </a:r>
            <a:endParaRPr lang="en-US" sz="1250" dirty="0"/>
          </a:p>
        </p:txBody>
      </p:sp>
      <p:sp>
        <p:nvSpPr>
          <p:cNvPr id="21" name="Shape 19"/>
          <p:cNvSpPr/>
          <p:nvPr/>
        </p:nvSpPr>
        <p:spPr>
          <a:xfrm>
            <a:off x="6803136" y="2651760"/>
            <a:ext cx="164592" cy="0"/>
          </a:xfrm>
          <a:prstGeom prst="line">
            <a:avLst/>
          </a:prstGeom>
          <a:noFill/>
          <a:ln w="19050">
            <a:solidFill>
              <a:srgbClr val="E31837"/>
            </a:solidFill>
            <a:prstDash val="solid"/>
            <a:headEnd type="none"/>
            <a:tailEnd type="triangle"/>
          </a:ln>
        </p:spPr>
      </p:sp>
      <p:sp>
        <p:nvSpPr>
          <p:cNvPr id="22" name="Shape 20"/>
          <p:cNvSpPr/>
          <p:nvPr/>
        </p:nvSpPr>
        <p:spPr>
          <a:xfrm>
            <a:off x="6995160" y="2048256"/>
            <a:ext cx="2103120" cy="1188720"/>
          </a:xfrm>
          <a:prstGeom prst="rect">
            <a:avLst/>
          </a:prstGeom>
          <a:solidFill>
            <a:srgbClr val="F3F4F6"/>
          </a:solidFill>
          <a:ln w="10160">
            <a:solidFill>
              <a:srgbClr val="F3F4F6"/>
            </a:solidFill>
            <a:prstDash val="solid"/>
          </a:ln>
        </p:spPr>
      </p:sp>
      <p:sp>
        <p:nvSpPr>
          <p:cNvPr id="23" name="Text 21"/>
          <p:cNvSpPr/>
          <p:nvPr/>
        </p:nvSpPr>
        <p:spPr>
          <a:xfrm>
            <a:off x="7104888" y="2121408"/>
            <a:ext cx="1883664" cy="301752"/>
          </a:xfrm>
          <a:prstGeom prst="rect">
            <a:avLst/>
          </a:prstGeom>
          <a:noFill/>
          <a:ln/>
        </p:spPr>
        <p:txBody>
          <a:bodyPr wrap="square" lIns="0" tIns="0" rIns="0" bIns="0" rtlCol="0" anchor="ctr"/>
          <a:lstStyle/>
          <a:p>
            <a:pPr algn="l" indent="0" marL="0">
              <a:buNone/>
            </a:pPr>
            <a:r>
              <a:rPr lang="en-US" sz="1450" b="1" dirty="0">
                <a:solidFill>
                  <a:srgbClr val="18191D"/>
                </a:solidFill>
                <a:latin typeface="Arial" pitchFamily="34" charset="0"/>
                <a:ea typeface="Arial" pitchFamily="34" charset="-122"/>
                <a:cs typeface="Arial" pitchFamily="34" charset="-120"/>
              </a:rPr>
              <a:t>2  Approve</a:t>
            </a:r>
            <a:endParaRPr lang="en-US" sz="1450" dirty="0"/>
          </a:p>
        </p:txBody>
      </p:sp>
      <p:sp>
        <p:nvSpPr>
          <p:cNvPr id="24" name="Text 22"/>
          <p:cNvSpPr/>
          <p:nvPr/>
        </p:nvSpPr>
        <p:spPr>
          <a:xfrm>
            <a:off x="7104888" y="2487168"/>
            <a:ext cx="1883664" cy="685800"/>
          </a:xfrm>
          <a:prstGeom prst="rect">
            <a:avLst/>
          </a:prstGeom>
          <a:noFill/>
          <a:ln/>
        </p:spPr>
        <p:txBody>
          <a:bodyPr wrap="square" lIns="0" tIns="0" rIns="0" bIns="0" rtlCol="0" anchor="ctr"/>
          <a:lstStyle/>
          <a:p>
            <a:pPr algn="l" indent="0" marL="0">
              <a:buNone/>
            </a:pPr>
            <a:r>
              <a:rPr lang="en-US" sz="1250" dirty="0">
                <a:solidFill>
                  <a:srgbClr val="5B6169"/>
                </a:solidFill>
                <a:latin typeface="Arial" pitchFamily="34" charset="0"/>
                <a:ea typeface="Arial" pitchFamily="34" charset="-122"/>
                <a:cs typeface="Arial" pitchFamily="34" charset="-120"/>
              </a:rPr>
              <a:t>Preview / consent</a:t>
            </a:r>
            <a:endParaRPr lang="en-US" sz="1250" dirty="0"/>
          </a:p>
          <a:p>
            <a:pPr algn="l" indent="0" marL="0">
              <a:buNone/>
            </a:pPr>
            <a:r>
              <a:rPr lang="en-US" sz="1250" dirty="0">
                <a:solidFill>
                  <a:srgbClr val="5B6169"/>
                </a:solidFill>
                <a:latin typeface="Arial" pitchFamily="34" charset="0"/>
                <a:ea typeface="Arial" pitchFamily="34" charset="-122"/>
                <a:cs typeface="Arial" pitchFamily="34" charset="-120"/>
              </a:rPr>
              <a:t>Time-bounded access</a:t>
            </a:r>
            <a:endParaRPr lang="en-US" sz="1250" dirty="0"/>
          </a:p>
        </p:txBody>
      </p:sp>
      <p:sp>
        <p:nvSpPr>
          <p:cNvPr id="25" name="Shape 23"/>
          <p:cNvSpPr/>
          <p:nvPr/>
        </p:nvSpPr>
        <p:spPr>
          <a:xfrm>
            <a:off x="9116568" y="2651760"/>
            <a:ext cx="164592" cy="0"/>
          </a:xfrm>
          <a:prstGeom prst="line">
            <a:avLst/>
          </a:prstGeom>
          <a:noFill/>
          <a:ln w="19050">
            <a:solidFill>
              <a:srgbClr val="E31837"/>
            </a:solidFill>
            <a:prstDash val="solid"/>
            <a:headEnd type="none"/>
            <a:tailEnd type="triangle"/>
          </a:ln>
        </p:spPr>
      </p:sp>
      <p:sp>
        <p:nvSpPr>
          <p:cNvPr id="26" name="Shape 24"/>
          <p:cNvSpPr/>
          <p:nvPr/>
        </p:nvSpPr>
        <p:spPr>
          <a:xfrm>
            <a:off x="9308592" y="2048256"/>
            <a:ext cx="2103120" cy="1188720"/>
          </a:xfrm>
          <a:prstGeom prst="rect">
            <a:avLst/>
          </a:prstGeom>
          <a:solidFill>
            <a:srgbClr val="E31837"/>
          </a:solidFill>
          <a:ln w="10160">
            <a:solidFill>
              <a:srgbClr val="E31837"/>
            </a:solidFill>
            <a:prstDash val="solid"/>
          </a:ln>
        </p:spPr>
      </p:sp>
      <p:sp>
        <p:nvSpPr>
          <p:cNvPr id="27" name="Text 25"/>
          <p:cNvSpPr/>
          <p:nvPr/>
        </p:nvSpPr>
        <p:spPr>
          <a:xfrm>
            <a:off x="9418320" y="2121408"/>
            <a:ext cx="1883664" cy="301752"/>
          </a:xfrm>
          <a:prstGeom prst="rect">
            <a:avLst/>
          </a:prstGeom>
          <a:noFill/>
          <a:ln/>
        </p:spPr>
        <p:txBody>
          <a:bodyPr wrap="square" lIns="0" tIns="0" rIns="0" bIns="0" rtlCol="0" anchor="ctr"/>
          <a:lstStyle/>
          <a:p>
            <a:pPr algn="l" indent="0" marL="0">
              <a:buNone/>
            </a:pPr>
            <a:r>
              <a:rPr lang="en-US" sz="1450" b="1" dirty="0">
                <a:solidFill>
                  <a:srgbClr val="FFFFFF"/>
                </a:solidFill>
                <a:latin typeface="Arial" pitchFamily="34" charset="0"/>
                <a:ea typeface="Arial" pitchFamily="34" charset="-122"/>
                <a:cs typeface="Arial" pitchFamily="34" charset="-120"/>
              </a:rPr>
              <a:t>3  Resolve</a:t>
            </a:r>
            <a:endParaRPr lang="en-US" sz="1450" dirty="0"/>
          </a:p>
        </p:txBody>
      </p:sp>
      <p:sp>
        <p:nvSpPr>
          <p:cNvPr id="28" name="Text 26"/>
          <p:cNvSpPr/>
          <p:nvPr/>
        </p:nvSpPr>
        <p:spPr>
          <a:xfrm>
            <a:off x="9418320" y="2487168"/>
            <a:ext cx="1883664" cy="685800"/>
          </a:xfrm>
          <a:prstGeom prst="rect">
            <a:avLst/>
          </a:prstGeom>
          <a:noFill/>
          <a:ln/>
        </p:spPr>
        <p:txBody>
          <a:bodyPr wrap="square" lIns="0" tIns="0" rIns="0" bIns="0" rtlCol="0" anchor="ctr"/>
          <a:lstStyle/>
          <a:p>
            <a:pPr algn="l" indent="0" marL="0">
              <a:buNone/>
            </a:pPr>
            <a:r>
              <a:rPr lang="en-US" sz="1250" dirty="0">
                <a:solidFill>
                  <a:srgbClr val="FFFFFF"/>
                </a:solidFill>
                <a:latin typeface="Arial" pitchFamily="34" charset="0"/>
                <a:ea typeface="Arial" pitchFamily="34" charset="-122"/>
                <a:cs typeface="Arial" pitchFamily="34" charset="-120"/>
              </a:rPr>
              <a:t>SanDisk triage</a:t>
            </a:r>
            <a:endParaRPr lang="en-US" sz="1250" dirty="0"/>
          </a:p>
          <a:p>
            <a:pPr algn="l" indent="0" marL="0">
              <a:buNone/>
            </a:pPr>
            <a:r>
              <a:rPr lang="en-US" sz="1250" dirty="0">
                <a:solidFill>
                  <a:srgbClr val="FFFFFF"/>
                </a:solidFill>
                <a:latin typeface="Arial" pitchFamily="34" charset="0"/>
                <a:ea typeface="Arial" pitchFamily="34" charset="-122"/>
                <a:cs typeface="Arial" pitchFamily="34" charset="-120"/>
              </a:rPr>
              <a:t>OEM / NPU / PSIRT</a:t>
            </a:r>
            <a:endParaRPr lang="en-US" sz="1250" dirty="0"/>
          </a:p>
        </p:txBody>
      </p:sp>
      <p:sp>
        <p:nvSpPr>
          <p:cNvPr id="29" name="Shape 27"/>
          <p:cNvSpPr/>
          <p:nvPr/>
        </p:nvSpPr>
        <p:spPr>
          <a:xfrm>
            <a:off x="4681728" y="3685032"/>
            <a:ext cx="6729984" cy="1810512"/>
          </a:xfrm>
          <a:prstGeom prst="rect">
            <a:avLst>
              <a:gd name="adj" fmla="val 50505"/>
            </a:avLst>
          </a:prstGeom>
          <a:solidFill>
            <a:srgbClr val="FCECEF"/>
          </a:solidFill>
          <a:ln w="10160">
            <a:solidFill>
              <a:srgbClr val="FCECEF"/>
            </a:solidFill>
            <a:prstDash val="solid"/>
          </a:ln>
        </p:spPr>
      </p:sp>
      <p:sp>
        <p:nvSpPr>
          <p:cNvPr id="30" name="Text 28"/>
          <p:cNvSpPr/>
          <p:nvPr/>
        </p:nvSpPr>
        <p:spPr>
          <a:xfrm>
            <a:off x="4828032" y="3794760"/>
            <a:ext cx="6437376" cy="548640"/>
          </a:xfrm>
          <a:prstGeom prst="rect">
            <a:avLst/>
          </a:prstGeom>
          <a:noFill/>
          <a:ln/>
        </p:spPr>
        <p:txBody>
          <a:bodyPr wrap="square" lIns="0" tIns="0" rIns="0" bIns="0" rtlCol="0" anchor="ctr"/>
          <a:lstStyle/>
          <a:p>
            <a:pPr algn="l" indent="0" marL="0">
              <a:buNone/>
            </a:pPr>
            <a:r>
              <a:rPr lang="en-US" sz="1800" b="1" dirty="0">
                <a:solidFill>
                  <a:srgbClr val="E31837"/>
                </a:solidFill>
                <a:latin typeface="Arial" pitchFamily="34" charset="0"/>
                <a:ea typeface="Arial" pitchFamily="34" charset="-122"/>
                <a:cs typeface="Arial" pitchFamily="34" charset="-120"/>
              </a:rPr>
              <a:t>Failure policy is a product feature</a:t>
            </a:r>
            <a:endParaRPr lang="en-US" sz="1800" dirty="0"/>
          </a:p>
        </p:txBody>
      </p:sp>
      <p:sp>
        <p:nvSpPr>
          <p:cNvPr id="31" name="Text 29"/>
          <p:cNvSpPr/>
          <p:nvPr/>
        </p:nvSpPr>
        <p:spPr>
          <a:xfrm>
            <a:off x="4828032" y="4434840"/>
            <a:ext cx="6437376" cy="950976"/>
          </a:xfrm>
          <a:prstGeom prst="rect">
            <a:avLst/>
          </a:prstGeom>
          <a:noFill/>
          <a:ln/>
        </p:spPr>
        <p:txBody>
          <a:bodyPr wrap="square" lIns="0" tIns="0" rIns="0" bIns="0" rtlCol="0" anchor="ctr"/>
          <a:lstStyle/>
          <a:p>
            <a:pPr algn="l" indent="0" marL="0">
              <a:buNone/>
            </a:pPr>
            <a:r>
              <a:rPr lang="en-US" sz="1310" dirty="0">
                <a:solidFill>
                  <a:srgbClr val="5B6169"/>
                </a:solidFill>
                <a:latin typeface="Arial" pitchFamily="34" charset="0"/>
                <a:ea typeface="Arial" pitchFamily="34" charset="-122"/>
                <a:cs typeface="Arial" pitchFamily="34" charset="-120"/>
              </a:rPr>
              <a:t>Cloud repository down: installed service continues.</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Local quota/ACL authority unavailable: reject or use only approved bounded cached policy.</a:t>
            </a:r>
            <a:endParaRPr lang="en-US" sz="1310" dirty="0"/>
          </a:p>
          <a:p>
            <a:pPr algn="l" indent="0" marL="0">
              <a:buNone/>
            </a:pPr>
            <a:r>
              <a:rPr lang="en-US" sz="1310" dirty="0">
                <a:solidFill>
                  <a:srgbClr val="5B6169"/>
                </a:solidFill>
                <a:latin typeface="Arial" pitchFamily="34" charset="0"/>
                <a:ea typeface="Arial" pitchFamily="34" charset="-122"/>
                <a:cs typeface="Arial" pitchFamily="34" charset="-120"/>
              </a:rPr>
              <a:t>A device reset invalidates its model group until readiness is re-established.</a:t>
            </a:r>
            <a:endParaRPr lang="en-US" sz="1310" dirty="0"/>
          </a:p>
        </p:txBody>
      </p:sp>
      <p:sp>
        <p:nvSpPr>
          <p:cNvPr id="32" name="Shape 30"/>
          <p:cNvSpPr/>
          <p:nvPr/>
        </p:nvSpPr>
        <p:spPr>
          <a:xfrm>
            <a:off x="475488" y="5843016"/>
            <a:ext cx="11228832" cy="457200"/>
          </a:xfrm>
          <a:prstGeom prst="rect">
            <a:avLst/>
          </a:prstGeom>
          <a:solidFill>
            <a:srgbClr val="FCECEF"/>
          </a:solidFill>
          <a:ln w="10160">
            <a:solidFill>
              <a:srgbClr val="FCECEF"/>
            </a:solidFill>
            <a:prstDash val="solid"/>
          </a:ln>
        </p:spPr>
      </p:sp>
      <p:sp>
        <p:nvSpPr>
          <p:cNvPr id="33" name="Text 31"/>
          <p:cNvSpPr/>
          <p:nvPr/>
        </p:nvSpPr>
        <p:spPr>
          <a:xfrm>
            <a:off x="621792" y="5893308"/>
            <a:ext cx="10936224" cy="347472"/>
          </a:xfrm>
          <a:prstGeom prst="rect">
            <a:avLst/>
          </a:prstGeom>
          <a:noFill/>
          <a:ln/>
        </p:spPr>
        <p:txBody>
          <a:bodyPr wrap="square" lIns="0" tIns="0" rIns="0" bIns="0" rtlCol="0" anchor="ctr"/>
          <a:lstStyle/>
          <a:p>
            <a:pPr algn="l" indent="0" marL="0">
              <a:buNone/>
            </a:pPr>
            <a:r>
              <a:rPr lang="en-US" sz="1300" b="1" dirty="0">
                <a:solidFill>
                  <a:srgbClr val="E31837"/>
                </a:solidFill>
                <a:latin typeface="Arial" pitchFamily="34" charset="0"/>
                <a:ea typeface="Arial" pitchFamily="34" charset="-122"/>
                <a:cs typeface="Arial" pitchFamily="34" charset="-120"/>
              </a:rPr>
              <a:t>No mandatory reverse tunnel. Customer prompts, source documents, private weights and KV are excluded from support bundles by default.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E31837"/>
          </a:solidFill>
          <a:ln w="10160">
            <a:solidFill>
              <a:srgbClr val="E31837"/>
            </a:solidFill>
            <a:prstDash val="solid"/>
          </a:ln>
        </p:spPr>
      </p:sp>
      <p:sp>
        <p:nvSpPr>
          <p:cNvPr id="3" name="Text 1"/>
          <p:cNvSpPr/>
          <p:nvPr/>
        </p:nvSpPr>
        <p:spPr>
          <a:xfrm>
            <a:off x="457200" y="228600"/>
            <a:ext cx="1645920" cy="228600"/>
          </a:xfrm>
          <a:prstGeom prst="rect">
            <a:avLst/>
          </a:prstGeom>
          <a:noFill/>
          <a:ln/>
        </p:spPr>
        <p:txBody>
          <a:bodyPr wrap="square" lIns="0" tIns="0" rIns="0" bIns="0" rtlCol="0" anchor="ctr"/>
          <a:lstStyle/>
          <a:p>
            <a:pPr algn="l" indent="0" marL="0">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4" name="Text 2"/>
          <p:cNvSpPr/>
          <p:nvPr/>
        </p:nvSpPr>
        <p:spPr>
          <a:xfrm>
            <a:off x="1965960" y="256032"/>
            <a:ext cx="9144000" cy="182880"/>
          </a:xfrm>
          <a:prstGeom prst="rect">
            <a:avLst/>
          </a:prstGeom>
          <a:noFill/>
          <a:ln/>
        </p:spPr>
        <p:txBody>
          <a:bodyPr wrap="square" lIns="0" tIns="0" rIns="0" bIns="0" rtlCol="0" anchor="ctr"/>
          <a:lstStyle/>
          <a:p>
            <a:pPr algn="l" indent="0" marL="0">
              <a:buNone/>
            </a:pPr>
            <a:r>
              <a:rPr lang="en-US" sz="1050" b="1" dirty="0">
                <a:solidFill>
                  <a:srgbClr val="5B6169"/>
                </a:solidFill>
                <a:latin typeface="Arial" pitchFamily="34" charset="0"/>
                <a:ea typeface="Arial" pitchFamily="34" charset="-122"/>
                <a:cs typeface="Arial" pitchFamily="34" charset="-120"/>
              </a:rPr>
              <a:t>ATMOS  /  A17 / IMPLEMENTATION OWNERSHIP</a:t>
            </a:r>
            <a:endParaRPr lang="en-US" sz="1050" dirty="0"/>
          </a:p>
        </p:txBody>
      </p:sp>
      <p:sp>
        <p:nvSpPr>
          <p:cNvPr id="5" name="Text 3"/>
          <p:cNvSpPr/>
          <p:nvPr/>
        </p:nvSpPr>
        <p:spPr>
          <a:xfrm>
            <a:off x="475488" y="758952"/>
            <a:ext cx="11201400" cy="493776"/>
          </a:xfrm>
          <a:prstGeom prst="rect">
            <a:avLst/>
          </a:prstGeom>
          <a:noFill/>
          <a:ln/>
        </p:spPr>
        <p:txBody>
          <a:bodyPr wrap="square" lIns="0" tIns="0" rIns="0" bIns="0" rtlCol="0" anchor="ctr"/>
          <a:lstStyle/>
          <a:p>
            <a:pPr algn="l" indent="0" marL="0">
              <a:buNone/>
            </a:pPr>
            <a:r>
              <a:rPr lang="en-US" sz="2750" b="1" dirty="0">
                <a:solidFill>
                  <a:srgbClr val="18191D"/>
                </a:solidFill>
                <a:latin typeface="Arial" pitchFamily="34" charset="0"/>
                <a:ea typeface="Arial" pitchFamily="34" charset="-122"/>
                <a:cs typeface="Arial" pitchFamily="34" charset="-120"/>
              </a:rPr>
              <a:t>Reuse the infrastructure. Build the ATMOS product contract.</a:t>
            </a:r>
            <a:endParaRPr lang="en-US" sz="2750" dirty="0"/>
          </a:p>
        </p:txBody>
      </p:sp>
      <p:sp>
        <p:nvSpPr>
          <p:cNvPr id="6" name="Text 4"/>
          <p:cNvSpPr/>
          <p:nvPr/>
        </p:nvSpPr>
        <p:spPr>
          <a:xfrm>
            <a:off x="502920" y="1298448"/>
            <a:ext cx="11064240" cy="411480"/>
          </a:xfrm>
          <a:prstGeom prst="rect">
            <a:avLst/>
          </a:prstGeom>
          <a:noFill/>
          <a:ln/>
        </p:spPr>
        <p:txBody>
          <a:bodyPr wrap="square" lIns="0" tIns="0" rIns="0" bIns="0" rtlCol="0" anchor="ctr"/>
          <a:lstStyle/>
          <a:p>
            <a:pPr algn="l" indent="0" marL="0">
              <a:buNone/>
            </a:pPr>
            <a:r>
              <a:rPr lang="en-US" sz="1350" dirty="0">
                <a:solidFill>
                  <a:srgbClr val="5B6169"/>
                </a:solidFill>
                <a:latin typeface="Arial" pitchFamily="34" charset="0"/>
                <a:ea typeface="Arial" pitchFamily="34" charset="-122"/>
                <a:cs typeface="Arial" pitchFamily="34" charset="-120"/>
              </a:rPr>
              <a:t>The nine V3 software products remain; this appendix specifies their interfaces and acceptance evidence.</a:t>
            </a:r>
            <a:endParaRPr lang="en-US" sz="1350" dirty="0"/>
          </a:p>
        </p:txBody>
      </p:sp>
      <p:sp>
        <p:nvSpPr>
          <p:cNvPr id="7" name="Shape 5"/>
          <p:cNvSpPr/>
          <p:nvPr/>
        </p:nvSpPr>
        <p:spPr>
          <a:xfrm>
            <a:off x="484632" y="6464808"/>
            <a:ext cx="11237976" cy="0"/>
          </a:xfrm>
          <a:prstGeom prst="line">
            <a:avLst/>
          </a:prstGeom>
          <a:noFill/>
          <a:ln w="7620">
            <a:solidFill>
              <a:srgbClr val="D9DDE3"/>
            </a:solidFill>
            <a:prstDash val="solid"/>
            <a:headEnd type="none"/>
            <a:tailEnd type="none"/>
          </a:ln>
        </p:spPr>
      </p:sp>
      <p:sp>
        <p:nvSpPr>
          <p:cNvPr id="8" name="Text 6"/>
          <p:cNvSpPr/>
          <p:nvPr/>
        </p:nvSpPr>
        <p:spPr>
          <a:xfrm>
            <a:off x="512064" y="6547104"/>
            <a:ext cx="9418320" cy="164592"/>
          </a:xfrm>
          <a:prstGeom prst="rect">
            <a:avLst/>
          </a:prstGeom>
          <a:noFill/>
          <a:ln/>
        </p:spPr>
        <p:txBody>
          <a:bodyPr wrap="square" lIns="0" tIns="0" rIns="0" bIns="0" rtlCol="0" anchor="ctr"/>
          <a:lstStyle/>
          <a:p>
            <a:pPr algn="l" indent="0" marL="0">
              <a:buNone/>
            </a:pPr>
            <a:r>
              <a:rPr lang="en-US" sz="850" dirty="0">
                <a:solidFill>
                  <a:srgbClr val="5B6169"/>
                </a:solidFill>
                <a:latin typeface="Arial" pitchFamily="34" charset="0"/>
                <a:ea typeface="Arial" pitchFamily="34" charset="-122"/>
                <a:cs typeface="Arial" pitchFamily="34" charset="-120"/>
              </a:rPr>
              <a:t>TECHNICAL APPENDIX TO V3  •  6 OCT 2026  •  PROPOSED DESIGN / QUALIFICATION REQUIRED</a:t>
            </a:r>
            <a:endParaRPr lang="en-US" sz="850" dirty="0"/>
          </a:p>
        </p:txBody>
      </p:sp>
      <p:sp>
        <p:nvSpPr>
          <p:cNvPr id="9" name="Text 7"/>
          <p:cNvSpPr/>
          <p:nvPr/>
        </p:nvSpPr>
        <p:spPr>
          <a:xfrm>
            <a:off x="11219688" y="6519672"/>
            <a:ext cx="457200" cy="219456"/>
          </a:xfrm>
          <a:prstGeom prst="rect">
            <a:avLst/>
          </a:prstGeom>
          <a:noFill/>
          <a:ln/>
        </p:spPr>
        <p:txBody>
          <a:bodyPr wrap="square" lIns="0" tIns="0" rIns="0" bIns="0" rtlCol="0" anchor="ctr"/>
          <a:lstStyle/>
          <a:p>
            <a:pPr algn="r" indent="0" marL="0">
              <a:buNone/>
            </a:pPr>
            <a:r>
              <a:rPr lang="en-US" sz="1000" b="1" dirty="0">
                <a:solidFill>
                  <a:srgbClr val="E31837"/>
                </a:solidFill>
                <a:latin typeface="Arial" pitchFamily="34" charset="0"/>
                <a:ea typeface="Arial" pitchFamily="34" charset="-122"/>
                <a:cs typeface="Arial" pitchFamily="34" charset="-120"/>
              </a:rPr>
              <a:t>18</a:t>
            </a:r>
            <a:endParaRPr lang="en-US" sz="1000" dirty="0"/>
          </a:p>
        </p:txBody>
      </p:sp>
      <p:sp>
        <p:nvSpPr>
          <p:cNvPr id="10" name="Text 8">
            <a:hlinkClick r:id="rId1" tooltip=""/>
          </p:cNvPr>
          <p:cNvSpPr/>
          <p:nvPr/>
        </p:nvSpPr>
        <p:spPr>
          <a:xfrm>
            <a:off x="9875520" y="237744"/>
            <a:ext cx="1828800" cy="219456"/>
          </a:xfrm>
          <a:prstGeom prst="rect">
            <a:avLst/>
          </a:prstGeom>
          <a:noFill/>
          <a:ln/>
        </p:spPr>
        <p:txBody>
          <a:bodyPr wrap="square" lIns="0" tIns="0" rIns="0" bIns="0" rtlCol="0" anchor="ctr"/>
          <a:lstStyle/>
          <a:p>
            <a:pPr algn="r" indent="0" marL="0">
              <a:buNone/>
            </a:pPr>
            <a:r>
              <a:rPr lang="en-US" sz="1000"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technical notes</a:t>
            </a:r>
            <a:endParaRPr lang="en-US" sz="1000" dirty="0"/>
          </a:p>
        </p:txBody>
      </p:sp>
      <p:sp>
        <p:nvSpPr>
          <p:cNvPr id="11" name="Shape 9"/>
          <p:cNvSpPr/>
          <p:nvPr/>
        </p:nvSpPr>
        <p:spPr>
          <a:xfrm>
            <a:off x="603504" y="1956816"/>
            <a:ext cx="2212848" cy="429768"/>
          </a:xfrm>
          <a:prstGeom prst="rect">
            <a:avLst/>
          </a:prstGeom>
          <a:solidFill>
            <a:srgbClr val="18191D"/>
          </a:solidFill>
          <a:ln w="10160">
            <a:solidFill>
              <a:srgbClr val="18191D"/>
            </a:solidFill>
            <a:prstDash val="solid"/>
          </a:ln>
        </p:spPr>
      </p:sp>
      <p:sp>
        <p:nvSpPr>
          <p:cNvPr id="12" name="Text 10"/>
          <p:cNvSpPr/>
          <p:nvPr/>
        </p:nvSpPr>
        <p:spPr>
          <a:xfrm>
            <a:off x="694944" y="2029968"/>
            <a:ext cx="2029968" cy="228600"/>
          </a:xfrm>
          <a:prstGeom prst="rect">
            <a:avLst/>
          </a:prstGeom>
          <a:noFill/>
          <a:ln/>
        </p:spPr>
        <p:txBody>
          <a:bodyPr wrap="square" lIns="0" tIns="0" rIns="0" bIns="0" rtlCol="0" anchor="ctr"/>
          <a:lstStyle/>
          <a:p>
            <a:pPr algn="l" indent="0" marL="0">
              <a:buNone/>
            </a:pPr>
            <a:r>
              <a:rPr lang="en-US" sz="1090" b="1" dirty="0">
                <a:solidFill>
                  <a:srgbClr val="FFFFFF"/>
                </a:solidFill>
                <a:latin typeface="Arial" pitchFamily="34" charset="0"/>
                <a:ea typeface="Arial" pitchFamily="34" charset="-122"/>
                <a:cs typeface="Arial" pitchFamily="34" charset="-120"/>
              </a:rPr>
              <a:t>V3 PRODUCT</a:t>
            </a:r>
            <a:endParaRPr lang="en-US" sz="1090" dirty="0"/>
          </a:p>
        </p:txBody>
      </p:sp>
      <p:sp>
        <p:nvSpPr>
          <p:cNvPr id="13" name="Shape 11"/>
          <p:cNvSpPr/>
          <p:nvPr/>
        </p:nvSpPr>
        <p:spPr>
          <a:xfrm>
            <a:off x="2926080" y="1956816"/>
            <a:ext cx="2587752" cy="429768"/>
          </a:xfrm>
          <a:prstGeom prst="rect">
            <a:avLst/>
          </a:prstGeom>
          <a:solidFill>
            <a:srgbClr val="18191D"/>
          </a:solidFill>
          <a:ln w="10160">
            <a:solidFill>
              <a:srgbClr val="18191D"/>
            </a:solidFill>
            <a:prstDash val="solid"/>
          </a:ln>
        </p:spPr>
      </p:sp>
      <p:sp>
        <p:nvSpPr>
          <p:cNvPr id="14" name="Text 12"/>
          <p:cNvSpPr/>
          <p:nvPr/>
        </p:nvSpPr>
        <p:spPr>
          <a:xfrm>
            <a:off x="3017520" y="2029968"/>
            <a:ext cx="2404872" cy="228600"/>
          </a:xfrm>
          <a:prstGeom prst="rect">
            <a:avLst/>
          </a:prstGeom>
          <a:noFill/>
          <a:ln/>
        </p:spPr>
        <p:txBody>
          <a:bodyPr wrap="square" lIns="0" tIns="0" rIns="0" bIns="0" rtlCol="0" anchor="ctr"/>
          <a:lstStyle/>
          <a:p>
            <a:pPr algn="l" indent="0" marL="0">
              <a:buNone/>
            </a:pPr>
            <a:r>
              <a:rPr lang="en-US" sz="1090" b="1" dirty="0">
                <a:solidFill>
                  <a:srgbClr val="FFFFFF"/>
                </a:solidFill>
                <a:latin typeface="Arial" pitchFamily="34" charset="0"/>
                <a:ea typeface="Arial" pitchFamily="34" charset="-122"/>
                <a:cs typeface="Arial" pitchFamily="34" charset="-120"/>
              </a:rPr>
              <a:t>REUSE / VERIFY</a:t>
            </a:r>
            <a:endParaRPr lang="en-US" sz="1090" dirty="0"/>
          </a:p>
        </p:txBody>
      </p:sp>
      <p:sp>
        <p:nvSpPr>
          <p:cNvPr id="15" name="Shape 13"/>
          <p:cNvSpPr/>
          <p:nvPr/>
        </p:nvSpPr>
        <p:spPr>
          <a:xfrm>
            <a:off x="5614416" y="1956816"/>
            <a:ext cx="3730752" cy="429768"/>
          </a:xfrm>
          <a:prstGeom prst="rect">
            <a:avLst/>
          </a:prstGeom>
          <a:solidFill>
            <a:srgbClr val="18191D"/>
          </a:solidFill>
          <a:ln w="10160">
            <a:solidFill>
              <a:srgbClr val="18191D"/>
            </a:solidFill>
            <a:prstDash val="solid"/>
          </a:ln>
        </p:spPr>
      </p:sp>
      <p:sp>
        <p:nvSpPr>
          <p:cNvPr id="16" name="Text 14"/>
          <p:cNvSpPr/>
          <p:nvPr/>
        </p:nvSpPr>
        <p:spPr>
          <a:xfrm>
            <a:off x="5705856" y="2029968"/>
            <a:ext cx="3547872" cy="228600"/>
          </a:xfrm>
          <a:prstGeom prst="rect">
            <a:avLst/>
          </a:prstGeom>
          <a:noFill/>
          <a:ln/>
        </p:spPr>
        <p:txBody>
          <a:bodyPr wrap="square" lIns="0" tIns="0" rIns="0" bIns="0" rtlCol="0" anchor="ctr"/>
          <a:lstStyle/>
          <a:p>
            <a:pPr algn="l" indent="0" marL="0">
              <a:buNone/>
            </a:pPr>
            <a:r>
              <a:rPr lang="en-US" sz="1090" b="1" dirty="0">
                <a:solidFill>
                  <a:srgbClr val="FFFFFF"/>
                </a:solidFill>
                <a:latin typeface="Arial" pitchFamily="34" charset="0"/>
                <a:ea typeface="Arial" pitchFamily="34" charset="-122"/>
                <a:cs typeface="Arial" pitchFamily="34" charset="-120"/>
              </a:rPr>
              <a:t>SANDISK BUILD / INTEGRATE</a:t>
            </a:r>
            <a:endParaRPr lang="en-US" sz="1090" dirty="0"/>
          </a:p>
        </p:txBody>
      </p:sp>
      <p:sp>
        <p:nvSpPr>
          <p:cNvPr id="17" name="Shape 15"/>
          <p:cNvSpPr/>
          <p:nvPr/>
        </p:nvSpPr>
        <p:spPr>
          <a:xfrm>
            <a:off x="9454896" y="1956816"/>
            <a:ext cx="2139696" cy="429768"/>
          </a:xfrm>
          <a:prstGeom prst="rect">
            <a:avLst/>
          </a:prstGeom>
          <a:solidFill>
            <a:srgbClr val="18191D"/>
          </a:solidFill>
          <a:ln w="10160">
            <a:solidFill>
              <a:srgbClr val="18191D"/>
            </a:solidFill>
            <a:prstDash val="solid"/>
          </a:ln>
        </p:spPr>
      </p:sp>
      <p:sp>
        <p:nvSpPr>
          <p:cNvPr id="18" name="Text 16"/>
          <p:cNvSpPr/>
          <p:nvPr/>
        </p:nvSpPr>
        <p:spPr>
          <a:xfrm>
            <a:off x="9546336" y="2029968"/>
            <a:ext cx="1956816" cy="228600"/>
          </a:xfrm>
          <a:prstGeom prst="rect">
            <a:avLst/>
          </a:prstGeom>
          <a:noFill/>
          <a:ln/>
        </p:spPr>
        <p:txBody>
          <a:bodyPr wrap="square" lIns="0" tIns="0" rIns="0" bIns="0" rtlCol="0" anchor="ctr"/>
          <a:lstStyle/>
          <a:p>
            <a:pPr algn="l" indent="0" marL="0">
              <a:buNone/>
            </a:pPr>
            <a:r>
              <a:rPr lang="en-US" sz="1090" b="1" dirty="0">
                <a:solidFill>
                  <a:srgbClr val="FFFFFF"/>
                </a:solidFill>
                <a:latin typeface="Arial" pitchFamily="34" charset="0"/>
                <a:ea typeface="Arial" pitchFamily="34" charset="-122"/>
                <a:cs typeface="Arial" pitchFamily="34" charset="-120"/>
              </a:rPr>
              <a:t>ACCOUNTABLE OWNER</a:t>
            </a:r>
            <a:endParaRPr lang="en-US" sz="1090" dirty="0"/>
          </a:p>
        </p:txBody>
      </p:sp>
      <p:sp>
        <p:nvSpPr>
          <p:cNvPr id="19" name="Shape 17"/>
          <p:cNvSpPr/>
          <p:nvPr/>
        </p:nvSpPr>
        <p:spPr>
          <a:xfrm>
            <a:off x="603504" y="2414016"/>
            <a:ext cx="2212848" cy="502920"/>
          </a:xfrm>
          <a:prstGeom prst="rect">
            <a:avLst/>
          </a:prstGeom>
          <a:solidFill>
            <a:srgbClr val="F3F4F6"/>
          </a:solidFill>
          <a:ln w="10160">
            <a:solidFill>
              <a:srgbClr val="F3F4F6"/>
            </a:solidFill>
            <a:prstDash val="solid"/>
          </a:ln>
        </p:spPr>
      </p:sp>
      <p:sp>
        <p:nvSpPr>
          <p:cNvPr id="20" name="Text 18"/>
          <p:cNvSpPr/>
          <p:nvPr/>
        </p:nvSpPr>
        <p:spPr>
          <a:xfrm>
            <a:off x="694944" y="2441448"/>
            <a:ext cx="2029968" cy="438912"/>
          </a:xfrm>
          <a:prstGeom prst="rect">
            <a:avLst/>
          </a:prstGeom>
          <a:noFill/>
          <a:ln/>
        </p:spPr>
        <p:txBody>
          <a:bodyPr wrap="square" lIns="0" tIns="0" rIns="0" bIns="0" rtlCol="0" anchor="ctr"/>
          <a:lstStyle/>
          <a:p>
            <a:pPr algn="l" indent="0" marL="0">
              <a:buNone/>
            </a:pPr>
            <a:r>
              <a:rPr lang="en-US" sz="1200" b="1" dirty="0">
                <a:solidFill>
                  <a:srgbClr val="E31837"/>
                </a:solidFill>
                <a:latin typeface="Arial" pitchFamily="34" charset="0"/>
                <a:ea typeface="Arial" pitchFamily="34" charset="-122"/>
                <a:cs typeface="Arial" pitchFamily="34" charset="-120"/>
              </a:rPr>
              <a:t>AI OS + Device Service</a:t>
            </a:r>
            <a:endParaRPr lang="en-US" sz="1200" dirty="0"/>
          </a:p>
        </p:txBody>
      </p:sp>
      <p:sp>
        <p:nvSpPr>
          <p:cNvPr id="21" name="Shape 19"/>
          <p:cNvSpPr/>
          <p:nvPr/>
        </p:nvSpPr>
        <p:spPr>
          <a:xfrm>
            <a:off x="2926080" y="2414016"/>
            <a:ext cx="2587752" cy="502920"/>
          </a:xfrm>
          <a:prstGeom prst="rect">
            <a:avLst/>
          </a:prstGeom>
          <a:solidFill>
            <a:srgbClr val="F3F4F6"/>
          </a:solidFill>
          <a:ln w="10160">
            <a:solidFill>
              <a:srgbClr val="F3F4F6"/>
            </a:solidFill>
            <a:prstDash val="solid"/>
          </a:ln>
        </p:spPr>
      </p:sp>
      <p:sp>
        <p:nvSpPr>
          <p:cNvPr id="22" name="Text 20"/>
          <p:cNvSpPr/>
          <p:nvPr/>
        </p:nvSpPr>
        <p:spPr>
          <a:xfrm>
            <a:off x="3017520" y="2441448"/>
            <a:ext cx="2404872" cy="438912"/>
          </a:xfrm>
          <a:prstGeom prst="rect">
            <a:avLst/>
          </a:prstGeom>
          <a:noFill/>
          <a:ln/>
        </p:spPr>
        <p:txBody>
          <a:bodyPr wrap="square" lIns="0" tIns="0" rIns="0" bIns="0" rtlCol="0" anchor="ctr"/>
          <a:lstStyle/>
          <a:p>
            <a:pPr algn="l" indent="0" marL="0">
              <a:buNone/>
            </a:pPr>
            <a:r>
              <a:rPr lang="en-US" sz="1135" dirty="0">
                <a:solidFill>
                  <a:srgbClr val="18191D"/>
                </a:solidFill>
                <a:latin typeface="Arial" pitchFamily="34" charset="0"/>
                <a:ea typeface="Arial" pitchFamily="34" charset="-122"/>
                <a:cs typeface="Arial" pitchFamily="34" charset="-120"/>
              </a:rPr>
              <a:t>Linux / containerd / device frameworks</a:t>
            </a:r>
            <a:endParaRPr lang="en-US" sz="1135" dirty="0"/>
          </a:p>
        </p:txBody>
      </p:sp>
      <p:sp>
        <p:nvSpPr>
          <p:cNvPr id="23" name="Shape 21"/>
          <p:cNvSpPr/>
          <p:nvPr/>
        </p:nvSpPr>
        <p:spPr>
          <a:xfrm>
            <a:off x="5614416" y="2414016"/>
            <a:ext cx="3730752" cy="502920"/>
          </a:xfrm>
          <a:prstGeom prst="rect">
            <a:avLst/>
          </a:prstGeom>
          <a:solidFill>
            <a:srgbClr val="F3F4F6"/>
          </a:solidFill>
          <a:ln w="10160">
            <a:solidFill>
              <a:srgbClr val="F3F4F6"/>
            </a:solidFill>
            <a:prstDash val="solid"/>
          </a:ln>
        </p:spPr>
      </p:sp>
      <p:sp>
        <p:nvSpPr>
          <p:cNvPr id="24" name="Text 22"/>
          <p:cNvSpPr/>
          <p:nvPr/>
        </p:nvSpPr>
        <p:spPr>
          <a:xfrm>
            <a:off x="5705856" y="2441448"/>
            <a:ext cx="3547872" cy="438912"/>
          </a:xfrm>
          <a:prstGeom prst="rect">
            <a:avLst/>
          </a:prstGeom>
          <a:noFill/>
          <a:ln/>
        </p:spPr>
        <p:txBody>
          <a:bodyPr wrap="square" lIns="0" tIns="0" rIns="0" bIns="0" rtlCol="0" anchor="ctr"/>
          <a:lstStyle/>
          <a:p>
            <a:pPr algn="l" indent="0" marL="0">
              <a:buNone/>
            </a:pPr>
            <a:r>
              <a:rPr lang="en-US" sz="1135" dirty="0">
                <a:solidFill>
                  <a:srgbClr val="18191D"/>
                </a:solidFill>
                <a:latin typeface="Arial" pitchFamily="34" charset="0"/>
                <a:ea typeface="Arial" pitchFamily="34" charset="-122"/>
                <a:cs typeface="Arial" pitchFamily="34" charset="-120"/>
              </a:rPr>
              <a:t>Signed image, driver, allocation, reset / DMA isolation</a:t>
            </a:r>
            <a:endParaRPr lang="en-US" sz="1135" dirty="0"/>
          </a:p>
        </p:txBody>
      </p:sp>
      <p:sp>
        <p:nvSpPr>
          <p:cNvPr id="25" name="Shape 23"/>
          <p:cNvSpPr/>
          <p:nvPr/>
        </p:nvSpPr>
        <p:spPr>
          <a:xfrm>
            <a:off x="9454896" y="2414016"/>
            <a:ext cx="2139696" cy="502920"/>
          </a:xfrm>
          <a:prstGeom prst="rect">
            <a:avLst/>
          </a:prstGeom>
          <a:solidFill>
            <a:srgbClr val="F3F4F6"/>
          </a:solidFill>
          <a:ln w="10160">
            <a:solidFill>
              <a:srgbClr val="F3F4F6"/>
            </a:solidFill>
            <a:prstDash val="solid"/>
          </a:ln>
        </p:spPr>
      </p:sp>
      <p:sp>
        <p:nvSpPr>
          <p:cNvPr id="26" name="Text 24"/>
          <p:cNvSpPr/>
          <p:nvPr/>
        </p:nvSpPr>
        <p:spPr>
          <a:xfrm>
            <a:off x="9546336" y="2441448"/>
            <a:ext cx="1956816" cy="438912"/>
          </a:xfrm>
          <a:prstGeom prst="rect">
            <a:avLst/>
          </a:prstGeom>
          <a:noFill/>
          <a:ln/>
        </p:spPr>
        <p:txBody>
          <a:bodyPr wrap="square" lIns="0" tIns="0" rIns="0" bIns="0" rtlCol="0" anchor="ctr"/>
          <a:lstStyle/>
          <a:p>
            <a:pPr algn="l" indent="0" marL="0">
              <a:buNone/>
            </a:pPr>
            <a:r>
              <a:rPr lang="en-US" sz="1135" dirty="0">
                <a:solidFill>
                  <a:srgbClr val="18191D"/>
                </a:solidFill>
                <a:latin typeface="Arial" pitchFamily="34" charset="0"/>
                <a:ea typeface="Arial" pitchFamily="34" charset="-122"/>
                <a:cs typeface="Arial" pitchFamily="34" charset="-120"/>
              </a:rPr>
              <a:t>Platform + device teams</a:t>
            </a:r>
            <a:endParaRPr lang="en-US" sz="1135" dirty="0"/>
          </a:p>
        </p:txBody>
      </p:sp>
      <p:sp>
        <p:nvSpPr>
          <p:cNvPr id="27" name="Shape 25"/>
          <p:cNvSpPr/>
          <p:nvPr/>
        </p:nvSpPr>
        <p:spPr>
          <a:xfrm>
            <a:off x="603504" y="2935224"/>
            <a:ext cx="2212848" cy="502920"/>
          </a:xfrm>
          <a:prstGeom prst="rect">
            <a:avLst/>
          </a:prstGeom>
          <a:solidFill>
            <a:srgbClr val="FFFFFF"/>
          </a:solidFill>
          <a:ln w="10160">
            <a:solidFill>
              <a:srgbClr val="FFFFFF"/>
            </a:solidFill>
            <a:prstDash val="solid"/>
          </a:ln>
        </p:spPr>
      </p:sp>
      <p:sp>
        <p:nvSpPr>
          <p:cNvPr id="28" name="Text 26"/>
          <p:cNvSpPr/>
          <p:nvPr/>
        </p:nvSpPr>
        <p:spPr>
          <a:xfrm>
            <a:off x="694944" y="2962656"/>
            <a:ext cx="2029968" cy="438912"/>
          </a:xfrm>
          <a:prstGeom prst="rect">
            <a:avLst/>
          </a:prstGeom>
          <a:noFill/>
          <a:ln/>
        </p:spPr>
        <p:txBody>
          <a:bodyPr wrap="square" lIns="0" tIns="0" rIns="0" bIns="0" rtlCol="0" anchor="ctr"/>
          <a:lstStyle/>
          <a:p>
            <a:pPr algn="l" indent="0" marL="0">
              <a:buNone/>
            </a:pPr>
            <a:r>
              <a:rPr lang="en-US" sz="1200" b="1" dirty="0">
                <a:solidFill>
                  <a:srgbClr val="E31837"/>
                </a:solidFill>
                <a:latin typeface="Arial" pitchFamily="34" charset="0"/>
                <a:ea typeface="Arial" pitchFamily="34" charset="-122"/>
                <a:cs typeface="Arial" pitchFamily="34" charset="-120"/>
              </a:rPr>
              <a:t>Model Services + ModelPacks</a:t>
            </a:r>
            <a:endParaRPr lang="en-US" sz="1200" dirty="0"/>
          </a:p>
        </p:txBody>
      </p:sp>
      <p:sp>
        <p:nvSpPr>
          <p:cNvPr id="29" name="Shape 27"/>
          <p:cNvSpPr/>
          <p:nvPr/>
        </p:nvSpPr>
        <p:spPr>
          <a:xfrm>
            <a:off x="2926080" y="2935224"/>
            <a:ext cx="2587752" cy="502920"/>
          </a:xfrm>
          <a:prstGeom prst="rect">
            <a:avLst/>
          </a:prstGeom>
          <a:solidFill>
            <a:srgbClr val="FFFFFF"/>
          </a:solidFill>
          <a:ln w="10160">
            <a:solidFill>
              <a:srgbClr val="FFFFFF"/>
            </a:solidFill>
            <a:prstDash val="solid"/>
          </a:ln>
        </p:spPr>
      </p:sp>
      <p:sp>
        <p:nvSpPr>
          <p:cNvPr id="30" name="Text 28"/>
          <p:cNvSpPr/>
          <p:nvPr/>
        </p:nvSpPr>
        <p:spPr>
          <a:xfrm>
            <a:off x="3017520" y="2962656"/>
            <a:ext cx="2404872" cy="438912"/>
          </a:xfrm>
          <a:prstGeom prst="rect">
            <a:avLst/>
          </a:prstGeom>
          <a:noFill/>
          <a:ln/>
        </p:spPr>
        <p:txBody>
          <a:bodyPr wrap="square" lIns="0" tIns="0" rIns="0" bIns="0" rtlCol="0" anchor="ctr"/>
          <a:lstStyle/>
          <a:p>
            <a:pPr algn="l" indent="0" marL="0">
              <a:buNone/>
            </a:pPr>
            <a:r>
              <a:rPr lang="en-US" sz="1135" dirty="0">
                <a:solidFill>
                  <a:srgbClr val="18191D"/>
                </a:solidFill>
                <a:latin typeface="Arial" pitchFamily="34" charset="0"/>
                <a:ea typeface="Arial" pitchFamily="34" charset="-122"/>
                <a:cs typeface="Arial" pitchFamily="34" charset="-120"/>
              </a:rPr>
              <a:t>vLLM/TT plugin where qualified</a:t>
            </a:r>
            <a:endParaRPr lang="en-US" sz="1135" dirty="0"/>
          </a:p>
        </p:txBody>
      </p:sp>
      <p:sp>
        <p:nvSpPr>
          <p:cNvPr id="31" name="Shape 29"/>
          <p:cNvSpPr/>
          <p:nvPr/>
        </p:nvSpPr>
        <p:spPr>
          <a:xfrm>
            <a:off x="5614416" y="2935224"/>
            <a:ext cx="3730752" cy="502920"/>
          </a:xfrm>
          <a:prstGeom prst="rect">
            <a:avLst/>
          </a:prstGeom>
          <a:solidFill>
            <a:srgbClr val="FFFFFF"/>
          </a:solidFill>
          <a:ln w="10160">
            <a:solidFill>
              <a:srgbClr val="FFFFFF"/>
            </a:solidFill>
            <a:prstDash val="solid"/>
          </a:ln>
        </p:spPr>
      </p:sp>
      <p:sp>
        <p:nvSpPr>
          <p:cNvPr id="32" name="Text 30"/>
          <p:cNvSpPr/>
          <p:nvPr/>
        </p:nvSpPr>
        <p:spPr>
          <a:xfrm>
            <a:off x="5705856" y="2962656"/>
            <a:ext cx="3547872" cy="438912"/>
          </a:xfrm>
          <a:prstGeom prst="rect">
            <a:avLst/>
          </a:prstGeom>
          <a:noFill/>
          <a:ln/>
        </p:spPr>
        <p:txBody>
          <a:bodyPr wrap="square" lIns="0" tIns="0" rIns="0" bIns="0" rtlCol="0" anchor="ctr"/>
          <a:lstStyle/>
          <a:p>
            <a:pPr algn="l" indent="0" marL="0">
              <a:buNone/>
            </a:pPr>
            <a:r>
              <a:rPr lang="en-US" sz="1135" dirty="0">
                <a:solidFill>
                  <a:srgbClr val="18191D"/>
                </a:solidFill>
                <a:latin typeface="Arial" pitchFamily="34" charset="0"/>
                <a:ea typeface="Arial" pitchFamily="34" charset="-122"/>
                <a:cs typeface="Arial" pitchFamily="34" charset="-120"/>
              </a:rPr>
              <a:t>Native operators, KV, pack compiler + certification</a:t>
            </a:r>
            <a:endParaRPr lang="en-US" sz="1135" dirty="0"/>
          </a:p>
        </p:txBody>
      </p:sp>
      <p:sp>
        <p:nvSpPr>
          <p:cNvPr id="33" name="Shape 31"/>
          <p:cNvSpPr/>
          <p:nvPr/>
        </p:nvSpPr>
        <p:spPr>
          <a:xfrm>
            <a:off x="9454896" y="2935224"/>
            <a:ext cx="2139696" cy="502920"/>
          </a:xfrm>
          <a:prstGeom prst="rect">
            <a:avLst/>
          </a:prstGeom>
          <a:solidFill>
            <a:srgbClr val="FFFFFF"/>
          </a:solidFill>
          <a:ln w="10160">
            <a:solidFill>
              <a:srgbClr val="FFFFFF"/>
            </a:solidFill>
            <a:prstDash val="solid"/>
          </a:ln>
        </p:spPr>
      </p:sp>
      <p:sp>
        <p:nvSpPr>
          <p:cNvPr id="34" name="Text 32"/>
          <p:cNvSpPr/>
          <p:nvPr/>
        </p:nvSpPr>
        <p:spPr>
          <a:xfrm>
            <a:off x="9546336" y="2962656"/>
            <a:ext cx="1956816" cy="438912"/>
          </a:xfrm>
          <a:prstGeom prst="rect">
            <a:avLst/>
          </a:prstGeom>
          <a:noFill/>
          <a:ln/>
        </p:spPr>
        <p:txBody>
          <a:bodyPr wrap="square" lIns="0" tIns="0" rIns="0" bIns="0" rtlCol="0" anchor="ctr"/>
          <a:lstStyle/>
          <a:p>
            <a:pPr algn="l" indent="0" marL="0">
              <a:buNone/>
            </a:pPr>
            <a:r>
              <a:rPr lang="en-US" sz="1135" dirty="0">
                <a:solidFill>
                  <a:srgbClr val="18191D"/>
                </a:solidFill>
                <a:latin typeface="Arial" pitchFamily="34" charset="0"/>
                <a:ea typeface="Arial" pitchFamily="34" charset="-122"/>
                <a:cs typeface="Arial" pitchFamily="34" charset="-120"/>
              </a:rPr>
              <a:t>SanDisk + NPU partner</a:t>
            </a:r>
            <a:endParaRPr lang="en-US" sz="1135" dirty="0"/>
          </a:p>
        </p:txBody>
      </p:sp>
      <p:sp>
        <p:nvSpPr>
          <p:cNvPr id="35" name="Shape 33"/>
          <p:cNvSpPr/>
          <p:nvPr/>
        </p:nvSpPr>
        <p:spPr>
          <a:xfrm>
            <a:off x="603504" y="3456432"/>
            <a:ext cx="2212848" cy="502920"/>
          </a:xfrm>
          <a:prstGeom prst="rect">
            <a:avLst/>
          </a:prstGeom>
          <a:solidFill>
            <a:srgbClr val="F3F4F6"/>
          </a:solidFill>
          <a:ln w="10160">
            <a:solidFill>
              <a:srgbClr val="F3F4F6"/>
            </a:solidFill>
            <a:prstDash val="solid"/>
          </a:ln>
        </p:spPr>
      </p:sp>
      <p:sp>
        <p:nvSpPr>
          <p:cNvPr id="36" name="Text 34"/>
          <p:cNvSpPr/>
          <p:nvPr/>
        </p:nvSpPr>
        <p:spPr>
          <a:xfrm>
            <a:off x="694944" y="3483864"/>
            <a:ext cx="2029968" cy="438912"/>
          </a:xfrm>
          <a:prstGeom prst="rect">
            <a:avLst/>
          </a:prstGeom>
          <a:noFill/>
          <a:ln/>
        </p:spPr>
        <p:txBody>
          <a:bodyPr wrap="square" lIns="0" tIns="0" rIns="0" bIns="0" rtlCol="0" anchor="ctr"/>
          <a:lstStyle/>
          <a:p>
            <a:pPr algn="l" indent="0" marL="0">
              <a:buNone/>
            </a:pPr>
            <a:r>
              <a:rPr lang="en-US" sz="1200" b="1" dirty="0">
                <a:solidFill>
                  <a:srgbClr val="E31837"/>
                </a:solidFill>
                <a:latin typeface="Arial" pitchFamily="34" charset="0"/>
                <a:ea typeface="Arial" pitchFamily="34" charset="-122"/>
                <a:cs typeface="Arial" pitchFamily="34" charset="-120"/>
              </a:rPr>
              <a:t>Serving Manager</a:t>
            </a:r>
            <a:endParaRPr lang="en-US" sz="1200" dirty="0"/>
          </a:p>
        </p:txBody>
      </p:sp>
      <p:sp>
        <p:nvSpPr>
          <p:cNvPr id="37" name="Shape 35"/>
          <p:cNvSpPr/>
          <p:nvPr/>
        </p:nvSpPr>
        <p:spPr>
          <a:xfrm>
            <a:off x="2926080" y="3456432"/>
            <a:ext cx="2587752" cy="502920"/>
          </a:xfrm>
          <a:prstGeom prst="rect">
            <a:avLst/>
          </a:prstGeom>
          <a:solidFill>
            <a:srgbClr val="F3F4F6"/>
          </a:solidFill>
          <a:ln w="10160">
            <a:solidFill>
              <a:srgbClr val="F3F4F6"/>
            </a:solidFill>
            <a:prstDash val="solid"/>
          </a:ln>
        </p:spPr>
      </p:sp>
      <p:sp>
        <p:nvSpPr>
          <p:cNvPr id="38" name="Text 36"/>
          <p:cNvSpPr/>
          <p:nvPr/>
        </p:nvSpPr>
        <p:spPr>
          <a:xfrm>
            <a:off x="3017520" y="3483864"/>
            <a:ext cx="2404872" cy="438912"/>
          </a:xfrm>
          <a:prstGeom prst="rect">
            <a:avLst/>
          </a:prstGeom>
          <a:noFill/>
          <a:ln/>
        </p:spPr>
        <p:txBody>
          <a:bodyPr wrap="square" lIns="0" tIns="0" rIns="0" bIns="0" rtlCol="0" anchor="ctr"/>
          <a:lstStyle/>
          <a:p>
            <a:pPr algn="l" indent="0" marL="0">
              <a:buNone/>
            </a:pPr>
            <a:r>
              <a:rPr lang="en-US" sz="1135" dirty="0">
                <a:solidFill>
                  <a:srgbClr val="18191D"/>
                </a:solidFill>
                <a:latin typeface="Arial" pitchFamily="34" charset="0"/>
                <a:ea typeface="Arial" pitchFamily="34" charset="-122"/>
                <a:cs typeface="Arial" pitchFamily="34" charset="-120"/>
              </a:rPr>
              <a:t>Gateway / Kubernetes / KServe candidates</a:t>
            </a:r>
            <a:endParaRPr lang="en-US" sz="1135" dirty="0"/>
          </a:p>
        </p:txBody>
      </p:sp>
      <p:sp>
        <p:nvSpPr>
          <p:cNvPr id="39" name="Shape 37"/>
          <p:cNvSpPr/>
          <p:nvPr/>
        </p:nvSpPr>
        <p:spPr>
          <a:xfrm>
            <a:off x="5614416" y="3456432"/>
            <a:ext cx="3730752" cy="502920"/>
          </a:xfrm>
          <a:prstGeom prst="rect">
            <a:avLst/>
          </a:prstGeom>
          <a:solidFill>
            <a:srgbClr val="F3F4F6"/>
          </a:solidFill>
          <a:ln w="10160">
            <a:solidFill>
              <a:srgbClr val="F3F4F6"/>
            </a:solidFill>
            <a:prstDash val="solid"/>
          </a:ln>
        </p:spPr>
      </p:sp>
      <p:sp>
        <p:nvSpPr>
          <p:cNvPr id="40" name="Text 38"/>
          <p:cNvSpPr/>
          <p:nvPr/>
        </p:nvSpPr>
        <p:spPr>
          <a:xfrm>
            <a:off x="5705856" y="3483864"/>
            <a:ext cx="3547872" cy="438912"/>
          </a:xfrm>
          <a:prstGeom prst="rect">
            <a:avLst/>
          </a:prstGeom>
          <a:noFill/>
          <a:ln/>
        </p:spPr>
        <p:txBody>
          <a:bodyPr wrap="square" lIns="0" tIns="0" rIns="0" bIns="0" rtlCol="0" anchor="ctr"/>
          <a:lstStyle/>
          <a:p>
            <a:pPr algn="l" indent="0" marL="0">
              <a:buNone/>
            </a:pPr>
            <a:r>
              <a:rPr lang="en-US" sz="1135" dirty="0">
                <a:solidFill>
                  <a:srgbClr val="18191D"/>
                </a:solidFill>
                <a:latin typeface="Arial" pitchFamily="34" charset="0"/>
                <a:ea typeface="Arial" pitchFamily="34" charset="-122"/>
                <a:cs typeface="Arial" pitchFamily="34" charset="-120"/>
              </a:rPr>
              <a:t>Quota ledger, admission, ready groups, routing policy</a:t>
            </a:r>
            <a:endParaRPr lang="en-US" sz="1135" dirty="0"/>
          </a:p>
        </p:txBody>
      </p:sp>
      <p:sp>
        <p:nvSpPr>
          <p:cNvPr id="41" name="Shape 39"/>
          <p:cNvSpPr/>
          <p:nvPr/>
        </p:nvSpPr>
        <p:spPr>
          <a:xfrm>
            <a:off x="9454896" y="3456432"/>
            <a:ext cx="2139696" cy="502920"/>
          </a:xfrm>
          <a:prstGeom prst="rect">
            <a:avLst/>
          </a:prstGeom>
          <a:solidFill>
            <a:srgbClr val="F3F4F6"/>
          </a:solidFill>
          <a:ln w="10160">
            <a:solidFill>
              <a:srgbClr val="F3F4F6"/>
            </a:solidFill>
            <a:prstDash val="solid"/>
          </a:ln>
        </p:spPr>
      </p:sp>
      <p:sp>
        <p:nvSpPr>
          <p:cNvPr id="42" name="Text 40"/>
          <p:cNvSpPr/>
          <p:nvPr/>
        </p:nvSpPr>
        <p:spPr>
          <a:xfrm>
            <a:off x="9546336" y="3483864"/>
            <a:ext cx="1956816" cy="438912"/>
          </a:xfrm>
          <a:prstGeom prst="rect">
            <a:avLst/>
          </a:prstGeom>
          <a:noFill/>
          <a:ln/>
        </p:spPr>
        <p:txBody>
          <a:bodyPr wrap="square" lIns="0" tIns="0" rIns="0" bIns="0" rtlCol="0" anchor="ctr"/>
          <a:lstStyle/>
          <a:p>
            <a:pPr algn="l" indent="0" marL="0">
              <a:buNone/>
            </a:pPr>
            <a:r>
              <a:rPr lang="en-US" sz="1135" dirty="0">
                <a:solidFill>
                  <a:srgbClr val="18191D"/>
                </a:solidFill>
                <a:latin typeface="Arial" pitchFamily="34" charset="0"/>
                <a:ea typeface="Arial" pitchFamily="34" charset="-122"/>
                <a:cs typeface="Arial" pitchFamily="34" charset="-120"/>
              </a:rPr>
              <a:t>Serving / platform teams</a:t>
            </a:r>
            <a:endParaRPr lang="en-US" sz="1135" dirty="0"/>
          </a:p>
        </p:txBody>
      </p:sp>
      <p:sp>
        <p:nvSpPr>
          <p:cNvPr id="43" name="Shape 41"/>
          <p:cNvSpPr/>
          <p:nvPr/>
        </p:nvSpPr>
        <p:spPr>
          <a:xfrm>
            <a:off x="603504" y="3977640"/>
            <a:ext cx="2212848" cy="502920"/>
          </a:xfrm>
          <a:prstGeom prst="rect">
            <a:avLst/>
          </a:prstGeom>
          <a:solidFill>
            <a:srgbClr val="FFFFFF"/>
          </a:solidFill>
          <a:ln w="10160">
            <a:solidFill>
              <a:srgbClr val="FFFFFF"/>
            </a:solidFill>
            <a:prstDash val="solid"/>
          </a:ln>
        </p:spPr>
      </p:sp>
      <p:sp>
        <p:nvSpPr>
          <p:cNvPr id="44" name="Text 42"/>
          <p:cNvSpPr/>
          <p:nvPr/>
        </p:nvSpPr>
        <p:spPr>
          <a:xfrm>
            <a:off x="694944" y="4005072"/>
            <a:ext cx="2029968" cy="438912"/>
          </a:xfrm>
          <a:prstGeom prst="rect">
            <a:avLst/>
          </a:prstGeom>
          <a:noFill/>
          <a:ln/>
        </p:spPr>
        <p:txBody>
          <a:bodyPr wrap="square" lIns="0" tIns="0" rIns="0" bIns="0" rtlCol="0" anchor="ctr"/>
          <a:lstStyle/>
          <a:p>
            <a:pPr algn="l" indent="0" marL="0">
              <a:buNone/>
            </a:pPr>
            <a:r>
              <a:rPr lang="en-US" sz="1200" b="1" dirty="0">
                <a:solidFill>
                  <a:srgbClr val="E31837"/>
                </a:solidFill>
                <a:latin typeface="Arial" pitchFamily="34" charset="0"/>
                <a:ea typeface="Arial" pitchFamily="34" charset="-122"/>
                <a:cs typeface="Arial" pitchFamily="34" charset="-120"/>
              </a:rPr>
              <a:t>Knowledge Agent + SDK</a:t>
            </a:r>
            <a:endParaRPr lang="en-US" sz="1200" dirty="0"/>
          </a:p>
        </p:txBody>
      </p:sp>
      <p:sp>
        <p:nvSpPr>
          <p:cNvPr id="45" name="Shape 43"/>
          <p:cNvSpPr/>
          <p:nvPr/>
        </p:nvSpPr>
        <p:spPr>
          <a:xfrm>
            <a:off x="2926080" y="3977640"/>
            <a:ext cx="2587752" cy="502920"/>
          </a:xfrm>
          <a:prstGeom prst="rect">
            <a:avLst/>
          </a:prstGeom>
          <a:solidFill>
            <a:srgbClr val="FFFFFF"/>
          </a:solidFill>
          <a:ln w="10160">
            <a:solidFill>
              <a:srgbClr val="FFFFFF"/>
            </a:solidFill>
            <a:prstDash val="solid"/>
          </a:ln>
        </p:spPr>
      </p:sp>
      <p:sp>
        <p:nvSpPr>
          <p:cNvPr id="46" name="Text 44"/>
          <p:cNvSpPr/>
          <p:nvPr/>
        </p:nvSpPr>
        <p:spPr>
          <a:xfrm>
            <a:off x="3017520" y="4005072"/>
            <a:ext cx="2404872" cy="438912"/>
          </a:xfrm>
          <a:prstGeom prst="rect">
            <a:avLst/>
          </a:prstGeom>
          <a:noFill/>
          <a:ln/>
        </p:spPr>
        <p:txBody>
          <a:bodyPr wrap="square" lIns="0" tIns="0" rIns="0" bIns="0" rtlCol="0" anchor="ctr"/>
          <a:lstStyle/>
          <a:p>
            <a:pPr algn="l" indent="0" marL="0">
              <a:buNone/>
            </a:pPr>
            <a:r>
              <a:rPr lang="en-US" sz="1135" dirty="0">
                <a:solidFill>
                  <a:srgbClr val="18191D"/>
                </a:solidFill>
                <a:latin typeface="Arial" pitchFamily="34" charset="0"/>
                <a:ea typeface="Arial" pitchFamily="34" charset="-122"/>
                <a:cs typeface="Arial" pitchFamily="34" charset="-120"/>
              </a:rPr>
              <a:t>Connectors / search / API frameworks</a:t>
            </a:r>
            <a:endParaRPr lang="en-US" sz="1135" dirty="0"/>
          </a:p>
        </p:txBody>
      </p:sp>
      <p:sp>
        <p:nvSpPr>
          <p:cNvPr id="47" name="Shape 45"/>
          <p:cNvSpPr/>
          <p:nvPr/>
        </p:nvSpPr>
        <p:spPr>
          <a:xfrm>
            <a:off x="5614416" y="3977640"/>
            <a:ext cx="3730752" cy="502920"/>
          </a:xfrm>
          <a:prstGeom prst="rect">
            <a:avLst/>
          </a:prstGeom>
          <a:solidFill>
            <a:srgbClr val="FFFFFF"/>
          </a:solidFill>
          <a:ln w="10160">
            <a:solidFill>
              <a:srgbClr val="FFFFFF"/>
            </a:solidFill>
            <a:prstDash val="solid"/>
          </a:ln>
        </p:spPr>
      </p:sp>
      <p:sp>
        <p:nvSpPr>
          <p:cNvPr id="48" name="Text 46"/>
          <p:cNvSpPr/>
          <p:nvPr/>
        </p:nvSpPr>
        <p:spPr>
          <a:xfrm>
            <a:off x="5705856" y="4005072"/>
            <a:ext cx="3547872" cy="438912"/>
          </a:xfrm>
          <a:prstGeom prst="rect">
            <a:avLst/>
          </a:prstGeom>
          <a:noFill/>
          <a:ln/>
        </p:spPr>
        <p:txBody>
          <a:bodyPr wrap="square" lIns="0" tIns="0" rIns="0" bIns="0" rtlCol="0" anchor="ctr"/>
          <a:lstStyle/>
          <a:p>
            <a:pPr algn="l" indent="0" marL="0">
              <a:buNone/>
            </a:pPr>
            <a:r>
              <a:rPr lang="en-US" sz="1135" dirty="0">
                <a:solidFill>
                  <a:srgbClr val="18191D"/>
                </a:solidFill>
                <a:latin typeface="Arial" pitchFamily="34" charset="0"/>
                <a:ea typeface="Arial" pitchFamily="34" charset="-122"/>
                <a:cs typeface="Arial" pitchFamily="34" charset="-120"/>
              </a:rPr>
              <a:t>ACL lineage, cited answers, bounded tools, supported APIs</a:t>
            </a:r>
            <a:endParaRPr lang="en-US" sz="1135" dirty="0"/>
          </a:p>
        </p:txBody>
      </p:sp>
      <p:sp>
        <p:nvSpPr>
          <p:cNvPr id="49" name="Shape 47"/>
          <p:cNvSpPr/>
          <p:nvPr/>
        </p:nvSpPr>
        <p:spPr>
          <a:xfrm>
            <a:off x="9454896" y="3977640"/>
            <a:ext cx="2139696" cy="502920"/>
          </a:xfrm>
          <a:prstGeom prst="rect">
            <a:avLst/>
          </a:prstGeom>
          <a:solidFill>
            <a:srgbClr val="FFFFFF"/>
          </a:solidFill>
          <a:ln w="10160">
            <a:solidFill>
              <a:srgbClr val="FFFFFF"/>
            </a:solidFill>
            <a:prstDash val="solid"/>
          </a:ln>
        </p:spPr>
      </p:sp>
      <p:sp>
        <p:nvSpPr>
          <p:cNvPr id="50" name="Text 48"/>
          <p:cNvSpPr/>
          <p:nvPr/>
        </p:nvSpPr>
        <p:spPr>
          <a:xfrm>
            <a:off x="9546336" y="4005072"/>
            <a:ext cx="1956816" cy="438912"/>
          </a:xfrm>
          <a:prstGeom prst="rect">
            <a:avLst/>
          </a:prstGeom>
          <a:noFill/>
          <a:ln/>
        </p:spPr>
        <p:txBody>
          <a:bodyPr wrap="square" lIns="0" tIns="0" rIns="0" bIns="0" rtlCol="0" anchor="ctr"/>
          <a:lstStyle/>
          <a:p>
            <a:pPr algn="l" indent="0" marL="0">
              <a:buNone/>
            </a:pPr>
            <a:r>
              <a:rPr lang="en-US" sz="1135" dirty="0">
                <a:solidFill>
                  <a:srgbClr val="18191D"/>
                </a:solidFill>
                <a:latin typeface="Arial" pitchFamily="34" charset="0"/>
                <a:ea typeface="Arial" pitchFamily="34" charset="-122"/>
                <a:cs typeface="Arial" pitchFamily="34" charset="-120"/>
              </a:rPr>
              <a:t>Applications + security</a:t>
            </a:r>
            <a:endParaRPr lang="en-US" sz="1135" dirty="0"/>
          </a:p>
        </p:txBody>
      </p:sp>
      <p:sp>
        <p:nvSpPr>
          <p:cNvPr id="51" name="Shape 49"/>
          <p:cNvSpPr/>
          <p:nvPr/>
        </p:nvSpPr>
        <p:spPr>
          <a:xfrm>
            <a:off x="603504" y="4498848"/>
            <a:ext cx="2212848" cy="502920"/>
          </a:xfrm>
          <a:prstGeom prst="rect">
            <a:avLst/>
          </a:prstGeom>
          <a:solidFill>
            <a:srgbClr val="F3F4F6"/>
          </a:solidFill>
          <a:ln w="10160">
            <a:solidFill>
              <a:srgbClr val="F3F4F6"/>
            </a:solidFill>
            <a:prstDash val="solid"/>
          </a:ln>
        </p:spPr>
      </p:sp>
      <p:sp>
        <p:nvSpPr>
          <p:cNvPr id="52" name="Text 50"/>
          <p:cNvSpPr/>
          <p:nvPr/>
        </p:nvSpPr>
        <p:spPr>
          <a:xfrm>
            <a:off x="694944" y="4526280"/>
            <a:ext cx="2029968" cy="438912"/>
          </a:xfrm>
          <a:prstGeom prst="rect">
            <a:avLst/>
          </a:prstGeom>
          <a:noFill/>
          <a:ln/>
        </p:spPr>
        <p:txBody>
          <a:bodyPr wrap="square" lIns="0" tIns="0" rIns="0" bIns="0" rtlCol="0" anchor="ctr"/>
          <a:lstStyle/>
          <a:p>
            <a:pPr algn="l" indent="0" marL="0">
              <a:buNone/>
            </a:pPr>
            <a:r>
              <a:rPr lang="en-US" sz="1200" b="1" dirty="0">
                <a:solidFill>
                  <a:srgbClr val="E31837"/>
                </a:solidFill>
                <a:latin typeface="Arial" pitchFamily="34" charset="0"/>
                <a:ea typeface="Arial" pitchFamily="34" charset="-122"/>
                <a:cs typeface="Arial" pitchFamily="34" charset="-120"/>
              </a:rPr>
              <a:t>Control Center</a:t>
            </a:r>
            <a:endParaRPr lang="en-US" sz="1200" dirty="0"/>
          </a:p>
        </p:txBody>
      </p:sp>
      <p:sp>
        <p:nvSpPr>
          <p:cNvPr id="53" name="Shape 51"/>
          <p:cNvSpPr/>
          <p:nvPr/>
        </p:nvSpPr>
        <p:spPr>
          <a:xfrm>
            <a:off x="2926080" y="4498848"/>
            <a:ext cx="2587752" cy="502920"/>
          </a:xfrm>
          <a:prstGeom prst="rect">
            <a:avLst/>
          </a:prstGeom>
          <a:solidFill>
            <a:srgbClr val="F3F4F6"/>
          </a:solidFill>
          <a:ln w="10160">
            <a:solidFill>
              <a:srgbClr val="F3F4F6"/>
            </a:solidFill>
            <a:prstDash val="solid"/>
          </a:ln>
        </p:spPr>
      </p:sp>
      <p:sp>
        <p:nvSpPr>
          <p:cNvPr id="54" name="Text 52"/>
          <p:cNvSpPr/>
          <p:nvPr/>
        </p:nvSpPr>
        <p:spPr>
          <a:xfrm>
            <a:off x="3017520" y="4526280"/>
            <a:ext cx="2404872" cy="438912"/>
          </a:xfrm>
          <a:prstGeom prst="rect">
            <a:avLst/>
          </a:prstGeom>
          <a:noFill/>
          <a:ln/>
        </p:spPr>
        <p:txBody>
          <a:bodyPr wrap="square" lIns="0" tIns="0" rIns="0" bIns="0" rtlCol="0" anchor="ctr"/>
          <a:lstStyle/>
          <a:p>
            <a:pPr algn="l" indent="0" marL="0">
              <a:buNone/>
            </a:pPr>
            <a:r>
              <a:rPr lang="en-US" sz="1135" dirty="0">
                <a:solidFill>
                  <a:srgbClr val="18191D"/>
                </a:solidFill>
                <a:latin typeface="Arial" pitchFamily="34" charset="0"/>
                <a:ea typeface="Arial" pitchFamily="34" charset="-122"/>
                <a:cs typeface="Arial" pitchFamily="34" charset="-120"/>
              </a:rPr>
              <a:t>Metrics / traces / inventory components</a:t>
            </a:r>
            <a:endParaRPr lang="en-US" sz="1135" dirty="0"/>
          </a:p>
        </p:txBody>
      </p:sp>
      <p:sp>
        <p:nvSpPr>
          <p:cNvPr id="55" name="Shape 53"/>
          <p:cNvSpPr/>
          <p:nvPr/>
        </p:nvSpPr>
        <p:spPr>
          <a:xfrm>
            <a:off x="5614416" y="4498848"/>
            <a:ext cx="3730752" cy="502920"/>
          </a:xfrm>
          <a:prstGeom prst="rect">
            <a:avLst/>
          </a:prstGeom>
          <a:solidFill>
            <a:srgbClr val="F3F4F6"/>
          </a:solidFill>
          <a:ln w="10160">
            <a:solidFill>
              <a:srgbClr val="F3F4F6"/>
            </a:solidFill>
            <a:prstDash val="solid"/>
          </a:ln>
        </p:spPr>
      </p:sp>
      <p:sp>
        <p:nvSpPr>
          <p:cNvPr id="56" name="Text 54"/>
          <p:cNvSpPr/>
          <p:nvPr/>
        </p:nvSpPr>
        <p:spPr>
          <a:xfrm>
            <a:off x="5705856" y="4526280"/>
            <a:ext cx="3547872" cy="438912"/>
          </a:xfrm>
          <a:prstGeom prst="rect">
            <a:avLst/>
          </a:prstGeom>
          <a:noFill/>
          <a:ln/>
        </p:spPr>
        <p:txBody>
          <a:bodyPr wrap="square" lIns="0" tIns="0" rIns="0" bIns="0" rtlCol="0" anchor="ctr"/>
          <a:lstStyle/>
          <a:p>
            <a:pPr algn="l" indent="0" marL="0">
              <a:buNone/>
            </a:pPr>
            <a:r>
              <a:rPr lang="en-US" sz="1135" dirty="0">
                <a:solidFill>
                  <a:srgbClr val="18191D"/>
                </a:solidFill>
                <a:latin typeface="Arial" pitchFamily="34" charset="0"/>
                <a:ea typeface="Arial" pitchFamily="34" charset="-122"/>
                <a:cs typeface="Arial" pitchFamily="34" charset="-120"/>
              </a:rPr>
              <a:t>Fleet correlations, local setup, updates and support UI</a:t>
            </a:r>
            <a:endParaRPr lang="en-US" sz="1135" dirty="0"/>
          </a:p>
        </p:txBody>
      </p:sp>
      <p:sp>
        <p:nvSpPr>
          <p:cNvPr id="57" name="Shape 55"/>
          <p:cNvSpPr/>
          <p:nvPr/>
        </p:nvSpPr>
        <p:spPr>
          <a:xfrm>
            <a:off x="9454896" y="4498848"/>
            <a:ext cx="2139696" cy="502920"/>
          </a:xfrm>
          <a:prstGeom prst="rect">
            <a:avLst/>
          </a:prstGeom>
          <a:solidFill>
            <a:srgbClr val="F3F4F6"/>
          </a:solidFill>
          <a:ln w="10160">
            <a:solidFill>
              <a:srgbClr val="F3F4F6"/>
            </a:solidFill>
            <a:prstDash val="solid"/>
          </a:ln>
        </p:spPr>
      </p:sp>
      <p:sp>
        <p:nvSpPr>
          <p:cNvPr id="58" name="Text 56"/>
          <p:cNvSpPr/>
          <p:nvPr/>
        </p:nvSpPr>
        <p:spPr>
          <a:xfrm>
            <a:off x="9546336" y="4526280"/>
            <a:ext cx="1956816" cy="438912"/>
          </a:xfrm>
          <a:prstGeom prst="rect">
            <a:avLst/>
          </a:prstGeom>
          <a:noFill/>
          <a:ln/>
        </p:spPr>
        <p:txBody>
          <a:bodyPr wrap="square" lIns="0" tIns="0" rIns="0" bIns="0" rtlCol="0" anchor="ctr"/>
          <a:lstStyle/>
          <a:p>
            <a:pPr algn="l" indent="0" marL="0">
              <a:buNone/>
            </a:pPr>
            <a:r>
              <a:rPr lang="en-US" sz="1135" dirty="0">
                <a:solidFill>
                  <a:srgbClr val="18191D"/>
                </a:solidFill>
                <a:latin typeface="Arial" pitchFamily="34" charset="0"/>
                <a:ea typeface="Arial" pitchFamily="34" charset="-122"/>
                <a:cs typeface="Arial" pitchFamily="34" charset="-120"/>
              </a:rPr>
              <a:t>SRE + product platform</a:t>
            </a:r>
            <a:endParaRPr lang="en-US" sz="1135" dirty="0"/>
          </a:p>
        </p:txBody>
      </p:sp>
      <p:sp>
        <p:nvSpPr>
          <p:cNvPr id="59" name="Shape 57"/>
          <p:cNvSpPr/>
          <p:nvPr/>
        </p:nvSpPr>
        <p:spPr>
          <a:xfrm>
            <a:off x="603504" y="5020056"/>
            <a:ext cx="2212848" cy="502920"/>
          </a:xfrm>
          <a:prstGeom prst="rect">
            <a:avLst/>
          </a:prstGeom>
          <a:solidFill>
            <a:srgbClr val="FFFFFF"/>
          </a:solidFill>
          <a:ln w="10160">
            <a:solidFill>
              <a:srgbClr val="FFFFFF"/>
            </a:solidFill>
            <a:prstDash val="solid"/>
          </a:ln>
        </p:spPr>
      </p:sp>
      <p:sp>
        <p:nvSpPr>
          <p:cNvPr id="60" name="Text 58"/>
          <p:cNvSpPr/>
          <p:nvPr/>
        </p:nvSpPr>
        <p:spPr>
          <a:xfrm>
            <a:off x="694944" y="5047488"/>
            <a:ext cx="2029968" cy="438912"/>
          </a:xfrm>
          <a:prstGeom prst="rect">
            <a:avLst/>
          </a:prstGeom>
          <a:noFill/>
          <a:ln/>
        </p:spPr>
        <p:txBody>
          <a:bodyPr wrap="square" lIns="0" tIns="0" rIns="0" bIns="0" rtlCol="0" anchor="ctr"/>
          <a:lstStyle/>
          <a:p>
            <a:pPr algn="l" indent="0" marL="0">
              <a:buNone/>
            </a:pPr>
            <a:r>
              <a:rPr lang="en-US" sz="1200" b="1" dirty="0">
                <a:solidFill>
                  <a:srgbClr val="E31837"/>
                </a:solidFill>
                <a:latin typeface="Arial" pitchFamily="34" charset="0"/>
                <a:ea typeface="Arial" pitchFamily="34" charset="-122"/>
                <a:cs typeface="Arial" pitchFamily="34" charset="-120"/>
              </a:rPr>
              <a:t>Enterprise Support</a:t>
            </a:r>
            <a:endParaRPr lang="en-US" sz="1200" dirty="0"/>
          </a:p>
        </p:txBody>
      </p:sp>
      <p:sp>
        <p:nvSpPr>
          <p:cNvPr id="61" name="Shape 59"/>
          <p:cNvSpPr/>
          <p:nvPr/>
        </p:nvSpPr>
        <p:spPr>
          <a:xfrm>
            <a:off x="2926080" y="5020056"/>
            <a:ext cx="2587752" cy="502920"/>
          </a:xfrm>
          <a:prstGeom prst="rect">
            <a:avLst/>
          </a:prstGeom>
          <a:solidFill>
            <a:srgbClr val="FFFFFF"/>
          </a:solidFill>
          <a:ln w="10160">
            <a:solidFill>
              <a:srgbClr val="FFFFFF"/>
            </a:solidFill>
            <a:prstDash val="solid"/>
          </a:ln>
        </p:spPr>
      </p:sp>
      <p:sp>
        <p:nvSpPr>
          <p:cNvPr id="62" name="Text 60"/>
          <p:cNvSpPr/>
          <p:nvPr/>
        </p:nvSpPr>
        <p:spPr>
          <a:xfrm>
            <a:off x="3017520" y="5047488"/>
            <a:ext cx="2404872" cy="438912"/>
          </a:xfrm>
          <a:prstGeom prst="rect">
            <a:avLst/>
          </a:prstGeom>
          <a:noFill/>
          <a:ln/>
        </p:spPr>
        <p:txBody>
          <a:bodyPr wrap="square" lIns="0" tIns="0" rIns="0" bIns="0" rtlCol="0" anchor="ctr"/>
          <a:lstStyle/>
          <a:p>
            <a:pPr algn="l" indent="0" marL="0">
              <a:buNone/>
            </a:pPr>
            <a:r>
              <a:rPr lang="en-US" sz="1135" dirty="0">
                <a:solidFill>
                  <a:srgbClr val="18191D"/>
                </a:solidFill>
                <a:latin typeface="Arial" pitchFamily="34" charset="0"/>
                <a:ea typeface="Arial" pitchFamily="34" charset="-122"/>
                <a:cs typeface="Arial" pitchFamily="34" charset="-120"/>
              </a:rPr>
              <a:t>Registry / portal / case systems</a:t>
            </a:r>
            <a:endParaRPr lang="en-US" sz="1135" dirty="0"/>
          </a:p>
        </p:txBody>
      </p:sp>
      <p:sp>
        <p:nvSpPr>
          <p:cNvPr id="63" name="Shape 61"/>
          <p:cNvSpPr/>
          <p:nvPr/>
        </p:nvSpPr>
        <p:spPr>
          <a:xfrm>
            <a:off x="5614416" y="5020056"/>
            <a:ext cx="3730752" cy="502920"/>
          </a:xfrm>
          <a:prstGeom prst="rect">
            <a:avLst/>
          </a:prstGeom>
          <a:solidFill>
            <a:srgbClr val="FFFFFF"/>
          </a:solidFill>
          <a:ln w="10160">
            <a:solidFill>
              <a:srgbClr val="FFFFFF"/>
            </a:solidFill>
            <a:prstDash val="solid"/>
          </a:ln>
        </p:spPr>
      </p:sp>
      <p:sp>
        <p:nvSpPr>
          <p:cNvPr id="64" name="Text 62"/>
          <p:cNvSpPr/>
          <p:nvPr/>
        </p:nvSpPr>
        <p:spPr>
          <a:xfrm>
            <a:off x="5705856" y="5047488"/>
            <a:ext cx="3547872" cy="438912"/>
          </a:xfrm>
          <a:prstGeom prst="rect">
            <a:avLst/>
          </a:prstGeom>
          <a:noFill/>
          <a:ln/>
        </p:spPr>
        <p:txBody>
          <a:bodyPr wrap="square" lIns="0" tIns="0" rIns="0" bIns="0" rtlCol="0" anchor="ctr"/>
          <a:lstStyle/>
          <a:p>
            <a:pPr algn="l" indent="0" marL="0">
              <a:buNone/>
            </a:pPr>
            <a:r>
              <a:rPr lang="en-US" sz="1135" dirty="0">
                <a:solidFill>
                  <a:srgbClr val="18191D"/>
                </a:solidFill>
                <a:latin typeface="Arial" pitchFamily="34" charset="0"/>
                <a:ea typeface="Arial" pitchFamily="34" charset="-122"/>
                <a:cs typeface="Arial" pitchFamily="34" charset="-120"/>
              </a:rPr>
              <a:t>Release factory, PSIRT, LTS, OEM escalation and spares</a:t>
            </a:r>
            <a:endParaRPr lang="en-US" sz="1135" dirty="0"/>
          </a:p>
        </p:txBody>
      </p:sp>
      <p:sp>
        <p:nvSpPr>
          <p:cNvPr id="65" name="Shape 63"/>
          <p:cNvSpPr/>
          <p:nvPr/>
        </p:nvSpPr>
        <p:spPr>
          <a:xfrm>
            <a:off x="9454896" y="5020056"/>
            <a:ext cx="2139696" cy="502920"/>
          </a:xfrm>
          <a:prstGeom prst="rect">
            <a:avLst/>
          </a:prstGeom>
          <a:solidFill>
            <a:srgbClr val="FFFFFF"/>
          </a:solidFill>
          <a:ln w="10160">
            <a:solidFill>
              <a:srgbClr val="FFFFFF"/>
            </a:solidFill>
            <a:prstDash val="solid"/>
          </a:ln>
        </p:spPr>
      </p:sp>
      <p:sp>
        <p:nvSpPr>
          <p:cNvPr id="66" name="Text 64"/>
          <p:cNvSpPr/>
          <p:nvPr/>
        </p:nvSpPr>
        <p:spPr>
          <a:xfrm>
            <a:off x="9546336" y="5047488"/>
            <a:ext cx="1956816" cy="438912"/>
          </a:xfrm>
          <a:prstGeom prst="rect">
            <a:avLst/>
          </a:prstGeom>
          <a:noFill/>
          <a:ln/>
        </p:spPr>
        <p:txBody>
          <a:bodyPr wrap="square" lIns="0" tIns="0" rIns="0" bIns="0" rtlCol="0" anchor="ctr"/>
          <a:lstStyle/>
          <a:p>
            <a:pPr algn="l" indent="0" marL="0">
              <a:buNone/>
            </a:pPr>
            <a:r>
              <a:rPr lang="en-US" sz="1135" dirty="0">
                <a:solidFill>
                  <a:srgbClr val="18191D"/>
                </a:solidFill>
                <a:latin typeface="Arial" pitchFamily="34" charset="0"/>
                <a:ea typeface="Arial" pitchFamily="34" charset="-122"/>
                <a:cs typeface="Arial" pitchFamily="34" charset="-120"/>
              </a:rPr>
              <a:t>Release + support + OEM</a:t>
            </a:r>
            <a:endParaRPr lang="en-US" sz="1135" dirty="0"/>
          </a:p>
        </p:txBody>
      </p:sp>
      <p:sp>
        <p:nvSpPr>
          <p:cNvPr id="67" name="Shape 65"/>
          <p:cNvSpPr/>
          <p:nvPr/>
        </p:nvSpPr>
        <p:spPr>
          <a:xfrm>
            <a:off x="475488" y="5843016"/>
            <a:ext cx="11228832" cy="457200"/>
          </a:xfrm>
          <a:prstGeom prst="rect">
            <a:avLst/>
          </a:prstGeom>
          <a:solidFill>
            <a:srgbClr val="FCECEF"/>
          </a:solidFill>
          <a:ln w="10160">
            <a:solidFill>
              <a:srgbClr val="FCECEF"/>
            </a:solidFill>
            <a:prstDash val="solid"/>
          </a:ln>
        </p:spPr>
      </p:sp>
      <p:sp>
        <p:nvSpPr>
          <p:cNvPr id="68" name="Text 66"/>
          <p:cNvSpPr/>
          <p:nvPr/>
        </p:nvSpPr>
        <p:spPr>
          <a:xfrm>
            <a:off x="621792" y="5893308"/>
            <a:ext cx="10936224" cy="347472"/>
          </a:xfrm>
          <a:prstGeom prst="rect">
            <a:avLst/>
          </a:prstGeom>
          <a:noFill/>
          <a:ln/>
        </p:spPr>
        <p:txBody>
          <a:bodyPr wrap="square" lIns="0" tIns="0" rIns="0" bIns="0" rtlCol="0" anchor="ctr"/>
          <a:lstStyle/>
          <a:p>
            <a:pPr algn="l" indent="0" marL="0">
              <a:buNone/>
            </a:pPr>
            <a:r>
              <a:rPr lang="en-US" sz="1300" b="1" dirty="0">
                <a:solidFill>
                  <a:srgbClr val="E31837"/>
                </a:solidFill>
                <a:latin typeface="Arial" pitchFamily="34" charset="0"/>
                <a:ea typeface="Arial" pitchFamily="34" charset="-122"/>
                <a:cs typeface="Arial" pitchFamily="34" charset="-120"/>
              </a:rPr>
              <a:t>Component selection is not delivery. Freeze ownership, API/ABI, test evidence and support responsibility for every layer.</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E31837"/>
          </a:solidFill>
          <a:ln w="10160">
            <a:solidFill>
              <a:srgbClr val="E31837"/>
            </a:solidFill>
            <a:prstDash val="solid"/>
          </a:ln>
        </p:spPr>
      </p:sp>
      <p:sp>
        <p:nvSpPr>
          <p:cNvPr id="3" name="Text 1"/>
          <p:cNvSpPr/>
          <p:nvPr/>
        </p:nvSpPr>
        <p:spPr>
          <a:xfrm>
            <a:off x="457200" y="228600"/>
            <a:ext cx="1645920" cy="228600"/>
          </a:xfrm>
          <a:prstGeom prst="rect">
            <a:avLst/>
          </a:prstGeom>
          <a:noFill/>
          <a:ln/>
        </p:spPr>
        <p:txBody>
          <a:bodyPr wrap="square" lIns="0" tIns="0" rIns="0" bIns="0" rtlCol="0" anchor="ctr"/>
          <a:lstStyle/>
          <a:p>
            <a:pPr algn="l" indent="0" marL="0">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4" name="Text 2"/>
          <p:cNvSpPr/>
          <p:nvPr/>
        </p:nvSpPr>
        <p:spPr>
          <a:xfrm>
            <a:off x="1965960" y="256032"/>
            <a:ext cx="9144000" cy="182880"/>
          </a:xfrm>
          <a:prstGeom prst="rect">
            <a:avLst/>
          </a:prstGeom>
          <a:noFill/>
          <a:ln/>
        </p:spPr>
        <p:txBody>
          <a:bodyPr wrap="square" lIns="0" tIns="0" rIns="0" bIns="0" rtlCol="0" anchor="ctr"/>
          <a:lstStyle/>
          <a:p>
            <a:pPr algn="l" indent="0" marL="0">
              <a:buNone/>
            </a:pPr>
            <a:r>
              <a:rPr lang="en-US" sz="1050" b="1" dirty="0">
                <a:solidFill>
                  <a:srgbClr val="5B6169"/>
                </a:solidFill>
                <a:latin typeface="Arial" pitchFamily="34" charset="0"/>
                <a:ea typeface="Arial" pitchFamily="34" charset="-122"/>
                <a:cs typeface="Arial" pitchFamily="34" charset="-120"/>
              </a:rPr>
              <a:t>ATMOS  /  A18 / ACCEPTANCE + DECISIONS</a:t>
            </a:r>
            <a:endParaRPr lang="en-US" sz="1050" dirty="0"/>
          </a:p>
        </p:txBody>
      </p:sp>
      <p:sp>
        <p:nvSpPr>
          <p:cNvPr id="5" name="Text 3"/>
          <p:cNvSpPr/>
          <p:nvPr/>
        </p:nvSpPr>
        <p:spPr>
          <a:xfrm>
            <a:off x="475488" y="758952"/>
            <a:ext cx="11201400" cy="493776"/>
          </a:xfrm>
          <a:prstGeom prst="rect">
            <a:avLst/>
          </a:prstGeom>
          <a:noFill/>
          <a:ln/>
        </p:spPr>
        <p:txBody>
          <a:bodyPr wrap="square" lIns="0" tIns="0" rIns="0" bIns="0" rtlCol="0" anchor="ctr"/>
          <a:lstStyle/>
          <a:p>
            <a:pPr algn="l" indent="0" marL="0">
              <a:buNone/>
            </a:pPr>
            <a:r>
              <a:rPr lang="en-US" sz="2750" b="1" dirty="0">
                <a:solidFill>
                  <a:srgbClr val="18191D"/>
                </a:solidFill>
                <a:latin typeface="Arial" pitchFamily="34" charset="0"/>
                <a:ea typeface="Arial" pitchFamily="34" charset="-122"/>
                <a:cs typeface="Arial" pitchFamily="34" charset="-120"/>
              </a:rPr>
              <a:t>Close the design with tests—not a list of software logos.</a:t>
            </a:r>
            <a:endParaRPr lang="en-US" sz="2750" dirty="0"/>
          </a:p>
        </p:txBody>
      </p:sp>
      <p:sp>
        <p:nvSpPr>
          <p:cNvPr id="6" name="Text 4"/>
          <p:cNvSpPr/>
          <p:nvPr/>
        </p:nvSpPr>
        <p:spPr>
          <a:xfrm>
            <a:off x="502920" y="1298448"/>
            <a:ext cx="11064240" cy="411480"/>
          </a:xfrm>
          <a:prstGeom prst="rect">
            <a:avLst/>
          </a:prstGeom>
          <a:noFill/>
          <a:ln/>
        </p:spPr>
        <p:txBody>
          <a:bodyPr wrap="square" lIns="0" tIns="0" rIns="0" bIns="0" rtlCol="0" anchor="ctr"/>
          <a:lstStyle/>
          <a:p>
            <a:pPr algn="l" indent="0" marL="0">
              <a:buNone/>
            </a:pPr>
            <a:r>
              <a:rPr lang="en-US" sz="1350" dirty="0">
                <a:solidFill>
                  <a:srgbClr val="5B6169"/>
                </a:solidFill>
                <a:latin typeface="Arial" pitchFamily="34" charset="0"/>
                <a:ea typeface="Arial" pitchFamily="34" charset="-122"/>
                <a:cs typeface="Arial" pitchFamily="34" charset="-120"/>
              </a:rPr>
              <a:t>No production release until the complete local service survives installation, policy abuse and change.</a:t>
            </a:r>
            <a:endParaRPr lang="en-US" sz="1350" dirty="0"/>
          </a:p>
        </p:txBody>
      </p:sp>
      <p:sp>
        <p:nvSpPr>
          <p:cNvPr id="7" name="Shape 5"/>
          <p:cNvSpPr/>
          <p:nvPr/>
        </p:nvSpPr>
        <p:spPr>
          <a:xfrm>
            <a:off x="484632" y="6464808"/>
            <a:ext cx="11237976" cy="0"/>
          </a:xfrm>
          <a:prstGeom prst="line">
            <a:avLst/>
          </a:prstGeom>
          <a:noFill/>
          <a:ln w="7620">
            <a:solidFill>
              <a:srgbClr val="D9DDE3"/>
            </a:solidFill>
            <a:prstDash val="solid"/>
            <a:headEnd type="none"/>
            <a:tailEnd type="none"/>
          </a:ln>
        </p:spPr>
      </p:sp>
      <p:sp>
        <p:nvSpPr>
          <p:cNvPr id="8" name="Text 6"/>
          <p:cNvSpPr/>
          <p:nvPr/>
        </p:nvSpPr>
        <p:spPr>
          <a:xfrm>
            <a:off x="512064" y="6547104"/>
            <a:ext cx="9418320" cy="164592"/>
          </a:xfrm>
          <a:prstGeom prst="rect">
            <a:avLst/>
          </a:prstGeom>
          <a:noFill/>
          <a:ln/>
        </p:spPr>
        <p:txBody>
          <a:bodyPr wrap="square" lIns="0" tIns="0" rIns="0" bIns="0" rtlCol="0" anchor="ctr"/>
          <a:lstStyle/>
          <a:p>
            <a:pPr algn="l" indent="0" marL="0">
              <a:buNone/>
            </a:pPr>
            <a:r>
              <a:rPr lang="en-US" sz="850" dirty="0">
                <a:solidFill>
                  <a:srgbClr val="5B6169"/>
                </a:solidFill>
                <a:latin typeface="Arial" pitchFamily="34" charset="0"/>
                <a:ea typeface="Arial" pitchFamily="34" charset="-122"/>
                <a:cs typeface="Arial" pitchFamily="34" charset="-120"/>
              </a:rPr>
              <a:t>TECHNICAL APPENDIX TO V3  •  6 OCT 2026  •  PROPOSED DESIGN / QUALIFICATION REQUIRED</a:t>
            </a:r>
            <a:endParaRPr lang="en-US" sz="850" dirty="0"/>
          </a:p>
        </p:txBody>
      </p:sp>
      <p:sp>
        <p:nvSpPr>
          <p:cNvPr id="9" name="Text 7"/>
          <p:cNvSpPr/>
          <p:nvPr/>
        </p:nvSpPr>
        <p:spPr>
          <a:xfrm>
            <a:off x="11219688" y="6519672"/>
            <a:ext cx="457200" cy="219456"/>
          </a:xfrm>
          <a:prstGeom prst="rect">
            <a:avLst/>
          </a:prstGeom>
          <a:noFill/>
          <a:ln/>
        </p:spPr>
        <p:txBody>
          <a:bodyPr wrap="square" lIns="0" tIns="0" rIns="0" bIns="0" rtlCol="0" anchor="ctr"/>
          <a:lstStyle/>
          <a:p>
            <a:pPr algn="r" indent="0" marL="0">
              <a:buNone/>
            </a:pPr>
            <a:r>
              <a:rPr lang="en-US" sz="1000" b="1" dirty="0">
                <a:solidFill>
                  <a:srgbClr val="E31837"/>
                </a:solidFill>
                <a:latin typeface="Arial" pitchFamily="34" charset="0"/>
                <a:ea typeface="Arial" pitchFamily="34" charset="-122"/>
                <a:cs typeface="Arial" pitchFamily="34" charset="-120"/>
              </a:rPr>
              <a:t>19</a:t>
            </a:r>
            <a:endParaRPr lang="en-US" sz="1000" dirty="0"/>
          </a:p>
        </p:txBody>
      </p:sp>
      <p:sp>
        <p:nvSpPr>
          <p:cNvPr id="10" name="Text 8">
            <a:hlinkClick r:id="rId1" tooltip=""/>
          </p:cNvPr>
          <p:cNvSpPr/>
          <p:nvPr/>
        </p:nvSpPr>
        <p:spPr>
          <a:xfrm>
            <a:off x="9875520" y="237744"/>
            <a:ext cx="1828800" cy="219456"/>
          </a:xfrm>
          <a:prstGeom prst="rect">
            <a:avLst/>
          </a:prstGeom>
          <a:noFill/>
          <a:ln/>
        </p:spPr>
        <p:txBody>
          <a:bodyPr wrap="square" lIns="0" tIns="0" rIns="0" bIns="0" rtlCol="0" anchor="ctr"/>
          <a:lstStyle/>
          <a:p>
            <a:pPr algn="r" indent="0" marL="0">
              <a:buNone/>
            </a:pPr>
            <a:r>
              <a:rPr lang="en-US" sz="1000"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technical notes</a:t>
            </a:r>
            <a:endParaRPr lang="en-US" sz="1000" dirty="0"/>
          </a:p>
        </p:txBody>
      </p:sp>
      <p:sp>
        <p:nvSpPr>
          <p:cNvPr id="11" name="Shape 9"/>
          <p:cNvSpPr/>
          <p:nvPr/>
        </p:nvSpPr>
        <p:spPr>
          <a:xfrm>
            <a:off x="612648" y="1947672"/>
            <a:ext cx="3557016" cy="1536192"/>
          </a:xfrm>
          <a:prstGeom prst="rect">
            <a:avLst/>
          </a:prstGeom>
          <a:solidFill>
            <a:srgbClr val="FCECEF"/>
          </a:solidFill>
          <a:ln w="10160">
            <a:solidFill>
              <a:srgbClr val="FCECEF"/>
            </a:solidFill>
            <a:prstDash val="solid"/>
          </a:ln>
        </p:spPr>
      </p:sp>
      <p:sp>
        <p:nvSpPr>
          <p:cNvPr id="12" name="Text 10"/>
          <p:cNvSpPr/>
          <p:nvPr/>
        </p:nvSpPr>
        <p:spPr>
          <a:xfrm>
            <a:off x="749808" y="2057400"/>
            <a:ext cx="438912" cy="320040"/>
          </a:xfrm>
          <a:prstGeom prst="rect">
            <a:avLst/>
          </a:prstGeom>
          <a:noFill/>
          <a:ln/>
        </p:spPr>
        <p:txBody>
          <a:bodyPr wrap="square" lIns="0" tIns="0" rIns="0" bIns="0" rtlCol="0" anchor="ctr"/>
          <a:lstStyle/>
          <a:p>
            <a:pPr algn="l" indent="0" marL="0">
              <a:buNone/>
            </a:pPr>
            <a:r>
              <a:rPr lang="en-US" sz="2200" b="1" dirty="0">
                <a:solidFill>
                  <a:srgbClr val="E31837"/>
                </a:solidFill>
                <a:latin typeface="Arial" pitchFamily="34" charset="0"/>
                <a:ea typeface="Arial" pitchFamily="34" charset="-122"/>
                <a:cs typeface="Arial" pitchFamily="34" charset="-120"/>
              </a:rPr>
              <a:t>01</a:t>
            </a:r>
            <a:endParaRPr lang="en-US" sz="2200" dirty="0"/>
          </a:p>
        </p:txBody>
      </p:sp>
      <p:sp>
        <p:nvSpPr>
          <p:cNvPr id="13" name="Text 11"/>
          <p:cNvSpPr/>
          <p:nvPr/>
        </p:nvSpPr>
        <p:spPr>
          <a:xfrm>
            <a:off x="1307592" y="2048256"/>
            <a:ext cx="2706624" cy="384048"/>
          </a:xfrm>
          <a:prstGeom prst="rect">
            <a:avLst/>
          </a:prstGeom>
          <a:noFill/>
          <a:ln/>
        </p:spPr>
        <p:txBody>
          <a:bodyPr wrap="square" lIns="0" tIns="0" rIns="0" bIns="0" rtlCol="0" anchor="ctr"/>
          <a:lstStyle/>
          <a:p>
            <a:pPr algn="l" indent="0" marL="0">
              <a:buNone/>
            </a:pPr>
            <a:r>
              <a:rPr lang="en-US" sz="1650" b="1" dirty="0">
                <a:solidFill>
                  <a:srgbClr val="18191D"/>
                </a:solidFill>
                <a:latin typeface="Arial" pitchFamily="34" charset="0"/>
                <a:ea typeface="Arial" pitchFamily="34" charset="-122"/>
                <a:cs typeface="Arial" pitchFamily="34" charset="-120"/>
              </a:rPr>
              <a:t>Trusted boot + device</a:t>
            </a:r>
            <a:endParaRPr lang="en-US" sz="1650" dirty="0"/>
          </a:p>
        </p:txBody>
      </p:sp>
      <p:sp>
        <p:nvSpPr>
          <p:cNvPr id="14" name="Text 12"/>
          <p:cNvSpPr/>
          <p:nvPr/>
        </p:nvSpPr>
        <p:spPr>
          <a:xfrm>
            <a:off x="768096" y="2615184"/>
            <a:ext cx="3255264" cy="694944"/>
          </a:xfrm>
          <a:prstGeom prst="rect">
            <a:avLst/>
          </a:prstGeom>
          <a:noFill/>
          <a:ln/>
        </p:spPr>
        <p:txBody>
          <a:bodyPr wrap="square" lIns="0" tIns="0" rIns="0" bIns="0" rtlCol="0" anchor="ctr"/>
          <a:lstStyle/>
          <a:p>
            <a:pPr algn="l" indent="0" marL="0">
              <a:buNone/>
            </a:pPr>
            <a:r>
              <a:rPr lang="en-US" sz="1300" dirty="0">
                <a:solidFill>
                  <a:srgbClr val="5B6169"/>
                </a:solidFill>
                <a:latin typeface="Arial" pitchFamily="34" charset="0"/>
                <a:ea typeface="Arial" pitchFamily="34" charset="-122"/>
                <a:cs typeface="Arial" pitchFamily="34" charset="-120"/>
              </a:rPr>
              <a:t>Correct BOM, signed image, DMA/reset isolation and complete allocation.</a:t>
            </a:r>
            <a:endParaRPr lang="en-US" sz="1300" dirty="0"/>
          </a:p>
        </p:txBody>
      </p:sp>
      <p:sp>
        <p:nvSpPr>
          <p:cNvPr id="15" name="Shape 13"/>
          <p:cNvSpPr/>
          <p:nvPr/>
        </p:nvSpPr>
        <p:spPr>
          <a:xfrm>
            <a:off x="4398264" y="1947672"/>
            <a:ext cx="3557016" cy="1536192"/>
          </a:xfrm>
          <a:prstGeom prst="rect">
            <a:avLst/>
          </a:prstGeom>
          <a:solidFill>
            <a:srgbClr val="F3F4F6"/>
          </a:solidFill>
          <a:ln w="10160">
            <a:solidFill>
              <a:srgbClr val="F3F4F6"/>
            </a:solidFill>
            <a:prstDash val="solid"/>
          </a:ln>
        </p:spPr>
      </p:sp>
      <p:sp>
        <p:nvSpPr>
          <p:cNvPr id="16" name="Text 14"/>
          <p:cNvSpPr/>
          <p:nvPr/>
        </p:nvSpPr>
        <p:spPr>
          <a:xfrm>
            <a:off x="4535424" y="2057400"/>
            <a:ext cx="438912" cy="320040"/>
          </a:xfrm>
          <a:prstGeom prst="rect">
            <a:avLst/>
          </a:prstGeom>
          <a:noFill/>
          <a:ln/>
        </p:spPr>
        <p:txBody>
          <a:bodyPr wrap="square" lIns="0" tIns="0" rIns="0" bIns="0" rtlCol="0" anchor="ctr"/>
          <a:lstStyle/>
          <a:p>
            <a:pPr algn="l" indent="0" marL="0">
              <a:buNone/>
            </a:pPr>
            <a:r>
              <a:rPr lang="en-US" sz="2200" b="1" dirty="0">
                <a:solidFill>
                  <a:srgbClr val="E31837"/>
                </a:solidFill>
                <a:latin typeface="Arial" pitchFamily="34" charset="0"/>
                <a:ea typeface="Arial" pitchFamily="34" charset="-122"/>
                <a:cs typeface="Arial" pitchFamily="34" charset="-120"/>
              </a:rPr>
              <a:t>02</a:t>
            </a:r>
            <a:endParaRPr lang="en-US" sz="2200" dirty="0"/>
          </a:p>
        </p:txBody>
      </p:sp>
      <p:sp>
        <p:nvSpPr>
          <p:cNvPr id="17" name="Text 15"/>
          <p:cNvSpPr/>
          <p:nvPr/>
        </p:nvSpPr>
        <p:spPr>
          <a:xfrm>
            <a:off x="5093208" y="2048256"/>
            <a:ext cx="2706624" cy="384048"/>
          </a:xfrm>
          <a:prstGeom prst="rect">
            <a:avLst/>
          </a:prstGeom>
          <a:noFill/>
          <a:ln/>
        </p:spPr>
        <p:txBody>
          <a:bodyPr wrap="square" lIns="0" tIns="0" rIns="0" bIns="0" rtlCol="0" anchor="ctr"/>
          <a:lstStyle/>
          <a:p>
            <a:pPr algn="l" indent="0" marL="0">
              <a:buNone/>
            </a:pPr>
            <a:r>
              <a:rPr lang="en-US" sz="1650" b="1" dirty="0">
                <a:solidFill>
                  <a:srgbClr val="18191D"/>
                </a:solidFill>
                <a:latin typeface="Arial" pitchFamily="34" charset="0"/>
                <a:ea typeface="Arial" pitchFamily="34" charset="-122"/>
                <a:cs typeface="Arial" pitchFamily="34" charset="-120"/>
              </a:rPr>
              <a:t>Admission + tenant safety</a:t>
            </a:r>
            <a:endParaRPr lang="en-US" sz="1650" dirty="0"/>
          </a:p>
        </p:txBody>
      </p:sp>
      <p:sp>
        <p:nvSpPr>
          <p:cNvPr id="18" name="Text 16"/>
          <p:cNvSpPr/>
          <p:nvPr/>
        </p:nvSpPr>
        <p:spPr>
          <a:xfrm>
            <a:off x="4553712" y="2615184"/>
            <a:ext cx="3255264" cy="694944"/>
          </a:xfrm>
          <a:prstGeom prst="rect">
            <a:avLst/>
          </a:prstGeom>
          <a:noFill/>
          <a:ln/>
        </p:spPr>
        <p:txBody>
          <a:bodyPr wrap="square" lIns="0" tIns="0" rIns="0" bIns="0" rtlCol="0" anchor="ctr"/>
          <a:lstStyle/>
          <a:p>
            <a:pPr algn="l" indent="0" marL="0">
              <a:buNone/>
            </a:pPr>
            <a:r>
              <a:rPr lang="en-US" sz="1300" dirty="0">
                <a:solidFill>
                  <a:srgbClr val="5B6169"/>
                </a:solidFill>
                <a:latin typeface="Arial" pitchFamily="34" charset="0"/>
                <a:ea typeface="Arial" pitchFamily="34" charset="-122"/>
                <a:cs typeface="Arial" pitchFamily="34" charset="-120"/>
              </a:rPr>
              <a:t>Atomic budget holds, overload rejection, spoofing and ACL-leakage tests.</a:t>
            </a:r>
            <a:endParaRPr lang="en-US" sz="1300" dirty="0"/>
          </a:p>
        </p:txBody>
      </p:sp>
      <p:sp>
        <p:nvSpPr>
          <p:cNvPr id="19" name="Shape 17"/>
          <p:cNvSpPr/>
          <p:nvPr/>
        </p:nvSpPr>
        <p:spPr>
          <a:xfrm>
            <a:off x="8183880" y="1947672"/>
            <a:ext cx="3557016" cy="1536192"/>
          </a:xfrm>
          <a:prstGeom prst="rect">
            <a:avLst/>
          </a:prstGeom>
          <a:solidFill>
            <a:srgbClr val="FCECEF"/>
          </a:solidFill>
          <a:ln w="10160">
            <a:solidFill>
              <a:srgbClr val="FCECEF"/>
            </a:solidFill>
            <a:prstDash val="solid"/>
          </a:ln>
        </p:spPr>
      </p:sp>
      <p:sp>
        <p:nvSpPr>
          <p:cNvPr id="20" name="Text 18"/>
          <p:cNvSpPr/>
          <p:nvPr/>
        </p:nvSpPr>
        <p:spPr>
          <a:xfrm>
            <a:off x="8321040" y="2057400"/>
            <a:ext cx="438912" cy="320040"/>
          </a:xfrm>
          <a:prstGeom prst="rect">
            <a:avLst/>
          </a:prstGeom>
          <a:noFill/>
          <a:ln/>
        </p:spPr>
        <p:txBody>
          <a:bodyPr wrap="square" lIns="0" tIns="0" rIns="0" bIns="0" rtlCol="0" anchor="ctr"/>
          <a:lstStyle/>
          <a:p>
            <a:pPr algn="l" indent="0" marL="0">
              <a:buNone/>
            </a:pPr>
            <a:r>
              <a:rPr lang="en-US" sz="2200" b="1" dirty="0">
                <a:solidFill>
                  <a:srgbClr val="E31837"/>
                </a:solidFill>
                <a:latin typeface="Arial" pitchFamily="34" charset="0"/>
                <a:ea typeface="Arial" pitchFamily="34" charset="-122"/>
                <a:cs typeface="Arial" pitchFamily="34" charset="-120"/>
              </a:rPr>
              <a:t>03</a:t>
            </a:r>
            <a:endParaRPr lang="en-US" sz="2200" dirty="0"/>
          </a:p>
        </p:txBody>
      </p:sp>
      <p:sp>
        <p:nvSpPr>
          <p:cNvPr id="21" name="Text 19"/>
          <p:cNvSpPr/>
          <p:nvPr/>
        </p:nvSpPr>
        <p:spPr>
          <a:xfrm>
            <a:off x="8878824" y="2048256"/>
            <a:ext cx="2706624" cy="384048"/>
          </a:xfrm>
          <a:prstGeom prst="rect">
            <a:avLst/>
          </a:prstGeom>
          <a:noFill/>
          <a:ln/>
        </p:spPr>
        <p:txBody>
          <a:bodyPr wrap="square" lIns="0" tIns="0" rIns="0" bIns="0" rtlCol="0" anchor="ctr"/>
          <a:lstStyle/>
          <a:p>
            <a:pPr algn="l" indent="0" marL="0">
              <a:buNone/>
            </a:pPr>
            <a:r>
              <a:rPr lang="en-US" sz="1650" b="1" dirty="0">
                <a:solidFill>
                  <a:srgbClr val="18191D"/>
                </a:solidFill>
                <a:latin typeface="Arial" pitchFamily="34" charset="0"/>
                <a:ea typeface="Arial" pitchFamily="34" charset="-122"/>
                <a:cs typeface="Arial" pitchFamily="34" charset="-120"/>
              </a:rPr>
              <a:t>Certified execution</a:t>
            </a:r>
            <a:endParaRPr lang="en-US" sz="1650" dirty="0"/>
          </a:p>
        </p:txBody>
      </p:sp>
      <p:sp>
        <p:nvSpPr>
          <p:cNvPr id="22" name="Text 20"/>
          <p:cNvSpPr/>
          <p:nvPr/>
        </p:nvSpPr>
        <p:spPr>
          <a:xfrm>
            <a:off x="8339328" y="2615184"/>
            <a:ext cx="3255264" cy="694944"/>
          </a:xfrm>
          <a:prstGeom prst="rect">
            <a:avLst/>
          </a:prstGeom>
          <a:noFill/>
          <a:ln/>
        </p:spPr>
        <p:txBody>
          <a:bodyPr wrap="square" lIns="0" tIns="0" rIns="0" bIns="0" rtlCol="0" anchor="ctr"/>
          <a:lstStyle/>
          <a:p>
            <a:pPr algn="l" indent="0" marL="0">
              <a:buNone/>
            </a:pPr>
            <a:r>
              <a:rPr lang="en-US" sz="1300" dirty="0">
                <a:solidFill>
                  <a:srgbClr val="5B6169"/>
                </a:solidFill>
                <a:latin typeface="Arial" pitchFamily="34" charset="0"/>
                <a:ea typeface="Arial" pitchFamily="34" charset="-122"/>
                <a:cs typeface="Arial" pitchFamily="34" charset="-120"/>
              </a:rPr>
              <a:t>Model/operator quality plus V3 service profile at the declared load.</a:t>
            </a:r>
            <a:endParaRPr lang="en-US" sz="1300" dirty="0"/>
          </a:p>
        </p:txBody>
      </p:sp>
      <p:sp>
        <p:nvSpPr>
          <p:cNvPr id="23" name="Shape 21"/>
          <p:cNvSpPr/>
          <p:nvPr/>
        </p:nvSpPr>
        <p:spPr>
          <a:xfrm>
            <a:off x="612648" y="3712464"/>
            <a:ext cx="3557016" cy="1536192"/>
          </a:xfrm>
          <a:prstGeom prst="rect">
            <a:avLst/>
          </a:prstGeom>
          <a:solidFill>
            <a:srgbClr val="F3F4F6"/>
          </a:solidFill>
          <a:ln w="10160">
            <a:solidFill>
              <a:srgbClr val="F3F4F6"/>
            </a:solidFill>
            <a:prstDash val="solid"/>
          </a:ln>
        </p:spPr>
      </p:sp>
      <p:sp>
        <p:nvSpPr>
          <p:cNvPr id="24" name="Text 22"/>
          <p:cNvSpPr/>
          <p:nvPr/>
        </p:nvSpPr>
        <p:spPr>
          <a:xfrm>
            <a:off x="749808" y="3822192"/>
            <a:ext cx="438912" cy="320040"/>
          </a:xfrm>
          <a:prstGeom prst="rect">
            <a:avLst/>
          </a:prstGeom>
          <a:noFill/>
          <a:ln/>
        </p:spPr>
        <p:txBody>
          <a:bodyPr wrap="square" lIns="0" tIns="0" rIns="0" bIns="0" rtlCol="0" anchor="ctr"/>
          <a:lstStyle/>
          <a:p>
            <a:pPr algn="l" indent="0" marL="0">
              <a:buNone/>
            </a:pPr>
            <a:r>
              <a:rPr lang="en-US" sz="2200" b="1" dirty="0">
                <a:solidFill>
                  <a:srgbClr val="E31837"/>
                </a:solidFill>
                <a:latin typeface="Arial" pitchFamily="34" charset="0"/>
                <a:ea typeface="Arial" pitchFamily="34" charset="-122"/>
                <a:cs typeface="Arial" pitchFamily="34" charset="-120"/>
              </a:rPr>
              <a:t>04</a:t>
            </a:r>
            <a:endParaRPr lang="en-US" sz="2200" dirty="0"/>
          </a:p>
        </p:txBody>
      </p:sp>
      <p:sp>
        <p:nvSpPr>
          <p:cNvPr id="25" name="Text 23"/>
          <p:cNvSpPr/>
          <p:nvPr/>
        </p:nvSpPr>
        <p:spPr>
          <a:xfrm>
            <a:off x="1307592" y="3813048"/>
            <a:ext cx="2706624" cy="384048"/>
          </a:xfrm>
          <a:prstGeom prst="rect">
            <a:avLst/>
          </a:prstGeom>
          <a:noFill/>
          <a:ln/>
        </p:spPr>
        <p:txBody>
          <a:bodyPr wrap="square" lIns="0" tIns="0" rIns="0" bIns="0" rtlCol="0" anchor="ctr"/>
          <a:lstStyle/>
          <a:p>
            <a:pPr algn="l" indent="0" marL="0">
              <a:buNone/>
            </a:pPr>
            <a:r>
              <a:rPr lang="en-US" sz="1650" b="1" dirty="0">
                <a:solidFill>
                  <a:srgbClr val="18191D"/>
                </a:solidFill>
                <a:latin typeface="Arial" pitchFamily="34" charset="0"/>
                <a:ea typeface="Arial" pitchFamily="34" charset="-122"/>
                <a:cs typeface="Arial" pitchFamily="34" charset="-120"/>
              </a:rPr>
              <a:t>Lifecycle + recovery</a:t>
            </a:r>
            <a:endParaRPr lang="en-US" sz="1650" dirty="0"/>
          </a:p>
        </p:txBody>
      </p:sp>
      <p:sp>
        <p:nvSpPr>
          <p:cNvPr id="26" name="Text 24"/>
          <p:cNvSpPr/>
          <p:nvPr/>
        </p:nvSpPr>
        <p:spPr>
          <a:xfrm>
            <a:off x="768096" y="4379976"/>
            <a:ext cx="3255264" cy="694944"/>
          </a:xfrm>
          <a:prstGeom prst="rect">
            <a:avLst/>
          </a:prstGeom>
          <a:noFill/>
          <a:ln/>
        </p:spPr>
        <p:txBody>
          <a:bodyPr wrap="square" lIns="0" tIns="0" rIns="0" bIns="0" rtlCol="0" anchor="ctr"/>
          <a:lstStyle/>
          <a:p>
            <a:pPr algn="l" indent="0" marL="0">
              <a:buNone/>
            </a:pPr>
            <a:r>
              <a:rPr lang="en-US" sz="1300" dirty="0">
                <a:solidFill>
                  <a:srgbClr val="5B6169"/>
                </a:solidFill>
                <a:latin typeface="Arial" pitchFamily="34" charset="0"/>
                <a:ea typeface="Arial" pitchFamily="34" charset="-122"/>
                <a:cs typeface="Arial" pitchFamily="34" charset="-120"/>
              </a:rPr>
              <a:t>Model canary, embedding cutover, failed OS boot and firmware recovery.</a:t>
            </a:r>
            <a:endParaRPr lang="en-US" sz="1300" dirty="0"/>
          </a:p>
        </p:txBody>
      </p:sp>
      <p:sp>
        <p:nvSpPr>
          <p:cNvPr id="27" name="Shape 25"/>
          <p:cNvSpPr/>
          <p:nvPr/>
        </p:nvSpPr>
        <p:spPr>
          <a:xfrm>
            <a:off x="4398264" y="3712464"/>
            <a:ext cx="3557016" cy="1536192"/>
          </a:xfrm>
          <a:prstGeom prst="rect">
            <a:avLst/>
          </a:prstGeom>
          <a:solidFill>
            <a:srgbClr val="FCECEF"/>
          </a:solidFill>
          <a:ln w="10160">
            <a:solidFill>
              <a:srgbClr val="FCECEF"/>
            </a:solidFill>
            <a:prstDash val="solid"/>
          </a:ln>
        </p:spPr>
      </p:sp>
      <p:sp>
        <p:nvSpPr>
          <p:cNvPr id="28" name="Text 26"/>
          <p:cNvSpPr/>
          <p:nvPr/>
        </p:nvSpPr>
        <p:spPr>
          <a:xfrm>
            <a:off x="4535424" y="3822192"/>
            <a:ext cx="438912" cy="320040"/>
          </a:xfrm>
          <a:prstGeom prst="rect">
            <a:avLst/>
          </a:prstGeom>
          <a:noFill/>
          <a:ln/>
        </p:spPr>
        <p:txBody>
          <a:bodyPr wrap="square" lIns="0" tIns="0" rIns="0" bIns="0" rtlCol="0" anchor="ctr"/>
          <a:lstStyle/>
          <a:p>
            <a:pPr algn="l" indent="0" marL="0">
              <a:buNone/>
            </a:pPr>
            <a:r>
              <a:rPr lang="en-US" sz="2200" b="1" dirty="0">
                <a:solidFill>
                  <a:srgbClr val="E31837"/>
                </a:solidFill>
                <a:latin typeface="Arial" pitchFamily="34" charset="0"/>
                <a:ea typeface="Arial" pitchFamily="34" charset="-122"/>
                <a:cs typeface="Arial" pitchFamily="34" charset="-120"/>
              </a:rPr>
              <a:t>05</a:t>
            </a:r>
            <a:endParaRPr lang="en-US" sz="2200" dirty="0"/>
          </a:p>
        </p:txBody>
      </p:sp>
      <p:sp>
        <p:nvSpPr>
          <p:cNvPr id="29" name="Text 27"/>
          <p:cNvSpPr/>
          <p:nvPr/>
        </p:nvSpPr>
        <p:spPr>
          <a:xfrm>
            <a:off x="5093208" y="3813048"/>
            <a:ext cx="2706624" cy="384048"/>
          </a:xfrm>
          <a:prstGeom prst="rect">
            <a:avLst/>
          </a:prstGeom>
          <a:noFill/>
          <a:ln/>
        </p:spPr>
        <p:txBody>
          <a:bodyPr wrap="square" lIns="0" tIns="0" rIns="0" bIns="0" rtlCol="0" anchor="ctr"/>
          <a:lstStyle/>
          <a:p>
            <a:pPr algn="l" indent="0" marL="0">
              <a:buNone/>
            </a:pPr>
            <a:r>
              <a:rPr lang="en-US" sz="1650" b="1" dirty="0">
                <a:solidFill>
                  <a:srgbClr val="18191D"/>
                </a:solidFill>
                <a:latin typeface="Arial" pitchFamily="34" charset="0"/>
                <a:ea typeface="Arial" pitchFamily="34" charset="-122"/>
                <a:cs typeface="Arial" pitchFamily="34" charset="-120"/>
              </a:rPr>
              <a:t>Disconnected operation</a:t>
            </a:r>
            <a:endParaRPr lang="en-US" sz="1650" dirty="0"/>
          </a:p>
        </p:txBody>
      </p:sp>
      <p:sp>
        <p:nvSpPr>
          <p:cNvPr id="30" name="Text 28"/>
          <p:cNvSpPr/>
          <p:nvPr/>
        </p:nvSpPr>
        <p:spPr>
          <a:xfrm>
            <a:off x="4553712" y="4379976"/>
            <a:ext cx="3255264" cy="694944"/>
          </a:xfrm>
          <a:prstGeom prst="rect">
            <a:avLst/>
          </a:prstGeom>
          <a:noFill/>
          <a:ln/>
        </p:spPr>
        <p:txBody>
          <a:bodyPr wrap="square" lIns="0" tIns="0" rIns="0" bIns="0" rtlCol="0" anchor="ctr"/>
          <a:lstStyle/>
          <a:p>
            <a:pPr algn="l" indent="0" marL="0">
              <a:buNone/>
            </a:pPr>
            <a:r>
              <a:rPr lang="en-US" sz="1300" dirty="0">
                <a:solidFill>
                  <a:srgbClr val="5B6169"/>
                </a:solidFill>
                <a:latin typeface="Arial" pitchFamily="34" charset="0"/>
                <a:ea typeface="Arial" pitchFamily="34" charset="-122"/>
                <a:cs typeface="Arial" pitchFamily="34" charset="-120"/>
              </a:rPr>
              <a:t>Import all dependencies; verify trust offline; continue installed services.</a:t>
            </a:r>
            <a:endParaRPr lang="en-US" sz="1300" dirty="0"/>
          </a:p>
        </p:txBody>
      </p:sp>
      <p:sp>
        <p:nvSpPr>
          <p:cNvPr id="31" name="Shape 29"/>
          <p:cNvSpPr/>
          <p:nvPr/>
        </p:nvSpPr>
        <p:spPr>
          <a:xfrm>
            <a:off x="8183880" y="3712464"/>
            <a:ext cx="3557016" cy="1536192"/>
          </a:xfrm>
          <a:prstGeom prst="rect">
            <a:avLst/>
          </a:prstGeom>
          <a:solidFill>
            <a:srgbClr val="F3F4F6"/>
          </a:solidFill>
          <a:ln w="10160">
            <a:solidFill>
              <a:srgbClr val="F3F4F6"/>
            </a:solidFill>
            <a:prstDash val="solid"/>
          </a:ln>
        </p:spPr>
      </p:sp>
      <p:sp>
        <p:nvSpPr>
          <p:cNvPr id="32" name="Text 30"/>
          <p:cNvSpPr/>
          <p:nvPr/>
        </p:nvSpPr>
        <p:spPr>
          <a:xfrm>
            <a:off x="8321040" y="3822192"/>
            <a:ext cx="438912" cy="320040"/>
          </a:xfrm>
          <a:prstGeom prst="rect">
            <a:avLst/>
          </a:prstGeom>
          <a:noFill/>
          <a:ln/>
        </p:spPr>
        <p:txBody>
          <a:bodyPr wrap="square" lIns="0" tIns="0" rIns="0" bIns="0" rtlCol="0" anchor="ctr"/>
          <a:lstStyle/>
          <a:p>
            <a:pPr algn="l" indent="0" marL="0">
              <a:buNone/>
            </a:pPr>
            <a:r>
              <a:rPr lang="en-US" sz="2200" b="1" dirty="0">
                <a:solidFill>
                  <a:srgbClr val="E31837"/>
                </a:solidFill>
                <a:latin typeface="Arial" pitchFamily="34" charset="0"/>
                <a:ea typeface="Arial" pitchFamily="34" charset="-122"/>
                <a:cs typeface="Arial" pitchFamily="34" charset="-120"/>
              </a:rPr>
              <a:t>06</a:t>
            </a:r>
            <a:endParaRPr lang="en-US" sz="2200" dirty="0"/>
          </a:p>
        </p:txBody>
      </p:sp>
      <p:sp>
        <p:nvSpPr>
          <p:cNvPr id="33" name="Text 31"/>
          <p:cNvSpPr/>
          <p:nvPr/>
        </p:nvSpPr>
        <p:spPr>
          <a:xfrm>
            <a:off x="8878824" y="3813048"/>
            <a:ext cx="2706624" cy="384048"/>
          </a:xfrm>
          <a:prstGeom prst="rect">
            <a:avLst/>
          </a:prstGeom>
          <a:noFill/>
          <a:ln/>
        </p:spPr>
        <p:txBody>
          <a:bodyPr wrap="square" lIns="0" tIns="0" rIns="0" bIns="0" rtlCol="0" anchor="ctr"/>
          <a:lstStyle/>
          <a:p>
            <a:pPr algn="l" indent="0" marL="0">
              <a:buNone/>
            </a:pPr>
            <a:r>
              <a:rPr lang="en-US" sz="1650" b="1" dirty="0">
                <a:solidFill>
                  <a:srgbClr val="18191D"/>
                </a:solidFill>
                <a:latin typeface="Arial" pitchFamily="34" charset="0"/>
                <a:ea typeface="Arial" pitchFamily="34" charset="-122"/>
                <a:cs typeface="Arial" pitchFamily="34" charset="-120"/>
              </a:rPr>
              <a:t>HA + support</a:t>
            </a:r>
            <a:endParaRPr lang="en-US" sz="1650" dirty="0"/>
          </a:p>
        </p:txBody>
      </p:sp>
      <p:sp>
        <p:nvSpPr>
          <p:cNvPr id="34" name="Text 32"/>
          <p:cNvSpPr/>
          <p:nvPr/>
        </p:nvSpPr>
        <p:spPr>
          <a:xfrm>
            <a:off x="8339328" y="4379976"/>
            <a:ext cx="3255264" cy="694944"/>
          </a:xfrm>
          <a:prstGeom prst="rect">
            <a:avLst/>
          </a:prstGeom>
          <a:noFill/>
          <a:ln/>
        </p:spPr>
        <p:txBody>
          <a:bodyPr wrap="square" lIns="0" tIns="0" rIns="0" bIns="0" rtlCol="0" anchor="ctr"/>
          <a:lstStyle/>
          <a:p>
            <a:pPr algn="l" indent="0" marL="0">
              <a:buNone/>
            </a:pPr>
            <a:r>
              <a:rPr lang="en-US" sz="1300" dirty="0">
                <a:solidFill>
                  <a:srgbClr val="5B6169"/>
                </a:solidFill>
                <a:latin typeface="Arial" pitchFamily="34" charset="0"/>
                <a:ea typeface="Arial" pitchFamily="34" charset="-122"/>
                <a:cs typeface="Arial" pitchFamily="34" charset="-120"/>
              </a:rPr>
              <a:t>Lose a node/control member; recover data; reproduce through one case.</a:t>
            </a:r>
            <a:endParaRPr lang="en-US" sz="1300" dirty="0"/>
          </a:p>
        </p:txBody>
      </p:sp>
      <p:sp>
        <p:nvSpPr>
          <p:cNvPr id="35" name="Shape 33"/>
          <p:cNvSpPr/>
          <p:nvPr/>
        </p:nvSpPr>
        <p:spPr>
          <a:xfrm>
            <a:off x="475488" y="5843016"/>
            <a:ext cx="11228832" cy="457200"/>
          </a:xfrm>
          <a:prstGeom prst="rect">
            <a:avLst/>
          </a:prstGeom>
          <a:solidFill>
            <a:srgbClr val="FCECEF"/>
          </a:solidFill>
          <a:ln w="10160">
            <a:solidFill>
              <a:srgbClr val="FCECEF"/>
            </a:solidFill>
            <a:prstDash val="solid"/>
          </a:ln>
        </p:spPr>
      </p:sp>
      <p:sp>
        <p:nvSpPr>
          <p:cNvPr id="36" name="Text 34"/>
          <p:cNvSpPr/>
          <p:nvPr/>
        </p:nvSpPr>
        <p:spPr>
          <a:xfrm>
            <a:off x="621792" y="5893308"/>
            <a:ext cx="10936224" cy="347472"/>
          </a:xfrm>
          <a:prstGeom prst="rect">
            <a:avLst/>
          </a:prstGeom>
          <a:noFill/>
          <a:ln/>
        </p:spPr>
        <p:txBody>
          <a:bodyPr wrap="square" lIns="0" tIns="0" rIns="0" bIns="0" rtlCol="0" anchor="ctr"/>
          <a:lstStyle/>
          <a:p>
            <a:pPr algn="l" indent="0" marL="0">
              <a:buNone/>
            </a:pPr>
            <a:r>
              <a:rPr lang="en-US" sz="1300" b="1" dirty="0">
                <a:solidFill>
                  <a:srgbClr val="E31837"/>
                </a:solidFill>
                <a:latin typeface="Arial" pitchFamily="34" charset="0"/>
                <a:ea typeface="Arial" pitchFamily="34" charset="-122"/>
                <a:cs typeface="Arial" pitchFamily="34" charset="-120"/>
              </a:rPr>
              <a:t>Decide now: OS/distribution, bare-metal default, tenant isolation, runtime commitment, repository trust and supported offline policy.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E31837"/>
          </a:solidFill>
          <a:ln w="10160">
            <a:solidFill>
              <a:srgbClr val="E31837"/>
            </a:solidFill>
            <a:prstDash val="solid"/>
          </a:ln>
        </p:spPr>
      </p:sp>
      <p:sp>
        <p:nvSpPr>
          <p:cNvPr id="3" name="Text 1"/>
          <p:cNvSpPr/>
          <p:nvPr/>
        </p:nvSpPr>
        <p:spPr>
          <a:xfrm>
            <a:off x="457200" y="228600"/>
            <a:ext cx="1645920" cy="228600"/>
          </a:xfrm>
          <a:prstGeom prst="rect">
            <a:avLst/>
          </a:prstGeom>
          <a:noFill/>
          <a:ln/>
        </p:spPr>
        <p:txBody>
          <a:bodyPr wrap="square" lIns="0" tIns="0" rIns="0" bIns="0" rtlCol="0" anchor="ctr"/>
          <a:lstStyle/>
          <a:p>
            <a:pPr algn="l" indent="0" marL="0">
              <a:buNone/>
            </a:pPr>
            <a:r>
              <a:rPr lang="en-US" sz="1800" b="1" dirty="0">
                <a:solidFill>
                  <a:srgbClr val="E31837"/>
                </a:solidFill>
                <a:latin typeface="Arial" pitchFamily="34" charset="0"/>
                <a:ea typeface="Arial" pitchFamily="34" charset="-122"/>
                <a:cs typeface="Arial" pitchFamily="34" charset="-120"/>
              </a:rPr>
              <a:t>SANDISK</a:t>
            </a:r>
            <a:endParaRPr lang="en-US" sz="1800" dirty="0"/>
          </a:p>
        </p:txBody>
      </p:sp>
      <p:sp>
        <p:nvSpPr>
          <p:cNvPr id="4" name="Text 2"/>
          <p:cNvSpPr/>
          <p:nvPr/>
        </p:nvSpPr>
        <p:spPr>
          <a:xfrm>
            <a:off x="1965960" y="256032"/>
            <a:ext cx="9144000" cy="182880"/>
          </a:xfrm>
          <a:prstGeom prst="rect">
            <a:avLst/>
          </a:prstGeom>
          <a:noFill/>
          <a:ln/>
        </p:spPr>
        <p:txBody>
          <a:bodyPr wrap="square" lIns="0" tIns="0" rIns="0" bIns="0" rtlCol="0" anchor="ctr"/>
          <a:lstStyle/>
          <a:p>
            <a:pPr algn="l" indent="0" marL="0">
              <a:buNone/>
            </a:pPr>
            <a:r>
              <a:rPr lang="en-US" sz="1050" b="1" dirty="0">
                <a:solidFill>
                  <a:srgbClr val="5B6169"/>
                </a:solidFill>
                <a:latin typeface="Arial" pitchFamily="34" charset="0"/>
                <a:ea typeface="Arial" pitchFamily="34" charset="-122"/>
                <a:cs typeface="Arial" pitchFamily="34" charset="-120"/>
              </a:rPr>
              <a:t>ATMOS  /  A19 / SOURCE + NAVIGATION</a:t>
            </a:r>
            <a:endParaRPr lang="en-US" sz="1050" dirty="0"/>
          </a:p>
        </p:txBody>
      </p:sp>
      <p:sp>
        <p:nvSpPr>
          <p:cNvPr id="5" name="Text 3"/>
          <p:cNvSpPr/>
          <p:nvPr/>
        </p:nvSpPr>
        <p:spPr>
          <a:xfrm>
            <a:off x="475488" y="758952"/>
            <a:ext cx="11201400" cy="493776"/>
          </a:xfrm>
          <a:prstGeom prst="rect">
            <a:avLst/>
          </a:prstGeom>
          <a:noFill/>
          <a:ln/>
        </p:spPr>
        <p:txBody>
          <a:bodyPr wrap="square" lIns="0" tIns="0" rIns="0" bIns="0" rtlCol="0" anchor="ctr"/>
          <a:lstStyle/>
          <a:p>
            <a:pPr algn="l" indent="0" marL="0">
              <a:buNone/>
            </a:pPr>
            <a:r>
              <a:rPr lang="en-US" sz="2750" b="1" dirty="0">
                <a:solidFill>
                  <a:srgbClr val="18191D"/>
                </a:solidFill>
                <a:latin typeface="Arial" pitchFamily="34" charset="0"/>
                <a:ea typeface="Arial" pitchFamily="34" charset="-122"/>
                <a:cs typeface="Arial" pitchFamily="34" charset="-120"/>
              </a:rPr>
              <a:t>A design appendix with explicit provenance.</a:t>
            </a:r>
            <a:endParaRPr lang="en-US" sz="2750" dirty="0"/>
          </a:p>
        </p:txBody>
      </p:sp>
      <p:sp>
        <p:nvSpPr>
          <p:cNvPr id="6" name="Text 4"/>
          <p:cNvSpPr/>
          <p:nvPr/>
        </p:nvSpPr>
        <p:spPr>
          <a:xfrm>
            <a:off x="502920" y="1298448"/>
            <a:ext cx="11064240" cy="411480"/>
          </a:xfrm>
          <a:prstGeom prst="rect">
            <a:avLst/>
          </a:prstGeom>
          <a:noFill/>
          <a:ln/>
        </p:spPr>
        <p:txBody>
          <a:bodyPr wrap="square" lIns="0" tIns="0" rIns="0" bIns="0" rtlCol="0" anchor="ctr"/>
          <a:lstStyle/>
          <a:p>
            <a:pPr algn="l" indent="0" marL="0">
              <a:buNone/>
            </a:pPr>
            <a:r>
              <a:rPr lang="en-US" sz="1350" dirty="0">
                <a:solidFill>
                  <a:srgbClr val="5B6169"/>
                </a:solidFill>
                <a:latin typeface="Arial" pitchFamily="34" charset="0"/>
                <a:ea typeface="Arial" pitchFamily="34" charset="-122"/>
                <a:cs typeface="Arial" pitchFamily="34" charset="-120"/>
              </a:rPr>
              <a:t>V3 requirements are retained. Concrete implementation choices and examples are new proposals for review.</a:t>
            </a:r>
            <a:endParaRPr lang="en-US" sz="1350" dirty="0"/>
          </a:p>
        </p:txBody>
      </p:sp>
      <p:sp>
        <p:nvSpPr>
          <p:cNvPr id="7" name="Shape 5"/>
          <p:cNvSpPr/>
          <p:nvPr/>
        </p:nvSpPr>
        <p:spPr>
          <a:xfrm>
            <a:off x="484632" y="6464808"/>
            <a:ext cx="11237976" cy="0"/>
          </a:xfrm>
          <a:prstGeom prst="line">
            <a:avLst/>
          </a:prstGeom>
          <a:noFill/>
          <a:ln w="7620">
            <a:solidFill>
              <a:srgbClr val="D9DDE3"/>
            </a:solidFill>
            <a:prstDash val="solid"/>
            <a:headEnd type="none"/>
            <a:tailEnd type="none"/>
          </a:ln>
        </p:spPr>
      </p:sp>
      <p:sp>
        <p:nvSpPr>
          <p:cNvPr id="8" name="Text 6"/>
          <p:cNvSpPr/>
          <p:nvPr/>
        </p:nvSpPr>
        <p:spPr>
          <a:xfrm>
            <a:off x="512064" y="6547104"/>
            <a:ext cx="9418320" cy="164592"/>
          </a:xfrm>
          <a:prstGeom prst="rect">
            <a:avLst/>
          </a:prstGeom>
          <a:noFill/>
          <a:ln/>
        </p:spPr>
        <p:txBody>
          <a:bodyPr wrap="square" lIns="0" tIns="0" rIns="0" bIns="0" rtlCol="0" anchor="ctr"/>
          <a:lstStyle/>
          <a:p>
            <a:pPr algn="l" indent="0" marL="0">
              <a:buNone/>
            </a:pPr>
            <a:r>
              <a:rPr lang="en-US" sz="850" dirty="0">
                <a:solidFill>
                  <a:srgbClr val="5B6169"/>
                </a:solidFill>
                <a:latin typeface="Arial" pitchFamily="34" charset="0"/>
                <a:ea typeface="Arial" pitchFamily="34" charset="-122"/>
                <a:cs typeface="Arial" pitchFamily="34" charset="-120"/>
              </a:rPr>
              <a:t>TECHNICAL APPENDIX TO V3  •  6 OCT 2026  •  PROPOSED DESIGN / QUALIFICATION REQUIRED</a:t>
            </a:r>
            <a:endParaRPr lang="en-US" sz="850" dirty="0"/>
          </a:p>
        </p:txBody>
      </p:sp>
      <p:sp>
        <p:nvSpPr>
          <p:cNvPr id="9" name="Text 7"/>
          <p:cNvSpPr/>
          <p:nvPr/>
        </p:nvSpPr>
        <p:spPr>
          <a:xfrm>
            <a:off x="11219688" y="6519672"/>
            <a:ext cx="457200" cy="219456"/>
          </a:xfrm>
          <a:prstGeom prst="rect">
            <a:avLst/>
          </a:prstGeom>
          <a:noFill/>
          <a:ln/>
        </p:spPr>
        <p:txBody>
          <a:bodyPr wrap="square" lIns="0" tIns="0" rIns="0" bIns="0" rtlCol="0" anchor="ctr"/>
          <a:lstStyle/>
          <a:p>
            <a:pPr algn="r" indent="0" marL="0">
              <a:buNone/>
            </a:pPr>
            <a:r>
              <a:rPr lang="en-US" sz="1000" b="1" dirty="0">
                <a:solidFill>
                  <a:srgbClr val="E31837"/>
                </a:solidFill>
                <a:latin typeface="Arial" pitchFamily="34" charset="0"/>
                <a:ea typeface="Arial" pitchFamily="34" charset="-122"/>
                <a:cs typeface="Arial" pitchFamily="34" charset="-120"/>
              </a:rPr>
              <a:t>20</a:t>
            </a:r>
            <a:endParaRPr lang="en-US" sz="1000" dirty="0"/>
          </a:p>
        </p:txBody>
      </p:sp>
      <p:sp>
        <p:nvSpPr>
          <p:cNvPr id="10" name="Text 8">
            <a:hlinkClick r:id="rId1" tooltip=""/>
          </p:cNvPr>
          <p:cNvSpPr/>
          <p:nvPr/>
        </p:nvSpPr>
        <p:spPr>
          <a:xfrm>
            <a:off x="9875520" y="237744"/>
            <a:ext cx="1828800" cy="219456"/>
          </a:xfrm>
          <a:prstGeom prst="rect">
            <a:avLst/>
          </a:prstGeom>
          <a:noFill/>
          <a:ln/>
        </p:spPr>
        <p:txBody>
          <a:bodyPr wrap="square" lIns="0" tIns="0" rIns="0" bIns="0" rtlCol="0" anchor="ctr"/>
          <a:lstStyle/>
          <a:p>
            <a:pPr algn="r" indent="0" marL="0">
              <a:buNone/>
            </a:pPr>
            <a:r>
              <a:rPr lang="en-US" sz="1000" u="sng" dirty="0">
                <a:solidFill>
                  <a:srgbClr val="E31837"/>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technical notes</a:t>
            </a:r>
            <a:endParaRPr lang="en-US" sz="1000" dirty="0"/>
          </a:p>
        </p:txBody>
      </p:sp>
      <p:sp>
        <p:nvSpPr>
          <p:cNvPr id="11" name="Text 9"/>
          <p:cNvSpPr/>
          <p:nvPr/>
        </p:nvSpPr>
        <p:spPr>
          <a:xfrm>
            <a:off x="630936" y="1947672"/>
            <a:ext cx="475488" cy="274320"/>
          </a:xfrm>
          <a:prstGeom prst="rect">
            <a:avLst/>
          </a:prstGeom>
          <a:noFill/>
          <a:ln/>
        </p:spPr>
        <p:txBody>
          <a:bodyPr wrap="square" lIns="0" tIns="0" rIns="0" bIns="0" rtlCol="0" anchor="ctr"/>
          <a:lstStyle/>
          <a:p>
            <a:pPr algn="l" indent="0" marL="0">
              <a:buNone/>
            </a:pPr>
            <a:r>
              <a:rPr lang="en-US" sz="1100" b="1" dirty="0">
                <a:solidFill>
                  <a:srgbClr val="E31837"/>
                </a:solidFill>
                <a:latin typeface="Arial" pitchFamily="34" charset="0"/>
                <a:ea typeface="Arial" pitchFamily="34" charset="-122"/>
                <a:cs typeface="Arial" pitchFamily="34" charset="-120"/>
              </a:rPr>
              <a:t>B1</a:t>
            </a:r>
            <a:endParaRPr lang="en-US" sz="1100" dirty="0"/>
          </a:p>
        </p:txBody>
      </p:sp>
      <p:sp>
        <p:nvSpPr>
          <p:cNvPr id="12" name="Text 10">
            <a:hlinkClick r:id="rId2" tooltip=""/>
          </p:cNvPr>
          <p:cNvSpPr/>
          <p:nvPr/>
        </p:nvSpPr>
        <p:spPr>
          <a:xfrm>
            <a:off x="1207008" y="1947672"/>
            <a:ext cx="4773168" cy="283464"/>
          </a:xfrm>
          <a:prstGeom prst="rect">
            <a:avLst/>
          </a:prstGeom>
          <a:noFill/>
          <a:ln/>
        </p:spPr>
        <p:txBody>
          <a:bodyPr wrap="square" lIns="0" tIns="0" rIns="0" bIns="0" rtlCol="0" anchor="ctr"/>
          <a:lstStyle/>
          <a:p>
            <a:pPr algn="l" indent="0" marL="0">
              <a:buNone/>
            </a:pPr>
            <a:r>
              <a:rPr lang="en-US" sz="1200" u="sng" dirty="0">
                <a:solidFill>
                  <a:srgbClr val="18191D"/>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SanDisk ATMOS AI Appliance Strategy PRD v3</a:t>
            </a:r>
            <a:endParaRPr lang="en-US" sz="1200" dirty="0"/>
          </a:p>
        </p:txBody>
      </p:sp>
      <p:sp>
        <p:nvSpPr>
          <p:cNvPr id="13" name="Text 11"/>
          <p:cNvSpPr/>
          <p:nvPr/>
        </p:nvSpPr>
        <p:spPr>
          <a:xfrm>
            <a:off x="630936" y="2368296"/>
            <a:ext cx="475488" cy="274320"/>
          </a:xfrm>
          <a:prstGeom prst="rect">
            <a:avLst/>
          </a:prstGeom>
          <a:noFill/>
          <a:ln/>
        </p:spPr>
        <p:txBody>
          <a:bodyPr wrap="square" lIns="0" tIns="0" rIns="0" bIns="0" rtlCol="0" anchor="ctr"/>
          <a:lstStyle/>
          <a:p>
            <a:pPr algn="l" indent="0" marL="0">
              <a:buNone/>
            </a:pPr>
            <a:r>
              <a:rPr lang="en-US" sz="1100" b="1" dirty="0">
                <a:solidFill>
                  <a:srgbClr val="E31837"/>
                </a:solidFill>
                <a:latin typeface="Arial" pitchFamily="34" charset="0"/>
                <a:ea typeface="Arial" pitchFamily="34" charset="-122"/>
                <a:cs typeface="Arial" pitchFamily="34" charset="-120"/>
              </a:rPr>
              <a:t>R1</a:t>
            </a:r>
            <a:endParaRPr lang="en-US" sz="1100" dirty="0"/>
          </a:p>
        </p:txBody>
      </p:sp>
      <p:sp>
        <p:nvSpPr>
          <p:cNvPr id="14" name="Text 12">
            <a:hlinkClick r:id="rId3" tooltip=""/>
          </p:cNvPr>
          <p:cNvSpPr/>
          <p:nvPr/>
        </p:nvSpPr>
        <p:spPr>
          <a:xfrm>
            <a:off x="1207008" y="2368296"/>
            <a:ext cx="4773168" cy="283464"/>
          </a:xfrm>
          <a:prstGeom prst="rect">
            <a:avLst/>
          </a:prstGeom>
          <a:noFill/>
          <a:ln/>
        </p:spPr>
        <p:txBody>
          <a:bodyPr wrap="square" lIns="0" tIns="0" rIns="0" bIns="0" rtlCol="0" anchor="ctr"/>
          <a:lstStyle/>
          <a:p>
            <a:pPr algn="l" indent="0" marL="0">
              <a:buNone/>
            </a:pPr>
            <a:r>
              <a:rPr lang="en-US" sz="1200" u="sng" dirty="0">
                <a:solidFill>
                  <a:srgbClr val="18191D"/>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Ubuntu security maintenance and kernel lifecycle</a:t>
            </a:r>
            <a:endParaRPr lang="en-US" sz="1200" dirty="0"/>
          </a:p>
        </p:txBody>
      </p:sp>
      <p:sp>
        <p:nvSpPr>
          <p:cNvPr id="15" name="Text 13"/>
          <p:cNvSpPr/>
          <p:nvPr/>
        </p:nvSpPr>
        <p:spPr>
          <a:xfrm>
            <a:off x="630936" y="2788920"/>
            <a:ext cx="475488" cy="274320"/>
          </a:xfrm>
          <a:prstGeom prst="rect">
            <a:avLst/>
          </a:prstGeom>
          <a:noFill/>
          <a:ln/>
        </p:spPr>
        <p:txBody>
          <a:bodyPr wrap="square" lIns="0" tIns="0" rIns="0" bIns="0" rtlCol="0" anchor="ctr"/>
          <a:lstStyle/>
          <a:p>
            <a:pPr algn="l" indent="0" marL="0">
              <a:buNone/>
            </a:pPr>
            <a:r>
              <a:rPr lang="en-US" sz="1100" b="1" dirty="0">
                <a:solidFill>
                  <a:srgbClr val="E31837"/>
                </a:solidFill>
                <a:latin typeface="Arial" pitchFamily="34" charset="0"/>
                <a:ea typeface="Arial" pitchFamily="34" charset="-122"/>
                <a:cs typeface="Arial" pitchFamily="34" charset="-120"/>
              </a:rPr>
              <a:t>R2</a:t>
            </a:r>
            <a:endParaRPr lang="en-US" sz="1100" dirty="0"/>
          </a:p>
        </p:txBody>
      </p:sp>
      <p:sp>
        <p:nvSpPr>
          <p:cNvPr id="16" name="Text 14">
            <a:hlinkClick r:id="rId4" tooltip=""/>
          </p:cNvPr>
          <p:cNvSpPr/>
          <p:nvPr/>
        </p:nvSpPr>
        <p:spPr>
          <a:xfrm>
            <a:off x="1207008" y="2788920"/>
            <a:ext cx="4773168" cy="283464"/>
          </a:xfrm>
          <a:prstGeom prst="rect">
            <a:avLst/>
          </a:prstGeom>
          <a:noFill/>
          <a:ln/>
        </p:spPr>
        <p:txBody>
          <a:bodyPr wrap="square" lIns="0" tIns="0" rIns="0" bIns="0" rtlCol="0" anchor="ctr"/>
          <a:lstStyle/>
          <a:p>
            <a:pPr algn="l" indent="0" marL="0">
              <a:buNone/>
            </a:pPr>
            <a:r>
              <a:rPr lang="en-US" sz="1200" u="sng" dirty="0">
                <a:solidFill>
                  <a:srgbClr val="18191D"/>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RKE2 requirements</a:t>
            </a:r>
            <a:endParaRPr lang="en-US" sz="1200" dirty="0"/>
          </a:p>
        </p:txBody>
      </p:sp>
      <p:sp>
        <p:nvSpPr>
          <p:cNvPr id="17" name="Text 15"/>
          <p:cNvSpPr/>
          <p:nvPr/>
        </p:nvSpPr>
        <p:spPr>
          <a:xfrm>
            <a:off x="630936" y="3209544"/>
            <a:ext cx="475488" cy="274320"/>
          </a:xfrm>
          <a:prstGeom prst="rect">
            <a:avLst/>
          </a:prstGeom>
          <a:noFill/>
          <a:ln/>
        </p:spPr>
        <p:txBody>
          <a:bodyPr wrap="square" lIns="0" tIns="0" rIns="0" bIns="0" rtlCol="0" anchor="ctr"/>
          <a:lstStyle/>
          <a:p>
            <a:pPr algn="l" indent="0" marL="0">
              <a:buNone/>
            </a:pPr>
            <a:r>
              <a:rPr lang="en-US" sz="1100" b="1" dirty="0">
                <a:solidFill>
                  <a:srgbClr val="E31837"/>
                </a:solidFill>
                <a:latin typeface="Arial" pitchFamily="34" charset="0"/>
                <a:ea typeface="Arial" pitchFamily="34" charset="-122"/>
                <a:cs typeface="Arial" pitchFamily="34" charset="-120"/>
              </a:rPr>
              <a:t>R3</a:t>
            </a:r>
            <a:endParaRPr lang="en-US" sz="1100" dirty="0"/>
          </a:p>
        </p:txBody>
      </p:sp>
      <p:sp>
        <p:nvSpPr>
          <p:cNvPr id="18" name="Text 16">
            <a:hlinkClick r:id="rId5" tooltip=""/>
          </p:cNvPr>
          <p:cNvSpPr/>
          <p:nvPr/>
        </p:nvSpPr>
        <p:spPr>
          <a:xfrm>
            <a:off x="1207008" y="3209544"/>
            <a:ext cx="4773168" cy="283464"/>
          </a:xfrm>
          <a:prstGeom prst="rect">
            <a:avLst/>
          </a:prstGeom>
          <a:noFill/>
          <a:ln/>
        </p:spPr>
        <p:txBody>
          <a:bodyPr wrap="square" lIns="0" tIns="0" rIns="0" bIns="0" rtlCol="0" anchor="ctr"/>
          <a:lstStyle/>
          <a:p>
            <a:pPr algn="l" indent="0" marL="0">
              <a:buNone/>
            </a:pPr>
            <a:r>
              <a:rPr lang="en-US" sz="1200" u="sng" dirty="0">
                <a:solidFill>
                  <a:srgbClr val="18191D"/>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RKE2 high availability</a:t>
            </a:r>
            <a:endParaRPr lang="en-US" sz="1200" dirty="0"/>
          </a:p>
        </p:txBody>
      </p:sp>
      <p:sp>
        <p:nvSpPr>
          <p:cNvPr id="19" name="Text 17"/>
          <p:cNvSpPr/>
          <p:nvPr/>
        </p:nvSpPr>
        <p:spPr>
          <a:xfrm>
            <a:off x="630936" y="3630168"/>
            <a:ext cx="475488" cy="274320"/>
          </a:xfrm>
          <a:prstGeom prst="rect">
            <a:avLst/>
          </a:prstGeom>
          <a:noFill/>
          <a:ln/>
        </p:spPr>
        <p:txBody>
          <a:bodyPr wrap="square" lIns="0" tIns="0" rIns="0" bIns="0" rtlCol="0" anchor="ctr"/>
          <a:lstStyle/>
          <a:p>
            <a:pPr algn="l" indent="0" marL="0">
              <a:buNone/>
            </a:pPr>
            <a:r>
              <a:rPr lang="en-US" sz="1100" b="1" dirty="0">
                <a:solidFill>
                  <a:srgbClr val="E31837"/>
                </a:solidFill>
                <a:latin typeface="Arial" pitchFamily="34" charset="0"/>
                <a:ea typeface="Arial" pitchFamily="34" charset="-122"/>
                <a:cs typeface="Arial" pitchFamily="34" charset="-120"/>
              </a:rPr>
              <a:t>R4</a:t>
            </a:r>
            <a:endParaRPr lang="en-US" sz="1100" dirty="0"/>
          </a:p>
        </p:txBody>
      </p:sp>
      <p:sp>
        <p:nvSpPr>
          <p:cNvPr id="20" name="Text 18">
            <a:hlinkClick r:id="rId6" tooltip=""/>
          </p:cNvPr>
          <p:cNvSpPr/>
          <p:nvPr/>
        </p:nvSpPr>
        <p:spPr>
          <a:xfrm>
            <a:off x="1207008" y="3630168"/>
            <a:ext cx="4773168" cy="283464"/>
          </a:xfrm>
          <a:prstGeom prst="rect">
            <a:avLst/>
          </a:prstGeom>
          <a:noFill/>
          <a:ln/>
        </p:spPr>
        <p:txBody>
          <a:bodyPr wrap="square" lIns="0" tIns="0" rIns="0" bIns="0" rtlCol="0" anchor="ctr"/>
          <a:lstStyle/>
          <a:p>
            <a:pPr algn="l" indent="0" marL="0">
              <a:buNone/>
            </a:pPr>
            <a:r>
              <a:rPr lang="en-US" sz="1200" u="sng" dirty="0">
                <a:solidFill>
                  <a:srgbClr val="18191D"/>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RKE2 air-gap installation</a:t>
            </a:r>
            <a:endParaRPr lang="en-US" sz="1200" dirty="0"/>
          </a:p>
        </p:txBody>
      </p:sp>
      <p:sp>
        <p:nvSpPr>
          <p:cNvPr id="21" name="Text 19"/>
          <p:cNvSpPr/>
          <p:nvPr/>
        </p:nvSpPr>
        <p:spPr>
          <a:xfrm>
            <a:off x="630936" y="4050792"/>
            <a:ext cx="475488" cy="274320"/>
          </a:xfrm>
          <a:prstGeom prst="rect">
            <a:avLst/>
          </a:prstGeom>
          <a:noFill/>
          <a:ln/>
        </p:spPr>
        <p:txBody>
          <a:bodyPr wrap="square" lIns="0" tIns="0" rIns="0" bIns="0" rtlCol="0" anchor="ctr"/>
          <a:lstStyle/>
          <a:p>
            <a:pPr algn="l" indent="0" marL="0">
              <a:buNone/>
            </a:pPr>
            <a:r>
              <a:rPr lang="en-US" sz="1100" b="1" dirty="0">
                <a:solidFill>
                  <a:srgbClr val="E31837"/>
                </a:solidFill>
                <a:latin typeface="Arial" pitchFamily="34" charset="0"/>
                <a:ea typeface="Arial" pitchFamily="34" charset="-122"/>
                <a:cs typeface="Arial" pitchFamily="34" charset="-120"/>
              </a:rPr>
              <a:t>R5</a:t>
            </a:r>
            <a:endParaRPr lang="en-US" sz="1100" dirty="0"/>
          </a:p>
        </p:txBody>
      </p:sp>
      <p:sp>
        <p:nvSpPr>
          <p:cNvPr id="22" name="Text 20">
            <a:hlinkClick r:id="rId7" tooltip=""/>
          </p:cNvPr>
          <p:cNvSpPr/>
          <p:nvPr/>
        </p:nvSpPr>
        <p:spPr>
          <a:xfrm>
            <a:off x="1207008" y="4050792"/>
            <a:ext cx="4773168" cy="283464"/>
          </a:xfrm>
          <a:prstGeom prst="rect">
            <a:avLst/>
          </a:prstGeom>
          <a:noFill/>
          <a:ln/>
        </p:spPr>
        <p:txBody>
          <a:bodyPr wrap="square" lIns="0" tIns="0" rIns="0" bIns="0" rtlCol="0" anchor="ctr"/>
          <a:lstStyle/>
          <a:p>
            <a:pPr algn="l" indent="0" marL="0">
              <a:buNone/>
            </a:pPr>
            <a:r>
              <a:rPr lang="en-US" sz="1200" u="sng" dirty="0">
                <a:solidFill>
                  <a:srgbClr val="18191D"/>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Linux VFIO</a:t>
            </a:r>
            <a:endParaRPr lang="en-US" sz="1200" dirty="0"/>
          </a:p>
        </p:txBody>
      </p:sp>
      <p:sp>
        <p:nvSpPr>
          <p:cNvPr id="23" name="Text 21"/>
          <p:cNvSpPr/>
          <p:nvPr/>
        </p:nvSpPr>
        <p:spPr>
          <a:xfrm>
            <a:off x="630936" y="4471416"/>
            <a:ext cx="475488" cy="274320"/>
          </a:xfrm>
          <a:prstGeom prst="rect">
            <a:avLst/>
          </a:prstGeom>
          <a:noFill/>
          <a:ln/>
        </p:spPr>
        <p:txBody>
          <a:bodyPr wrap="square" lIns="0" tIns="0" rIns="0" bIns="0" rtlCol="0" anchor="ctr"/>
          <a:lstStyle/>
          <a:p>
            <a:pPr algn="l" indent="0" marL="0">
              <a:buNone/>
            </a:pPr>
            <a:r>
              <a:rPr lang="en-US" sz="1100" b="1" dirty="0">
                <a:solidFill>
                  <a:srgbClr val="E31837"/>
                </a:solidFill>
                <a:latin typeface="Arial" pitchFamily="34" charset="0"/>
                <a:ea typeface="Arial" pitchFamily="34" charset="-122"/>
                <a:cs typeface="Arial" pitchFamily="34" charset="-120"/>
              </a:rPr>
              <a:t>R6</a:t>
            </a:r>
            <a:endParaRPr lang="en-US" sz="1100" dirty="0"/>
          </a:p>
        </p:txBody>
      </p:sp>
      <p:sp>
        <p:nvSpPr>
          <p:cNvPr id="24" name="Text 22">
            <a:hlinkClick r:id="rId8" tooltip=""/>
          </p:cNvPr>
          <p:cNvSpPr/>
          <p:nvPr/>
        </p:nvSpPr>
        <p:spPr>
          <a:xfrm>
            <a:off x="1207008" y="4471416"/>
            <a:ext cx="4773168" cy="283464"/>
          </a:xfrm>
          <a:prstGeom prst="rect">
            <a:avLst/>
          </a:prstGeom>
          <a:noFill/>
          <a:ln/>
        </p:spPr>
        <p:txBody>
          <a:bodyPr wrap="square" lIns="0" tIns="0" rIns="0" bIns="0" rtlCol="0" anchor="ctr"/>
          <a:lstStyle/>
          <a:p>
            <a:pPr algn="l" indent="0" marL="0">
              <a:buNone/>
            </a:pPr>
            <a:r>
              <a:rPr lang="en-US" sz="1200" u="sng" dirty="0">
                <a:solidFill>
                  <a:srgbClr val="18191D"/>
                </a:solidFill>
                <a:latin typeface="Arial" pitchFamily="34" charset="0"/>
                <a:ea typeface="Arial" pitchFamily="34" charset="-122"/>
                <a:cs typeface="Arial" pitchFamily="34" charset="-120"/>
                <a:hlinkClick r:id="rId8" invalidUrl="" action="" tgtFrame="" tooltip="" history="1" highlightClick="0" endSnd="0">
                  <a:extLst>
                    <a:ext uri="{A12FA001-AC4F-418D-AE19-62706E023703}">
                      <ahyp:hlinkClr xmlns:ahyp="http://schemas.microsoft.com/office/drawing/2018/hyperlinkcolor" val="tx"/>
                    </a:ext>
                  </a:extLst>
                </a:hlinkClick>
              </a:rPr>
              <a:t>Kubernetes device plugins</a:t>
            </a:r>
            <a:endParaRPr lang="en-US" sz="1200" dirty="0"/>
          </a:p>
        </p:txBody>
      </p:sp>
      <p:sp>
        <p:nvSpPr>
          <p:cNvPr id="25" name="Text 23"/>
          <p:cNvSpPr/>
          <p:nvPr/>
        </p:nvSpPr>
        <p:spPr>
          <a:xfrm>
            <a:off x="630936" y="4892040"/>
            <a:ext cx="475488" cy="274320"/>
          </a:xfrm>
          <a:prstGeom prst="rect">
            <a:avLst/>
          </a:prstGeom>
          <a:noFill/>
          <a:ln/>
        </p:spPr>
        <p:txBody>
          <a:bodyPr wrap="square" lIns="0" tIns="0" rIns="0" bIns="0" rtlCol="0" anchor="ctr"/>
          <a:lstStyle/>
          <a:p>
            <a:pPr algn="l" indent="0" marL="0">
              <a:buNone/>
            </a:pPr>
            <a:r>
              <a:rPr lang="en-US" sz="1100" b="1" dirty="0">
                <a:solidFill>
                  <a:srgbClr val="E31837"/>
                </a:solidFill>
                <a:latin typeface="Arial" pitchFamily="34" charset="0"/>
                <a:ea typeface="Arial" pitchFamily="34" charset="-122"/>
                <a:cs typeface="Arial" pitchFamily="34" charset="-120"/>
              </a:rPr>
              <a:t>R7</a:t>
            </a:r>
            <a:endParaRPr lang="en-US" sz="1100" dirty="0"/>
          </a:p>
        </p:txBody>
      </p:sp>
      <p:sp>
        <p:nvSpPr>
          <p:cNvPr id="26" name="Text 24">
            <a:hlinkClick r:id="rId9" tooltip=""/>
          </p:cNvPr>
          <p:cNvSpPr/>
          <p:nvPr/>
        </p:nvSpPr>
        <p:spPr>
          <a:xfrm>
            <a:off x="1207008" y="4892040"/>
            <a:ext cx="4773168" cy="283464"/>
          </a:xfrm>
          <a:prstGeom prst="rect">
            <a:avLst/>
          </a:prstGeom>
          <a:noFill/>
          <a:ln/>
        </p:spPr>
        <p:txBody>
          <a:bodyPr wrap="square" lIns="0" tIns="0" rIns="0" bIns="0" rtlCol="0" anchor="ctr"/>
          <a:lstStyle/>
          <a:p>
            <a:pPr algn="l" indent="0" marL="0">
              <a:buNone/>
            </a:pPr>
            <a:r>
              <a:rPr lang="en-US" sz="1200" u="sng" dirty="0">
                <a:solidFill>
                  <a:srgbClr val="18191D"/>
                </a:solidFill>
                <a:latin typeface="Arial" pitchFamily="34" charset="0"/>
                <a:ea typeface="Arial" pitchFamily="34" charset="-122"/>
                <a:cs typeface="Arial" pitchFamily="34" charset="-120"/>
                <a:hlinkClick r:id="rId9" invalidUrl="" action="" tgtFrame="" tooltip="" history="1" highlightClick="0" endSnd="0">
                  <a:extLst>
                    <a:ext uri="{A12FA001-AC4F-418D-AE19-62706E023703}">
                      <ahyp:hlinkClr xmlns:ahyp="http://schemas.microsoft.com/office/drawing/2018/hyperlinkcolor" val="tx"/>
                    </a:ext>
                  </a:extLst>
                </a:hlinkClick>
              </a:rPr>
              <a:t>Kubernetes dynamic resource allocation</a:t>
            </a:r>
            <a:endParaRPr lang="en-US" sz="1200" dirty="0"/>
          </a:p>
        </p:txBody>
      </p:sp>
      <p:sp>
        <p:nvSpPr>
          <p:cNvPr id="27" name="Text 25"/>
          <p:cNvSpPr/>
          <p:nvPr/>
        </p:nvSpPr>
        <p:spPr>
          <a:xfrm>
            <a:off x="6227064" y="1947672"/>
            <a:ext cx="475488" cy="274320"/>
          </a:xfrm>
          <a:prstGeom prst="rect">
            <a:avLst/>
          </a:prstGeom>
          <a:noFill/>
          <a:ln/>
        </p:spPr>
        <p:txBody>
          <a:bodyPr wrap="square" lIns="0" tIns="0" rIns="0" bIns="0" rtlCol="0" anchor="ctr"/>
          <a:lstStyle/>
          <a:p>
            <a:pPr algn="l" indent="0" marL="0">
              <a:buNone/>
            </a:pPr>
            <a:r>
              <a:rPr lang="en-US" sz="1100" b="1" dirty="0">
                <a:solidFill>
                  <a:srgbClr val="E31837"/>
                </a:solidFill>
                <a:latin typeface="Arial" pitchFamily="34" charset="0"/>
                <a:ea typeface="Arial" pitchFamily="34" charset="-122"/>
                <a:cs typeface="Arial" pitchFamily="34" charset="-120"/>
              </a:rPr>
              <a:t>R8</a:t>
            </a:r>
            <a:endParaRPr lang="en-US" sz="1100" dirty="0"/>
          </a:p>
        </p:txBody>
      </p:sp>
      <p:sp>
        <p:nvSpPr>
          <p:cNvPr id="28" name="Text 26">
            <a:hlinkClick r:id="rId10" tooltip=""/>
          </p:cNvPr>
          <p:cNvSpPr/>
          <p:nvPr/>
        </p:nvSpPr>
        <p:spPr>
          <a:xfrm>
            <a:off x="6803136" y="1947672"/>
            <a:ext cx="4773168" cy="283464"/>
          </a:xfrm>
          <a:prstGeom prst="rect">
            <a:avLst/>
          </a:prstGeom>
          <a:noFill/>
          <a:ln/>
        </p:spPr>
        <p:txBody>
          <a:bodyPr wrap="square" lIns="0" tIns="0" rIns="0" bIns="0" rtlCol="0" anchor="ctr"/>
          <a:lstStyle/>
          <a:p>
            <a:pPr algn="l" indent="0" marL="0">
              <a:buNone/>
            </a:pPr>
            <a:r>
              <a:rPr lang="en-US" sz="1200" u="sng" dirty="0">
                <a:solidFill>
                  <a:srgbClr val="18191D"/>
                </a:solidFill>
                <a:latin typeface="Arial" pitchFamily="34" charset="0"/>
                <a:ea typeface="Arial" pitchFamily="34" charset="-122"/>
                <a:cs typeface="Arial" pitchFamily="34" charset="-120"/>
                <a:hlinkClick r:id="rId10" invalidUrl="" action="" tgtFrame="" tooltip="" history="1" highlightClick="0" endSnd="0">
                  <a:extLst>
                    <a:ext uri="{A12FA001-AC4F-418D-AE19-62706E023703}">
                      <ahyp:hlinkClr xmlns:ahyp="http://schemas.microsoft.com/office/drawing/2018/hyperlinkcolor" val="tx"/>
                    </a:ext>
                  </a:extLst>
                </a:hlinkClick>
              </a:rPr>
              <a:t>Kubernetes resource quotas</a:t>
            </a:r>
            <a:endParaRPr lang="en-US" sz="1200" dirty="0"/>
          </a:p>
        </p:txBody>
      </p:sp>
      <p:sp>
        <p:nvSpPr>
          <p:cNvPr id="29" name="Text 27"/>
          <p:cNvSpPr/>
          <p:nvPr/>
        </p:nvSpPr>
        <p:spPr>
          <a:xfrm>
            <a:off x="6227064" y="2368296"/>
            <a:ext cx="475488" cy="274320"/>
          </a:xfrm>
          <a:prstGeom prst="rect">
            <a:avLst/>
          </a:prstGeom>
          <a:noFill/>
          <a:ln/>
        </p:spPr>
        <p:txBody>
          <a:bodyPr wrap="square" lIns="0" tIns="0" rIns="0" bIns="0" rtlCol="0" anchor="ctr"/>
          <a:lstStyle/>
          <a:p>
            <a:pPr algn="l" indent="0" marL="0">
              <a:buNone/>
            </a:pPr>
            <a:r>
              <a:rPr lang="en-US" sz="1100" b="1" dirty="0">
                <a:solidFill>
                  <a:srgbClr val="E31837"/>
                </a:solidFill>
                <a:latin typeface="Arial" pitchFamily="34" charset="0"/>
                <a:ea typeface="Arial" pitchFamily="34" charset="-122"/>
                <a:cs typeface="Arial" pitchFamily="34" charset="-120"/>
              </a:rPr>
              <a:t>R9</a:t>
            </a:r>
            <a:endParaRPr lang="en-US" sz="1100" dirty="0"/>
          </a:p>
        </p:txBody>
      </p:sp>
      <p:sp>
        <p:nvSpPr>
          <p:cNvPr id="30" name="Text 28">
            <a:hlinkClick r:id="rId11" tooltip=""/>
          </p:cNvPr>
          <p:cNvSpPr/>
          <p:nvPr/>
        </p:nvSpPr>
        <p:spPr>
          <a:xfrm>
            <a:off x="6803136" y="2368296"/>
            <a:ext cx="4773168" cy="283464"/>
          </a:xfrm>
          <a:prstGeom prst="rect">
            <a:avLst/>
          </a:prstGeom>
          <a:noFill/>
          <a:ln/>
        </p:spPr>
        <p:txBody>
          <a:bodyPr wrap="square" lIns="0" tIns="0" rIns="0" bIns="0" rtlCol="0" anchor="ctr"/>
          <a:lstStyle/>
          <a:p>
            <a:pPr algn="l" indent="0" marL="0">
              <a:buNone/>
            </a:pPr>
            <a:r>
              <a:rPr lang="en-US" sz="1200" u="sng" dirty="0">
                <a:solidFill>
                  <a:srgbClr val="18191D"/>
                </a:solidFill>
                <a:latin typeface="Arial" pitchFamily="34" charset="0"/>
                <a:ea typeface="Arial" pitchFamily="34" charset="-122"/>
                <a:cs typeface="Arial" pitchFamily="34" charset="-120"/>
                <a:hlinkClick r:id="rId11" invalidUrl="" action="" tgtFrame="" tooltip="" history="1" highlightClick="0" endSnd="0">
                  <a:extLst>
                    <a:ext uri="{A12FA001-AC4F-418D-AE19-62706E023703}">
                      <ahyp:hlinkClr xmlns:ahyp="http://schemas.microsoft.com/office/drawing/2018/hyperlinkcolor" val="tx"/>
                    </a:ext>
                  </a:extLst>
                </a:hlinkClick>
              </a:rPr>
              <a:t>KServe with inference gateway integration</a:t>
            </a:r>
            <a:endParaRPr lang="en-US" sz="1200" dirty="0"/>
          </a:p>
        </p:txBody>
      </p:sp>
      <p:sp>
        <p:nvSpPr>
          <p:cNvPr id="31" name="Text 29"/>
          <p:cNvSpPr/>
          <p:nvPr/>
        </p:nvSpPr>
        <p:spPr>
          <a:xfrm>
            <a:off x="6227064" y="2788920"/>
            <a:ext cx="475488" cy="274320"/>
          </a:xfrm>
          <a:prstGeom prst="rect">
            <a:avLst/>
          </a:prstGeom>
          <a:noFill/>
          <a:ln/>
        </p:spPr>
        <p:txBody>
          <a:bodyPr wrap="square" lIns="0" tIns="0" rIns="0" bIns="0" rtlCol="0" anchor="ctr"/>
          <a:lstStyle/>
          <a:p>
            <a:pPr algn="l" indent="0" marL="0">
              <a:buNone/>
            </a:pPr>
            <a:r>
              <a:rPr lang="en-US" sz="1100" b="1" dirty="0">
                <a:solidFill>
                  <a:srgbClr val="E31837"/>
                </a:solidFill>
                <a:latin typeface="Arial" pitchFamily="34" charset="0"/>
                <a:ea typeface="Arial" pitchFamily="34" charset="-122"/>
                <a:cs typeface="Arial" pitchFamily="34" charset="-120"/>
              </a:rPr>
              <a:t>R10</a:t>
            </a:r>
            <a:endParaRPr lang="en-US" sz="1100" dirty="0"/>
          </a:p>
        </p:txBody>
      </p:sp>
      <p:sp>
        <p:nvSpPr>
          <p:cNvPr id="32" name="Text 30">
            <a:hlinkClick r:id="rId12" tooltip=""/>
          </p:cNvPr>
          <p:cNvSpPr/>
          <p:nvPr/>
        </p:nvSpPr>
        <p:spPr>
          <a:xfrm>
            <a:off x="6803136" y="2788920"/>
            <a:ext cx="4773168" cy="283464"/>
          </a:xfrm>
          <a:prstGeom prst="rect">
            <a:avLst/>
          </a:prstGeom>
          <a:noFill/>
          <a:ln/>
        </p:spPr>
        <p:txBody>
          <a:bodyPr wrap="square" lIns="0" tIns="0" rIns="0" bIns="0" rtlCol="0" anchor="ctr"/>
          <a:lstStyle/>
          <a:p>
            <a:pPr algn="l" indent="0" marL="0">
              <a:buNone/>
            </a:pPr>
            <a:r>
              <a:rPr lang="en-US" sz="1200" u="sng" dirty="0">
                <a:solidFill>
                  <a:srgbClr val="18191D"/>
                </a:solidFill>
                <a:latin typeface="Arial" pitchFamily="34" charset="0"/>
                <a:ea typeface="Arial" pitchFamily="34" charset="-122"/>
                <a:cs typeface="Arial" pitchFamily="34" charset="-120"/>
                <a:hlinkClick r:id="rId12" invalidUrl="" action="" tgtFrame="" tooltip="" history="1" highlightClick="0" endSnd="0">
                  <a:extLst>
                    <a:ext uri="{A12FA001-AC4F-418D-AE19-62706E023703}">
                      <ahyp:hlinkClr xmlns:ahyp="http://schemas.microsoft.com/office/drawing/2018/hyperlinkcolor" val="tx"/>
                    </a:ext>
                  </a:extLst>
                </a:hlinkClick>
              </a:rPr>
              <a:t>vLLM platform plugin system</a:t>
            </a:r>
            <a:endParaRPr lang="en-US" sz="1200" dirty="0"/>
          </a:p>
        </p:txBody>
      </p:sp>
      <p:sp>
        <p:nvSpPr>
          <p:cNvPr id="33" name="Text 31"/>
          <p:cNvSpPr/>
          <p:nvPr/>
        </p:nvSpPr>
        <p:spPr>
          <a:xfrm>
            <a:off x="6227064" y="3209544"/>
            <a:ext cx="475488" cy="274320"/>
          </a:xfrm>
          <a:prstGeom prst="rect">
            <a:avLst/>
          </a:prstGeom>
          <a:noFill/>
          <a:ln/>
        </p:spPr>
        <p:txBody>
          <a:bodyPr wrap="square" lIns="0" tIns="0" rIns="0" bIns="0" rtlCol="0" anchor="ctr"/>
          <a:lstStyle/>
          <a:p>
            <a:pPr algn="l" indent="0" marL="0">
              <a:buNone/>
            </a:pPr>
            <a:r>
              <a:rPr lang="en-US" sz="1100" b="1" dirty="0">
                <a:solidFill>
                  <a:srgbClr val="E31837"/>
                </a:solidFill>
                <a:latin typeface="Arial" pitchFamily="34" charset="0"/>
                <a:ea typeface="Arial" pitchFamily="34" charset="-122"/>
                <a:cs typeface="Arial" pitchFamily="34" charset="-120"/>
              </a:rPr>
              <a:t>R11</a:t>
            </a:r>
            <a:endParaRPr lang="en-US" sz="1100" dirty="0"/>
          </a:p>
        </p:txBody>
      </p:sp>
      <p:sp>
        <p:nvSpPr>
          <p:cNvPr id="34" name="Text 32">
            <a:hlinkClick r:id="rId13" tooltip=""/>
          </p:cNvPr>
          <p:cNvSpPr/>
          <p:nvPr/>
        </p:nvSpPr>
        <p:spPr>
          <a:xfrm>
            <a:off x="6803136" y="3209544"/>
            <a:ext cx="4773168" cy="283464"/>
          </a:xfrm>
          <a:prstGeom prst="rect">
            <a:avLst/>
          </a:prstGeom>
          <a:noFill/>
          <a:ln/>
        </p:spPr>
        <p:txBody>
          <a:bodyPr wrap="square" lIns="0" tIns="0" rIns="0" bIns="0" rtlCol="0" anchor="ctr"/>
          <a:lstStyle/>
          <a:p>
            <a:pPr algn="l" indent="0" marL="0">
              <a:buNone/>
            </a:pPr>
            <a:r>
              <a:rPr lang="en-US" sz="1200" u="sng" dirty="0">
                <a:solidFill>
                  <a:srgbClr val="18191D"/>
                </a:solidFill>
                <a:latin typeface="Arial" pitchFamily="34" charset="0"/>
                <a:ea typeface="Arial" pitchFamily="34" charset="-122"/>
                <a:cs typeface="Arial" pitchFamily="34" charset="-120"/>
                <a:hlinkClick r:id="rId13" invalidUrl="" action="" tgtFrame="" tooltip="" history="1" highlightClick="0" endSnd="0">
                  <a:extLst>
                    <a:ext uri="{A12FA001-AC4F-418D-AE19-62706E023703}">
                      <ahyp:hlinkClr xmlns:ahyp="http://schemas.microsoft.com/office/drawing/2018/hyperlinkcolor" val="tx"/>
                    </a:ext>
                  </a:extLst>
                </a:hlinkClick>
              </a:rPr>
              <a:t>Tenstorrent vLLM backend plugin</a:t>
            </a:r>
            <a:endParaRPr lang="en-US" sz="1200" dirty="0"/>
          </a:p>
        </p:txBody>
      </p:sp>
      <p:sp>
        <p:nvSpPr>
          <p:cNvPr id="35" name="Text 33"/>
          <p:cNvSpPr/>
          <p:nvPr/>
        </p:nvSpPr>
        <p:spPr>
          <a:xfrm>
            <a:off x="6227064" y="3630168"/>
            <a:ext cx="475488" cy="274320"/>
          </a:xfrm>
          <a:prstGeom prst="rect">
            <a:avLst/>
          </a:prstGeom>
          <a:noFill/>
          <a:ln/>
        </p:spPr>
        <p:txBody>
          <a:bodyPr wrap="square" lIns="0" tIns="0" rIns="0" bIns="0" rtlCol="0" anchor="ctr"/>
          <a:lstStyle/>
          <a:p>
            <a:pPr algn="l" indent="0" marL="0">
              <a:buNone/>
            </a:pPr>
            <a:r>
              <a:rPr lang="en-US" sz="1100" b="1" dirty="0">
                <a:solidFill>
                  <a:srgbClr val="E31837"/>
                </a:solidFill>
                <a:latin typeface="Arial" pitchFamily="34" charset="0"/>
                <a:ea typeface="Arial" pitchFamily="34" charset="-122"/>
                <a:cs typeface="Arial" pitchFamily="34" charset="-120"/>
              </a:rPr>
              <a:t>R12</a:t>
            </a:r>
            <a:endParaRPr lang="en-US" sz="1100" dirty="0"/>
          </a:p>
        </p:txBody>
      </p:sp>
      <p:sp>
        <p:nvSpPr>
          <p:cNvPr id="36" name="Text 34">
            <a:hlinkClick r:id="rId14" tooltip=""/>
          </p:cNvPr>
          <p:cNvSpPr/>
          <p:nvPr/>
        </p:nvSpPr>
        <p:spPr>
          <a:xfrm>
            <a:off x="6803136" y="3630168"/>
            <a:ext cx="4773168" cy="283464"/>
          </a:xfrm>
          <a:prstGeom prst="rect">
            <a:avLst/>
          </a:prstGeom>
          <a:noFill/>
          <a:ln/>
        </p:spPr>
        <p:txBody>
          <a:bodyPr wrap="square" lIns="0" tIns="0" rIns="0" bIns="0" rtlCol="0" anchor="ctr"/>
          <a:lstStyle/>
          <a:p>
            <a:pPr algn="l" indent="0" marL="0">
              <a:buNone/>
            </a:pPr>
            <a:r>
              <a:rPr lang="en-US" sz="1200" u="sng" dirty="0">
                <a:solidFill>
                  <a:srgbClr val="18191D"/>
                </a:solidFill>
                <a:latin typeface="Arial" pitchFamily="34" charset="0"/>
                <a:ea typeface="Arial" pitchFamily="34" charset="-122"/>
                <a:cs typeface="Arial" pitchFamily="34" charset="-120"/>
                <a:hlinkClick r:id="rId14" invalidUrl="" action="" tgtFrame="" tooltip="" history="1" highlightClick="0" endSnd="0">
                  <a:extLst>
                    <a:ext uri="{A12FA001-AC4F-418D-AE19-62706E023703}">
                      <ahyp:hlinkClr xmlns:ahyp="http://schemas.microsoft.com/office/drawing/2018/hyperlinkcolor" val="tx"/>
                    </a:ext>
                  </a:extLst>
                </a:hlinkClick>
              </a:rPr>
              <a:t>Harbor tag immutability</a:t>
            </a:r>
            <a:endParaRPr lang="en-US" sz="1200" dirty="0"/>
          </a:p>
        </p:txBody>
      </p:sp>
      <p:sp>
        <p:nvSpPr>
          <p:cNvPr id="37" name="Text 35"/>
          <p:cNvSpPr/>
          <p:nvPr/>
        </p:nvSpPr>
        <p:spPr>
          <a:xfrm>
            <a:off x="6227064" y="4050792"/>
            <a:ext cx="475488" cy="274320"/>
          </a:xfrm>
          <a:prstGeom prst="rect">
            <a:avLst/>
          </a:prstGeom>
          <a:noFill/>
          <a:ln/>
        </p:spPr>
        <p:txBody>
          <a:bodyPr wrap="square" lIns="0" tIns="0" rIns="0" bIns="0" rtlCol="0" anchor="ctr"/>
          <a:lstStyle/>
          <a:p>
            <a:pPr algn="l" indent="0" marL="0">
              <a:buNone/>
            </a:pPr>
            <a:r>
              <a:rPr lang="en-US" sz="1100" b="1" dirty="0">
                <a:solidFill>
                  <a:srgbClr val="E31837"/>
                </a:solidFill>
                <a:latin typeface="Arial" pitchFamily="34" charset="0"/>
                <a:ea typeface="Arial" pitchFamily="34" charset="-122"/>
                <a:cs typeface="Arial" pitchFamily="34" charset="-120"/>
              </a:rPr>
              <a:t>R13</a:t>
            </a:r>
            <a:endParaRPr lang="en-US" sz="1100" dirty="0"/>
          </a:p>
        </p:txBody>
      </p:sp>
      <p:sp>
        <p:nvSpPr>
          <p:cNvPr id="38" name="Text 36">
            <a:hlinkClick r:id="rId15" tooltip=""/>
          </p:cNvPr>
          <p:cNvSpPr/>
          <p:nvPr/>
        </p:nvSpPr>
        <p:spPr>
          <a:xfrm>
            <a:off x="6803136" y="4050792"/>
            <a:ext cx="4773168" cy="283464"/>
          </a:xfrm>
          <a:prstGeom prst="rect">
            <a:avLst/>
          </a:prstGeom>
          <a:noFill/>
          <a:ln/>
        </p:spPr>
        <p:txBody>
          <a:bodyPr wrap="square" lIns="0" tIns="0" rIns="0" bIns="0" rtlCol="0" anchor="ctr"/>
          <a:lstStyle/>
          <a:p>
            <a:pPr algn="l" indent="0" marL="0">
              <a:buNone/>
            </a:pPr>
            <a:r>
              <a:rPr lang="en-US" sz="1200" u="sng" dirty="0">
                <a:solidFill>
                  <a:srgbClr val="18191D"/>
                </a:solidFill>
                <a:latin typeface="Arial" pitchFamily="34" charset="0"/>
                <a:ea typeface="Arial" pitchFamily="34" charset="-122"/>
                <a:cs typeface="Arial" pitchFamily="34" charset="-120"/>
                <a:hlinkClick r:id="rId15" invalidUrl="" action="" tgtFrame="" tooltip="" history="1" highlightClick="0" endSnd="0">
                  <a:extLst>
                    <a:ext uri="{A12FA001-AC4F-418D-AE19-62706E023703}">
                      <ahyp:hlinkClr xmlns:ahyp="http://schemas.microsoft.com/office/drawing/2018/hyperlinkcolor" val="tx"/>
                    </a:ext>
                  </a:extLst>
                </a:hlinkClick>
              </a:rPr>
              <a:t>Sigstore signature verification</a:t>
            </a:r>
            <a:endParaRPr lang="en-US" sz="1200" dirty="0"/>
          </a:p>
        </p:txBody>
      </p:sp>
      <p:sp>
        <p:nvSpPr>
          <p:cNvPr id="39" name="Text 37"/>
          <p:cNvSpPr/>
          <p:nvPr/>
        </p:nvSpPr>
        <p:spPr>
          <a:xfrm>
            <a:off x="6227064" y="4471416"/>
            <a:ext cx="475488" cy="274320"/>
          </a:xfrm>
          <a:prstGeom prst="rect">
            <a:avLst/>
          </a:prstGeom>
          <a:noFill/>
          <a:ln/>
        </p:spPr>
        <p:txBody>
          <a:bodyPr wrap="square" lIns="0" tIns="0" rIns="0" bIns="0" rtlCol="0" anchor="ctr"/>
          <a:lstStyle/>
          <a:p>
            <a:pPr algn="l" indent="0" marL="0">
              <a:buNone/>
            </a:pPr>
            <a:r>
              <a:rPr lang="en-US" sz="1100" b="1" dirty="0">
                <a:solidFill>
                  <a:srgbClr val="E31837"/>
                </a:solidFill>
                <a:latin typeface="Arial" pitchFamily="34" charset="0"/>
                <a:ea typeface="Arial" pitchFamily="34" charset="-122"/>
                <a:cs typeface="Arial" pitchFamily="34" charset="-120"/>
              </a:rPr>
              <a:t>R14</a:t>
            </a:r>
            <a:endParaRPr lang="en-US" sz="1100" dirty="0"/>
          </a:p>
        </p:txBody>
      </p:sp>
      <p:sp>
        <p:nvSpPr>
          <p:cNvPr id="40" name="Text 38">
            <a:hlinkClick r:id="rId16" tooltip=""/>
          </p:cNvPr>
          <p:cNvSpPr/>
          <p:nvPr/>
        </p:nvSpPr>
        <p:spPr>
          <a:xfrm>
            <a:off x="6803136" y="4471416"/>
            <a:ext cx="4773168" cy="283464"/>
          </a:xfrm>
          <a:prstGeom prst="rect">
            <a:avLst/>
          </a:prstGeom>
          <a:noFill/>
          <a:ln/>
        </p:spPr>
        <p:txBody>
          <a:bodyPr wrap="square" lIns="0" tIns="0" rIns="0" bIns="0" rtlCol="0" anchor="ctr"/>
          <a:lstStyle/>
          <a:p>
            <a:pPr algn="l" indent="0" marL="0">
              <a:buNone/>
            </a:pPr>
            <a:r>
              <a:rPr lang="en-US" sz="1200" u="sng" dirty="0">
                <a:solidFill>
                  <a:srgbClr val="18191D"/>
                </a:solidFill>
                <a:latin typeface="Arial" pitchFamily="34" charset="0"/>
                <a:ea typeface="Arial" pitchFamily="34" charset="-122"/>
                <a:cs typeface="Arial" pitchFamily="34" charset="-120"/>
                <a:hlinkClick r:id="rId16" invalidUrl="" action="" tgtFrame="" tooltip="" history="1" highlightClick="0" endSnd="0">
                  <a:extLst>
                    <a:ext uri="{A12FA001-AC4F-418D-AE19-62706E023703}">
                      <ahyp:hlinkClr xmlns:ahyp="http://schemas.microsoft.com/office/drawing/2018/hyperlinkcolor" val="tx"/>
                    </a:ext>
                  </a:extLst>
                </a:hlinkClick>
              </a:rPr>
              <a:t>Sigstore bundle format</a:t>
            </a:r>
            <a:endParaRPr lang="en-US" sz="1200" dirty="0"/>
          </a:p>
        </p:txBody>
      </p:sp>
      <p:sp>
        <p:nvSpPr>
          <p:cNvPr id="41" name="Text 39"/>
          <p:cNvSpPr/>
          <p:nvPr/>
        </p:nvSpPr>
        <p:spPr>
          <a:xfrm>
            <a:off x="6227064" y="4892040"/>
            <a:ext cx="475488" cy="274320"/>
          </a:xfrm>
          <a:prstGeom prst="rect">
            <a:avLst/>
          </a:prstGeom>
          <a:noFill/>
          <a:ln/>
        </p:spPr>
        <p:txBody>
          <a:bodyPr wrap="square" lIns="0" tIns="0" rIns="0" bIns="0" rtlCol="0" anchor="ctr"/>
          <a:lstStyle/>
          <a:p>
            <a:pPr algn="l" indent="0" marL="0">
              <a:buNone/>
            </a:pPr>
            <a:r>
              <a:rPr lang="en-US" sz="1100" b="1" dirty="0">
                <a:solidFill>
                  <a:srgbClr val="E31837"/>
                </a:solidFill>
                <a:latin typeface="Arial" pitchFamily="34" charset="0"/>
                <a:ea typeface="Arial" pitchFamily="34" charset="-122"/>
                <a:cs typeface="Arial" pitchFamily="34" charset="-120"/>
              </a:rPr>
              <a:t>R15</a:t>
            </a:r>
            <a:endParaRPr lang="en-US" sz="1100" dirty="0"/>
          </a:p>
        </p:txBody>
      </p:sp>
      <p:sp>
        <p:nvSpPr>
          <p:cNvPr id="42" name="Text 40">
            <a:hlinkClick r:id="rId17" tooltip=""/>
          </p:cNvPr>
          <p:cNvSpPr/>
          <p:nvPr/>
        </p:nvSpPr>
        <p:spPr>
          <a:xfrm>
            <a:off x="6803136" y="4892040"/>
            <a:ext cx="4773168" cy="283464"/>
          </a:xfrm>
          <a:prstGeom prst="rect">
            <a:avLst/>
          </a:prstGeom>
          <a:noFill/>
          <a:ln/>
        </p:spPr>
        <p:txBody>
          <a:bodyPr wrap="square" lIns="0" tIns="0" rIns="0" bIns="0" rtlCol="0" anchor="ctr"/>
          <a:lstStyle/>
          <a:p>
            <a:pPr algn="l" indent="0" marL="0">
              <a:buNone/>
            </a:pPr>
            <a:r>
              <a:rPr lang="en-US" sz="1200" u="sng" dirty="0">
                <a:solidFill>
                  <a:srgbClr val="18191D"/>
                </a:solidFill>
                <a:latin typeface="Arial" pitchFamily="34" charset="0"/>
                <a:ea typeface="Arial" pitchFamily="34" charset="-122"/>
                <a:cs typeface="Arial" pitchFamily="34" charset="-120"/>
                <a:hlinkClick r:id="rId17" invalidUrl="" action="" tgtFrame="" tooltip="" history="1" highlightClick="0" endSnd="0">
                  <a:extLst>
                    <a:ext uri="{A12FA001-AC4F-418D-AE19-62706E023703}">
                      <ahyp:hlinkClr xmlns:ahyp="http://schemas.microsoft.com/office/drawing/2018/hyperlinkcolor" val="tx"/>
                    </a:ext>
                  </a:extLst>
                </a:hlinkClick>
              </a:rPr>
              <a:t>The Update Framework roles and metadata</a:t>
            </a:r>
            <a:endParaRPr lang="en-US" sz="1200" dirty="0"/>
          </a:p>
        </p:txBody>
      </p:sp>
      <p:sp>
        <p:nvSpPr>
          <p:cNvPr id="43" name="Shape 41"/>
          <p:cNvSpPr/>
          <p:nvPr/>
        </p:nvSpPr>
        <p:spPr>
          <a:xfrm>
            <a:off x="630936" y="5513832"/>
            <a:ext cx="10972800" cy="310896"/>
          </a:xfrm>
          <a:prstGeom prst="rect">
            <a:avLst>
              <a:gd name="adj" fmla="val 294118"/>
            </a:avLst>
          </a:prstGeom>
          <a:solidFill>
            <a:srgbClr val="F3F4F6"/>
          </a:solidFill>
          <a:ln w="10160">
            <a:solidFill>
              <a:srgbClr val="F3F4F6"/>
            </a:solidFill>
            <a:prstDash val="solid"/>
          </a:ln>
        </p:spPr>
      </p:sp>
      <p:sp>
        <p:nvSpPr>
          <p:cNvPr id="44" name="Text 42"/>
          <p:cNvSpPr/>
          <p:nvPr/>
        </p:nvSpPr>
        <p:spPr>
          <a:xfrm>
            <a:off x="777240" y="5623560"/>
            <a:ext cx="10680192" cy="91440"/>
          </a:xfrm>
          <a:prstGeom prst="rect">
            <a:avLst/>
          </a:prstGeom>
          <a:noFill/>
          <a:ln/>
        </p:spPr>
        <p:txBody>
          <a:bodyPr wrap="square" lIns="0" tIns="0" rIns="0" bIns="0" rtlCol="0" anchor="ctr"/>
          <a:lstStyle/>
          <a:p>
            <a:pPr algn="l" indent="0" marL="0">
              <a:buNone/>
            </a:pPr>
            <a:r>
              <a:rPr lang="en-US" sz="1200" b="1" dirty="0">
                <a:solidFill>
                  <a:srgbClr val="5B6169"/>
                </a:solidFill>
                <a:latin typeface="Arial" pitchFamily="34" charset="0"/>
                <a:ea typeface="Arial" pitchFamily="34" charset="-122"/>
                <a:cs typeface="Arial" pitchFamily="34" charset="-120"/>
              </a:rPr>
              <a:t>Full source scope, decision log, example schemas and test cases are in the companion DOCX.</a:t>
            </a:r>
            <a:endParaRPr lang="en-US" sz="1200" dirty="0"/>
          </a:p>
        </p:txBody>
      </p:sp>
      <p:sp>
        <p:nvSpPr>
          <p:cNvPr id="45" name="Shape 43"/>
          <p:cNvSpPr/>
          <p:nvPr/>
        </p:nvSpPr>
        <p:spPr>
          <a:xfrm>
            <a:off x="475488" y="5843016"/>
            <a:ext cx="11228832" cy="457200"/>
          </a:xfrm>
          <a:prstGeom prst="rect">
            <a:avLst/>
          </a:prstGeom>
          <a:solidFill>
            <a:srgbClr val="FCECEF"/>
          </a:solidFill>
          <a:ln w="10160">
            <a:solidFill>
              <a:srgbClr val="FCECEF"/>
            </a:solidFill>
            <a:prstDash val="solid"/>
          </a:ln>
        </p:spPr>
      </p:sp>
      <p:sp>
        <p:nvSpPr>
          <p:cNvPr id="46" name="Text 44"/>
          <p:cNvSpPr/>
          <p:nvPr/>
        </p:nvSpPr>
        <p:spPr>
          <a:xfrm>
            <a:off x="621792" y="5893308"/>
            <a:ext cx="10936224" cy="347472"/>
          </a:xfrm>
          <a:prstGeom prst="rect">
            <a:avLst/>
          </a:prstGeom>
          <a:noFill/>
          <a:ln/>
        </p:spPr>
        <p:txBody>
          <a:bodyPr wrap="square" lIns="0" tIns="0" rIns="0" bIns="0" rtlCol="0" anchor="ctr"/>
          <a:lstStyle/>
          <a:p>
            <a:pPr algn="l" indent="0" marL="0">
              <a:buNone/>
            </a:pPr>
            <a:r>
              <a:rPr lang="en-US" sz="1300" b="1" dirty="0">
                <a:solidFill>
                  <a:srgbClr val="E31837"/>
                </a:solidFill>
                <a:latin typeface="Arial" pitchFamily="34" charset="0"/>
                <a:ea typeface="Arial" pitchFamily="34" charset="-122"/>
                <a:cs typeface="Arial" pitchFamily="34" charset="-120"/>
              </a:rPr>
              <a:t>Key boundary: RKE2, vLLM, KServe, DRA and signing frameworks provide components—not a certified ATMOS turnkey product.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SanDisk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SanDisk ATMOS — Turnkey Technical Design Appendix</dc:title>
  <dc:subject>Turnkey technical reference design appendix to v3</dc:subject>
  <dc:creator>SanDisk ATMOS • Architecture Proposal</dc:creator>
  <cp:lastModifiedBy>SanDisk ATMOS • Architecture Proposal</cp:lastModifiedBy>
  <cp:revision>1</cp:revision>
  <dcterms:created xsi:type="dcterms:W3CDTF">2026-10-07T05:04:04Z</dcterms:created>
  <dcterms:modified xsi:type="dcterms:W3CDTF">2026-10-07T05:04:04Z</dcterms:modified>
</cp:coreProperties>
</file>