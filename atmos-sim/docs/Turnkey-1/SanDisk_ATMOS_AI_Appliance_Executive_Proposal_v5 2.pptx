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source: SanDisk ATMOS AI Appliance Strategy PRD v3 and Executive Proposal v4.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analysis of SanDisk ATMOS AI Appliance Executive Proposal v4.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Cisco Secure AI Factory FAQ describes modular prevalidated, turnkey cloud-managed and build-your-own choices. https://www.cisco.com/c/en/us/solutions/collateral/artificial-intelligence/secure-ai-factory-nvidia-faq.html
NVIDIA DGX platform includes DGX OS/BaseOS, Mission Control and Base Command Manager. https://docs.nvidia.com/dgx/index.html
NVIDIA NIM provides deployable inference microservices; Blueprints provide reference workflows. https://developer.nvidia.com/nim https://build.nvidia.com/nvidia/build-a-rag-pipeline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planning assumptions from SanDisk ATMOS AI Appliance Strategy PRD v3. Values are targets, not measured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NVIDIA NIM similarly packages preoptimized model-serving microservices with standard APIs. https://developer.nvidia.com/nim
NVIDIA DGX resources describe software, support, licensing and management entitlements. https://docs.nvidia.com/dgx-resources/index.html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NVIDIA NIM is the competitive pattern for packaged inference services with standard APIs. https://developer.nvidia.com/nim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Cisco positions its AI factory as full-stack infrastructure with security and observability at every layer. https://www.cisco.com/c/en/us/solutions/collateral/artificial-intelligence/secure-ai-factory-nvidia-faq.html
Internal architecture derived from SanDisk ATMOS PRD v3.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NVIDIA describes its RAG Blueprint as a modular production-ready reference architecture, deployable and customizable rather than a finished customer-specific application. https://build.nvidia.com/nvidia/build-a-rag-pipeline https://docs.nvidia.com/rag/latest/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NVIDIA AI Enterprise emphasizes production branches, support, security maintenance and validated deployment. https://www.nvidia.com/en-us/data-center/products/ai-enterprise/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Cisco explicitly uses Cisco and partner professional services to reduce deployment and financial risk. https://www.cisco.com/c/en/us/solutions/collateral/artificial-intelligence/secure-ai-factory-nvidia-faq.html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value framework derived from SanDisk ATMOS PRD v3.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management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472"/>
                </a:solidFill>
              </a:rPr>
              <a:t>SAN DISK / ATMOS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69680" y="16459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492"/>
                </a:solidFill>
              </a:rPr>
              <a:t>INTERNAL  |  PLATFORM PROPOSAL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6492240"/>
            <a:ext cx="11356848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6539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492"/>
                </a:solidFill>
              </a:rPr>
              <a:t>9 OCTOBER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109728"/>
            <a:ext cx="3886200" cy="6382512"/>
          </a:xfrm>
          <a:prstGeom prst="rect">
            <a:avLst/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772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" kern="0" dirty="0">
                <a:solidFill>
                  <a:srgbClr val="F2A5B4"/>
                </a:solidFill>
              </a:rPr>
              <a:t>REVISED PRODUCT DIRECTION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ATMOS AI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Appliance Platform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30352" y="306324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2E8"/>
                </a:solidFill>
              </a:rPr>
              <a:t>Turnkey infrastructure, deployable Intelligence Services and enterprise lifecycle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43400" y="960120"/>
            <a:ext cx="72237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81728" y="13075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430"/>
                </a:solidFill>
              </a:rPr>
              <a:t>Product boundary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681728" y="1901952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837"/>
                </a:solidFill>
              </a:rPr>
              <a:t>Sandisk builds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883664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</a:rPr>
              <a:t>Appliance + AI OS + runtime + services + management + lifecycle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663440" y="2340864"/>
            <a:ext cx="6263640" cy="1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651760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Sandisk reuses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633472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</a:rPr>
              <a:t>Linux + Kubernetes + gateway + observability + supported databases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663440" y="3090672"/>
            <a:ext cx="6263640" cy="1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3401568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Partners build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38328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</a:rPr>
              <a:t>Vertical applications + connectors + workflows + custom UX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663440" y="3840480"/>
            <a:ext cx="6263640" cy="1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4151376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Customer owns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4133088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</a:rPr>
              <a:t>Business policy + data rights + regulatory approval + outcomes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663440" y="4590288"/>
            <a:ext cx="6263640" cy="1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5742432"/>
            <a:ext cx="6812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31837"/>
                </a:solidFill>
              </a:rPr>
              <a:t>Decision: approve Appliance 8 / 16 platform definition and evidence work, not a vertical application portfolio.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proposal changes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The previous deck combined hardware, platform and finished business applications. Version 5 separates the layers.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834640" cy="438912"/>
          </a:xfrm>
          <a:prstGeom prst="rect">
            <a:avLst/>
          </a:prstGeom>
          <a:solidFill>
            <a:srgbClr val="1F24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463040"/>
            <a:ext cx="2724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Prior proposal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0" y="1325880"/>
            <a:ext cx="5166360" cy="438912"/>
          </a:xfrm>
          <a:prstGeom prst="rect">
            <a:avLst/>
          </a:prstGeom>
          <a:solidFill>
            <a:srgbClr val="1F24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9584" y="1463040"/>
            <a:ext cx="5056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Revised proposal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64792"/>
            <a:ext cx="2834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929384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30"/>
                </a:solidFill>
              </a:rPr>
              <a:t>Knowledge Agent as product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764792"/>
            <a:ext cx="5166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1929384"/>
            <a:ext cx="5020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ATMOS platform and supported AI services as product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386584"/>
            <a:ext cx="2834640" cy="621792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551176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30"/>
                </a:solidFill>
              </a:rPr>
              <a:t>Five launch hardware profiles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0" y="2386584"/>
            <a:ext cx="5166360" cy="621792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7872" y="2551176"/>
            <a:ext cx="5020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Two initial profiles: Appliance 8 and Appliance 16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008376"/>
            <a:ext cx="2834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172968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30"/>
                </a:solidFill>
              </a:rPr>
              <a:t>Sandisk vertical workflows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3008376"/>
            <a:ext cx="5166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47872" y="3172968"/>
            <a:ext cx="5020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ISV, SI and customer vertical workflows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630168"/>
            <a:ext cx="2834640" cy="621792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79476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30"/>
                </a:solidFill>
              </a:rPr>
              <a:t>Broad document/agent commitments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0" y="3630168"/>
            <a:ext cx="5166360" cy="621792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3794760"/>
            <a:ext cx="5020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Two reference blueprints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251960"/>
            <a:ext cx="28346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416552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30"/>
                </a:solidFill>
              </a:rPr>
              <a:t>Turnkey business application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0" y="4251960"/>
            <a:ext cx="51663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4416552"/>
            <a:ext cx="5020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Turnkey infrastructure, APIs, lifecycle and support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4873752"/>
            <a:ext cx="2834640" cy="621792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5038344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430"/>
                </a:solidFill>
              </a:rPr>
              <a:t>Vertical use cases in main narrative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0" y="4873752"/>
            <a:ext cx="5166360" cy="621792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47872" y="5038344"/>
            <a:ext cx="5020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Validation workloads and appendix examples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915400" y="1325880"/>
            <a:ext cx="2468880" cy="41605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33" name="Shape 31"/>
          <p:cNvSpPr/>
          <p:nvPr/>
        </p:nvSpPr>
        <p:spPr>
          <a:xfrm>
            <a:off x="8915400" y="1325880"/>
            <a:ext cx="54864" cy="4160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16568" y="1490472"/>
            <a:ext cx="20665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The simplification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16568" y="1947672"/>
            <a:ext cx="206654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Reduces software scope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Clarifies support boundary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Allows OEM qualification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Focuses benchmarks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Creates partner leverage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Prevents unsupported promises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Turnkey is a stack, not a custom application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Cisco and NVIDIA package infrastructure, operations, deployable services and reference workflows.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353312"/>
            <a:ext cx="45720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55448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837"/>
                </a:solidFill>
              </a:rPr>
              <a:t>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08760" y="15087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</a:rPr>
              <a:t>Business application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29000" y="151790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Customer / ISV / integrator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340864"/>
            <a:ext cx="45720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5420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837"/>
                </a:solidFill>
              </a:rPr>
              <a:t>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24963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</a:rPr>
              <a:t>Reference blueprint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250545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Adaptable workflow and sample UI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3328416"/>
            <a:ext cx="4572000" cy="713232"/>
          </a:xfrm>
          <a:prstGeom prst="roundRect">
            <a:avLst>
              <a:gd name="adj" fmla="val 6410"/>
            </a:avLst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52958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348386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Deployable AI service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349300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E6E8EC"/>
                </a:solidFill>
              </a:rPr>
              <a:t>Container + model + API + profile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4315968"/>
            <a:ext cx="4572000" cy="713232"/>
          </a:xfrm>
          <a:prstGeom prst="roundRect">
            <a:avLst>
              <a:gd name="adj" fmla="val 6410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  <a:effectLst> </a:effectLst>
        </p:spPr>
      </p:sp>
      <p:sp>
        <p:nvSpPr>
          <p:cNvPr id="17" name="Text 15"/>
          <p:cNvSpPr/>
          <p:nvPr/>
        </p:nvSpPr>
        <p:spPr>
          <a:xfrm>
            <a:off x="1051560" y="451713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447141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Operable infrastructure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44805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E6E8EC"/>
                </a:solidFill>
              </a:rPr>
              <a:t>Qualified system + management + support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52160" y="1353312"/>
            <a:ext cx="2560320" cy="36576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21" name="Shape 19"/>
          <p:cNvSpPr/>
          <p:nvPr/>
        </p:nvSpPr>
        <p:spPr>
          <a:xfrm>
            <a:off x="5852160" y="1353312"/>
            <a:ext cx="54864" cy="3657600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53328" y="1517904"/>
            <a:ext cx="21579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Cisco pattern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53328" y="1975104"/>
            <a:ext cx="215798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Validated modular or cloud-managed infrastructure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Networking, security, observability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Professional services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Applications through NVIDIA and ecosystem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8641080" y="1353312"/>
            <a:ext cx="2560320" cy="36576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25" name="Shape 23"/>
          <p:cNvSpPr/>
          <p:nvPr/>
        </p:nvSpPr>
        <p:spPr>
          <a:xfrm>
            <a:off x="8641080" y="1353312"/>
            <a:ext cx="54864" cy="3657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42248" y="1517904"/>
            <a:ext cx="21579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NVIDIA pattern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42248" y="1975104"/>
            <a:ext cx="215798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DGX + DGX OS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Mission Control / BCM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AI Enterprise + NIM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Blueprints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Customer or partner application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2011680" y="5532120"/>
            <a:ext cx="8183880" cy="566928"/>
          </a:xfrm>
          <a:prstGeom prst="roundRect">
            <a:avLst>
              <a:gd name="adj" fmla="val 9677"/>
            </a:avLst>
          </a:prstGeom>
          <a:solidFill>
            <a:srgbClr val="FDECEF"/>
          </a:solidFill>
          <a:ln w="12700">
            <a:solidFill>
              <a:srgbClr val="F2B0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40280" y="5733288"/>
            <a:ext cx="7726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1837"/>
                </a:solidFill>
              </a:rPr>
              <a:t>ATMOS should own Levels 1–3 and enable Level 4.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Initial product: two appliances, one supported platform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Start where proof and OEM qualification are manageable.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25780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5" name="Shape 3"/>
          <p:cNvSpPr/>
          <p:nvPr/>
        </p:nvSpPr>
        <p:spPr>
          <a:xfrm>
            <a:off x="685800" y="1325880"/>
            <a:ext cx="54864" cy="443484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90472"/>
            <a:ext cx="4855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ATMOS AI Appliance 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1947672"/>
            <a:ext cx="485546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8 ATMOS E3.S devices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2 × four-device P2P groups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1.024 TB nominal distributed HBF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~800 GB application study allocation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256–512 GB ECC host DRAM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2 × 100 GbE target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Role: departmental, edge, developer and first production proof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25780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9" name="Shape 7"/>
          <p:cNvSpPr/>
          <p:nvPr/>
        </p:nvSpPr>
        <p:spPr>
          <a:xfrm>
            <a:off x="6217920" y="1325880"/>
            <a:ext cx="54864" cy="4434840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1490472"/>
            <a:ext cx="4855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ATMOS AI Appliance 16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19088" y="1947672"/>
            <a:ext cx="485546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16 ATMOS E3.S devices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4 × four-device P2P groups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2.048 TB nominal distributed HBF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~1.6 TB application study allocation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512 GB–1 TB ECC host DRAM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2 × 200 GbE target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Role: enterprise shared inference and neural-data services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1280160" y="5943600"/>
            <a:ext cx="2560320" cy="301752"/>
          </a:xfrm>
          <a:prstGeom prst="roundRect">
            <a:avLst>
              <a:gd name="adj" fmla="val 24242"/>
            </a:avLst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6021324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ROADMAP: 4-DEVICE DERIVATIVE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00600" y="5943600"/>
            <a:ext cx="2606040" cy="301752"/>
          </a:xfrm>
          <a:prstGeom prst="roundRect">
            <a:avLst>
              <a:gd name="adj" fmla="val 24242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6021324"/>
            <a:ext cx="2606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GATED: 24-DEVICE CAPACITY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366760" y="5943600"/>
            <a:ext cx="2560320" cy="301752"/>
          </a:xfrm>
          <a:prstGeom prst="roundRect">
            <a:avLst>
              <a:gd name="adj" fmla="val 24242"/>
            </a:avLst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6021324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RESEARCH: GPU SIDE-CAR / MOE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customers receive out of the box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A customer can publish a supported API without assembling an accelerator software stack.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54864" cy="178308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90472"/>
            <a:ext cx="3118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Qualified appliance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1947672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OEM server, ATMOS devices, topology, thermals, BMC and recovery image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462272" y="1325880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9" name="Shape 7"/>
          <p:cNvSpPr/>
          <p:nvPr/>
        </p:nvSpPr>
        <p:spPr>
          <a:xfrm>
            <a:off x="4462272" y="1325880"/>
            <a:ext cx="54864" cy="178308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490472"/>
            <a:ext cx="3118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ATMOS AI 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1947672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Linux image, driver, runtime, firmware, containers and Device Service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284464" y="1325880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13" name="Shape 11"/>
          <p:cNvSpPr/>
          <p:nvPr/>
        </p:nvSpPr>
        <p:spPr>
          <a:xfrm>
            <a:off x="8284464" y="1325880"/>
            <a:ext cx="54864" cy="178308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490472"/>
            <a:ext cx="3118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Control Center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85632" y="1947672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Setup, identity, service deployment, health, usage, updates and support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17" name="Shape 15"/>
          <p:cNvSpPr/>
          <p:nvPr/>
        </p:nvSpPr>
        <p:spPr>
          <a:xfrm>
            <a:off x="640080" y="3474720"/>
            <a:ext cx="54864" cy="1783080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639312"/>
            <a:ext cx="3118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Intelligence Services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4096512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Embedding, retrieval, reranking and qualified model serving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462272" y="3474720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21" name="Shape 19"/>
          <p:cNvSpPr/>
          <p:nvPr/>
        </p:nvSpPr>
        <p:spPr>
          <a:xfrm>
            <a:off x="4462272" y="3474720"/>
            <a:ext cx="54864" cy="1783080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639312"/>
            <a:ext cx="3118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Lifecycle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63440" y="4096512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Signed ModelPacks, compatibility, golden tests, canary and rollback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8284464" y="3474720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25" name="Shape 23"/>
          <p:cNvSpPr/>
          <p:nvPr/>
        </p:nvSpPr>
        <p:spPr>
          <a:xfrm>
            <a:off x="8284464" y="3474720"/>
            <a:ext cx="54864" cy="1783080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85632" y="3639312"/>
            <a:ext cx="3118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Enterprise support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85632" y="4096512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Production/LTS/offline channels and one Sandisk support route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1234440" y="5870448"/>
            <a:ext cx="9738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Target: first supported endpoint on the same business day after site readiness, excluding large data ingestion and customer acceptance.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ATMOS Intelligence Services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Supported microservices are the primary software product.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874520" cy="438912"/>
          </a:xfrm>
          <a:prstGeom prst="rect">
            <a:avLst/>
          </a:prstGeom>
          <a:solidFill>
            <a:srgbClr val="1F24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" y="1435608"/>
            <a:ext cx="1764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Service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2377440" y="1298448"/>
            <a:ext cx="1920240" cy="438912"/>
          </a:xfrm>
          <a:prstGeom prst="rect">
            <a:avLst/>
          </a:prstGeom>
          <a:solidFill>
            <a:srgbClr val="1F24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32304" y="1435608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API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4297680" y="1298448"/>
            <a:ext cx="3200400" cy="438912"/>
          </a:xfrm>
          <a:prstGeom prst="rect">
            <a:avLst/>
          </a:prstGeom>
          <a:solidFill>
            <a:srgbClr val="1F24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52544" y="1435608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Sandisk delivers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7498080" y="1298448"/>
            <a:ext cx="2743200" cy="438912"/>
          </a:xfrm>
          <a:prstGeom prst="rect">
            <a:avLst/>
          </a:prstGeom>
          <a:solidFill>
            <a:srgbClr val="1F24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52944" y="1435608"/>
            <a:ext cx="2633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Boundary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502920" y="1737360"/>
            <a:ext cx="187452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1901952"/>
            <a:ext cx="1728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430"/>
                </a:solidFill>
              </a:rPr>
              <a:t>Embedding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2377440" y="1737360"/>
            <a:ext cx="192024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1901952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POST /v1/embeddings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4297680" y="1737360"/>
            <a:ext cx="320040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1901952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Certified models, batch/online profiles, metrics and lifecycle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7498080" y="1737360"/>
            <a:ext cx="274320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71232" y="1901952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Not arbitrary models or customer quality approval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502920" y="2487168"/>
            <a:ext cx="1874520" cy="74980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651760"/>
            <a:ext cx="1728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430"/>
                </a:solidFill>
              </a:rPr>
              <a:t>Retrieval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2377440" y="2487168"/>
            <a:ext cx="1920240" cy="74980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50592" y="2651760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POST /v1/retrieve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4297680" y="2487168"/>
            <a:ext cx="3200400" cy="74980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70832" y="2651760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Collections, filters, index generations, top-k and supported DB integration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7498080" y="2487168"/>
            <a:ext cx="2743200" cy="74980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71232" y="2651760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Not a universal vector-database replacement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502920" y="3236976"/>
            <a:ext cx="187452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401568"/>
            <a:ext cx="1728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430"/>
                </a:solidFill>
              </a:rPr>
              <a:t>Reranking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2377440" y="3236976"/>
            <a:ext cx="192024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50592" y="3401568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POST /v1/rerank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4297680" y="3236976"/>
            <a:ext cx="320040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70832" y="3401568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Candidate scores, certified rerankers, quality harness and latency profile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7498080" y="3236976"/>
            <a:ext cx="274320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71232" y="3401568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Customer supplies relevance ground truth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502920" y="3986784"/>
            <a:ext cx="1874520" cy="74980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4151376"/>
            <a:ext cx="1728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430"/>
                </a:solidFill>
              </a:rPr>
              <a:t>Model serving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2377440" y="3986784"/>
            <a:ext cx="1920240" cy="74980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50592" y="4151376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POST /v1/chat/completions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4297680" y="3986784"/>
            <a:ext cx="3200400" cy="74980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70832" y="4151376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Qualified model subset, streaming, token metering and limits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7498080" y="3986784"/>
            <a:ext cx="2743200" cy="74980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71232" y="4151376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No universal LLM or GPU-equivalent claim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502920" y="4736592"/>
            <a:ext cx="187452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" y="4901184"/>
            <a:ext cx="1728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430"/>
                </a:solidFill>
              </a:rPr>
              <a:t>Feature service</a:t>
            </a:r>
            <a:endParaRPr lang="en-US" sz="870" dirty="0"/>
          </a:p>
        </p:txBody>
      </p:sp>
      <p:sp>
        <p:nvSpPr>
          <p:cNvPr id="46" name="Shape 44"/>
          <p:cNvSpPr/>
          <p:nvPr/>
        </p:nvSpPr>
        <p:spPr>
          <a:xfrm>
            <a:off x="2377440" y="4736592"/>
            <a:ext cx="192024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50592" y="4901184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Future API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4297680" y="4736592"/>
            <a:ext cx="320040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70832" y="4901184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Gather, pooling, scoring and top-k after proof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7498080" y="4736592"/>
            <a:ext cx="274320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71232" y="4901184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Not a release-one commitment</a:t>
            </a:r>
            <a:endParaRPr lang="en-US" sz="870" dirty="0"/>
          </a:p>
        </p:txBody>
      </p:sp>
      <p:sp>
        <p:nvSpPr>
          <p:cNvPr id="52" name="Shape 50"/>
          <p:cNvSpPr/>
          <p:nvPr/>
        </p:nvSpPr>
        <p:spPr>
          <a:xfrm>
            <a:off x="1417320" y="5669280"/>
            <a:ext cx="9372600" cy="502920"/>
          </a:xfrm>
          <a:prstGeom prst="roundRect">
            <a:avLst>
              <a:gd name="adj" fmla="val 9091"/>
            </a:avLst>
          </a:prstGeom>
          <a:solidFill>
            <a:srgbClr val="EAF2F8"/>
          </a:solidFill>
          <a:ln w="12700">
            <a:solidFill>
              <a:srgbClr val="B9D2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64208" y="5843016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5B8A"/>
                </a:solidFill>
              </a:rPr>
              <a:t>Each service ships as a signed container + ModelPack + compatibility manifest + golden tests + performance profile + update policy.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Turnkey technical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One supportable path from API to HBF, with standard components reused where possible.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7452360" cy="438912"/>
          </a:xfrm>
          <a:prstGeom prst="roundRect">
            <a:avLst>
              <a:gd name="adj" fmla="val 8333"/>
            </a:avLst>
          </a:prstGeom>
          <a:solidFill>
            <a:srgbClr val="E9EDF1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F2430"/>
                </a:solidFill>
              </a:rPr>
              <a:t>Experience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2468880" y="1362456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Reference UI • CLI • SDK • APIs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685800" y="1801368"/>
            <a:ext cx="745236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38528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F2430"/>
                </a:solidFill>
              </a:rPr>
              <a:t>Gateway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468880" y="1929384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TLS • identity • projects • quotas • routing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85800" y="2368296"/>
            <a:ext cx="7452360" cy="438912"/>
          </a:xfrm>
          <a:prstGeom prst="roundRect">
            <a:avLst>
              <a:gd name="adj" fmla="val 8333"/>
            </a:avLst>
          </a:prstGeom>
          <a:solidFill>
            <a:srgbClr val="E9EDF1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505456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F2430"/>
                </a:solidFill>
              </a:rPr>
              <a:t>Serving control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468880" y="2496312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Admission • queues • replicas • health • metering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85800" y="2935224"/>
            <a:ext cx="7452360" cy="438912"/>
          </a:xfrm>
          <a:prstGeom prst="roundRect">
            <a:avLst>
              <a:gd name="adj" fmla="val 8333"/>
            </a:avLst>
          </a:prstGeom>
          <a:solidFill>
            <a:srgbClr val="FDECEF"/>
          </a:solidFill>
          <a:ln w="12700">
            <a:solidFill>
              <a:srgbClr val="F2A8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072384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E31837"/>
                </a:solidFill>
              </a:rPr>
              <a:t>Intelligence Services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2468880" y="3063240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Embedding • retrieval • reranking • qualified model serving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85800" y="3502152"/>
            <a:ext cx="7452360" cy="438912"/>
          </a:xfrm>
          <a:prstGeom prst="roundRect">
            <a:avLst>
              <a:gd name="adj" fmla="val 8333"/>
            </a:avLst>
          </a:prstGeom>
          <a:solidFill>
            <a:srgbClr val="E9EDF1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639312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F2430"/>
                </a:solidFill>
              </a:rPr>
              <a:t>Data integration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468880" y="3630168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Object store • vector DB • parser adapters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85800" y="4069080"/>
            <a:ext cx="745236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206240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F2430"/>
                </a:solidFill>
              </a:rPr>
              <a:t>ATMOS runtime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68880" y="4197096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Placement • buffers • DMA • P2P • telemetry • epochs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85800" y="4636008"/>
            <a:ext cx="7452360" cy="438912"/>
          </a:xfrm>
          <a:prstGeom prst="roundRect">
            <a:avLst>
              <a:gd name="adj" fmla="val 8333"/>
            </a:avLst>
          </a:prstGeom>
          <a:solidFill>
            <a:srgbClr val="E9EDF1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773168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F2430"/>
                </a:solidFill>
              </a:rPr>
              <a:t>Device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2468880" y="4764024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Firmware • NPU runtime • HBF • LPDDR/SRAM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85800" y="5202936"/>
            <a:ext cx="745236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340096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F2430"/>
                </a:solidFill>
              </a:rPr>
              <a:t>Operations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2468880" y="5330952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Updates • rollback • backup • audit • support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8503920" y="1234440"/>
            <a:ext cx="29260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29" name="Shape 27"/>
          <p:cNvSpPr/>
          <p:nvPr/>
        </p:nvSpPr>
        <p:spPr>
          <a:xfrm>
            <a:off x="8503920" y="1234440"/>
            <a:ext cx="54864" cy="100584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05088" y="1399032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Sandisk differentiates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705088" y="185623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Device, runtime, service packaging, lifecycle, diagnostics and support.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8503920" y="2468880"/>
            <a:ext cx="29260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33" name="Shape 31"/>
          <p:cNvSpPr/>
          <p:nvPr/>
        </p:nvSpPr>
        <p:spPr>
          <a:xfrm>
            <a:off x="8503920" y="2468880"/>
            <a:ext cx="54864" cy="1005840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05088" y="2633472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Sandisk reuses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705088" y="309067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Linux, Kubernetes, gateway, observability, identity and supported databases.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8503920" y="3703320"/>
            <a:ext cx="29260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37" name="Shape 35"/>
          <p:cNvSpPr/>
          <p:nvPr/>
        </p:nvSpPr>
        <p:spPr>
          <a:xfrm>
            <a:off x="8503920" y="3703320"/>
            <a:ext cx="54864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05088" y="3867912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Partners extend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705088" y="432511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Connectors, vertical workflows, domain prompts, UX and business integration.</a:t>
            </a:r>
            <a:endParaRPr lang="en-US" sz="1030" dirty="0"/>
          </a:p>
        </p:txBody>
      </p:sp>
      <p:sp>
        <p:nvSpPr>
          <p:cNvPr id="40" name="Shape 38"/>
          <p:cNvSpPr/>
          <p:nvPr/>
        </p:nvSpPr>
        <p:spPr>
          <a:xfrm>
            <a:off x="8503920" y="4937760"/>
            <a:ext cx="29260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41" name="Shape 39"/>
          <p:cNvSpPr/>
          <p:nvPr/>
        </p:nvSpPr>
        <p:spPr>
          <a:xfrm>
            <a:off x="8503920" y="4937760"/>
            <a:ext cx="54864" cy="100584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05088" y="5102352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Customer governs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705088" y="555955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Data rights, policy, acceptance, regulatory approval and outcomes.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reference blueprints, not a vertical application portfolio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Blueprints prove integration and accelerate partners; Sandisk does not own the business workflow.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25780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5" name="Shape 3"/>
          <p:cNvSpPr/>
          <p:nvPr/>
        </p:nvSpPr>
        <p:spPr>
          <a:xfrm>
            <a:off x="685800" y="1325880"/>
            <a:ext cx="54864" cy="438912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90472"/>
            <a:ext cx="4855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Private Knowledge Blueprint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1947672"/>
            <a:ext cx="4855464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Reference file/object ingest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Embedding → supported vector DB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Retrieval → reranking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Optional ATMOS or external generation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Reference UI, citations, evaluation and observability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Customer/partner adds production connectors, prompts, policy and workflow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25780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9" name="Shape 7"/>
          <p:cNvSpPr/>
          <p:nvPr/>
        </p:nvSpPr>
        <p:spPr>
          <a:xfrm>
            <a:off x="6217920" y="1325880"/>
            <a:ext cx="54864" cy="4389120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1490472"/>
            <a:ext cx="4855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Neural Search &amp; Reranking Blueprint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19088" y="1947672"/>
            <a:ext cx="4855464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Customer sends query or candidate list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ATMOS authenticates and executes supported retrieval/reranking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Top results, scores and service metrics return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Customer uses output in search, RAG or an agent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Lower proof scope and clearest capacity-value isolation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7662672" y="519379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B8A"/>
                </a:solidFill>
              </a:rPr>
              <a:t>Recommended first proof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Model, service and platform lifecycle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Enterprise value depends on controlled change, not only first deployment.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508760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7739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F2430"/>
                </a:solidFill>
              </a:rPr>
              <a:t>Available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521208" y="210312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Signed package and manifest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37944" y="1856232"/>
            <a:ext cx="228600" cy="411480"/>
          </a:xfrm>
          <a:prstGeom prst="chevron">
            <a:avLst/>
          </a:prstGeom>
          <a:solidFill>
            <a:srgbClr val="C8CDD5"/>
          </a:solidFill>
          <a:ln w="12700">
            <a:solidFill>
              <a:srgbClr val="C8CD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75688" y="1508760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7128" y="17739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F2430"/>
                </a:solidFill>
              </a:rPr>
              <a:t>Staged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2185416" y="210312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Inactive copy and preflight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02152" y="1856232"/>
            <a:ext cx="228600" cy="411480"/>
          </a:xfrm>
          <a:prstGeom prst="chevron">
            <a:avLst/>
          </a:prstGeom>
          <a:solidFill>
            <a:srgbClr val="C8CDD5"/>
          </a:solidFill>
          <a:ln w="12700">
            <a:solidFill>
              <a:srgbClr val="C8CD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39896" y="1508760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31336" y="17739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F2430"/>
                </a:solidFill>
              </a:rPr>
              <a:t>Canary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3849624" y="210312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Selected replica / group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166360" y="1856232"/>
            <a:ext cx="228600" cy="411480"/>
          </a:xfrm>
          <a:prstGeom prst="chevron">
            <a:avLst/>
          </a:prstGeom>
          <a:solidFill>
            <a:srgbClr val="C8CDD5"/>
          </a:solidFill>
          <a:ln w="12700">
            <a:solidFill>
              <a:srgbClr val="C8CD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04104" y="1508760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95544" y="17739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F2430"/>
                </a:solidFill>
              </a:rPr>
              <a:t>Validated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5513832" y="210312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Golden + quality + security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30568" y="1856232"/>
            <a:ext cx="228600" cy="411480"/>
          </a:xfrm>
          <a:prstGeom prst="chevron">
            <a:avLst/>
          </a:prstGeom>
          <a:solidFill>
            <a:srgbClr val="C8CDD5"/>
          </a:solidFill>
          <a:ln w="12700">
            <a:solidFill>
              <a:srgbClr val="C8CD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68312" y="1508760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ECF6EE"/>
          </a:solidFill>
          <a:ln w="12700">
            <a:solidFill>
              <a:srgbClr val="A5D1AD"/>
            </a:solidFill>
            <a:prstDash val="solid"/>
          </a:ln>
          <a:effectLst> </a:effectLst>
        </p:spPr>
      </p:sp>
      <p:sp>
        <p:nvSpPr>
          <p:cNvPr id="21" name="Text 19"/>
          <p:cNvSpPr/>
          <p:nvPr/>
        </p:nvSpPr>
        <p:spPr>
          <a:xfrm>
            <a:off x="7159752" y="17739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E7D32"/>
                </a:solidFill>
              </a:rPr>
              <a:t>Production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7178040" y="210312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Atomic traffic promotion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494776" y="1856232"/>
            <a:ext cx="228600" cy="411480"/>
          </a:xfrm>
          <a:prstGeom prst="chevron">
            <a:avLst/>
          </a:prstGeom>
          <a:solidFill>
            <a:srgbClr val="C8CDD5"/>
          </a:solidFill>
          <a:ln w="12700">
            <a:solidFill>
              <a:srgbClr val="C8CD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32520" y="1508760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23960" y="17739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F2430"/>
                </a:solidFill>
              </a:rPr>
              <a:t>Draining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8842248" y="210312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Old generation completes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0158984" y="1856232"/>
            <a:ext cx="228600" cy="411480"/>
          </a:xfrm>
          <a:prstGeom prst="chevron">
            <a:avLst/>
          </a:prstGeom>
          <a:solidFill>
            <a:srgbClr val="C8CDD5"/>
          </a:solidFill>
          <a:ln w="12700">
            <a:solidFill>
              <a:srgbClr val="C8CD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96728" y="1508760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88168" y="17739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F2430"/>
                </a:solidFill>
              </a:rPr>
              <a:t>Rollback / Retire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10506456" y="210312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Restore or securely remove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31520" y="3154680"/>
            <a:ext cx="324612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32" name="Shape 30"/>
          <p:cNvSpPr/>
          <p:nvPr/>
        </p:nvSpPr>
        <p:spPr>
          <a:xfrm>
            <a:off x="731520" y="3154680"/>
            <a:ext cx="54864" cy="205740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" y="3319272"/>
            <a:ext cx="2843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Compatibility unit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32688" y="3776472"/>
            <a:ext cx="2843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Hardware revision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Firmware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Runtime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Service container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ModelPack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Index generation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4206240" y="3154680"/>
            <a:ext cx="324612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36" name="Shape 34"/>
          <p:cNvSpPr/>
          <p:nvPr/>
        </p:nvSpPr>
        <p:spPr>
          <a:xfrm>
            <a:off x="4206240" y="3154680"/>
            <a:ext cx="54864" cy="2057400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07408" y="3319272"/>
            <a:ext cx="2843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Release channels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407408" y="3776472"/>
            <a:ext cx="2843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Current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Production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LTS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Offline signed bundle</a:t>
            </a:r>
            <a:endParaRPr lang="en-US" sz="1030" dirty="0"/>
          </a:p>
        </p:txBody>
      </p:sp>
      <p:sp>
        <p:nvSpPr>
          <p:cNvPr id="39" name="Shape 37"/>
          <p:cNvSpPr/>
          <p:nvPr/>
        </p:nvSpPr>
        <p:spPr>
          <a:xfrm>
            <a:off x="7680960" y="3154680"/>
            <a:ext cx="370332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40" name="Shape 38"/>
          <p:cNvSpPr/>
          <p:nvPr/>
        </p:nvSpPr>
        <p:spPr>
          <a:xfrm>
            <a:off x="7680960" y="3154680"/>
            <a:ext cx="54864" cy="2057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82128" y="3319272"/>
            <a:ext cx="33009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Customer controls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882128" y="3776472"/>
            <a:ext cx="3300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Maintenance window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Canary scope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Acceptance suite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Promotion authority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Retention and rollback policy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Ownership and one-call support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Clear responsibility prevents platform scope from expanding into customer applications.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011680" cy="438912"/>
          </a:xfrm>
          <a:prstGeom prst="rect">
            <a:avLst/>
          </a:prstGeom>
          <a:solidFill>
            <a:srgbClr val="1F24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17320"/>
            <a:ext cx="1901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Issue domain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2560320" y="1280160"/>
            <a:ext cx="1737360" cy="438912"/>
          </a:xfrm>
          <a:prstGeom prst="rect">
            <a:avLst/>
          </a:prstGeom>
          <a:solidFill>
            <a:srgbClr val="1F24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15184" y="1417320"/>
            <a:ext cx="1627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Primary owner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4297680" y="1280160"/>
            <a:ext cx="2057400" cy="438912"/>
          </a:xfrm>
          <a:prstGeom prst="rect">
            <a:avLst/>
          </a:prstGeom>
          <a:solidFill>
            <a:srgbClr val="1F24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52544" y="1417320"/>
            <a:ext cx="1947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Escalation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6355080" y="1280160"/>
            <a:ext cx="2514600" cy="438912"/>
          </a:xfrm>
          <a:prstGeom prst="rect">
            <a:avLst/>
          </a:prstGeom>
          <a:solidFill>
            <a:srgbClr val="1F24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1417320"/>
            <a:ext cx="24048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Support boundary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548640" y="1719072"/>
            <a:ext cx="201168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883664"/>
            <a:ext cx="1865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F2430"/>
                </a:solidFill>
              </a:rPr>
              <a:t>ATMOS device / runtime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2560320" y="1719072"/>
            <a:ext cx="173736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1883664"/>
            <a:ext cx="15910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Sandisk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4297680" y="1719072"/>
            <a:ext cx="205740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1883664"/>
            <a:ext cx="1911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NPU partner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355080" y="1719072"/>
            <a:ext cx="251460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1883664"/>
            <a:ext cx="23682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Sandisk remains customer-facing owner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548640" y="2331720"/>
            <a:ext cx="201168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2496312"/>
            <a:ext cx="1865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F2430"/>
                </a:solidFill>
              </a:rPr>
              <a:t>OEM chassis / thermals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2560320" y="2331720"/>
            <a:ext cx="173736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33472" y="2496312"/>
            <a:ext cx="15910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Sandisk intake + OEM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297680" y="2331720"/>
            <a:ext cx="205740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70832" y="2496312"/>
            <a:ext cx="1911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OEM field service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355080" y="2331720"/>
            <a:ext cx="251460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2496312"/>
            <a:ext cx="23682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Sandisk coordinates evidence and case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548640" y="2944368"/>
            <a:ext cx="201168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108960"/>
            <a:ext cx="1865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F2430"/>
                </a:solidFill>
              </a:rPr>
              <a:t>Control Center / service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2560320" y="2944368"/>
            <a:ext cx="173736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33472" y="3108960"/>
            <a:ext cx="15910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Sandisk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4297680" y="2944368"/>
            <a:ext cx="205740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70832" y="3108960"/>
            <a:ext cx="1911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Dependency vendor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6355080" y="2944368"/>
            <a:ext cx="251460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108960"/>
            <a:ext cx="23682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Supported configuration only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548640" y="3557016"/>
            <a:ext cx="201168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3721608"/>
            <a:ext cx="1865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F2430"/>
                </a:solidFill>
              </a:rPr>
              <a:t>Vector DB / parser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2560320" y="3557016"/>
            <a:ext cx="173736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33472" y="3721608"/>
            <a:ext cx="15910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Customer or supported ISV tier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4297680" y="3557016"/>
            <a:ext cx="205740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70832" y="3721608"/>
            <a:ext cx="1911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Software vendor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6355080" y="3557016"/>
            <a:ext cx="251460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28232" y="3721608"/>
            <a:ext cx="23682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Defined integration contract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548640" y="4169664"/>
            <a:ext cx="201168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4334256"/>
            <a:ext cx="1865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F2430"/>
                </a:solidFill>
              </a:rPr>
              <a:t>Customer connector / app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2560320" y="4169664"/>
            <a:ext cx="173736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33472" y="4334256"/>
            <a:ext cx="15910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Customer / ISV / SI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4297680" y="4169664"/>
            <a:ext cx="205740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70832" y="4334256"/>
            <a:ext cx="1911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Customer provider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6355080" y="4169664"/>
            <a:ext cx="251460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28232" y="4334256"/>
            <a:ext cx="23682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Sandisk supports API evidence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548640" y="4782312"/>
            <a:ext cx="201168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" y="4946904"/>
            <a:ext cx="1865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F2430"/>
                </a:solidFill>
              </a:rPr>
              <a:t>Business outcome / policy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2560320" y="4782312"/>
            <a:ext cx="173736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33472" y="4946904"/>
            <a:ext cx="15910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Customer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4297680" y="4782312"/>
            <a:ext cx="205740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70832" y="4946904"/>
            <a:ext cx="1911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Regulator / auditor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6355080" y="4782312"/>
            <a:ext cx="251460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28232" y="4946904"/>
            <a:ext cx="23682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Outside Sandisk product support</a:t>
            </a:r>
            <a:endParaRPr lang="en-US" sz="820" dirty="0"/>
          </a:p>
        </p:txBody>
      </p:sp>
      <p:sp>
        <p:nvSpPr>
          <p:cNvPr id="60" name="Shape 58"/>
          <p:cNvSpPr/>
          <p:nvPr/>
        </p:nvSpPr>
        <p:spPr>
          <a:xfrm>
            <a:off x="9144000" y="1280160"/>
            <a:ext cx="2286000" cy="41148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61" name="Shape 59"/>
          <p:cNvSpPr/>
          <p:nvPr/>
        </p:nvSpPr>
        <p:spPr>
          <a:xfrm>
            <a:off x="9144000" y="1280160"/>
            <a:ext cx="54864" cy="411480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345168" y="1444752"/>
            <a:ext cx="1883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Support bundle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9345168" y="1901952"/>
            <a:ext cx="188366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Inventory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Topology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Firmware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Runtime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ModelPack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Logs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Traces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Queue stats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Thermals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Reset history</a:t>
            </a:r>
            <a:endParaRPr lang="en-US" sz="1030" dirty="0"/>
          </a:p>
        </p:txBody>
      </p:sp>
      <p:sp>
        <p:nvSpPr>
          <p:cNvPr id="64" name="Text 62"/>
          <p:cNvSpPr/>
          <p:nvPr/>
        </p:nvSpPr>
        <p:spPr>
          <a:xfrm>
            <a:off x="1143000" y="5806440"/>
            <a:ext cx="9646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1837"/>
                </a:solidFill>
              </a:rPr>
              <a:t>One intake route does not mean Sandisk owns every customer application.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Validation: prove accepted-service economics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The first proof should isolate ATMOS strengths, then derive fleet size and cost from measured service.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1463040" cy="19659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64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1837"/>
                </a:solidFill>
              </a:rPr>
              <a:t>G0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Boundary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786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B6472"/>
                </a:solidFill>
              </a:rPr>
              <a:t>Scope, APIs and ownership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1993392" y="1417320"/>
            <a:ext cx="1463040" cy="19659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1664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1837"/>
                </a:solidFill>
              </a:rPr>
              <a:t>G1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30552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Feasibility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30552" y="25786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B6472"/>
                </a:solidFill>
              </a:rPr>
              <a:t>Operators, capacity and controls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666744" y="1417320"/>
            <a:ext cx="1463040" cy="19659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9624" y="1664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1837"/>
                </a:solidFill>
              </a:rPr>
              <a:t>G2–3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03904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MVP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03904" y="25786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B6472"/>
                </a:solidFill>
              </a:rPr>
              <a:t>Runtime + signed services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5340096" y="1417320"/>
            <a:ext cx="1463040" cy="19659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22976" y="1664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1837"/>
                </a:solidFill>
              </a:rPr>
              <a:t>G4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77256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4-device group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77256" y="25786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B6472"/>
                </a:solidFill>
              </a:rPr>
              <a:t>P2P, failure, thermals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013448" y="1417320"/>
            <a:ext cx="1463040" cy="1965960"/>
          </a:xfrm>
          <a:prstGeom prst="roundRect">
            <a:avLst>
              <a:gd name="adj" fmla="val 3125"/>
            </a:avLst>
          </a:prstGeom>
          <a:solidFill>
            <a:srgbClr val="ECF6EE"/>
          </a:solidFill>
          <a:ln w="12700">
            <a:solidFill>
              <a:srgbClr val="A5D1AD"/>
            </a:solidFill>
            <a:prstDash val="solid"/>
          </a:ln>
          <a:effectLst> </a:effectLst>
        </p:spPr>
      </p:sp>
      <p:sp>
        <p:nvSpPr>
          <p:cNvPr id="21" name="Text 19"/>
          <p:cNvSpPr/>
          <p:nvPr/>
        </p:nvSpPr>
        <p:spPr>
          <a:xfrm>
            <a:off x="7196328" y="1664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G5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50608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Appliance 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50608" y="25786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B6472"/>
                </a:solidFill>
              </a:rPr>
              <a:t>OOB + matched benchmark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686800" y="1417320"/>
            <a:ext cx="1463040" cy="19659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0" y="1664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1837"/>
                </a:solidFill>
              </a:rPr>
              <a:t>G6–7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823960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Enterprise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23960" y="25786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B6472"/>
                </a:solidFill>
              </a:rPr>
              <a:t>Tenancy, HA, Appliance 16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10360152" y="1417320"/>
            <a:ext cx="1463040" cy="19659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43032" y="1664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1837"/>
                </a:solidFill>
              </a:rPr>
              <a:t>G8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497312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Launch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497312" y="25786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B6472"/>
                </a:solidFill>
              </a:rPr>
              <a:t>Quote, support, supply, customer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777240" y="3977640"/>
            <a:ext cx="10652760" cy="1143000"/>
          </a:xfrm>
          <a:prstGeom prst="roundRect">
            <a:avLst>
              <a:gd name="adj" fmla="val 4800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  <a:effectLst> </a:effectLst>
        </p:spPr>
      </p:sp>
      <p:sp>
        <p:nvSpPr>
          <p:cNvPr id="33" name="Text 31"/>
          <p:cNvSpPr/>
          <p:nvPr/>
        </p:nvSpPr>
        <p:spPr>
          <a:xfrm>
            <a:off x="1051560" y="4370832"/>
            <a:ext cx="10104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COST PER ACCEPTED UNIT  =  COMPLETE COMPARABLE FLEET TCO  ÷  QUALITY- AND SLO-COMPLIANT WORK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05840" y="5532120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5B8A"/>
                </a:solidFill>
              </a:rPr>
              <a:t>Controls: cheapest credible CPU, GPU, cloud API, existing platform or CXL/DRAM alternative.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Management decision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Approve a platform evidence program with a deliberately narrow product boundary.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28016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5" name="Shape 3"/>
          <p:cNvSpPr/>
          <p:nvPr/>
        </p:nvSpPr>
        <p:spPr>
          <a:xfrm>
            <a:off x="658368" y="1280160"/>
            <a:ext cx="54864" cy="44805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444752"/>
            <a:ext cx="4992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APPROVE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9536" y="1901952"/>
            <a:ext cx="4992624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Version 5 product boundary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Appliance 8 and Appliance 16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AI OS + Control Center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Embedding, Retrieval and Reranking Services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Bounded Model Serving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Two reference blueprints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OEM RFI + matched benchmark + support definition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6199632" y="128016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9" name="Shape 7"/>
          <p:cNvSpPr/>
          <p:nvPr/>
        </p:nvSpPr>
        <p:spPr>
          <a:xfrm>
            <a:off x="6199632" y="1280160"/>
            <a:ext cx="54864" cy="448056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44752"/>
            <a:ext cx="4992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KEEP GATED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1901952"/>
            <a:ext cx="4992624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Vertical application portfolio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E24 or workstation productization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Universal model support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Training and dense-decode leadership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Fine-grained GPU/ATMOS MoE dependency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Launch price and revenue forecast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External claims before measurement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1188720" y="5925312"/>
            <a:ext cx="9829800" cy="384048"/>
          </a:xfrm>
          <a:prstGeom prst="roundRect">
            <a:avLst>
              <a:gd name="adj" fmla="val 9524"/>
            </a:avLst>
          </a:prstGeom>
          <a:solidFill>
            <a:srgbClr val="FDECEF"/>
          </a:solidFill>
          <a:ln w="12700">
            <a:solidFill>
              <a:srgbClr val="F2A8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6044184"/>
            <a:ext cx="9372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</a:rPr>
              <a:t>Sandisk builds the supported AI platform. The ecosystem builds customer-specific intelligence.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SanDisk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SanDisk ATMOS AI Appliance Platform Proposal v5</dc:title>
  <dc:subject>Turnkey infrastructure and inference services</dc:subject>
  <dc:creator>Shailesh Pilare</dc:creator>
  <lastModifiedBy>Shailesh Pilare</lastModifiedBy>
  <revision>1</revision>
  <dcterms:created xsi:type="dcterms:W3CDTF">2026-10-09T06:29:43.1330370Z</dcterms:created>
  <dcterms:modified xsi:type="dcterms:W3CDTF">2026-10-09T06:29:43.1330370Z</dcterms:modified>
</coreProperties>
</file>