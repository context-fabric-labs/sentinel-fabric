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source: SanDisk ATMOS platform planning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proposition based on enterprise private-AI integration and operational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ownership model for the proposed ATMOS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planning assumptions from SanDisk ATMOS AI Appliance Strategy PRD v3. Values are targets,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NIM similarly packages preoptimized model-serving microservices with standard APIs. https://developer.nvidia.com/nim
NVIDIA DGX resources describe software, support, licensing and management entitlements. https://docs.nvidia.com/dgx-resources/index.html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NIM is the competitive pattern for packaged inference services with standard APIs. https://developer.nvidia.com/nim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positions its AI factory as full-stack infrastructure with security and observability at every layer. https://www.cisco.com/c/en/us/solutions/collateral/artificial-intelligence/secure-ai-factory-nvidia-faq.html
Internal architecture derived from SanDisk ATMOS PRD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describes its RAG Blueprint as a modular production-ready reference architecture, deployable and customizable rather than a finished customer-specific application. https://build.nvidia.com/nvidia/build-a-rag-pipeline https://docs.nvidia.com/rag/latest/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NVIDIA AI Enterprise emphasizes production branches, support, security maintenance and validated deployment. https://www.nvidia.com/en-us/data-center/products/ai-enterprise/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Cisco explicitly uses Cisco and partner professional services to reduce deployment and financial risk. https://www.cisco.com/c/en/us/solutions/collateral/artificial-intelligence/secure-ai-factory-nvidia-faq.html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value framework derived from SanDisk ATMOS PRD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management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SAN DISK / ATMOS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16459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2"/>
                </a:solidFill>
              </a:rPr>
              <a:t>INTERNAL  |  PLATFORM PROPOSAL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6492240"/>
            <a:ext cx="113568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65392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492"/>
                </a:solidFill>
              </a:rPr>
              <a:t>9 OCTOBER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3886200" cy="6382512"/>
          </a:xfrm>
          <a:prstGeom prst="rect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77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F2A5B4"/>
                </a:solidFill>
              </a:rPr>
              <a:t>TURNKEY AI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ATMOS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Appliance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" y="30632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2E8"/>
                </a:solidFill>
              </a:rPr>
              <a:t>Turnkey infrastructure, deployable Intelligence Services and enterprise lifecycle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96012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81728" y="1307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430"/>
                </a:solidFill>
              </a:rPr>
              <a:t>Product boundary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81728" y="190195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Sandisk builds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83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Appliance + AI OS + runtime + services + management + lifecycle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663440" y="2340864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5176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Sandisk reuses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3347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Linux + Kubernetes + gateway + observability + supported databases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663440" y="3090672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401568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Partners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3832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Vertical applications + connectors + workflows + custom UX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663440" y="3840480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15137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Customer owns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13308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</a:rPr>
              <a:t>Business policy + data rights + regulatory approval + outcomes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663440" y="4590288"/>
            <a:ext cx="6263640" cy="1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574243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31837"/>
                </a:solidFill>
              </a:rPr>
              <a:t>Management ask: approve Appliance 8 / 16 platform definition, service proof and enterprise lifecycle evidence.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need: private AI should deploy as a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Enterprises need a supported path from appliance installation to a governed API endpoint.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53312"/>
            <a:ext cx="54864" cy="16002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17904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Fragmented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75104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Hardware, drivers, runtimes, models, APIs and management are often qualified separately.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53312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53312"/>
            <a:ext cx="54864" cy="16002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17904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Operational burden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75104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Identity, quotas, monitoring, updates, rollback and support must work before production.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685800" y="3291840"/>
            <a:ext cx="54864" cy="16002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45643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Capacity pressure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" y="3913632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Large reusable model and neural-data artifacts consume costly memory and create movement.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7" name="Shape 15"/>
          <p:cNvSpPr/>
          <p:nvPr/>
        </p:nvSpPr>
        <p:spPr>
          <a:xfrm>
            <a:off x="6217920" y="3291840"/>
            <a:ext cx="54864" cy="16002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45643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Lifecycle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9088" y="3913632"/>
            <a:ext cx="485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Model, runtime, firmware and index changes can silently break quality or availability.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97280" y="5394960"/>
            <a:ext cx="9966960" cy="658368"/>
          </a:xfrm>
          <a:prstGeom prst="roundRect">
            <a:avLst>
              <a:gd name="adj" fmla="val 8333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1371600" y="5623560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ATMOS proposal: one qualified appliance + supported Intelligence Services + controlled lifecycle + one support route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model: four layers with clear ownership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customer receives a complete platform while application innovation remains open to the ecosystem.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98448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960120" y="1481328"/>
            <a:ext cx="393192" cy="393192"/>
          </a:xfrm>
          <a:prstGeom prst="ellipse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91056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2768" y="14630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Qualified appliance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14447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OEM system, ATMOS E3.S devices, topology, power, thermals and BMC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31520" y="2322576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505456"/>
            <a:ext cx="393192" cy="393192"/>
          </a:xfrm>
          <a:prstGeom prst="ellipse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1518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Operable platform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2468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AI OS, runtime, Control Center, identity, telemetry, updates and diagnostics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3346704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529584"/>
            <a:ext cx="393192" cy="39319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3931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Intelligence Services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34930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Embedding, retrieval, reranking and qualified model-serving APIs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" y="4370832"/>
            <a:ext cx="74980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553712"/>
            <a:ext cx="393192" cy="393192"/>
          </a:xfrm>
          <a:prstGeom prst="ellipse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66344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4535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Reference blueprints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46120" y="45171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Private Knowledge and Neural Search examples with deployment automation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595360" y="129844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5" name="Shape 23"/>
          <p:cNvSpPr/>
          <p:nvPr/>
        </p:nvSpPr>
        <p:spPr>
          <a:xfrm>
            <a:off x="8595360" y="1298448"/>
            <a:ext cx="54864" cy="18288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146304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owns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96528" y="192024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Device, runtime, service packaging, lifecycle, diagnostics, qualification and support.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595360" y="3401568"/>
            <a:ext cx="27889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9" name="Shape 27"/>
          <p:cNvSpPr/>
          <p:nvPr/>
        </p:nvSpPr>
        <p:spPr>
          <a:xfrm>
            <a:off x="8595360" y="3401568"/>
            <a:ext cx="54864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6528" y="356616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Ecosystem extends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96528" y="402336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 connectors, vertical workflows, custom UX, domain policy and business integration.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2880360" y="5806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Turnkey platform. Open application ecosystem.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product: two appliances, one supported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Start where proof and OEM qualification are manageable.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44348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Appliance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8554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8 ATMOS E3.S devices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four-device P2P groups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1.024 TB nominal distributed HBF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~800 GB application study allocation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256–512 GB ECC host DRAM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100 GbE target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Role: departmental, edge, developer and first production proof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" cy="443484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Appliance 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48554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16 ATMOS E3.S devices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4 × four-device P2P groups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2.048 TB nominal distributed HBF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~1.6 TB application study allocation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512 GB–1 TB ECC host DRAM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2 × 200 GbE target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Role: enterprise shared inference and neural-data services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280160" y="5943600"/>
            <a:ext cx="2560320" cy="301752"/>
          </a:xfrm>
          <a:prstGeom prst="roundRect">
            <a:avLst>
              <a:gd name="adj" fmla="val 24242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60213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ROADMAP: 4-DEVICE DERIVATIVE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5943600"/>
            <a:ext cx="2606040" cy="301752"/>
          </a:xfrm>
          <a:prstGeom prst="roundRect">
            <a:avLst>
              <a:gd name="adj" fmla="val 2424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602132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GATED: 24-DEVICE CAPACITY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66760" y="5943600"/>
            <a:ext cx="2560320" cy="301752"/>
          </a:xfrm>
          <a:prstGeom prst="roundRect">
            <a:avLst>
              <a:gd name="adj" fmla="val 24242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60213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RESEARCH: GPU SIDE-CAR / MOE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customers receive out of the box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customer can publish a supported API without assembling an accelerator software stack.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Qualified appliance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OEM server, ATMOS devices, topology, thermals, BMC and recovery image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62272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4462272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ATMOS AI 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Linux image, driver, runtime, firmware, containers and Device Service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8284464" y="1325880"/>
            <a:ext cx="54864" cy="17830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49047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Control Center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85632" y="194767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Setup, identity, service deployment, health, usage, updates and support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7" name="Shape 15"/>
          <p:cNvSpPr/>
          <p:nvPr/>
        </p:nvSpPr>
        <p:spPr>
          <a:xfrm>
            <a:off x="640080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Intelligence 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Embedding, retrieval, reranking and qualified model serving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62272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1" name="Shape 19"/>
          <p:cNvSpPr/>
          <p:nvPr/>
        </p:nvSpPr>
        <p:spPr>
          <a:xfrm>
            <a:off x="4462272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Lifecycle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Signed ModelPacks, compatibility, golden tests, canary and rollback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84464" y="34747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5" name="Shape 23"/>
          <p:cNvSpPr/>
          <p:nvPr/>
        </p:nvSpPr>
        <p:spPr>
          <a:xfrm>
            <a:off x="8284464" y="3474720"/>
            <a:ext cx="54864" cy="178308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639312"/>
            <a:ext cx="31181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Enterprise support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85632" y="4096512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Production/LTS/offline channels and one Sandisk support route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1234440" y="5870448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Target: first supported endpoint on the same business day after site readiness, excluding large data ingestion and customer acceptance.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ATMOS Intelligence Services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Supported microservices are the primary software product.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87452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435608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Service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2377440" y="1298448"/>
            <a:ext cx="192024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2304" y="1435608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API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297680" y="1298448"/>
            <a:ext cx="32004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435608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Sandisk delivers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7498080" y="1298448"/>
            <a:ext cx="27432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435608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Boundary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02920" y="1737360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01952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Embedding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2377440" y="1737360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901952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/v1/embeddings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90195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Certified models, batch/online profiles, metrics and lifecycle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498080" y="1737360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90195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arbitrary models or customer quality approval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02920" y="2487168"/>
            <a:ext cx="187452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51760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Retrieval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377440" y="2487168"/>
            <a:ext cx="192024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651760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/v1/retrieve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297680" y="2487168"/>
            <a:ext cx="32004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265176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Collections, filters, index generations, top-k and supported DB integration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498080" y="2487168"/>
            <a:ext cx="27432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265176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 universal vector-database replacement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02920" y="3236976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401568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Reranking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2377440" y="3236976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40156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/v1/rerank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4297680" y="3236976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401568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Candidate scores, certified rerankers, quality harness and latency profile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498080" y="3236976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340156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Customer supplies relevance ground truth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502920" y="3986784"/>
            <a:ext cx="187452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151376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Model serving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2377440" y="3986784"/>
            <a:ext cx="192024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4151376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POST /v1/chat/completions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297680" y="3986784"/>
            <a:ext cx="32004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4151376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Qualified model subset, streaming, token metering and limits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7498080" y="3986784"/>
            <a:ext cx="2743200" cy="74980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71232" y="415137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 universal LLM or GPU-equivalent claim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02920" y="4736592"/>
            <a:ext cx="187452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901184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430"/>
                </a:solidFill>
              </a:rPr>
              <a:t>Feature service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2377440" y="4736592"/>
            <a:ext cx="19202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0592" y="4901184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Future API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4297680" y="4736592"/>
            <a:ext cx="32004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901184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Gather, pooling, scoring and top-k after proof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498080" y="4736592"/>
            <a:ext cx="274320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490118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Not a release-one commitment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1417320" y="5669280"/>
            <a:ext cx="937260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2700">
            <a:solidFill>
              <a:srgbClr val="B9D2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584301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5B8A"/>
                </a:solidFill>
              </a:rPr>
              <a:t>Each service ships as a signed container + ModelPack + compatibility manifest + golden tests + performance profile + update policy.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Turnkey technical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One supportable path from API to HBF, with standard components reused where possible.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Experience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2468880" y="136245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Reference UI • CLI • SDK • APIs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3852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Gateway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468880" y="192938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TLS • identity • projects • quotas • routing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85800" y="2368296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Serving control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68880" y="249631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Admission • queues • replicas • health • metering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2935224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72384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31837"/>
                </a:solidFill>
              </a:rPr>
              <a:t>Intelligence Services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468880" y="306324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Embedding • retrieval • reranking • qualified model serving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85800" y="3502152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3931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Data integration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68880" y="363016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Object store • vector DB • parser adapters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ATMOS runtime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68880" y="419709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Placement • buffers • DMA • P2P • telemetry • epochs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85800" y="4636008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E9EDF1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7316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Device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468880" y="476402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Firmware • NPU runtime • HBF • LPDDR/SRAM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85800" y="5202936"/>
            <a:ext cx="7452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009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430"/>
                </a:solidFill>
              </a:rPr>
              <a:t>Operations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2468880" y="533095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Updates • rollback • backup • audit • support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503920" y="123444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29" name="Shape 27"/>
          <p:cNvSpPr/>
          <p:nvPr/>
        </p:nvSpPr>
        <p:spPr>
          <a:xfrm>
            <a:off x="8503920" y="1234440"/>
            <a:ext cx="54864" cy="100584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139903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differentiates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05088" y="185623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Device, runtime, service packaging, lifecycle, diagnostics and support.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503920" y="246888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3" name="Shape 31"/>
          <p:cNvSpPr/>
          <p:nvPr/>
        </p:nvSpPr>
        <p:spPr>
          <a:xfrm>
            <a:off x="8503920" y="2468880"/>
            <a:ext cx="54864" cy="100584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263347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Sandisk reuses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05088" y="3090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Linux, Kubernetes, gateway, observability, identity and supported databases.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503920" y="370332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7" name="Shape 35"/>
          <p:cNvSpPr/>
          <p:nvPr/>
        </p:nvSpPr>
        <p:spPr>
          <a:xfrm>
            <a:off x="8503920" y="3703320"/>
            <a:ext cx="54864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05088" y="386791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Partners extend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705088" y="432511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Connectors, vertical workflows, domain prompts, UX and business integration.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8503920" y="4937760"/>
            <a:ext cx="2926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41" name="Shape 39"/>
          <p:cNvSpPr/>
          <p:nvPr/>
        </p:nvSpPr>
        <p:spPr>
          <a:xfrm>
            <a:off x="8503920" y="4937760"/>
            <a:ext cx="54864" cy="10058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5088" y="5102352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Customer governs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05088" y="555955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Data rights, policy, acceptance, regulatory approval and outcomes.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reference blueprints, not a vertical application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Blueprints prove integration and accelerate partners; Sandisk does not own the business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4864" cy="43891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Private Knowledge Blueprint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47672"/>
            <a:ext cx="48554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Reference file/object ingest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 → supported vector DB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Retrieval → reranking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Optional ATMOS or external generation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Reference UI, citations, evaluation and observability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Customer/partner adds production connectors, prompts, policy and workflow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54864" cy="438912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490472"/>
            <a:ext cx="4855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Neural Search &amp; Reranking Blueprint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47672"/>
            <a:ext cx="48554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sends query or candidate list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ATMOS authenticates and executes supported retrieval/reranking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Top results, scores and service metrics return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Customer uses output in search, RAG or an agent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Lower proof scope and clearest capacity-value isolation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662672" y="51937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B8A"/>
                </a:solidFill>
              </a:rPr>
              <a:t>Recommended first proof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Model, service and platform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Enterprise value depends on controlled change, not only first deployment.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Available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521208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Signed package and manifest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37944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5688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Staged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185416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Inactive copy and preflight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02152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9896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Canary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849624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Selected replica / group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66360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04104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Validated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513832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Golden + quality + security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30568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8312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7159752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7D32"/>
                </a:solidFill>
              </a:rPr>
              <a:t>Production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178040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Atomic traffic promotion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94776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32520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Draining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842248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Old generation completes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58984" y="1856232"/>
            <a:ext cx="228600" cy="411480"/>
          </a:xfrm>
          <a:prstGeom prst="chevron">
            <a:avLst/>
          </a:prstGeom>
          <a:solidFill>
            <a:srgbClr val="C8CDD5"/>
          </a:solidFill>
          <a:ln w="12700">
            <a:solidFill>
              <a:srgbClr val="C8CD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1508760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88168" y="17739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2430"/>
                </a:solidFill>
              </a:rPr>
              <a:t>Rollback / Retire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506456" y="210312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Restore or securely remove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1520" y="315468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2" name="Shape 30"/>
          <p:cNvSpPr/>
          <p:nvPr/>
        </p:nvSpPr>
        <p:spPr>
          <a:xfrm>
            <a:off x="731520" y="3154680"/>
            <a:ext cx="54864" cy="20574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319272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Compatibility unit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" y="3776472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Hardware revision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Firmware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Runtime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Service container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ModelPack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Index generation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4206240" y="315468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36" name="Shape 34"/>
          <p:cNvSpPr/>
          <p:nvPr/>
        </p:nvSpPr>
        <p:spPr>
          <a:xfrm>
            <a:off x="4206240" y="3154680"/>
            <a:ext cx="54864" cy="205740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7408" y="3319272"/>
            <a:ext cx="2843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Release channels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07408" y="3776472"/>
            <a:ext cx="2843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Current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Production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Offline signed bundle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7680960" y="31546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40" name="Shape 38"/>
          <p:cNvSpPr/>
          <p:nvPr/>
        </p:nvSpPr>
        <p:spPr>
          <a:xfrm>
            <a:off x="7680960" y="3154680"/>
            <a:ext cx="54864" cy="2057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128" y="3319272"/>
            <a:ext cx="3300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Customer controls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882128" y="3776472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Maintenance window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Canary scope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Acceptance suite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Promotion authority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Retention and rollback policy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Ownership and one-call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Clear responsibility prevents platform scope from expanding into customer applications.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01168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17320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Issue domain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73736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184" y="141732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Primary owner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20574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52544" y="141732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Escalation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2514600" cy="438912"/>
          </a:xfrm>
          <a:prstGeom prst="rect">
            <a:avLst/>
          </a:prstGeom>
          <a:solidFill>
            <a:srgbClr val="1F243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417320"/>
            <a:ext cx="2404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Support boundary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83664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ATMOS device / runtime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60320" y="1719072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883664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297680" y="1719072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883664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NPU partner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355080" y="1719072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883664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remains customer-facing owner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48640" y="2331720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496312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OEM chassis / thermals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560320" y="2331720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496312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intake + OEM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297680" y="2331720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2496312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OEM field service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355080" y="2331720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496312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coordinates evidence and case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48640" y="2944368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08960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Control Center / service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560320" y="2944368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108960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97680" y="2944368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3108960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Dependency vendor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355080" y="2944368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108960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Supported configuration only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48640" y="3557016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721608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Vector DB / parser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560320" y="3557016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3721608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or supported ISV tier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297680" y="3557016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721608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Software vendor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355080" y="3557016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721608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Defined integration contract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48640" y="4169664"/>
            <a:ext cx="201168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334256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Customer connector / app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560320" y="4169664"/>
            <a:ext cx="173736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4334256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/ ISV / SI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4297680" y="4169664"/>
            <a:ext cx="20574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70832" y="4334256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 provider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355080" y="4169664"/>
            <a:ext cx="251460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4334256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Sandisk supports API evidence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48640" y="4782312"/>
            <a:ext cx="201168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946904"/>
            <a:ext cx="18653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430"/>
                </a:solidFill>
              </a:rPr>
              <a:t>Business outcome / policy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560320" y="4782312"/>
            <a:ext cx="173736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4946904"/>
            <a:ext cx="15910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Customer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297680" y="4782312"/>
            <a:ext cx="20574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70832" y="4946904"/>
            <a:ext cx="19110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Regulator / auditor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6355080" y="4782312"/>
            <a:ext cx="2514600" cy="612648"/>
          </a:xfrm>
          <a:prstGeom prst="rect">
            <a:avLst/>
          </a:prstGeom>
          <a:solidFill>
            <a:srgbClr val="F9FAFB"/>
          </a:solidFill>
          <a:ln w="7620">
            <a:solidFill>
              <a:srgbClr val="D9DE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8232" y="4946904"/>
            <a:ext cx="2368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472"/>
                </a:solidFill>
              </a:rPr>
              <a:t>Outside Sandisk product support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9144000" y="1280160"/>
            <a:ext cx="2286000" cy="4114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61" name="Shape 59"/>
          <p:cNvSpPr/>
          <p:nvPr/>
        </p:nvSpPr>
        <p:spPr>
          <a:xfrm>
            <a:off x="9144000" y="1280160"/>
            <a:ext cx="54864" cy="41148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45168" y="1444752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Support bundle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345168" y="1901952"/>
            <a:ext cx="18836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Inventory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Topology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Firmware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Runtime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ModelPack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Logs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Traces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Queue stats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Thermals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Reset history</a:t>
            </a:r>
            <a:endParaRPr lang="en-US" sz="1030" dirty="0"/>
          </a:p>
        </p:txBody>
      </p:sp>
      <p:sp>
        <p:nvSpPr>
          <p:cNvPr id="64" name="Text 62"/>
          <p:cNvSpPr/>
          <p:nvPr/>
        </p:nvSpPr>
        <p:spPr>
          <a:xfrm>
            <a:off x="1143000" y="580644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One intake route does not mean Sandisk owns every customer application.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Validation: prove accepted-service economics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first proof should isolate ATMOS strengths, then derive fleet size and cost from measured service.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Boundary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Scope, APIs and ownership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1993392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30552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Feasibility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30552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Operators, capacity and controls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666744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G2–3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03904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MVP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Runtime + signed services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340096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77256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4-device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77256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P2P, failure, thermals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13448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  <a:effectLst> </a:effectLst>
        </p:spPr>
      </p:sp>
      <p:sp>
        <p:nvSpPr>
          <p:cNvPr id="21" name="Text 19"/>
          <p:cNvSpPr/>
          <p:nvPr/>
        </p:nvSpPr>
        <p:spPr>
          <a:xfrm>
            <a:off x="7196328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G5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0608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Appliance 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0608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OOB + matched benchmark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686800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G6–7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23960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Tenancy, HA, Appliance 16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360152" y="1417320"/>
            <a:ext cx="1463040" cy="19659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43032" y="1664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837"/>
                </a:solidFill>
              </a:rPr>
              <a:t>G8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497312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Launch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97312" y="25786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B6472"/>
                </a:solidFill>
              </a:rPr>
              <a:t>Quote, support, supply, customer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3977640"/>
            <a:ext cx="10652760" cy="1143000"/>
          </a:xfrm>
          <a:prstGeom prst="roundRect">
            <a:avLst>
              <a:gd name="adj" fmla="val 48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  <a:effectLst> </a:effectLst>
        </p:spPr>
      </p:sp>
      <p:sp>
        <p:nvSpPr>
          <p:cNvPr id="33" name="Text 31"/>
          <p:cNvSpPr/>
          <p:nvPr/>
        </p:nvSpPr>
        <p:spPr>
          <a:xfrm>
            <a:off x="1051560" y="4370832"/>
            <a:ext cx="10104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COST PER ACCEPTED UNIT  =  COMPLETE COMPARABLE FLEET TCO  ÷  QUALITY- AND SLO-COMPLIANT 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5840" y="5532120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5B8A"/>
                </a:solidFill>
              </a:rPr>
              <a:t>Controls: cheapest credible CPU, GPU, cloud API, existing platform or CXL/DRAM alternative.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292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Approve a platform evidence program with a deliberately narrow product boundary.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58368" y="1280160"/>
            <a:ext cx="54864" cy="4480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44752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APPROVE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901952"/>
            <a:ext cx="49926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Proposed product boundary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Appliance 8 and Appliance 16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AI OS + Control Center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Embedding, Retrieval and Reranking Services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Bounded Model Serving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Two reference blueprints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OEM RFI + matched benchmark + support definition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199632" y="128016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199632" y="1280160"/>
            <a:ext cx="54864" cy="448056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44752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KEEP GATED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01952"/>
            <a:ext cx="49926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Vertical application portfolio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E24 or workstation productization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Universal model support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Training and dense-decode leadership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Fine-grained GPU/ATMOS MoE dependency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Launch price and revenue forecast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472"/>
                </a:solidFill>
              </a:rPr>
              <a:t>External claims before measurement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188720" y="5925312"/>
            <a:ext cx="9829800" cy="384048"/>
          </a:xfrm>
          <a:prstGeom prst="roundRect">
            <a:avLst>
              <a:gd name="adj" fmla="val 9524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6044184"/>
            <a:ext cx="9372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</a:rPr>
              <a:t>Sandisk builds the supported AI platform. The ecosystem builds customer-specific intelligence.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SanDisk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SanDisk ATMOS AI Appliance Platform Proposal v6</dc:title>
  <dc:subject>Turnkey infrastructure and inference services</dc:subject>
  <dc:creator>Shailesh Pilare</dc:creator>
  <lastModifiedBy>Shailesh Pilare</lastModifiedBy>
  <revision>1</revision>
  <dcterms:created xsi:type="dcterms:W3CDTF">2026-10-09T06:38:57.5108272Z</dcterms:created>
  <dcterms:modified xsi:type="dcterms:W3CDTF">2026-10-09T06:38:57.5108272Z</dcterms:modified>
</coreProperties>
</file>