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workload hypotheses and planning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prioritization.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solution packaging hypotheses.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validation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SAN DISK / ATMOS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1645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2"/>
                </a:solidFill>
              </a:rPr>
              <a:t>USE CASES &amp; VALUE VALIDATION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6492240"/>
            <a:ext cx="11356848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3886200" cy="6382512"/>
          </a:xfrm>
          <a:prstGeom prst="rect">
            <a:avLst/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B4"/>
                </a:solidFill>
              </a:rPr>
              <a:t>VALUE-FIRST WORKLOADS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ATMOS Use Cases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and Value Validation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312724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2E8"/>
                </a:solidFill>
              </a:rPr>
              <a:t>Customer problems, workload fit and evidence required before product commitment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005840"/>
            <a:ext cx="71323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Use-case thesis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09160" y="1965960"/>
            <a:ext cx="393192" cy="39319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075688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19568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Large reusable neural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0" y="19568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Hundreds of GB to TB remain warm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2715768"/>
            <a:ext cx="393192" cy="39319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825496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706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Bounded local work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2706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Score a shortlist or local shard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465576"/>
            <a:ext cx="393192" cy="393192"/>
          </a:xfrm>
          <a:prstGeom prst="ellipse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57530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34564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Compact result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0" y="34564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Return evidence, candidates or top-k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4215384"/>
            <a:ext cx="393192" cy="39319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32511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42062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Accepted-service value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0" y="4206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Meet quality and SLO at better economics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58064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1837"/>
                </a:solidFill>
              </a:rPr>
              <a:t>Prioritize three core proofs; package two later solutions.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Five use cases, ranked by fit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All performance and savings values are validation targets, not measured product claims.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27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4904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Retrieval &amp; neural reranking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00600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B8A"/>
                </a:solidFill>
              </a:rPr>
              <a:t>D8 / E16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7960" y="15087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Cost/query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32520" y="1490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Highest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68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331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Recommendation feature tables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00600" y="23500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B8A"/>
                </a:solidFill>
              </a:rPr>
              <a:t>E16 / E24 study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2350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Cost/lookup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2331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High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008376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095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1729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Batch document intelligence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1912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B8A"/>
                </a:solidFill>
              </a:rPr>
              <a:t>D8 / E16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37960" y="3191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Cost/document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32520" y="31729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</a:rPr>
              <a:t>High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849624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8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0507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014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Air-gapped knowledge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00600" y="40325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B8A"/>
                </a:solidFill>
              </a:rPr>
              <a:t>W4 / D8 study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40325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Cost/answer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732520" y="40142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Medium-high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90872"/>
            <a:ext cx="10881360" cy="658368"/>
          </a:xfrm>
          <a:prstGeom prst="roundRect">
            <a:avLst>
              <a:gd name="adj" fmla="val 5556"/>
            </a:avLst>
          </a:prstGeom>
          <a:solidFill>
            <a:srgbClr val="F8F9FB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920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17320" y="4855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Edge semantic archive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00600" y="48737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45B8A"/>
                </a:solidFill>
              </a:rPr>
              <a:t>D8 / E16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4873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Cost/search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32520" y="48554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Medium-high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1. Rich retrieval and neural reranking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D8 / E16 | Planning profile, not a performance claim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54864" cy="45262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Workload and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Richer multi-vector representations remain resident; ATMOS scores a bounded candidate set and returns compact evidence.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20M chunks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655 GB representation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10,000 candidates → top 100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50M queries/year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p95 ≤500 ms; p99 ≤1 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4340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4343400" y="1298448"/>
            <a:ext cx="54864" cy="4526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Pass criteria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25% lower cost/query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OR 20% higher relevance at similar cost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OR 2× richer representation at equal SLO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09244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8092440" y="1298448"/>
            <a:ext cx="54864" cy="45262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Could invalidate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CPU DRAM is sufficient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Quality does not improve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Random reads/top-k miss target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2. Recommendation and feature-table serving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E16 / E24 study | Planning profile, not a performance claim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54864" cy="45262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Workload and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Large user, item and context tables sit near gather, pooling and lightweight scoring.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800 GB tables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5,000 rows/request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640 KB raw read/request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1B requests/year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15-minute freshness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4340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4343400" y="1298448"/>
            <a:ext cx="54864" cy="4526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Pass criteria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30% fewer host-memory servers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25% lower power/lookups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20% lower cost/request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09244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8092440" y="1298448"/>
            <a:ext cx="54864" cy="45262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Could invalidate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Random reads miss target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Updates dominate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CPU DRAM remains cheaper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3. Batch intelligent document processing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D8 / E16 | Planning profile, not a performance claim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54864" cy="452628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Workload and scenario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Batchable classification, extraction and retrieval reuse page, table, layout and embedding features.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20M documents/year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160M pages/year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12-hour batch window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≥98% classification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≥95% accepted fields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34340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4343400" y="1298448"/>
            <a:ext cx="54864" cy="4526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Pass criteria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25% lower cost/document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Equal or better quality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20% lower review time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092440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13" name="Shape 11"/>
          <p:cNvSpPr/>
          <p:nvPr/>
        </p:nvSpPr>
        <p:spPr>
          <a:xfrm>
            <a:off x="8092440" y="1298448"/>
            <a:ext cx="54864" cy="45262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6304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Could invalidate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93608" y="1920240"/>
            <a:ext cx="30723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OCR/VLM remains GPU-heavy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Managed API wins at low volume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Features are used once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4–5. Solution packaging after core proof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Knowledge and edge offerings should reuse proven retrieval, reranking, lifecycle and governance primitives.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54864" cy="4251960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3619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Air-gapped knowledge assistant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993392"/>
            <a:ext cx="485546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4M documents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500 users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25 peak concurrency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Citation precision ≥95%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Zero ACL leakage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Offline update and rollback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Decision metric: cost per accepted answer + task-time reduction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25780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 </a:effectLst>
        </p:spPr>
      </p:sp>
      <p:sp>
        <p:nvSpPr>
          <p:cNvPr id="9" name="Shape 7"/>
          <p:cNvSpPr/>
          <p:nvPr/>
        </p:nvSpPr>
        <p:spPr>
          <a:xfrm>
            <a:off x="6217920" y="1371600"/>
            <a:ext cx="54864" cy="4251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53619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</a:rPr>
              <a:t>Edge semantic archive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9088" y="1993392"/>
            <a:ext cx="485546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100M assets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800 GB features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1M searches/day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10,000 candidates → top 50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p95 ≤300 ms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WAN-constrained operation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B6472"/>
                </a:solidFill>
              </a:rPr>
              <a:t>Decision metric: cost/search + egress avoided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325880" y="5897880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</a:rPr>
              <a:t>These are productized solutions only after the core services pass matched controls.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47548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Evidence plan and decision gates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 control winning is a valid result.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899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356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00200" y="1399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Freeze workload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703320" y="13807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Dataset, demand, quality, SLO and error policy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107899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500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3134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Build controls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03320" y="22951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Cheapest credible CPU, GPU, cloud or existing system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107899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644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227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Measure ATMOS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03320" y="32095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Useful bandwidth, operators, p99, power and accepted capacity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107899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788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1837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00200" y="4142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Size fleet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03320" y="41239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Active nodes + failure/maintenance reserve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4892040"/>
            <a:ext cx="10789920" cy="676656"/>
          </a:xfrm>
          <a:prstGeom prst="roundRect">
            <a:avLst>
              <a:gd name="adj" fmla="val 5405"/>
            </a:avLst>
          </a:prstGeom>
          <a:solidFill>
            <a:srgbClr val="ECF6EE"/>
          </a:solidFill>
          <a:ln w="12700">
            <a:solidFill>
              <a:srgbClr val="A5D1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9320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5056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</a:rPr>
              <a:t>Quantify value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03320" y="50383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Complete TCO / accepted work + customer purchase criterion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80160" y="5806440"/>
            <a:ext cx="9646920" cy="411480"/>
          </a:xfrm>
          <a:prstGeom prst="roundRect">
            <a:avLst>
              <a:gd name="adj" fmla="val 8889"/>
            </a:avLst>
          </a:prstGeom>
          <a:solidFill>
            <a:srgbClr val="FDECEF"/>
          </a:solidFill>
          <a:ln w="12700">
            <a:solidFill>
              <a:srgbClr val="F2A8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5934456"/>
            <a:ext cx="9098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31837"/>
                </a:solidFill>
              </a:rPr>
              <a:t>Productize only when ATMOS meets quality and SLO requirements with a better accepted-service outcome.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SanDisk ATMOS Use Cases</dc:title>
  <dc:subject>PptxGenJS Presentation</dc:subject>
  <dc:creator>Shailesh Pilare</dc:creator>
  <lastModifiedBy>Shailesh Pilare</lastModifiedBy>
  <revision>1</revision>
  <dcterms:created xsi:type="dcterms:W3CDTF">2026-10-09T06:53:49.3366243Z</dcterms:created>
  <dcterms:modified xsi:type="dcterms:W3CDTF">2026-10-09T06:53:49.3366243Z</dcterms:modified>
</coreProperties>
</file>