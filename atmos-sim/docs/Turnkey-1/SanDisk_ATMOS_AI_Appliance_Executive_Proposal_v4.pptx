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86" r:id="rId3"/>
    <p:sldId id="258" r:id="rId4"/>
    <p:sldId id="287" r:id="rId5"/>
    <p:sldId id="260" r:id="rId6"/>
    <p:sldId id="261" r:id="rId7"/>
    <p:sldId id="281" r:id="rId8"/>
    <p:sldId id="283" r:id="rId9"/>
    <p:sldId id="285" r:id="rId10"/>
    <p:sldId id="265" r:id="rId11"/>
    <p:sldId id="284" r:id="rId12"/>
    <p:sldId id="257" r:id="rId13"/>
    <p:sldId id="259" r:id="rId14"/>
    <p:sldId id="293" r:id="rId15"/>
    <p:sldId id="294" r:id="rId16"/>
    <p:sldId id="262" r:id="rId17"/>
    <p:sldId id="263" r:id="rId18"/>
    <p:sldId id="288" r:id="rId19"/>
    <p:sldId id="289"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17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40"/>
    <p:restoredTop sz="94610"/>
  </p:normalViewPr>
  <p:slideViewPr>
    <p:cSldViewPr snapToGrid="0" snapToObjects="1">
      <p:cViewPr varScale="1">
        <p:scale>
          <a:sx n="143" d="100"/>
          <a:sy n="143" d="100"/>
        </p:scale>
        <p:origin x="99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14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product decision, not PCIe bandwidth. The proposed opportunity is a SanDisk-branded private knowledge and inference service built on an OEM platform. The current attached PRD controls scope: five commercial profiles over four device densities, with the Knowledge Agent as the flagship. This is not the earlier three-way MoE execution portfolio. Present slides 1–16; use slides 17–25 only for questions. No physical ATMOS performance, approved price or OEM certification is asserted. The appliance illustrations are hypothetical design studies. Request approval for D8/E16 evidence and product ownership—not launch.</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[I2] Supplied ATMOS Leadership Proposal v2</a:t>
            </a:r>
          </a:p>
          <a:p>
            <a:r>
              <a:t>Sandisk_ATMOS_AI_Appliance_Leadership_Proposal_v2.pptx</a:t>
            </a:r>
          </a:p>
          <a:p>
            <a:r>
              <a:t>Presentation input. Reordered and rebuilt; its repeated cautionary notes do not constitute hardware, pricing or service measurements.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Opening thesis: productize a governed local knowledge service, not a universal GPU replacement. “GPT-in-a-box” is generic shorthand for a privately deployed supported model service; it does not promise OpenAI GPT weights. Edge here includes controlled office/departmental or regional deployments, not every industrial real-time controller. Supply/logistics items are proposed delivery obligations; no GPU shortage, lead time, market CAGR or share forecast is claimed. A public HBF standards milestone does not certify an ATMOS appliance.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[S02] NVIDIA customer story — EPRI
https://www.nvidia.com/en-us/case-studies/epri/
[S14] HPE — Private Cloud AI / enterprise AI solutions
https://www.hpe.com/us/en/newsroom/press-release/2025/03/hewlett-packard-enterprise-introduces-new-enterprise-ai-solutions-with-nvidia-to-accelerate-time-to-value-for-generative-agentic-and-physical-ai-models.html
[S15] Nutanix — GPT-in-a-Box 2.0
https://www.nutanix.com/press-releases/2024/nutanix-accelerates-enterprise-adoption-of-generative-ai
[S20] SanDisk / SK hynix — HBF OCP specification
https://www.sandisk.com/company/newsroom/press-releases/2026/2026-08-03-Sandisk-and-sk-hynix-advance-global-standardization-of-hbf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Amounts are taken from the 10-Q market-platform table. Calculate 7198/96221×100 = 7.480696%. Edge includes a broader product scope than the proposed enterprise knowledge appliance. No vertical split is inferred. Do not add the historical Professional Visualization figure to this recast category or annualize one quarter as a forecast.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[S01] NVIDIA FY2027 Q2 Form 10-Q
https://www.sec.gov/Archives/edgar/data/1045810/000104581026000075/nvda-20260726.htm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This is a qualitative positioning map, not a price/performance plot or a claim that competitors lack a capability. Mac Studio is included because the current Apple specification supports high-memory local configurations; no matched inference score is assigned. HPE/Nutanix establish that private-AI management and turnkey deployment already exist. The ATMOS opportunity remains conditional on service-level value.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[S10] NVIDIA DGX Spark hardware guide
https://docs.nvidia.com/dgx/dgx-spark/hardware.html
[S11] NVIDIA RTX PRO 6000 Blackwell Workstation Edition
https://www.nvidia.com/en-us/products/workstations/professional-desktop-gpus/rtx-pro-6000/
[S12] NVIDIA DGX Station development guide — system overview
https://docs.nvidia.com/dgx/dgx-station-development-guide/overview.html
[S14] HPE — Private Cloud AI / enterprise AI solutions
https://www.hpe.com/us/en/newsroom/press-release/2025/03/hewlett-packard-enterprise-introduces-new-enterprise-ai-solutions-with-nvidia-to-accelerate-time-to-value-for-generative-agentic-and-physical-ai-models.html
[S15] Nutanix — GPT-in-a-Box 2.0
https://www.nutanix.com/press-releases/2024/nutanix-accelerates-enterprise-adoption-of-generative-ai
[S21] Apple — Mac Studio technical specifications
https://www.apple.com/mac-studio/specs/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Retain W4, D8, E8, E16 and E24. D8 and E8 have the same device resource and performance targets; E8 adds qualified enterprise integration and lifecycle. Fund D8/E16 proof first. W4 requires separate office power, acoustic and commercial tests; it is not a graphics workstation. E24 is a gated six-domain stretch product. Nominal HBF capacities are 512, 1,024, 2,048 and 3,072 GB; study allocations are 400, 800, 1,600 and 2,400 GB. None is a coherent GPU memory pool. The renderings do not establish an OEM mechanical design.</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[I2] Supplied ATMOS Leadership Proposal v2</a:t>
            </a:r>
          </a:p>
          <a:p>
            <a:r>
              <a:t>Sandisk_ATMOS_AI_Appliance_Leadership_Proposal_v2.pptx</a:t>
            </a:r>
          </a:p>
          <a:p>
            <a:r>
              <a:t>Presentation input. Reordered and rebuilt; its repeated cautionary notes do not constitute hardware, pricing or service measurements.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reference configurations for an OEM RFI, not validated BOMs. Processor models may be replaced by equivalent supported Intel or AMD configurations. The 30–40 W per-device power target is from the supplied PRD and excludes host CPU, DIMMs, switches, networking and fans. Mirrored NVMe pairs expose approximately one drive's nominal capacity before reserves. Four-device domains consume 16 host lanes each: 16/32/64/96 for the four device counts. Published E3.S storage or CXL bay support does not establish E3.S 2T ATMOS power, x4 routing, reset or firmware interoperability.</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[S25] Supermicro X14 Petascale family</a:t>
            </a:r>
          </a:p>
          <a:p>
            <a:r>
              <a:t>https://www.supermicro.com/en/products/petascale-grace-storage</a:t>
            </a:r>
          </a:p>
          <a:p>
            <a:r>
              <a:t>Up to 32 E3.S or 16 E3.S plus eight fixed E3.S 2T CXL Type-3 bays; dual Xeon 6700/6500. These are distinct storage/CXL options, not ATMOS-certified bays.</a:t>
            </a:r>
          </a:p>
          <a:p>
            <a:endParaRPr/>
          </a:p>
          <a:p>
            <a:r>
              <a:t>[S26] Dell PowerEdge R7725</a:t>
            </a:r>
          </a:p>
          <a:p>
            <a:r>
              <a:t>https://www.dell.com/en-us/shop/ipovw/poweredge-r7725</a:t>
            </a:r>
          </a:p>
          <a:p>
            <a:r>
              <a:t>Candidate dual-socket enterprise host with published E3.S options. Exact 2T/x4 accelerator population, power, backplane and pricing are quote/qualification items.</a:t>
            </a:r>
          </a:p>
          <a:p>
            <a:endParaRPr/>
          </a:p>
          <a:p>
            <a:r>
              <a:t>[S27] HPE DL345 Gen12 24 E3.S x4 cabling</a:t>
            </a:r>
          </a:p>
          <a:p>
            <a:r>
              <a:t>https://cdn.support.hpe.com/hpesc/public/docDisplay?docId=sd00005966en_us&amp;page=GUID-58709B31-F99E-4D9E-B660-2B3A9935540B.html&amp;docLocale=en_US</a:t>
            </a:r>
          </a:p>
          <a:p>
            <a:r>
              <a:t>Source-listed HPE technical document; retain as an OEM-returned verification item, not independently confirmed ATMOS compatibility.</a:t>
            </a:r>
          </a:p>
          <a:p>
            <a:endParaRPr/>
          </a:p>
          <a:p>
            <a:r>
              <a:t>[S28] AMD EPYC 9355P specifications</a:t>
            </a:r>
          </a:p>
          <a:p>
            <a:r>
              <a:t>https://www.amd.com/en/products/processors/server/epyc/9005-series/amd-epyc-9355p.html</a:t>
            </a:r>
          </a:p>
          <a:p>
            <a:r>
              <a:t>32 cores, single socket, PCIe Gen5 x128, 12 memory channels. Candidate host CPU, not mandatory for every OEM.</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049E5-1BF7-C56B-FD30-66ED8237C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D9C4A-8138-6D08-D7D1-462CCDAAFF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54F3B-3B45-3881-02CF-BF4BE84D7CC0}"/>
              </a:ext>
            </a:extLst>
          </p:cNvPr>
          <p:cNvSpPr>
            <a:spLocks noGrp="1"/>
          </p:cNvSpPr>
          <p:nvPr>
            <p:ph type="body" idx="1"/>
          </p:nvPr>
        </p:nvSpPr>
        <p:spPr/>
        <p:txBody>
          <a:bodyPr/>
          <a:lstStyle/>
          <a:p>
            <a:r>
              <a:t>Every number is a proposed qualification target. Freeze the exact 8B-class checkpoint at G0. G1 uses FP8 weights, BF16 activation/KV, 2,048 input and 256 output tokens, an 8,192-token total cap, a warm resident model, no prefix-cache hit and no speculation. Start with one complete four-device replica per domain and four active decode sequences per replica. The scale-out ladder is a requirement, not measured linear scaling. TTFT includes queueing. Report request-average TPOT separately from inter-token latency tails; desired p99 ceilings are 5 seconds and 120 ms. R1 uses one million chunks and bounded reranking. Do not assume G1 and R1 maxima hold simultaneously.</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a:extLst>
              <a:ext uri="{FF2B5EF4-FFF2-40B4-BE49-F238E27FC236}">
                <a16:creationId xmlns:a16="http://schemas.microsoft.com/office/drawing/2014/main" id="{812DC738-8687-1B18-EE24-04121BFFF7C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1423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requires no mandatory cloud dependency for contracted offline service. New design: a separate SanDisk release/support plane and customer-local control/data/execution plane. Release delivery is outbound pull or signed offline import; it is not a remote command channel. A local administrator approves deployment. No prompts, documents, private weights or KV leave by default. Optional external generation is an explicitly approved endpoint, never hidden failover. Customer data repositories and the SanDisk software registry are distinct.
SOURCE BASIS
[B1] SanDisk ATMOS AI Appliance Strategy PRD v3
SanDisk_ATMOS_AI_Appliance_Strategy_PRD_v3.docx
Controlling product baseline: sections 7-14; native/retrieval-only service roles, nine software products, HA, security, lifecycle and offline operation.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Companion document: Sandisk_ATMOS_AI_Appliance_Portfolio_PRD_v2_Linked.docx. Section 4, bookmark PRD_04.</a:t>
            </a:r>
          </a:p>
          <a:p>
            <a:r>
              <a:t>Keep both files together. Full-document link is the portable fallback if a viewer ignores bookmark fragments. Office security policies can require confirmation for local links.</a:t>
            </a:r>
          </a:p>
          <a:p>
            <a:r>
              <a:t>Slide 4: The software is the product: deliver an integrated stack. All ATMOS specifications and economic scenarios require qualification.</a:t>
            </a:r>
          </a:p>
          <a:p>
            <a:r>
              <a:t>PRD v2 is the controlling proposal, not an approved product or measured result. All ATMOS specifications, prices, node counts, supported models and service levels are planning requirements pending final silicon, OEM qualification, model certification and matched customer service measurements. The linked companion's text/tables are unchanged.</a:t>
            </a:r>
          </a:p>
          <a:p>
            <a:r>
              <a:t>The PRD names nine software products: AI OS, Device Service, Model Services, Certified ModelPacks, Serving Manager, Knowledge Agent, Control Center, SDK and Enterprise Support. Candidate gateway/serving components are Envoy AI Gateway or equivalent, KServe LLMInferenceService, llm-d or Sandisk-packaged alternatives. Those projects supply patterns/components, not an ATMOS-certified backend. Sandisk must own the device/runtime and signed distribution and select/name the NPU compiler/runtime partner. ModelPack binds executable preparation separately from weights-as-data; no custom compiler CLI is claimed available. Readiness depends on signed pack, ABI, per-device memory fit, golden correctness and warmup. Customer-safe configuration and supported SDK extensions are different from firmware/kernel or unchecked binaries.</a:t>
            </a:r>
          </a:p>
          <a:p>
            <a:endParaRPr/>
          </a:p>
          <a:p>
            <a:r>
              <a:t>PRD: 3. Turnkey Offering: What the Customer Receives</a:t>
            </a:r>
          </a:p>
          <a:p>
            <a:r>
              <a:t>Sandisk_ATMOS_AI_Appliance_Portfolio_PRD_v2_Linked.docx#PRD_03</a:t>
            </a:r>
          </a:p>
          <a:p>
            <a:r>
              <a:t>PRD: 4. Turnkey Technical Architecture</a:t>
            </a:r>
          </a:p>
          <a:p>
            <a:r>
              <a:t>Sandisk_ATMOS_AI_Appliance_Portfolio_PRD_v2_Linked.docx#PRD_04</a:t>
            </a:r>
          </a:p>
          <a:p>
            <a:r>
              <a:t>PRD: 7. What Customers Can Configure, Extend or Not Change</a:t>
            </a:r>
          </a:p>
          <a:p>
            <a:r>
              <a:t>Sandisk_ATMOS_AI_Appliance_Portfolio_PRD_v2_Linked.docx#PRD_07</a:t>
            </a:r>
          </a:p>
          <a:p>
            <a:r>
              <a:t>PRD: 12. Security and Compliance Requirements</a:t>
            </a:r>
          </a:p>
          <a:p>
            <a:r>
              <a:t>Sandisk_ATMOS_AI_Appliance_Portfolio_PRD_v2_Linked.docx#PRD_12</a:t>
            </a:r>
          </a:p>
          <a:p>
            <a:r>
              <a:t>[R16] PRD reference: KServe LLMInferenceService with Envoy AI Gateway</a:t>
            </a:r>
          </a:p>
          <a:p>
            <a:r>
              <a:t>https://kserve.github.io/website/docs/model-serving/generative-inference/llmisvc/llmisvc-envoy-ai-gateway</a:t>
            </a:r>
          </a:p>
          <a:p>
            <a:r>
              <a:t>Source supplied with PRD; no ATMOS interoperability, engagement or certification implied.</a:t>
            </a:r>
          </a:p>
          <a:p>
            <a:r>
              <a:t>[R17] PRD reference: KServe and llm-d generative inference architecture</a:t>
            </a:r>
          </a:p>
          <a:p>
            <a:r>
              <a:t>https://developers.redhat.com/articles/2026/04/21/kserve-llm-d-optimized-gen-ai-inference</a:t>
            </a:r>
          </a:p>
          <a:p>
            <a:r>
              <a:t>Source supplied with PRD; no ATMOS interoperability, engagement or certification implied.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nine software products are preserved from the PRD. Reuse commodity Linux, Kubernetes, gateway and observability components where appropriate, but contract the actual ATMOS backend and maintain the supported distribution. Tenstorrent's public vLLM plugin is precedent, not an ATMOS commitment. SanDisk must own service QA, signed model packages, APIs, lifecycle and the customer support boundary. The support backend also needs entitlement, an artifact repository, offline mirrors, a compatibility lab, product security response, redacted diagnostics, case management and OEM dispatch. OEM reuse does not remove this work.</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[S36] NVIDIA AI Enterprise support</a:t>
            </a:r>
          </a:p>
          <a:p>
            <a:r>
              <a:t>https://www.nvidia.com/en-us/data-center/products/ai-enterprise-suite/support/</a:t>
            </a:r>
          </a:p>
          <a:p>
            <a:r>
              <a:t>Support, enterprise lifecycle and escalation are incumbent capabilities. ATMOS needs funded operational equivalents, not only a UI.</a:t>
            </a:r>
          </a:p>
          <a:p>
            <a:endParaRPr/>
          </a:p>
          <a:p>
            <a:r>
              <a:t>[S37] Kubernetes device plugins</a:t>
            </a:r>
          </a:p>
          <a:p>
            <a:r>
              <a:t>https://kubernetes.io/docs/concepts/extend-kubernetes/compute-storage-net/device-plugins/</a:t>
            </a:r>
          </a:p>
          <a:p>
            <a:r>
              <a:t>Resource discovery and allocation; labels alone do not implement NPU execution, multi-device model readiness or state replication.</a:t>
            </a:r>
          </a:p>
          <a:p>
            <a:endParaRPr/>
          </a:p>
          <a:p>
            <a:r>
              <a:t>[S39] Tenstorrent vLLM plugin</a:t>
            </a:r>
          </a:p>
          <a:p>
            <a:r>
              <a:t>https://github.com/tenstorrent/vllm-tt-plugin</a:t>
            </a:r>
          </a:p>
          <a:p>
            <a:r>
              <a:t>Native platform-backend precedent only; ATMOS model/operator/memory support must be contracted and validated.</a:t>
            </a:r>
          </a:p>
          <a:p>
            <a:endParaRPr/>
          </a:p>
          <a:p>
            <a:r>
              <a:t>[S41] KServe LLMInferenceService / Envoy AI Gateway</a:t>
            </a:r>
          </a:p>
          <a:p>
            <a:r>
              <a:t>https://kserve.github.io/website/docs/model-serving/generative-inference/llmisvc/llmisvc-envoy-ai-gateway</a:t>
            </a:r>
          </a:p>
          <a:p>
            <a:r>
              <a:t>Candidate service/gateway integration pattern; Sandisk retains responsibility for certified ATMOS deployment.</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D72F-F5B2-30DE-1B0A-450D24B21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07818-082D-351E-F4FD-21F642DF5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8482FA-14C0-A970-71B6-112D66FEE755}"/>
              </a:ext>
            </a:extLst>
          </p:cNvPr>
          <p:cNvSpPr>
            <a:spLocks noGrp="1"/>
          </p:cNvSpPr>
          <p:nvPr>
            <p:ph type="body" idx="1"/>
          </p:nvPr>
        </p:nvSpPr>
        <p:spPr/>
        <p:txBody>
          <a:bodyPr/>
          <a:lstStyle/>
          <a:p>
            <a:r>
              <a:t>The nine software products are preserved from the PRD. Reuse commodity Linux, Kubernetes, gateway and observability components where appropriate, but contract the actual ATMOS backend and maintain the supported distribution. Tenstorrent's public vLLM plugin is precedent, not an ATMOS commitment. SanDisk must own service QA, signed model packages, APIs, lifecycle and the customer support boundary. The support backend also needs entitlement, an artifact repository, offline mirrors, a compatibility lab, product security response, redacted diagnostics, case management and OEM dispatch. OEM reuse does not remove this work.</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[S36] NVIDIA AI Enterprise support</a:t>
            </a:r>
          </a:p>
          <a:p>
            <a:r>
              <a:t>https://www.nvidia.com/en-us/data-center/products/ai-enterprise-suite/support/</a:t>
            </a:r>
          </a:p>
          <a:p>
            <a:r>
              <a:t>Support, enterprise lifecycle and escalation are incumbent capabilities. ATMOS needs funded operational equivalents, not only a UI.</a:t>
            </a:r>
          </a:p>
          <a:p>
            <a:endParaRPr/>
          </a:p>
          <a:p>
            <a:r>
              <a:t>[S37] Kubernetes device plugins</a:t>
            </a:r>
          </a:p>
          <a:p>
            <a:r>
              <a:t>https://kubernetes.io/docs/concepts/extend-kubernetes/compute-storage-net/device-plugins/</a:t>
            </a:r>
          </a:p>
          <a:p>
            <a:r>
              <a:t>Resource discovery and allocation; labels alone do not implement NPU execution, multi-device model readiness or state replication.</a:t>
            </a:r>
          </a:p>
          <a:p>
            <a:endParaRPr/>
          </a:p>
          <a:p>
            <a:r>
              <a:t>[S39] Tenstorrent vLLM plugin</a:t>
            </a:r>
          </a:p>
          <a:p>
            <a:r>
              <a:t>https://github.com/tenstorrent/vllm-tt-plugin</a:t>
            </a:r>
          </a:p>
          <a:p>
            <a:r>
              <a:t>Native platform-backend precedent only; ATMOS model/operator/memory support must be contracted and validated.</a:t>
            </a:r>
          </a:p>
          <a:p>
            <a:endParaRPr/>
          </a:p>
          <a:p>
            <a:r>
              <a:t>[S41] KServe LLMInferenceService / Envoy AI Gateway</a:t>
            </a:r>
          </a:p>
          <a:p>
            <a:r>
              <a:t>https://kserve.github.io/website/docs/model-serving/generative-inference/llmisvc/llmisvc-envoy-ai-gateway</a:t>
            </a:r>
          </a:p>
          <a:p>
            <a:r>
              <a:t>Candidate service/gateway integration pattern; Sandisk retains responsibility for certified ATMOS deployment.</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a:extLst>
              <a:ext uri="{FF2B5EF4-FFF2-40B4-BE49-F238E27FC236}">
                <a16:creationId xmlns:a16="http://schemas.microsoft.com/office/drawing/2014/main" id="{3EDE805F-B85D-F6AD-D133-E2D3C0E5945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27347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Keep evidence labels narrow. The EPRI hardware is a Dell GB10 implementation, not proof of a NVIDIA-branded unit purchase. Aible is explicitly a prototype-to-cloud pattern. Lowe’s has multiple execution environments; do not assign its entire GenAI stack or store estate to RTX workstation hardware. These cases establish workflow activity, not units sold or revenue.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[S02] NVIDIA customer story — EPRI
https://www.nvidia.com/en-us/case-studies/epri/
[S03] NVIDIA customer story — CYRAN AI / IIT Delhi
https://www.nvidia.com/en-us/case-studies/cyran-iit-delhi/
[S04] NVIDIA customer story — Arup
https://www.nvidia.com/en-us/case-studies/arup/
[S05] Google Cloud customer story — Aible
https://cloud.google.com/customers/aible
[S06] NVIDIA customer story — Lowe’s
https://www.nvidia.com/en-gb/case-studies/lowes/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V3’s rank is a qualitative near-term product/ROI prioritization, not market-size share or measured returns. The industrial row pairs V3’s manufacturing-knowledge priority with adjacent engineering evidence from Arup; that does not establish an Arup factory-knowledge deployment. Nasdaq names L40 hardware and self-hosted embedding services, but no Spark system or Edge revenue mapping. The rightmost column is our proposed ATMOS use-case mapping, not reported customer adoption.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[S01] NVIDIA FY2027 Q2 Form 10-Q
https://www.sec.gov/Archives/edgar/data/1045810/000104581026000075/nvda-20260726.htm
[S02] NVIDIA customer story — EPRI
https://www.nvidia.com/en-us/case-studies/epri/
[S04] NVIDIA customer story — Arup
https://www.nvidia.com/en-us/case-studies/arup/
[S06] NVIDIA customer story — Lowe’s
https://www.nvidia.com/en-gb/case-studies/lowes/
[S07] NVIDIA customer story — Nasdaq
https://www.nvidia.com/en-us/case-studies/nasdaq/
[S08] NVIDIA customer story — ThinkDeep AI
https://www.nvidia.com/en-eu/case-studies/thinkdeep-sovereign-ai-agents-automate-public-services/
[S09] NVIDIA customer story — Amdocs
https://www.nvidia.com/en-eu/case-studies/amdocs-builds-generative-ai-agents-for-telecom/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complete order is a planning judgment and can change with customer access and evidence. The PRD retains all 92 explicitly listed use-case labels and adds implementation/KPI detail. Healthcare was a source solution pack; oil/gas and several complementary industries appeared as wave-only markets and receive clearly marked new detail. Keep finance to evidence and review, healthcare to knowledge/document assistance, and robotics/industrial deployments outside real-time safety control. Broad GPU spending in an industry is not an ATMOS market-size estimate.</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qualitative near-term program ranking, not measured ROI. Consider task value, repeatability, operator fit, connector readiness, ease of proving benefit and procurement/security friction. Finance, manufacturing and energy are proposed first design-partner areas. Legal, government and telecom may move earlier with a ready customer. The ranking intentionally refines the source's government-first ordering, while preserving every use-case label. Healthcare is knowledge assistance, not diagnosis; industrial/robotics packs are not safety controllers. The PRD contains all 92 explicitly listed use cases, each with delivery scope and an acceptance/value KPI.</a:t>
            </a:r>
          </a:p>
          <a:p>
            <a:endParaRPr/>
          </a:p>
          <a:p>
            <a:r>
              <a:t>EVIDENCE</a:t>
            </a:r>
          </a:p>
          <a:p>
            <a:r>
              <a:t>[I1] Supplied ATMOS AI Appliance Portfolio PRD v2</a:t>
            </a:r>
          </a:p>
          <a:p>
            <a:r>
              <a:t>Sandisk_ATMOS_AI_Appliance_Portfolio_PRD_v2_Linked.docx</a:t>
            </a:r>
          </a:p>
          <a:p>
            <a:r>
              <a:t>Controlling input: five commercial profiles; four-device topology; Knowledge Agent; nine software products; lifecycle and use-case inventory. All ATMOS hardware values are internal targets.</a:t>
            </a:r>
          </a:p>
          <a:p>
            <a:endParaRPr/>
          </a:p>
          <a:p>
            <a:r>
              <a:t>[S30] Nasdaq / NVIDIA customer story</a:t>
            </a:r>
          </a:p>
          <a:p>
            <a:r>
              <a:t>https://www.nvidia.com/en-us/case-studies/nasdaq/</a:t>
            </a:r>
          </a:p>
          <a:p>
            <a:r>
              <a:t>Vendor-published Nasdaq account reports 30% faster response and 30% improved accuracy. Not ATMOS data, matched benchmark or disclosed hardware-cost baseline.</a:t>
            </a:r>
          </a:p>
          <a:p>
            <a:endParaRPr/>
          </a:p>
          <a:p>
            <a:r>
              <a:t>[S31] EPRI / NVIDIA customer story</a:t>
            </a:r>
          </a:p>
          <a:p>
            <a:r>
              <a:t>https://www.nvidia.com/en-us/case-studies/epri/</a:t>
            </a:r>
          </a:p>
          <a:p>
            <a:r>
              <a:t>Power Chat on GB10: 35 output tokens/s single user and about 150 aggregate across ten users after warm-up. Model is gpt-oss-120b; workload/prefix caching differs from proposed G1 profile.</a:t>
            </a:r>
          </a:p>
          <a:p>
            <a:endParaRPr/>
          </a:p>
          <a:p>
            <a:r>
              <a:t>[S32] ThinkDeep sovereign public-service agents</a:t>
            </a:r>
          </a:p>
          <a:p>
            <a:r>
              <a:t>https://www.nvidia.com/en-in/customer-stories/thinkdeep-sovereign-ai-agents-automate-public-services/</a:t>
            </a:r>
          </a:p>
          <a:p>
            <a:r>
              <a:t>Document-heavy public administration example. French administration handles &gt;100M documents annually; not all processed by this AI platform and not ATMOS traffic.</a:t>
            </a:r>
          </a:p>
          <a:p>
            <a:endParaRPr/>
          </a:p>
          <a:p>
            <a:r>
              <a:t>[S33] Amdocs amAIz customer story</a:t>
            </a:r>
          </a:p>
          <a:p>
            <a:r>
              <a:t>https://www.nvidia.com/en-gb/case-studies/amdocs-builds-generative-ai-agents-for-telecom/</a:t>
            </a:r>
          </a:p>
          <a:p>
            <a:r>
              <a:t>Vendor-reported domain RAG token/latency reductions; application and model changes confound hardware-only attribution. No ATMOS saving inferred.</a:t>
            </a:r>
          </a:p>
          <a:p>
            <a:endParaRPr/>
          </a:p>
          <a:p>
            <a:r>
              <a:t>All ATMOS hardware, prices, performance and support terms are proposed until physically qualified and commercially approved. Budget amounts are not supplier quotations. Full evidence and use-case details are in the linked PRD v3.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Preserve the PRD’s exact W4/D8/E8 names; there is no D4 SKU in the controlling document. Images reuse the accepted V3 hypothetical appliance illustrations, not shipping hardware. Workflow descriptions are proposed examples. R1 and G1 are separate test profiles from V3 §5 and cannot run at their maxima simultaneously by assumption. W4 is not a service-HA system. E8 does not gain throughput merely by changing its commercial support tier. Neither workflow makes autonomous legal, engineering-safety or claims-payment decisions.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Use cases follow the V3 finance and telecom catalog. They are not claims that Nasdaq or Amdocs bought ATMOS. E16 is the initial enterprise proof profile; E24 only advances after lower-density qualification. Complete service replicas, control quorum and durable source/index/audit protection are separate. A node with more unique shards does not automatically survive a node or device loss. Source KPI targets are preserved and apply separately to G1 and R1.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Published local-memory values are architecture specifications, not measured effective kernel delivery. HBF ~200GB/s is a target whose access pattern and NPU data path need proof. Four independent local-read targets per domain sum arithmetically; a request may not exploit the sum. Gen5 coded rate = 32GT/s ×128/130 ×16 lanes /8 ≈63.015GB/s per direction, before transaction overhead. 1/2/4/6 domains produce ~63/126/252/378 coded GB/s in independent uplinks, not one client or NPU path. One four-device domain uses the same 16 root lanes as four direct x4 links. Station 7.1TB/s applies to its HBM tier only.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[S10] NVIDIA DGX Spark hardware guide
https://docs.nvidia.com/dgx/dgx-spark/hardware.html
[S11] NVIDIA RTX PRO 6000 Blackwell Workstation Edition
https://www.nvidia.com/en-us/products/workstations/professional-desktop-gpus/rtx-pro-6000/
[S12] NVIDIA DGX Station development guide — system overview
https://docs.nvidia.com/dgx/dgx-station-development-guide/overview.html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guidance
This is a new advisory engagement recommendation layered onto V3, not a claim in the source that one vendor is inherently faster or cheaper. Supermicro’s X14 reference uses Intel CPUs and has specific storage/CXL bay variants; it is not the same as the PRD’s AMD CPU study BOM. Accept an OEM-supported equivalent only after review. Dell’s published40-drive R7725 layout is a storage topology, not the proposed downstream ATMOS switch domain. HPE’s Virtual OEM is a commercial integration route, not product-level interoperability. W4 requires its own acoustic and carrier study. No OEM agreement exists in the supplied evidence.
Evidence basis: internal V3 requirements are retained. Public material reviewed 7 October 2026. Published/vendor-reported ≠ independently matched benchmark. ATMOS numbers are targets or calculations, never achieved performance. OEM order is an advisory recommendation, not a partnership.
Sources
[I1] SanDisk ATMOS AI Appliance Strategy / PRD v3
SanDisk_ATMOS_AI_Appliance_Strategy_PRD_v3.docx
[S16] Supermicro — NVMe / X14 platform overview
https://www.supermicro.com/en/products/nvme
[S17] Dell — OEM Solutions
https://www.dell.com/en-us/shop/lp/oem-solutions
[S18] Dell — R7725 40-E3.S topology
https://infohub.delltechnologies.com/en-us/l/nvme-and-i-o-topologies-for-next-generation-dell-poweredge-servers-1/poweredge-r7725-populated-with-40-nvme-e3-s-drives-3/
[S19] HPE — Virtual OEM
https://www.hpe.com/us/en/oem/virtual-oem.html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75318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7" name="Image 0" descr="/mnt/data/atmos_exec_v3/assets/cover.png">
            <a:extLst>
              <a:ext uri="{FF2B5EF4-FFF2-40B4-BE49-F238E27FC236}">
                <a16:creationId xmlns:a16="http://schemas.microsoft.com/office/drawing/2014/main" id="{52A22B15-B5B5-723B-2AAA-ECFA2B5668CA}"/>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8" name="Shape 0">
            <a:extLst>
              <a:ext uri="{FF2B5EF4-FFF2-40B4-BE49-F238E27FC236}">
                <a16:creationId xmlns:a16="http://schemas.microsoft.com/office/drawing/2014/main" id="{14CF2CD9-95EB-0458-4D53-F7A5ED00B510}"/>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29" name="Shape 0">
            <a:extLst>
              <a:ext uri="{FF2B5EF4-FFF2-40B4-BE49-F238E27FC236}">
                <a16:creationId xmlns:a16="http://schemas.microsoft.com/office/drawing/2014/main" id="{29C9A5F4-55DC-32E0-B104-9C630FF592AD}"/>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30" name="Shape 0">
            <a:extLst>
              <a:ext uri="{FF2B5EF4-FFF2-40B4-BE49-F238E27FC236}">
                <a16:creationId xmlns:a16="http://schemas.microsoft.com/office/drawing/2014/main" id="{04737F70-4FE6-38E9-678B-CEC96E23B24D}"/>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31" name="Rectangle 30">
            <a:extLst>
              <a:ext uri="{FF2B5EF4-FFF2-40B4-BE49-F238E27FC236}">
                <a16:creationId xmlns:a16="http://schemas.microsoft.com/office/drawing/2014/main" id="{35AC5C56-DE8F-200C-515A-840433A3E0A5}"/>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32" name="Text 1">
            <a:extLst>
              <a:ext uri="{FF2B5EF4-FFF2-40B4-BE49-F238E27FC236}">
                <a16:creationId xmlns:a16="http://schemas.microsoft.com/office/drawing/2014/main" id="{B289FBB6-1127-046E-EE27-A66E8B3D829B}"/>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6" name="Text 3"/>
          <p:cNvSpPr/>
          <p:nvPr/>
        </p:nvSpPr>
        <p:spPr>
          <a:xfrm>
            <a:off x="379853" y="850116"/>
            <a:ext cx="6432427" cy="1669056"/>
          </a:xfrm>
          <a:prstGeom prst="rect">
            <a:avLst/>
          </a:prstGeom>
          <a:solidFill>
            <a:srgbClr val="C00000"/>
          </a:solidFill>
          <a:ln/>
        </p:spPr>
        <p:txBody>
          <a:bodyPr wrap="square" lIns="0" tIns="0" rIns="0" bIns="0" rtlCol="0" anchor="ctr">
            <a:normAutofit/>
          </a:bodyPr>
          <a:lstStyle/>
          <a:p>
            <a:r>
              <a:rPr lang="en-US" sz="4000" b="1" dirty="0" err="1">
                <a:solidFill>
                  <a:srgbClr val="FFFFFF"/>
                </a:solidFill>
                <a:latin typeface="Aptos"/>
              </a:rPr>
              <a:t>Sandisk</a:t>
            </a:r>
            <a:r>
              <a:rPr lang="en-US" sz="4000" b="1" dirty="0">
                <a:solidFill>
                  <a:srgbClr val="FFFFFF"/>
                </a:solidFill>
                <a:latin typeface="Aptos"/>
              </a:rPr>
              <a:t> ATMOS AI Appliance Portfolio</a:t>
            </a:r>
          </a:p>
          <a:p>
            <a:pPr marL="0" indent="0">
              <a:buNone/>
            </a:pPr>
            <a:endParaRPr lang="en-US" sz="4000" dirty="0"/>
          </a:p>
        </p:txBody>
      </p:sp>
      <p:sp>
        <p:nvSpPr>
          <p:cNvPr id="8" name="Shape 5"/>
          <p:cNvSpPr/>
          <p:nvPr/>
        </p:nvSpPr>
        <p:spPr>
          <a:xfrm>
            <a:off x="7387661" y="543030"/>
            <a:ext cx="4342114" cy="3874151"/>
          </a:xfrm>
          <a:prstGeom prst="rect">
            <a:avLst/>
          </a:prstGeom>
          <a:solidFill>
            <a:srgbClr val="F5F5F6"/>
          </a:solidFill>
          <a:ln w="8255">
            <a:solidFill>
              <a:srgbClr val="F5F5F6"/>
            </a:solidFill>
            <a:prstDash val="solid"/>
          </a:ln>
        </p:spPr>
        <p:txBody>
          <a:bodyPr/>
          <a:lstStyle/>
          <a:p>
            <a:endParaRPr lang="en-US"/>
          </a:p>
        </p:txBody>
      </p:sp>
      <p:pic>
        <p:nvPicPr>
          <p:cNvPr id="9" name="Image 1" descr="/mnt/data/atmos_exec_v3/assets/appliance_4.png"/>
          <p:cNvPicPr>
            <a:picLocks noChangeAspect="1"/>
          </p:cNvPicPr>
          <p:nvPr/>
        </p:nvPicPr>
        <p:blipFill>
          <a:blip r:embed="rId4"/>
          <a:stretch>
            <a:fillRect/>
          </a:stretch>
        </p:blipFill>
        <p:spPr>
          <a:xfrm>
            <a:off x="7156751" y="493776"/>
            <a:ext cx="2962456" cy="1777474"/>
          </a:xfrm>
          <a:prstGeom prst="rect">
            <a:avLst/>
          </a:prstGeom>
        </p:spPr>
      </p:pic>
      <p:pic>
        <p:nvPicPr>
          <p:cNvPr id="10" name="Image 2" descr="/mnt/data/atmos_exec_v3/assets/appliance_16.png"/>
          <p:cNvPicPr>
            <a:picLocks noChangeAspect="1"/>
          </p:cNvPicPr>
          <p:nvPr/>
        </p:nvPicPr>
        <p:blipFill>
          <a:blip r:embed="rId5"/>
          <a:stretch>
            <a:fillRect/>
          </a:stretch>
        </p:blipFill>
        <p:spPr>
          <a:xfrm>
            <a:off x="7188753" y="2265465"/>
            <a:ext cx="4739929" cy="2564640"/>
          </a:xfrm>
          <a:prstGeom prst="rect">
            <a:avLst/>
          </a:prstGeom>
        </p:spPr>
      </p:pic>
      <p:sp>
        <p:nvSpPr>
          <p:cNvPr id="11" name="Text 6"/>
          <p:cNvSpPr/>
          <p:nvPr/>
        </p:nvSpPr>
        <p:spPr>
          <a:xfrm>
            <a:off x="7650528" y="4118447"/>
            <a:ext cx="4023360" cy="173736"/>
          </a:xfrm>
          <a:prstGeom prst="rect">
            <a:avLst/>
          </a:prstGeom>
          <a:noFill/>
          <a:ln/>
        </p:spPr>
        <p:txBody>
          <a:bodyPr wrap="square" lIns="0" tIns="0" rIns="0" bIns="0" rtlCol="0" anchor="ctr">
            <a:normAutofit/>
          </a:bodyPr>
          <a:lstStyle/>
          <a:p>
            <a:pPr marL="0" indent="0" algn="ctr">
              <a:buNone/>
            </a:pPr>
            <a:r>
              <a:rPr lang="en-US" sz="900" b="1" dirty="0">
                <a:solidFill>
                  <a:srgbClr val="5B6169"/>
                </a:solidFill>
                <a:latin typeface="Arial" pitchFamily="34" charset="0"/>
                <a:ea typeface="Arial" pitchFamily="34" charset="-122"/>
                <a:cs typeface="Arial" pitchFamily="34" charset="-120"/>
              </a:rPr>
              <a:t>HYPOTHETICAL PRODUCT DESIGN</a:t>
            </a:r>
            <a:endParaRPr lang="en-US" sz="900" dirty="0"/>
          </a:p>
        </p:txBody>
      </p:sp>
      <p:sp>
        <p:nvSpPr>
          <p:cNvPr id="14" name="Rectangle 13">
            <a:extLst>
              <a:ext uri="{FF2B5EF4-FFF2-40B4-BE49-F238E27FC236}">
                <a16:creationId xmlns:a16="http://schemas.microsoft.com/office/drawing/2014/main" id="{931799FD-116A-2296-A297-CEE20ADF94C4}"/>
              </a:ext>
            </a:extLst>
          </p:cNvPr>
          <p:cNvSpPr/>
          <p:nvPr/>
        </p:nvSpPr>
        <p:spPr>
          <a:xfrm>
            <a:off x="329561" y="2884932"/>
            <a:ext cx="50292" cy="594360"/>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D7CE2BC0-18F3-C48E-3E15-7F3AF4B403C9}"/>
              </a:ext>
            </a:extLst>
          </p:cNvPr>
          <p:cNvSpPr txBox="1"/>
          <p:nvPr/>
        </p:nvSpPr>
        <p:spPr>
          <a:xfrm>
            <a:off x="549017" y="2903220"/>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dirty="0">
                <a:solidFill>
                  <a:srgbClr val="FFFFFF"/>
                </a:solidFill>
                <a:latin typeface="Aptos"/>
              </a:rPr>
              <a:t>CERTIFIED APPLIANCE</a:t>
            </a:r>
          </a:p>
        </p:txBody>
      </p:sp>
      <p:sp>
        <p:nvSpPr>
          <p:cNvPr id="16" name="TextBox 15">
            <a:extLst>
              <a:ext uri="{FF2B5EF4-FFF2-40B4-BE49-F238E27FC236}">
                <a16:creationId xmlns:a16="http://schemas.microsoft.com/office/drawing/2014/main" id="{0D79F1E1-1DB3-849A-1B06-F71205EC2575}"/>
              </a:ext>
            </a:extLst>
          </p:cNvPr>
          <p:cNvSpPr txBox="1"/>
          <p:nvPr/>
        </p:nvSpPr>
        <p:spPr>
          <a:xfrm>
            <a:off x="3367599" y="2872270"/>
            <a:ext cx="6501384" cy="304314"/>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dirty="0">
                <a:solidFill>
                  <a:srgbClr val="D3E1E8"/>
                </a:solidFill>
                <a:latin typeface="Aptos"/>
              </a:rPr>
              <a:t>4 / 8 / 16 / 24-device family</a:t>
            </a:r>
          </a:p>
        </p:txBody>
      </p:sp>
      <p:sp>
        <p:nvSpPr>
          <p:cNvPr id="17" name="Rectangle 16">
            <a:extLst>
              <a:ext uri="{FF2B5EF4-FFF2-40B4-BE49-F238E27FC236}">
                <a16:creationId xmlns:a16="http://schemas.microsoft.com/office/drawing/2014/main" id="{6C183D0B-027A-DF74-AB4C-05106ACAD50A}"/>
              </a:ext>
            </a:extLst>
          </p:cNvPr>
          <p:cNvSpPr/>
          <p:nvPr/>
        </p:nvSpPr>
        <p:spPr>
          <a:xfrm>
            <a:off x="329561" y="3689604"/>
            <a:ext cx="50292" cy="594360"/>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56A2C5AA-E820-A183-2492-57C6CE28F59D}"/>
              </a:ext>
            </a:extLst>
          </p:cNvPr>
          <p:cNvSpPr txBox="1"/>
          <p:nvPr/>
        </p:nvSpPr>
        <p:spPr>
          <a:xfrm>
            <a:off x="549017" y="3707892"/>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TURNKEY SOFTWARE</a:t>
            </a:r>
          </a:p>
        </p:txBody>
      </p:sp>
      <p:sp>
        <p:nvSpPr>
          <p:cNvPr id="19" name="TextBox 18">
            <a:extLst>
              <a:ext uri="{FF2B5EF4-FFF2-40B4-BE49-F238E27FC236}">
                <a16:creationId xmlns:a16="http://schemas.microsoft.com/office/drawing/2014/main" id="{60C18DE6-0CA3-2E74-16AE-4CE1FB3343C7}"/>
              </a:ext>
            </a:extLst>
          </p:cNvPr>
          <p:cNvSpPr txBox="1"/>
          <p:nvPr/>
        </p:nvSpPr>
        <p:spPr>
          <a:xfrm>
            <a:off x="3367599" y="3676942"/>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dirty="0">
                <a:solidFill>
                  <a:srgbClr val="D3E1E8"/>
                </a:solidFill>
                <a:latin typeface="Aptos"/>
              </a:rPr>
              <a:t>AI OS + Model Services + Operator
Serving Manager, SDK and Control Center</a:t>
            </a:r>
          </a:p>
        </p:txBody>
      </p:sp>
      <p:sp>
        <p:nvSpPr>
          <p:cNvPr id="20" name="Rectangle 19">
            <a:extLst>
              <a:ext uri="{FF2B5EF4-FFF2-40B4-BE49-F238E27FC236}">
                <a16:creationId xmlns:a16="http://schemas.microsoft.com/office/drawing/2014/main" id="{160E3AAB-555F-F857-4E4C-43924A9CCB79}"/>
              </a:ext>
            </a:extLst>
          </p:cNvPr>
          <p:cNvSpPr/>
          <p:nvPr/>
        </p:nvSpPr>
        <p:spPr>
          <a:xfrm>
            <a:off x="329561" y="4494276"/>
            <a:ext cx="50292" cy="594360"/>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8D0094C8-CF73-8DBC-8E8E-7BB913DEBCB5}"/>
              </a:ext>
            </a:extLst>
          </p:cNvPr>
          <p:cNvSpPr txBox="1"/>
          <p:nvPr/>
        </p:nvSpPr>
        <p:spPr>
          <a:xfrm>
            <a:off x="549017" y="4512564"/>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KNOWLEDGE AGENT</a:t>
            </a:r>
          </a:p>
        </p:txBody>
      </p:sp>
      <p:sp>
        <p:nvSpPr>
          <p:cNvPr id="22" name="TextBox 21">
            <a:extLst>
              <a:ext uri="{FF2B5EF4-FFF2-40B4-BE49-F238E27FC236}">
                <a16:creationId xmlns:a16="http://schemas.microsoft.com/office/drawing/2014/main" id="{B5C29435-99C6-C019-CCF5-BFA706D534AD}"/>
              </a:ext>
            </a:extLst>
          </p:cNvPr>
          <p:cNvSpPr txBox="1"/>
          <p:nvPr/>
        </p:nvSpPr>
        <p:spPr>
          <a:xfrm>
            <a:off x="3367599" y="4481614"/>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D3E1E8"/>
                </a:solidFill>
                <a:latin typeface="Aptos"/>
              </a:rPr>
              <a:t>Ingest -&gt; retrieve -&gt; rerank -&gt; cite
Governed tools, evaluation and audit</a:t>
            </a:r>
          </a:p>
        </p:txBody>
      </p:sp>
      <p:sp>
        <p:nvSpPr>
          <p:cNvPr id="23" name="Rectangle 22">
            <a:extLst>
              <a:ext uri="{FF2B5EF4-FFF2-40B4-BE49-F238E27FC236}">
                <a16:creationId xmlns:a16="http://schemas.microsoft.com/office/drawing/2014/main" id="{F526488E-0AB5-4EB6-CBD2-0A867F8703B1}"/>
              </a:ext>
            </a:extLst>
          </p:cNvPr>
          <p:cNvSpPr/>
          <p:nvPr/>
        </p:nvSpPr>
        <p:spPr>
          <a:xfrm>
            <a:off x="329561" y="5298949"/>
            <a:ext cx="50292" cy="594360"/>
          </a:xfrm>
          <a:prstGeom prst="rect">
            <a:avLst/>
          </a:prstGeom>
          <a:solidFill>
            <a:srgbClr val="007B7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9A2E17D0-1B68-227C-04A1-07FE32C0B638}"/>
              </a:ext>
            </a:extLst>
          </p:cNvPr>
          <p:cNvSpPr txBox="1"/>
          <p:nvPr/>
        </p:nvSpPr>
        <p:spPr>
          <a:xfrm>
            <a:off x="549017" y="5317236"/>
            <a:ext cx="3977639" cy="356616"/>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800" b="1">
                <a:solidFill>
                  <a:srgbClr val="FFFFFF"/>
                </a:solidFill>
                <a:latin typeface="Aptos"/>
              </a:rPr>
              <a:t>ONE SUPPORT ROUTE</a:t>
            </a:r>
          </a:p>
        </p:txBody>
      </p:sp>
      <p:sp>
        <p:nvSpPr>
          <p:cNvPr id="25" name="TextBox 24">
            <a:extLst>
              <a:ext uri="{FF2B5EF4-FFF2-40B4-BE49-F238E27FC236}">
                <a16:creationId xmlns:a16="http://schemas.microsoft.com/office/drawing/2014/main" id="{7290747A-CDEB-F5D2-B1DA-9B2BD8F30BF6}"/>
              </a:ext>
            </a:extLst>
          </p:cNvPr>
          <p:cNvSpPr txBox="1"/>
          <p:nvPr/>
        </p:nvSpPr>
        <p:spPr>
          <a:xfrm>
            <a:off x="3367599" y="5286287"/>
            <a:ext cx="6501384" cy="64008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600" b="0">
                <a:solidFill>
                  <a:srgbClr val="D3E1E8"/>
                </a:solidFill>
                <a:latin typeface="Aptos"/>
              </a:rPr>
              <a:t>Signed packs, upgrades and rollback
Sandisk triage + coordinated OEM support</a:t>
            </a:r>
          </a:p>
        </p:txBody>
      </p:sp>
      <p:sp>
        <p:nvSpPr>
          <p:cNvPr id="33" name="Shape 0">
            <a:extLst>
              <a:ext uri="{FF2B5EF4-FFF2-40B4-BE49-F238E27FC236}">
                <a16:creationId xmlns:a16="http://schemas.microsoft.com/office/drawing/2014/main" id="{EC17D465-DFD0-6444-2E07-9338E112D1DD}"/>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34" name="Text 11">
            <a:extLst>
              <a:ext uri="{FF2B5EF4-FFF2-40B4-BE49-F238E27FC236}">
                <a16:creationId xmlns:a16="http://schemas.microsoft.com/office/drawing/2014/main" id="{DCA76A54-34B0-36B2-9368-2B87E23363D2}"/>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01</a:t>
            </a:r>
            <a:endParaRPr lang="en-US" sz="92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 0" descr="/mnt/data/atmos_exec_v3/assets/cover.png">
            <a:extLst>
              <a:ext uri="{FF2B5EF4-FFF2-40B4-BE49-F238E27FC236}">
                <a16:creationId xmlns:a16="http://schemas.microsoft.com/office/drawing/2014/main" id="{D56E9575-968D-0A2B-C8E0-09B2AC5519E3}"/>
              </a:ext>
            </a:extLst>
          </p:cNvPr>
          <p:cNvPicPr>
            <a:picLocks noChangeAspect="1"/>
          </p:cNvPicPr>
          <p:nvPr/>
        </p:nvPicPr>
        <p:blipFill>
          <a:blip r:embed="rId3"/>
          <a:stretch>
            <a:fillRect/>
          </a:stretch>
        </p:blipFill>
        <p:spPr>
          <a:xfrm>
            <a:off x="45666" y="192024"/>
            <a:ext cx="12100667" cy="6858000"/>
          </a:xfrm>
          <a:prstGeom prst="rect">
            <a:avLst/>
          </a:prstGeom>
        </p:spPr>
      </p:pic>
      <p:sp>
        <p:nvSpPr>
          <p:cNvPr id="31" name="Shape 0">
            <a:extLst>
              <a:ext uri="{FF2B5EF4-FFF2-40B4-BE49-F238E27FC236}">
                <a16:creationId xmlns:a16="http://schemas.microsoft.com/office/drawing/2014/main" id="{8DFFF845-025B-C6C5-6BDE-06F2ED5A68A6}"/>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32" name="Shape 0">
            <a:extLst>
              <a:ext uri="{FF2B5EF4-FFF2-40B4-BE49-F238E27FC236}">
                <a16:creationId xmlns:a16="http://schemas.microsoft.com/office/drawing/2014/main" id="{080DF7A8-EECA-E603-EE58-1DABF56AACBD}"/>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33" name="Shape 0">
            <a:extLst>
              <a:ext uri="{FF2B5EF4-FFF2-40B4-BE49-F238E27FC236}">
                <a16:creationId xmlns:a16="http://schemas.microsoft.com/office/drawing/2014/main" id="{B76F0D0B-AF56-E0E9-A5F8-AA44D467C422}"/>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34" name="Rectangle 33">
            <a:extLst>
              <a:ext uri="{FF2B5EF4-FFF2-40B4-BE49-F238E27FC236}">
                <a16:creationId xmlns:a16="http://schemas.microsoft.com/office/drawing/2014/main" id="{540F33C1-823B-DEBD-B8B6-DF22798F0A21}"/>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35" name="Text 1">
            <a:extLst>
              <a:ext uri="{FF2B5EF4-FFF2-40B4-BE49-F238E27FC236}">
                <a16:creationId xmlns:a16="http://schemas.microsoft.com/office/drawing/2014/main" id="{1BA29959-FAE3-0B67-4EE8-C53CD98548D6}"/>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36" name="Shape 0">
            <a:extLst>
              <a:ext uri="{FF2B5EF4-FFF2-40B4-BE49-F238E27FC236}">
                <a16:creationId xmlns:a16="http://schemas.microsoft.com/office/drawing/2014/main" id="{BA9279E5-66CD-4CEA-2366-2F09F6AD7FAA}"/>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 name="Text 2"/>
          <p:cNvSpPr/>
          <p:nvPr/>
        </p:nvSpPr>
        <p:spPr>
          <a:xfrm>
            <a:off x="7498080" y="292608"/>
            <a:ext cx="4160520" cy="219456"/>
          </a:xfrm>
          <a:prstGeom prst="rect">
            <a:avLst/>
          </a:prstGeom>
          <a:noFill/>
          <a:ln/>
        </p:spPr>
        <p:txBody>
          <a:bodyPr wrap="square" lIns="0" tIns="0" rIns="0" bIns="0" rtlCol="0" anchor="ctr"/>
          <a:lstStyle/>
          <a:p>
            <a:pPr marL="0" indent="0" algn="r">
              <a:buNone/>
            </a:pPr>
            <a:r>
              <a:rPr lang="en-US" sz="1050" dirty="0">
                <a:solidFill>
                  <a:schemeClr val="bg1"/>
                </a:solidFill>
                <a:latin typeface="Arial" pitchFamily="34" charset="0"/>
                <a:ea typeface="Arial" pitchFamily="34" charset="-122"/>
                <a:cs typeface="Arial" pitchFamily="34" charset="-120"/>
              </a:rPr>
              <a:t>BACKGROUND</a:t>
            </a:r>
            <a:endParaRPr lang="en-US" sz="1050" dirty="0">
              <a:solidFill>
                <a:schemeClr val="bg1"/>
              </a:solidFill>
            </a:endParaRPr>
          </a:p>
        </p:txBody>
      </p:sp>
      <p:sp>
        <p:nvSpPr>
          <p:cNvPr id="5" name="Text 3"/>
          <p:cNvSpPr/>
          <p:nvPr/>
        </p:nvSpPr>
        <p:spPr>
          <a:xfrm>
            <a:off x="440889" y="557783"/>
            <a:ext cx="11183112" cy="621792"/>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LLM In The Box</a:t>
            </a:r>
            <a:endParaRPr lang="en-US" sz="2000" dirty="0">
              <a:solidFill>
                <a:schemeClr val="bg1"/>
              </a:solidFill>
            </a:endParaRPr>
          </a:p>
        </p:txBody>
      </p:sp>
      <p:sp>
        <p:nvSpPr>
          <p:cNvPr id="7" name="Shape 5"/>
          <p:cNvSpPr/>
          <p:nvPr/>
        </p:nvSpPr>
        <p:spPr>
          <a:xfrm>
            <a:off x="502920" y="6035040"/>
            <a:ext cx="11183112" cy="365760"/>
          </a:xfrm>
          <a:prstGeom prst="rect">
            <a:avLst/>
          </a:prstGeom>
          <a:solidFill>
            <a:srgbClr val="FCECF0"/>
          </a:solidFill>
          <a:ln w="12700">
            <a:solidFill>
              <a:srgbClr val="FCECF0"/>
            </a:solidFill>
            <a:prstDash val="solid"/>
          </a:ln>
        </p:spPr>
        <p:txBody>
          <a:bodyPr/>
          <a:lstStyle/>
          <a:p>
            <a:endParaRPr lang="en-US"/>
          </a:p>
        </p:txBody>
      </p:sp>
      <p:sp>
        <p:nvSpPr>
          <p:cNvPr id="8" name="Text 6"/>
          <p:cNvSpPr/>
          <p:nvPr/>
        </p:nvSpPr>
        <p:spPr>
          <a:xfrm>
            <a:off x="658368" y="6089904"/>
            <a:ext cx="10872216" cy="246888"/>
          </a:xfrm>
          <a:prstGeom prst="rect">
            <a:avLst/>
          </a:prstGeom>
          <a:noFill/>
          <a:ln/>
        </p:spPr>
        <p:txBody>
          <a:bodyPr wrap="square" lIns="0" tIns="0" rIns="0" bIns="0" rtlCol="0" anchor="ctr"/>
          <a:lstStyle/>
          <a:p>
            <a:pPr marL="0" indent="0">
              <a:buNone/>
            </a:pPr>
            <a:r>
              <a:rPr lang="en-US" sz="1250" b="1" dirty="0">
                <a:solidFill>
                  <a:srgbClr val="E31837"/>
                </a:solidFill>
                <a:latin typeface="Arial" pitchFamily="34" charset="0"/>
                <a:ea typeface="Arial" pitchFamily="34" charset="-122"/>
                <a:cs typeface="Arial" pitchFamily="34" charset="-120"/>
              </a:rPr>
              <a:t>SanDisk opening: resident model/data capacity + certified knowledge services + one accountable lifecycle.</a:t>
            </a:r>
            <a:endParaRPr lang="en-US" sz="125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p>
        </p:txBody>
      </p:sp>
      <p:sp>
        <p:nvSpPr>
          <p:cNvPr id="13" name="Text 11"/>
          <p:cNvSpPr/>
          <p:nvPr/>
        </p:nvSpPr>
        <p:spPr>
          <a:xfrm>
            <a:off x="11073205"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02</a:t>
            </a:r>
            <a:endParaRPr lang="en-US" sz="920" dirty="0">
              <a:solidFill>
                <a:schemeClr val="bg1"/>
              </a:solidFill>
            </a:endParaRPr>
          </a:p>
        </p:txBody>
      </p:sp>
      <p:sp>
        <p:nvSpPr>
          <p:cNvPr id="14" name="Shape 12"/>
          <p:cNvSpPr/>
          <p:nvPr/>
        </p:nvSpPr>
        <p:spPr>
          <a:xfrm>
            <a:off x="429768" y="3191256"/>
            <a:ext cx="3602736" cy="2075688"/>
          </a:xfrm>
          <a:prstGeom prst="rect">
            <a:avLst/>
          </a:prstGeom>
          <a:solidFill>
            <a:srgbClr val="C00000"/>
          </a:solidFill>
          <a:ln w="12700">
            <a:solidFill>
              <a:srgbClr val="F3F4F6"/>
            </a:solidFill>
            <a:prstDash val="solid"/>
          </a:ln>
        </p:spPr>
        <p:txBody>
          <a:bodyPr/>
          <a:lstStyle/>
          <a:p>
            <a:endParaRPr lang="en-US"/>
          </a:p>
        </p:txBody>
      </p:sp>
      <p:sp>
        <p:nvSpPr>
          <p:cNvPr id="15" name="Shape 13"/>
          <p:cNvSpPr/>
          <p:nvPr/>
        </p:nvSpPr>
        <p:spPr>
          <a:xfrm>
            <a:off x="429768" y="3191256"/>
            <a:ext cx="41148" cy="2075688"/>
          </a:xfrm>
          <a:prstGeom prst="rect">
            <a:avLst/>
          </a:prstGeom>
          <a:solidFill>
            <a:schemeClr val="bg1"/>
          </a:solidFill>
          <a:ln w="12700">
            <a:solidFill>
              <a:srgbClr val="E31837"/>
            </a:solidFill>
            <a:prstDash val="solid"/>
          </a:ln>
        </p:spPr>
        <p:txBody>
          <a:bodyPr/>
          <a:lstStyle/>
          <a:p>
            <a:endParaRPr lang="en-US"/>
          </a:p>
        </p:txBody>
      </p:sp>
      <p:sp>
        <p:nvSpPr>
          <p:cNvPr id="16" name="Text 14"/>
          <p:cNvSpPr/>
          <p:nvPr/>
        </p:nvSpPr>
        <p:spPr>
          <a:xfrm>
            <a:off x="594360" y="3355848"/>
            <a:ext cx="3273552" cy="512064"/>
          </a:xfrm>
          <a:prstGeom prst="rect">
            <a:avLst/>
          </a:prstGeom>
          <a:noFill/>
          <a:ln/>
        </p:spPr>
        <p:txBody>
          <a:bodyPr wrap="square" lIns="0" tIns="0" rIns="0" bIns="0" rtlCol="0" anchor="ctr"/>
          <a:lstStyle/>
          <a:p>
            <a:pPr marL="0" indent="0">
              <a:buNone/>
            </a:pPr>
            <a:r>
              <a:rPr lang="en-US" sz="1800" b="1" dirty="0">
                <a:solidFill>
                  <a:schemeClr val="bg1"/>
                </a:solidFill>
                <a:latin typeface="Arial" pitchFamily="34" charset="0"/>
                <a:ea typeface="Arial" pitchFamily="34" charset="-122"/>
                <a:cs typeface="Arial" pitchFamily="34" charset="-120"/>
              </a:rPr>
              <a:t>DEMAND | bring AI to the data</a:t>
            </a:r>
            <a:endParaRPr lang="en-US" sz="1800" dirty="0">
              <a:solidFill>
                <a:schemeClr val="bg1"/>
              </a:solidFill>
            </a:endParaRPr>
          </a:p>
        </p:txBody>
      </p:sp>
      <p:sp>
        <p:nvSpPr>
          <p:cNvPr id="17" name="Text 15"/>
          <p:cNvSpPr/>
          <p:nvPr/>
        </p:nvSpPr>
        <p:spPr>
          <a:xfrm>
            <a:off x="594360" y="4041648"/>
            <a:ext cx="3273552" cy="1069848"/>
          </a:xfrm>
          <a:prstGeom prst="rect">
            <a:avLst/>
          </a:prstGeom>
          <a:noFill/>
          <a:ln/>
        </p:spPr>
        <p:txBody>
          <a:bodyPr wrap="square" lIns="0" tIns="0" rIns="0" bIns="0" rtlCol="0" anchor="t"/>
          <a:lstStyle/>
          <a:p>
            <a:pPr marL="0" indent="0">
              <a:buNone/>
            </a:pPr>
            <a:r>
              <a:rPr lang="en-US" sz="1600" dirty="0">
                <a:solidFill>
                  <a:schemeClr val="bg1"/>
                </a:solidFill>
                <a:latin typeface="Arial" pitchFamily="34" charset="0"/>
                <a:ea typeface="Arial" pitchFamily="34" charset="-122"/>
                <a:cs typeface="Arial" pitchFamily="34" charset="-120"/>
              </a:rPr>
              <a:t>Private documents, predictable service and controlled updates drive local deployments. EPRI is a documented deskside example.</a:t>
            </a:r>
            <a:endParaRPr lang="en-US" sz="1600" dirty="0">
              <a:solidFill>
                <a:schemeClr val="bg1"/>
              </a:solidFill>
            </a:endParaRPr>
          </a:p>
        </p:txBody>
      </p:sp>
      <p:sp>
        <p:nvSpPr>
          <p:cNvPr id="18" name="Shape 16"/>
          <p:cNvSpPr/>
          <p:nvPr/>
        </p:nvSpPr>
        <p:spPr>
          <a:xfrm>
            <a:off x="4187952" y="3191256"/>
            <a:ext cx="3602736" cy="2075688"/>
          </a:xfrm>
          <a:prstGeom prst="rect">
            <a:avLst/>
          </a:prstGeom>
          <a:solidFill>
            <a:srgbClr val="C00000"/>
          </a:solidFill>
          <a:ln w="12700">
            <a:solidFill>
              <a:srgbClr val="F3F4F6"/>
            </a:solidFill>
            <a:prstDash val="solid"/>
          </a:ln>
        </p:spPr>
        <p:txBody>
          <a:bodyPr/>
          <a:lstStyle/>
          <a:p>
            <a:endParaRPr lang="en-US"/>
          </a:p>
        </p:txBody>
      </p:sp>
      <p:sp>
        <p:nvSpPr>
          <p:cNvPr id="19" name="Shape 17"/>
          <p:cNvSpPr/>
          <p:nvPr/>
        </p:nvSpPr>
        <p:spPr>
          <a:xfrm>
            <a:off x="4187952" y="3191256"/>
            <a:ext cx="41148" cy="2075688"/>
          </a:xfrm>
          <a:prstGeom prst="rect">
            <a:avLst/>
          </a:prstGeom>
          <a:solidFill>
            <a:schemeClr val="bg1"/>
          </a:solidFill>
          <a:ln w="12700">
            <a:solidFill>
              <a:srgbClr val="E31837"/>
            </a:solidFill>
            <a:prstDash val="solid"/>
          </a:ln>
        </p:spPr>
        <p:txBody>
          <a:bodyPr/>
          <a:lstStyle/>
          <a:p>
            <a:endParaRPr lang="en-US"/>
          </a:p>
        </p:txBody>
      </p:sp>
      <p:sp>
        <p:nvSpPr>
          <p:cNvPr id="20" name="Text 18"/>
          <p:cNvSpPr/>
          <p:nvPr/>
        </p:nvSpPr>
        <p:spPr>
          <a:xfrm>
            <a:off x="4352544" y="3355848"/>
            <a:ext cx="3273552" cy="512064"/>
          </a:xfrm>
          <a:prstGeom prst="rect">
            <a:avLst/>
          </a:prstGeom>
          <a:noFill/>
          <a:ln/>
        </p:spPr>
        <p:txBody>
          <a:bodyPr wrap="square" lIns="0" tIns="0" rIns="0" bIns="0" rtlCol="0" anchor="ctr"/>
          <a:lstStyle/>
          <a:p>
            <a:pPr marL="0" indent="0">
              <a:buNone/>
            </a:pPr>
            <a:r>
              <a:rPr lang="en-US" sz="1800" b="1" dirty="0">
                <a:solidFill>
                  <a:schemeClr val="bg1"/>
                </a:solidFill>
                <a:latin typeface="Arial" pitchFamily="34" charset="0"/>
                <a:ea typeface="Arial" pitchFamily="34" charset="-122"/>
                <a:cs typeface="Arial" pitchFamily="34" charset="-120"/>
              </a:rPr>
              <a:t>SUPPLY | a system, not a chip</a:t>
            </a:r>
            <a:endParaRPr lang="en-US" sz="1800" dirty="0">
              <a:solidFill>
                <a:schemeClr val="bg1"/>
              </a:solidFill>
            </a:endParaRPr>
          </a:p>
        </p:txBody>
      </p:sp>
      <p:sp>
        <p:nvSpPr>
          <p:cNvPr id="21" name="Text 19"/>
          <p:cNvSpPr/>
          <p:nvPr/>
        </p:nvSpPr>
        <p:spPr>
          <a:xfrm>
            <a:off x="4352544" y="4041648"/>
            <a:ext cx="3273552" cy="1069848"/>
          </a:xfrm>
          <a:prstGeom prst="rect">
            <a:avLst/>
          </a:prstGeom>
          <a:noFill/>
          <a:ln/>
        </p:spPr>
        <p:txBody>
          <a:bodyPr wrap="square" lIns="0" tIns="0" rIns="0" bIns="0" rtlCol="0" anchor="t"/>
          <a:lstStyle/>
          <a:p>
            <a:pPr marL="0" indent="0">
              <a:buNone/>
            </a:pPr>
            <a:r>
              <a:rPr lang="en-US" sz="1600" dirty="0">
                <a:solidFill>
                  <a:schemeClr val="bg1"/>
                </a:solidFill>
                <a:latin typeface="Arial" pitchFamily="34" charset="0"/>
                <a:ea typeface="Arial" pitchFamily="34" charset="-122"/>
                <a:cs typeface="Arial" pitchFamily="34" charset="-120"/>
              </a:rPr>
              <a:t>Spark, RTX, Station and turnkey platforms already compete. Delivery also requires OEM qualification, certified models, inventory and field support.</a:t>
            </a:r>
            <a:endParaRPr lang="en-US" sz="1600" dirty="0">
              <a:solidFill>
                <a:schemeClr val="bg1"/>
              </a:solidFill>
            </a:endParaRPr>
          </a:p>
        </p:txBody>
      </p:sp>
      <p:sp>
        <p:nvSpPr>
          <p:cNvPr id="22" name="Shape 20"/>
          <p:cNvSpPr/>
          <p:nvPr/>
        </p:nvSpPr>
        <p:spPr>
          <a:xfrm>
            <a:off x="7946136" y="3191256"/>
            <a:ext cx="3666744" cy="2075688"/>
          </a:xfrm>
          <a:prstGeom prst="rect">
            <a:avLst/>
          </a:prstGeom>
          <a:solidFill>
            <a:srgbClr val="C00000"/>
          </a:solidFill>
          <a:ln w="12700">
            <a:solidFill>
              <a:srgbClr val="F3F4F6"/>
            </a:solidFill>
            <a:prstDash val="solid"/>
          </a:ln>
        </p:spPr>
        <p:txBody>
          <a:bodyPr/>
          <a:lstStyle/>
          <a:p>
            <a:endParaRPr lang="en-US"/>
          </a:p>
        </p:txBody>
      </p:sp>
      <p:sp>
        <p:nvSpPr>
          <p:cNvPr id="23" name="Shape 21"/>
          <p:cNvSpPr/>
          <p:nvPr/>
        </p:nvSpPr>
        <p:spPr>
          <a:xfrm>
            <a:off x="7946136" y="3191256"/>
            <a:ext cx="41148" cy="2075688"/>
          </a:xfrm>
          <a:prstGeom prst="rect">
            <a:avLst/>
          </a:prstGeom>
          <a:solidFill>
            <a:schemeClr val="bg1"/>
          </a:solidFill>
          <a:ln w="12700">
            <a:solidFill>
              <a:srgbClr val="E31837"/>
            </a:solidFill>
            <a:prstDash val="solid"/>
          </a:ln>
        </p:spPr>
        <p:txBody>
          <a:bodyPr/>
          <a:lstStyle/>
          <a:p>
            <a:endParaRPr lang="en-US"/>
          </a:p>
        </p:txBody>
      </p:sp>
      <p:sp>
        <p:nvSpPr>
          <p:cNvPr id="24" name="Text 22"/>
          <p:cNvSpPr/>
          <p:nvPr/>
        </p:nvSpPr>
        <p:spPr>
          <a:xfrm>
            <a:off x="8110728" y="3355848"/>
            <a:ext cx="3337560" cy="512064"/>
          </a:xfrm>
          <a:prstGeom prst="rect">
            <a:avLst/>
          </a:prstGeom>
          <a:noFill/>
          <a:ln/>
        </p:spPr>
        <p:txBody>
          <a:bodyPr wrap="square" lIns="0" tIns="0" rIns="0" bIns="0" rtlCol="0" anchor="ctr"/>
          <a:lstStyle/>
          <a:p>
            <a:pPr marL="0" indent="0">
              <a:buNone/>
            </a:pPr>
            <a:r>
              <a:rPr lang="en-US" sz="1800" b="1" dirty="0">
                <a:solidFill>
                  <a:schemeClr val="bg1"/>
                </a:solidFill>
                <a:latin typeface="Arial" pitchFamily="34" charset="0"/>
                <a:ea typeface="Arial" pitchFamily="34" charset="-122"/>
                <a:cs typeface="Arial" pitchFamily="34" charset="-120"/>
              </a:rPr>
              <a:t>SCOPE | bounded enterprise AI</a:t>
            </a:r>
            <a:endParaRPr lang="en-US" sz="1800" dirty="0">
              <a:solidFill>
                <a:schemeClr val="bg1"/>
              </a:solidFill>
            </a:endParaRPr>
          </a:p>
        </p:txBody>
      </p:sp>
      <p:sp>
        <p:nvSpPr>
          <p:cNvPr id="27" name="Shape 12">
            <a:extLst>
              <a:ext uri="{FF2B5EF4-FFF2-40B4-BE49-F238E27FC236}">
                <a16:creationId xmlns:a16="http://schemas.microsoft.com/office/drawing/2014/main" id="{B1BAB08D-0060-977A-D980-B96F3F86B1A7}"/>
              </a:ext>
            </a:extLst>
          </p:cNvPr>
          <p:cNvSpPr/>
          <p:nvPr/>
        </p:nvSpPr>
        <p:spPr>
          <a:xfrm>
            <a:off x="402336" y="1393383"/>
            <a:ext cx="11183112" cy="1564701"/>
          </a:xfrm>
          <a:prstGeom prst="rect">
            <a:avLst/>
          </a:prstGeom>
          <a:solidFill>
            <a:srgbClr val="C00000"/>
          </a:solidFill>
          <a:ln w="12700">
            <a:solidFill>
              <a:srgbClr val="F3F4F6"/>
            </a:solidFill>
            <a:prstDash val="solid"/>
          </a:ln>
        </p:spPr>
        <p:txBody>
          <a:bodyPr/>
          <a:lstStyle/>
          <a:p>
            <a:endParaRPr lang="en-US" sz="1600" dirty="0">
              <a:solidFill>
                <a:schemeClr val="bg1"/>
              </a:solidFill>
            </a:endParaRPr>
          </a:p>
        </p:txBody>
      </p:sp>
      <p:sp>
        <p:nvSpPr>
          <p:cNvPr id="25" name="Text 23"/>
          <p:cNvSpPr/>
          <p:nvPr/>
        </p:nvSpPr>
        <p:spPr>
          <a:xfrm>
            <a:off x="8110728" y="4041648"/>
            <a:ext cx="3337560" cy="1069848"/>
          </a:xfrm>
          <a:prstGeom prst="rect">
            <a:avLst/>
          </a:prstGeom>
          <a:noFill/>
          <a:ln/>
        </p:spPr>
        <p:txBody>
          <a:bodyPr wrap="square" lIns="0" tIns="0" rIns="0" bIns="0" rtlCol="0" anchor="t"/>
          <a:lstStyle/>
          <a:p>
            <a:pPr marL="0" indent="0">
              <a:buNone/>
            </a:pPr>
            <a:r>
              <a:rPr lang="en-US" sz="1600" dirty="0">
                <a:solidFill>
                  <a:schemeClr val="bg1"/>
                </a:solidFill>
                <a:latin typeface="Arial" pitchFamily="34" charset="0"/>
                <a:ea typeface="Arial" pitchFamily="34" charset="-122"/>
                <a:cs typeface="Arial" pitchFamily="34" charset="-120"/>
              </a:rPr>
              <a:t>Target search, reranking, document work and qualified private generation. Exclude training, graphics and safety-critical control.</a:t>
            </a:r>
            <a:endParaRPr lang="en-US" sz="1600" dirty="0">
              <a:solidFill>
                <a:schemeClr val="bg1"/>
              </a:solidFill>
            </a:endParaRPr>
          </a:p>
        </p:txBody>
      </p:sp>
      <p:sp>
        <p:nvSpPr>
          <p:cNvPr id="6" name="Text 4"/>
          <p:cNvSpPr/>
          <p:nvPr/>
        </p:nvSpPr>
        <p:spPr>
          <a:xfrm>
            <a:off x="450342" y="1650492"/>
            <a:ext cx="11162538" cy="863030"/>
          </a:xfrm>
          <a:prstGeom prst="rect">
            <a:avLst/>
          </a:prstGeom>
          <a:noFill/>
          <a:ln/>
        </p:spPr>
        <p:txBody>
          <a:bodyPr wrap="square" lIns="0" tIns="0" rIns="0" bIns="0" rtlCol="0" anchor="ctr"/>
          <a:lstStyle/>
          <a:p>
            <a:r>
              <a:rPr lang="en-US" sz="1400" b="1" dirty="0">
                <a:solidFill>
                  <a:schemeClr val="bg1"/>
                </a:solidFill>
              </a:rPr>
              <a:t>Private AI workstations and edge appliances bring inference directly to sensitive data and users, enabling knowledge assistants, search, document processing, and local copilots where privacy, latency, connectivity, or cloud cost matter. The opportunity is to sell a turnkey, supported service—not just accelerator hardware—with certified workloads, governance, lifecycle management, and predictable operations. Win where measured local service quality and total cost beat the customer’s cloud or existing on-prem alternatives.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Image 0" descr="/mnt/data/atmos_exec_v3/assets/cover.png">
            <a:extLst>
              <a:ext uri="{FF2B5EF4-FFF2-40B4-BE49-F238E27FC236}">
                <a16:creationId xmlns:a16="http://schemas.microsoft.com/office/drawing/2014/main" id="{754DBEDB-CB48-7DDD-A56D-E7718914F800}"/>
              </a:ext>
            </a:extLst>
          </p:cNvPr>
          <p:cNvPicPr>
            <a:picLocks noChangeAspect="1"/>
          </p:cNvPicPr>
          <p:nvPr/>
        </p:nvPicPr>
        <p:blipFill>
          <a:blip r:embed="rId3"/>
          <a:stretch>
            <a:fillRect/>
          </a:stretch>
        </p:blipFill>
        <p:spPr>
          <a:xfrm>
            <a:off x="45666" y="192024"/>
            <a:ext cx="12100667" cy="6858000"/>
          </a:xfrm>
          <a:prstGeom prst="rect">
            <a:avLst/>
          </a:prstGeom>
        </p:spPr>
      </p:pic>
      <p:sp>
        <p:nvSpPr>
          <p:cNvPr id="36" name="Shape 0">
            <a:extLst>
              <a:ext uri="{FF2B5EF4-FFF2-40B4-BE49-F238E27FC236}">
                <a16:creationId xmlns:a16="http://schemas.microsoft.com/office/drawing/2014/main" id="{F47E5F53-1DD7-7FFF-5423-1DD9D1E640CE}"/>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37" name="Shape 0">
            <a:extLst>
              <a:ext uri="{FF2B5EF4-FFF2-40B4-BE49-F238E27FC236}">
                <a16:creationId xmlns:a16="http://schemas.microsoft.com/office/drawing/2014/main" id="{4D1ACCFD-D55D-D846-F579-C310BE7B3C3D}"/>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38" name="Shape 0">
            <a:extLst>
              <a:ext uri="{FF2B5EF4-FFF2-40B4-BE49-F238E27FC236}">
                <a16:creationId xmlns:a16="http://schemas.microsoft.com/office/drawing/2014/main" id="{835364D5-B552-4788-9588-6E903BDEB676}"/>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39" name="Rectangle 38">
            <a:extLst>
              <a:ext uri="{FF2B5EF4-FFF2-40B4-BE49-F238E27FC236}">
                <a16:creationId xmlns:a16="http://schemas.microsoft.com/office/drawing/2014/main" id="{689B2944-4A7E-D517-D51B-28C5DE73F49D}"/>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40" name="Text 1">
            <a:extLst>
              <a:ext uri="{FF2B5EF4-FFF2-40B4-BE49-F238E27FC236}">
                <a16:creationId xmlns:a16="http://schemas.microsoft.com/office/drawing/2014/main" id="{2C569C7D-60CC-EB3E-DF72-908AEF9BE55F}"/>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1" name="Shape 0">
            <a:extLst>
              <a:ext uri="{FF2B5EF4-FFF2-40B4-BE49-F238E27FC236}">
                <a16:creationId xmlns:a16="http://schemas.microsoft.com/office/drawing/2014/main" id="{D1A656FB-BB9A-E926-207E-1C247A3105C4}"/>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 name="Text 2"/>
          <p:cNvSpPr/>
          <p:nvPr/>
        </p:nvSpPr>
        <p:spPr>
          <a:xfrm>
            <a:off x="7498080" y="292608"/>
            <a:ext cx="4160520" cy="219456"/>
          </a:xfrm>
          <a:prstGeom prst="rect">
            <a:avLst/>
          </a:prstGeom>
          <a:noFill/>
          <a:ln/>
        </p:spPr>
        <p:txBody>
          <a:bodyPr wrap="square" lIns="0" tIns="0" rIns="0" bIns="0" rtlCol="0" anchor="ctr"/>
          <a:lstStyle/>
          <a:p>
            <a:pPr marL="0" indent="0" algn="r">
              <a:buNone/>
            </a:pPr>
            <a:r>
              <a:rPr lang="en-US" sz="1050" dirty="0">
                <a:solidFill>
                  <a:schemeClr val="bg1"/>
                </a:solidFill>
                <a:latin typeface="Arial" pitchFamily="34" charset="0"/>
                <a:ea typeface="Arial" pitchFamily="34" charset="-122"/>
                <a:cs typeface="Arial" pitchFamily="34" charset="-120"/>
              </a:rPr>
              <a:t>DEMAND</a:t>
            </a:r>
            <a:endParaRPr lang="en-US" sz="1050" dirty="0">
              <a:solidFill>
                <a:schemeClr val="bg1"/>
              </a:solidFill>
            </a:endParaRPr>
          </a:p>
        </p:txBody>
      </p:sp>
      <p:sp>
        <p:nvSpPr>
          <p:cNvPr id="5" name="Text 3"/>
          <p:cNvSpPr/>
          <p:nvPr/>
        </p:nvSpPr>
        <p:spPr>
          <a:xfrm>
            <a:off x="502920" y="914400"/>
            <a:ext cx="11183112" cy="621792"/>
          </a:xfrm>
          <a:prstGeom prst="rect">
            <a:avLst/>
          </a:prstGeom>
          <a:noFill/>
          <a:ln/>
        </p:spPr>
        <p:txBody>
          <a:bodyPr wrap="square" lIns="0" tIns="0" rIns="0" bIns="0" rtlCol="0" anchor="ctr"/>
          <a:lstStyle/>
          <a:p>
            <a:r>
              <a:rPr lang="en-US" sz="2800" b="1" dirty="0">
                <a:solidFill>
                  <a:schemeClr val="bg1"/>
                </a:solidFill>
                <a:latin typeface="Arial" pitchFamily="34" charset="0"/>
                <a:ea typeface="Arial" pitchFamily="34" charset="-122"/>
                <a:cs typeface="Arial" pitchFamily="34" charset="-120"/>
              </a:rPr>
              <a:t>Demand is proven with NVIDIA Edge revenue.</a:t>
            </a:r>
            <a:endParaRPr lang="en-US" sz="2800" dirty="0">
              <a:solidFill>
                <a:schemeClr val="bg1"/>
              </a:solidFill>
            </a:endParaRPr>
          </a:p>
        </p:txBody>
      </p:sp>
      <p:sp>
        <p:nvSpPr>
          <p:cNvPr id="6" name="Text 4"/>
          <p:cNvSpPr/>
          <p:nvPr/>
        </p:nvSpPr>
        <p:spPr>
          <a:xfrm>
            <a:off x="502920" y="1591056"/>
            <a:ext cx="11109960" cy="329184"/>
          </a:xfrm>
          <a:prstGeom prst="rect">
            <a:avLst/>
          </a:prstGeom>
          <a:noFill/>
          <a:ln/>
        </p:spPr>
        <p:txBody>
          <a:bodyPr wrap="square" lIns="0" tIns="0" rIns="0" bIns="0" rtlCol="0" anchor="ctr"/>
          <a:lstStyle/>
          <a:p>
            <a:pPr marL="0" indent="0">
              <a:buNone/>
            </a:pPr>
            <a:r>
              <a:rPr lang="en-US" sz="1370" dirty="0">
                <a:solidFill>
                  <a:schemeClr val="bg1"/>
                </a:solidFill>
                <a:latin typeface="Arial" pitchFamily="34" charset="0"/>
                <a:ea typeface="Arial" pitchFamily="34" charset="-122"/>
                <a:cs typeface="Arial" pitchFamily="34" charset="-120"/>
              </a:rPr>
              <a:t>Q2 FY2027 • quarter ended 26 July 2026 • market-platform reporting, USD billions.</a:t>
            </a:r>
            <a:endParaRPr lang="en-US" sz="1370" dirty="0">
              <a:solidFill>
                <a:schemeClr val="bg1"/>
              </a:solidFill>
            </a:endParaRPr>
          </a:p>
        </p:txBody>
      </p:sp>
      <p:sp>
        <p:nvSpPr>
          <p:cNvPr id="7" name="Shape 5"/>
          <p:cNvSpPr/>
          <p:nvPr/>
        </p:nvSpPr>
        <p:spPr>
          <a:xfrm>
            <a:off x="502920" y="6035040"/>
            <a:ext cx="11183112" cy="365760"/>
          </a:xfrm>
          <a:prstGeom prst="rect">
            <a:avLst/>
          </a:prstGeom>
          <a:solidFill>
            <a:srgbClr val="FCECF0"/>
          </a:solidFill>
          <a:ln w="12700">
            <a:solidFill>
              <a:srgbClr val="FCECF0"/>
            </a:solidFill>
            <a:prstDash val="solid"/>
          </a:ln>
        </p:spPr>
        <p:txBody>
          <a:bodyPr/>
          <a:lstStyle/>
          <a:p>
            <a:endParaRPr lang="en-US"/>
          </a:p>
        </p:txBody>
      </p:sp>
      <p:sp>
        <p:nvSpPr>
          <p:cNvPr id="8" name="Text 6"/>
          <p:cNvSpPr/>
          <p:nvPr/>
        </p:nvSpPr>
        <p:spPr>
          <a:xfrm>
            <a:off x="658368" y="6089904"/>
            <a:ext cx="10872216" cy="246888"/>
          </a:xfrm>
          <a:prstGeom prst="rect">
            <a:avLst/>
          </a:prstGeom>
          <a:noFill/>
          <a:ln/>
        </p:spPr>
        <p:txBody>
          <a:bodyPr wrap="square" lIns="0" tIns="0" rIns="0" bIns="0" rtlCol="0" anchor="ctr"/>
          <a:lstStyle/>
          <a:p>
            <a:pPr marL="0" indent="0">
              <a:buNone/>
            </a:pPr>
            <a:r>
              <a:rPr lang="en-US" sz="1250" b="1" dirty="0">
                <a:solidFill>
                  <a:srgbClr val="E31837"/>
                </a:solidFill>
                <a:latin typeface="Arial" pitchFamily="34" charset="0"/>
                <a:ea typeface="Arial" pitchFamily="34" charset="-122"/>
                <a:cs typeface="Arial" pitchFamily="34" charset="-120"/>
              </a:rPr>
              <a:t>Do not call all Edge Computing “enterprise edge AI”; do not allocate it using customer-logo counts.</a:t>
            </a:r>
            <a:endParaRPr lang="en-US" sz="125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p>
        </p:txBody>
      </p:sp>
      <p:sp>
        <p:nvSpPr>
          <p:cNvPr id="14" name="Shape 12"/>
          <p:cNvSpPr/>
          <p:nvPr/>
        </p:nvSpPr>
        <p:spPr>
          <a:xfrm>
            <a:off x="502920" y="2103120"/>
            <a:ext cx="3630168" cy="1170432"/>
          </a:xfrm>
          <a:prstGeom prst="rect">
            <a:avLst/>
          </a:prstGeom>
          <a:solidFill>
            <a:srgbClr val="E31737"/>
          </a:solidFill>
          <a:ln w="12700">
            <a:solidFill>
              <a:srgbClr val="F3F4F6"/>
            </a:solidFill>
            <a:prstDash val="solid"/>
          </a:ln>
        </p:spPr>
        <p:txBody>
          <a:bodyPr/>
          <a:lstStyle/>
          <a:p>
            <a:endParaRPr lang="en-US">
              <a:solidFill>
                <a:schemeClr val="bg1"/>
              </a:solidFill>
            </a:endParaRPr>
          </a:p>
        </p:txBody>
      </p:sp>
      <p:sp>
        <p:nvSpPr>
          <p:cNvPr id="15" name="Text 13"/>
          <p:cNvSpPr/>
          <p:nvPr/>
        </p:nvSpPr>
        <p:spPr>
          <a:xfrm>
            <a:off x="685800" y="2295144"/>
            <a:ext cx="3264408" cy="448056"/>
          </a:xfrm>
          <a:prstGeom prst="rect">
            <a:avLst/>
          </a:prstGeom>
          <a:noFill/>
          <a:ln/>
        </p:spPr>
        <p:txBody>
          <a:bodyPr wrap="square" lIns="0" tIns="0" rIns="0" bIns="0" rtlCol="0" anchor="ctr"/>
          <a:lstStyle/>
          <a:p>
            <a:pPr marL="0" indent="0">
              <a:buNone/>
            </a:pPr>
            <a:r>
              <a:rPr lang="en-US" sz="3300" b="1" dirty="0">
                <a:solidFill>
                  <a:schemeClr val="bg1"/>
                </a:solidFill>
                <a:latin typeface="Arial" pitchFamily="34" charset="0"/>
                <a:ea typeface="Arial" pitchFamily="34" charset="-122"/>
                <a:cs typeface="Arial" pitchFamily="34" charset="-120"/>
              </a:rPr>
              <a:t>$96.221B</a:t>
            </a:r>
            <a:endParaRPr lang="en-US" sz="3300" dirty="0">
              <a:solidFill>
                <a:schemeClr val="bg1"/>
              </a:solidFill>
            </a:endParaRPr>
          </a:p>
        </p:txBody>
      </p:sp>
      <p:sp>
        <p:nvSpPr>
          <p:cNvPr id="16" name="Text 14"/>
          <p:cNvSpPr/>
          <p:nvPr/>
        </p:nvSpPr>
        <p:spPr>
          <a:xfrm>
            <a:off x="685800" y="2834640"/>
            <a:ext cx="3264408" cy="228600"/>
          </a:xfrm>
          <a:prstGeom prst="rect">
            <a:avLst/>
          </a:prstGeom>
          <a:noFill/>
          <a:ln/>
        </p:spPr>
        <p:txBody>
          <a:bodyPr wrap="square" lIns="0" tIns="0" rIns="0" bIns="0" rtlCol="0" anchor="ctr"/>
          <a:lstStyle/>
          <a:p>
            <a:pPr marL="0" indent="0">
              <a:buNone/>
            </a:pPr>
            <a:r>
              <a:rPr lang="en-US" sz="1600" dirty="0">
                <a:solidFill>
                  <a:schemeClr val="bg1"/>
                </a:solidFill>
                <a:latin typeface="Arial" pitchFamily="34" charset="0"/>
                <a:ea typeface="Arial" pitchFamily="34" charset="-122"/>
                <a:cs typeface="Arial" pitchFamily="34" charset="-120"/>
              </a:rPr>
              <a:t>Total revenue</a:t>
            </a:r>
            <a:endParaRPr lang="en-US" sz="1600" dirty="0">
              <a:solidFill>
                <a:schemeClr val="bg1"/>
              </a:solidFill>
            </a:endParaRPr>
          </a:p>
        </p:txBody>
      </p:sp>
      <p:sp>
        <p:nvSpPr>
          <p:cNvPr id="17" name="Shape 15"/>
          <p:cNvSpPr/>
          <p:nvPr/>
        </p:nvSpPr>
        <p:spPr>
          <a:xfrm>
            <a:off x="4279392" y="2103120"/>
            <a:ext cx="3630168" cy="1170432"/>
          </a:xfrm>
          <a:prstGeom prst="rect">
            <a:avLst/>
          </a:prstGeom>
          <a:solidFill>
            <a:srgbClr val="E31737"/>
          </a:solidFill>
          <a:ln w="12700">
            <a:solidFill>
              <a:srgbClr val="F3F4F6"/>
            </a:solidFill>
            <a:prstDash val="solid"/>
          </a:ln>
        </p:spPr>
        <p:txBody>
          <a:bodyPr/>
          <a:lstStyle/>
          <a:p>
            <a:endParaRPr lang="en-US">
              <a:solidFill>
                <a:schemeClr val="bg1"/>
              </a:solidFill>
            </a:endParaRPr>
          </a:p>
        </p:txBody>
      </p:sp>
      <p:sp>
        <p:nvSpPr>
          <p:cNvPr id="18" name="Text 16"/>
          <p:cNvSpPr/>
          <p:nvPr/>
        </p:nvSpPr>
        <p:spPr>
          <a:xfrm>
            <a:off x="4462272" y="2295144"/>
            <a:ext cx="3264408" cy="448056"/>
          </a:xfrm>
          <a:prstGeom prst="rect">
            <a:avLst/>
          </a:prstGeom>
          <a:noFill/>
          <a:ln/>
        </p:spPr>
        <p:txBody>
          <a:bodyPr wrap="square" lIns="0" tIns="0" rIns="0" bIns="0" rtlCol="0" anchor="ctr"/>
          <a:lstStyle/>
          <a:p>
            <a:pPr marL="0" indent="0">
              <a:buNone/>
            </a:pPr>
            <a:r>
              <a:rPr lang="en-US" sz="3300" b="1" dirty="0">
                <a:solidFill>
                  <a:schemeClr val="bg1"/>
                </a:solidFill>
                <a:latin typeface="Arial" pitchFamily="34" charset="0"/>
                <a:ea typeface="Arial" pitchFamily="34" charset="-122"/>
                <a:cs typeface="Arial" pitchFamily="34" charset="-120"/>
              </a:rPr>
              <a:t>$89.023B</a:t>
            </a:r>
            <a:endParaRPr lang="en-US" sz="3300" dirty="0">
              <a:solidFill>
                <a:schemeClr val="bg1"/>
              </a:solidFill>
            </a:endParaRPr>
          </a:p>
        </p:txBody>
      </p:sp>
      <p:sp>
        <p:nvSpPr>
          <p:cNvPr id="19" name="Text 17"/>
          <p:cNvSpPr/>
          <p:nvPr/>
        </p:nvSpPr>
        <p:spPr>
          <a:xfrm>
            <a:off x="4462272" y="2834640"/>
            <a:ext cx="3264408" cy="228600"/>
          </a:xfrm>
          <a:prstGeom prst="rect">
            <a:avLst/>
          </a:prstGeom>
          <a:noFill/>
          <a:ln/>
        </p:spPr>
        <p:txBody>
          <a:bodyPr wrap="square" lIns="0" tIns="0" rIns="0" bIns="0" rtlCol="0" anchor="ctr"/>
          <a:lstStyle/>
          <a:p>
            <a:pPr marL="0" indent="0">
              <a:buNone/>
            </a:pPr>
            <a:r>
              <a:rPr lang="en-US" sz="1600" dirty="0">
                <a:solidFill>
                  <a:schemeClr val="bg1"/>
                </a:solidFill>
                <a:latin typeface="Arial" pitchFamily="34" charset="0"/>
                <a:ea typeface="Arial" pitchFamily="34" charset="-122"/>
                <a:cs typeface="Arial" pitchFamily="34" charset="-120"/>
              </a:rPr>
              <a:t>Data Center</a:t>
            </a:r>
            <a:endParaRPr lang="en-US" sz="1600" dirty="0">
              <a:solidFill>
                <a:schemeClr val="bg1"/>
              </a:solidFill>
            </a:endParaRPr>
          </a:p>
        </p:txBody>
      </p:sp>
      <p:sp>
        <p:nvSpPr>
          <p:cNvPr id="20" name="Shape 18"/>
          <p:cNvSpPr/>
          <p:nvPr/>
        </p:nvSpPr>
        <p:spPr>
          <a:xfrm>
            <a:off x="8055864" y="2103120"/>
            <a:ext cx="3630168" cy="1170432"/>
          </a:xfrm>
          <a:prstGeom prst="rect">
            <a:avLst/>
          </a:prstGeom>
          <a:solidFill>
            <a:srgbClr val="E31737"/>
          </a:solidFill>
          <a:ln w="12700">
            <a:solidFill>
              <a:srgbClr val="E31837"/>
            </a:solidFill>
            <a:prstDash val="solid"/>
          </a:ln>
        </p:spPr>
        <p:txBody>
          <a:bodyPr/>
          <a:lstStyle/>
          <a:p>
            <a:endParaRPr lang="en-US">
              <a:solidFill>
                <a:schemeClr val="bg1"/>
              </a:solidFill>
            </a:endParaRPr>
          </a:p>
        </p:txBody>
      </p:sp>
      <p:sp>
        <p:nvSpPr>
          <p:cNvPr id="21" name="Text 19"/>
          <p:cNvSpPr/>
          <p:nvPr/>
        </p:nvSpPr>
        <p:spPr>
          <a:xfrm>
            <a:off x="8238744" y="2295144"/>
            <a:ext cx="3264408" cy="448056"/>
          </a:xfrm>
          <a:prstGeom prst="rect">
            <a:avLst/>
          </a:prstGeom>
          <a:noFill/>
          <a:ln/>
        </p:spPr>
        <p:txBody>
          <a:bodyPr wrap="square" lIns="0" tIns="0" rIns="0" bIns="0" rtlCol="0" anchor="ctr"/>
          <a:lstStyle/>
          <a:p>
            <a:pPr marL="0" indent="0">
              <a:buNone/>
            </a:pPr>
            <a:r>
              <a:rPr lang="en-US" sz="3300" b="1" dirty="0">
                <a:solidFill>
                  <a:schemeClr val="bg1"/>
                </a:solidFill>
                <a:latin typeface="Arial" pitchFamily="34" charset="0"/>
                <a:ea typeface="Arial" pitchFamily="34" charset="-122"/>
                <a:cs typeface="Arial" pitchFamily="34" charset="-120"/>
              </a:rPr>
              <a:t>$7.198B</a:t>
            </a:r>
            <a:endParaRPr lang="en-US" sz="3300" dirty="0">
              <a:solidFill>
                <a:schemeClr val="bg1"/>
              </a:solidFill>
            </a:endParaRPr>
          </a:p>
        </p:txBody>
      </p:sp>
      <p:sp>
        <p:nvSpPr>
          <p:cNvPr id="22" name="Text 20"/>
          <p:cNvSpPr/>
          <p:nvPr/>
        </p:nvSpPr>
        <p:spPr>
          <a:xfrm>
            <a:off x="8238744" y="2834640"/>
            <a:ext cx="3264408" cy="228600"/>
          </a:xfrm>
          <a:prstGeom prst="rect">
            <a:avLst/>
          </a:prstGeom>
          <a:noFill/>
          <a:ln/>
        </p:spPr>
        <p:txBody>
          <a:bodyPr wrap="square" lIns="0" tIns="0" rIns="0" bIns="0" rtlCol="0" anchor="ctr"/>
          <a:lstStyle/>
          <a:p>
            <a:pPr marL="0" indent="0">
              <a:buNone/>
            </a:pPr>
            <a:r>
              <a:rPr lang="en-US" sz="1600" dirty="0">
                <a:solidFill>
                  <a:schemeClr val="bg1"/>
                </a:solidFill>
                <a:latin typeface="Arial" pitchFamily="34" charset="0"/>
                <a:ea typeface="Arial" pitchFamily="34" charset="-122"/>
                <a:cs typeface="Arial" pitchFamily="34" charset="-120"/>
              </a:rPr>
              <a:t>Edge Computing</a:t>
            </a:r>
            <a:endParaRPr lang="en-US" sz="1600" dirty="0">
              <a:solidFill>
                <a:schemeClr val="bg1"/>
              </a:solidFill>
            </a:endParaRPr>
          </a:p>
        </p:txBody>
      </p:sp>
      <p:sp>
        <p:nvSpPr>
          <p:cNvPr id="23" name="Text 21"/>
          <p:cNvSpPr/>
          <p:nvPr/>
        </p:nvSpPr>
        <p:spPr>
          <a:xfrm>
            <a:off x="548640" y="3557016"/>
            <a:ext cx="6400800" cy="292608"/>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Edge = 7.48% of total (calculated)</a:t>
            </a:r>
            <a:endParaRPr lang="en-US" sz="2000" dirty="0">
              <a:solidFill>
                <a:schemeClr val="bg1"/>
              </a:solidFill>
            </a:endParaRPr>
          </a:p>
        </p:txBody>
      </p:sp>
      <p:sp>
        <p:nvSpPr>
          <p:cNvPr id="24" name="Shape 22"/>
          <p:cNvSpPr/>
          <p:nvPr/>
        </p:nvSpPr>
        <p:spPr>
          <a:xfrm>
            <a:off x="548640" y="3986784"/>
            <a:ext cx="6437376" cy="457200"/>
          </a:xfrm>
          <a:prstGeom prst="rect">
            <a:avLst/>
          </a:prstGeom>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25" name="Shape 23"/>
          <p:cNvSpPr/>
          <p:nvPr/>
        </p:nvSpPr>
        <p:spPr>
          <a:xfrm>
            <a:off x="6504456" y="3986784"/>
            <a:ext cx="481560" cy="457200"/>
          </a:xfrm>
          <a:prstGeom prst="rect">
            <a:avLst/>
          </a:prstGeom>
          <a:solidFill>
            <a:srgbClr val="E31837"/>
          </a:solidFill>
          <a:ln w="12700">
            <a:solidFill>
              <a:schemeClr val="bg1"/>
            </a:solidFill>
            <a:prstDash val="solid"/>
          </a:ln>
        </p:spPr>
        <p:txBody>
          <a:bodyPr/>
          <a:lstStyle/>
          <a:p>
            <a:endParaRPr lang="en-US">
              <a:solidFill>
                <a:schemeClr val="bg1"/>
              </a:solidFill>
            </a:endParaRPr>
          </a:p>
        </p:txBody>
      </p:sp>
      <p:sp>
        <p:nvSpPr>
          <p:cNvPr id="26" name="Text 24"/>
          <p:cNvSpPr/>
          <p:nvPr/>
        </p:nvSpPr>
        <p:spPr>
          <a:xfrm>
            <a:off x="548640" y="4544568"/>
            <a:ext cx="3657600" cy="274320"/>
          </a:xfrm>
          <a:prstGeom prst="rect">
            <a:avLst/>
          </a:prstGeom>
          <a:noFill/>
          <a:ln/>
        </p:spPr>
        <p:txBody>
          <a:bodyPr wrap="square" lIns="0" tIns="0" rIns="0" bIns="0" rtlCol="0" anchor="ctr"/>
          <a:lstStyle/>
          <a:p>
            <a:pPr marL="0" indent="0">
              <a:buNone/>
            </a:pPr>
            <a:r>
              <a:rPr lang="en-US" sz="1400" dirty="0">
                <a:solidFill>
                  <a:schemeClr val="bg1"/>
                </a:solidFill>
                <a:latin typeface="Arial" pitchFamily="34" charset="0"/>
                <a:ea typeface="Arial" pitchFamily="34" charset="-122"/>
                <a:cs typeface="Arial" pitchFamily="34" charset="-120"/>
              </a:rPr>
              <a:t>Data Center</a:t>
            </a:r>
            <a:endParaRPr lang="en-US" sz="1400" dirty="0">
              <a:solidFill>
                <a:schemeClr val="bg1"/>
              </a:solidFill>
            </a:endParaRPr>
          </a:p>
        </p:txBody>
      </p:sp>
      <p:sp>
        <p:nvSpPr>
          <p:cNvPr id="27" name="Text 25"/>
          <p:cNvSpPr/>
          <p:nvPr/>
        </p:nvSpPr>
        <p:spPr>
          <a:xfrm>
            <a:off x="5897880" y="4562856"/>
            <a:ext cx="1097280" cy="274320"/>
          </a:xfrm>
          <a:prstGeom prst="rect">
            <a:avLst/>
          </a:prstGeom>
          <a:noFill/>
          <a:ln/>
        </p:spPr>
        <p:txBody>
          <a:bodyPr wrap="square" lIns="0" tIns="0" rIns="0" bIns="0" rtlCol="0" anchor="ctr"/>
          <a:lstStyle/>
          <a:p>
            <a:pPr marL="0" indent="0" algn="r">
              <a:buNone/>
            </a:pPr>
            <a:r>
              <a:rPr lang="en-US" sz="1400" b="1" dirty="0">
                <a:solidFill>
                  <a:schemeClr val="bg1"/>
                </a:solidFill>
                <a:latin typeface="Arial" pitchFamily="34" charset="0"/>
                <a:ea typeface="Arial" pitchFamily="34" charset="-122"/>
                <a:cs typeface="Arial" pitchFamily="34" charset="-120"/>
              </a:rPr>
              <a:t>Edge</a:t>
            </a:r>
            <a:endParaRPr lang="en-US" sz="1400" dirty="0">
              <a:solidFill>
                <a:schemeClr val="bg1"/>
              </a:solidFill>
            </a:endParaRPr>
          </a:p>
        </p:txBody>
      </p:sp>
      <p:sp>
        <p:nvSpPr>
          <p:cNvPr id="28" name="Shape 26"/>
          <p:cNvSpPr/>
          <p:nvPr/>
        </p:nvSpPr>
        <p:spPr>
          <a:xfrm>
            <a:off x="7351776" y="3584448"/>
            <a:ext cx="4334256" cy="2020824"/>
          </a:xfrm>
          <a:prstGeom prst="rect">
            <a:avLst/>
          </a:prstGeom>
          <a:solidFill>
            <a:srgbClr val="E31737"/>
          </a:solidFill>
          <a:ln w="12700">
            <a:solidFill>
              <a:srgbClr val="F3F4F6"/>
            </a:solidFill>
            <a:prstDash val="solid"/>
          </a:ln>
        </p:spPr>
        <p:txBody>
          <a:bodyPr/>
          <a:lstStyle/>
          <a:p>
            <a:endParaRPr lang="en-US">
              <a:solidFill>
                <a:schemeClr val="bg1"/>
              </a:solidFill>
            </a:endParaRPr>
          </a:p>
        </p:txBody>
      </p:sp>
      <p:sp>
        <p:nvSpPr>
          <p:cNvPr id="29" name="Text 27"/>
          <p:cNvSpPr/>
          <p:nvPr/>
        </p:nvSpPr>
        <p:spPr>
          <a:xfrm>
            <a:off x="7543800" y="3749040"/>
            <a:ext cx="3904488" cy="237744"/>
          </a:xfrm>
          <a:prstGeom prst="rect">
            <a:avLst/>
          </a:prstGeom>
          <a:no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NOT DISCLOSED</a:t>
            </a:r>
            <a:endParaRPr lang="en-US" sz="1300" dirty="0">
              <a:solidFill>
                <a:schemeClr val="bg1"/>
              </a:solidFill>
            </a:endParaRPr>
          </a:p>
        </p:txBody>
      </p:sp>
      <p:sp>
        <p:nvSpPr>
          <p:cNvPr id="30" name="Text 28"/>
          <p:cNvSpPr/>
          <p:nvPr/>
        </p:nvSpPr>
        <p:spPr>
          <a:xfrm>
            <a:off x="7543800" y="4206240"/>
            <a:ext cx="3904488" cy="1106424"/>
          </a:xfrm>
          <a:prstGeom prst="rect">
            <a:avLst/>
          </a:prstGeom>
          <a:noFill/>
          <a:ln/>
        </p:spPr>
        <p:txBody>
          <a:bodyPr wrap="square" lIns="0" tIns="0" rIns="0" bIns="0" rtlCol="0" anchor="ctr"/>
          <a:lstStyle/>
          <a:p>
            <a:pPr marL="0" indent="0">
              <a:buNone/>
            </a:pPr>
            <a:r>
              <a:rPr lang="en-US" sz="1700" dirty="0">
                <a:solidFill>
                  <a:schemeClr val="bg1"/>
                </a:solidFill>
                <a:latin typeface="Arial" pitchFamily="34" charset="0"/>
                <a:ea typeface="Arial" pitchFamily="34" charset="-122"/>
                <a:cs typeface="Arial" pitchFamily="34" charset="-120"/>
              </a:rPr>
              <a:t>Banking / insurance / energy / retail shares</a:t>
            </a:r>
            <a:endParaRPr lang="en-US" sz="1700" dirty="0">
              <a:solidFill>
                <a:schemeClr val="bg1"/>
              </a:solidFill>
            </a:endParaRPr>
          </a:p>
          <a:p>
            <a:pPr marL="0" indent="0">
              <a:buNone/>
            </a:pPr>
            <a:r>
              <a:rPr lang="en-US" sz="1700" dirty="0">
                <a:solidFill>
                  <a:schemeClr val="bg1"/>
                </a:solidFill>
                <a:latin typeface="Arial" pitchFamily="34" charset="0"/>
                <a:ea typeface="Arial" pitchFamily="34" charset="-122"/>
                <a:cs typeface="Arial" pitchFamily="34" charset="-120"/>
              </a:rPr>
              <a:t>Spark-only or RTX AI-workstation-only sales</a:t>
            </a:r>
            <a:endParaRPr lang="en-US" sz="1700" dirty="0">
              <a:solidFill>
                <a:schemeClr val="bg1"/>
              </a:solidFill>
            </a:endParaRPr>
          </a:p>
          <a:p>
            <a:pPr marL="0" indent="0">
              <a:buNone/>
            </a:pPr>
            <a:r>
              <a:rPr lang="en-US" sz="1700" dirty="0">
                <a:solidFill>
                  <a:schemeClr val="bg1"/>
                </a:solidFill>
                <a:latin typeface="Arial" pitchFamily="34" charset="0"/>
                <a:ea typeface="Arial" pitchFamily="34" charset="-122"/>
                <a:cs typeface="Arial" pitchFamily="34" charset="-120"/>
              </a:rPr>
              <a:t>Revenue attributable to named customers</a:t>
            </a:r>
            <a:endParaRPr lang="en-US" sz="1700" dirty="0">
              <a:solidFill>
                <a:schemeClr val="bg1"/>
              </a:solidFill>
            </a:endParaRPr>
          </a:p>
        </p:txBody>
      </p:sp>
      <p:sp>
        <p:nvSpPr>
          <p:cNvPr id="31" name="Text 29"/>
          <p:cNvSpPr/>
          <p:nvPr/>
        </p:nvSpPr>
        <p:spPr>
          <a:xfrm>
            <a:off x="548640" y="5138928"/>
            <a:ext cx="6400800" cy="548640"/>
          </a:xfrm>
          <a:prstGeom prst="rect">
            <a:avLst/>
          </a:prstGeom>
          <a:noFill/>
          <a:ln/>
        </p:spPr>
        <p:txBody>
          <a:bodyPr wrap="square" lIns="0" tIns="0" rIns="0" bIns="0" rtlCol="0" anchor="ctr"/>
          <a:lstStyle/>
          <a:p>
            <a:pPr marL="0" indent="0">
              <a:buNone/>
            </a:pPr>
            <a:r>
              <a:rPr lang="en-US" sz="1500" dirty="0">
                <a:solidFill>
                  <a:schemeClr val="bg1"/>
                </a:solidFill>
                <a:latin typeface="Arial" pitchFamily="34" charset="0"/>
                <a:ea typeface="Arial" pitchFamily="34" charset="-122"/>
                <a:cs typeface="Arial" pitchFamily="34" charset="-120"/>
              </a:rPr>
              <a:t>The filing links Edge growth to Blackwell workstations and notes consumer-PC price pressure.</a:t>
            </a:r>
            <a:endParaRPr lang="en-US" sz="1500" dirty="0">
              <a:solidFill>
                <a:schemeClr val="bg1"/>
              </a:solidFill>
            </a:endParaRPr>
          </a:p>
        </p:txBody>
      </p:sp>
      <p:sp>
        <p:nvSpPr>
          <p:cNvPr id="42" name="Text 11">
            <a:extLst>
              <a:ext uri="{FF2B5EF4-FFF2-40B4-BE49-F238E27FC236}">
                <a16:creationId xmlns:a16="http://schemas.microsoft.com/office/drawing/2014/main" id="{5E0E52FA-B3B3-F4FF-2C5E-5081611C2535}"/>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03</a:t>
            </a:r>
            <a:endParaRPr lang="en-US" sz="92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mage 0" descr="/mnt/data/atmos_exec_v3/assets/cover.png">
            <a:extLst>
              <a:ext uri="{FF2B5EF4-FFF2-40B4-BE49-F238E27FC236}">
                <a16:creationId xmlns:a16="http://schemas.microsoft.com/office/drawing/2014/main" id="{EC1512EA-2E87-8447-EB80-CF703C02289E}"/>
              </a:ext>
            </a:extLst>
          </p:cNvPr>
          <p:cNvPicPr>
            <a:picLocks noChangeAspect="1"/>
          </p:cNvPicPr>
          <p:nvPr/>
        </p:nvPicPr>
        <p:blipFill>
          <a:blip r:embed="rId3"/>
          <a:stretch>
            <a:fillRect/>
          </a:stretch>
        </p:blipFill>
        <p:spPr>
          <a:xfrm>
            <a:off x="45666" y="192024"/>
            <a:ext cx="12100667" cy="6858000"/>
          </a:xfrm>
          <a:prstGeom prst="rect">
            <a:avLst/>
          </a:prstGeom>
        </p:spPr>
      </p:pic>
      <p:sp>
        <p:nvSpPr>
          <p:cNvPr id="35" name="Shape 0">
            <a:extLst>
              <a:ext uri="{FF2B5EF4-FFF2-40B4-BE49-F238E27FC236}">
                <a16:creationId xmlns:a16="http://schemas.microsoft.com/office/drawing/2014/main" id="{223D4251-55C4-0674-D5EA-480CAD48B518}"/>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36" name="Shape 0">
            <a:extLst>
              <a:ext uri="{FF2B5EF4-FFF2-40B4-BE49-F238E27FC236}">
                <a16:creationId xmlns:a16="http://schemas.microsoft.com/office/drawing/2014/main" id="{D2284529-031C-237F-E272-16C3B47776E7}"/>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37" name="Shape 0">
            <a:extLst>
              <a:ext uri="{FF2B5EF4-FFF2-40B4-BE49-F238E27FC236}">
                <a16:creationId xmlns:a16="http://schemas.microsoft.com/office/drawing/2014/main" id="{BA33F6B2-D415-BCA0-C74D-E167EC0DB5FB}"/>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38" name="Rectangle 37">
            <a:extLst>
              <a:ext uri="{FF2B5EF4-FFF2-40B4-BE49-F238E27FC236}">
                <a16:creationId xmlns:a16="http://schemas.microsoft.com/office/drawing/2014/main" id="{72DE90C2-5E96-DDB9-B092-C1B41C9AD568}"/>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39" name="Text 1">
            <a:extLst>
              <a:ext uri="{FF2B5EF4-FFF2-40B4-BE49-F238E27FC236}">
                <a16:creationId xmlns:a16="http://schemas.microsoft.com/office/drawing/2014/main" id="{1DBB35EB-FA71-D7D0-692F-3296559B1CEC}"/>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0" name="Shape 0">
            <a:extLst>
              <a:ext uri="{FF2B5EF4-FFF2-40B4-BE49-F238E27FC236}">
                <a16:creationId xmlns:a16="http://schemas.microsoft.com/office/drawing/2014/main" id="{C2295D42-293C-4757-40E3-45B60F8E820A}"/>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 name="Text 2"/>
          <p:cNvSpPr/>
          <p:nvPr/>
        </p:nvSpPr>
        <p:spPr>
          <a:xfrm>
            <a:off x="7498080" y="292608"/>
            <a:ext cx="4160520" cy="219456"/>
          </a:xfrm>
          <a:prstGeom prst="rect">
            <a:avLst/>
          </a:prstGeom>
          <a:noFill/>
          <a:ln/>
        </p:spPr>
        <p:txBody>
          <a:bodyPr wrap="square" lIns="0" tIns="0" rIns="0" bIns="0" rtlCol="0" anchor="ctr"/>
          <a:lstStyle/>
          <a:p>
            <a:pPr marL="0" indent="0" algn="r">
              <a:buNone/>
            </a:pPr>
            <a:r>
              <a:rPr lang="en-US" sz="1050" dirty="0">
                <a:solidFill>
                  <a:schemeClr val="bg1"/>
                </a:solidFill>
                <a:latin typeface="Arial" pitchFamily="34" charset="0"/>
                <a:ea typeface="Arial" pitchFamily="34" charset="-122"/>
                <a:cs typeface="Arial" pitchFamily="34" charset="-120"/>
              </a:rPr>
              <a:t>COMPETITIVE GAP MAP</a:t>
            </a:r>
            <a:endParaRPr lang="en-US" sz="1050" dirty="0">
              <a:solidFill>
                <a:schemeClr val="bg1"/>
              </a:solidFill>
            </a:endParaRPr>
          </a:p>
        </p:txBody>
      </p:sp>
      <p:sp>
        <p:nvSpPr>
          <p:cNvPr id="5" name="Text 3"/>
          <p:cNvSpPr/>
          <p:nvPr/>
        </p:nvSpPr>
        <p:spPr>
          <a:xfrm>
            <a:off x="502920" y="914400"/>
            <a:ext cx="11183112" cy="621792"/>
          </a:xfrm>
          <a:prstGeom prst="rect">
            <a:avLst/>
          </a:prstGeom>
          <a:noFill/>
          <a:ln/>
        </p:spPr>
        <p:txBody>
          <a:bodyPr wrap="square" lIns="0" tIns="0" rIns="0" bIns="0" rtlCol="0" anchor="ctr"/>
          <a:lstStyle/>
          <a:p>
            <a:pPr marL="0" indent="0">
              <a:buNone/>
            </a:pPr>
            <a:r>
              <a:rPr lang="en-US" sz="2800" b="1" dirty="0">
                <a:solidFill>
                  <a:schemeClr val="bg1"/>
                </a:solidFill>
                <a:latin typeface="Arial" pitchFamily="34" charset="0"/>
                <a:ea typeface="Arial" pitchFamily="34" charset="-122"/>
                <a:cs typeface="Arial" pitchFamily="34" charset="-120"/>
              </a:rPr>
              <a:t>The opportunity: capacity economics inside a managed service.</a:t>
            </a:r>
            <a:endParaRPr lang="en-US" sz="2800" dirty="0">
              <a:solidFill>
                <a:schemeClr val="bg1"/>
              </a:solidFill>
            </a:endParaRPr>
          </a:p>
        </p:txBody>
      </p:sp>
      <p:sp>
        <p:nvSpPr>
          <p:cNvPr id="6" name="Text 4"/>
          <p:cNvSpPr/>
          <p:nvPr/>
        </p:nvSpPr>
        <p:spPr>
          <a:xfrm>
            <a:off x="502920" y="1591056"/>
            <a:ext cx="11109960" cy="329184"/>
          </a:xfrm>
          <a:prstGeom prst="rect">
            <a:avLst/>
          </a:prstGeom>
          <a:noFill/>
          <a:ln/>
        </p:spPr>
        <p:txBody>
          <a:bodyPr wrap="square" lIns="0" tIns="0" rIns="0" bIns="0" rtlCol="0" anchor="ctr"/>
          <a:lstStyle/>
          <a:p>
            <a:pPr marL="0" indent="0">
              <a:buNone/>
            </a:pPr>
            <a:r>
              <a:rPr lang="en-US" sz="1370" dirty="0">
                <a:solidFill>
                  <a:schemeClr val="bg1"/>
                </a:solidFill>
                <a:latin typeface="Arial" pitchFamily="34" charset="0"/>
                <a:ea typeface="Arial" pitchFamily="34" charset="-122"/>
                <a:cs typeface="Arial" pitchFamily="34" charset="-120"/>
              </a:rPr>
              <a:t>An occupied market: privacy, local models, high memory and turnkey operations are already available.</a:t>
            </a:r>
            <a:endParaRPr lang="en-US" sz="1370" dirty="0">
              <a:solidFill>
                <a:schemeClr val="bg1"/>
              </a:solidFill>
            </a:endParaRPr>
          </a:p>
        </p:txBody>
      </p:sp>
      <p:sp>
        <p:nvSpPr>
          <p:cNvPr id="7" name="Shape 5"/>
          <p:cNvSpPr/>
          <p:nvPr/>
        </p:nvSpPr>
        <p:spPr>
          <a:xfrm>
            <a:off x="502920" y="6035040"/>
            <a:ext cx="11183112" cy="365760"/>
          </a:xfrm>
          <a:prstGeom prst="rect">
            <a:avLst/>
          </a:prstGeom>
          <a:solidFill>
            <a:srgbClr val="FCECF0"/>
          </a:solidFill>
          <a:ln w="12700">
            <a:solidFill>
              <a:srgbClr val="FCECF0"/>
            </a:solidFill>
            <a:prstDash val="solid"/>
          </a:ln>
        </p:spPr>
        <p:txBody>
          <a:bodyPr/>
          <a:lstStyle/>
          <a:p>
            <a:endParaRPr lang="en-US"/>
          </a:p>
        </p:txBody>
      </p:sp>
      <p:sp>
        <p:nvSpPr>
          <p:cNvPr id="8" name="Text 6"/>
          <p:cNvSpPr/>
          <p:nvPr/>
        </p:nvSpPr>
        <p:spPr>
          <a:xfrm>
            <a:off x="658368" y="6089904"/>
            <a:ext cx="10872216" cy="246888"/>
          </a:xfrm>
          <a:prstGeom prst="rect">
            <a:avLst/>
          </a:prstGeom>
          <a:noFill/>
          <a:ln/>
        </p:spPr>
        <p:txBody>
          <a:bodyPr wrap="square" lIns="0" tIns="0" rIns="0" bIns="0" rtlCol="0" anchor="ctr"/>
          <a:lstStyle/>
          <a:p>
            <a:pPr marL="0" indent="0">
              <a:buNone/>
            </a:pPr>
            <a:r>
              <a:rPr lang="en-US" sz="1250" b="1" dirty="0">
                <a:solidFill>
                  <a:srgbClr val="E31837"/>
                </a:solidFill>
                <a:latin typeface="Arial" pitchFamily="34" charset="0"/>
                <a:ea typeface="Arial" pitchFamily="34" charset="-122"/>
                <a:cs typeface="Arial" pitchFamily="34" charset="-120"/>
              </a:rPr>
              <a:t>Position ATMOS as a candidate for resident knowledge capacity—not as the fastest or only private-AI box.</a:t>
            </a:r>
            <a:endParaRPr lang="en-US" sz="125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p>
        </p:txBody>
      </p:sp>
      <p:sp>
        <p:nvSpPr>
          <p:cNvPr id="14" name="Shape 12"/>
          <p:cNvSpPr/>
          <p:nvPr/>
        </p:nvSpPr>
        <p:spPr>
          <a:xfrm>
            <a:off x="502920" y="2121408"/>
            <a:ext cx="3630168" cy="1920240"/>
          </a:xfrm>
          <a:prstGeom prst="rect">
            <a:avLst/>
          </a:prstGeom>
          <a:solidFill>
            <a:srgbClr val="E31737"/>
          </a:solidFill>
          <a:ln w="12700">
            <a:solidFill>
              <a:srgbClr val="F3F4F6"/>
            </a:solidFill>
            <a:prstDash val="solid"/>
          </a:ln>
        </p:spPr>
        <p:txBody>
          <a:bodyPr/>
          <a:lstStyle/>
          <a:p>
            <a:endParaRPr lang="en-US"/>
          </a:p>
        </p:txBody>
      </p:sp>
      <p:sp>
        <p:nvSpPr>
          <p:cNvPr id="15" name="Text 13"/>
          <p:cNvSpPr/>
          <p:nvPr/>
        </p:nvSpPr>
        <p:spPr>
          <a:xfrm>
            <a:off x="658368" y="2295144"/>
            <a:ext cx="3291840" cy="228600"/>
          </a:xfrm>
          <a:prstGeom prst="rect">
            <a:avLst/>
          </a:prstGeom>
          <a:noFill/>
          <a:ln/>
        </p:spPr>
        <p:txBody>
          <a:bodyPr wrap="square" lIns="0" tIns="0" rIns="0" bIns="0" rtlCol="0" anchor="ctr"/>
          <a:lstStyle/>
          <a:p>
            <a:pPr marL="0" indent="0">
              <a:buNone/>
            </a:pPr>
            <a:r>
              <a:rPr lang="en-US" sz="1200" b="1" dirty="0">
                <a:solidFill>
                  <a:schemeClr val="bg1"/>
                </a:solidFill>
                <a:latin typeface="Arial" pitchFamily="34" charset="0"/>
                <a:ea typeface="Arial" pitchFamily="34" charset="-122"/>
                <a:cs typeface="Arial" pitchFamily="34" charset="-120"/>
              </a:rPr>
              <a:t>LOCAL DEVELOPER</a:t>
            </a:r>
            <a:endParaRPr lang="en-US" sz="1200" dirty="0">
              <a:solidFill>
                <a:schemeClr val="bg1"/>
              </a:solidFill>
            </a:endParaRPr>
          </a:p>
        </p:txBody>
      </p:sp>
      <p:sp>
        <p:nvSpPr>
          <p:cNvPr id="16" name="Text 14"/>
          <p:cNvSpPr/>
          <p:nvPr/>
        </p:nvSpPr>
        <p:spPr>
          <a:xfrm>
            <a:off x="658368" y="2715768"/>
            <a:ext cx="3291840" cy="576072"/>
          </a:xfrm>
          <a:prstGeom prst="rect">
            <a:avLst/>
          </a:prstGeom>
          <a:noFill/>
          <a:ln/>
        </p:spPr>
        <p:txBody>
          <a:bodyPr wrap="square" lIns="0" tIns="0" rIns="0" bIns="0" rtlCol="0" anchor="ctr"/>
          <a:lstStyle/>
          <a:p>
            <a:pPr marL="0" indent="0">
              <a:buNone/>
            </a:pPr>
            <a:r>
              <a:rPr lang="en-US" sz="1900" b="1" dirty="0">
                <a:solidFill>
                  <a:schemeClr val="bg1"/>
                </a:solidFill>
                <a:latin typeface="Arial" pitchFamily="34" charset="0"/>
                <a:ea typeface="Arial" pitchFamily="34" charset="-122"/>
                <a:cs typeface="Arial" pitchFamily="34" charset="-120"/>
              </a:rPr>
              <a:t>DGX Spark / GB10</a:t>
            </a:r>
            <a:endParaRPr lang="en-US" sz="1900" dirty="0">
              <a:solidFill>
                <a:schemeClr val="bg1"/>
              </a:solidFill>
            </a:endParaRPr>
          </a:p>
          <a:p>
            <a:pPr marL="0" indent="0">
              <a:buNone/>
            </a:pPr>
            <a:r>
              <a:rPr lang="en-US" sz="1900" b="1" dirty="0">
                <a:solidFill>
                  <a:schemeClr val="bg1"/>
                </a:solidFill>
                <a:latin typeface="Arial" pitchFamily="34" charset="0"/>
                <a:ea typeface="Arial" pitchFamily="34" charset="-122"/>
                <a:cs typeface="Arial" pitchFamily="34" charset="-120"/>
              </a:rPr>
              <a:t>RTX workstations</a:t>
            </a:r>
            <a:endParaRPr lang="en-US" sz="1900" dirty="0">
              <a:solidFill>
                <a:schemeClr val="bg1"/>
              </a:solidFill>
            </a:endParaRPr>
          </a:p>
        </p:txBody>
      </p:sp>
      <p:sp>
        <p:nvSpPr>
          <p:cNvPr id="17" name="Text 15"/>
          <p:cNvSpPr/>
          <p:nvPr/>
        </p:nvSpPr>
        <p:spPr>
          <a:xfrm>
            <a:off x="658368" y="3392424"/>
            <a:ext cx="3291840" cy="493776"/>
          </a:xfrm>
          <a:prstGeom prst="rect">
            <a:avLst/>
          </a:prstGeom>
          <a:noFill/>
          <a:ln/>
        </p:spPr>
        <p:txBody>
          <a:bodyPr wrap="square" lIns="0" tIns="0" rIns="0" bIns="0" rtlCol="0" anchor="ctr"/>
          <a:lstStyle/>
          <a:p>
            <a:pPr marL="0" indent="0">
              <a:buNone/>
            </a:pPr>
            <a:r>
              <a:rPr lang="en-US" sz="1420" dirty="0">
                <a:solidFill>
                  <a:schemeClr val="bg1"/>
                </a:solidFill>
                <a:latin typeface="Arial" pitchFamily="34" charset="0"/>
                <a:ea typeface="Arial" pitchFamily="34" charset="-122"/>
                <a:cs typeface="Arial" pitchFamily="34" charset="-120"/>
              </a:rPr>
              <a:t>Fast iteration and broad GPU software.</a:t>
            </a:r>
            <a:endParaRPr lang="en-US" sz="1420" dirty="0">
              <a:solidFill>
                <a:schemeClr val="bg1"/>
              </a:solidFill>
            </a:endParaRPr>
          </a:p>
          <a:p>
            <a:pPr marL="0" indent="0">
              <a:buNone/>
            </a:pPr>
            <a:r>
              <a:rPr lang="en-US" sz="1420" dirty="0">
                <a:solidFill>
                  <a:schemeClr val="bg1"/>
                </a:solidFill>
                <a:latin typeface="Arial" pitchFamily="34" charset="0"/>
                <a:ea typeface="Arial" pitchFamily="34" charset="-122"/>
                <a:cs typeface="Arial" pitchFamily="34" charset="-120"/>
              </a:rPr>
              <a:t>A strong control for small, active models.</a:t>
            </a:r>
            <a:endParaRPr lang="en-US" sz="1420" dirty="0">
              <a:solidFill>
                <a:schemeClr val="bg1"/>
              </a:solidFill>
            </a:endParaRPr>
          </a:p>
        </p:txBody>
      </p:sp>
      <p:sp>
        <p:nvSpPr>
          <p:cNvPr id="18" name="Shape 16"/>
          <p:cNvSpPr/>
          <p:nvPr/>
        </p:nvSpPr>
        <p:spPr>
          <a:xfrm>
            <a:off x="4279392" y="2121408"/>
            <a:ext cx="3630168" cy="1920240"/>
          </a:xfrm>
          <a:prstGeom prst="rect">
            <a:avLst/>
          </a:prstGeom>
          <a:solidFill>
            <a:srgbClr val="E31737"/>
          </a:solidFill>
          <a:ln w="12700">
            <a:solidFill>
              <a:srgbClr val="F3F4F6"/>
            </a:solidFill>
            <a:prstDash val="solid"/>
          </a:ln>
        </p:spPr>
        <p:txBody>
          <a:bodyPr/>
          <a:lstStyle/>
          <a:p>
            <a:endParaRPr lang="en-US"/>
          </a:p>
        </p:txBody>
      </p:sp>
      <p:sp>
        <p:nvSpPr>
          <p:cNvPr id="19" name="Text 17"/>
          <p:cNvSpPr/>
          <p:nvPr/>
        </p:nvSpPr>
        <p:spPr>
          <a:xfrm>
            <a:off x="4434840" y="2295144"/>
            <a:ext cx="3291840" cy="228600"/>
          </a:xfrm>
          <a:prstGeom prst="rect">
            <a:avLst/>
          </a:prstGeom>
          <a:noFill/>
          <a:ln/>
        </p:spPr>
        <p:txBody>
          <a:bodyPr wrap="square" lIns="0" tIns="0" rIns="0" bIns="0" rtlCol="0" anchor="ctr"/>
          <a:lstStyle/>
          <a:p>
            <a:pPr marL="0" indent="0">
              <a:buNone/>
            </a:pPr>
            <a:r>
              <a:rPr lang="en-US" sz="1200" b="1" dirty="0">
                <a:solidFill>
                  <a:schemeClr val="bg1"/>
                </a:solidFill>
                <a:latin typeface="Arial" pitchFamily="34" charset="0"/>
                <a:ea typeface="Arial" pitchFamily="34" charset="-122"/>
                <a:cs typeface="Arial" pitchFamily="34" charset="-120"/>
              </a:rPr>
              <a:t>LARGE LOCAL COMPUTE</a:t>
            </a:r>
            <a:endParaRPr lang="en-US" sz="1200" dirty="0">
              <a:solidFill>
                <a:schemeClr val="bg1"/>
              </a:solidFill>
            </a:endParaRPr>
          </a:p>
        </p:txBody>
      </p:sp>
      <p:sp>
        <p:nvSpPr>
          <p:cNvPr id="20" name="Text 18"/>
          <p:cNvSpPr/>
          <p:nvPr/>
        </p:nvSpPr>
        <p:spPr>
          <a:xfrm>
            <a:off x="4434840" y="2715768"/>
            <a:ext cx="3291840" cy="576072"/>
          </a:xfrm>
          <a:prstGeom prst="rect">
            <a:avLst/>
          </a:prstGeom>
          <a:noFill/>
          <a:ln/>
        </p:spPr>
        <p:txBody>
          <a:bodyPr wrap="square" lIns="0" tIns="0" rIns="0" bIns="0" rtlCol="0" anchor="ctr"/>
          <a:lstStyle/>
          <a:p>
            <a:pPr marL="0" indent="0">
              <a:buNone/>
            </a:pPr>
            <a:r>
              <a:rPr lang="en-US" sz="1900" b="1" dirty="0">
                <a:solidFill>
                  <a:schemeClr val="bg1"/>
                </a:solidFill>
                <a:latin typeface="Arial" pitchFamily="34" charset="0"/>
                <a:ea typeface="Arial" pitchFamily="34" charset="-122"/>
                <a:cs typeface="Arial" pitchFamily="34" charset="-120"/>
              </a:rPr>
              <a:t>DGX Station</a:t>
            </a:r>
            <a:endParaRPr lang="en-US" sz="1900" dirty="0">
              <a:solidFill>
                <a:schemeClr val="bg1"/>
              </a:solidFill>
            </a:endParaRPr>
          </a:p>
          <a:p>
            <a:pPr marL="0" indent="0">
              <a:buNone/>
            </a:pPr>
            <a:r>
              <a:rPr lang="en-US" sz="1900" b="1" dirty="0">
                <a:solidFill>
                  <a:schemeClr val="bg1"/>
                </a:solidFill>
                <a:latin typeface="Arial" pitchFamily="34" charset="0"/>
                <a:ea typeface="Arial" pitchFamily="34" charset="-122"/>
                <a:cs typeface="Arial" pitchFamily="34" charset="-120"/>
              </a:rPr>
              <a:t>High-memory Mac Studio</a:t>
            </a:r>
            <a:endParaRPr lang="en-US" sz="1900" dirty="0">
              <a:solidFill>
                <a:schemeClr val="bg1"/>
              </a:solidFill>
            </a:endParaRPr>
          </a:p>
        </p:txBody>
      </p:sp>
      <p:sp>
        <p:nvSpPr>
          <p:cNvPr id="21" name="Text 19"/>
          <p:cNvSpPr/>
          <p:nvPr/>
        </p:nvSpPr>
        <p:spPr>
          <a:xfrm>
            <a:off x="4434840" y="3392424"/>
            <a:ext cx="3291840" cy="493776"/>
          </a:xfrm>
          <a:prstGeom prst="rect">
            <a:avLst/>
          </a:prstGeom>
          <a:noFill/>
          <a:ln/>
        </p:spPr>
        <p:txBody>
          <a:bodyPr wrap="square" lIns="0" tIns="0" rIns="0" bIns="0" rtlCol="0" anchor="ctr"/>
          <a:lstStyle/>
          <a:p>
            <a:pPr marL="0" indent="0">
              <a:buNone/>
            </a:pPr>
            <a:r>
              <a:rPr lang="en-US" sz="1420" dirty="0">
                <a:solidFill>
                  <a:schemeClr val="bg1"/>
                </a:solidFill>
                <a:latin typeface="Arial" pitchFamily="34" charset="0"/>
                <a:ea typeface="Arial" pitchFamily="34" charset="-122"/>
                <a:cs typeface="Arial" pitchFamily="34" charset="-120"/>
              </a:rPr>
              <a:t>Large working memory and local model capability.</a:t>
            </a:r>
            <a:endParaRPr lang="en-US" sz="1420" dirty="0">
              <a:solidFill>
                <a:schemeClr val="bg1"/>
              </a:solidFill>
            </a:endParaRPr>
          </a:p>
          <a:p>
            <a:pPr marL="0" indent="0">
              <a:buNone/>
            </a:pPr>
            <a:r>
              <a:rPr lang="en-US" sz="1420" dirty="0">
                <a:solidFill>
                  <a:schemeClr val="bg1"/>
                </a:solidFill>
                <a:latin typeface="Arial" pitchFamily="34" charset="0"/>
                <a:ea typeface="Arial" pitchFamily="34" charset="-122"/>
                <a:cs typeface="Arial" pitchFamily="34" charset="-120"/>
              </a:rPr>
              <a:t>Capacity is not an empty category.</a:t>
            </a:r>
            <a:endParaRPr lang="en-US" sz="1420" dirty="0">
              <a:solidFill>
                <a:schemeClr val="bg1"/>
              </a:solidFill>
            </a:endParaRPr>
          </a:p>
        </p:txBody>
      </p:sp>
      <p:sp>
        <p:nvSpPr>
          <p:cNvPr id="22" name="Shape 20"/>
          <p:cNvSpPr/>
          <p:nvPr/>
        </p:nvSpPr>
        <p:spPr>
          <a:xfrm>
            <a:off x="8055864" y="2121408"/>
            <a:ext cx="3630168" cy="1920240"/>
          </a:xfrm>
          <a:prstGeom prst="rect">
            <a:avLst/>
          </a:prstGeom>
          <a:solidFill>
            <a:srgbClr val="E31737"/>
          </a:solidFill>
          <a:ln w="12700">
            <a:solidFill>
              <a:srgbClr val="F3F4F6"/>
            </a:solidFill>
            <a:prstDash val="solid"/>
          </a:ln>
        </p:spPr>
        <p:txBody>
          <a:bodyPr/>
          <a:lstStyle/>
          <a:p>
            <a:endParaRPr lang="en-US"/>
          </a:p>
        </p:txBody>
      </p:sp>
      <p:sp>
        <p:nvSpPr>
          <p:cNvPr id="23" name="Text 21"/>
          <p:cNvSpPr/>
          <p:nvPr/>
        </p:nvSpPr>
        <p:spPr>
          <a:xfrm>
            <a:off x="8211312" y="2295144"/>
            <a:ext cx="3291840" cy="228600"/>
          </a:xfrm>
          <a:prstGeom prst="rect">
            <a:avLst/>
          </a:prstGeom>
          <a:noFill/>
          <a:ln/>
        </p:spPr>
        <p:txBody>
          <a:bodyPr wrap="square" lIns="0" tIns="0" rIns="0" bIns="0" rtlCol="0" anchor="ctr"/>
          <a:lstStyle/>
          <a:p>
            <a:pPr marL="0" indent="0">
              <a:buNone/>
            </a:pPr>
            <a:r>
              <a:rPr lang="en-US" sz="1200" b="1" dirty="0">
                <a:solidFill>
                  <a:schemeClr val="bg1"/>
                </a:solidFill>
                <a:latin typeface="Arial" pitchFamily="34" charset="0"/>
                <a:ea typeface="Arial" pitchFamily="34" charset="-122"/>
                <a:cs typeface="Arial" pitchFamily="34" charset="-120"/>
              </a:rPr>
              <a:t>MANAGED ENTERPRISE</a:t>
            </a:r>
            <a:endParaRPr lang="en-US" sz="1200" dirty="0">
              <a:solidFill>
                <a:schemeClr val="bg1"/>
              </a:solidFill>
            </a:endParaRPr>
          </a:p>
        </p:txBody>
      </p:sp>
      <p:sp>
        <p:nvSpPr>
          <p:cNvPr id="24" name="Text 22"/>
          <p:cNvSpPr/>
          <p:nvPr/>
        </p:nvSpPr>
        <p:spPr>
          <a:xfrm>
            <a:off x="8211312" y="2715768"/>
            <a:ext cx="3291840" cy="576072"/>
          </a:xfrm>
          <a:prstGeom prst="rect">
            <a:avLst/>
          </a:prstGeom>
          <a:noFill/>
          <a:ln/>
        </p:spPr>
        <p:txBody>
          <a:bodyPr wrap="square" lIns="0" tIns="0" rIns="0" bIns="0" rtlCol="0" anchor="ctr"/>
          <a:lstStyle/>
          <a:p>
            <a:pPr marL="0" indent="0">
              <a:buNone/>
            </a:pPr>
            <a:r>
              <a:rPr lang="en-US" sz="1900" b="1" dirty="0">
                <a:solidFill>
                  <a:schemeClr val="bg1"/>
                </a:solidFill>
                <a:latin typeface="Arial" pitchFamily="34" charset="0"/>
                <a:ea typeface="Arial" pitchFamily="34" charset="-122"/>
                <a:cs typeface="Arial" pitchFamily="34" charset="-120"/>
              </a:rPr>
              <a:t>HPE Private Cloud AI</a:t>
            </a:r>
            <a:endParaRPr lang="en-US" sz="1900" dirty="0">
              <a:solidFill>
                <a:schemeClr val="bg1"/>
              </a:solidFill>
            </a:endParaRPr>
          </a:p>
          <a:p>
            <a:pPr marL="0" indent="0">
              <a:buNone/>
            </a:pPr>
            <a:r>
              <a:rPr lang="en-US" sz="1900" b="1" dirty="0">
                <a:solidFill>
                  <a:schemeClr val="bg1"/>
                </a:solidFill>
                <a:latin typeface="Arial" pitchFamily="34" charset="0"/>
                <a:ea typeface="Arial" pitchFamily="34" charset="-122"/>
                <a:cs typeface="Arial" pitchFamily="34" charset="-120"/>
              </a:rPr>
              <a:t>Nutanix GPT-in-a-Box</a:t>
            </a:r>
            <a:endParaRPr lang="en-US" sz="1900" dirty="0">
              <a:solidFill>
                <a:schemeClr val="bg1"/>
              </a:solidFill>
            </a:endParaRPr>
          </a:p>
        </p:txBody>
      </p:sp>
      <p:sp>
        <p:nvSpPr>
          <p:cNvPr id="25" name="Text 23"/>
          <p:cNvSpPr/>
          <p:nvPr/>
        </p:nvSpPr>
        <p:spPr>
          <a:xfrm>
            <a:off x="8211312" y="3392424"/>
            <a:ext cx="3291840" cy="493776"/>
          </a:xfrm>
          <a:prstGeom prst="rect">
            <a:avLst/>
          </a:prstGeom>
          <a:noFill/>
          <a:ln/>
        </p:spPr>
        <p:txBody>
          <a:bodyPr wrap="square" lIns="0" tIns="0" rIns="0" bIns="0" rtlCol="0" anchor="ctr"/>
          <a:lstStyle/>
          <a:p>
            <a:pPr marL="0" indent="0">
              <a:buNone/>
            </a:pPr>
            <a:r>
              <a:rPr lang="en-US" sz="1420" dirty="0">
                <a:solidFill>
                  <a:schemeClr val="bg1"/>
                </a:solidFill>
                <a:latin typeface="Arial" pitchFamily="34" charset="0"/>
                <a:ea typeface="Arial" pitchFamily="34" charset="-122"/>
                <a:cs typeface="Arial" pitchFamily="34" charset="-120"/>
              </a:rPr>
              <a:t>Integrated operations, serving and lifecycle.</a:t>
            </a:r>
            <a:endParaRPr lang="en-US" sz="1420" dirty="0">
              <a:solidFill>
                <a:schemeClr val="bg1"/>
              </a:solidFill>
            </a:endParaRPr>
          </a:p>
          <a:p>
            <a:pPr marL="0" indent="0">
              <a:buNone/>
            </a:pPr>
            <a:r>
              <a:rPr lang="en-US" sz="1420" dirty="0">
                <a:solidFill>
                  <a:schemeClr val="bg1"/>
                </a:solidFill>
                <a:latin typeface="Arial" pitchFamily="34" charset="0"/>
                <a:ea typeface="Arial" pitchFamily="34" charset="-122"/>
                <a:cs typeface="Arial" pitchFamily="34" charset="-120"/>
              </a:rPr>
              <a:t>Turnkey is table stakes.</a:t>
            </a:r>
            <a:endParaRPr lang="en-US" sz="1420" dirty="0">
              <a:solidFill>
                <a:schemeClr val="bg1"/>
              </a:solidFill>
            </a:endParaRPr>
          </a:p>
        </p:txBody>
      </p:sp>
      <p:sp>
        <p:nvSpPr>
          <p:cNvPr id="26" name="Shape 24"/>
          <p:cNvSpPr/>
          <p:nvPr/>
        </p:nvSpPr>
        <p:spPr>
          <a:xfrm>
            <a:off x="2295144" y="4096512"/>
            <a:ext cx="0" cy="274320"/>
          </a:xfrm>
          <a:prstGeom prst="line">
            <a:avLst/>
          </a:prstGeom>
          <a:noFill/>
          <a:ln w="12700">
            <a:solidFill>
              <a:srgbClr val="5B6169"/>
            </a:solidFill>
            <a:prstDash val="solid"/>
            <a:headEnd type="none"/>
            <a:tailEnd type="triangle"/>
          </a:ln>
        </p:spPr>
        <p:txBody>
          <a:bodyPr/>
          <a:lstStyle/>
          <a:p>
            <a:endParaRPr lang="en-US"/>
          </a:p>
        </p:txBody>
      </p:sp>
      <p:sp>
        <p:nvSpPr>
          <p:cNvPr id="27" name="Shape 25"/>
          <p:cNvSpPr/>
          <p:nvPr/>
        </p:nvSpPr>
        <p:spPr>
          <a:xfrm>
            <a:off x="6071616" y="4096512"/>
            <a:ext cx="0" cy="274320"/>
          </a:xfrm>
          <a:prstGeom prst="line">
            <a:avLst/>
          </a:prstGeom>
          <a:noFill/>
          <a:ln w="12700">
            <a:solidFill>
              <a:srgbClr val="5B6169"/>
            </a:solidFill>
            <a:prstDash val="solid"/>
            <a:headEnd type="none"/>
            <a:tailEnd type="triangle"/>
          </a:ln>
        </p:spPr>
        <p:txBody>
          <a:bodyPr/>
          <a:lstStyle/>
          <a:p>
            <a:endParaRPr lang="en-US"/>
          </a:p>
        </p:txBody>
      </p:sp>
      <p:sp>
        <p:nvSpPr>
          <p:cNvPr id="28" name="Shape 26"/>
          <p:cNvSpPr/>
          <p:nvPr/>
        </p:nvSpPr>
        <p:spPr>
          <a:xfrm>
            <a:off x="9848088" y="4096512"/>
            <a:ext cx="0" cy="274320"/>
          </a:xfrm>
          <a:prstGeom prst="line">
            <a:avLst/>
          </a:prstGeom>
          <a:noFill/>
          <a:ln w="12700">
            <a:solidFill>
              <a:srgbClr val="5B6169"/>
            </a:solidFill>
            <a:prstDash val="solid"/>
            <a:headEnd type="none"/>
            <a:tailEnd type="triangle"/>
          </a:ln>
        </p:spPr>
        <p:txBody>
          <a:bodyPr/>
          <a:lstStyle/>
          <a:p>
            <a:endParaRPr lang="en-US"/>
          </a:p>
        </p:txBody>
      </p:sp>
      <p:sp>
        <p:nvSpPr>
          <p:cNvPr id="29" name="Shape 27"/>
          <p:cNvSpPr/>
          <p:nvPr/>
        </p:nvSpPr>
        <p:spPr>
          <a:xfrm>
            <a:off x="502920" y="4489704"/>
            <a:ext cx="11183112" cy="1179576"/>
          </a:xfrm>
          <a:prstGeom prst="rect">
            <a:avLst/>
          </a:prstGeom>
          <a:solidFill>
            <a:srgbClr val="18191D"/>
          </a:solidFill>
          <a:ln w="12700">
            <a:solidFill>
              <a:schemeClr val="bg1"/>
            </a:solidFill>
            <a:prstDash val="solid"/>
          </a:ln>
        </p:spPr>
        <p:txBody>
          <a:bodyPr/>
          <a:lstStyle/>
          <a:p>
            <a:endParaRPr lang="en-US"/>
          </a:p>
        </p:txBody>
      </p:sp>
      <p:sp>
        <p:nvSpPr>
          <p:cNvPr id="30" name="Text 28"/>
          <p:cNvSpPr/>
          <p:nvPr/>
        </p:nvSpPr>
        <p:spPr>
          <a:xfrm>
            <a:off x="704088" y="4681728"/>
            <a:ext cx="2441448" cy="219456"/>
          </a:xfrm>
          <a:prstGeom prst="rect">
            <a:avLst/>
          </a:prstGeom>
          <a:noFill/>
          <a:ln/>
        </p:spPr>
        <p:txBody>
          <a:bodyPr wrap="square" lIns="0" tIns="0" rIns="0" bIns="0" rtlCol="0" anchor="ctr"/>
          <a:lstStyle/>
          <a:p>
            <a:pPr marL="0" indent="0">
              <a:buNone/>
            </a:pPr>
            <a:r>
              <a:rPr lang="en-US" sz="1200" b="1" dirty="0">
                <a:solidFill>
                  <a:srgbClr val="F7C9D2"/>
                </a:solidFill>
                <a:latin typeface="Arial" pitchFamily="34" charset="0"/>
                <a:ea typeface="Arial" pitchFamily="34" charset="-122"/>
                <a:cs typeface="Arial" pitchFamily="34" charset="-120"/>
              </a:rPr>
              <a:t>ATMOS GAP TO PROVE</a:t>
            </a:r>
            <a:endParaRPr lang="en-US" sz="1200" dirty="0"/>
          </a:p>
        </p:txBody>
      </p:sp>
      <p:sp>
        <p:nvSpPr>
          <p:cNvPr id="31" name="Text 29"/>
          <p:cNvSpPr/>
          <p:nvPr/>
        </p:nvSpPr>
        <p:spPr>
          <a:xfrm>
            <a:off x="3099816" y="4626864"/>
            <a:ext cx="8220456" cy="32004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Larger resident catalog / richer evidence at moderate query demand</a:t>
            </a:r>
            <a:endParaRPr lang="en-US" sz="2000" dirty="0"/>
          </a:p>
        </p:txBody>
      </p:sp>
      <p:sp>
        <p:nvSpPr>
          <p:cNvPr id="32" name="Text 30"/>
          <p:cNvSpPr/>
          <p:nvPr/>
        </p:nvSpPr>
        <p:spPr>
          <a:xfrm>
            <a:off x="3099816" y="5084064"/>
            <a:ext cx="8138160" cy="347472"/>
          </a:xfrm>
          <a:prstGeom prst="rect">
            <a:avLst/>
          </a:prstGeom>
          <a:noFill/>
          <a:ln/>
        </p:spPr>
        <p:txBody>
          <a:bodyPr wrap="square" lIns="0" tIns="0" rIns="0" bIns="0" rtlCol="0" anchor="ctr"/>
          <a:lstStyle/>
          <a:p>
            <a:pPr marL="0" indent="0">
              <a:buNone/>
            </a:pPr>
            <a:r>
              <a:rPr lang="en-US" sz="1550" dirty="0">
                <a:solidFill>
                  <a:srgbClr val="FFFFFF"/>
                </a:solidFill>
                <a:latin typeface="Arial" pitchFamily="34" charset="0"/>
                <a:ea typeface="Arial" pitchFamily="34" charset="-122"/>
                <a:cs typeface="Arial" pitchFamily="34" charset="-120"/>
              </a:rPr>
              <a:t>Certified CPU + NPU work allocation, local governance, modular capacity and a supported OEM appliance.</a:t>
            </a:r>
            <a:endParaRPr lang="en-US" sz="1550" dirty="0"/>
          </a:p>
        </p:txBody>
      </p:sp>
      <p:sp>
        <p:nvSpPr>
          <p:cNvPr id="41" name="Text 11">
            <a:extLst>
              <a:ext uri="{FF2B5EF4-FFF2-40B4-BE49-F238E27FC236}">
                <a16:creationId xmlns:a16="http://schemas.microsoft.com/office/drawing/2014/main" id="{72389CEF-B72B-FEF3-B7D1-A98084BD56FA}"/>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04</a:t>
            </a:r>
            <a:endParaRPr lang="en-US" sz="92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44" name="Image 0" descr="/mnt/data/atmos_exec_v3/assets/cover.png">
            <a:extLst>
              <a:ext uri="{FF2B5EF4-FFF2-40B4-BE49-F238E27FC236}">
                <a16:creationId xmlns:a16="http://schemas.microsoft.com/office/drawing/2014/main" id="{F498F6E5-A2FE-9BC3-CEC5-5E49940CDADE}"/>
              </a:ext>
            </a:extLst>
          </p:cNvPr>
          <p:cNvPicPr>
            <a:picLocks noChangeAspect="1"/>
          </p:cNvPicPr>
          <p:nvPr/>
        </p:nvPicPr>
        <p:blipFill>
          <a:blip r:embed="rId3"/>
          <a:stretch>
            <a:fillRect/>
          </a:stretch>
        </p:blipFill>
        <p:spPr>
          <a:xfrm>
            <a:off x="45666" y="192024"/>
            <a:ext cx="12100667" cy="6858000"/>
          </a:xfrm>
          <a:prstGeom prst="rect">
            <a:avLst/>
          </a:prstGeom>
        </p:spPr>
      </p:pic>
      <p:sp>
        <p:nvSpPr>
          <p:cNvPr id="45" name="Shape 0">
            <a:extLst>
              <a:ext uri="{FF2B5EF4-FFF2-40B4-BE49-F238E27FC236}">
                <a16:creationId xmlns:a16="http://schemas.microsoft.com/office/drawing/2014/main" id="{4A58A5F9-6DD3-8549-2290-96E77F59A219}"/>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46" name="Shape 0">
            <a:extLst>
              <a:ext uri="{FF2B5EF4-FFF2-40B4-BE49-F238E27FC236}">
                <a16:creationId xmlns:a16="http://schemas.microsoft.com/office/drawing/2014/main" id="{E3C2B5D7-7494-D5AB-74AA-BC8DEB4BA796}"/>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7" name="Shape 0">
            <a:extLst>
              <a:ext uri="{FF2B5EF4-FFF2-40B4-BE49-F238E27FC236}">
                <a16:creationId xmlns:a16="http://schemas.microsoft.com/office/drawing/2014/main" id="{C3610653-6BD7-316B-52D8-0056CE63906B}"/>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48" name="Rectangle 47">
            <a:extLst>
              <a:ext uri="{FF2B5EF4-FFF2-40B4-BE49-F238E27FC236}">
                <a16:creationId xmlns:a16="http://schemas.microsoft.com/office/drawing/2014/main" id="{FD6C3983-4E22-B3D7-962C-A1F7CF92BC0D}"/>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49" name="Text 1">
            <a:extLst>
              <a:ext uri="{FF2B5EF4-FFF2-40B4-BE49-F238E27FC236}">
                <a16:creationId xmlns:a16="http://schemas.microsoft.com/office/drawing/2014/main" id="{3E7D3056-971D-E64F-530E-076D46C80619}"/>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50" name="Shape 0">
            <a:extLst>
              <a:ext uri="{FF2B5EF4-FFF2-40B4-BE49-F238E27FC236}">
                <a16:creationId xmlns:a16="http://schemas.microsoft.com/office/drawing/2014/main" id="{CEB6D546-68FD-0AD4-E4BC-FDAA8853F974}"/>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chemeClr val="bg1"/>
                </a:solidFill>
                <a:latin typeface="Arial" pitchFamily="34" charset="0"/>
                <a:ea typeface="Arial" pitchFamily="34" charset="-122"/>
                <a:cs typeface="Arial" pitchFamily="34" charset="-120"/>
              </a:rPr>
              <a:t>ATMOS-E3S  PORTFOLIO</a:t>
            </a:r>
            <a:endParaRPr lang="en-US" sz="1030" dirty="0">
              <a:solidFill>
                <a:schemeClr val="bg1"/>
              </a:solidFill>
            </a:endParaRPr>
          </a:p>
        </p:txBody>
      </p:sp>
      <p:sp>
        <p:nvSpPr>
          <p:cNvPr id="5" name="Text 3"/>
          <p:cNvSpPr/>
          <p:nvPr/>
        </p:nvSpPr>
        <p:spPr>
          <a:xfrm>
            <a:off x="411480" y="982980"/>
            <a:ext cx="11247120" cy="694944"/>
          </a:xfrm>
          <a:prstGeom prst="rect">
            <a:avLst/>
          </a:prstGeom>
          <a:noFill/>
          <a:ln/>
        </p:spPr>
        <p:txBody>
          <a:bodyPr wrap="square" lIns="0" tIns="0" rIns="0" bIns="0" rtlCol="0" anchor="ctr">
            <a:normAutofit/>
          </a:bodyPr>
          <a:lstStyle/>
          <a:p>
            <a:pPr marL="0" indent="0">
              <a:buNone/>
            </a:pPr>
            <a:r>
              <a:rPr lang="en-US" sz="2000" b="1" dirty="0">
                <a:solidFill>
                  <a:schemeClr val="bg1"/>
                </a:solidFill>
                <a:latin typeface="Arial" pitchFamily="34" charset="0"/>
                <a:ea typeface="Arial" pitchFamily="34" charset="-122"/>
                <a:cs typeface="Arial" pitchFamily="34" charset="-120"/>
              </a:rPr>
              <a:t>Three Tiers, Five profiles and One supported software platform.</a:t>
            </a:r>
            <a:endParaRPr lang="en-US" sz="2000" dirty="0">
              <a:solidFill>
                <a:schemeClr val="bg1"/>
              </a:solidFill>
            </a:endParaRPr>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chemeClr val="bg1"/>
                </a:solidFill>
                <a:latin typeface="Arial" pitchFamily="34" charset="0"/>
                <a:ea typeface="Arial" pitchFamily="34" charset="-122"/>
                <a:cs typeface="Arial" pitchFamily="34" charset="-120"/>
              </a:rPr>
              <a:t>Preserve the product family; prioritize D8 and E16 proof before widening the catalog.</a:t>
            </a:r>
            <a:endParaRPr lang="en-US" sz="1400" dirty="0">
              <a:solidFill>
                <a:schemeClr val="bg1"/>
              </a:solidFill>
            </a:endParaRPr>
          </a:p>
        </p:txBody>
      </p:sp>
      <p:sp>
        <p:nvSpPr>
          <p:cNvPr id="12" name="Shape 10"/>
          <p:cNvSpPr/>
          <p:nvPr/>
        </p:nvSpPr>
        <p:spPr>
          <a:xfrm>
            <a:off x="502920" y="2020824"/>
            <a:ext cx="2651760" cy="3520440"/>
          </a:xfrm>
          <a:prstGeom prst="rect">
            <a:avLst/>
          </a:prstGeom>
          <a:solidFill>
            <a:srgbClr val="E31737"/>
          </a:solidFill>
          <a:ln w="8255">
            <a:solidFill>
              <a:srgbClr val="F3F4F6"/>
            </a:solidFill>
            <a:prstDash val="solid"/>
          </a:ln>
        </p:spPr>
        <p:txBody>
          <a:bodyPr/>
          <a:lstStyle/>
          <a:p>
            <a:endParaRPr lang="en-US">
              <a:solidFill>
                <a:schemeClr val="bg1"/>
              </a:solidFill>
            </a:endParaRPr>
          </a:p>
        </p:txBody>
      </p:sp>
      <p:sp>
        <p:nvSpPr>
          <p:cNvPr id="13" name="Shape 11"/>
          <p:cNvSpPr/>
          <p:nvPr/>
        </p:nvSpPr>
        <p:spPr>
          <a:xfrm>
            <a:off x="621792" y="2148840"/>
            <a:ext cx="2404872" cy="256032"/>
          </a:xfrm>
          <a:prstGeom prst="rect">
            <a:avLst/>
          </a:prstGeom>
          <a:solidFill>
            <a:schemeClr val="tx1"/>
          </a:solidFill>
          <a:ln w="8255">
            <a:solidFill>
              <a:srgbClr val="FDECEF"/>
            </a:solidFill>
            <a:prstDash val="solid"/>
          </a:ln>
        </p:spPr>
        <p:txBody>
          <a:bodyPr/>
          <a:lstStyle/>
          <a:p>
            <a:endParaRPr lang="en-US">
              <a:solidFill>
                <a:schemeClr val="bg1"/>
              </a:solidFill>
            </a:endParaRPr>
          </a:p>
        </p:txBody>
      </p:sp>
      <p:sp>
        <p:nvSpPr>
          <p:cNvPr id="14" name="Text 12"/>
          <p:cNvSpPr/>
          <p:nvPr/>
        </p:nvSpPr>
        <p:spPr>
          <a:xfrm>
            <a:off x="694944" y="2148840"/>
            <a:ext cx="2258568" cy="256032"/>
          </a:xfrm>
          <a:prstGeom prst="rect">
            <a:avLst/>
          </a:prstGeom>
          <a:noFill/>
          <a:ln/>
        </p:spPr>
        <p:txBody>
          <a:bodyPr wrap="square" lIns="0" tIns="0" rIns="0" bIns="0" rtlCol="0" anchor="ctr">
            <a:normAutofit/>
          </a:bodyPr>
          <a:lstStyle/>
          <a:p>
            <a:pPr marL="0" indent="0">
              <a:buNone/>
            </a:pPr>
            <a:r>
              <a:rPr lang="en-US" sz="930" b="1" dirty="0">
                <a:solidFill>
                  <a:schemeClr val="bg1"/>
                </a:solidFill>
                <a:latin typeface="Arial" pitchFamily="34" charset="0"/>
                <a:ea typeface="Arial" pitchFamily="34" charset="-122"/>
                <a:cs typeface="Arial" pitchFamily="34" charset="-120"/>
              </a:rPr>
              <a:t>DERIVATIVE</a:t>
            </a:r>
            <a:endParaRPr lang="en-US" sz="930" dirty="0">
              <a:solidFill>
                <a:schemeClr val="bg1"/>
              </a:solidFill>
            </a:endParaRPr>
          </a:p>
        </p:txBody>
      </p:sp>
      <p:pic>
        <p:nvPicPr>
          <p:cNvPr id="15" name="Image 0" descr="/mnt/data/atmos_exec_v3/assets/appliance_4.png"/>
          <p:cNvPicPr>
            <a:picLocks noChangeAspect="1"/>
          </p:cNvPicPr>
          <p:nvPr/>
        </p:nvPicPr>
        <p:blipFill>
          <a:blip r:embed="rId4"/>
          <a:stretch>
            <a:fillRect/>
          </a:stretch>
        </p:blipFill>
        <p:spPr>
          <a:xfrm>
            <a:off x="438912" y="2514600"/>
            <a:ext cx="2788920" cy="1508760"/>
          </a:xfrm>
          <a:prstGeom prst="rect">
            <a:avLst/>
          </a:prstGeom>
        </p:spPr>
      </p:pic>
      <p:sp>
        <p:nvSpPr>
          <p:cNvPr id="16" name="Text 13"/>
          <p:cNvSpPr/>
          <p:nvPr/>
        </p:nvSpPr>
        <p:spPr>
          <a:xfrm>
            <a:off x="640080" y="3941064"/>
            <a:ext cx="2386584" cy="448056"/>
          </a:xfrm>
          <a:prstGeom prst="rect">
            <a:avLst/>
          </a:prstGeom>
          <a:noFill/>
          <a:ln/>
        </p:spPr>
        <p:txBody>
          <a:bodyPr wrap="square" lIns="0" tIns="0" rIns="0" bIns="0" rtlCol="0" anchor="ctr">
            <a:normAutofit/>
          </a:bodyPr>
          <a:lstStyle/>
          <a:p>
            <a:pPr marL="0" indent="0">
              <a:buNone/>
            </a:pPr>
            <a:r>
              <a:rPr lang="en-US" sz="1340" b="1" dirty="0">
                <a:solidFill>
                  <a:schemeClr val="bg1"/>
                </a:solidFill>
                <a:latin typeface="Arial" pitchFamily="34" charset="0"/>
                <a:ea typeface="Arial" pitchFamily="34" charset="-122"/>
                <a:cs typeface="Arial" pitchFamily="34" charset="-120"/>
              </a:rPr>
              <a:t>WORKSTATION 4</a:t>
            </a:r>
            <a:endParaRPr lang="en-US" sz="1340" dirty="0">
              <a:solidFill>
                <a:schemeClr val="bg1"/>
              </a:solidFill>
            </a:endParaRPr>
          </a:p>
        </p:txBody>
      </p:sp>
      <p:sp>
        <p:nvSpPr>
          <p:cNvPr id="17" name="Text 14"/>
          <p:cNvSpPr/>
          <p:nvPr/>
        </p:nvSpPr>
        <p:spPr>
          <a:xfrm>
            <a:off x="640080" y="4489704"/>
            <a:ext cx="2377440" cy="292608"/>
          </a:xfrm>
          <a:prstGeom prst="rect">
            <a:avLst/>
          </a:prstGeom>
          <a:noFill/>
          <a:ln/>
        </p:spPr>
        <p:txBody>
          <a:bodyPr wrap="square" lIns="0" tIns="0" rIns="0" bIns="0" rtlCol="0" anchor="ctr">
            <a:normAutofit/>
          </a:bodyPr>
          <a:lstStyle/>
          <a:p>
            <a:pPr marL="0" indent="0">
              <a:buNone/>
            </a:pPr>
            <a:r>
              <a:rPr lang="en-US" sz="1400" b="1" dirty="0">
                <a:solidFill>
                  <a:schemeClr val="bg1"/>
                </a:solidFill>
                <a:latin typeface="Arial" pitchFamily="34" charset="0"/>
                <a:ea typeface="Arial" pitchFamily="34" charset="-122"/>
                <a:cs typeface="Arial" pitchFamily="34" charset="-120"/>
              </a:rPr>
              <a:t>512 GB nominal HBF</a:t>
            </a:r>
            <a:endParaRPr lang="en-US" sz="1400" dirty="0">
              <a:solidFill>
                <a:schemeClr val="bg1"/>
              </a:solidFill>
            </a:endParaRPr>
          </a:p>
        </p:txBody>
      </p:sp>
      <p:sp>
        <p:nvSpPr>
          <p:cNvPr id="18" name="Text 15"/>
          <p:cNvSpPr/>
          <p:nvPr/>
        </p:nvSpPr>
        <p:spPr>
          <a:xfrm>
            <a:off x="640080" y="4882896"/>
            <a:ext cx="2386584" cy="521208"/>
          </a:xfrm>
          <a:prstGeom prst="rect">
            <a:avLst/>
          </a:prstGeom>
          <a:noFill/>
          <a:ln/>
        </p:spPr>
        <p:txBody>
          <a:bodyPr wrap="square" lIns="0" tIns="0" rIns="0" bIns="0" rtlCol="0" anchor="ctr">
            <a:normAutofit/>
          </a:bodyPr>
          <a:lstStyle/>
          <a:p>
            <a:pPr marL="0" indent="0">
              <a:buNone/>
            </a:pPr>
            <a:r>
              <a:rPr lang="en-US" sz="1250" dirty="0">
                <a:solidFill>
                  <a:schemeClr val="bg1"/>
                </a:solidFill>
                <a:latin typeface="Arial" pitchFamily="34" charset="0"/>
                <a:ea typeface="Arial" pitchFamily="34" charset="-122"/>
                <a:cs typeface="Arial" pitchFamily="34" charset="-120"/>
              </a:rPr>
              <a:t>W4 / local developer and secure small-team service</a:t>
            </a:r>
            <a:endParaRPr lang="en-US" sz="1250" dirty="0">
              <a:solidFill>
                <a:schemeClr val="bg1"/>
              </a:solidFill>
            </a:endParaRPr>
          </a:p>
        </p:txBody>
      </p:sp>
      <p:sp>
        <p:nvSpPr>
          <p:cNvPr id="19" name="Shape 16"/>
          <p:cNvSpPr/>
          <p:nvPr/>
        </p:nvSpPr>
        <p:spPr>
          <a:xfrm>
            <a:off x="3346704" y="2020824"/>
            <a:ext cx="2651760" cy="3520440"/>
          </a:xfrm>
          <a:prstGeom prst="rect">
            <a:avLst/>
          </a:prstGeom>
          <a:solidFill>
            <a:srgbClr val="E31737"/>
          </a:solidFill>
          <a:ln w="8255">
            <a:solidFill>
              <a:srgbClr val="F3F4F6"/>
            </a:solidFill>
            <a:prstDash val="solid"/>
          </a:ln>
        </p:spPr>
        <p:txBody>
          <a:bodyPr/>
          <a:lstStyle/>
          <a:p>
            <a:endParaRPr lang="en-US">
              <a:solidFill>
                <a:schemeClr val="bg1"/>
              </a:solidFill>
            </a:endParaRPr>
          </a:p>
        </p:txBody>
      </p:sp>
      <p:sp>
        <p:nvSpPr>
          <p:cNvPr id="20" name="Shape 17"/>
          <p:cNvSpPr/>
          <p:nvPr/>
        </p:nvSpPr>
        <p:spPr>
          <a:xfrm>
            <a:off x="3465576" y="2148840"/>
            <a:ext cx="2404872" cy="256032"/>
          </a:xfrm>
          <a:prstGeom prst="rect">
            <a:avLst/>
          </a:prstGeom>
          <a:solidFill>
            <a:schemeClr val="tx1"/>
          </a:solidFill>
          <a:ln w="8255">
            <a:solidFill>
              <a:srgbClr val="E31837"/>
            </a:solidFill>
            <a:prstDash val="solid"/>
          </a:ln>
        </p:spPr>
        <p:txBody>
          <a:bodyPr/>
          <a:lstStyle/>
          <a:p>
            <a:endParaRPr lang="en-US">
              <a:solidFill>
                <a:schemeClr val="bg1"/>
              </a:solidFill>
            </a:endParaRPr>
          </a:p>
        </p:txBody>
      </p:sp>
      <p:sp>
        <p:nvSpPr>
          <p:cNvPr id="21" name="Text 18"/>
          <p:cNvSpPr/>
          <p:nvPr/>
        </p:nvSpPr>
        <p:spPr>
          <a:xfrm>
            <a:off x="3538728" y="2148840"/>
            <a:ext cx="2258568" cy="256032"/>
          </a:xfrm>
          <a:prstGeom prst="rect">
            <a:avLst/>
          </a:prstGeom>
          <a:noFill/>
          <a:ln/>
        </p:spPr>
        <p:txBody>
          <a:bodyPr wrap="square" lIns="0" tIns="0" rIns="0" bIns="0" rtlCol="0" anchor="ctr">
            <a:normAutofit/>
          </a:bodyPr>
          <a:lstStyle/>
          <a:p>
            <a:pPr marL="0" indent="0">
              <a:buNone/>
            </a:pPr>
            <a:r>
              <a:rPr lang="en-US" sz="930" b="1" dirty="0">
                <a:solidFill>
                  <a:schemeClr val="bg1"/>
                </a:solidFill>
                <a:latin typeface="Arial" pitchFamily="34" charset="0"/>
                <a:ea typeface="Arial" pitchFamily="34" charset="-122"/>
                <a:cs typeface="Arial" pitchFamily="34" charset="-120"/>
              </a:rPr>
              <a:t>FIRST PROOF</a:t>
            </a:r>
            <a:endParaRPr lang="en-US" sz="930" dirty="0">
              <a:solidFill>
                <a:schemeClr val="bg1"/>
              </a:solidFill>
            </a:endParaRPr>
          </a:p>
        </p:txBody>
      </p:sp>
      <p:pic>
        <p:nvPicPr>
          <p:cNvPr id="22" name="Image 1" descr="/mnt/data/atmos_exec_v3/assets/appliance_8.png"/>
          <p:cNvPicPr>
            <a:picLocks noChangeAspect="1"/>
          </p:cNvPicPr>
          <p:nvPr/>
        </p:nvPicPr>
        <p:blipFill>
          <a:blip r:embed="rId5"/>
          <a:stretch>
            <a:fillRect/>
          </a:stretch>
        </p:blipFill>
        <p:spPr>
          <a:xfrm>
            <a:off x="3282696" y="2514600"/>
            <a:ext cx="2788920" cy="1508760"/>
          </a:xfrm>
          <a:prstGeom prst="rect">
            <a:avLst/>
          </a:prstGeom>
        </p:spPr>
      </p:pic>
      <p:sp>
        <p:nvSpPr>
          <p:cNvPr id="23" name="Text 19"/>
          <p:cNvSpPr/>
          <p:nvPr/>
        </p:nvSpPr>
        <p:spPr>
          <a:xfrm>
            <a:off x="3483864" y="3941064"/>
            <a:ext cx="2386584" cy="448056"/>
          </a:xfrm>
          <a:prstGeom prst="rect">
            <a:avLst/>
          </a:prstGeom>
          <a:noFill/>
          <a:ln/>
        </p:spPr>
        <p:txBody>
          <a:bodyPr wrap="square" lIns="0" tIns="0" rIns="0" bIns="0" rtlCol="0" anchor="ctr">
            <a:normAutofit/>
          </a:bodyPr>
          <a:lstStyle/>
          <a:p>
            <a:pPr marL="0" indent="0">
              <a:buNone/>
            </a:pPr>
            <a:r>
              <a:rPr lang="en-US" sz="1340" b="1" dirty="0">
                <a:solidFill>
                  <a:schemeClr val="bg1"/>
                </a:solidFill>
                <a:latin typeface="Arial" pitchFamily="34" charset="0"/>
                <a:ea typeface="Arial" pitchFamily="34" charset="-122"/>
                <a:cs typeface="Arial" pitchFamily="34" charset="-120"/>
              </a:rPr>
              <a:t>DEPARTMENTAL / ENTERPRISE 8</a:t>
            </a:r>
            <a:endParaRPr lang="en-US" sz="1340" dirty="0">
              <a:solidFill>
                <a:schemeClr val="bg1"/>
              </a:solidFill>
            </a:endParaRPr>
          </a:p>
        </p:txBody>
      </p:sp>
      <p:sp>
        <p:nvSpPr>
          <p:cNvPr id="24" name="Text 20"/>
          <p:cNvSpPr/>
          <p:nvPr/>
        </p:nvSpPr>
        <p:spPr>
          <a:xfrm>
            <a:off x="3483864" y="4489704"/>
            <a:ext cx="2377440" cy="292608"/>
          </a:xfrm>
          <a:prstGeom prst="rect">
            <a:avLst/>
          </a:prstGeom>
          <a:noFill/>
          <a:ln/>
        </p:spPr>
        <p:txBody>
          <a:bodyPr wrap="square" lIns="0" tIns="0" rIns="0" bIns="0" rtlCol="0" anchor="ctr">
            <a:normAutofit/>
          </a:bodyPr>
          <a:lstStyle/>
          <a:p>
            <a:pPr marL="0" indent="0">
              <a:buNone/>
            </a:pPr>
            <a:r>
              <a:rPr lang="en-US" sz="1400" b="1" dirty="0">
                <a:solidFill>
                  <a:schemeClr val="bg1"/>
                </a:solidFill>
                <a:latin typeface="Arial" pitchFamily="34" charset="0"/>
                <a:ea typeface="Arial" pitchFamily="34" charset="-122"/>
                <a:cs typeface="Arial" pitchFamily="34" charset="-120"/>
              </a:rPr>
              <a:t>1.024 TB nominal HBF</a:t>
            </a:r>
            <a:endParaRPr lang="en-US" sz="1400" dirty="0">
              <a:solidFill>
                <a:schemeClr val="bg1"/>
              </a:solidFill>
            </a:endParaRPr>
          </a:p>
        </p:txBody>
      </p:sp>
      <p:sp>
        <p:nvSpPr>
          <p:cNvPr id="25" name="Text 21"/>
          <p:cNvSpPr/>
          <p:nvPr/>
        </p:nvSpPr>
        <p:spPr>
          <a:xfrm>
            <a:off x="3483864" y="4882896"/>
            <a:ext cx="2386584" cy="521208"/>
          </a:xfrm>
          <a:prstGeom prst="rect">
            <a:avLst/>
          </a:prstGeom>
          <a:noFill/>
          <a:ln/>
        </p:spPr>
        <p:txBody>
          <a:bodyPr wrap="square" lIns="0" tIns="0" rIns="0" bIns="0" rtlCol="0" anchor="ctr">
            <a:normAutofit lnSpcReduction="10000"/>
          </a:bodyPr>
          <a:lstStyle/>
          <a:p>
            <a:pPr marL="0" indent="0">
              <a:buNone/>
            </a:pPr>
            <a:r>
              <a:rPr lang="en-US" sz="1250" dirty="0">
                <a:solidFill>
                  <a:schemeClr val="bg1"/>
                </a:solidFill>
                <a:latin typeface="Arial" pitchFamily="34" charset="0"/>
                <a:ea typeface="Arial" pitchFamily="34" charset="-122"/>
                <a:cs typeface="Arial" pitchFamily="34" charset="-120"/>
              </a:rPr>
              <a:t>D8 / teams and site services</a:t>
            </a:r>
            <a:endParaRPr lang="en-US" sz="1250" dirty="0">
              <a:solidFill>
                <a:schemeClr val="bg1"/>
              </a:solidFill>
            </a:endParaRPr>
          </a:p>
          <a:p>
            <a:pPr marL="0" indent="0">
              <a:buNone/>
            </a:pPr>
            <a:r>
              <a:rPr lang="en-US" sz="1250" dirty="0">
                <a:solidFill>
                  <a:schemeClr val="bg1"/>
                </a:solidFill>
                <a:latin typeface="Arial" pitchFamily="34" charset="0"/>
                <a:ea typeface="Arial" pitchFamily="34" charset="-122"/>
                <a:cs typeface="Arial" pitchFamily="34" charset="-120"/>
              </a:rPr>
              <a:t>E8 / same capacity + enterprise lifecycle</a:t>
            </a:r>
            <a:endParaRPr lang="en-US" sz="1250" dirty="0">
              <a:solidFill>
                <a:schemeClr val="bg1"/>
              </a:solidFill>
            </a:endParaRPr>
          </a:p>
        </p:txBody>
      </p:sp>
      <p:sp>
        <p:nvSpPr>
          <p:cNvPr id="26" name="Shape 22"/>
          <p:cNvSpPr/>
          <p:nvPr/>
        </p:nvSpPr>
        <p:spPr>
          <a:xfrm>
            <a:off x="6190488" y="2020824"/>
            <a:ext cx="2651760" cy="3520440"/>
          </a:xfrm>
          <a:prstGeom prst="rect">
            <a:avLst/>
          </a:prstGeom>
          <a:solidFill>
            <a:srgbClr val="E31737"/>
          </a:solidFill>
          <a:ln w="8255">
            <a:solidFill>
              <a:srgbClr val="F3F4F6"/>
            </a:solidFill>
            <a:prstDash val="solid"/>
          </a:ln>
        </p:spPr>
        <p:txBody>
          <a:bodyPr/>
          <a:lstStyle/>
          <a:p>
            <a:endParaRPr lang="en-US">
              <a:solidFill>
                <a:schemeClr val="bg1"/>
              </a:solidFill>
            </a:endParaRPr>
          </a:p>
        </p:txBody>
      </p:sp>
      <p:sp>
        <p:nvSpPr>
          <p:cNvPr id="27" name="Shape 23"/>
          <p:cNvSpPr/>
          <p:nvPr/>
        </p:nvSpPr>
        <p:spPr>
          <a:xfrm>
            <a:off x="6309360" y="2148840"/>
            <a:ext cx="2404872" cy="256032"/>
          </a:xfrm>
          <a:prstGeom prst="rect">
            <a:avLst/>
          </a:prstGeom>
          <a:solidFill>
            <a:schemeClr val="tx1"/>
          </a:solidFill>
          <a:ln w="8255">
            <a:solidFill>
              <a:srgbClr val="E31837"/>
            </a:solidFill>
            <a:prstDash val="solid"/>
          </a:ln>
        </p:spPr>
        <p:txBody>
          <a:bodyPr/>
          <a:lstStyle/>
          <a:p>
            <a:endParaRPr lang="en-US">
              <a:solidFill>
                <a:schemeClr val="bg1"/>
              </a:solidFill>
            </a:endParaRPr>
          </a:p>
        </p:txBody>
      </p:sp>
      <p:sp>
        <p:nvSpPr>
          <p:cNvPr id="28" name="Text 24"/>
          <p:cNvSpPr/>
          <p:nvPr/>
        </p:nvSpPr>
        <p:spPr>
          <a:xfrm>
            <a:off x="6382512" y="2148840"/>
            <a:ext cx="2258568" cy="256032"/>
          </a:xfrm>
          <a:prstGeom prst="rect">
            <a:avLst/>
          </a:prstGeom>
          <a:noFill/>
          <a:ln/>
        </p:spPr>
        <p:txBody>
          <a:bodyPr wrap="square" lIns="0" tIns="0" rIns="0" bIns="0" rtlCol="0" anchor="ctr">
            <a:normAutofit/>
          </a:bodyPr>
          <a:lstStyle/>
          <a:p>
            <a:pPr marL="0" indent="0">
              <a:buNone/>
            </a:pPr>
            <a:r>
              <a:rPr lang="en-US" sz="930" b="1" dirty="0">
                <a:solidFill>
                  <a:schemeClr val="bg1"/>
                </a:solidFill>
                <a:latin typeface="Arial" pitchFamily="34" charset="0"/>
                <a:ea typeface="Arial" pitchFamily="34" charset="-122"/>
                <a:cs typeface="Arial" pitchFamily="34" charset="-120"/>
              </a:rPr>
              <a:t>FIRST PROOF</a:t>
            </a:r>
            <a:endParaRPr lang="en-US" sz="930" dirty="0">
              <a:solidFill>
                <a:schemeClr val="bg1"/>
              </a:solidFill>
            </a:endParaRPr>
          </a:p>
        </p:txBody>
      </p:sp>
      <p:pic>
        <p:nvPicPr>
          <p:cNvPr id="29" name="Image 2" descr="/mnt/data/atmos_exec_v3/assets/appliance_16.png"/>
          <p:cNvPicPr>
            <a:picLocks noChangeAspect="1"/>
          </p:cNvPicPr>
          <p:nvPr/>
        </p:nvPicPr>
        <p:blipFill>
          <a:blip r:embed="rId6"/>
          <a:stretch>
            <a:fillRect/>
          </a:stretch>
        </p:blipFill>
        <p:spPr>
          <a:xfrm>
            <a:off x="6126480" y="2514600"/>
            <a:ext cx="2788920" cy="1508760"/>
          </a:xfrm>
          <a:prstGeom prst="rect">
            <a:avLst/>
          </a:prstGeom>
        </p:spPr>
      </p:pic>
      <p:sp>
        <p:nvSpPr>
          <p:cNvPr id="30" name="Text 25"/>
          <p:cNvSpPr/>
          <p:nvPr/>
        </p:nvSpPr>
        <p:spPr>
          <a:xfrm>
            <a:off x="6327648" y="3941064"/>
            <a:ext cx="2386584" cy="448056"/>
          </a:xfrm>
          <a:prstGeom prst="rect">
            <a:avLst/>
          </a:prstGeom>
          <a:noFill/>
          <a:ln/>
        </p:spPr>
        <p:txBody>
          <a:bodyPr wrap="square" lIns="0" tIns="0" rIns="0" bIns="0" rtlCol="0" anchor="ctr">
            <a:normAutofit/>
          </a:bodyPr>
          <a:lstStyle/>
          <a:p>
            <a:pPr marL="0" indent="0">
              <a:buNone/>
            </a:pPr>
            <a:r>
              <a:rPr lang="en-US" sz="1340" b="1" dirty="0">
                <a:solidFill>
                  <a:schemeClr val="bg1"/>
                </a:solidFill>
                <a:latin typeface="Arial" pitchFamily="34" charset="0"/>
                <a:ea typeface="Arial" pitchFamily="34" charset="-122"/>
                <a:cs typeface="Arial" pitchFamily="34" charset="-120"/>
              </a:rPr>
              <a:t>ENTERPRISE 16</a:t>
            </a:r>
            <a:endParaRPr lang="en-US" sz="1340" dirty="0">
              <a:solidFill>
                <a:schemeClr val="bg1"/>
              </a:solidFill>
            </a:endParaRPr>
          </a:p>
        </p:txBody>
      </p:sp>
      <p:sp>
        <p:nvSpPr>
          <p:cNvPr id="31" name="Text 26"/>
          <p:cNvSpPr/>
          <p:nvPr/>
        </p:nvSpPr>
        <p:spPr>
          <a:xfrm>
            <a:off x="6327648" y="4489704"/>
            <a:ext cx="2377440" cy="292608"/>
          </a:xfrm>
          <a:prstGeom prst="rect">
            <a:avLst/>
          </a:prstGeom>
          <a:noFill/>
          <a:ln/>
        </p:spPr>
        <p:txBody>
          <a:bodyPr wrap="square" lIns="0" tIns="0" rIns="0" bIns="0" rtlCol="0" anchor="ctr">
            <a:normAutofit/>
          </a:bodyPr>
          <a:lstStyle/>
          <a:p>
            <a:pPr marL="0" indent="0">
              <a:buNone/>
            </a:pPr>
            <a:r>
              <a:rPr lang="en-US" sz="1400" b="1" dirty="0">
                <a:solidFill>
                  <a:schemeClr val="bg1"/>
                </a:solidFill>
                <a:latin typeface="Arial" pitchFamily="34" charset="0"/>
                <a:ea typeface="Arial" pitchFamily="34" charset="-122"/>
                <a:cs typeface="Arial" pitchFamily="34" charset="-120"/>
              </a:rPr>
              <a:t>2.048 TB nominal HBF</a:t>
            </a:r>
            <a:endParaRPr lang="en-US" sz="1400" dirty="0">
              <a:solidFill>
                <a:schemeClr val="bg1"/>
              </a:solidFill>
            </a:endParaRPr>
          </a:p>
        </p:txBody>
      </p:sp>
      <p:sp>
        <p:nvSpPr>
          <p:cNvPr id="32" name="Text 27"/>
          <p:cNvSpPr/>
          <p:nvPr/>
        </p:nvSpPr>
        <p:spPr>
          <a:xfrm>
            <a:off x="6327648" y="4882896"/>
            <a:ext cx="2386584" cy="521208"/>
          </a:xfrm>
          <a:prstGeom prst="rect">
            <a:avLst/>
          </a:prstGeom>
          <a:noFill/>
          <a:ln/>
        </p:spPr>
        <p:txBody>
          <a:bodyPr wrap="square" lIns="0" tIns="0" rIns="0" bIns="0" rtlCol="0" anchor="ctr">
            <a:normAutofit/>
          </a:bodyPr>
          <a:lstStyle/>
          <a:p>
            <a:pPr marL="0" indent="0">
              <a:buNone/>
            </a:pPr>
            <a:r>
              <a:rPr lang="en-US" sz="1250" dirty="0">
                <a:solidFill>
                  <a:schemeClr val="bg1"/>
                </a:solidFill>
                <a:latin typeface="Arial" pitchFamily="34" charset="0"/>
                <a:ea typeface="Arial" pitchFamily="34" charset="-122"/>
                <a:cs typeface="Arial" pitchFamily="34" charset="-120"/>
              </a:rPr>
              <a:t>E16 / multi-service production and complete-replica HA</a:t>
            </a:r>
            <a:endParaRPr lang="en-US" sz="1250" dirty="0">
              <a:solidFill>
                <a:schemeClr val="bg1"/>
              </a:solidFill>
            </a:endParaRPr>
          </a:p>
        </p:txBody>
      </p:sp>
      <p:sp>
        <p:nvSpPr>
          <p:cNvPr id="33" name="Shape 28"/>
          <p:cNvSpPr/>
          <p:nvPr/>
        </p:nvSpPr>
        <p:spPr>
          <a:xfrm>
            <a:off x="9034272" y="2020824"/>
            <a:ext cx="2651760" cy="3520440"/>
          </a:xfrm>
          <a:prstGeom prst="rect">
            <a:avLst/>
          </a:prstGeom>
          <a:solidFill>
            <a:srgbClr val="E31737"/>
          </a:solidFill>
          <a:ln w="8255">
            <a:solidFill>
              <a:srgbClr val="F3F4F6"/>
            </a:solidFill>
            <a:prstDash val="solid"/>
          </a:ln>
        </p:spPr>
        <p:txBody>
          <a:bodyPr/>
          <a:lstStyle/>
          <a:p>
            <a:endParaRPr lang="en-US">
              <a:solidFill>
                <a:schemeClr val="bg1"/>
              </a:solidFill>
            </a:endParaRPr>
          </a:p>
        </p:txBody>
      </p:sp>
      <p:sp>
        <p:nvSpPr>
          <p:cNvPr id="34" name="Shape 29"/>
          <p:cNvSpPr/>
          <p:nvPr/>
        </p:nvSpPr>
        <p:spPr>
          <a:xfrm>
            <a:off x="9153144" y="2148840"/>
            <a:ext cx="2404872" cy="256032"/>
          </a:xfrm>
          <a:prstGeom prst="rect">
            <a:avLst/>
          </a:prstGeom>
          <a:solidFill>
            <a:schemeClr val="tx1"/>
          </a:solidFill>
          <a:ln w="8255">
            <a:solidFill>
              <a:srgbClr val="FDECEF"/>
            </a:solidFill>
            <a:prstDash val="solid"/>
          </a:ln>
        </p:spPr>
        <p:txBody>
          <a:bodyPr/>
          <a:lstStyle/>
          <a:p>
            <a:endParaRPr lang="en-US">
              <a:solidFill>
                <a:schemeClr val="bg1"/>
              </a:solidFill>
            </a:endParaRPr>
          </a:p>
        </p:txBody>
      </p:sp>
      <p:sp>
        <p:nvSpPr>
          <p:cNvPr id="35" name="Text 30"/>
          <p:cNvSpPr/>
          <p:nvPr/>
        </p:nvSpPr>
        <p:spPr>
          <a:xfrm>
            <a:off x="9226296" y="2148840"/>
            <a:ext cx="2258568" cy="256032"/>
          </a:xfrm>
          <a:prstGeom prst="rect">
            <a:avLst/>
          </a:prstGeom>
          <a:noFill/>
          <a:ln/>
        </p:spPr>
        <p:txBody>
          <a:bodyPr wrap="square" lIns="0" tIns="0" rIns="0" bIns="0" rtlCol="0" anchor="ctr">
            <a:normAutofit/>
          </a:bodyPr>
          <a:lstStyle/>
          <a:p>
            <a:pPr marL="0" indent="0">
              <a:buNone/>
            </a:pPr>
            <a:r>
              <a:rPr lang="en-US" sz="930" b="1" dirty="0">
                <a:solidFill>
                  <a:schemeClr val="bg1"/>
                </a:solidFill>
                <a:latin typeface="Arial" pitchFamily="34" charset="0"/>
                <a:ea typeface="Arial" pitchFamily="34" charset="-122"/>
                <a:cs typeface="Arial" pitchFamily="34" charset="-120"/>
              </a:rPr>
              <a:t>STRETCH</a:t>
            </a:r>
            <a:endParaRPr lang="en-US" sz="930" dirty="0">
              <a:solidFill>
                <a:schemeClr val="bg1"/>
              </a:solidFill>
            </a:endParaRPr>
          </a:p>
        </p:txBody>
      </p:sp>
      <p:pic>
        <p:nvPicPr>
          <p:cNvPr id="36" name="Image 3" descr="/mnt/data/atmos_exec_v3/assets/appliance_24.png"/>
          <p:cNvPicPr>
            <a:picLocks noChangeAspect="1"/>
          </p:cNvPicPr>
          <p:nvPr/>
        </p:nvPicPr>
        <p:blipFill>
          <a:blip r:embed="rId7"/>
          <a:stretch>
            <a:fillRect/>
          </a:stretch>
        </p:blipFill>
        <p:spPr>
          <a:xfrm>
            <a:off x="8970264" y="2514600"/>
            <a:ext cx="2788920" cy="1508760"/>
          </a:xfrm>
          <a:prstGeom prst="rect">
            <a:avLst/>
          </a:prstGeom>
        </p:spPr>
      </p:pic>
      <p:sp>
        <p:nvSpPr>
          <p:cNvPr id="37" name="Text 31"/>
          <p:cNvSpPr/>
          <p:nvPr/>
        </p:nvSpPr>
        <p:spPr>
          <a:xfrm>
            <a:off x="9171432" y="3941064"/>
            <a:ext cx="2386584" cy="448056"/>
          </a:xfrm>
          <a:prstGeom prst="rect">
            <a:avLst/>
          </a:prstGeom>
          <a:noFill/>
          <a:ln/>
        </p:spPr>
        <p:txBody>
          <a:bodyPr wrap="square" lIns="0" tIns="0" rIns="0" bIns="0" rtlCol="0" anchor="ctr">
            <a:normAutofit/>
          </a:bodyPr>
          <a:lstStyle/>
          <a:p>
            <a:pPr marL="0" indent="0">
              <a:buNone/>
            </a:pPr>
            <a:r>
              <a:rPr lang="en-US" sz="1340" b="1" dirty="0">
                <a:solidFill>
                  <a:schemeClr val="bg1"/>
                </a:solidFill>
                <a:latin typeface="Arial" pitchFamily="34" charset="0"/>
                <a:ea typeface="Arial" pitchFamily="34" charset="-122"/>
                <a:cs typeface="Arial" pitchFamily="34" charset="-120"/>
              </a:rPr>
              <a:t>ENTERPRISE 24</a:t>
            </a:r>
            <a:endParaRPr lang="en-US" sz="1340" dirty="0">
              <a:solidFill>
                <a:schemeClr val="bg1"/>
              </a:solidFill>
            </a:endParaRPr>
          </a:p>
        </p:txBody>
      </p:sp>
      <p:sp>
        <p:nvSpPr>
          <p:cNvPr id="38" name="Text 32"/>
          <p:cNvSpPr/>
          <p:nvPr/>
        </p:nvSpPr>
        <p:spPr>
          <a:xfrm>
            <a:off x="9171432" y="4489704"/>
            <a:ext cx="2377440" cy="292608"/>
          </a:xfrm>
          <a:prstGeom prst="rect">
            <a:avLst/>
          </a:prstGeom>
          <a:noFill/>
          <a:ln/>
        </p:spPr>
        <p:txBody>
          <a:bodyPr wrap="square" lIns="0" tIns="0" rIns="0" bIns="0" rtlCol="0" anchor="ctr">
            <a:normAutofit/>
          </a:bodyPr>
          <a:lstStyle/>
          <a:p>
            <a:pPr marL="0" indent="0">
              <a:buNone/>
            </a:pPr>
            <a:r>
              <a:rPr lang="en-US" sz="1400" b="1" dirty="0">
                <a:solidFill>
                  <a:schemeClr val="bg1"/>
                </a:solidFill>
                <a:latin typeface="Arial" pitchFamily="34" charset="0"/>
                <a:ea typeface="Arial" pitchFamily="34" charset="-122"/>
                <a:cs typeface="Arial" pitchFamily="34" charset="-120"/>
              </a:rPr>
              <a:t>3.072 TB nominal HBF</a:t>
            </a:r>
            <a:endParaRPr lang="en-US" sz="1400" dirty="0">
              <a:solidFill>
                <a:schemeClr val="bg1"/>
              </a:solidFill>
            </a:endParaRPr>
          </a:p>
        </p:txBody>
      </p:sp>
      <p:sp>
        <p:nvSpPr>
          <p:cNvPr id="39" name="Text 33"/>
          <p:cNvSpPr/>
          <p:nvPr/>
        </p:nvSpPr>
        <p:spPr>
          <a:xfrm>
            <a:off x="9171432" y="4882896"/>
            <a:ext cx="2386584" cy="521208"/>
          </a:xfrm>
          <a:prstGeom prst="rect">
            <a:avLst/>
          </a:prstGeom>
          <a:noFill/>
          <a:ln/>
        </p:spPr>
        <p:txBody>
          <a:bodyPr wrap="square" lIns="0" tIns="0" rIns="0" bIns="0" rtlCol="0" anchor="ctr">
            <a:normAutofit/>
          </a:bodyPr>
          <a:lstStyle/>
          <a:p>
            <a:pPr marL="0" indent="0">
              <a:buNone/>
            </a:pPr>
            <a:r>
              <a:rPr lang="en-US" sz="1250" dirty="0">
                <a:solidFill>
                  <a:schemeClr val="bg1"/>
                </a:solidFill>
                <a:latin typeface="Arial" pitchFamily="34" charset="0"/>
                <a:ea typeface="Arial" pitchFamily="34" charset="-122"/>
                <a:cs typeface="Arial" pitchFamily="34" charset="-120"/>
              </a:rPr>
              <a:t>E24 / six-domain capacity expansion only after E16 proof</a:t>
            </a:r>
            <a:endParaRPr lang="en-US" sz="1250" dirty="0">
              <a:solidFill>
                <a:schemeClr val="bg1"/>
              </a:solidFill>
            </a:endParaRPr>
          </a:p>
        </p:txBody>
      </p:sp>
      <p:sp>
        <p:nvSpPr>
          <p:cNvPr id="42" name="Text 3">
            <a:extLst>
              <a:ext uri="{FF2B5EF4-FFF2-40B4-BE49-F238E27FC236}">
                <a16:creationId xmlns:a16="http://schemas.microsoft.com/office/drawing/2014/main" id="{72B68B84-0453-9A0B-E369-FFF63789E56E}"/>
              </a:ext>
            </a:extLst>
          </p:cNvPr>
          <p:cNvSpPr/>
          <p:nvPr/>
        </p:nvSpPr>
        <p:spPr>
          <a:xfrm>
            <a:off x="374904" y="475488"/>
            <a:ext cx="11247120" cy="694944"/>
          </a:xfrm>
          <a:prstGeom prst="rect">
            <a:avLst/>
          </a:prstGeom>
          <a:noFill/>
          <a:ln/>
        </p:spPr>
        <p:txBody>
          <a:bodyPr wrap="square" lIns="0" tIns="0" rIns="0" bIns="0" rtlCol="0" anchor="ctr">
            <a:normAutofit/>
          </a:bodyPr>
          <a:lstStyle/>
          <a:p>
            <a:pPr marL="0" indent="0">
              <a:buNone/>
            </a:pPr>
            <a:r>
              <a:rPr lang="en-US" sz="2900" b="1" dirty="0" err="1">
                <a:solidFill>
                  <a:schemeClr val="bg1"/>
                </a:solidFill>
                <a:latin typeface="Arial" pitchFamily="34" charset="0"/>
                <a:ea typeface="Arial" pitchFamily="34" charset="-122"/>
                <a:cs typeface="Arial" pitchFamily="34" charset="-120"/>
              </a:rPr>
              <a:t>Sandisk</a:t>
            </a:r>
            <a:r>
              <a:rPr lang="en-US" sz="2900" b="1" dirty="0">
                <a:solidFill>
                  <a:schemeClr val="bg1"/>
                </a:solidFill>
                <a:latin typeface="Arial" pitchFamily="34" charset="0"/>
                <a:ea typeface="Arial" pitchFamily="34" charset="-122"/>
                <a:cs typeface="Arial" pitchFamily="34" charset="-120"/>
              </a:rPr>
              <a:t> Offerings</a:t>
            </a:r>
            <a:endParaRPr lang="en-US" sz="2900" dirty="0">
              <a:solidFill>
                <a:schemeClr val="bg1"/>
              </a:solidFill>
            </a:endParaRPr>
          </a:p>
        </p:txBody>
      </p:sp>
      <p:sp>
        <p:nvSpPr>
          <p:cNvPr id="51" name="Text 11">
            <a:extLst>
              <a:ext uri="{FF2B5EF4-FFF2-40B4-BE49-F238E27FC236}">
                <a16:creationId xmlns:a16="http://schemas.microsoft.com/office/drawing/2014/main" id="{9C8200FC-1965-A74F-6568-DD56ECF9E9BE}"/>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05</a:t>
            </a:r>
            <a:endParaRPr lang="en-US" sz="920" dirty="0">
              <a:solidFill>
                <a:schemeClr val="bg1"/>
              </a:solidFill>
            </a:endParaRPr>
          </a:p>
        </p:txBody>
      </p:sp>
      <p:sp>
        <p:nvSpPr>
          <p:cNvPr id="52" name="Shape 8">
            <a:extLst>
              <a:ext uri="{FF2B5EF4-FFF2-40B4-BE49-F238E27FC236}">
                <a16:creationId xmlns:a16="http://schemas.microsoft.com/office/drawing/2014/main" id="{2AFE043F-6A95-C11A-5B71-D7DD9F5A968F}"/>
              </a:ext>
            </a:extLst>
          </p:cNvPr>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6" name="Image 0" descr="/mnt/data/atmos_exec_v3/assets/cover.png">
            <a:extLst>
              <a:ext uri="{FF2B5EF4-FFF2-40B4-BE49-F238E27FC236}">
                <a16:creationId xmlns:a16="http://schemas.microsoft.com/office/drawing/2014/main" id="{37FBC2FE-8885-9774-FDA9-E675078B96F1}"/>
              </a:ext>
            </a:extLst>
          </p:cNvPr>
          <p:cNvPicPr>
            <a:picLocks noChangeAspect="1"/>
          </p:cNvPicPr>
          <p:nvPr/>
        </p:nvPicPr>
        <p:blipFill>
          <a:blip r:embed="rId3"/>
          <a:stretch>
            <a:fillRect/>
          </a:stretch>
        </p:blipFill>
        <p:spPr>
          <a:xfrm>
            <a:off x="45666" y="192024"/>
            <a:ext cx="12100667" cy="6858000"/>
          </a:xfrm>
          <a:prstGeom prst="rect">
            <a:avLst/>
          </a:prstGeom>
        </p:spPr>
      </p:pic>
      <p:sp>
        <p:nvSpPr>
          <p:cNvPr id="12" name="Shape 0">
            <a:extLst>
              <a:ext uri="{FF2B5EF4-FFF2-40B4-BE49-F238E27FC236}">
                <a16:creationId xmlns:a16="http://schemas.microsoft.com/office/drawing/2014/main" id="{B7839BBE-5706-2FD3-EBF2-4465EC3B961E}"/>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13" name="Shape 0">
            <a:extLst>
              <a:ext uri="{FF2B5EF4-FFF2-40B4-BE49-F238E27FC236}">
                <a16:creationId xmlns:a16="http://schemas.microsoft.com/office/drawing/2014/main" id="{D7B977FF-8B50-50CE-B635-1C66920C87BE}"/>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14" name="Shape 0">
            <a:extLst>
              <a:ext uri="{FF2B5EF4-FFF2-40B4-BE49-F238E27FC236}">
                <a16:creationId xmlns:a16="http://schemas.microsoft.com/office/drawing/2014/main" id="{6A38BD23-FB68-ACAA-36A1-FD179B6DEB85}"/>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15" name="Rectangle 14">
            <a:extLst>
              <a:ext uri="{FF2B5EF4-FFF2-40B4-BE49-F238E27FC236}">
                <a16:creationId xmlns:a16="http://schemas.microsoft.com/office/drawing/2014/main" id="{CC7DFC48-8F75-7451-2728-3EC983278FE7}"/>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16" name="Text 1">
            <a:extLst>
              <a:ext uri="{FF2B5EF4-FFF2-40B4-BE49-F238E27FC236}">
                <a16:creationId xmlns:a16="http://schemas.microsoft.com/office/drawing/2014/main" id="{6B7E0AA6-0D7A-BDB7-B2BE-76D61171AE1A}"/>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17" name="Shape 0">
            <a:extLst>
              <a:ext uri="{FF2B5EF4-FFF2-40B4-BE49-F238E27FC236}">
                <a16:creationId xmlns:a16="http://schemas.microsoft.com/office/drawing/2014/main" id="{E81739A5-1BF6-4F75-3394-FA48741AE58B}"/>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chemeClr val="bg1"/>
                </a:solidFill>
                <a:latin typeface="Arial" pitchFamily="34" charset="0"/>
                <a:ea typeface="Arial" pitchFamily="34" charset="-122"/>
                <a:cs typeface="Arial" pitchFamily="34" charset="-120"/>
              </a:rPr>
              <a:t>SPECIFICATION</a:t>
            </a:r>
            <a:endParaRPr lang="en-US" sz="1030" dirty="0">
              <a:solidFill>
                <a:schemeClr val="bg1"/>
              </a:solidFill>
            </a:endParaRPr>
          </a:p>
        </p:txBody>
      </p:sp>
      <p:sp>
        <p:nvSpPr>
          <p:cNvPr id="88" name="Shape 86"/>
          <p:cNvSpPr/>
          <p:nvPr/>
        </p:nvSpPr>
        <p:spPr>
          <a:xfrm>
            <a:off x="502920" y="5733288"/>
            <a:ext cx="10744200" cy="320040"/>
          </a:xfrm>
          <a:prstGeom prst="rect">
            <a:avLst/>
          </a:prstGeom>
          <a:solidFill>
            <a:srgbClr val="FDECEF"/>
          </a:solidFill>
          <a:ln w="8255">
            <a:solidFill>
              <a:srgbClr val="FDECEF"/>
            </a:solidFill>
            <a:prstDash val="solid"/>
          </a:ln>
        </p:spPr>
        <p:txBody>
          <a:bodyPr/>
          <a:lstStyle/>
          <a:p>
            <a:endParaRPr lang="en-US"/>
          </a:p>
        </p:txBody>
      </p:sp>
      <p:sp>
        <p:nvSpPr>
          <p:cNvPr id="89" name="Text 87"/>
          <p:cNvSpPr/>
          <p:nvPr/>
        </p:nvSpPr>
        <p:spPr>
          <a:xfrm>
            <a:off x="635508" y="5859017"/>
            <a:ext cx="10917936" cy="242316"/>
          </a:xfrm>
          <a:prstGeom prst="rect">
            <a:avLst/>
          </a:prstGeom>
          <a:noFill/>
          <a:ln/>
        </p:spPr>
        <p:txBody>
          <a:bodyPr wrap="square" lIns="0" tIns="0" rIns="0" bIns="0" rtlCol="0" anchor="ctr">
            <a:normAutofit/>
          </a:bodyPr>
          <a:lstStyle/>
          <a:p>
            <a:r>
              <a:rPr lang="en-US" sz="1200" b="1" dirty="0">
                <a:solidFill>
                  <a:srgbClr val="E31837"/>
                </a:solidFill>
                <a:latin typeface="Arial" pitchFamily="34" charset="0"/>
                <a:ea typeface="Arial" pitchFamily="34" charset="-122"/>
                <a:cs typeface="Arial" pitchFamily="34" charset="-120"/>
              </a:rPr>
              <a:t>Workstation: local catalog + APIs. Departmental: projects, quotas and separate queues. Enterprise: identity, audit, backup and support.</a:t>
            </a:r>
          </a:p>
          <a:p>
            <a:endParaRPr lang="en-US" sz="1200" dirty="0"/>
          </a:p>
        </p:txBody>
      </p:sp>
      <p:sp>
        <p:nvSpPr>
          <p:cNvPr id="90" name="TextBox 89">
            <a:extLst>
              <a:ext uri="{FF2B5EF4-FFF2-40B4-BE49-F238E27FC236}">
                <a16:creationId xmlns:a16="http://schemas.microsoft.com/office/drawing/2014/main" id="{8E4792F2-0171-CB3D-ADD7-BBDABF4A5970}"/>
              </a:ext>
            </a:extLst>
          </p:cNvPr>
          <p:cNvSpPr txBox="1"/>
          <p:nvPr/>
        </p:nvSpPr>
        <p:spPr>
          <a:xfrm>
            <a:off x="484632" y="758952"/>
            <a:ext cx="11183112" cy="490968"/>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2800" b="1" dirty="0">
                <a:solidFill>
                  <a:schemeClr val="bg1"/>
                </a:solidFill>
                <a:latin typeface="Aptos"/>
              </a:rPr>
              <a:t>Named SKUs. Explicit system and service profiles.</a:t>
            </a:r>
          </a:p>
        </p:txBody>
      </p:sp>
      <p:sp>
        <p:nvSpPr>
          <p:cNvPr id="91" name="TextBox 90">
            <a:extLst>
              <a:ext uri="{FF2B5EF4-FFF2-40B4-BE49-F238E27FC236}">
                <a16:creationId xmlns:a16="http://schemas.microsoft.com/office/drawing/2014/main" id="{1F54EA96-BF9D-F057-65BB-E3DC66609DCE}"/>
              </a:ext>
            </a:extLst>
          </p:cNvPr>
          <p:cNvSpPr txBox="1"/>
          <p:nvPr/>
        </p:nvSpPr>
        <p:spPr>
          <a:xfrm>
            <a:off x="502920" y="1316736"/>
            <a:ext cx="11109960" cy="2964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a:solidFill>
                  <a:schemeClr val="bg1"/>
                </a:solidFill>
                <a:latin typeface="Aptos"/>
              </a:rPr>
              <a:t>Five commercial profiles share four device densities; Enterprise 8 adds production integration and serviceability.</a:t>
            </a:r>
          </a:p>
        </p:txBody>
      </p:sp>
      <p:graphicFrame>
        <p:nvGraphicFramePr>
          <p:cNvPr id="159" name="Table 158">
            <a:extLst>
              <a:ext uri="{FF2B5EF4-FFF2-40B4-BE49-F238E27FC236}">
                <a16:creationId xmlns:a16="http://schemas.microsoft.com/office/drawing/2014/main" id="{12654821-176C-4B83-9994-FA8F3485BB30}"/>
              </a:ext>
            </a:extLst>
          </p:cNvPr>
          <p:cNvGraphicFramePr>
            <a:graphicFrameLocks noGrp="1"/>
          </p:cNvGraphicFramePr>
          <p:nvPr>
            <p:extLst>
              <p:ext uri="{D42A27DB-BD31-4B8C-83A1-F6EECF244321}">
                <p14:modId xmlns:p14="http://schemas.microsoft.com/office/powerpoint/2010/main" val="893568495"/>
              </p:ext>
            </p:extLst>
          </p:nvPr>
        </p:nvGraphicFramePr>
        <p:xfrm>
          <a:off x="502920" y="1765479"/>
          <a:ext cx="10744200" cy="3831791"/>
        </p:xfrm>
        <a:graphic>
          <a:graphicData uri="http://schemas.openxmlformats.org/drawingml/2006/table">
            <a:tbl>
              <a:tblPr firstRow="1" firstCol="1" bandRow="1">
                <a:tableStyleId>{21E4AEA4-8DFA-4A89-87EB-49C32662AFE0}</a:tableStyleId>
              </a:tblPr>
              <a:tblGrid>
                <a:gridCol w="1512699">
                  <a:extLst>
                    <a:ext uri="{9D8B030D-6E8A-4147-A177-3AD203B41FA5}">
                      <a16:colId xmlns:a16="http://schemas.microsoft.com/office/drawing/2014/main" val="3959619986"/>
                    </a:ext>
                  </a:extLst>
                </a:gridCol>
                <a:gridCol w="1743299">
                  <a:extLst>
                    <a:ext uri="{9D8B030D-6E8A-4147-A177-3AD203B41FA5}">
                      <a16:colId xmlns:a16="http://schemas.microsoft.com/office/drawing/2014/main" val="3016715042"/>
                    </a:ext>
                  </a:extLst>
                </a:gridCol>
                <a:gridCol w="1897330">
                  <a:extLst>
                    <a:ext uri="{9D8B030D-6E8A-4147-A177-3AD203B41FA5}">
                      <a16:colId xmlns:a16="http://schemas.microsoft.com/office/drawing/2014/main" val="464012753"/>
                    </a:ext>
                  </a:extLst>
                </a:gridCol>
                <a:gridCol w="1897330">
                  <a:extLst>
                    <a:ext uri="{9D8B030D-6E8A-4147-A177-3AD203B41FA5}">
                      <a16:colId xmlns:a16="http://schemas.microsoft.com/office/drawing/2014/main" val="3293216414"/>
                    </a:ext>
                  </a:extLst>
                </a:gridCol>
                <a:gridCol w="3693542">
                  <a:extLst>
                    <a:ext uri="{9D8B030D-6E8A-4147-A177-3AD203B41FA5}">
                      <a16:colId xmlns:a16="http://schemas.microsoft.com/office/drawing/2014/main" val="1775532136"/>
                    </a:ext>
                  </a:extLst>
                </a:gridCol>
              </a:tblGrid>
              <a:tr h="315229">
                <a:tc>
                  <a:txBody>
                    <a:bodyPr/>
                    <a:lstStyle/>
                    <a:p>
                      <a:pPr marL="0" marR="0">
                        <a:lnSpc>
                          <a:spcPct val="105000"/>
                        </a:lnSpc>
                        <a:spcAft>
                          <a:spcPts val="200"/>
                        </a:spcAft>
                        <a:buNone/>
                      </a:pPr>
                      <a:r>
                        <a:rPr lang="en-US" sz="850" b="1" dirty="0">
                          <a:effectLst/>
                        </a:rPr>
                        <a:t>Subsystem</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dirty="0">
                          <a:effectLst/>
                        </a:rPr>
                        <a:t>W4</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dirty="0">
                          <a:effectLst/>
                        </a:rPr>
                        <a:t>D8 / E8</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dirty="0">
                          <a:effectLst/>
                        </a:rPr>
                        <a:t>E16</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dirty="0">
                          <a:effectLst/>
                        </a:rPr>
                        <a:t>E24 / stretch</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extLst>
                  <a:ext uri="{0D108BD9-81ED-4DB2-BD59-A6C34878D82A}">
                    <a16:rowId xmlns:a16="http://schemas.microsoft.com/office/drawing/2014/main" val="1628408060"/>
                  </a:ext>
                </a:extLst>
              </a:tr>
              <a:tr h="514175">
                <a:tc>
                  <a:txBody>
                    <a:bodyPr/>
                    <a:lstStyle/>
                    <a:p>
                      <a:pPr marL="0" marR="0">
                        <a:lnSpc>
                          <a:spcPct val="105000"/>
                        </a:lnSpc>
                        <a:spcAft>
                          <a:spcPts val="200"/>
                        </a:spcAft>
                        <a:buNone/>
                      </a:pPr>
                      <a:r>
                        <a:rPr lang="en-US" sz="850" b="1" dirty="0">
                          <a:effectLst/>
                        </a:rPr>
                        <a:t>Host CPU</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a:effectLst/>
                        </a:rPr>
                        <a:t>1 high-lane EPYC 9135-class; 16 cores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 EPYC 9355P-class; 32 cores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EPYC 9355-class; 32 cores each</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high-lane sockets; three groups/root study</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717400888"/>
                  </a:ext>
                </a:extLst>
              </a:tr>
              <a:tr h="315229">
                <a:tc>
                  <a:txBody>
                    <a:bodyPr/>
                    <a:lstStyle/>
                    <a:p>
                      <a:pPr marL="0" marR="0">
                        <a:lnSpc>
                          <a:spcPct val="105000"/>
                        </a:lnSpc>
                        <a:spcAft>
                          <a:spcPts val="200"/>
                        </a:spcAft>
                        <a:buNone/>
                      </a:pPr>
                      <a:r>
                        <a:rPr lang="en-US" sz="850" b="1" dirty="0">
                          <a:effectLst/>
                        </a:rPr>
                        <a:t>Host DRAM</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a:effectLst/>
                        </a:rPr>
                        <a:t>128–256GB ECC</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256–512GB ECC</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512GB–1TB ECC</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1TB+ ECC</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2303434253"/>
                  </a:ext>
                </a:extLst>
              </a:tr>
              <a:tr h="315229">
                <a:tc>
                  <a:txBody>
                    <a:bodyPr/>
                    <a:lstStyle/>
                    <a:p>
                      <a:pPr marL="0" marR="0">
                        <a:lnSpc>
                          <a:spcPct val="105000"/>
                        </a:lnSpc>
                        <a:spcAft>
                          <a:spcPts val="200"/>
                        </a:spcAft>
                        <a:buNone/>
                      </a:pPr>
                      <a:r>
                        <a:rPr lang="en-US" sz="850" b="1" dirty="0">
                          <a:effectLst/>
                        </a:rPr>
                        <a:t>Data </a:t>
                      </a:r>
                      <a:r>
                        <a:rPr lang="en-US" sz="850" b="1" dirty="0" err="1">
                          <a:effectLst/>
                        </a:rPr>
                        <a:t>NVMe</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a:effectLst/>
                        </a:rPr>
                        <a:t>2 × 1.92TB mirror</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 3.84TB mirror</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 7.68TB mirror</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 15.36TB mirror</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1073970950"/>
                  </a:ext>
                </a:extLst>
              </a:tr>
              <a:tr h="514175">
                <a:tc>
                  <a:txBody>
                    <a:bodyPr/>
                    <a:lstStyle/>
                    <a:p>
                      <a:pPr marL="0" marR="0">
                        <a:lnSpc>
                          <a:spcPct val="105000"/>
                        </a:lnSpc>
                        <a:spcAft>
                          <a:spcPts val="200"/>
                        </a:spcAft>
                        <a:buNone/>
                      </a:pPr>
                      <a:r>
                        <a:rPr lang="en-US" sz="850" b="1" dirty="0">
                          <a:effectLst/>
                        </a:rPr>
                        <a:t>Service network</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a:effectLst/>
                        </a:rPr>
                        <a:t>25GbE; 100GbE option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100GbE; E8 redundant paths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Dual 100/200GbE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Dual 200/400GbE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184103033"/>
                  </a:ext>
                </a:extLst>
              </a:tr>
              <a:tr h="315229">
                <a:tc>
                  <a:txBody>
                    <a:bodyPr/>
                    <a:lstStyle/>
                    <a:p>
                      <a:pPr marL="0" marR="0">
                        <a:lnSpc>
                          <a:spcPct val="105000"/>
                        </a:lnSpc>
                        <a:spcAft>
                          <a:spcPts val="200"/>
                        </a:spcAft>
                        <a:buNone/>
                      </a:pPr>
                      <a:r>
                        <a:rPr lang="en-US" sz="850" b="1" dirty="0">
                          <a:effectLst/>
                        </a:rPr>
                        <a:t>ATMOS topology</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a:effectLst/>
                        </a:rPr>
                        <a:t>1 four-device domain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 domains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4 domains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6 domains</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2099882406"/>
                  </a:ext>
                </a:extLst>
              </a:tr>
              <a:tr h="514175">
                <a:tc>
                  <a:txBody>
                    <a:bodyPr/>
                    <a:lstStyle/>
                    <a:p>
                      <a:pPr marL="0" marR="0">
                        <a:lnSpc>
                          <a:spcPct val="105000"/>
                        </a:lnSpc>
                        <a:spcAft>
                          <a:spcPts val="200"/>
                        </a:spcAft>
                        <a:buNone/>
                      </a:pPr>
                      <a:r>
                        <a:rPr lang="en-US" sz="850" b="1" dirty="0">
                          <a:effectLst/>
                        </a:rPr>
                        <a:t>Enclosure</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a:effectLst/>
                        </a:rPr>
                        <a:t>Pedestal / short-depth study</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2U/3U candidate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4U conservative; 2U if proven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4U+; no density promise</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778238214"/>
                  </a:ext>
                </a:extLst>
              </a:tr>
              <a:tr h="514175">
                <a:tc>
                  <a:txBody>
                    <a:bodyPr/>
                    <a:lstStyle/>
                    <a:p>
                      <a:pPr marL="0" marR="0">
                        <a:lnSpc>
                          <a:spcPct val="105000"/>
                        </a:lnSpc>
                        <a:spcAft>
                          <a:spcPts val="200"/>
                        </a:spcAft>
                        <a:buNone/>
                      </a:pPr>
                      <a:r>
                        <a:rPr lang="en-US" sz="850" b="1" dirty="0">
                          <a:effectLst/>
                        </a:rPr>
                        <a:t>Device-only power</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a:effectLst/>
                        </a:rPr>
                        <a:t>120–160W target</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240–320W target</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480–640W target</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720–960W target</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1090311130"/>
                  </a:ext>
                </a:extLst>
              </a:tr>
              <a:tr h="514175">
                <a:tc>
                  <a:txBody>
                    <a:bodyPr/>
                    <a:lstStyle/>
                    <a:p>
                      <a:pPr marL="0" marR="0">
                        <a:lnSpc>
                          <a:spcPct val="105000"/>
                        </a:lnSpc>
                        <a:spcAft>
                          <a:spcPts val="200"/>
                        </a:spcAft>
                        <a:buNone/>
                      </a:pPr>
                      <a:r>
                        <a:rPr lang="en-US" sz="850" b="1" dirty="0">
                          <a:effectLst/>
                        </a:rPr>
                        <a:t>Whole-node TCO input</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solidFill>
                      <a:srgbClr val="C00000"/>
                    </a:solidFill>
                  </a:tcPr>
                </a:tc>
                <a:tc>
                  <a:txBody>
                    <a:bodyPr/>
                    <a:lstStyle/>
                    <a:p>
                      <a:pPr marL="0" marR="0">
                        <a:lnSpc>
                          <a:spcPct val="105000"/>
                        </a:lnSpc>
                        <a:spcAft>
                          <a:spcPts val="200"/>
                        </a:spcAft>
                        <a:buNone/>
                      </a:pPr>
                      <a:r>
                        <a:rPr lang="en-US" sz="850" b="1">
                          <a:effectLst/>
                        </a:rPr>
                        <a:t>0.45kW assumption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0.8 / 0.9kW assumption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a:effectLst/>
                        </a:rPr>
                        <a:t>1.5kW assumption</a:t>
                      </a:r>
                      <a:endParaRPr lang="en-US" sz="1050" b="1">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tc>
                  <a:txBody>
                    <a:bodyPr/>
                    <a:lstStyle/>
                    <a:p>
                      <a:pPr marL="0" marR="0">
                        <a:lnSpc>
                          <a:spcPct val="105000"/>
                        </a:lnSpc>
                        <a:spcAft>
                          <a:spcPts val="200"/>
                        </a:spcAft>
                        <a:buNone/>
                      </a:pPr>
                      <a:r>
                        <a:rPr lang="en-US" sz="850" b="1" dirty="0">
                          <a:effectLst/>
                        </a:rPr>
                        <a:t>2.2kW assumption</a:t>
                      </a:r>
                      <a:endParaRPr lang="en-US" sz="1050" b="1" dirty="0">
                        <a:solidFill>
                          <a:srgbClr val="18191D"/>
                        </a:solidFill>
                        <a:effectLst/>
                        <a:latin typeface="Arial" panose="020B0604020202020204" pitchFamily="34" charset="0"/>
                        <a:ea typeface="MS Mincho" panose="02020609040205080304" pitchFamily="49" charset="-128"/>
                        <a:cs typeface="Times New Roman" panose="02020603050405020304" pitchFamily="18" charset="0"/>
                      </a:endParaRPr>
                    </a:p>
                  </a:txBody>
                  <a:tcPr marL="60325" marR="60325" marT="44450" marB="44450" anchor="ctr"/>
                </a:tc>
                <a:extLst>
                  <a:ext uri="{0D108BD9-81ED-4DB2-BD59-A6C34878D82A}">
                    <a16:rowId xmlns:a16="http://schemas.microsoft.com/office/drawing/2014/main" val="1848626624"/>
                  </a:ext>
                </a:extLst>
              </a:tr>
            </a:tbl>
          </a:graphicData>
        </a:graphic>
      </p:graphicFrame>
      <p:sp>
        <p:nvSpPr>
          <p:cNvPr id="18" name="Text 11">
            <a:extLst>
              <a:ext uri="{FF2B5EF4-FFF2-40B4-BE49-F238E27FC236}">
                <a16:creationId xmlns:a16="http://schemas.microsoft.com/office/drawing/2014/main" id="{AC271582-8114-B758-3BDF-3B116E3342F6}"/>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06</a:t>
            </a:r>
          </a:p>
        </p:txBody>
      </p:sp>
      <p:sp>
        <p:nvSpPr>
          <p:cNvPr id="19" name="Shape 8">
            <a:extLst>
              <a:ext uri="{FF2B5EF4-FFF2-40B4-BE49-F238E27FC236}">
                <a16:creationId xmlns:a16="http://schemas.microsoft.com/office/drawing/2014/main" id="{EA6790D3-EAAD-6EA5-B035-1EA1DAEAEC0A}"/>
              </a:ext>
            </a:extLst>
          </p:cNvPr>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7CB4376E-023D-DF52-143D-4C130F255533}"/>
            </a:ext>
          </a:extLst>
        </p:cNvPr>
        <p:cNvGrpSpPr/>
        <p:nvPr/>
      </p:nvGrpSpPr>
      <p:grpSpPr>
        <a:xfrm>
          <a:off x="0" y="0"/>
          <a:ext cx="0" cy="0"/>
          <a:chOff x="0" y="0"/>
          <a:chExt cx="0" cy="0"/>
        </a:xfrm>
      </p:grpSpPr>
      <p:pic>
        <p:nvPicPr>
          <p:cNvPr id="6" name="Image 0" descr="/mnt/data/atmos_exec_v3/assets/cover.png">
            <a:extLst>
              <a:ext uri="{FF2B5EF4-FFF2-40B4-BE49-F238E27FC236}">
                <a16:creationId xmlns:a16="http://schemas.microsoft.com/office/drawing/2014/main" id="{897A22BE-1AE3-F429-4438-57FCD3E354B6}"/>
              </a:ext>
            </a:extLst>
          </p:cNvPr>
          <p:cNvPicPr>
            <a:picLocks noChangeAspect="1"/>
          </p:cNvPicPr>
          <p:nvPr/>
        </p:nvPicPr>
        <p:blipFill>
          <a:blip r:embed="rId3"/>
          <a:stretch>
            <a:fillRect/>
          </a:stretch>
        </p:blipFill>
        <p:spPr>
          <a:xfrm>
            <a:off x="45666" y="192024"/>
            <a:ext cx="12100667" cy="6858000"/>
          </a:xfrm>
          <a:prstGeom prst="rect">
            <a:avLst/>
          </a:prstGeom>
        </p:spPr>
      </p:pic>
      <p:sp>
        <p:nvSpPr>
          <p:cNvPr id="7" name="Shape 0">
            <a:extLst>
              <a:ext uri="{FF2B5EF4-FFF2-40B4-BE49-F238E27FC236}">
                <a16:creationId xmlns:a16="http://schemas.microsoft.com/office/drawing/2014/main" id="{A73401DD-0205-A77B-8C64-D780A1AC07F2}"/>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11" name="Shape 0">
            <a:extLst>
              <a:ext uri="{FF2B5EF4-FFF2-40B4-BE49-F238E27FC236}">
                <a16:creationId xmlns:a16="http://schemas.microsoft.com/office/drawing/2014/main" id="{AEFBC629-96A1-E59A-F41B-51F1AA787669}"/>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12" name="Shape 0">
            <a:extLst>
              <a:ext uri="{FF2B5EF4-FFF2-40B4-BE49-F238E27FC236}">
                <a16:creationId xmlns:a16="http://schemas.microsoft.com/office/drawing/2014/main" id="{A2F07F6C-6C9C-D2ED-94E0-8417DD1E63B4}"/>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13" name="Rectangle 12">
            <a:extLst>
              <a:ext uri="{FF2B5EF4-FFF2-40B4-BE49-F238E27FC236}">
                <a16:creationId xmlns:a16="http://schemas.microsoft.com/office/drawing/2014/main" id="{DE3D05EC-2481-6621-E806-91C5A83353F6}"/>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14" name="Text 1">
            <a:extLst>
              <a:ext uri="{FF2B5EF4-FFF2-40B4-BE49-F238E27FC236}">
                <a16:creationId xmlns:a16="http://schemas.microsoft.com/office/drawing/2014/main" id="{14B66387-F371-CC5B-06E7-EFD856A53B3F}"/>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15" name="Shape 0">
            <a:extLst>
              <a:ext uri="{FF2B5EF4-FFF2-40B4-BE49-F238E27FC236}">
                <a16:creationId xmlns:a16="http://schemas.microsoft.com/office/drawing/2014/main" id="{3B6669FE-0427-91B9-CEDE-09289C971972}"/>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 name="Text 2">
            <a:extLst>
              <a:ext uri="{FF2B5EF4-FFF2-40B4-BE49-F238E27FC236}">
                <a16:creationId xmlns:a16="http://schemas.microsoft.com/office/drawing/2014/main" id="{6AE289E9-2ED5-1A1F-C39C-F74528FFCE14}"/>
              </a:ext>
            </a:extLst>
          </p:cNvPr>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chemeClr val="bg1"/>
                </a:solidFill>
                <a:latin typeface="Arial" pitchFamily="34" charset="0"/>
                <a:ea typeface="Arial" pitchFamily="34" charset="-122"/>
                <a:cs typeface="Arial" pitchFamily="34" charset="-120"/>
              </a:rPr>
              <a:t>SERVICE CONTRACT</a:t>
            </a:r>
            <a:endParaRPr lang="en-US" sz="1030" dirty="0">
              <a:solidFill>
                <a:schemeClr val="bg1"/>
              </a:solidFill>
            </a:endParaRPr>
          </a:p>
        </p:txBody>
      </p:sp>
      <p:sp>
        <p:nvSpPr>
          <p:cNvPr id="85" name="Text 0">
            <a:extLst>
              <a:ext uri="{FF2B5EF4-FFF2-40B4-BE49-F238E27FC236}">
                <a16:creationId xmlns:a16="http://schemas.microsoft.com/office/drawing/2014/main" id="{AEA12A3D-392F-2494-3617-574B0D39F475}"/>
              </a:ext>
            </a:extLst>
          </p:cNvPr>
          <p:cNvSpPr/>
          <p:nvPr/>
        </p:nvSpPr>
        <p:spPr>
          <a:xfrm>
            <a:off x="457200" y="530352"/>
            <a:ext cx="11247120" cy="438912"/>
          </a:xfrm>
          <a:prstGeom prst="rect">
            <a:avLst/>
          </a:prstGeom>
          <a:noFill/>
          <a:ln/>
        </p:spPr>
        <p:txBody>
          <a:bodyPr wrap="square" lIns="0" tIns="0" rIns="0" bIns="0" rtlCol="0" anchor="ctr"/>
          <a:lstStyle/>
          <a:p>
            <a:pPr marL="0" indent="0">
              <a:buNone/>
            </a:pPr>
            <a:r>
              <a:rPr lang="en-US" sz="2300" b="1" dirty="0">
                <a:solidFill>
                  <a:schemeClr val="bg1"/>
                </a:solidFill>
              </a:rPr>
              <a:t>What the customer receives out of the box</a:t>
            </a:r>
            <a:endParaRPr lang="en-US" sz="2300" dirty="0">
              <a:solidFill>
                <a:schemeClr val="bg1"/>
              </a:solidFill>
            </a:endParaRPr>
          </a:p>
        </p:txBody>
      </p:sp>
      <p:sp>
        <p:nvSpPr>
          <p:cNvPr id="86" name="Text 1">
            <a:extLst>
              <a:ext uri="{FF2B5EF4-FFF2-40B4-BE49-F238E27FC236}">
                <a16:creationId xmlns:a16="http://schemas.microsoft.com/office/drawing/2014/main" id="{CA5F13AA-4502-5536-070E-EEEA89C9057D}"/>
              </a:ext>
            </a:extLst>
          </p:cNvPr>
          <p:cNvSpPr/>
          <p:nvPr/>
        </p:nvSpPr>
        <p:spPr>
          <a:xfrm>
            <a:off x="475488" y="969264"/>
            <a:ext cx="11064240" cy="274320"/>
          </a:xfrm>
          <a:prstGeom prst="rect">
            <a:avLst/>
          </a:prstGeom>
          <a:noFill/>
          <a:ln/>
        </p:spPr>
        <p:txBody>
          <a:bodyPr wrap="square" lIns="0" tIns="0" rIns="0" bIns="0" rtlCol="0" anchor="ctr"/>
          <a:lstStyle/>
          <a:p>
            <a:pPr marL="0" indent="0">
              <a:buNone/>
            </a:pPr>
            <a:r>
              <a:rPr lang="en-US" sz="1050" dirty="0">
                <a:solidFill>
                  <a:schemeClr val="bg1"/>
                </a:solidFill>
              </a:rPr>
              <a:t>A complete private-AI service platform, not an accelerator kit</a:t>
            </a:r>
          </a:p>
        </p:txBody>
      </p:sp>
      <p:sp>
        <p:nvSpPr>
          <p:cNvPr id="87" name="Shape 2">
            <a:extLst>
              <a:ext uri="{FF2B5EF4-FFF2-40B4-BE49-F238E27FC236}">
                <a16:creationId xmlns:a16="http://schemas.microsoft.com/office/drawing/2014/main" id="{A0907455-1578-0529-2244-B45CD66C3DEC}"/>
              </a:ext>
            </a:extLst>
          </p:cNvPr>
          <p:cNvSpPr/>
          <p:nvPr/>
        </p:nvSpPr>
        <p:spPr>
          <a:xfrm>
            <a:off x="502920" y="1389888"/>
            <a:ext cx="3520440" cy="1719072"/>
          </a:xfrm>
          <a:prstGeom prst="roundRect">
            <a:avLst>
              <a:gd name="adj" fmla="val 3191"/>
            </a:avLst>
          </a:prstGeom>
          <a:solidFill>
            <a:srgbClr val="E31737"/>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88" name="Shape 3">
            <a:extLst>
              <a:ext uri="{FF2B5EF4-FFF2-40B4-BE49-F238E27FC236}">
                <a16:creationId xmlns:a16="http://schemas.microsoft.com/office/drawing/2014/main" id="{9A4BB3F5-0E49-876B-4022-A20A21041D66}"/>
              </a:ext>
            </a:extLst>
          </p:cNvPr>
          <p:cNvSpPr/>
          <p:nvPr/>
        </p:nvSpPr>
        <p:spPr>
          <a:xfrm>
            <a:off x="502920" y="1389888"/>
            <a:ext cx="68580" cy="1719072"/>
          </a:xfrm>
          <a:prstGeom prst="rect">
            <a:avLst/>
          </a:prstGeom>
          <a:solidFill>
            <a:schemeClr val="bg1"/>
          </a:solidFill>
          <a:ln w="12700">
            <a:solidFill>
              <a:srgbClr val="C63D55"/>
            </a:solidFill>
            <a:prstDash val="solid"/>
          </a:ln>
        </p:spPr>
        <p:txBody>
          <a:bodyPr/>
          <a:lstStyle/>
          <a:p>
            <a:endParaRPr lang="en-US"/>
          </a:p>
        </p:txBody>
      </p:sp>
      <p:sp>
        <p:nvSpPr>
          <p:cNvPr id="89" name="Text 4">
            <a:extLst>
              <a:ext uri="{FF2B5EF4-FFF2-40B4-BE49-F238E27FC236}">
                <a16:creationId xmlns:a16="http://schemas.microsoft.com/office/drawing/2014/main" id="{91D37919-CC10-EBBB-5426-7BFC8C300F7C}"/>
              </a:ext>
            </a:extLst>
          </p:cNvPr>
          <p:cNvSpPr/>
          <p:nvPr/>
        </p:nvSpPr>
        <p:spPr>
          <a:xfrm>
            <a:off x="667512" y="1508760"/>
            <a:ext cx="3246120" cy="219456"/>
          </a:xfrm>
          <a:prstGeom prst="rect">
            <a:avLst/>
          </a:prstGeom>
          <a:noFill/>
          <a:ln/>
        </p:spPr>
        <p:txBody>
          <a:bodyPr wrap="square" lIns="0" tIns="0" rIns="0" bIns="0" rtlCol="0" anchor="ctr"/>
          <a:lstStyle/>
          <a:p>
            <a:pPr marL="0" indent="0">
              <a:buNone/>
            </a:pPr>
            <a:r>
              <a:rPr lang="en-US" sz="1300" b="1" dirty="0">
                <a:solidFill>
                  <a:schemeClr val="bg1"/>
                </a:solidFill>
              </a:rPr>
              <a:t>OEM-qualified appliance</a:t>
            </a:r>
            <a:endParaRPr lang="en-US" sz="1300" dirty="0">
              <a:solidFill>
                <a:schemeClr val="bg1"/>
              </a:solidFill>
            </a:endParaRPr>
          </a:p>
        </p:txBody>
      </p:sp>
      <p:sp>
        <p:nvSpPr>
          <p:cNvPr id="90" name="Text 5">
            <a:extLst>
              <a:ext uri="{FF2B5EF4-FFF2-40B4-BE49-F238E27FC236}">
                <a16:creationId xmlns:a16="http://schemas.microsoft.com/office/drawing/2014/main" id="{FCC92496-0AC5-5D65-7031-F86DB5297BA7}"/>
              </a:ext>
            </a:extLst>
          </p:cNvPr>
          <p:cNvSpPr/>
          <p:nvPr/>
        </p:nvSpPr>
        <p:spPr>
          <a:xfrm>
            <a:off x="667512" y="1828800"/>
            <a:ext cx="3246120" cy="1188720"/>
          </a:xfrm>
          <a:prstGeom prst="rect">
            <a:avLst/>
          </a:prstGeom>
          <a:noFill/>
          <a:ln/>
        </p:spPr>
        <p:txBody>
          <a:bodyPr wrap="square" lIns="381" tIns="381" rIns="381" bIns="381" rtlCol="0" anchor="t">
            <a:normAutofit/>
          </a:bodyPr>
          <a:lstStyle/>
          <a:p>
            <a:pPr marL="0" indent="0">
              <a:buNone/>
            </a:pPr>
            <a:r>
              <a:rPr lang="en-US" sz="1000" dirty="0">
                <a:solidFill>
                  <a:schemeClr val="bg1"/>
                </a:solidFill>
              </a:rPr>
              <a:t>CPU, ECC DRAM, switches, ATMOS E3.S, NVMe, networking, redundant power</a:t>
            </a:r>
          </a:p>
        </p:txBody>
      </p:sp>
      <p:sp>
        <p:nvSpPr>
          <p:cNvPr id="91" name="Shape 6">
            <a:extLst>
              <a:ext uri="{FF2B5EF4-FFF2-40B4-BE49-F238E27FC236}">
                <a16:creationId xmlns:a16="http://schemas.microsoft.com/office/drawing/2014/main" id="{497BD078-829C-529C-0C0F-0C9329B7DCE8}"/>
              </a:ext>
            </a:extLst>
          </p:cNvPr>
          <p:cNvSpPr/>
          <p:nvPr/>
        </p:nvSpPr>
        <p:spPr>
          <a:xfrm>
            <a:off x="4389120" y="1389888"/>
            <a:ext cx="3520440" cy="1719072"/>
          </a:xfrm>
          <a:prstGeom prst="roundRect">
            <a:avLst>
              <a:gd name="adj" fmla="val 3191"/>
            </a:avLst>
          </a:prstGeom>
          <a:solidFill>
            <a:srgbClr val="E31737"/>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92" name="Shape 7">
            <a:extLst>
              <a:ext uri="{FF2B5EF4-FFF2-40B4-BE49-F238E27FC236}">
                <a16:creationId xmlns:a16="http://schemas.microsoft.com/office/drawing/2014/main" id="{237F47E8-ECEA-2635-7E3A-38B832F2D111}"/>
              </a:ext>
            </a:extLst>
          </p:cNvPr>
          <p:cNvSpPr/>
          <p:nvPr/>
        </p:nvSpPr>
        <p:spPr>
          <a:xfrm>
            <a:off x="4389120" y="1389888"/>
            <a:ext cx="68580" cy="1719072"/>
          </a:xfrm>
          <a:prstGeom prst="rect">
            <a:avLst/>
          </a:prstGeom>
          <a:solidFill>
            <a:schemeClr val="bg1"/>
          </a:solidFill>
          <a:ln w="12700">
            <a:solidFill>
              <a:srgbClr val="D89A27"/>
            </a:solidFill>
            <a:prstDash val="solid"/>
          </a:ln>
        </p:spPr>
        <p:txBody>
          <a:bodyPr/>
          <a:lstStyle/>
          <a:p>
            <a:endParaRPr lang="en-US"/>
          </a:p>
        </p:txBody>
      </p:sp>
      <p:sp>
        <p:nvSpPr>
          <p:cNvPr id="93" name="Text 8">
            <a:extLst>
              <a:ext uri="{FF2B5EF4-FFF2-40B4-BE49-F238E27FC236}">
                <a16:creationId xmlns:a16="http://schemas.microsoft.com/office/drawing/2014/main" id="{62AEF470-FB0F-3049-CF29-B7AC1E6D6636}"/>
              </a:ext>
            </a:extLst>
          </p:cNvPr>
          <p:cNvSpPr/>
          <p:nvPr/>
        </p:nvSpPr>
        <p:spPr>
          <a:xfrm>
            <a:off x="4553712" y="1508760"/>
            <a:ext cx="3246120" cy="219456"/>
          </a:xfrm>
          <a:prstGeom prst="rect">
            <a:avLst/>
          </a:prstGeom>
          <a:noFill/>
          <a:ln/>
        </p:spPr>
        <p:txBody>
          <a:bodyPr wrap="square" lIns="0" tIns="0" rIns="0" bIns="0" rtlCol="0" anchor="ctr"/>
          <a:lstStyle/>
          <a:p>
            <a:pPr marL="0" indent="0">
              <a:buNone/>
            </a:pPr>
            <a:r>
              <a:rPr lang="en-US" sz="1300" b="1" dirty="0">
                <a:solidFill>
                  <a:schemeClr val="bg1"/>
                </a:solidFill>
              </a:rPr>
              <a:t>ATMOS AI OS</a:t>
            </a:r>
            <a:endParaRPr lang="en-US" sz="1300" dirty="0">
              <a:solidFill>
                <a:schemeClr val="bg1"/>
              </a:solidFill>
            </a:endParaRPr>
          </a:p>
        </p:txBody>
      </p:sp>
      <p:sp>
        <p:nvSpPr>
          <p:cNvPr id="94" name="Text 9">
            <a:extLst>
              <a:ext uri="{FF2B5EF4-FFF2-40B4-BE49-F238E27FC236}">
                <a16:creationId xmlns:a16="http://schemas.microsoft.com/office/drawing/2014/main" id="{9582B4BB-691A-DC67-CCB7-1E8346F6FE59}"/>
              </a:ext>
            </a:extLst>
          </p:cNvPr>
          <p:cNvSpPr/>
          <p:nvPr/>
        </p:nvSpPr>
        <p:spPr>
          <a:xfrm>
            <a:off x="4553712" y="1828800"/>
            <a:ext cx="3246120" cy="1188720"/>
          </a:xfrm>
          <a:prstGeom prst="rect">
            <a:avLst/>
          </a:prstGeom>
          <a:noFill/>
          <a:ln/>
        </p:spPr>
        <p:txBody>
          <a:bodyPr wrap="square" lIns="381" tIns="381" rIns="381" bIns="381" rtlCol="0" anchor="t">
            <a:normAutofit/>
          </a:bodyPr>
          <a:lstStyle/>
          <a:p>
            <a:pPr marL="0" indent="0">
              <a:buNone/>
            </a:pPr>
            <a:r>
              <a:rPr lang="en-US" sz="1000" dirty="0">
                <a:solidFill>
                  <a:schemeClr val="bg1"/>
                </a:solidFill>
              </a:rPr>
              <a:t>Hardened image, drivers, runtime, Kubernetes, signed updates and recovery</a:t>
            </a:r>
          </a:p>
        </p:txBody>
      </p:sp>
      <p:sp>
        <p:nvSpPr>
          <p:cNvPr id="95" name="Shape 10">
            <a:extLst>
              <a:ext uri="{FF2B5EF4-FFF2-40B4-BE49-F238E27FC236}">
                <a16:creationId xmlns:a16="http://schemas.microsoft.com/office/drawing/2014/main" id="{1F0A6ABE-B154-B484-AB74-85B296CCC125}"/>
              </a:ext>
            </a:extLst>
          </p:cNvPr>
          <p:cNvSpPr/>
          <p:nvPr/>
        </p:nvSpPr>
        <p:spPr>
          <a:xfrm>
            <a:off x="8275320" y="1389888"/>
            <a:ext cx="3520440" cy="1719072"/>
          </a:xfrm>
          <a:prstGeom prst="roundRect">
            <a:avLst>
              <a:gd name="adj" fmla="val 3191"/>
            </a:avLst>
          </a:prstGeom>
          <a:solidFill>
            <a:srgbClr val="E31737"/>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96" name="Shape 11">
            <a:extLst>
              <a:ext uri="{FF2B5EF4-FFF2-40B4-BE49-F238E27FC236}">
                <a16:creationId xmlns:a16="http://schemas.microsoft.com/office/drawing/2014/main" id="{AACACC4A-C9A9-7505-BD08-8A3FD7CB4556}"/>
              </a:ext>
            </a:extLst>
          </p:cNvPr>
          <p:cNvSpPr/>
          <p:nvPr/>
        </p:nvSpPr>
        <p:spPr>
          <a:xfrm>
            <a:off x="8275320" y="1389888"/>
            <a:ext cx="68580" cy="1719072"/>
          </a:xfrm>
          <a:prstGeom prst="rect">
            <a:avLst/>
          </a:prstGeom>
          <a:solidFill>
            <a:schemeClr val="bg1"/>
          </a:solidFill>
          <a:ln w="12700">
            <a:solidFill>
              <a:srgbClr val="008E83"/>
            </a:solidFill>
            <a:prstDash val="solid"/>
          </a:ln>
        </p:spPr>
        <p:txBody>
          <a:bodyPr/>
          <a:lstStyle/>
          <a:p>
            <a:endParaRPr lang="en-US"/>
          </a:p>
        </p:txBody>
      </p:sp>
      <p:sp>
        <p:nvSpPr>
          <p:cNvPr id="97" name="Text 12">
            <a:extLst>
              <a:ext uri="{FF2B5EF4-FFF2-40B4-BE49-F238E27FC236}">
                <a16:creationId xmlns:a16="http://schemas.microsoft.com/office/drawing/2014/main" id="{76E5D3E6-D3F2-457F-E845-4AD1299EDA5E}"/>
              </a:ext>
            </a:extLst>
          </p:cNvPr>
          <p:cNvSpPr/>
          <p:nvPr/>
        </p:nvSpPr>
        <p:spPr>
          <a:xfrm>
            <a:off x="8439912" y="1508760"/>
            <a:ext cx="3246120" cy="219456"/>
          </a:xfrm>
          <a:prstGeom prst="rect">
            <a:avLst/>
          </a:prstGeom>
          <a:noFill/>
          <a:ln/>
        </p:spPr>
        <p:txBody>
          <a:bodyPr wrap="square" lIns="0" tIns="0" rIns="0" bIns="0" rtlCol="0" anchor="ctr"/>
          <a:lstStyle/>
          <a:p>
            <a:pPr marL="0" indent="0">
              <a:buNone/>
            </a:pPr>
            <a:r>
              <a:rPr lang="en-US" sz="1300" b="1" dirty="0">
                <a:solidFill>
                  <a:schemeClr val="bg1"/>
                </a:solidFill>
              </a:rPr>
              <a:t>Certified AI services</a:t>
            </a:r>
            <a:endParaRPr lang="en-US" sz="1300" dirty="0">
              <a:solidFill>
                <a:schemeClr val="bg1"/>
              </a:solidFill>
            </a:endParaRPr>
          </a:p>
        </p:txBody>
      </p:sp>
      <p:sp>
        <p:nvSpPr>
          <p:cNvPr id="98" name="Text 13">
            <a:extLst>
              <a:ext uri="{FF2B5EF4-FFF2-40B4-BE49-F238E27FC236}">
                <a16:creationId xmlns:a16="http://schemas.microsoft.com/office/drawing/2014/main" id="{F54E9216-2EEB-CB2C-F186-0B316B513D1A}"/>
              </a:ext>
            </a:extLst>
          </p:cNvPr>
          <p:cNvSpPr/>
          <p:nvPr/>
        </p:nvSpPr>
        <p:spPr>
          <a:xfrm>
            <a:off x="8439912" y="1828800"/>
            <a:ext cx="3246120" cy="1188720"/>
          </a:xfrm>
          <a:prstGeom prst="rect">
            <a:avLst/>
          </a:prstGeom>
          <a:noFill/>
          <a:ln/>
        </p:spPr>
        <p:txBody>
          <a:bodyPr wrap="square" lIns="381" tIns="381" rIns="381" bIns="381" rtlCol="0" anchor="t">
            <a:normAutofit/>
          </a:bodyPr>
          <a:lstStyle/>
          <a:p>
            <a:pPr marL="0" indent="0">
              <a:buNone/>
            </a:pPr>
            <a:r>
              <a:rPr lang="en-US" sz="1000" dirty="0">
                <a:solidFill>
                  <a:schemeClr val="bg1"/>
                </a:solidFill>
              </a:rPr>
              <a:t>Embeddings, retrieval, reranking, document AI and qualified LLM endpoints</a:t>
            </a:r>
          </a:p>
        </p:txBody>
      </p:sp>
      <p:sp>
        <p:nvSpPr>
          <p:cNvPr id="99" name="Shape 14">
            <a:extLst>
              <a:ext uri="{FF2B5EF4-FFF2-40B4-BE49-F238E27FC236}">
                <a16:creationId xmlns:a16="http://schemas.microsoft.com/office/drawing/2014/main" id="{651AC81F-35F6-4512-0FF7-7E441FD22655}"/>
              </a:ext>
            </a:extLst>
          </p:cNvPr>
          <p:cNvSpPr/>
          <p:nvPr/>
        </p:nvSpPr>
        <p:spPr>
          <a:xfrm>
            <a:off x="502920" y="3474720"/>
            <a:ext cx="3520440" cy="1719072"/>
          </a:xfrm>
          <a:prstGeom prst="roundRect">
            <a:avLst>
              <a:gd name="adj" fmla="val 3191"/>
            </a:avLst>
          </a:prstGeom>
          <a:solidFill>
            <a:srgbClr val="E31737"/>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100" name="Shape 15">
            <a:extLst>
              <a:ext uri="{FF2B5EF4-FFF2-40B4-BE49-F238E27FC236}">
                <a16:creationId xmlns:a16="http://schemas.microsoft.com/office/drawing/2014/main" id="{D3ED0440-86DA-7405-468C-064DC05A6FFB}"/>
              </a:ext>
            </a:extLst>
          </p:cNvPr>
          <p:cNvSpPr/>
          <p:nvPr/>
        </p:nvSpPr>
        <p:spPr>
          <a:xfrm>
            <a:off x="502920" y="3474720"/>
            <a:ext cx="68580" cy="1719072"/>
          </a:xfrm>
          <a:prstGeom prst="rect">
            <a:avLst/>
          </a:prstGeom>
          <a:solidFill>
            <a:schemeClr val="bg1"/>
          </a:solidFill>
          <a:ln w="12700">
            <a:solidFill>
              <a:srgbClr val="48B7C5"/>
            </a:solidFill>
            <a:prstDash val="solid"/>
          </a:ln>
        </p:spPr>
        <p:txBody>
          <a:bodyPr/>
          <a:lstStyle/>
          <a:p>
            <a:endParaRPr lang="en-US"/>
          </a:p>
        </p:txBody>
      </p:sp>
      <p:sp>
        <p:nvSpPr>
          <p:cNvPr id="101" name="Text 16">
            <a:extLst>
              <a:ext uri="{FF2B5EF4-FFF2-40B4-BE49-F238E27FC236}">
                <a16:creationId xmlns:a16="http://schemas.microsoft.com/office/drawing/2014/main" id="{F48D4C00-74E6-B6A2-E730-33D526C711BE}"/>
              </a:ext>
            </a:extLst>
          </p:cNvPr>
          <p:cNvSpPr/>
          <p:nvPr/>
        </p:nvSpPr>
        <p:spPr>
          <a:xfrm>
            <a:off x="667512" y="3593592"/>
            <a:ext cx="3246120" cy="219456"/>
          </a:xfrm>
          <a:prstGeom prst="rect">
            <a:avLst/>
          </a:prstGeom>
          <a:noFill/>
          <a:ln/>
        </p:spPr>
        <p:txBody>
          <a:bodyPr wrap="square" lIns="0" tIns="0" rIns="0" bIns="0" rtlCol="0" anchor="ctr"/>
          <a:lstStyle/>
          <a:p>
            <a:pPr marL="0" indent="0">
              <a:buNone/>
            </a:pPr>
            <a:r>
              <a:rPr lang="en-US" sz="1300" b="1" dirty="0">
                <a:solidFill>
                  <a:schemeClr val="bg1"/>
                </a:solidFill>
              </a:rPr>
              <a:t>Enterprise Knowledge Agent</a:t>
            </a:r>
            <a:endParaRPr lang="en-US" sz="1300" dirty="0">
              <a:solidFill>
                <a:schemeClr val="bg1"/>
              </a:solidFill>
            </a:endParaRPr>
          </a:p>
        </p:txBody>
      </p:sp>
      <p:sp>
        <p:nvSpPr>
          <p:cNvPr id="102" name="Text 17">
            <a:extLst>
              <a:ext uri="{FF2B5EF4-FFF2-40B4-BE49-F238E27FC236}">
                <a16:creationId xmlns:a16="http://schemas.microsoft.com/office/drawing/2014/main" id="{43101D18-9CA0-171A-4C19-16F4639AE716}"/>
              </a:ext>
            </a:extLst>
          </p:cNvPr>
          <p:cNvSpPr/>
          <p:nvPr/>
        </p:nvSpPr>
        <p:spPr>
          <a:xfrm>
            <a:off x="667512" y="3913632"/>
            <a:ext cx="3246120" cy="1188720"/>
          </a:xfrm>
          <a:prstGeom prst="rect">
            <a:avLst/>
          </a:prstGeom>
          <a:noFill/>
          <a:ln/>
        </p:spPr>
        <p:txBody>
          <a:bodyPr wrap="square" lIns="381" tIns="381" rIns="381" bIns="381" rtlCol="0" anchor="t">
            <a:normAutofit/>
          </a:bodyPr>
          <a:lstStyle/>
          <a:p>
            <a:pPr marL="0" indent="0">
              <a:buNone/>
            </a:pPr>
            <a:r>
              <a:rPr lang="en-US" sz="1000" dirty="0">
                <a:solidFill>
                  <a:schemeClr val="bg1"/>
                </a:solidFill>
              </a:rPr>
              <a:t>Ingestion, hybrid retrieval, citations, governed tools and evaluation</a:t>
            </a:r>
          </a:p>
        </p:txBody>
      </p:sp>
      <p:sp>
        <p:nvSpPr>
          <p:cNvPr id="103" name="Shape 18">
            <a:extLst>
              <a:ext uri="{FF2B5EF4-FFF2-40B4-BE49-F238E27FC236}">
                <a16:creationId xmlns:a16="http://schemas.microsoft.com/office/drawing/2014/main" id="{FE2A9FEA-E83D-0152-2615-96A1313047C7}"/>
              </a:ext>
            </a:extLst>
          </p:cNvPr>
          <p:cNvSpPr/>
          <p:nvPr/>
        </p:nvSpPr>
        <p:spPr>
          <a:xfrm>
            <a:off x="4389120" y="3474720"/>
            <a:ext cx="3520440" cy="1719072"/>
          </a:xfrm>
          <a:prstGeom prst="roundRect">
            <a:avLst>
              <a:gd name="adj" fmla="val 3191"/>
            </a:avLst>
          </a:prstGeom>
          <a:solidFill>
            <a:srgbClr val="E31737"/>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104" name="Shape 19">
            <a:extLst>
              <a:ext uri="{FF2B5EF4-FFF2-40B4-BE49-F238E27FC236}">
                <a16:creationId xmlns:a16="http://schemas.microsoft.com/office/drawing/2014/main" id="{A494D1F1-4B7E-18C7-518E-81D9601CF341}"/>
              </a:ext>
            </a:extLst>
          </p:cNvPr>
          <p:cNvSpPr/>
          <p:nvPr/>
        </p:nvSpPr>
        <p:spPr>
          <a:xfrm>
            <a:off x="4389120" y="3474720"/>
            <a:ext cx="68580" cy="1719072"/>
          </a:xfrm>
          <a:prstGeom prst="rect">
            <a:avLst/>
          </a:prstGeom>
          <a:solidFill>
            <a:schemeClr val="bg1"/>
          </a:solidFill>
          <a:ln w="12700">
            <a:solidFill>
              <a:srgbClr val="1679B8"/>
            </a:solidFill>
            <a:prstDash val="solid"/>
          </a:ln>
        </p:spPr>
        <p:txBody>
          <a:bodyPr/>
          <a:lstStyle/>
          <a:p>
            <a:endParaRPr lang="en-US"/>
          </a:p>
        </p:txBody>
      </p:sp>
      <p:sp>
        <p:nvSpPr>
          <p:cNvPr id="105" name="Text 20">
            <a:extLst>
              <a:ext uri="{FF2B5EF4-FFF2-40B4-BE49-F238E27FC236}">
                <a16:creationId xmlns:a16="http://schemas.microsoft.com/office/drawing/2014/main" id="{E8AE1E58-268C-DACA-B221-7CE0D842C648}"/>
              </a:ext>
            </a:extLst>
          </p:cNvPr>
          <p:cNvSpPr/>
          <p:nvPr/>
        </p:nvSpPr>
        <p:spPr>
          <a:xfrm>
            <a:off x="4553712" y="3593592"/>
            <a:ext cx="3246120" cy="219456"/>
          </a:xfrm>
          <a:prstGeom prst="rect">
            <a:avLst/>
          </a:prstGeom>
          <a:noFill/>
          <a:ln/>
        </p:spPr>
        <p:txBody>
          <a:bodyPr wrap="square" lIns="0" tIns="0" rIns="0" bIns="0" rtlCol="0" anchor="ctr"/>
          <a:lstStyle/>
          <a:p>
            <a:pPr marL="0" indent="0">
              <a:buNone/>
            </a:pPr>
            <a:r>
              <a:rPr lang="en-US" sz="1300" b="1" dirty="0">
                <a:solidFill>
                  <a:schemeClr val="bg1"/>
                </a:solidFill>
              </a:rPr>
              <a:t>Control Center</a:t>
            </a:r>
            <a:endParaRPr lang="en-US" sz="1300" dirty="0">
              <a:solidFill>
                <a:schemeClr val="bg1"/>
              </a:solidFill>
            </a:endParaRPr>
          </a:p>
        </p:txBody>
      </p:sp>
      <p:sp>
        <p:nvSpPr>
          <p:cNvPr id="106" name="Text 21">
            <a:extLst>
              <a:ext uri="{FF2B5EF4-FFF2-40B4-BE49-F238E27FC236}">
                <a16:creationId xmlns:a16="http://schemas.microsoft.com/office/drawing/2014/main" id="{5B547B80-41C1-8964-BD3C-86CF81964A76}"/>
              </a:ext>
            </a:extLst>
          </p:cNvPr>
          <p:cNvSpPr/>
          <p:nvPr/>
        </p:nvSpPr>
        <p:spPr>
          <a:xfrm>
            <a:off x="4553712" y="3913632"/>
            <a:ext cx="3246120" cy="1188720"/>
          </a:xfrm>
          <a:prstGeom prst="rect">
            <a:avLst/>
          </a:prstGeom>
          <a:noFill/>
          <a:ln/>
        </p:spPr>
        <p:txBody>
          <a:bodyPr wrap="square" lIns="381" tIns="381" rIns="381" bIns="381" rtlCol="0" anchor="t">
            <a:normAutofit/>
          </a:bodyPr>
          <a:lstStyle/>
          <a:p>
            <a:pPr marL="0" indent="0">
              <a:buNone/>
            </a:pPr>
            <a:r>
              <a:rPr lang="en-US" sz="1000" dirty="0">
                <a:solidFill>
                  <a:schemeClr val="bg1"/>
                </a:solidFill>
              </a:rPr>
              <a:t>Fleet, SLO, usage, thermals, updates, audit and support bundles</a:t>
            </a:r>
          </a:p>
        </p:txBody>
      </p:sp>
      <p:sp>
        <p:nvSpPr>
          <p:cNvPr id="107" name="Shape 22">
            <a:extLst>
              <a:ext uri="{FF2B5EF4-FFF2-40B4-BE49-F238E27FC236}">
                <a16:creationId xmlns:a16="http://schemas.microsoft.com/office/drawing/2014/main" id="{F3942A4F-A4B2-40E4-C70A-BB745FAA4DA6}"/>
              </a:ext>
            </a:extLst>
          </p:cNvPr>
          <p:cNvSpPr/>
          <p:nvPr/>
        </p:nvSpPr>
        <p:spPr>
          <a:xfrm>
            <a:off x="8275320" y="3474720"/>
            <a:ext cx="3520440" cy="1719072"/>
          </a:xfrm>
          <a:prstGeom prst="roundRect">
            <a:avLst>
              <a:gd name="adj" fmla="val 3191"/>
            </a:avLst>
          </a:prstGeom>
          <a:solidFill>
            <a:srgbClr val="E31737"/>
          </a:solidFill>
          <a:ln w="10160">
            <a:solidFill>
              <a:srgbClr val="D3E0E7"/>
            </a:solidFill>
            <a:prstDash val="solid"/>
          </a:ln>
          <a:effectLst>
            <a:outerShdw blurRad="15240" dist="6350" dir="2700000" algn="bl" rotWithShape="0">
              <a:srgbClr val="000000">
                <a:alpha val="10000"/>
              </a:srgbClr>
            </a:outerShdw>
          </a:effectLst>
        </p:spPr>
        <p:txBody>
          <a:bodyPr/>
          <a:lstStyle/>
          <a:p>
            <a:endParaRPr lang="en-US"/>
          </a:p>
        </p:txBody>
      </p:sp>
      <p:sp>
        <p:nvSpPr>
          <p:cNvPr id="108" name="Shape 23">
            <a:extLst>
              <a:ext uri="{FF2B5EF4-FFF2-40B4-BE49-F238E27FC236}">
                <a16:creationId xmlns:a16="http://schemas.microsoft.com/office/drawing/2014/main" id="{C73728D8-A363-87A8-606D-D3C696A9924A}"/>
              </a:ext>
            </a:extLst>
          </p:cNvPr>
          <p:cNvSpPr/>
          <p:nvPr/>
        </p:nvSpPr>
        <p:spPr>
          <a:xfrm>
            <a:off x="8275320" y="3474720"/>
            <a:ext cx="68580" cy="1719072"/>
          </a:xfrm>
          <a:prstGeom prst="rect">
            <a:avLst/>
          </a:prstGeom>
          <a:solidFill>
            <a:schemeClr val="bg1"/>
          </a:solidFill>
          <a:ln w="12700">
            <a:solidFill>
              <a:srgbClr val="30A46C"/>
            </a:solidFill>
            <a:prstDash val="solid"/>
          </a:ln>
        </p:spPr>
        <p:txBody>
          <a:bodyPr/>
          <a:lstStyle/>
          <a:p>
            <a:endParaRPr lang="en-US"/>
          </a:p>
        </p:txBody>
      </p:sp>
      <p:sp>
        <p:nvSpPr>
          <p:cNvPr id="109" name="Text 24">
            <a:extLst>
              <a:ext uri="{FF2B5EF4-FFF2-40B4-BE49-F238E27FC236}">
                <a16:creationId xmlns:a16="http://schemas.microsoft.com/office/drawing/2014/main" id="{87DAA5B9-2C1E-7DAB-86B5-5528B4B096A5}"/>
              </a:ext>
            </a:extLst>
          </p:cNvPr>
          <p:cNvSpPr/>
          <p:nvPr/>
        </p:nvSpPr>
        <p:spPr>
          <a:xfrm>
            <a:off x="8439912" y="3593592"/>
            <a:ext cx="3246120" cy="219456"/>
          </a:xfrm>
          <a:prstGeom prst="rect">
            <a:avLst/>
          </a:prstGeom>
          <a:noFill/>
          <a:ln/>
        </p:spPr>
        <p:txBody>
          <a:bodyPr wrap="square" lIns="0" tIns="0" rIns="0" bIns="0" rtlCol="0" anchor="ctr"/>
          <a:lstStyle/>
          <a:p>
            <a:pPr marL="0" indent="0">
              <a:buNone/>
            </a:pPr>
            <a:r>
              <a:rPr lang="en-US" sz="1300" b="1" dirty="0">
                <a:solidFill>
                  <a:schemeClr val="bg1"/>
                </a:solidFill>
              </a:rPr>
              <a:t>Enterprise support</a:t>
            </a:r>
            <a:endParaRPr lang="en-US" sz="1300" dirty="0">
              <a:solidFill>
                <a:schemeClr val="bg1"/>
              </a:solidFill>
            </a:endParaRPr>
          </a:p>
        </p:txBody>
      </p:sp>
      <p:sp>
        <p:nvSpPr>
          <p:cNvPr id="110" name="Text 25">
            <a:extLst>
              <a:ext uri="{FF2B5EF4-FFF2-40B4-BE49-F238E27FC236}">
                <a16:creationId xmlns:a16="http://schemas.microsoft.com/office/drawing/2014/main" id="{85E26B63-A42C-403C-A517-D3B6F5C4F522}"/>
              </a:ext>
            </a:extLst>
          </p:cNvPr>
          <p:cNvSpPr/>
          <p:nvPr/>
        </p:nvSpPr>
        <p:spPr>
          <a:xfrm>
            <a:off x="8439912" y="3913632"/>
            <a:ext cx="3246120" cy="1188720"/>
          </a:xfrm>
          <a:prstGeom prst="rect">
            <a:avLst/>
          </a:prstGeom>
          <a:noFill/>
          <a:ln/>
        </p:spPr>
        <p:txBody>
          <a:bodyPr wrap="square" lIns="381" tIns="381" rIns="381" bIns="381" rtlCol="0" anchor="t">
            <a:normAutofit/>
          </a:bodyPr>
          <a:lstStyle/>
          <a:p>
            <a:pPr marL="0" indent="0">
              <a:buNone/>
            </a:pPr>
            <a:r>
              <a:rPr lang="en-US" sz="1000" dirty="0">
                <a:solidFill>
                  <a:schemeClr val="bg1"/>
                </a:solidFill>
              </a:rPr>
              <a:t>Production/LTS releases, CVE response, OEM field service coordination</a:t>
            </a:r>
          </a:p>
        </p:txBody>
      </p:sp>
      <p:sp>
        <p:nvSpPr>
          <p:cNvPr id="16" name="Text 11">
            <a:extLst>
              <a:ext uri="{FF2B5EF4-FFF2-40B4-BE49-F238E27FC236}">
                <a16:creationId xmlns:a16="http://schemas.microsoft.com/office/drawing/2014/main" id="{05C6B500-190A-8798-4016-7B250F01D3A0}"/>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07</a:t>
            </a:r>
            <a:endParaRPr lang="en-US" sz="920" dirty="0">
              <a:solidFill>
                <a:schemeClr val="bg1"/>
              </a:solidFill>
            </a:endParaRPr>
          </a:p>
        </p:txBody>
      </p:sp>
      <p:sp>
        <p:nvSpPr>
          <p:cNvPr id="17" name="Shape 8">
            <a:extLst>
              <a:ext uri="{FF2B5EF4-FFF2-40B4-BE49-F238E27FC236}">
                <a16:creationId xmlns:a16="http://schemas.microsoft.com/office/drawing/2014/main" id="{A9E08B37-EC2A-EB41-7983-D20D19C71856}"/>
              </a:ext>
            </a:extLst>
          </p:cNvPr>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solidFill>
                <a:schemeClr val="bg1"/>
              </a:solidFill>
            </a:endParaRPr>
          </a:p>
        </p:txBody>
      </p:sp>
    </p:spTree>
    <p:extLst>
      <p:ext uri="{BB962C8B-B14F-4D97-AF65-F5344CB8AC3E}">
        <p14:creationId xmlns:p14="http://schemas.microsoft.com/office/powerpoint/2010/main" val="3201999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Image 0" descr="/mnt/data/atmos_exec_v3/assets/cover.png">
            <a:extLst>
              <a:ext uri="{FF2B5EF4-FFF2-40B4-BE49-F238E27FC236}">
                <a16:creationId xmlns:a16="http://schemas.microsoft.com/office/drawing/2014/main" id="{35DCB8AA-60B6-FE25-A815-FEA6DC22E7F6}"/>
              </a:ext>
            </a:extLst>
          </p:cNvPr>
          <p:cNvPicPr>
            <a:picLocks noChangeAspect="1"/>
          </p:cNvPicPr>
          <p:nvPr/>
        </p:nvPicPr>
        <p:blipFill>
          <a:blip r:embed="rId3"/>
          <a:stretch>
            <a:fillRect/>
          </a:stretch>
        </p:blipFill>
        <p:spPr>
          <a:xfrm>
            <a:off x="45666" y="192024"/>
            <a:ext cx="12100667" cy="6858000"/>
          </a:xfrm>
          <a:prstGeom prst="rect">
            <a:avLst/>
          </a:prstGeom>
        </p:spPr>
      </p:pic>
      <p:sp>
        <p:nvSpPr>
          <p:cNvPr id="49" name="Shape 0">
            <a:extLst>
              <a:ext uri="{FF2B5EF4-FFF2-40B4-BE49-F238E27FC236}">
                <a16:creationId xmlns:a16="http://schemas.microsoft.com/office/drawing/2014/main" id="{A5FD5B3B-4B88-D591-BF50-03A7AC82E3F0}"/>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50" name="Shape 0">
            <a:extLst>
              <a:ext uri="{FF2B5EF4-FFF2-40B4-BE49-F238E27FC236}">
                <a16:creationId xmlns:a16="http://schemas.microsoft.com/office/drawing/2014/main" id="{01680CA2-6394-61CB-414E-43E781A99EF7}"/>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51" name="Shape 0">
            <a:extLst>
              <a:ext uri="{FF2B5EF4-FFF2-40B4-BE49-F238E27FC236}">
                <a16:creationId xmlns:a16="http://schemas.microsoft.com/office/drawing/2014/main" id="{D40BCF8A-7238-912E-21C8-4CBCBFE8E25B}"/>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52" name="Rectangle 51">
            <a:extLst>
              <a:ext uri="{FF2B5EF4-FFF2-40B4-BE49-F238E27FC236}">
                <a16:creationId xmlns:a16="http://schemas.microsoft.com/office/drawing/2014/main" id="{54A0DDD1-AFF1-1DE9-E3AF-71B22DD7A237}"/>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53" name="Text 1">
            <a:extLst>
              <a:ext uri="{FF2B5EF4-FFF2-40B4-BE49-F238E27FC236}">
                <a16:creationId xmlns:a16="http://schemas.microsoft.com/office/drawing/2014/main" id="{BCBFBD27-883D-1BE8-4888-32CDE478F91E}"/>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54" name="Shape 0">
            <a:extLst>
              <a:ext uri="{FF2B5EF4-FFF2-40B4-BE49-F238E27FC236}">
                <a16:creationId xmlns:a16="http://schemas.microsoft.com/office/drawing/2014/main" id="{174E525C-B231-D46A-327F-C64479ACFC11}"/>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 name="Text 2"/>
          <p:cNvSpPr/>
          <p:nvPr/>
        </p:nvSpPr>
        <p:spPr>
          <a:xfrm>
            <a:off x="11123676" y="246889"/>
            <a:ext cx="886968" cy="137159"/>
          </a:xfrm>
          <a:prstGeom prst="rect">
            <a:avLst/>
          </a:prstGeom>
          <a:noFill/>
          <a:ln/>
        </p:spPr>
        <p:txBody>
          <a:bodyPr wrap="square" lIns="0" tIns="0" rIns="0" bIns="0" rtlCol="0" anchor="ctr"/>
          <a:lstStyle/>
          <a:p>
            <a:pPr marL="0" indent="0" algn="l">
              <a:buNone/>
            </a:pPr>
            <a:r>
              <a:rPr lang="en-US" sz="1050" b="1" dirty="0">
                <a:solidFill>
                  <a:schemeClr val="bg1"/>
                </a:solidFill>
                <a:latin typeface="Arial" pitchFamily="34" charset="0"/>
                <a:ea typeface="Arial" pitchFamily="34" charset="-122"/>
                <a:cs typeface="Arial" pitchFamily="34" charset="-120"/>
              </a:rPr>
              <a:t>Architecture</a:t>
            </a:r>
            <a:endParaRPr lang="en-US" sz="1050" dirty="0">
              <a:solidFill>
                <a:schemeClr val="bg1"/>
              </a:solidFill>
            </a:endParaRPr>
          </a:p>
        </p:txBody>
      </p:sp>
      <p:sp>
        <p:nvSpPr>
          <p:cNvPr id="5" name="Text 3"/>
          <p:cNvSpPr/>
          <p:nvPr/>
        </p:nvSpPr>
        <p:spPr>
          <a:xfrm>
            <a:off x="475488" y="758952"/>
            <a:ext cx="11201400" cy="493776"/>
          </a:xfrm>
          <a:prstGeom prst="rect">
            <a:avLst/>
          </a:prstGeom>
          <a:noFill/>
          <a:ln/>
        </p:spPr>
        <p:txBody>
          <a:bodyPr wrap="square" lIns="0" tIns="0" rIns="0" bIns="0" rtlCol="0" anchor="ctr"/>
          <a:lstStyle/>
          <a:p>
            <a:pPr marL="0" indent="0" algn="l">
              <a:buNone/>
            </a:pPr>
            <a:r>
              <a:rPr lang="en-US" sz="2750" b="1" dirty="0">
                <a:solidFill>
                  <a:schemeClr val="bg1"/>
                </a:solidFill>
                <a:latin typeface="Arial" pitchFamily="34" charset="0"/>
                <a:ea typeface="Arial" pitchFamily="34" charset="-122"/>
                <a:cs typeface="Arial" pitchFamily="34" charset="-120"/>
              </a:rPr>
              <a:t>The Turnkey Architecture behind the appliance.</a:t>
            </a:r>
            <a:endParaRPr lang="en-US" sz="2750" dirty="0">
              <a:solidFill>
                <a:schemeClr val="bg1"/>
              </a:solidFill>
            </a:endParaRPr>
          </a:p>
        </p:txBody>
      </p:sp>
      <p:sp>
        <p:nvSpPr>
          <p:cNvPr id="6" name="Text 4"/>
          <p:cNvSpPr/>
          <p:nvPr/>
        </p:nvSpPr>
        <p:spPr>
          <a:xfrm>
            <a:off x="502920" y="1298448"/>
            <a:ext cx="11064240" cy="411480"/>
          </a:xfrm>
          <a:prstGeom prst="rect">
            <a:avLst/>
          </a:prstGeom>
          <a:noFill/>
          <a:ln/>
        </p:spPr>
        <p:txBody>
          <a:bodyPr wrap="square" lIns="0" tIns="0" rIns="0" bIns="0" rtlCol="0" anchor="ctr"/>
          <a:lstStyle/>
          <a:p>
            <a:pPr marL="0" indent="0" algn="l">
              <a:buNone/>
            </a:pPr>
            <a:r>
              <a:rPr lang="en-US" sz="1350" dirty="0">
                <a:solidFill>
                  <a:schemeClr val="bg1"/>
                </a:solidFill>
                <a:latin typeface="Arial" pitchFamily="34" charset="0"/>
                <a:ea typeface="Arial" pitchFamily="34" charset="-122"/>
                <a:cs typeface="Arial" pitchFamily="34" charset="-120"/>
              </a:rPr>
              <a:t>Customer inference, policy and data remain local; SanDisk operates the release and support plane.</a:t>
            </a:r>
            <a:endParaRPr lang="en-US" sz="1350" dirty="0">
              <a:solidFill>
                <a:schemeClr val="bg1"/>
              </a:solidFill>
            </a:endParaRPr>
          </a:p>
        </p:txBody>
      </p:sp>
      <p:sp>
        <p:nvSpPr>
          <p:cNvPr id="11" name="Shape 9"/>
          <p:cNvSpPr/>
          <p:nvPr/>
        </p:nvSpPr>
        <p:spPr>
          <a:xfrm>
            <a:off x="521208" y="1847088"/>
            <a:ext cx="2953512" cy="3749040"/>
          </a:xfrm>
          <a:prstGeom prst="rect">
            <a:avLst/>
          </a:prstGeom>
          <a:solidFill>
            <a:srgbClr val="C00000"/>
          </a:solidFill>
          <a:ln w="10160">
            <a:solidFill>
              <a:srgbClr val="F3F4F6"/>
            </a:solidFill>
            <a:prstDash val="solid"/>
          </a:ln>
        </p:spPr>
        <p:txBody>
          <a:bodyPr/>
          <a:lstStyle/>
          <a:p>
            <a:endParaRPr lang="en-US"/>
          </a:p>
        </p:txBody>
      </p:sp>
      <p:sp>
        <p:nvSpPr>
          <p:cNvPr id="12" name="Shape 10"/>
          <p:cNvSpPr/>
          <p:nvPr/>
        </p:nvSpPr>
        <p:spPr>
          <a:xfrm>
            <a:off x="704088" y="2029968"/>
            <a:ext cx="2148840" cy="301752"/>
          </a:xfrm>
          <a:prstGeom prst="rect">
            <a:avLst/>
          </a:prstGeom>
          <a:solidFill>
            <a:schemeClr val="tx1"/>
          </a:solidFill>
          <a:ln w="10160">
            <a:solidFill>
              <a:srgbClr val="FCECEF"/>
            </a:solidFill>
            <a:prstDash val="solid"/>
          </a:ln>
        </p:spPr>
        <p:txBody>
          <a:bodyPr/>
          <a:lstStyle/>
          <a:p>
            <a:endParaRPr lang="en-US"/>
          </a:p>
        </p:txBody>
      </p:sp>
      <p:sp>
        <p:nvSpPr>
          <p:cNvPr id="13" name="Text 11"/>
          <p:cNvSpPr/>
          <p:nvPr/>
        </p:nvSpPr>
        <p:spPr>
          <a:xfrm>
            <a:off x="795528" y="2052828"/>
            <a:ext cx="1965960" cy="256032"/>
          </a:xfrm>
          <a:prstGeom prst="rect">
            <a:avLst/>
          </a:prstGeom>
          <a:noFill/>
          <a:ln/>
        </p:spPr>
        <p:txBody>
          <a:bodyPr wrap="square" lIns="0" tIns="0" rIns="0" bIns="0" rtlCol="0" anchor="ctr"/>
          <a:lstStyle/>
          <a:p>
            <a:pPr marL="0" indent="0" algn="l">
              <a:buNone/>
            </a:pPr>
            <a:r>
              <a:rPr lang="en-US" sz="1030" b="1" dirty="0">
                <a:solidFill>
                  <a:schemeClr val="bg1"/>
                </a:solidFill>
                <a:latin typeface="Arial" pitchFamily="34" charset="0"/>
                <a:ea typeface="Arial" pitchFamily="34" charset="-122"/>
                <a:cs typeface="Arial" pitchFamily="34" charset="-120"/>
              </a:rPr>
              <a:t>SANDISK-OPERATED</a:t>
            </a:r>
            <a:endParaRPr lang="en-US" sz="1030" dirty="0">
              <a:solidFill>
                <a:schemeClr val="bg1"/>
              </a:solidFill>
            </a:endParaRPr>
          </a:p>
        </p:txBody>
      </p:sp>
      <p:sp>
        <p:nvSpPr>
          <p:cNvPr id="14" name="Shape 12"/>
          <p:cNvSpPr/>
          <p:nvPr/>
        </p:nvSpPr>
        <p:spPr>
          <a:xfrm>
            <a:off x="704088" y="2523744"/>
            <a:ext cx="2569464" cy="1078992"/>
          </a:xfrm>
          <a:prstGeom prst="rect">
            <a:avLst/>
          </a:prstGeom>
          <a:solidFill>
            <a:srgbClr val="18191D"/>
          </a:solidFill>
          <a:ln w="10160">
            <a:solidFill>
              <a:srgbClr val="18191D"/>
            </a:solidFill>
            <a:prstDash val="solid"/>
          </a:ln>
        </p:spPr>
        <p:txBody>
          <a:bodyPr/>
          <a:lstStyle/>
          <a:p>
            <a:endParaRPr lang="en-US"/>
          </a:p>
        </p:txBody>
      </p:sp>
      <p:sp>
        <p:nvSpPr>
          <p:cNvPr id="15" name="Text 13"/>
          <p:cNvSpPr/>
          <p:nvPr/>
        </p:nvSpPr>
        <p:spPr>
          <a:xfrm>
            <a:off x="850392" y="2633472"/>
            <a:ext cx="2276856" cy="365760"/>
          </a:xfrm>
          <a:prstGeom prst="rect">
            <a:avLst/>
          </a:prstGeom>
          <a:noFill/>
          <a:ln/>
        </p:spPr>
        <p:txBody>
          <a:bodyPr wrap="square" lIns="0" tIns="0" rIns="0" bIns="0" rtlCol="0" anchor="ctr"/>
          <a:lstStyle/>
          <a:p>
            <a:pPr marL="0" indent="0" algn="l">
              <a:buNone/>
            </a:pPr>
            <a:r>
              <a:rPr lang="en-US" sz="1700" b="1" dirty="0">
                <a:solidFill>
                  <a:srgbClr val="FFFFFF"/>
                </a:solidFill>
                <a:latin typeface="Arial" pitchFamily="34" charset="0"/>
                <a:ea typeface="Arial" pitchFamily="34" charset="-122"/>
                <a:cs typeface="Arial" pitchFamily="34" charset="-120"/>
              </a:rPr>
              <a:t>Release services</a:t>
            </a:r>
            <a:endParaRPr lang="en-US" sz="1700" dirty="0"/>
          </a:p>
        </p:txBody>
      </p:sp>
      <p:sp>
        <p:nvSpPr>
          <p:cNvPr id="16" name="Text 14"/>
          <p:cNvSpPr/>
          <p:nvPr/>
        </p:nvSpPr>
        <p:spPr>
          <a:xfrm>
            <a:off x="850392" y="3090672"/>
            <a:ext cx="2276856" cy="402336"/>
          </a:xfrm>
          <a:prstGeom prst="rect">
            <a:avLst/>
          </a:prstGeom>
          <a:noFill/>
          <a:ln/>
        </p:spPr>
        <p:txBody>
          <a:bodyPr wrap="square" lIns="0" tIns="0" rIns="0" bIns="0" rtlCol="0" anchor="ctr"/>
          <a:lstStyle/>
          <a:p>
            <a:pPr marL="0" indent="0" algn="l">
              <a:buNone/>
            </a:pPr>
            <a:r>
              <a:rPr lang="en-US" sz="1310" dirty="0">
                <a:solidFill>
                  <a:srgbClr val="FFFFFF"/>
                </a:solidFill>
                <a:latin typeface="Arial" pitchFamily="34" charset="0"/>
                <a:ea typeface="Arial" pitchFamily="34" charset="-122"/>
                <a:cs typeface="Arial" pitchFamily="34" charset="-120"/>
              </a:rPr>
              <a:t>Catalog • entitlement • signed bundles</a:t>
            </a:r>
            <a:endParaRPr lang="en-US" sz="1310" dirty="0"/>
          </a:p>
        </p:txBody>
      </p:sp>
      <p:sp>
        <p:nvSpPr>
          <p:cNvPr id="17" name="Shape 15"/>
          <p:cNvSpPr/>
          <p:nvPr/>
        </p:nvSpPr>
        <p:spPr>
          <a:xfrm>
            <a:off x="704088" y="3776472"/>
            <a:ext cx="2569464" cy="1207008"/>
          </a:xfrm>
          <a:prstGeom prst="rect">
            <a:avLst/>
          </a:prstGeom>
          <a:solidFill>
            <a:schemeClr val="tx1"/>
          </a:solidFill>
          <a:ln w="10160">
            <a:solidFill>
              <a:srgbClr val="FFFFFF"/>
            </a:solidFill>
            <a:prstDash val="solid"/>
          </a:ln>
        </p:spPr>
        <p:txBody>
          <a:bodyPr/>
          <a:lstStyle/>
          <a:p>
            <a:endParaRPr lang="en-US"/>
          </a:p>
        </p:txBody>
      </p:sp>
      <p:sp>
        <p:nvSpPr>
          <p:cNvPr id="18" name="Text 16"/>
          <p:cNvSpPr/>
          <p:nvPr/>
        </p:nvSpPr>
        <p:spPr>
          <a:xfrm>
            <a:off x="850392" y="3886200"/>
            <a:ext cx="2276856" cy="365760"/>
          </a:xfrm>
          <a:prstGeom prst="rect">
            <a:avLst/>
          </a:prstGeom>
          <a:noFill/>
          <a:ln/>
        </p:spPr>
        <p:txBody>
          <a:bodyPr wrap="square" lIns="0" tIns="0" rIns="0" bIns="0" rtlCol="0" anchor="ctr"/>
          <a:lstStyle/>
          <a:p>
            <a:pPr marL="0" indent="0" algn="l">
              <a:buNone/>
            </a:pPr>
            <a:r>
              <a:rPr lang="en-US" sz="1700" b="1" dirty="0">
                <a:solidFill>
                  <a:schemeClr val="bg1"/>
                </a:solidFill>
                <a:latin typeface="Arial" pitchFamily="34" charset="0"/>
                <a:ea typeface="Arial" pitchFamily="34" charset="-122"/>
                <a:cs typeface="Arial" pitchFamily="34" charset="-120"/>
              </a:rPr>
              <a:t>Support services</a:t>
            </a:r>
            <a:endParaRPr lang="en-US" sz="1700" dirty="0">
              <a:solidFill>
                <a:schemeClr val="bg1"/>
              </a:solidFill>
            </a:endParaRPr>
          </a:p>
        </p:txBody>
      </p:sp>
      <p:sp>
        <p:nvSpPr>
          <p:cNvPr id="19" name="Text 17"/>
          <p:cNvSpPr/>
          <p:nvPr/>
        </p:nvSpPr>
        <p:spPr>
          <a:xfrm>
            <a:off x="850392" y="4343400"/>
            <a:ext cx="2276856" cy="530352"/>
          </a:xfrm>
          <a:prstGeom prst="rect">
            <a:avLst/>
          </a:prstGeom>
          <a:noFill/>
          <a:ln/>
        </p:spPr>
        <p:txBody>
          <a:bodyPr wrap="square" lIns="0" tIns="0" rIns="0" bIns="0" rtlCol="0" anchor="ctr"/>
          <a:lstStyle/>
          <a:p>
            <a:pPr marL="0" indent="0" algn="l">
              <a:buNone/>
            </a:pPr>
            <a:r>
              <a:rPr lang="en-US" sz="1310" dirty="0">
                <a:solidFill>
                  <a:schemeClr val="bg1"/>
                </a:solidFill>
                <a:latin typeface="Arial" pitchFamily="34" charset="0"/>
                <a:ea typeface="Arial" pitchFamily="34" charset="-122"/>
                <a:cs typeface="Arial" pitchFamily="34" charset="-120"/>
              </a:rPr>
              <a:t>PSIRT • cases • compatibility lab</a:t>
            </a:r>
            <a:endParaRPr lang="en-US" sz="1310" dirty="0">
              <a:solidFill>
                <a:schemeClr val="bg1"/>
              </a:solidFill>
            </a:endParaRPr>
          </a:p>
          <a:p>
            <a:pPr marL="0" indent="0" algn="l">
              <a:buNone/>
            </a:pPr>
            <a:r>
              <a:rPr lang="en-US" sz="1310" dirty="0">
                <a:solidFill>
                  <a:schemeClr val="bg1"/>
                </a:solidFill>
                <a:latin typeface="Arial" pitchFamily="34" charset="0"/>
                <a:ea typeface="Arial" pitchFamily="34" charset="-122"/>
                <a:cs typeface="Arial" pitchFamily="34" charset="-120"/>
              </a:rPr>
              <a:t>OEM escalation</a:t>
            </a:r>
            <a:endParaRPr lang="en-US" sz="1310" dirty="0">
              <a:solidFill>
                <a:schemeClr val="bg1"/>
              </a:solidFill>
            </a:endParaRPr>
          </a:p>
        </p:txBody>
      </p:sp>
      <p:sp>
        <p:nvSpPr>
          <p:cNvPr id="20" name="Shape 18"/>
          <p:cNvSpPr/>
          <p:nvPr/>
        </p:nvSpPr>
        <p:spPr>
          <a:xfrm>
            <a:off x="3950208" y="1847088"/>
            <a:ext cx="7717536" cy="3749040"/>
          </a:xfrm>
          <a:prstGeom prst="rect">
            <a:avLst/>
          </a:prstGeom>
          <a:solidFill>
            <a:srgbClr val="C00000"/>
          </a:solidFill>
          <a:ln w="10160">
            <a:solidFill>
              <a:srgbClr val="F3F4F6"/>
            </a:solidFill>
            <a:prstDash val="solid"/>
          </a:ln>
        </p:spPr>
        <p:txBody>
          <a:bodyPr/>
          <a:lstStyle/>
          <a:p>
            <a:endParaRPr lang="en-US"/>
          </a:p>
        </p:txBody>
      </p:sp>
      <p:sp>
        <p:nvSpPr>
          <p:cNvPr id="21" name="Shape 19"/>
          <p:cNvSpPr/>
          <p:nvPr/>
        </p:nvSpPr>
        <p:spPr>
          <a:xfrm>
            <a:off x="4142232" y="2029968"/>
            <a:ext cx="2816352" cy="301752"/>
          </a:xfrm>
          <a:prstGeom prst="rect">
            <a:avLst/>
          </a:prstGeom>
          <a:solidFill>
            <a:schemeClr val="tx1"/>
          </a:solidFill>
          <a:ln w="10160">
            <a:solidFill>
              <a:srgbClr val="FCECEF"/>
            </a:solidFill>
            <a:prstDash val="solid"/>
          </a:ln>
        </p:spPr>
        <p:txBody>
          <a:bodyPr/>
          <a:lstStyle/>
          <a:p>
            <a:endParaRPr lang="en-US"/>
          </a:p>
        </p:txBody>
      </p:sp>
      <p:sp>
        <p:nvSpPr>
          <p:cNvPr id="22" name="Text 20"/>
          <p:cNvSpPr/>
          <p:nvPr/>
        </p:nvSpPr>
        <p:spPr>
          <a:xfrm>
            <a:off x="4233672" y="2052828"/>
            <a:ext cx="2633472" cy="256032"/>
          </a:xfrm>
          <a:prstGeom prst="rect">
            <a:avLst/>
          </a:prstGeom>
          <a:noFill/>
          <a:ln/>
        </p:spPr>
        <p:txBody>
          <a:bodyPr wrap="square" lIns="0" tIns="0" rIns="0" bIns="0" rtlCol="0" anchor="ctr"/>
          <a:lstStyle/>
          <a:p>
            <a:pPr marL="0" indent="0" algn="l">
              <a:buNone/>
            </a:pPr>
            <a:r>
              <a:rPr lang="en-US" sz="1030" b="1" dirty="0">
                <a:solidFill>
                  <a:schemeClr val="bg1"/>
                </a:solidFill>
                <a:latin typeface="Arial" pitchFamily="34" charset="0"/>
                <a:ea typeface="Arial" pitchFamily="34" charset="-122"/>
                <a:cs typeface="Arial" pitchFamily="34" charset="-120"/>
              </a:rPr>
              <a:t>CUSTOMER TRUST BOUNDARY</a:t>
            </a:r>
            <a:endParaRPr lang="en-US" sz="1030" dirty="0">
              <a:solidFill>
                <a:schemeClr val="bg1"/>
              </a:solidFill>
            </a:endParaRPr>
          </a:p>
        </p:txBody>
      </p:sp>
      <p:sp>
        <p:nvSpPr>
          <p:cNvPr id="23" name="Shape 21"/>
          <p:cNvSpPr/>
          <p:nvPr/>
        </p:nvSpPr>
        <p:spPr>
          <a:xfrm>
            <a:off x="4169664" y="2551176"/>
            <a:ext cx="3236976" cy="996696"/>
          </a:xfrm>
          <a:prstGeom prst="rect">
            <a:avLst/>
          </a:prstGeom>
          <a:solidFill>
            <a:schemeClr val="tx1"/>
          </a:solidFill>
          <a:ln w="10160">
            <a:solidFill>
              <a:srgbClr val="FFFFFF"/>
            </a:solidFill>
            <a:prstDash val="solid"/>
          </a:ln>
        </p:spPr>
        <p:txBody>
          <a:bodyPr/>
          <a:lstStyle/>
          <a:p>
            <a:endParaRPr lang="en-US"/>
          </a:p>
        </p:txBody>
      </p:sp>
      <p:sp>
        <p:nvSpPr>
          <p:cNvPr id="24" name="Text 22"/>
          <p:cNvSpPr/>
          <p:nvPr/>
        </p:nvSpPr>
        <p:spPr>
          <a:xfrm>
            <a:off x="4279392" y="2624328"/>
            <a:ext cx="3017520" cy="301752"/>
          </a:xfrm>
          <a:prstGeom prst="rect">
            <a:avLst/>
          </a:prstGeom>
          <a:noFill/>
          <a:ln/>
        </p:spPr>
        <p:txBody>
          <a:bodyPr wrap="square" lIns="0" tIns="0" rIns="0" bIns="0" rtlCol="0" anchor="ctr"/>
          <a:lstStyle/>
          <a:p>
            <a:pPr marL="0" indent="0" algn="l">
              <a:buNone/>
            </a:pPr>
            <a:r>
              <a:rPr lang="en-US" sz="1450" b="1" dirty="0">
                <a:solidFill>
                  <a:schemeClr val="bg1"/>
                </a:solidFill>
                <a:latin typeface="Arial" pitchFamily="34" charset="0"/>
                <a:ea typeface="Arial" pitchFamily="34" charset="-122"/>
                <a:cs typeface="Arial" pitchFamily="34" charset="-120"/>
              </a:rPr>
              <a:t>Local Control Center</a:t>
            </a:r>
            <a:endParaRPr lang="en-US" sz="1450" dirty="0">
              <a:solidFill>
                <a:schemeClr val="bg1"/>
              </a:solidFill>
            </a:endParaRPr>
          </a:p>
        </p:txBody>
      </p:sp>
      <p:sp>
        <p:nvSpPr>
          <p:cNvPr id="25" name="Text 23"/>
          <p:cNvSpPr/>
          <p:nvPr/>
        </p:nvSpPr>
        <p:spPr>
          <a:xfrm>
            <a:off x="4279392" y="2990088"/>
            <a:ext cx="3017520" cy="493776"/>
          </a:xfrm>
          <a:prstGeom prst="rect">
            <a:avLst/>
          </a:prstGeom>
          <a:noFill/>
          <a:ln/>
        </p:spPr>
        <p:txBody>
          <a:bodyPr wrap="square" lIns="0" tIns="0" rIns="0" bIns="0" rtlCol="0" anchor="ctr"/>
          <a:lstStyle/>
          <a:p>
            <a:pPr marL="0" indent="0" algn="l">
              <a:buNone/>
            </a:pPr>
            <a:r>
              <a:rPr lang="en-US" sz="1250" dirty="0">
                <a:solidFill>
                  <a:schemeClr val="bg1"/>
                </a:solidFill>
                <a:latin typeface="Arial" pitchFamily="34" charset="0"/>
                <a:ea typeface="Arial" pitchFamily="34" charset="-122"/>
                <a:cs typeface="Arial" pitchFamily="34" charset="-120"/>
              </a:rPr>
              <a:t>RBAC • policy • updates • diagnostics</a:t>
            </a:r>
            <a:endParaRPr lang="en-US" sz="1250" dirty="0">
              <a:solidFill>
                <a:schemeClr val="bg1"/>
              </a:solidFill>
            </a:endParaRPr>
          </a:p>
        </p:txBody>
      </p:sp>
      <p:sp>
        <p:nvSpPr>
          <p:cNvPr id="26" name="Shape 24"/>
          <p:cNvSpPr/>
          <p:nvPr/>
        </p:nvSpPr>
        <p:spPr>
          <a:xfrm>
            <a:off x="7754112" y="2551176"/>
            <a:ext cx="3694176" cy="996696"/>
          </a:xfrm>
          <a:prstGeom prst="rect">
            <a:avLst/>
          </a:prstGeom>
          <a:solidFill>
            <a:schemeClr val="tx1"/>
          </a:solidFill>
          <a:ln w="10160">
            <a:solidFill>
              <a:srgbClr val="FCECEF"/>
            </a:solidFill>
            <a:prstDash val="solid"/>
          </a:ln>
        </p:spPr>
        <p:txBody>
          <a:bodyPr/>
          <a:lstStyle/>
          <a:p>
            <a:endParaRPr lang="en-US"/>
          </a:p>
        </p:txBody>
      </p:sp>
      <p:sp>
        <p:nvSpPr>
          <p:cNvPr id="27" name="Text 25"/>
          <p:cNvSpPr/>
          <p:nvPr/>
        </p:nvSpPr>
        <p:spPr>
          <a:xfrm>
            <a:off x="7863840" y="2624328"/>
            <a:ext cx="3474720" cy="301752"/>
          </a:xfrm>
          <a:prstGeom prst="rect">
            <a:avLst/>
          </a:prstGeom>
          <a:noFill/>
          <a:ln/>
        </p:spPr>
        <p:txBody>
          <a:bodyPr wrap="square" lIns="0" tIns="0" rIns="0" bIns="0" rtlCol="0" anchor="ctr"/>
          <a:lstStyle/>
          <a:p>
            <a:pPr marL="0" indent="0" algn="l">
              <a:buNone/>
            </a:pPr>
            <a:r>
              <a:rPr lang="en-US" sz="1450" b="1" dirty="0">
                <a:solidFill>
                  <a:schemeClr val="bg1"/>
                </a:solidFill>
                <a:latin typeface="Arial" pitchFamily="34" charset="0"/>
                <a:ea typeface="Arial" pitchFamily="34" charset="-122"/>
                <a:cs typeface="Arial" pitchFamily="34" charset="-120"/>
              </a:rPr>
              <a:t>Gateway + Knowledge Agent</a:t>
            </a:r>
            <a:endParaRPr lang="en-US" sz="1450" dirty="0">
              <a:solidFill>
                <a:schemeClr val="bg1"/>
              </a:solidFill>
            </a:endParaRPr>
          </a:p>
        </p:txBody>
      </p:sp>
      <p:sp>
        <p:nvSpPr>
          <p:cNvPr id="28" name="Text 26"/>
          <p:cNvSpPr/>
          <p:nvPr/>
        </p:nvSpPr>
        <p:spPr>
          <a:xfrm>
            <a:off x="7863840" y="2990088"/>
            <a:ext cx="3474720" cy="493776"/>
          </a:xfrm>
          <a:prstGeom prst="rect">
            <a:avLst/>
          </a:prstGeom>
          <a:noFill/>
          <a:ln/>
        </p:spPr>
        <p:txBody>
          <a:bodyPr wrap="square" lIns="0" tIns="0" rIns="0" bIns="0" rtlCol="0" anchor="ctr"/>
          <a:lstStyle/>
          <a:p>
            <a:pPr marL="0" indent="0" algn="l">
              <a:buNone/>
            </a:pPr>
            <a:r>
              <a:rPr lang="en-US" sz="1250" dirty="0">
                <a:solidFill>
                  <a:schemeClr val="bg1"/>
                </a:solidFill>
                <a:latin typeface="Arial" pitchFamily="34" charset="0"/>
                <a:ea typeface="Arial" pitchFamily="34" charset="-122"/>
                <a:cs typeface="Arial" pitchFamily="34" charset="-120"/>
              </a:rPr>
              <a:t>HTTPS API • ACLs • bounded workflows</a:t>
            </a:r>
            <a:endParaRPr lang="en-US" sz="1250" dirty="0">
              <a:solidFill>
                <a:schemeClr val="bg1"/>
              </a:solidFill>
            </a:endParaRPr>
          </a:p>
        </p:txBody>
      </p:sp>
      <p:sp>
        <p:nvSpPr>
          <p:cNvPr id="29" name="Shape 27"/>
          <p:cNvSpPr/>
          <p:nvPr/>
        </p:nvSpPr>
        <p:spPr>
          <a:xfrm>
            <a:off x="4169664" y="3794760"/>
            <a:ext cx="3236976" cy="1289304"/>
          </a:xfrm>
          <a:prstGeom prst="rect">
            <a:avLst/>
          </a:prstGeom>
          <a:solidFill>
            <a:schemeClr val="tx1"/>
          </a:solidFill>
          <a:ln w="10160">
            <a:solidFill>
              <a:srgbClr val="FFFFFF"/>
            </a:solidFill>
            <a:prstDash val="solid"/>
          </a:ln>
        </p:spPr>
        <p:txBody>
          <a:bodyPr/>
          <a:lstStyle/>
          <a:p>
            <a:endParaRPr lang="en-US"/>
          </a:p>
        </p:txBody>
      </p:sp>
      <p:sp>
        <p:nvSpPr>
          <p:cNvPr id="30" name="Text 28"/>
          <p:cNvSpPr/>
          <p:nvPr/>
        </p:nvSpPr>
        <p:spPr>
          <a:xfrm>
            <a:off x="4279392" y="3867912"/>
            <a:ext cx="3017520" cy="301752"/>
          </a:xfrm>
          <a:prstGeom prst="rect">
            <a:avLst/>
          </a:prstGeom>
          <a:noFill/>
          <a:ln/>
        </p:spPr>
        <p:txBody>
          <a:bodyPr wrap="square" lIns="0" tIns="0" rIns="0" bIns="0" rtlCol="0" anchor="ctr"/>
          <a:lstStyle/>
          <a:p>
            <a:pPr marL="0" indent="0" algn="l">
              <a:buNone/>
            </a:pPr>
            <a:r>
              <a:rPr lang="en-US" sz="1450" b="1" dirty="0">
                <a:solidFill>
                  <a:schemeClr val="bg1"/>
                </a:solidFill>
                <a:latin typeface="Arial" pitchFamily="34" charset="0"/>
                <a:ea typeface="Arial" pitchFamily="34" charset="-122"/>
                <a:cs typeface="Arial" pitchFamily="34" charset="-120"/>
              </a:rPr>
              <a:t>Local artifacts + durable state</a:t>
            </a:r>
            <a:endParaRPr lang="en-US" sz="1450" dirty="0">
              <a:solidFill>
                <a:schemeClr val="bg1"/>
              </a:solidFill>
            </a:endParaRPr>
          </a:p>
        </p:txBody>
      </p:sp>
      <p:sp>
        <p:nvSpPr>
          <p:cNvPr id="31" name="Text 29"/>
          <p:cNvSpPr/>
          <p:nvPr/>
        </p:nvSpPr>
        <p:spPr>
          <a:xfrm>
            <a:off x="4279392" y="4233672"/>
            <a:ext cx="3017520" cy="786384"/>
          </a:xfrm>
          <a:prstGeom prst="rect">
            <a:avLst/>
          </a:prstGeom>
          <a:noFill/>
          <a:ln/>
        </p:spPr>
        <p:txBody>
          <a:bodyPr wrap="square" lIns="0" tIns="0" rIns="0" bIns="0" rtlCol="0" anchor="ctr"/>
          <a:lstStyle/>
          <a:p>
            <a:pPr marL="0" indent="0" algn="l">
              <a:buNone/>
            </a:pPr>
            <a:r>
              <a:rPr lang="en-US" sz="1250" dirty="0">
                <a:solidFill>
                  <a:schemeClr val="bg1"/>
                </a:solidFill>
                <a:latin typeface="Arial" pitchFamily="34" charset="0"/>
                <a:ea typeface="Arial" pitchFamily="34" charset="-122"/>
                <a:cs typeface="Arial" pitchFamily="34" charset="-120"/>
              </a:rPr>
              <a:t>Registry cache • models • indexes</a:t>
            </a:r>
            <a:endParaRPr lang="en-US" sz="1250" dirty="0">
              <a:solidFill>
                <a:schemeClr val="bg1"/>
              </a:solidFill>
            </a:endParaRPr>
          </a:p>
          <a:p>
            <a:pPr marL="0" indent="0" algn="l">
              <a:buNone/>
            </a:pPr>
            <a:r>
              <a:rPr lang="en-US" sz="1250" dirty="0">
                <a:solidFill>
                  <a:schemeClr val="bg1"/>
                </a:solidFill>
                <a:latin typeface="Arial" pitchFamily="34" charset="0"/>
                <a:ea typeface="Arial" pitchFamily="34" charset="-122"/>
                <a:cs typeface="Arial" pitchFamily="34" charset="-120"/>
              </a:rPr>
              <a:t>Audit • configuration • backups</a:t>
            </a:r>
            <a:endParaRPr lang="en-US" sz="1250" dirty="0">
              <a:solidFill>
                <a:schemeClr val="bg1"/>
              </a:solidFill>
            </a:endParaRPr>
          </a:p>
        </p:txBody>
      </p:sp>
      <p:sp>
        <p:nvSpPr>
          <p:cNvPr id="32" name="Shape 30"/>
          <p:cNvSpPr/>
          <p:nvPr/>
        </p:nvSpPr>
        <p:spPr>
          <a:xfrm>
            <a:off x="7754112" y="3794760"/>
            <a:ext cx="3694176" cy="1289304"/>
          </a:xfrm>
          <a:prstGeom prst="rect">
            <a:avLst/>
          </a:prstGeom>
          <a:solidFill>
            <a:schemeClr val="tx1"/>
          </a:solidFill>
          <a:ln w="10160">
            <a:solidFill>
              <a:srgbClr val="18191D"/>
            </a:solidFill>
            <a:prstDash val="solid"/>
          </a:ln>
        </p:spPr>
        <p:txBody>
          <a:bodyPr/>
          <a:lstStyle/>
          <a:p>
            <a:endParaRPr lang="en-US"/>
          </a:p>
        </p:txBody>
      </p:sp>
      <p:sp>
        <p:nvSpPr>
          <p:cNvPr id="33" name="Text 31"/>
          <p:cNvSpPr/>
          <p:nvPr/>
        </p:nvSpPr>
        <p:spPr>
          <a:xfrm>
            <a:off x="7863840" y="3867912"/>
            <a:ext cx="3474720" cy="301752"/>
          </a:xfrm>
          <a:prstGeom prst="rect">
            <a:avLst/>
          </a:prstGeom>
          <a:noFill/>
          <a:ln/>
        </p:spPr>
        <p:txBody>
          <a:bodyPr wrap="square" lIns="0" tIns="0" rIns="0" bIns="0" rtlCol="0" anchor="ctr"/>
          <a:lstStyle/>
          <a:p>
            <a:pPr marL="0" indent="0" algn="l">
              <a:buNone/>
            </a:pPr>
            <a:r>
              <a:rPr lang="en-US" sz="1450" b="1" dirty="0">
                <a:solidFill>
                  <a:srgbClr val="FFFFFF"/>
                </a:solidFill>
                <a:latin typeface="Arial" pitchFamily="34" charset="0"/>
                <a:ea typeface="Arial" pitchFamily="34" charset="-122"/>
                <a:cs typeface="Arial" pitchFamily="34" charset="-120"/>
              </a:rPr>
              <a:t>Serving Manager + ATMOS runtime</a:t>
            </a:r>
            <a:endParaRPr lang="en-US" sz="1450" dirty="0"/>
          </a:p>
        </p:txBody>
      </p:sp>
      <p:sp>
        <p:nvSpPr>
          <p:cNvPr id="34" name="Text 32"/>
          <p:cNvSpPr/>
          <p:nvPr/>
        </p:nvSpPr>
        <p:spPr>
          <a:xfrm>
            <a:off x="7863840" y="4233672"/>
            <a:ext cx="3474720" cy="786384"/>
          </a:xfrm>
          <a:prstGeom prst="rect">
            <a:avLst/>
          </a:prstGeom>
          <a:noFill/>
          <a:ln/>
        </p:spPr>
        <p:txBody>
          <a:bodyPr wrap="square" lIns="0" tIns="0" rIns="0" bIns="0" rtlCol="0" anchor="ctr"/>
          <a:lstStyle/>
          <a:p>
            <a:pPr marL="0" indent="0" algn="l">
              <a:buNone/>
            </a:pPr>
            <a:r>
              <a:rPr lang="en-US" sz="1250" dirty="0">
                <a:solidFill>
                  <a:srgbClr val="FFFFFF"/>
                </a:solidFill>
                <a:latin typeface="Arial" pitchFamily="34" charset="0"/>
                <a:ea typeface="Arial" pitchFamily="34" charset="-122"/>
                <a:cs typeface="Arial" pitchFamily="34" charset="-120"/>
              </a:rPr>
              <a:t>Certified CPU/NPU paths</a:t>
            </a:r>
            <a:endParaRPr lang="en-US" sz="1250" dirty="0"/>
          </a:p>
          <a:p>
            <a:pPr marL="0" indent="0" algn="l">
              <a:buNone/>
            </a:pPr>
            <a:r>
              <a:rPr lang="en-US" sz="1250" dirty="0">
                <a:solidFill>
                  <a:srgbClr val="FFFFFF"/>
                </a:solidFill>
                <a:latin typeface="Arial" pitchFamily="34" charset="0"/>
                <a:ea typeface="Arial" pitchFamily="34" charset="-122"/>
                <a:cs typeface="Arial" pitchFamily="34" charset="-120"/>
              </a:rPr>
              <a:t>Whole model groups • local KV</a:t>
            </a:r>
            <a:endParaRPr lang="en-US" sz="1250" dirty="0"/>
          </a:p>
        </p:txBody>
      </p:sp>
      <p:sp>
        <p:nvSpPr>
          <p:cNvPr id="35" name="Shape 33"/>
          <p:cNvSpPr/>
          <p:nvPr/>
        </p:nvSpPr>
        <p:spPr>
          <a:xfrm>
            <a:off x="3282696" y="3108960"/>
            <a:ext cx="877824" cy="0"/>
          </a:xfrm>
          <a:prstGeom prst="line">
            <a:avLst/>
          </a:prstGeom>
          <a:noFill/>
          <a:ln w="19050">
            <a:solidFill>
              <a:srgbClr val="E31837"/>
            </a:solidFill>
            <a:prstDash val="dash"/>
            <a:headEnd type="none"/>
            <a:tailEnd type="triangle"/>
          </a:ln>
        </p:spPr>
        <p:txBody>
          <a:bodyPr/>
          <a:lstStyle/>
          <a:p>
            <a:endParaRPr lang="en-US"/>
          </a:p>
        </p:txBody>
      </p:sp>
      <p:sp>
        <p:nvSpPr>
          <p:cNvPr id="36" name="Text 34"/>
          <p:cNvSpPr/>
          <p:nvPr/>
        </p:nvSpPr>
        <p:spPr>
          <a:xfrm>
            <a:off x="3474720" y="3337560"/>
            <a:ext cx="566928" cy="384048"/>
          </a:xfrm>
          <a:prstGeom prst="rect">
            <a:avLst/>
          </a:prstGeom>
          <a:noFill/>
          <a:ln/>
        </p:spPr>
        <p:txBody>
          <a:bodyPr wrap="square" lIns="0" tIns="0" rIns="0" bIns="0" rtlCol="0" anchor="ctr"/>
          <a:lstStyle/>
          <a:p>
            <a:pPr marL="0" indent="0" algn="ctr">
              <a:buNone/>
            </a:pPr>
            <a:r>
              <a:rPr lang="en-US" sz="970" dirty="0">
                <a:solidFill>
                  <a:srgbClr val="5B6169"/>
                </a:solidFill>
                <a:latin typeface="Arial" pitchFamily="34" charset="0"/>
                <a:ea typeface="Arial" pitchFamily="34" charset="-122"/>
                <a:cs typeface="Arial" pitchFamily="34" charset="-120"/>
              </a:rPr>
              <a:t>pull / </a:t>
            </a:r>
            <a:r>
              <a:rPr lang="en-US" sz="970" dirty="0">
                <a:solidFill>
                  <a:schemeClr val="bg1"/>
                </a:solidFill>
                <a:latin typeface="Arial" pitchFamily="34" charset="0"/>
                <a:ea typeface="Arial" pitchFamily="34" charset="-122"/>
                <a:cs typeface="Arial" pitchFamily="34" charset="-120"/>
              </a:rPr>
              <a:t>import</a:t>
            </a:r>
            <a:endParaRPr lang="en-US" sz="970" dirty="0">
              <a:solidFill>
                <a:schemeClr val="bg1"/>
              </a:solidFill>
            </a:endParaRPr>
          </a:p>
        </p:txBody>
      </p:sp>
      <p:sp>
        <p:nvSpPr>
          <p:cNvPr id="37" name="Shape 35"/>
          <p:cNvSpPr/>
          <p:nvPr/>
        </p:nvSpPr>
        <p:spPr>
          <a:xfrm>
            <a:off x="9601200" y="3557016"/>
            <a:ext cx="0" cy="228600"/>
          </a:xfrm>
          <a:prstGeom prst="line">
            <a:avLst/>
          </a:prstGeom>
          <a:noFill/>
          <a:ln w="19050">
            <a:solidFill>
              <a:srgbClr val="E31837"/>
            </a:solidFill>
            <a:prstDash val="solid"/>
            <a:headEnd type="none"/>
            <a:tailEnd type="triangle"/>
          </a:ln>
        </p:spPr>
        <p:txBody>
          <a:bodyPr/>
          <a:lstStyle/>
          <a:p>
            <a:endParaRPr lang="en-US"/>
          </a:p>
        </p:txBody>
      </p:sp>
      <p:sp>
        <p:nvSpPr>
          <p:cNvPr id="38" name="Shape 36"/>
          <p:cNvSpPr/>
          <p:nvPr/>
        </p:nvSpPr>
        <p:spPr>
          <a:xfrm>
            <a:off x="7406640" y="4434840"/>
            <a:ext cx="329184" cy="0"/>
          </a:xfrm>
          <a:prstGeom prst="line">
            <a:avLst/>
          </a:prstGeom>
          <a:noFill/>
          <a:ln w="19050">
            <a:solidFill>
              <a:srgbClr val="5B6169"/>
            </a:solidFill>
            <a:prstDash val="solid"/>
            <a:headEnd type="none"/>
            <a:tailEnd type="triangle"/>
          </a:ln>
        </p:spPr>
        <p:txBody>
          <a:bodyPr/>
          <a:lstStyle/>
          <a:p>
            <a:endParaRPr lang="en-US"/>
          </a:p>
        </p:txBody>
      </p:sp>
      <p:sp>
        <p:nvSpPr>
          <p:cNvPr id="55" name="Text 11">
            <a:extLst>
              <a:ext uri="{FF2B5EF4-FFF2-40B4-BE49-F238E27FC236}">
                <a16:creationId xmlns:a16="http://schemas.microsoft.com/office/drawing/2014/main" id="{D7217B86-07C5-27BC-22AD-8BF5E0C33134}"/>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08</a:t>
            </a:r>
            <a:endParaRPr lang="en-US" sz="920" dirty="0">
              <a:solidFill>
                <a:schemeClr val="bg1"/>
              </a:solidFill>
            </a:endParaRPr>
          </a:p>
        </p:txBody>
      </p:sp>
      <p:sp>
        <p:nvSpPr>
          <p:cNvPr id="56" name="Shape 8">
            <a:extLst>
              <a:ext uri="{FF2B5EF4-FFF2-40B4-BE49-F238E27FC236}">
                <a16:creationId xmlns:a16="http://schemas.microsoft.com/office/drawing/2014/main" id="{42CB7487-75ED-2DD2-6AD2-B92C7E76CBC6}"/>
              </a:ext>
            </a:extLst>
          </p:cNvPr>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Image 0" descr="/mnt/data/atmos_exec_v3/assets/cover.png">
            <a:extLst>
              <a:ext uri="{FF2B5EF4-FFF2-40B4-BE49-F238E27FC236}">
                <a16:creationId xmlns:a16="http://schemas.microsoft.com/office/drawing/2014/main" id="{E7405D53-D040-C9FD-2037-6686B716EA8B}"/>
              </a:ext>
            </a:extLst>
          </p:cNvPr>
          <p:cNvPicPr>
            <a:picLocks noChangeAspect="1"/>
          </p:cNvPicPr>
          <p:nvPr/>
        </p:nvPicPr>
        <p:blipFill>
          <a:blip r:embed="rId3"/>
          <a:stretch>
            <a:fillRect/>
          </a:stretch>
        </p:blipFill>
        <p:spPr>
          <a:xfrm>
            <a:off x="45666" y="192024"/>
            <a:ext cx="12100667" cy="6858000"/>
          </a:xfrm>
          <a:prstGeom prst="rect">
            <a:avLst/>
          </a:prstGeom>
        </p:spPr>
      </p:pic>
      <p:sp>
        <p:nvSpPr>
          <p:cNvPr id="52" name="Shape 0">
            <a:extLst>
              <a:ext uri="{FF2B5EF4-FFF2-40B4-BE49-F238E27FC236}">
                <a16:creationId xmlns:a16="http://schemas.microsoft.com/office/drawing/2014/main" id="{F04A930F-05B5-5D8D-B1FD-F75C807D0FE7}"/>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53" name="Shape 0">
            <a:extLst>
              <a:ext uri="{FF2B5EF4-FFF2-40B4-BE49-F238E27FC236}">
                <a16:creationId xmlns:a16="http://schemas.microsoft.com/office/drawing/2014/main" id="{1AE28222-07F0-E081-C877-254DA2195478}"/>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54" name="Shape 0">
            <a:extLst>
              <a:ext uri="{FF2B5EF4-FFF2-40B4-BE49-F238E27FC236}">
                <a16:creationId xmlns:a16="http://schemas.microsoft.com/office/drawing/2014/main" id="{C453CD9A-E8D9-5E08-240F-CB1F75B24A7D}"/>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55" name="Rectangle 54">
            <a:extLst>
              <a:ext uri="{FF2B5EF4-FFF2-40B4-BE49-F238E27FC236}">
                <a16:creationId xmlns:a16="http://schemas.microsoft.com/office/drawing/2014/main" id="{29C63EFB-AD45-7A1B-DEB7-41489FEA640A}"/>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56" name="Text 1">
            <a:extLst>
              <a:ext uri="{FF2B5EF4-FFF2-40B4-BE49-F238E27FC236}">
                <a16:creationId xmlns:a16="http://schemas.microsoft.com/office/drawing/2014/main" id="{B4CC313C-D287-C3E6-923B-B8FD7377A71C}"/>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57" name="Shape 0">
            <a:extLst>
              <a:ext uri="{FF2B5EF4-FFF2-40B4-BE49-F238E27FC236}">
                <a16:creationId xmlns:a16="http://schemas.microsoft.com/office/drawing/2014/main" id="{CD51DF8E-13CE-B173-AA28-949FE5E11DAF}"/>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3" name="TextBox 2"/>
          <p:cNvSpPr txBox="1"/>
          <p:nvPr/>
        </p:nvSpPr>
        <p:spPr>
          <a:xfrm>
            <a:off x="8247888" y="192024"/>
            <a:ext cx="3456432" cy="210955"/>
          </a:xfrm>
          <a:prstGeom prst="rect">
            <a:avLst/>
          </a:prstGeom>
          <a:noFill/>
        </p:spPr>
        <p:txBody>
          <a:bodyPr wrap="square" lIns="27432" tIns="27432" rIns="27432" bIns="27432" anchor="t">
            <a:spAutoFit/>
          </a:bodyPr>
          <a:lstStyle/>
          <a:p>
            <a:pPr algn="r">
              <a:lnSpc>
                <a:spcPct val="104000"/>
              </a:lnSpc>
              <a:spcBef>
                <a:spcPts val="0"/>
              </a:spcBef>
              <a:spcAft>
                <a:spcPts val="0"/>
              </a:spcAft>
            </a:pPr>
            <a:r>
              <a:rPr sz="1000" b="0" dirty="0">
                <a:solidFill>
                  <a:schemeClr val="bg1"/>
                </a:solidFill>
                <a:latin typeface="Aptos"/>
              </a:rPr>
              <a:t>AI CAPACITY PORTFOLIO </a:t>
            </a:r>
          </a:p>
        </p:txBody>
      </p:sp>
      <p:sp>
        <p:nvSpPr>
          <p:cNvPr id="6" name="TextBox 5"/>
          <p:cNvSpPr txBox="1"/>
          <p:nvPr/>
        </p:nvSpPr>
        <p:spPr>
          <a:xfrm>
            <a:off x="502920" y="1316736"/>
            <a:ext cx="11109960" cy="296491"/>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550" b="0" dirty="0">
                <a:solidFill>
                  <a:schemeClr val="bg1"/>
                </a:solidFill>
                <a:latin typeface="Aptos"/>
              </a:rPr>
              <a:t>Packaged components, stable contracts and operations—not a requirement for the customer to assemble an inference platform.</a:t>
            </a:r>
          </a:p>
        </p:txBody>
      </p:sp>
      <p:sp>
        <p:nvSpPr>
          <p:cNvPr id="7" name="Rectangle 6"/>
          <p:cNvSpPr/>
          <p:nvPr/>
        </p:nvSpPr>
        <p:spPr>
          <a:xfrm>
            <a:off x="502920" y="6373368"/>
            <a:ext cx="11183112" cy="10972"/>
          </a:xfrm>
          <a:prstGeom prst="rect">
            <a:avLst/>
          </a:prstGeom>
          <a:solidFill>
            <a:srgbClr val="D9E2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2920" y="1856231"/>
            <a:ext cx="3429000" cy="234295"/>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chemeClr val="bg1"/>
                </a:solidFill>
                <a:latin typeface="Aptos"/>
              </a:rPr>
              <a:t>EXPERIENCE AND KNOWLEDGE</a:t>
            </a:r>
          </a:p>
        </p:txBody>
      </p:sp>
      <p:sp>
        <p:nvSpPr>
          <p:cNvPr id="12" name="TextBox 11"/>
          <p:cNvSpPr txBox="1"/>
          <p:nvPr/>
        </p:nvSpPr>
        <p:spPr>
          <a:xfrm>
            <a:off x="4297680" y="1856231"/>
            <a:ext cx="3739896" cy="234295"/>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chemeClr val="bg1"/>
                </a:solidFill>
                <a:latin typeface="Aptos"/>
              </a:rPr>
              <a:t>SERVING AND DEVICE EXECUTION</a:t>
            </a:r>
          </a:p>
        </p:txBody>
      </p:sp>
      <p:sp>
        <p:nvSpPr>
          <p:cNvPr id="13" name="TextBox 12"/>
          <p:cNvSpPr txBox="1"/>
          <p:nvPr/>
        </p:nvSpPr>
        <p:spPr>
          <a:xfrm>
            <a:off x="8412480" y="1856231"/>
            <a:ext cx="3273552" cy="234295"/>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150" b="1">
                <a:solidFill>
                  <a:schemeClr val="bg1"/>
                </a:solidFill>
                <a:latin typeface="Aptos"/>
              </a:rPr>
              <a:t>TRUST AND FLEET OPERATIONS</a:t>
            </a:r>
          </a:p>
        </p:txBody>
      </p:sp>
      <p:sp>
        <p:nvSpPr>
          <p:cNvPr id="14" name="Rectangle 13"/>
          <p:cNvSpPr/>
          <p:nvPr/>
        </p:nvSpPr>
        <p:spPr>
          <a:xfrm>
            <a:off x="502920" y="2267712"/>
            <a:ext cx="3429000" cy="685800"/>
          </a:xfrm>
          <a:prstGeom prst="rect">
            <a:avLst/>
          </a:prstGeom>
          <a:solidFill>
            <a:srgbClr val="C00000"/>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594360" y="2318004"/>
            <a:ext cx="3246120" cy="49725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chemeClr val="bg1"/>
                </a:solidFill>
                <a:latin typeface="Aptos"/>
              </a:rPr>
              <a:t>Knowledge Agent / UI
Search, RAG, approved workflows</a:t>
            </a:r>
          </a:p>
        </p:txBody>
      </p:sp>
      <p:sp>
        <p:nvSpPr>
          <p:cNvPr id="16" name="Rectangle 15"/>
          <p:cNvSpPr/>
          <p:nvPr/>
        </p:nvSpPr>
        <p:spPr>
          <a:xfrm>
            <a:off x="4297680" y="2267712"/>
            <a:ext cx="3739896" cy="685800"/>
          </a:xfrm>
          <a:prstGeom prst="rect">
            <a:avLst/>
          </a:prstGeom>
          <a:solidFill>
            <a:srgbClr val="C00000"/>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389120" y="2318004"/>
            <a:ext cx="3557015" cy="49725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chemeClr val="bg1"/>
                </a:solidFill>
                <a:latin typeface="Aptos"/>
              </a:rPr>
              <a:t>Gateway
Auth, quota, API policy and accounting</a:t>
            </a:r>
          </a:p>
        </p:txBody>
      </p:sp>
      <p:sp>
        <p:nvSpPr>
          <p:cNvPr id="18" name="Rectangle 17"/>
          <p:cNvSpPr/>
          <p:nvPr/>
        </p:nvSpPr>
        <p:spPr>
          <a:xfrm>
            <a:off x="8412480" y="2267712"/>
            <a:ext cx="3273552" cy="685800"/>
          </a:xfrm>
          <a:prstGeom prst="rect">
            <a:avLst/>
          </a:prstGeom>
          <a:solidFill>
            <a:srgbClr val="C00000"/>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8503919" y="2318004"/>
            <a:ext cx="3090672" cy="490904"/>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chemeClr val="bg1"/>
                </a:solidFill>
                <a:latin typeface="Aptos"/>
              </a:rPr>
              <a:t>Control Center
Fleet, SLO, updates and cases</a:t>
            </a:r>
          </a:p>
        </p:txBody>
      </p:sp>
      <p:cxnSp>
        <p:nvCxnSpPr>
          <p:cNvPr id="20" name="Connector 19"/>
          <p:cNvCxnSpPr/>
          <p:nvPr/>
        </p:nvCxnSpPr>
        <p:spPr>
          <a:xfrm>
            <a:off x="6167628" y="2953512"/>
            <a:ext cx="0" cy="146304"/>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2920" y="3099816"/>
            <a:ext cx="3429000" cy="685800"/>
          </a:xfrm>
          <a:prstGeom prst="rect">
            <a:avLst/>
          </a:prstGeom>
          <a:solidFill>
            <a:srgbClr val="C00000"/>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594360" y="3150108"/>
            <a:ext cx="3246120" cy="49725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chemeClr val="bg1"/>
                </a:solidFill>
                <a:latin typeface="Aptos"/>
              </a:rPr>
              <a:t>SDK / API portal / notebooks
Python, REST, examples and profiling</a:t>
            </a:r>
          </a:p>
        </p:txBody>
      </p:sp>
      <p:sp>
        <p:nvSpPr>
          <p:cNvPr id="23" name="Rectangle 22"/>
          <p:cNvSpPr/>
          <p:nvPr/>
        </p:nvSpPr>
        <p:spPr>
          <a:xfrm>
            <a:off x="4297680" y="3099816"/>
            <a:ext cx="3739896" cy="685800"/>
          </a:xfrm>
          <a:prstGeom prst="rect">
            <a:avLst/>
          </a:prstGeom>
          <a:solidFill>
            <a:srgbClr val="C00000"/>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4389120" y="3150108"/>
            <a:ext cx="3557015" cy="49725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chemeClr val="bg1"/>
                </a:solidFill>
                <a:latin typeface="Aptos"/>
              </a:rPr>
              <a:t>Serving Manager
KServe/llm-d candidate; replicas, queues</a:t>
            </a:r>
          </a:p>
        </p:txBody>
      </p:sp>
      <p:sp>
        <p:nvSpPr>
          <p:cNvPr id="25" name="Rectangle 24"/>
          <p:cNvSpPr/>
          <p:nvPr/>
        </p:nvSpPr>
        <p:spPr>
          <a:xfrm>
            <a:off x="8412480" y="3099816"/>
            <a:ext cx="3273552" cy="685800"/>
          </a:xfrm>
          <a:prstGeom prst="rect">
            <a:avLst/>
          </a:prstGeom>
          <a:solidFill>
            <a:srgbClr val="C00000"/>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8503919" y="3150108"/>
            <a:ext cx="3090672" cy="490904"/>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chemeClr val="bg1"/>
                </a:solidFill>
                <a:latin typeface="Aptos"/>
              </a:rPr>
              <a:t>Identity / secrets / network
OIDC/SAML, RBAC, vault, TLS/mTLS</a:t>
            </a:r>
          </a:p>
        </p:txBody>
      </p:sp>
      <p:cxnSp>
        <p:nvCxnSpPr>
          <p:cNvPr id="27" name="Connector 26"/>
          <p:cNvCxnSpPr/>
          <p:nvPr/>
        </p:nvCxnSpPr>
        <p:spPr>
          <a:xfrm>
            <a:off x="6167628" y="3785616"/>
            <a:ext cx="0" cy="146304"/>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02920" y="3931920"/>
            <a:ext cx="3429000" cy="685800"/>
          </a:xfrm>
          <a:prstGeom prst="rect">
            <a:avLst/>
          </a:prstGeom>
          <a:solidFill>
            <a:srgbClr val="C00000"/>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594360" y="3982211"/>
            <a:ext cx="3246120" cy="49725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dirty="0">
                <a:solidFill>
                  <a:schemeClr val="bg1"/>
                </a:solidFill>
                <a:latin typeface="Aptos"/>
              </a:rPr>
              <a:t>Knowledge plane
Connectors, parsers, ACLs and indexes</a:t>
            </a:r>
          </a:p>
        </p:txBody>
      </p:sp>
      <p:sp>
        <p:nvSpPr>
          <p:cNvPr id="30" name="Rectangle 29"/>
          <p:cNvSpPr/>
          <p:nvPr/>
        </p:nvSpPr>
        <p:spPr>
          <a:xfrm>
            <a:off x="4297680" y="3931920"/>
            <a:ext cx="3739896" cy="685800"/>
          </a:xfrm>
          <a:prstGeom prst="rect">
            <a:avLst/>
          </a:prstGeom>
          <a:solidFill>
            <a:srgbClr val="C00000"/>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4389120" y="3982211"/>
            <a:ext cx="3557015" cy="49725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chemeClr val="bg1"/>
                </a:solidFill>
                <a:latin typeface="Aptos"/>
              </a:rPr>
              <a:t>Model Services / ATMOS runtime
Certified operators and memory plans</a:t>
            </a:r>
          </a:p>
        </p:txBody>
      </p:sp>
      <p:sp>
        <p:nvSpPr>
          <p:cNvPr id="32" name="Rectangle 31"/>
          <p:cNvSpPr/>
          <p:nvPr/>
        </p:nvSpPr>
        <p:spPr>
          <a:xfrm>
            <a:off x="8412480" y="3931920"/>
            <a:ext cx="3273552" cy="685800"/>
          </a:xfrm>
          <a:prstGeom prst="rect">
            <a:avLst/>
          </a:prstGeom>
          <a:solidFill>
            <a:srgbClr val="C00000"/>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8503919" y="3982211"/>
            <a:ext cx="3090672" cy="490904"/>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chemeClr val="bg1"/>
                </a:solidFill>
                <a:latin typeface="Aptos"/>
              </a:rPr>
              <a:t>Supply chain / policy / evidence
Signing, SBOM, policy and audit</a:t>
            </a:r>
          </a:p>
        </p:txBody>
      </p:sp>
      <p:cxnSp>
        <p:nvCxnSpPr>
          <p:cNvPr id="34" name="Connector 33"/>
          <p:cNvCxnSpPr/>
          <p:nvPr/>
        </p:nvCxnSpPr>
        <p:spPr>
          <a:xfrm>
            <a:off x="6167628" y="4617720"/>
            <a:ext cx="0" cy="146304"/>
          </a:xfrm>
          <a:prstGeom prst="line">
            <a:avLst/>
          </a:prstGeom>
          <a:ln w="19050">
            <a:solidFill>
              <a:srgbClr val="007B78"/>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02920" y="4764024"/>
            <a:ext cx="3429000" cy="685800"/>
          </a:xfrm>
          <a:prstGeom prst="rect">
            <a:avLst/>
          </a:prstGeom>
          <a:solidFill>
            <a:srgbClr val="C00000"/>
          </a:solidFill>
          <a:ln w="12700">
            <a:solidFill>
              <a:srgbClr val="2B679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594360" y="4814316"/>
            <a:ext cx="3246120" cy="49725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chemeClr val="bg1"/>
                </a:solidFill>
                <a:latin typeface="Aptos"/>
              </a:rPr>
              <a:t>Certified ModelPacks
Weights, tokenizer, kernels and tests</a:t>
            </a:r>
          </a:p>
        </p:txBody>
      </p:sp>
      <p:sp>
        <p:nvSpPr>
          <p:cNvPr id="37" name="Rectangle 36"/>
          <p:cNvSpPr/>
          <p:nvPr/>
        </p:nvSpPr>
        <p:spPr>
          <a:xfrm>
            <a:off x="4297680" y="4764024"/>
            <a:ext cx="3739896" cy="685800"/>
          </a:xfrm>
          <a:prstGeom prst="rect">
            <a:avLst/>
          </a:prstGeom>
          <a:solidFill>
            <a:srgbClr val="C00000"/>
          </a:solidFill>
          <a:ln w="12700">
            <a:solidFill>
              <a:srgbClr val="007B7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389120" y="4814316"/>
            <a:ext cx="3557015" cy="497252"/>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400" b="1">
                <a:solidFill>
                  <a:schemeClr val="bg1"/>
                </a:solidFill>
                <a:latin typeface="Aptos"/>
              </a:rPr>
              <a:t>AI OS + Device Service
DRA/CDI/operator, DMA, P2P, firmware</a:t>
            </a:r>
          </a:p>
        </p:txBody>
      </p:sp>
      <p:sp>
        <p:nvSpPr>
          <p:cNvPr id="39" name="Rectangle 38"/>
          <p:cNvSpPr/>
          <p:nvPr/>
        </p:nvSpPr>
        <p:spPr>
          <a:xfrm>
            <a:off x="8412480" y="4764024"/>
            <a:ext cx="3273552" cy="685800"/>
          </a:xfrm>
          <a:prstGeom prst="rect">
            <a:avLst/>
          </a:prstGeom>
          <a:solidFill>
            <a:srgbClr val="C00000"/>
          </a:solidFill>
          <a:ln w="12700">
            <a:solidFill>
              <a:srgbClr val="D51F3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8503919" y="4814316"/>
            <a:ext cx="3090672" cy="490904"/>
          </a:xfrm>
          <a:prstGeom prst="rect">
            <a:avLst/>
          </a:prstGeom>
          <a:noFill/>
        </p:spPr>
        <p:txBody>
          <a:bodyPr wrap="square" lIns="27432" tIns="27432" rIns="27432" bIns="27432" anchor="t">
            <a:spAutoFit/>
          </a:bodyPr>
          <a:lstStyle/>
          <a:p>
            <a:pPr algn="ctr">
              <a:lnSpc>
                <a:spcPct val="104000"/>
              </a:lnSpc>
              <a:spcBef>
                <a:spcPts val="0"/>
              </a:spcBef>
              <a:spcAft>
                <a:spcPts val="0"/>
              </a:spcAft>
            </a:pPr>
            <a:r>
              <a:rPr sz="1380" b="1">
                <a:solidFill>
                  <a:schemeClr val="bg1"/>
                </a:solidFill>
                <a:latin typeface="Aptos"/>
              </a:rPr>
              <a:t>Enterprise Support
Prod/LTS, CVEs, OEM escalation</a:t>
            </a:r>
          </a:p>
        </p:txBody>
      </p:sp>
      <p:sp>
        <p:nvSpPr>
          <p:cNvPr id="41" name="Right Arrow 40"/>
          <p:cNvSpPr/>
          <p:nvPr/>
        </p:nvSpPr>
        <p:spPr>
          <a:xfrm>
            <a:off x="3977639" y="2523744"/>
            <a:ext cx="256032" cy="182880"/>
          </a:xfrm>
          <a:prstGeom prst="rightArrow">
            <a:avLst/>
          </a:prstGeom>
          <a:solidFill>
            <a:srgbClr val="5368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a:off x="8037575" y="3447288"/>
            <a:ext cx="374905" cy="0"/>
          </a:xfrm>
          <a:prstGeom prst="line">
            <a:avLst/>
          </a:prstGeom>
          <a:ln w="19050">
            <a:solidFill>
              <a:srgbClr val="D51F3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02920" y="6117336"/>
            <a:ext cx="11119104" cy="228600"/>
          </a:xfrm>
          <a:prstGeom prst="rect">
            <a:avLst/>
          </a:prstGeom>
          <a:noFill/>
        </p:spPr>
        <p:txBody>
          <a:bodyPr wrap="square" lIns="27432" tIns="27432" rIns="27432" bIns="27432" anchor="t">
            <a:spAutoFit/>
          </a:bodyPr>
          <a:lstStyle/>
          <a:p>
            <a:pPr algn="l">
              <a:lnSpc>
                <a:spcPct val="104000"/>
              </a:lnSpc>
              <a:spcBef>
                <a:spcPts val="0"/>
              </a:spcBef>
              <a:spcAft>
                <a:spcPts val="0"/>
              </a:spcAft>
            </a:pPr>
            <a:r>
              <a:rPr sz="1080" b="0" dirty="0">
                <a:solidFill>
                  <a:schemeClr val="bg1"/>
                </a:solidFill>
                <a:latin typeface="Aptos"/>
              </a:rPr>
              <a:t>ATMOS runtime/driver/operator, HBF placement and workload adapters must be delivered/qualified; upstream projects do not establish ready ATMOS support. PRD 3-4 / 12.</a:t>
            </a:r>
          </a:p>
        </p:txBody>
      </p:sp>
      <p:sp>
        <p:nvSpPr>
          <p:cNvPr id="44" name="TextBox 43">
            <a:extLst>
              <a:ext uri="{FF2B5EF4-FFF2-40B4-BE49-F238E27FC236}">
                <a16:creationId xmlns:a16="http://schemas.microsoft.com/office/drawing/2014/main" id="{5E4B1B37-0D8A-683D-3102-9ABD1EB9EABF}"/>
              </a:ext>
            </a:extLst>
          </p:cNvPr>
          <p:cNvSpPr txBox="1"/>
          <p:nvPr/>
        </p:nvSpPr>
        <p:spPr>
          <a:xfrm>
            <a:off x="2564091" y="624708"/>
            <a:ext cx="6622710" cy="486287"/>
          </a:xfrm>
          <a:prstGeom prst="rect">
            <a:avLst/>
          </a:prstGeom>
          <a:noFill/>
        </p:spPr>
        <p:txBody>
          <a:bodyPr wrap="square" lIns="27432" tIns="27432" rIns="27432" bIns="27432" anchor="t">
            <a:spAutoFit/>
          </a:bodyPr>
          <a:lstStyle>
            <a:defPPr>
              <a:defRPr lang="en-US"/>
            </a:defPPr>
            <a:lvl1pPr>
              <a:lnSpc>
                <a:spcPct val="100000"/>
              </a:lnSpc>
              <a:spcBef>
                <a:spcPts val="0"/>
              </a:spcBef>
              <a:spcAft>
                <a:spcPts val="0"/>
              </a:spcAft>
              <a:defRPr sz="2800" b="1">
                <a:solidFill>
                  <a:srgbClr val="183246"/>
                </a:solidFill>
                <a:latin typeface="Aptos"/>
              </a:defRPr>
            </a:lvl1pPr>
          </a:lstStyle>
          <a:p>
            <a:r>
              <a:rPr lang="en-US" dirty="0">
                <a:solidFill>
                  <a:schemeClr val="bg1"/>
                </a:solidFill>
              </a:rPr>
              <a:t>Enterprise Knowledge Agent</a:t>
            </a:r>
          </a:p>
        </p:txBody>
      </p:sp>
      <p:sp>
        <p:nvSpPr>
          <p:cNvPr id="58" name="Text 11">
            <a:extLst>
              <a:ext uri="{FF2B5EF4-FFF2-40B4-BE49-F238E27FC236}">
                <a16:creationId xmlns:a16="http://schemas.microsoft.com/office/drawing/2014/main" id="{E971753A-441B-27E5-66ED-E74615EDDFFF}"/>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09</a:t>
            </a:r>
            <a:endParaRPr lang="en-US" sz="92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9" name="Image 0" descr="/mnt/data/atmos_exec_v3/assets/cover.png">
            <a:extLst>
              <a:ext uri="{FF2B5EF4-FFF2-40B4-BE49-F238E27FC236}">
                <a16:creationId xmlns:a16="http://schemas.microsoft.com/office/drawing/2014/main" id="{AEBF6597-D9D7-A224-E0CB-8B20D1E3FD37}"/>
              </a:ext>
            </a:extLst>
          </p:cNvPr>
          <p:cNvPicPr>
            <a:picLocks noChangeAspect="1"/>
          </p:cNvPicPr>
          <p:nvPr/>
        </p:nvPicPr>
        <p:blipFill>
          <a:blip r:embed="rId3"/>
          <a:stretch>
            <a:fillRect/>
          </a:stretch>
        </p:blipFill>
        <p:spPr>
          <a:xfrm>
            <a:off x="45666" y="192024"/>
            <a:ext cx="12100667" cy="6858000"/>
          </a:xfrm>
          <a:prstGeom prst="rect">
            <a:avLst/>
          </a:prstGeom>
        </p:spPr>
      </p:pic>
      <p:sp>
        <p:nvSpPr>
          <p:cNvPr id="31" name="Shape 0">
            <a:extLst>
              <a:ext uri="{FF2B5EF4-FFF2-40B4-BE49-F238E27FC236}">
                <a16:creationId xmlns:a16="http://schemas.microsoft.com/office/drawing/2014/main" id="{BCE7BC79-16E9-5ABF-4523-B45AEA0BF323}"/>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p>
        </p:txBody>
      </p:sp>
      <p:sp>
        <p:nvSpPr>
          <p:cNvPr id="32" name="Shape 0">
            <a:extLst>
              <a:ext uri="{FF2B5EF4-FFF2-40B4-BE49-F238E27FC236}">
                <a16:creationId xmlns:a16="http://schemas.microsoft.com/office/drawing/2014/main" id="{E44ECCB6-5FE2-BC70-7CEE-CE39C562C249}"/>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3" name="Shape 0">
            <a:extLst>
              <a:ext uri="{FF2B5EF4-FFF2-40B4-BE49-F238E27FC236}">
                <a16:creationId xmlns:a16="http://schemas.microsoft.com/office/drawing/2014/main" id="{73CF4224-BA13-F3B6-2940-F20C6A970ED4}"/>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p>
        </p:txBody>
      </p:sp>
      <p:sp>
        <p:nvSpPr>
          <p:cNvPr id="34" name="Shape 0">
            <a:extLst>
              <a:ext uri="{FF2B5EF4-FFF2-40B4-BE49-F238E27FC236}">
                <a16:creationId xmlns:a16="http://schemas.microsoft.com/office/drawing/2014/main" id="{7EC42B8F-DC40-4CA6-F7AB-377D89C3A51E}"/>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p>
        </p:txBody>
      </p:sp>
      <p:sp>
        <p:nvSpPr>
          <p:cNvPr id="35" name="Rectangle 34">
            <a:extLst>
              <a:ext uri="{FF2B5EF4-FFF2-40B4-BE49-F238E27FC236}">
                <a16:creationId xmlns:a16="http://schemas.microsoft.com/office/drawing/2014/main" id="{05B528A4-E17C-E8F2-60B2-BEBBCC2EEFBA}"/>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chemeClr val="bg1"/>
                </a:solidFill>
                <a:latin typeface="Arial" pitchFamily="34" charset="0"/>
                <a:ea typeface="Arial" pitchFamily="34" charset="-122"/>
                <a:cs typeface="Arial" pitchFamily="34" charset="-120"/>
              </a:rPr>
              <a:t>ATMOS  /  WHAT SANDISK MUST BUILD</a:t>
            </a:r>
            <a:endParaRPr lang="en-US" sz="1030" dirty="0">
              <a:solidFill>
                <a:schemeClr val="bg1"/>
              </a:solidFill>
            </a:endParaRPr>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chemeClr val="bg1"/>
                </a:solidFill>
                <a:latin typeface="Arial" pitchFamily="34" charset="0"/>
                <a:ea typeface="Arial" pitchFamily="34" charset="-122"/>
                <a:cs typeface="Arial" pitchFamily="34" charset="-120"/>
              </a:rPr>
              <a:t>The backend and support system are part of the product.</a:t>
            </a:r>
            <a:endParaRPr lang="en-US" sz="2900" dirty="0">
              <a:solidFill>
                <a:schemeClr val="bg1"/>
              </a:solidFill>
            </a:endParaRPr>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chemeClr val="bg1"/>
                </a:solidFill>
                <a:latin typeface="Arial" pitchFamily="34" charset="0"/>
                <a:ea typeface="Arial" pitchFamily="34" charset="-122"/>
                <a:cs typeface="Arial" pitchFamily="34" charset="-120"/>
              </a:rPr>
              <a:t>Reuse Linux, Kubernetes and service components; own the ATMOS contract and customer lifecycle.</a:t>
            </a:r>
            <a:endParaRPr lang="en-US" sz="1400" dirty="0">
              <a:solidFill>
                <a:schemeClr val="bg1"/>
              </a:solidFill>
            </a:endParaRPr>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12" name="Shape 10"/>
          <p:cNvSpPr/>
          <p:nvPr/>
        </p:nvSpPr>
        <p:spPr>
          <a:xfrm>
            <a:off x="502920" y="2039112"/>
            <a:ext cx="3602736" cy="3529584"/>
          </a:xfrm>
          <a:prstGeom prst="rect">
            <a:avLst/>
          </a:prstGeom>
          <a:solidFill>
            <a:srgbClr val="C00000"/>
          </a:solidFill>
          <a:ln w="8255">
            <a:solidFill>
              <a:srgbClr val="F3F4F6"/>
            </a:solidFill>
            <a:prstDash val="solid"/>
          </a:ln>
        </p:spPr>
        <p:txBody>
          <a:bodyPr/>
          <a:lstStyle/>
          <a:p>
            <a:endParaRPr lang="en-US"/>
          </a:p>
        </p:txBody>
      </p:sp>
      <p:sp>
        <p:nvSpPr>
          <p:cNvPr id="13" name="Shape 11"/>
          <p:cNvSpPr/>
          <p:nvPr/>
        </p:nvSpPr>
        <p:spPr>
          <a:xfrm>
            <a:off x="658368" y="2221992"/>
            <a:ext cx="3291840" cy="256032"/>
          </a:xfrm>
          <a:prstGeom prst="rect">
            <a:avLst/>
          </a:prstGeom>
          <a:solidFill>
            <a:schemeClr val="tx1"/>
          </a:solidFill>
          <a:ln w="8255">
            <a:solidFill>
              <a:srgbClr val="FDECEF"/>
            </a:solidFill>
            <a:prstDash val="solid"/>
          </a:ln>
        </p:spPr>
        <p:txBody>
          <a:bodyPr/>
          <a:lstStyle/>
          <a:p>
            <a:endParaRPr lang="en-US"/>
          </a:p>
        </p:txBody>
      </p:sp>
      <p:sp>
        <p:nvSpPr>
          <p:cNvPr id="14" name="Text 12"/>
          <p:cNvSpPr/>
          <p:nvPr/>
        </p:nvSpPr>
        <p:spPr>
          <a:xfrm>
            <a:off x="731520" y="2221992"/>
            <a:ext cx="3145536" cy="256032"/>
          </a:xfrm>
          <a:prstGeom prst="rect">
            <a:avLst/>
          </a:prstGeom>
          <a:noFill/>
          <a:ln/>
        </p:spPr>
        <p:txBody>
          <a:bodyPr wrap="square" lIns="0" tIns="0" rIns="0" bIns="0" rtlCol="0" anchor="ctr">
            <a:normAutofit/>
          </a:bodyPr>
          <a:lstStyle/>
          <a:p>
            <a:pPr marL="0" indent="0">
              <a:buNone/>
            </a:pPr>
            <a:r>
              <a:rPr lang="en-US" sz="930" b="1" dirty="0">
                <a:solidFill>
                  <a:schemeClr val="bg1"/>
                </a:solidFill>
                <a:latin typeface="Arial" pitchFamily="34" charset="0"/>
                <a:ea typeface="Arial" pitchFamily="34" charset="-122"/>
                <a:cs typeface="Arial" pitchFamily="34" charset="-120"/>
              </a:rPr>
              <a:t>EXECUTION</a:t>
            </a:r>
            <a:endParaRPr lang="en-US" sz="930" dirty="0">
              <a:solidFill>
                <a:schemeClr val="bg1"/>
              </a:solidFill>
            </a:endParaRPr>
          </a:p>
        </p:txBody>
      </p:sp>
      <p:sp>
        <p:nvSpPr>
          <p:cNvPr id="15" name="Text 13"/>
          <p:cNvSpPr/>
          <p:nvPr/>
        </p:nvSpPr>
        <p:spPr>
          <a:xfrm>
            <a:off x="685800" y="2743200"/>
            <a:ext cx="3236976" cy="1014984"/>
          </a:xfrm>
          <a:prstGeom prst="rect">
            <a:avLst/>
          </a:prstGeom>
          <a:noFill/>
          <a:ln/>
        </p:spPr>
        <p:txBody>
          <a:bodyPr wrap="square" lIns="0" tIns="0" rIns="0" bIns="0" rtlCol="0" anchor="ctr">
            <a:normAutofit/>
          </a:bodyPr>
          <a:lstStyle/>
          <a:p>
            <a:pPr marL="0" indent="0">
              <a:buNone/>
            </a:pPr>
            <a:r>
              <a:rPr lang="en-US" sz="2100" b="1" dirty="0">
                <a:solidFill>
                  <a:schemeClr val="bg1"/>
                </a:solidFill>
                <a:latin typeface="Arial" pitchFamily="34" charset="0"/>
                <a:ea typeface="Arial" pitchFamily="34" charset="-122"/>
                <a:cs typeface="Arial" pitchFamily="34" charset="-120"/>
              </a:rPr>
              <a:t>AI OS</a:t>
            </a:r>
            <a:endParaRPr lang="en-US" sz="2100" dirty="0">
              <a:solidFill>
                <a:schemeClr val="bg1"/>
              </a:solidFill>
            </a:endParaRPr>
          </a:p>
          <a:p>
            <a:pPr marL="0" indent="0">
              <a:buNone/>
            </a:pPr>
            <a:r>
              <a:rPr lang="en-US" sz="2100" b="1" dirty="0">
                <a:solidFill>
                  <a:schemeClr val="bg1"/>
                </a:solidFill>
                <a:latin typeface="Arial" pitchFamily="34" charset="0"/>
                <a:ea typeface="Arial" pitchFamily="34" charset="-122"/>
                <a:cs typeface="Arial" pitchFamily="34" charset="-120"/>
              </a:rPr>
              <a:t>Device Service</a:t>
            </a:r>
            <a:endParaRPr lang="en-US" sz="2100" dirty="0">
              <a:solidFill>
                <a:schemeClr val="bg1"/>
              </a:solidFill>
            </a:endParaRPr>
          </a:p>
          <a:p>
            <a:pPr marL="0" indent="0">
              <a:buNone/>
            </a:pPr>
            <a:r>
              <a:rPr lang="en-US" sz="2100" b="1" dirty="0">
                <a:solidFill>
                  <a:schemeClr val="bg1"/>
                </a:solidFill>
                <a:latin typeface="Arial" pitchFamily="34" charset="0"/>
                <a:ea typeface="Arial" pitchFamily="34" charset="-122"/>
                <a:cs typeface="Arial" pitchFamily="34" charset="-120"/>
              </a:rPr>
              <a:t>Model Services</a:t>
            </a:r>
            <a:endParaRPr lang="en-US" sz="2100" dirty="0">
              <a:solidFill>
                <a:schemeClr val="bg1"/>
              </a:solidFill>
            </a:endParaRPr>
          </a:p>
        </p:txBody>
      </p:sp>
      <p:sp>
        <p:nvSpPr>
          <p:cNvPr id="16" name="Text 14"/>
          <p:cNvSpPr/>
          <p:nvPr/>
        </p:nvSpPr>
        <p:spPr>
          <a:xfrm>
            <a:off x="685800" y="4105656"/>
            <a:ext cx="3236976" cy="1069848"/>
          </a:xfrm>
          <a:prstGeom prst="rect">
            <a:avLst/>
          </a:prstGeom>
          <a:noFill/>
          <a:ln/>
        </p:spPr>
        <p:txBody>
          <a:bodyPr wrap="square" lIns="0" tIns="0" rIns="0" bIns="0" rtlCol="0" anchor="ctr">
            <a:normAutofit/>
          </a:bodyPr>
          <a:lstStyle/>
          <a:p>
            <a:pPr marL="0" indent="0">
              <a:buNone/>
            </a:pPr>
            <a:r>
              <a:rPr lang="en-US" sz="1500" dirty="0">
                <a:solidFill>
                  <a:schemeClr val="bg1"/>
                </a:solidFill>
                <a:latin typeface="Arial" pitchFamily="34" charset="0"/>
                <a:ea typeface="Arial" pitchFamily="34" charset="-122"/>
                <a:cs typeface="Arial" pitchFamily="34" charset="-120"/>
              </a:rPr>
              <a:t>Signed platform; DMA/isolation; native kernels, active state and device fabric.</a:t>
            </a:r>
            <a:endParaRPr lang="en-US" sz="1500" dirty="0">
              <a:solidFill>
                <a:schemeClr val="bg1"/>
              </a:solidFill>
            </a:endParaRPr>
          </a:p>
        </p:txBody>
      </p:sp>
      <p:sp>
        <p:nvSpPr>
          <p:cNvPr id="17" name="Shape 15"/>
          <p:cNvSpPr/>
          <p:nvPr/>
        </p:nvSpPr>
        <p:spPr>
          <a:xfrm>
            <a:off x="4288536" y="2039112"/>
            <a:ext cx="3602736" cy="3529584"/>
          </a:xfrm>
          <a:prstGeom prst="rect">
            <a:avLst/>
          </a:prstGeom>
          <a:solidFill>
            <a:srgbClr val="C00000"/>
          </a:solidFill>
          <a:ln w="8255">
            <a:solidFill>
              <a:srgbClr val="F3F4F6"/>
            </a:solidFill>
            <a:prstDash val="solid"/>
          </a:ln>
        </p:spPr>
        <p:txBody>
          <a:bodyPr/>
          <a:lstStyle/>
          <a:p>
            <a:endParaRPr lang="en-US"/>
          </a:p>
        </p:txBody>
      </p:sp>
      <p:sp>
        <p:nvSpPr>
          <p:cNvPr id="18" name="Shape 16"/>
          <p:cNvSpPr/>
          <p:nvPr/>
        </p:nvSpPr>
        <p:spPr>
          <a:xfrm>
            <a:off x="4443984" y="2221992"/>
            <a:ext cx="3291840" cy="256032"/>
          </a:xfrm>
          <a:prstGeom prst="rect">
            <a:avLst/>
          </a:prstGeom>
          <a:solidFill>
            <a:schemeClr val="tx1"/>
          </a:solidFill>
          <a:ln w="8255">
            <a:solidFill>
              <a:srgbClr val="FDECEF"/>
            </a:solidFill>
            <a:prstDash val="solid"/>
          </a:ln>
        </p:spPr>
        <p:txBody>
          <a:bodyPr/>
          <a:lstStyle/>
          <a:p>
            <a:endParaRPr lang="en-US"/>
          </a:p>
        </p:txBody>
      </p:sp>
      <p:sp>
        <p:nvSpPr>
          <p:cNvPr id="19" name="Text 17"/>
          <p:cNvSpPr/>
          <p:nvPr/>
        </p:nvSpPr>
        <p:spPr>
          <a:xfrm>
            <a:off x="4517136" y="2221992"/>
            <a:ext cx="3145536" cy="256032"/>
          </a:xfrm>
          <a:prstGeom prst="rect">
            <a:avLst/>
          </a:prstGeom>
          <a:noFill/>
          <a:ln/>
        </p:spPr>
        <p:txBody>
          <a:bodyPr wrap="square" lIns="0" tIns="0" rIns="0" bIns="0" rtlCol="0" anchor="ctr">
            <a:normAutofit/>
          </a:bodyPr>
          <a:lstStyle/>
          <a:p>
            <a:pPr marL="0" indent="0">
              <a:buNone/>
            </a:pPr>
            <a:r>
              <a:rPr lang="en-US" sz="930" b="1" dirty="0">
                <a:solidFill>
                  <a:schemeClr val="bg1"/>
                </a:solidFill>
                <a:latin typeface="Arial" pitchFamily="34" charset="0"/>
                <a:ea typeface="Arial" pitchFamily="34" charset="-122"/>
                <a:cs typeface="Arial" pitchFamily="34" charset="-120"/>
              </a:rPr>
              <a:t>EXPERIENCE</a:t>
            </a:r>
            <a:endParaRPr lang="en-US" sz="930" dirty="0">
              <a:solidFill>
                <a:schemeClr val="bg1"/>
              </a:solidFill>
            </a:endParaRPr>
          </a:p>
        </p:txBody>
      </p:sp>
      <p:sp>
        <p:nvSpPr>
          <p:cNvPr id="20" name="Text 18"/>
          <p:cNvSpPr/>
          <p:nvPr/>
        </p:nvSpPr>
        <p:spPr>
          <a:xfrm>
            <a:off x="4471416" y="2743200"/>
            <a:ext cx="3236976" cy="1014984"/>
          </a:xfrm>
          <a:prstGeom prst="rect">
            <a:avLst/>
          </a:prstGeom>
          <a:noFill/>
          <a:ln/>
        </p:spPr>
        <p:txBody>
          <a:bodyPr wrap="square" lIns="0" tIns="0" rIns="0" bIns="0" rtlCol="0" anchor="ctr">
            <a:normAutofit/>
          </a:bodyPr>
          <a:lstStyle/>
          <a:p>
            <a:pPr marL="0" indent="0">
              <a:buNone/>
            </a:pPr>
            <a:r>
              <a:rPr lang="en-US" sz="2100" b="1" dirty="0">
                <a:solidFill>
                  <a:schemeClr val="bg1"/>
                </a:solidFill>
                <a:latin typeface="Arial" pitchFamily="34" charset="0"/>
                <a:ea typeface="Arial" pitchFamily="34" charset="-122"/>
                <a:cs typeface="Arial" pitchFamily="34" charset="-120"/>
              </a:rPr>
              <a:t>Certified ModelPacks</a:t>
            </a:r>
            <a:endParaRPr lang="en-US" sz="2100" dirty="0">
              <a:solidFill>
                <a:schemeClr val="bg1"/>
              </a:solidFill>
            </a:endParaRPr>
          </a:p>
          <a:p>
            <a:pPr marL="0" indent="0">
              <a:buNone/>
            </a:pPr>
            <a:r>
              <a:rPr lang="en-US" sz="2100" b="1" dirty="0">
                <a:solidFill>
                  <a:schemeClr val="bg1"/>
                </a:solidFill>
                <a:latin typeface="Arial" pitchFamily="34" charset="0"/>
                <a:ea typeface="Arial" pitchFamily="34" charset="-122"/>
                <a:cs typeface="Arial" pitchFamily="34" charset="-120"/>
              </a:rPr>
              <a:t>Serving Manager</a:t>
            </a:r>
            <a:endParaRPr lang="en-US" sz="2100" dirty="0">
              <a:solidFill>
                <a:schemeClr val="bg1"/>
              </a:solidFill>
            </a:endParaRPr>
          </a:p>
          <a:p>
            <a:pPr marL="0" indent="0">
              <a:buNone/>
            </a:pPr>
            <a:r>
              <a:rPr lang="en-US" sz="2100" b="1" dirty="0">
                <a:solidFill>
                  <a:schemeClr val="bg1"/>
                </a:solidFill>
                <a:latin typeface="Arial" pitchFamily="34" charset="0"/>
                <a:ea typeface="Arial" pitchFamily="34" charset="-122"/>
                <a:cs typeface="Arial" pitchFamily="34" charset="-120"/>
              </a:rPr>
              <a:t>Knowledge Agent</a:t>
            </a:r>
            <a:endParaRPr lang="en-US" sz="2100" dirty="0">
              <a:solidFill>
                <a:schemeClr val="bg1"/>
              </a:solidFill>
            </a:endParaRPr>
          </a:p>
        </p:txBody>
      </p:sp>
      <p:sp>
        <p:nvSpPr>
          <p:cNvPr id="21" name="Text 19"/>
          <p:cNvSpPr/>
          <p:nvPr/>
        </p:nvSpPr>
        <p:spPr>
          <a:xfrm>
            <a:off x="4471416" y="4105656"/>
            <a:ext cx="3236976" cy="1069848"/>
          </a:xfrm>
          <a:prstGeom prst="rect">
            <a:avLst/>
          </a:prstGeom>
          <a:noFill/>
          <a:ln/>
        </p:spPr>
        <p:txBody>
          <a:bodyPr wrap="square" lIns="0" tIns="0" rIns="0" bIns="0" rtlCol="0" anchor="ctr">
            <a:normAutofit/>
          </a:bodyPr>
          <a:lstStyle/>
          <a:p>
            <a:pPr marL="0" indent="0">
              <a:buNone/>
            </a:pPr>
            <a:r>
              <a:rPr lang="en-US" sz="1500" dirty="0">
                <a:solidFill>
                  <a:schemeClr val="bg1"/>
                </a:solidFill>
                <a:latin typeface="Arial" pitchFamily="34" charset="0"/>
                <a:ea typeface="Arial" pitchFamily="34" charset="-122"/>
                <a:cs typeface="Arial" pitchFamily="34" charset="-120"/>
              </a:rPr>
              <a:t>Golden tests; admission and quotas; governed sources, citations and bounded workflows.</a:t>
            </a:r>
            <a:endParaRPr lang="en-US" sz="1500" dirty="0">
              <a:solidFill>
                <a:schemeClr val="bg1"/>
              </a:solidFill>
            </a:endParaRPr>
          </a:p>
        </p:txBody>
      </p:sp>
      <p:sp>
        <p:nvSpPr>
          <p:cNvPr id="22" name="Shape 20"/>
          <p:cNvSpPr/>
          <p:nvPr/>
        </p:nvSpPr>
        <p:spPr>
          <a:xfrm>
            <a:off x="8074152" y="2039112"/>
            <a:ext cx="3602736" cy="3529584"/>
          </a:xfrm>
          <a:prstGeom prst="rect">
            <a:avLst/>
          </a:prstGeom>
          <a:solidFill>
            <a:srgbClr val="C00000"/>
          </a:solidFill>
          <a:ln w="8255">
            <a:solidFill>
              <a:srgbClr val="F3F4F6"/>
            </a:solidFill>
            <a:prstDash val="solid"/>
          </a:ln>
        </p:spPr>
        <p:txBody>
          <a:bodyPr/>
          <a:lstStyle/>
          <a:p>
            <a:endParaRPr lang="en-US"/>
          </a:p>
        </p:txBody>
      </p:sp>
      <p:sp>
        <p:nvSpPr>
          <p:cNvPr id="23" name="Shape 21"/>
          <p:cNvSpPr/>
          <p:nvPr/>
        </p:nvSpPr>
        <p:spPr>
          <a:xfrm>
            <a:off x="8229600" y="2221992"/>
            <a:ext cx="3291840" cy="256032"/>
          </a:xfrm>
          <a:prstGeom prst="rect">
            <a:avLst/>
          </a:prstGeom>
          <a:solidFill>
            <a:schemeClr val="tx1"/>
          </a:solidFill>
          <a:ln w="8255">
            <a:solidFill>
              <a:srgbClr val="FDECEF"/>
            </a:solidFill>
            <a:prstDash val="solid"/>
          </a:ln>
        </p:spPr>
        <p:txBody>
          <a:bodyPr/>
          <a:lstStyle/>
          <a:p>
            <a:endParaRPr lang="en-US"/>
          </a:p>
        </p:txBody>
      </p:sp>
      <p:sp>
        <p:nvSpPr>
          <p:cNvPr id="24" name="Text 22"/>
          <p:cNvSpPr/>
          <p:nvPr/>
        </p:nvSpPr>
        <p:spPr>
          <a:xfrm>
            <a:off x="8302752" y="2221992"/>
            <a:ext cx="3145536" cy="256032"/>
          </a:xfrm>
          <a:prstGeom prst="rect">
            <a:avLst/>
          </a:prstGeom>
          <a:noFill/>
          <a:ln/>
        </p:spPr>
        <p:txBody>
          <a:bodyPr wrap="square" lIns="0" tIns="0" rIns="0" bIns="0" rtlCol="0" anchor="ctr">
            <a:normAutofit/>
          </a:bodyPr>
          <a:lstStyle/>
          <a:p>
            <a:pPr marL="0" indent="0">
              <a:buNone/>
            </a:pPr>
            <a:r>
              <a:rPr lang="en-US" sz="930" b="1" dirty="0">
                <a:solidFill>
                  <a:schemeClr val="bg1"/>
                </a:solidFill>
                <a:latin typeface="Arial" pitchFamily="34" charset="0"/>
                <a:ea typeface="Arial" pitchFamily="34" charset="-122"/>
                <a:cs typeface="Arial" pitchFamily="34" charset="-120"/>
              </a:rPr>
              <a:t>OPERATIONS</a:t>
            </a:r>
            <a:endParaRPr lang="en-US" sz="930" dirty="0">
              <a:solidFill>
                <a:schemeClr val="bg1"/>
              </a:solidFill>
            </a:endParaRPr>
          </a:p>
        </p:txBody>
      </p:sp>
      <p:sp>
        <p:nvSpPr>
          <p:cNvPr id="25" name="Text 23"/>
          <p:cNvSpPr/>
          <p:nvPr/>
        </p:nvSpPr>
        <p:spPr>
          <a:xfrm>
            <a:off x="8257032" y="2743200"/>
            <a:ext cx="3236976" cy="1014984"/>
          </a:xfrm>
          <a:prstGeom prst="rect">
            <a:avLst/>
          </a:prstGeom>
          <a:noFill/>
          <a:ln/>
        </p:spPr>
        <p:txBody>
          <a:bodyPr wrap="square" lIns="0" tIns="0" rIns="0" bIns="0" rtlCol="0" anchor="ctr">
            <a:normAutofit/>
          </a:bodyPr>
          <a:lstStyle/>
          <a:p>
            <a:pPr marL="0" indent="0">
              <a:buNone/>
            </a:pPr>
            <a:r>
              <a:rPr lang="en-US" sz="2100" b="1" dirty="0">
                <a:solidFill>
                  <a:schemeClr val="bg1"/>
                </a:solidFill>
                <a:latin typeface="Arial" pitchFamily="34" charset="0"/>
                <a:ea typeface="Arial" pitchFamily="34" charset="-122"/>
                <a:cs typeface="Arial" pitchFamily="34" charset="-120"/>
              </a:rPr>
              <a:t>Control Center</a:t>
            </a:r>
            <a:endParaRPr lang="en-US" sz="2100" dirty="0">
              <a:solidFill>
                <a:schemeClr val="bg1"/>
              </a:solidFill>
            </a:endParaRPr>
          </a:p>
          <a:p>
            <a:pPr marL="0" indent="0">
              <a:buNone/>
            </a:pPr>
            <a:r>
              <a:rPr lang="en-US" sz="2100" b="1" dirty="0">
                <a:solidFill>
                  <a:schemeClr val="bg1"/>
                </a:solidFill>
                <a:latin typeface="Arial" pitchFamily="34" charset="0"/>
                <a:ea typeface="Arial" pitchFamily="34" charset="-122"/>
                <a:cs typeface="Arial" pitchFamily="34" charset="-120"/>
              </a:rPr>
              <a:t>SDK</a:t>
            </a:r>
            <a:endParaRPr lang="en-US" sz="2100" dirty="0">
              <a:solidFill>
                <a:schemeClr val="bg1"/>
              </a:solidFill>
            </a:endParaRPr>
          </a:p>
          <a:p>
            <a:pPr marL="0" indent="0">
              <a:buNone/>
            </a:pPr>
            <a:r>
              <a:rPr lang="en-US" sz="2100" b="1" dirty="0">
                <a:solidFill>
                  <a:schemeClr val="bg1"/>
                </a:solidFill>
                <a:latin typeface="Arial" pitchFamily="34" charset="0"/>
                <a:ea typeface="Arial" pitchFamily="34" charset="-122"/>
                <a:cs typeface="Arial" pitchFamily="34" charset="-120"/>
              </a:rPr>
              <a:t>Enterprise Support</a:t>
            </a:r>
            <a:endParaRPr lang="en-US" sz="2100" dirty="0">
              <a:solidFill>
                <a:schemeClr val="bg1"/>
              </a:solidFill>
            </a:endParaRPr>
          </a:p>
        </p:txBody>
      </p:sp>
      <p:sp>
        <p:nvSpPr>
          <p:cNvPr id="26" name="Text 24"/>
          <p:cNvSpPr/>
          <p:nvPr/>
        </p:nvSpPr>
        <p:spPr>
          <a:xfrm>
            <a:off x="8257032" y="4105656"/>
            <a:ext cx="3236976" cy="1069848"/>
          </a:xfrm>
          <a:prstGeom prst="rect">
            <a:avLst/>
          </a:prstGeom>
          <a:noFill/>
          <a:ln/>
        </p:spPr>
        <p:txBody>
          <a:bodyPr wrap="square" lIns="0" tIns="0" rIns="0" bIns="0" rtlCol="0" anchor="ctr">
            <a:normAutofit/>
          </a:bodyPr>
          <a:lstStyle/>
          <a:p>
            <a:pPr marL="0" indent="0">
              <a:buNone/>
            </a:pPr>
            <a:r>
              <a:rPr lang="en-US" sz="1500" dirty="0">
                <a:solidFill>
                  <a:schemeClr val="bg1"/>
                </a:solidFill>
                <a:latin typeface="Arial" pitchFamily="34" charset="0"/>
                <a:ea typeface="Arial" pitchFamily="34" charset="-122"/>
                <a:cs typeface="Arial" pitchFamily="34" charset="-120"/>
              </a:rPr>
              <a:t>Fleet and SLO views; APIs; entitlement, CVE response, updates, rollback and OEM cases.</a:t>
            </a:r>
            <a:endParaRPr lang="en-US" sz="1500" dirty="0">
              <a:solidFill>
                <a:schemeClr val="bg1"/>
              </a:solidFill>
            </a:endParaRPr>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OEM reuse reduces platform work. It does not supply ATMOS software, certification or prime support for free.</a:t>
            </a:r>
            <a:endParaRPr lang="en-US" sz="1200" dirty="0"/>
          </a:p>
        </p:txBody>
      </p:sp>
      <p:sp>
        <p:nvSpPr>
          <p:cNvPr id="36" name="Text 1">
            <a:extLst>
              <a:ext uri="{FF2B5EF4-FFF2-40B4-BE49-F238E27FC236}">
                <a16:creationId xmlns:a16="http://schemas.microsoft.com/office/drawing/2014/main" id="{6C5FADA6-C38C-5F60-55CF-35C4FE36AF42}"/>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37" name="Text 11">
            <a:extLst>
              <a:ext uri="{FF2B5EF4-FFF2-40B4-BE49-F238E27FC236}">
                <a16:creationId xmlns:a16="http://schemas.microsoft.com/office/drawing/2014/main" id="{04A11A5E-DF49-4F10-97C5-1C17684CA739}"/>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10</a:t>
            </a:r>
            <a:endParaRPr lang="en-US" sz="92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E4CFCA-4557-BCA4-18DB-27645BA84E00}"/>
            </a:ext>
          </a:extLst>
        </p:cNvPr>
        <p:cNvGrpSpPr/>
        <p:nvPr/>
      </p:nvGrpSpPr>
      <p:grpSpPr>
        <a:xfrm>
          <a:off x="0" y="0"/>
          <a:ext cx="0" cy="0"/>
          <a:chOff x="0" y="0"/>
          <a:chExt cx="0" cy="0"/>
        </a:xfrm>
      </p:grpSpPr>
      <p:pic>
        <p:nvPicPr>
          <p:cNvPr id="12" name="Image 0" descr="/mnt/data/atmos_exec_v3/assets/cover.png">
            <a:extLst>
              <a:ext uri="{FF2B5EF4-FFF2-40B4-BE49-F238E27FC236}">
                <a16:creationId xmlns:a16="http://schemas.microsoft.com/office/drawing/2014/main" id="{FDF48D6F-C01B-FF58-A7A9-B9FA8AF20736}"/>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 name="Shape 0">
            <a:extLst>
              <a:ext uri="{FF2B5EF4-FFF2-40B4-BE49-F238E27FC236}">
                <a16:creationId xmlns:a16="http://schemas.microsoft.com/office/drawing/2014/main" id="{38043C4E-E3E9-ED36-8562-2F6B5A2ABCE8}"/>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4" name="Text 2">
            <a:extLst>
              <a:ext uri="{FF2B5EF4-FFF2-40B4-BE49-F238E27FC236}">
                <a16:creationId xmlns:a16="http://schemas.microsoft.com/office/drawing/2014/main" id="{00495889-1FD5-EF47-09FF-7BF7B614F2DC}"/>
              </a:ext>
            </a:extLst>
          </p:cNvPr>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rgbClr val="5B6169"/>
                </a:solidFill>
                <a:latin typeface="Arial" pitchFamily="34" charset="0"/>
                <a:ea typeface="Arial" pitchFamily="34" charset="-122"/>
                <a:cs typeface="Arial" pitchFamily="34" charset="-120"/>
              </a:rPr>
              <a:t>ATMOS  /  WHAT SANDISK MUST BUILD</a:t>
            </a:r>
            <a:endParaRPr lang="en-US" sz="1030" dirty="0"/>
          </a:p>
        </p:txBody>
      </p:sp>
      <p:sp>
        <p:nvSpPr>
          <p:cNvPr id="5" name="Text 3">
            <a:extLst>
              <a:ext uri="{FF2B5EF4-FFF2-40B4-BE49-F238E27FC236}">
                <a16:creationId xmlns:a16="http://schemas.microsoft.com/office/drawing/2014/main" id="{785114DE-7D2C-9BC1-59B1-72E1140DFEF8}"/>
              </a:ext>
            </a:extLst>
          </p:cNvPr>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chemeClr val="bg1"/>
                </a:solidFill>
                <a:latin typeface="Arial" pitchFamily="34" charset="0"/>
                <a:ea typeface="Arial" pitchFamily="34" charset="-122"/>
                <a:cs typeface="Arial" pitchFamily="34" charset="-120"/>
              </a:rPr>
              <a:t>Native runtime and Ownership</a:t>
            </a:r>
            <a:endParaRPr lang="en-US" sz="2900" dirty="0">
              <a:solidFill>
                <a:schemeClr val="bg1"/>
              </a:solidFill>
            </a:endParaRPr>
          </a:p>
        </p:txBody>
      </p:sp>
      <p:sp>
        <p:nvSpPr>
          <p:cNvPr id="6" name="Text 4">
            <a:extLst>
              <a:ext uri="{FF2B5EF4-FFF2-40B4-BE49-F238E27FC236}">
                <a16:creationId xmlns:a16="http://schemas.microsoft.com/office/drawing/2014/main" id="{9731E642-5B39-D8E3-BDF3-FDFC7ACFA697}"/>
              </a:ext>
            </a:extLst>
          </p:cNvPr>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chemeClr val="bg1"/>
                </a:solidFill>
                <a:latin typeface="Arial" pitchFamily="34" charset="0"/>
                <a:ea typeface="Arial" pitchFamily="34" charset="-122"/>
                <a:cs typeface="Arial" pitchFamily="34" charset="-120"/>
              </a:rPr>
              <a:t>Reuse Linux, Kubernetes and service components; own the ATMOS contract and customer lifecycle.</a:t>
            </a:r>
            <a:endParaRPr lang="en-US" sz="1400" dirty="0">
              <a:solidFill>
                <a:schemeClr val="bg1"/>
              </a:solidFill>
            </a:endParaRPr>
          </a:p>
        </p:txBody>
      </p:sp>
      <p:sp>
        <p:nvSpPr>
          <p:cNvPr id="7" name="Shape 5">
            <a:extLst>
              <a:ext uri="{FF2B5EF4-FFF2-40B4-BE49-F238E27FC236}">
                <a16:creationId xmlns:a16="http://schemas.microsoft.com/office/drawing/2014/main" id="{35BC50E0-4122-6BCE-4375-CD5E7639837B}"/>
              </a:ext>
            </a:extLst>
          </p:cNvPr>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27" name="Shape 25">
            <a:extLst>
              <a:ext uri="{FF2B5EF4-FFF2-40B4-BE49-F238E27FC236}">
                <a16:creationId xmlns:a16="http://schemas.microsoft.com/office/drawing/2014/main" id="{B6DF267B-5F9C-AE98-390A-8165965FD3CC}"/>
              </a:ext>
            </a:extLst>
          </p:cNvPr>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8" name="Text 26">
            <a:extLst>
              <a:ext uri="{FF2B5EF4-FFF2-40B4-BE49-F238E27FC236}">
                <a16:creationId xmlns:a16="http://schemas.microsoft.com/office/drawing/2014/main" id="{3B524774-79FB-07FF-AF35-4AC98779B6BD}"/>
              </a:ext>
            </a:extLst>
          </p:cNvPr>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OEM reuse reduces platform work. It does not supply ATMOS software, certification or prime support for free.</a:t>
            </a:r>
            <a:endParaRPr lang="en-US" sz="1200" dirty="0"/>
          </a:p>
        </p:txBody>
      </p:sp>
      <p:pic>
        <p:nvPicPr>
          <p:cNvPr id="29" name="Picture 28" descr="Figure A6. The runtime container, ModelPack and customer-data generation remain separate.">
            <a:extLst>
              <a:ext uri="{FF2B5EF4-FFF2-40B4-BE49-F238E27FC236}">
                <a16:creationId xmlns:a16="http://schemas.microsoft.com/office/drawing/2014/main" id="{21E3B4CD-167A-B7FC-25A6-7D0685AA5CBA}"/>
              </a:ext>
            </a:extLst>
          </p:cNvPr>
          <p:cNvPicPr>
            <a:picLocks noChangeAspect="1"/>
          </p:cNvPicPr>
          <p:nvPr/>
        </p:nvPicPr>
        <p:blipFill>
          <a:blip r:embed="rId4"/>
          <a:stretch>
            <a:fillRect/>
          </a:stretch>
        </p:blipFill>
        <p:spPr>
          <a:xfrm>
            <a:off x="475488" y="2054032"/>
            <a:ext cx="10253036" cy="3633536"/>
          </a:xfrm>
          <a:prstGeom prst="rect">
            <a:avLst/>
          </a:prstGeom>
          <a:solidFill>
            <a:srgbClr val="C00000"/>
          </a:solidFill>
        </p:spPr>
      </p:pic>
      <p:sp>
        <p:nvSpPr>
          <p:cNvPr id="13" name="Shape 0">
            <a:extLst>
              <a:ext uri="{FF2B5EF4-FFF2-40B4-BE49-F238E27FC236}">
                <a16:creationId xmlns:a16="http://schemas.microsoft.com/office/drawing/2014/main" id="{7F62190D-000F-EAC7-92A2-A41FFA55384F}"/>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p>
        </p:txBody>
      </p:sp>
      <p:sp>
        <p:nvSpPr>
          <p:cNvPr id="14" name="Shape 0">
            <a:extLst>
              <a:ext uri="{FF2B5EF4-FFF2-40B4-BE49-F238E27FC236}">
                <a16:creationId xmlns:a16="http://schemas.microsoft.com/office/drawing/2014/main" id="{A0E197C2-D663-5D17-FC36-13A98F6A3BDD}"/>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15" name="Shape 0">
            <a:extLst>
              <a:ext uri="{FF2B5EF4-FFF2-40B4-BE49-F238E27FC236}">
                <a16:creationId xmlns:a16="http://schemas.microsoft.com/office/drawing/2014/main" id="{31199477-47A0-1528-98C9-9AE162841221}"/>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p>
        </p:txBody>
      </p:sp>
      <p:sp>
        <p:nvSpPr>
          <p:cNvPr id="16" name="Shape 0">
            <a:extLst>
              <a:ext uri="{FF2B5EF4-FFF2-40B4-BE49-F238E27FC236}">
                <a16:creationId xmlns:a16="http://schemas.microsoft.com/office/drawing/2014/main" id="{517A5CBF-4A8A-4FFA-6678-ADDE2B0707F2}"/>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p>
        </p:txBody>
      </p:sp>
      <p:sp>
        <p:nvSpPr>
          <p:cNvPr id="17" name="Rectangle 16">
            <a:extLst>
              <a:ext uri="{FF2B5EF4-FFF2-40B4-BE49-F238E27FC236}">
                <a16:creationId xmlns:a16="http://schemas.microsoft.com/office/drawing/2014/main" id="{8FB44421-7FF2-4522-5009-89C3FE753373}"/>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 1">
            <a:extLst>
              <a:ext uri="{FF2B5EF4-FFF2-40B4-BE49-F238E27FC236}">
                <a16:creationId xmlns:a16="http://schemas.microsoft.com/office/drawing/2014/main" id="{0F221B0C-33B9-423E-D205-BE593A56245C}"/>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19" name="Text 11">
            <a:extLst>
              <a:ext uri="{FF2B5EF4-FFF2-40B4-BE49-F238E27FC236}">
                <a16:creationId xmlns:a16="http://schemas.microsoft.com/office/drawing/2014/main" id="{4DC617D4-47FF-1174-50AF-7400860E3CE2}"/>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11</a:t>
            </a:r>
            <a:endParaRPr lang="en-US" sz="920" dirty="0">
              <a:solidFill>
                <a:schemeClr val="bg1"/>
              </a:solidFill>
            </a:endParaRPr>
          </a:p>
        </p:txBody>
      </p:sp>
    </p:spTree>
    <p:extLst>
      <p:ext uri="{BB962C8B-B14F-4D97-AF65-F5344CB8AC3E}">
        <p14:creationId xmlns:p14="http://schemas.microsoft.com/office/powerpoint/2010/main" val="2954707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Image 0" descr="/mnt/data/atmos_exec_v3/assets/cover.png">
            <a:extLst>
              <a:ext uri="{FF2B5EF4-FFF2-40B4-BE49-F238E27FC236}">
                <a16:creationId xmlns:a16="http://schemas.microsoft.com/office/drawing/2014/main" id="{3A246216-9499-A5B6-AD8D-36BC76024D2B}"/>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 name="Shape 0"/>
          <p:cNvSpPr/>
          <p:nvPr/>
        </p:nvSpPr>
        <p:spPr>
          <a:xfrm>
            <a:off x="0" y="0"/>
            <a:ext cx="12191695" cy="59436"/>
          </a:xfrm>
          <a:prstGeom prst="rect">
            <a:avLst/>
          </a:prstGeom>
          <a:solidFill>
            <a:srgbClr val="E31837"/>
          </a:solidFill>
          <a:ln w="12700">
            <a:solidFill>
              <a:srgbClr val="E31837"/>
            </a:solidFill>
            <a:prstDash val="solid"/>
          </a:ln>
        </p:spPr>
        <p:txBody>
          <a:bodyPr/>
          <a:lstStyle/>
          <a:p>
            <a:endParaRPr lang="en-US">
              <a:solidFill>
                <a:schemeClr val="bg1"/>
              </a:solidFill>
            </a:endParaRPr>
          </a:p>
        </p:txBody>
      </p:sp>
      <p:sp>
        <p:nvSpPr>
          <p:cNvPr id="4" name="Text 2"/>
          <p:cNvSpPr/>
          <p:nvPr/>
        </p:nvSpPr>
        <p:spPr>
          <a:xfrm>
            <a:off x="7498080" y="292608"/>
            <a:ext cx="4160520" cy="219456"/>
          </a:xfrm>
          <a:prstGeom prst="rect">
            <a:avLst/>
          </a:prstGeom>
          <a:noFill/>
          <a:ln/>
        </p:spPr>
        <p:txBody>
          <a:bodyPr wrap="square" lIns="0" tIns="0" rIns="0" bIns="0" rtlCol="0" anchor="ctr"/>
          <a:lstStyle/>
          <a:p>
            <a:pPr marL="0" indent="0" algn="r">
              <a:buNone/>
            </a:pPr>
            <a:r>
              <a:rPr lang="en-US" sz="1050" dirty="0">
                <a:solidFill>
                  <a:schemeClr val="bg1"/>
                </a:solidFill>
                <a:latin typeface="Arial" pitchFamily="34" charset="0"/>
                <a:ea typeface="Arial" pitchFamily="34" charset="-122"/>
                <a:cs typeface="Arial" pitchFamily="34" charset="-120"/>
              </a:rPr>
              <a:t>ATMOS / CUSTOMER EVIDENCE</a:t>
            </a:r>
            <a:endParaRPr lang="en-US" sz="1050" dirty="0">
              <a:solidFill>
                <a:schemeClr val="bg1"/>
              </a:solidFill>
            </a:endParaRPr>
          </a:p>
        </p:txBody>
      </p:sp>
      <p:sp>
        <p:nvSpPr>
          <p:cNvPr id="5" name="Text 3"/>
          <p:cNvSpPr/>
          <p:nvPr/>
        </p:nvSpPr>
        <p:spPr>
          <a:xfrm>
            <a:off x="502920" y="914400"/>
            <a:ext cx="11183112" cy="621792"/>
          </a:xfrm>
          <a:prstGeom prst="rect">
            <a:avLst/>
          </a:prstGeom>
          <a:noFill/>
          <a:ln/>
        </p:spPr>
        <p:txBody>
          <a:bodyPr wrap="square" lIns="0" tIns="0" rIns="0" bIns="0" rtlCol="0" anchor="ctr"/>
          <a:lstStyle/>
          <a:p>
            <a:pPr marL="0" indent="0">
              <a:buNone/>
            </a:pPr>
            <a:r>
              <a:rPr lang="en-US" sz="2800" b="1" dirty="0">
                <a:solidFill>
                  <a:schemeClr val="bg1"/>
                </a:solidFill>
                <a:latin typeface="Arial" pitchFamily="34" charset="0"/>
                <a:ea typeface="Arial" pitchFamily="34" charset="-122"/>
                <a:cs typeface="Arial" pitchFamily="34" charset="-120"/>
              </a:rPr>
              <a:t>Named users show where local AI is already being used.</a:t>
            </a:r>
            <a:endParaRPr lang="en-US" sz="2800" dirty="0">
              <a:solidFill>
                <a:schemeClr val="bg1"/>
              </a:solidFill>
            </a:endParaRPr>
          </a:p>
        </p:txBody>
      </p:sp>
      <p:sp>
        <p:nvSpPr>
          <p:cNvPr id="6" name="Text 4"/>
          <p:cNvSpPr/>
          <p:nvPr/>
        </p:nvSpPr>
        <p:spPr>
          <a:xfrm>
            <a:off x="502920" y="1591056"/>
            <a:ext cx="11109960" cy="329184"/>
          </a:xfrm>
          <a:prstGeom prst="rect">
            <a:avLst/>
          </a:prstGeom>
          <a:noFill/>
          <a:ln/>
        </p:spPr>
        <p:txBody>
          <a:bodyPr wrap="square" lIns="0" tIns="0" rIns="0" bIns="0" rtlCol="0" anchor="ctr"/>
          <a:lstStyle/>
          <a:p>
            <a:pPr marL="0" indent="0">
              <a:buNone/>
            </a:pPr>
            <a:r>
              <a:rPr lang="en-US" sz="1370" dirty="0">
                <a:solidFill>
                  <a:schemeClr val="bg1"/>
                </a:solidFill>
                <a:latin typeface="Arial" pitchFamily="34" charset="0"/>
                <a:ea typeface="Arial" pitchFamily="34" charset="-122"/>
                <a:cs typeface="Arial" pitchFamily="34" charset="-120"/>
              </a:rPr>
              <a:t>Public customer stories—not purchase records, installed-base estimates or ATMOS customer commitments.</a:t>
            </a:r>
            <a:endParaRPr lang="en-US" sz="1370" dirty="0">
              <a:solidFill>
                <a:schemeClr val="bg1"/>
              </a:solidFill>
            </a:endParaRPr>
          </a:p>
        </p:txBody>
      </p:sp>
      <p:sp>
        <p:nvSpPr>
          <p:cNvPr id="7" name="Shape 5"/>
          <p:cNvSpPr/>
          <p:nvPr/>
        </p:nvSpPr>
        <p:spPr>
          <a:xfrm>
            <a:off x="502920" y="6035040"/>
            <a:ext cx="11183112" cy="365760"/>
          </a:xfrm>
          <a:prstGeom prst="rect">
            <a:avLst/>
          </a:prstGeom>
          <a:solidFill>
            <a:schemeClr val="bg1"/>
          </a:solidFill>
          <a:ln w="12700">
            <a:solidFill>
              <a:srgbClr val="FCECF0"/>
            </a:solidFill>
            <a:prstDash val="solid"/>
          </a:ln>
        </p:spPr>
        <p:txBody>
          <a:bodyPr/>
          <a:lstStyle/>
          <a:p>
            <a:endParaRPr lang="en-US">
              <a:solidFill>
                <a:schemeClr val="bg1"/>
              </a:solidFill>
            </a:endParaRPr>
          </a:p>
        </p:txBody>
      </p:sp>
      <p:sp>
        <p:nvSpPr>
          <p:cNvPr id="8" name="Text 6"/>
          <p:cNvSpPr/>
          <p:nvPr/>
        </p:nvSpPr>
        <p:spPr>
          <a:xfrm>
            <a:off x="658368" y="6089904"/>
            <a:ext cx="10872216" cy="246888"/>
          </a:xfrm>
          <a:prstGeom prst="rect">
            <a:avLst/>
          </a:prstGeom>
          <a:noFill/>
          <a:ln/>
        </p:spPr>
        <p:txBody>
          <a:bodyPr wrap="square" lIns="0" tIns="0" rIns="0" bIns="0" rtlCol="0" anchor="ctr"/>
          <a:lstStyle/>
          <a:p>
            <a:pPr marL="0" indent="0">
              <a:buNone/>
            </a:pPr>
            <a:r>
              <a:rPr lang="en-US" sz="1250" b="1" dirty="0">
                <a:solidFill>
                  <a:srgbClr val="C00000"/>
                </a:solidFill>
                <a:latin typeface="Arial" pitchFamily="34" charset="0"/>
                <a:ea typeface="Arial" pitchFamily="34" charset="-122"/>
                <a:cs typeface="Arial" pitchFamily="34" charset="-120"/>
              </a:rPr>
              <a:t>Do not turn a cloud case into an edge deployment—or a simulation result into an LLM benchmark.</a:t>
            </a:r>
            <a:endParaRPr lang="en-US" sz="1250" dirty="0">
              <a:solidFill>
                <a:srgbClr val="C00000"/>
              </a:solidFill>
            </a:endParaRPr>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solidFill>
                <a:schemeClr val="bg1"/>
              </a:solidFill>
            </a:endParaRPr>
          </a:p>
        </p:txBody>
      </p:sp>
      <p:sp>
        <p:nvSpPr>
          <p:cNvPr id="14" name="Shape 12"/>
          <p:cNvSpPr/>
          <p:nvPr/>
        </p:nvSpPr>
        <p:spPr>
          <a:xfrm>
            <a:off x="502920" y="2112264"/>
            <a:ext cx="1508760" cy="438912"/>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15" name="Text 13"/>
          <p:cNvSpPr/>
          <p:nvPr/>
        </p:nvSpPr>
        <p:spPr>
          <a:xfrm>
            <a:off x="594360" y="2176272"/>
            <a:ext cx="1325880" cy="329184"/>
          </a:xfrm>
          <a:prstGeom prst="rect">
            <a:avLst/>
          </a:prstGeom>
          <a:noFill/>
          <a:ln/>
        </p:spPr>
        <p:txBody>
          <a:bodyPr wrap="square" lIns="0" tIns="0" rIns="0" bIns="0" rtlCol="0" anchor="ctr"/>
          <a:lstStyle/>
          <a:p>
            <a:pPr marL="0" indent="0">
              <a:buNone/>
            </a:pPr>
            <a:r>
              <a:rPr lang="en-US" sz="1250" b="1" dirty="0">
                <a:solidFill>
                  <a:schemeClr val="bg1"/>
                </a:solidFill>
                <a:latin typeface="Arial" pitchFamily="34" charset="0"/>
                <a:ea typeface="Arial" pitchFamily="34" charset="-122"/>
                <a:cs typeface="Arial" pitchFamily="34" charset="-120"/>
              </a:rPr>
              <a:t>Organization / vertical</a:t>
            </a:r>
            <a:endParaRPr lang="en-US" sz="1250" dirty="0">
              <a:solidFill>
                <a:schemeClr val="bg1"/>
              </a:solidFill>
            </a:endParaRPr>
          </a:p>
        </p:txBody>
      </p:sp>
      <p:sp>
        <p:nvSpPr>
          <p:cNvPr id="16" name="Shape 14"/>
          <p:cNvSpPr/>
          <p:nvPr/>
        </p:nvSpPr>
        <p:spPr>
          <a:xfrm>
            <a:off x="2011680" y="2112264"/>
            <a:ext cx="2304288" cy="438912"/>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17" name="Text 15"/>
          <p:cNvSpPr/>
          <p:nvPr/>
        </p:nvSpPr>
        <p:spPr>
          <a:xfrm>
            <a:off x="2103120" y="2176272"/>
            <a:ext cx="2121408" cy="329184"/>
          </a:xfrm>
          <a:prstGeom prst="rect">
            <a:avLst/>
          </a:prstGeom>
          <a:noFill/>
          <a:ln/>
        </p:spPr>
        <p:txBody>
          <a:bodyPr wrap="square" lIns="0" tIns="0" rIns="0" bIns="0" rtlCol="0" anchor="ctr"/>
          <a:lstStyle/>
          <a:p>
            <a:pPr marL="0" indent="0">
              <a:buNone/>
            </a:pPr>
            <a:r>
              <a:rPr lang="en-US" sz="1250" b="1" dirty="0">
                <a:solidFill>
                  <a:schemeClr val="bg1"/>
                </a:solidFill>
                <a:latin typeface="Arial" pitchFamily="34" charset="0"/>
                <a:ea typeface="Arial" pitchFamily="34" charset="-122"/>
                <a:cs typeface="Arial" pitchFamily="34" charset="-120"/>
              </a:rPr>
              <a:t>Named local platform</a:t>
            </a:r>
            <a:endParaRPr lang="en-US" sz="1250" dirty="0">
              <a:solidFill>
                <a:schemeClr val="bg1"/>
              </a:solidFill>
            </a:endParaRPr>
          </a:p>
        </p:txBody>
      </p:sp>
      <p:sp>
        <p:nvSpPr>
          <p:cNvPr id="18" name="Shape 16"/>
          <p:cNvSpPr/>
          <p:nvPr/>
        </p:nvSpPr>
        <p:spPr>
          <a:xfrm>
            <a:off x="4315968" y="2112264"/>
            <a:ext cx="3401568" cy="438912"/>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19" name="Text 17"/>
          <p:cNvSpPr/>
          <p:nvPr/>
        </p:nvSpPr>
        <p:spPr>
          <a:xfrm>
            <a:off x="4407408" y="2176272"/>
            <a:ext cx="3218688" cy="329184"/>
          </a:xfrm>
          <a:prstGeom prst="rect">
            <a:avLst/>
          </a:prstGeom>
          <a:noFill/>
          <a:ln/>
        </p:spPr>
        <p:txBody>
          <a:bodyPr wrap="square" lIns="0" tIns="0" rIns="0" bIns="0" rtlCol="0" anchor="ctr"/>
          <a:lstStyle/>
          <a:p>
            <a:pPr marL="0" indent="0">
              <a:buNone/>
            </a:pPr>
            <a:r>
              <a:rPr lang="en-US" sz="1250" b="1" dirty="0">
                <a:solidFill>
                  <a:schemeClr val="bg1"/>
                </a:solidFill>
                <a:latin typeface="Arial" pitchFamily="34" charset="0"/>
                <a:ea typeface="Arial" pitchFamily="34" charset="-122"/>
                <a:cs typeface="Arial" pitchFamily="34" charset="-120"/>
              </a:rPr>
              <a:t>Documented activity</a:t>
            </a:r>
            <a:endParaRPr lang="en-US" sz="1250" dirty="0">
              <a:solidFill>
                <a:schemeClr val="bg1"/>
              </a:solidFill>
            </a:endParaRPr>
          </a:p>
        </p:txBody>
      </p:sp>
      <p:sp>
        <p:nvSpPr>
          <p:cNvPr id="20" name="Shape 18"/>
          <p:cNvSpPr/>
          <p:nvPr/>
        </p:nvSpPr>
        <p:spPr>
          <a:xfrm>
            <a:off x="7717536" y="2112264"/>
            <a:ext cx="3968496" cy="438912"/>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21" name="Text 19"/>
          <p:cNvSpPr/>
          <p:nvPr/>
        </p:nvSpPr>
        <p:spPr>
          <a:xfrm>
            <a:off x="7808976" y="2176272"/>
            <a:ext cx="3785616" cy="329184"/>
          </a:xfrm>
          <a:prstGeom prst="rect">
            <a:avLst/>
          </a:prstGeom>
          <a:noFill/>
          <a:ln/>
        </p:spPr>
        <p:txBody>
          <a:bodyPr wrap="square" lIns="0" tIns="0" rIns="0" bIns="0" rtlCol="0" anchor="ctr"/>
          <a:lstStyle/>
          <a:p>
            <a:pPr marL="0" indent="0">
              <a:buNone/>
            </a:pPr>
            <a:r>
              <a:rPr lang="en-US" sz="1250" b="1" dirty="0">
                <a:solidFill>
                  <a:schemeClr val="bg1"/>
                </a:solidFill>
                <a:latin typeface="Arial" pitchFamily="34" charset="0"/>
                <a:ea typeface="Arial" pitchFamily="34" charset="-122"/>
                <a:cs typeface="Arial" pitchFamily="34" charset="-120"/>
              </a:rPr>
              <a:t>ATMOS-relevant boundary</a:t>
            </a:r>
            <a:endParaRPr lang="en-US" sz="1250" dirty="0">
              <a:solidFill>
                <a:schemeClr val="bg1"/>
              </a:solidFill>
            </a:endParaRPr>
          </a:p>
        </p:txBody>
      </p:sp>
      <p:sp>
        <p:nvSpPr>
          <p:cNvPr id="22" name="Shape 20"/>
          <p:cNvSpPr/>
          <p:nvPr/>
        </p:nvSpPr>
        <p:spPr>
          <a:xfrm>
            <a:off x="502920" y="2551176"/>
            <a:ext cx="1508760"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3" name="Text 21"/>
          <p:cNvSpPr/>
          <p:nvPr/>
        </p:nvSpPr>
        <p:spPr>
          <a:xfrm>
            <a:off x="594360" y="2628900"/>
            <a:ext cx="1325880" cy="425196"/>
          </a:xfrm>
          <a:prstGeom prst="rect">
            <a:avLst/>
          </a:prstGeom>
          <a:solidFill>
            <a:srgbClr val="C00000"/>
          </a:solidFill>
          <a:ln/>
        </p:spPr>
        <p:txBody>
          <a:bodyPr wrap="square" lIns="0" tIns="0" rIns="0" bIns="0" rtlCol="0" anchor="ctr"/>
          <a:lstStyle/>
          <a:p>
            <a:pPr marL="0" indent="0">
              <a:buNone/>
            </a:pPr>
            <a:r>
              <a:rPr lang="en-US" sz="1360" b="1" dirty="0">
                <a:solidFill>
                  <a:schemeClr val="bg1"/>
                </a:solidFill>
                <a:latin typeface="Arial" pitchFamily="34" charset="0"/>
                <a:ea typeface="Arial" pitchFamily="34" charset="-122"/>
                <a:cs typeface="Arial" pitchFamily="34" charset="-120"/>
              </a:rPr>
              <a:t>EPRI / energy</a:t>
            </a:r>
            <a:endParaRPr lang="en-US" sz="1360" dirty="0">
              <a:solidFill>
                <a:schemeClr val="bg1"/>
              </a:solidFill>
            </a:endParaRPr>
          </a:p>
        </p:txBody>
      </p:sp>
      <p:sp>
        <p:nvSpPr>
          <p:cNvPr id="24" name="Shape 22"/>
          <p:cNvSpPr/>
          <p:nvPr/>
        </p:nvSpPr>
        <p:spPr>
          <a:xfrm>
            <a:off x="2011680" y="2551176"/>
            <a:ext cx="230428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5" name="Text 23"/>
          <p:cNvSpPr/>
          <p:nvPr/>
        </p:nvSpPr>
        <p:spPr>
          <a:xfrm>
            <a:off x="2103120" y="2628900"/>
            <a:ext cx="212140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Dell Pro Max GB10</a:t>
            </a:r>
            <a:endParaRPr lang="en-US" sz="1360" dirty="0">
              <a:solidFill>
                <a:schemeClr val="bg1"/>
              </a:solidFill>
            </a:endParaRPr>
          </a:p>
          <a:p>
            <a:pPr marL="0" indent="0">
              <a:buNone/>
            </a:pPr>
            <a:r>
              <a:rPr lang="en-US" sz="1360" dirty="0">
                <a:solidFill>
                  <a:schemeClr val="bg1"/>
                </a:solidFill>
                <a:latin typeface="Arial" pitchFamily="34" charset="0"/>
                <a:ea typeface="Arial" pitchFamily="34" charset="-122"/>
                <a:cs typeface="Arial" pitchFamily="34" charset="-120"/>
              </a:rPr>
              <a:t>DGX Spark platform</a:t>
            </a:r>
            <a:endParaRPr lang="en-US" sz="1360" dirty="0">
              <a:solidFill>
                <a:schemeClr val="bg1"/>
              </a:solidFill>
            </a:endParaRPr>
          </a:p>
        </p:txBody>
      </p:sp>
      <p:sp>
        <p:nvSpPr>
          <p:cNvPr id="26" name="Shape 24"/>
          <p:cNvSpPr/>
          <p:nvPr/>
        </p:nvSpPr>
        <p:spPr>
          <a:xfrm>
            <a:off x="4315968" y="2551176"/>
            <a:ext cx="340156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7" name="Text 25"/>
          <p:cNvSpPr/>
          <p:nvPr/>
        </p:nvSpPr>
        <p:spPr>
          <a:xfrm>
            <a:off x="4407408" y="2628900"/>
            <a:ext cx="321868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Power Chat local document assistant</a:t>
            </a:r>
            <a:endParaRPr lang="en-US" sz="1360" dirty="0">
              <a:solidFill>
                <a:schemeClr val="bg1"/>
              </a:solidFill>
            </a:endParaRPr>
          </a:p>
        </p:txBody>
      </p:sp>
      <p:sp>
        <p:nvSpPr>
          <p:cNvPr id="28" name="Shape 26"/>
          <p:cNvSpPr/>
          <p:nvPr/>
        </p:nvSpPr>
        <p:spPr>
          <a:xfrm>
            <a:off x="7717536" y="2551176"/>
            <a:ext cx="3968496"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9" name="Text 27"/>
          <p:cNvSpPr/>
          <p:nvPr/>
        </p:nvSpPr>
        <p:spPr>
          <a:xfrm>
            <a:off x="7808976" y="2628900"/>
            <a:ext cx="3785616"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Knowledge workflow is relevant; published results are on GB10.</a:t>
            </a:r>
            <a:endParaRPr lang="en-US" sz="1360" dirty="0">
              <a:solidFill>
                <a:schemeClr val="bg1"/>
              </a:solidFill>
            </a:endParaRPr>
          </a:p>
        </p:txBody>
      </p:sp>
      <p:sp>
        <p:nvSpPr>
          <p:cNvPr id="30" name="Shape 28"/>
          <p:cNvSpPr/>
          <p:nvPr/>
        </p:nvSpPr>
        <p:spPr>
          <a:xfrm>
            <a:off x="502920" y="3104388"/>
            <a:ext cx="1508760"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1" name="Text 29"/>
          <p:cNvSpPr/>
          <p:nvPr/>
        </p:nvSpPr>
        <p:spPr>
          <a:xfrm>
            <a:off x="594360" y="3182112"/>
            <a:ext cx="1325880" cy="425196"/>
          </a:xfrm>
          <a:prstGeom prst="rect">
            <a:avLst/>
          </a:prstGeom>
          <a:solidFill>
            <a:srgbClr val="C00000"/>
          </a:solidFill>
          <a:ln/>
        </p:spPr>
        <p:txBody>
          <a:bodyPr wrap="square" lIns="0" tIns="0" rIns="0" bIns="0" rtlCol="0" anchor="ctr"/>
          <a:lstStyle/>
          <a:p>
            <a:pPr marL="0" indent="0">
              <a:buNone/>
            </a:pPr>
            <a:r>
              <a:rPr lang="en-US" sz="1360" b="1" dirty="0">
                <a:solidFill>
                  <a:schemeClr val="bg1"/>
                </a:solidFill>
                <a:latin typeface="Arial" pitchFamily="34" charset="0"/>
                <a:ea typeface="Arial" pitchFamily="34" charset="-122"/>
                <a:cs typeface="Arial" pitchFamily="34" charset="-120"/>
              </a:rPr>
              <a:t>CYRAN AI / geospatial</a:t>
            </a:r>
            <a:endParaRPr lang="en-US" sz="1360" dirty="0">
              <a:solidFill>
                <a:schemeClr val="bg1"/>
              </a:solidFill>
            </a:endParaRPr>
          </a:p>
        </p:txBody>
      </p:sp>
      <p:sp>
        <p:nvSpPr>
          <p:cNvPr id="32" name="Shape 30"/>
          <p:cNvSpPr/>
          <p:nvPr/>
        </p:nvSpPr>
        <p:spPr>
          <a:xfrm>
            <a:off x="2011680" y="3104388"/>
            <a:ext cx="230428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3" name="Text 31"/>
          <p:cNvSpPr/>
          <p:nvPr/>
        </p:nvSpPr>
        <p:spPr>
          <a:xfrm>
            <a:off x="2103120" y="3182112"/>
            <a:ext cx="212140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DGX Spark</a:t>
            </a:r>
            <a:endParaRPr lang="en-US" sz="1360" dirty="0">
              <a:solidFill>
                <a:schemeClr val="bg1"/>
              </a:solidFill>
            </a:endParaRPr>
          </a:p>
        </p:txBody>
      </p:sp>
      <p:sp>
        <p:nvSpPr>
          <p:cNvPr id="34" name="Shape 32"/>
          <p:cNvSpPr/>
          <p:nvPr/>
        </p:nvSpPr>
        <p:spPr>
          <a:xfrm>
            <a:off x="4315968" y="3104388"/>
            <a:ext cx="340156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5" name="Text 33"/>
          <p:cNvSpPr/>
          <p:nvPr/>
        </p:nvSpPr>
        <p:spPr>
          <a:xfrm>
            <a:off x="4407408" y="3182112"/>
            <a:ext cx="321868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GPU JPEG2000 processing of large satellite scenes</a:t>
            </a:r>
            <a:endParaRPr lang="en-US" sz="1360" dirty="0">
              <a:solidFill>
                <a:schemeClr val="bg1"/>
              </a:solidFill>
            </a:endParaRPr>
          </a:p>
        </p:txBody>
      </p:sp>
      <p:sp>
        <p:nvSpPr>
          <p:cNvPr id="36" name="Shape 34"/>
          <p:cNvSpPr/>
          <p:nvPr/>
        </p:nvSpPr>
        <p:spPr>
          <a:xfrm>
            <a:off x="7717536" y="3104388"/>
            <a:ext cx="3968496"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7" name="Text 35"/>
          <p:cNvSpPr/>
          <p:nvPr/>
        </p:nvSpPr>
        <p:spPr>
          <a:xfrm>
            <a:off x="7808976" y="3182112"/>
            <a:ext cx="3785616"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Metadata / report retrieval is a candidate; image decoding is not the launch target.</a:t>
            </a:r>
            <a:endParaRPr lang="en-US" sz="1360" dirty="0">
              <a:solidFill>
                <a:schemeClr val="bg1"/>
              </a:solidFill>
            </a:endParaRPr>
          </a:p>
        </p:txBody>
      </p:sp>
      <p:sp>
        <p:nvSpPr>
          <p:cNvPr id="38" name="Shape 36"/>
          <p:cNvSpPr/>
          <p:nvPr/>
        </p:nvSpPr>
        <p:spPr>
          <a:xfrm>
            <a:off x="502920" y="3657600"/>
            <a:ext cx="1508760"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9" name="Text 37"/>
          <p:cNvSpPr/>
          <p:nvPr/>
        </p:nvSpPr>
        <p:spPr>
          <a:xfrm>
            <a:off x="594360" y="3735324"/>
            <a:ext cx="1325880" cy="425196"/>
          </a:xfrm>
          <a:prstGeom prst="rect">
            <a:avLst/>
          </a:prstGeom>
          <a:solidFill>
            <a:srgbClr val="C00000"/>
          </a:solidFill>
          <a:ln/>
        </p:spPr>
        <p:txBody>
          <a:bodyPr wrap="square" lIns="0" tIns="0" rIns="0" bIns="0" rtlCol="0" anchor="ctr"/>
          <a:lstStyle/>
          <a:p>
            <a:pPr marL="0" indent="0">
              <a:buNone/>
            </a:pPr>
            <a:r>
              <a:rPr lang="en-US" sz="1360" b="1" dirty="0">
                <a:solidFill>
                  <a:schemeClr val="bg1"/>
                </a:solidFill>
                <a:latin typeface="Arial" pitchFamily="34" charset="0"/>
                <a:ea typeface="Arial" pitchFamily="34" charset="-122"/>
                <a:cs typeface="Arial" pitchFamily="34" charset="-120"/>
              </a:rPr>
              <a:t>Arup / engineering</a:t>
            </a:r>
            <a:endParaRPr lang="en-US" sz="1360" dirty="0">
              <a:solidFill>
                <a:schemeClr val="bg1"/>
              </a:solidFill>
            </a:endParaRPr>
          </a:p>
        </p:txBody>
      </p:sp>
      <p:sp>
        <p:nvSpPr>
          <p:cNvPr id="40" name="Shape 38"/>
          <p:cNvSpPr/>
          <p:nvPr/>
        </p:nvSpPr>
        <p:spPr>
          <a:xfrm>
            <a:off x="2011680" y="3657600"/>
            <a:ext cx="230428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1" name="Text 39"/>
          <p:cNvSpPr/>
          <p:nvPr/>
        </p:nvSpPr>
        <p:spPr>
          <a:xfrm>
            <a:off x="2103120" y="3735324"/>
            <a:ext cx="212140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DGX Spark</a:t>
            </a:r>
            <a:endParaRPr lang="en-US" sz="1360" dirty="0">
              <a:solidFill>
                <a:schemeClr val="bg1"/>
              </a:solidFill>
            </a:endParaRPr>
          </a:p>
        </p:txBody>
      </p:sp>
      <p:sp>
        <p:nvSpPr>
          <p:cNvPr id="42" name="Shape 40"/>
          <p:cNvSpPr/>
          <p:nvPr/>
        </p:nvSpPr>
        <p:spPr>
          <a:xfrm>
            <a:off x="4315968" y="3657600"/>
            <a:ext cx="340156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3" name="Text 41"/>
          <p:cNvSpPr/>
          <p:nvPr/>
        </p:nvSpPr>
        <p:spPr>
          <a:xfrm>
            <a:off x="4407408" y="3735324"/>
            <a:ext cx="321868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GNN structural-design surrogates</a:t>
            </a:r>
            <a:endParaRPr lang="en-US" sz="1360" dirty="0">
              <a:solidFill>
                <a:schemeClr val="bg1"/>
              </a:solidFill>
            </a:endParaRPr>
          </a:p>
        </p:txBody>
      </p:sp>
      <p:sp>
        <p:nvSpPr>
          <p:cNvPr id="44" name="Shape 42"/>
          <p:cNvSpPr/>
          <p:nvPr/>
        </p:nvSpPr>
        <p:spPr>
          <a:xfrm>
            <a:off x="7717536" y="3657600"/>
            <a:ext cx="3968496"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5" name="Text 43"/>
          <p:cNvSpPr/>
          <p:nvPr/>
        </p:nvSpPr>
        <p:spPr>
          <a:xfrm>
            <a:off x="7808976" y="3735324"/>
            <a:ext cx="3785616"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Engineering knowledge is adjacent; do not claim simulation replacement.</a:t>
            </a:r>
            <a:endParaRPr lang="en-US" sz="1360" dirty="0">
              <a:solidFill>
                <a:schemeClr val="bg1"/>
              </a:solidFill>
            </a:endParaRPr>
          </a:p>
        </p:txBody>
      </p:sp>
      <p:sp>
        <p:nvSpPr>
          <p:cNvPr id="46" name="Shape 44"/>
          <p:cNvSpPr/>
          <p:nvPr/>
        </p:nvSpPr>
        <p:spPr>
          <a:xfrm>
            <a:off x="502920" y="4210812"/>
            <a:ext cx="1508760"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7" name="Text 45"/>
          <p:cNvSpPr/>
          <p:nvPr/>
        </p:nvSpPr>
        <p:spPr>
          <a:xfrm>
            <a:off x="594360" y="4288536"/>
            <a:ext cx="1325880" cy="425196"/>
          </a:xfrm>
          <a:prstGeom prst="rect">
            <a:avLst/>
          </a:prstGeom>
          <a:solidFill>
            <a:srgbClr val="C00000"/>
          </a:solidFill>
          <a:ln/>
        </p:spPr>
        <p:txBody>
          <a:bodyPr wrap="square" lIns="0" tIns="0" rIns="0" bIns="0" rtlCol="0" anchor="ctr"/>
          <a:lstStyle/>
          <a:p>
            <a:pPr marL="0" indent="0">
              <a:buNone/>
            </a:pPr>
            <a:r>
              <a:rPr lang="en-US" sz="1360" b="1" dirty="0">
                <a:solidFill>
                  <a:schemeClr val="bg1"/>
                </a:solidFill>
                <a:latin typeface="Arial" pitchFamily="34" charset="0"/>
                <a:ea typeface="Arial" pitchFamily="34" charset="-122"/>
                <a:cs typeface="Arial" pitchFamily="34" charset="-120"/>
              </a:rPr>
              <a:t>Aible / enterprise AI</a:t>
            </a:r>
            <a:endParaRPr lang="en-US" sz="1360" dirty="0">
              <a:solidFill>
                <a:schemeClr val="bg1"/>
              </a:solidFill>
            </a:endParaRPr>
          </a:p>
        </p:txBody>
      </p:sp>
      <p:sp>
        <p:nvSpPr>
          <p:cNvPr id="48" name="Shape 46"/>
          <p:cNvSpPr/>
          <p:nvPr/>
        </p:nvSpPr>
        <p:spPr>
          <a:xfrm>
            <a:off x="2011680" y="4210812"/>
            <a:ext cx="230428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9" name="Text 47"/>
          <p:cNvSpPr/>
          <p:nvPr/>
        </p:nvSpPr>
        <p:spPr>
          <a:xfrm>
            <a:off x="2103120" y="4288536"/>
            <a:ext cx="212140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DGX Spark → Google Cloud</a:t>
            </a:r>
            <a:endParaRPr lang="en-US" sz="1360" dirty="0">
              <a:solidFill>
                <a:schemeClr val="bg1"/>
              </a:solidFill>
            </a:endParaRPr>
          </a:p>
        </p:txBody>
      </p:sp>
      <p:sp>
        <p:nvSpPr>
          <p:cNvPr id="50" name="Shape 48"/>
          <p:cNvSpPr/>
          <p:nvPr/>
        </p:nvSpPr>
        <p:spPr>
          <a:xfrm>
            <a:off x="4315968" y="4210812"/>
            <a:ext cx="340156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1" name="Text 49"/>
          <p:cNvSpPr/>
          <p:nvPr/>
        </p:nvSpPr>
        <p:spPr>
          <a:xfrm>
            <a:off x="4407408" y="4288536"/>
            <a:ext cx="321868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Air-gapped agent prototyping; cloud production path</a:t>
            </a:r>
            <a:endParaRPr lang="en-US" sz="1360" dirty="0">
              <a:solidFill>
                <a:schemeClr val="bg1"/>
              </a:solidFill>
            </a:endParaRPr>
          </a:p>
        </p:txBody>
      </p:sp>
      <p:sp>
        <p:nvSpPr>
          <p:cNvPr id="52" name="Shape 50"/>
          <p:cNvSpPr/>
          <p:nvPr/>
        </p:nvSpPr>
        <p:spPr>
          <a:xfrm>
            <a:off x="7717536" y="4210812"/>
            <a:ext cx="3968496"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3" name="Text 51"/>
          <p:cNvSpPr/>
          <p:nvPr/>
        </p:nvSpPr>
        <p:spPr>
          <a:xfrm>
            <a:off x="7808976" y="4288536"/>
            <a:ext cx="3785616"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Proof of local evaluation, not a measured on-prem production fleet.</a:t>
            </a:r>
            <a:endParaRPr lang="en-US" sz="1360" dirty="0">
              <a:solidFill>
                <a:schemeClr val="bg1"/>
              </a:solidFill>
            </a:endParaRPr>
          </a:p>
        </p:txBody>
      </p:sp>
      <p:sp>
        <p:nvSpPr>
          <p:cNvPr id="54" name="Shape 52"/>
          <p:cNvSpPr/>
          <p:nvPr/>
        </p:nvSpPr>
        <p:spPr>
          <a:xfrm>
            <a:off x="502920" y="4764024"/>
            <a:ext cx="1508760"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5" name="Text 53"/>
          <p:cNvSpPr/>
          <p:nvPr/>
        </p:nvSpPr>
        <p:spPr>
          <a:xfrm>
            <a:off x="594360" y="4841748"/>
            <a:ext cx="1325880" cy="425196"/>
          </a:xfrm>
          <a:prstGeom prst="rect">
            <a:avLst/>
          </a:prstGeom>
          <a:solidFill>
            <a:srgbClr val="C00000"/>
          </a:solidFill>
          <a:ln/>
        </p:spPr>
        <p:txBody>
          <a:bodyPr wrap="square" lIns="0" tIns="0" rIns="0" bIns="0" rtlCol="0" anchor="ctr"/>
          <a:lstStyle/>
          <a:p>
            <a:pPr marL="0" indent="0">
              <a:buNone/>
            </a:pPr>
            <a:r>
              <a:rPr lang="en-US" sz="1360" b="1" dirty="0">
                <a:solidFill>
                  <a:schemeClr val="bg1"/>
                </a:solidFill>
                <a:latin typeface="Arial" pitchFamily="34" charset="0"/>
                <a:ea typeface="Arial" pitchFamily="34" charset="-122"/>
                <a:cs typeface="Arial" pitchFamily="34" charset="-120"/>
              </a:rPr>
              <a:t>Lowe’s / retail</a:t>
            </a:r>
            <a:endParaRPr lang="en-US" sz="1360" dirty="0">
              <a:solidFill>
                <a:schemeClr val="bg1"/>
              </a:solidFill>
            </a:endParaRPr>
          </a:p>
        </p:txBody>
      </p:sp>
      <p:sp>
        <p:nvSpPr>
          <p:cNvPr id="56" name="Shape 54"/>
          <p:cNvSpPr/>
          <p:nvPr/>
        </p:nvSpPr>
        <p:spPr>
          <a:xfrm>
            <a:off x="2011680" y="4764024"/>
            <a:ext cx="230428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7" name="Text 55"/>
          <p:cNvSpPr/>
          <p:nvPr/>
        </p:nvSpPr>
        <p:spPr>
          <a:xfrm>
            <a:off x="2103120" y="4841748"/>
            <a:ext cx="212140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Dell RTX workstations;</a:t>
            </a:r>
            <a:endParaRPr lang="en-US" sz="1360" dirty="0">
              <a:solidFill>
                <a:schemeClr val="bg1"/>
              </a:solidFill>
            </a:endParaRPr>
          </a:p>
          <a:p>
            <a:pPr marL="0" indent="0">
              <a:buNone/>
            </a:pPr>
            <a:r>
              <a:rPr lang="en-US" sz="1360" dirty="0">
                <a:solidFill>
                  <a:schemeClr val="bg1"/>
                </a:solidFill>
                <a:latin typeface="Arial" pitchFamily="34" charset="0"/>
                <a:ea typeface="Arial" pitchFamily="34" charset="-122"/>
                <a:cs typeface="Arial" pitchFamily="34" charset="-120"/>
              </a:rPr>
              <a:t>separate edge servers</a:t>
            </a:r>
            <a:endParaRPr lang="en-US" sz="1360" dirty="0">
              <a:solidFill>
                <a:schemeClr val="bg1"/>
              </a:solidFill>
            </a:endParaRPr>
          </a:p>
        </p:txBody>
      </p:sp>
      <p:sp>
        <p:nvSpPr>
          <p:cNvPr id="58" name="Shape 56"/>
          <p:cNvSpPr/>
          <p:nvPr/>
        </p:nvSpPr>
        <p:spPr>
          <a:xfrm>
            <a:off x="4315968" y="4764024"/>
            <a:ext cx="340156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9" name="Text 57"/>
          <p:cNvSpPr/>
          <p:nvPr/>
        </p:nvSpPr>
        <p:spPr>
          <a:xfrm>
            <a:off x="4407408" y="4841748"/>
            <a:ext cx="321868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Digital twins; edge computer vision</a:t>
            </a:r>
            <a:endParaRPr lang="en-US" sz="1360" dirty="0">
              <a:solidFill>
                <a:schemeClr val="bg1"/>
              </a:solidFill>
            </a:endParaRPr>
          </a:p>
        </p:txBody>
      </p:sp>
      <p:sp>
        <p:nvSpPr>
          <p:cNvPr id="60" name="Shape 58"/>
          <p:cNvSpPr/>
          <p:nvPr/>
        </p:nvSpPr>
        <p:spPr>
          <a:xfrm>
            <a:off x="7717536" y="4764024"/>
            <a:ext cx="3968496"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1" name="Text 59"/>
          <p:cNvSpPr/>
          <p:nvPr/>
        </p:nvSpPr>
        <p:spPr>
          <a:xfrm>
            <a:off x="7808976" y="4841748"/>
            <a:ext cx="3785616"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Product knowledge is an adjacent use; store count is not workstation count.</a:t>
            </a:r>
            <a:endParaRPr lang="en-US" sz="1360" dirty="0">
              <a:solidFill>
                <a:schemeClr val="bg1"/>
              </a:solidFill>
            </a:endParaRPr>
          </a:p>
        </p:txBody>
      </p:sp>
      <p:sp>
        <p:nvSpPr>
          <p:cNvPr id="62" name="Shape 60"/>
          <p:cNvSpPr/>
          <p:nvPr/>
        </p:nvSpPr>
        <p:spPr>
          <a:xfrm>
            <a:off x="502920" y="5317236"/>
            <a:ext cx="1508760"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3" name="Text 61"/>
          <p:cNvSpPr/>
          <p:nvPr/>
        </p:nvSpPr>
        <p:spPr>
          <a:xfrm>
            <a:off x="594360" y="5394960"/>
            <a:ext cx="1325880" cy="425196"/>
          </a:xfrm>
          <a:prstGeom prst="rect">
            <a:avLst/>
          </a:prstGeom>
          <a:solidFill>
            <a:srgbClr val="C00000"/>
          </a:solidFill>
          <a:ln/>
        </p:spPr>
        <p:txBody>
          <a:bodyPr wrap="square" lIns="0" tIns="0" rIns="0" bIns="0" rtlCol="0" anchor="ctr"/>
          <a:lstStyle/>
          <a:p>
            <a:pPr marL="0" indent="0">
              <a:buNone/>
            </a:pPr>
            <a:r>
              <a:rPr lang="en-US" sz="1360" b="1" dirty="0">
                <a:solidFill>
                  <a:schemeClr val="bg1"/>
                </a:solidFill>
                <a:latin typeface="Arial" pitchFamily="34" charset="0"/>
                <a:ea typeface="Arial" pitchFamily="34" charset="-122"/>
                <a:cs typeface="Arial" pitchFamily="34" charset="-120"/>
              </a:rPr>
              <a:t>EPRI / energy</a:t>
            </a:r>
            <a:endParaRPr lang="en-US" sz="1360" dirty="0">
              <a:solidFill>
                <a:schemeClr val="bg1"/>
              </a:solidFill>
            </a:endParaRPr>
          </a:p>
        </p:txBody>
      </p:sp>
      <p:sp>
        <p:nvSpPr>
          <p:cNvPr id="64" name="Shape 62"/>
          <p:cNvSpPr/>
          <p:nvPr/>
        </p:nvSpPr>
        <p:spPr>
          <a:xfrm>
            <a:off x="2011680" y="5317236"/>
            <a:ext cx="230428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5" name="Text 63"/>
          <p:cNvSpPr/>
          <p:nvPr/>
        </p:nvSpPr>
        <p:spPr>
          <a:xfrm>
            <a:off x="2103120" y="5394960"/>
            <a:ext cx="212140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DGX Station GB300</a:t>
            </a:r>
            <a:endParaRPr lang="en-US" sz="1360" dirty="0">
              <a:solidFill>
                <a:schemeClr val="bg1"/>
              </a:solidFill>
            </a:endParaRPr>
          </a:p>
        </p:txBody>
      </p:sp>
      <p:sp>
        <p:nvSpPr>
          <p:cNvPr id="66" name="Shape 64"/>
          <p:cNvSpPr/>
          <p:nvPr/>
        </p:nvSpPr>
        <p:spPr>
          <a:xfrm>
            <a:off x="4315968" y="5317236"/>
            <a:ext cx="3401568"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7" name="Text 65"/>
          <p:cNvSpPr/>
          <p:nvPr/>
        </p:nvSpPr>
        <p:spPr>
          <a:xfrm>
            <a:off x="4407408" y="5394960"/>
            <a:ext cx="3218688"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Local weather-model execution</a:t>
            </a:r>
            <a:endParaRPr lang="en-US" sz="1360" dirty="0">
              <a:solidFill>
                <a:schemeClr val="bg1"/>
              </a:solidFill>
            </a:endParaRPr>
          </a:p>
        </p:txBody>
      </p:sp>
      <p:sp>
        <p:nvSpPr>
          <p:cNvPr id="68" name="Shape 66"/>
          <p:cNvSpPr/>
          <p:nvPr/>
        </p:nvSpPr>
        <p:spPr>
          <a:xfrm>
            <a:off x="7717536" y="5317236"/>
            <a:ext cx="3968496" cy="553212"/>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9" name="Text 67"/>
          <p:cNvSpPr/>
          <p:nvPr/>
        </p:nvSpPr>
        <p:spPr>
          <a:xfrm>
            <a:off x="7808976" y="5394960"/>
            <a:ext cx="3785616" cy="425196"/>
          </a:xfrm>
          <a:prstGeom prst="rect">
            <a:avLst/>
          </a:prstGeom>
          <a:solidFill>
            <a:srgbClr val="C00000"/>
          </a:solidFill>
          <a:ln/>
        </p:spPr>
        <p:txBody>
          <a:bodyPr wrap="square" lIns="0" tIns="0" rIns="0" bIns="0" rtlCol="0" anchor="ctr"/>
          <a:lstStyle/>
          <a:p>
            <a:pPr marL="0" indent="0">
              <a:buNone/>
            </a:pPr>
            <a:r>
              <a:rPr lang="en-US" sz="1360" dirty="0">
                <a:solidFill>
                  <a:schemeClr val="bg1"/>
                </a:solidFill>
                <a:latin typeface="Arial" pitchFamily="34" charset="0"/>
                <a:ea typeface="Arial" pitchFamily="34" charset="-122"/>
                <a:cs typeface="Arial" pitchFamily="34" charset="-120"/>
              </a:rPr>
              <a:t>Confirms Station use; weather timing is not generation TTFT.</a:t>
            </a:r>
            <a:endParaRPr lang="en-US" sz="1360" dirty="0">
              <a:solidFill>
                <a:schemeClr val="bg1"/>
              </a:solidFill>
            </a:endParaRPr>
          </a:p>
        </p:txBody>
      </p:sp>
      <p:sp>
        <p:nvSpPr>
          <p:cNvPr id="71" name="Shape 0">
            <a:extLst>
              <a:ext uri="{FF2B5EF4-FFF2-40B4-BE49-F238E27FC236}">
                <a16:creationId xmlns:a16="http://schemas.microsoft.com/office/drawing/2014/main" id="{906FDABD-1948-8917-A567-221FD12D69A9}"/>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72" name="Shape 0">
            <a:extLst>
              <a:ext uri="{FF2B5EF4-FFF2-40B4-BE49-F238E27FC236}">
                <a16:creationId xmlns:a16="http://schemas.microsoft.com/office/drawing/2014/main" id="{4D116482-56BF-53DD-0870-F2225AB9AA8F}"/>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73" name="Shape 0">
            <a:extLst>
              <a:ext uri="{FF2B5EF4-FFF2-40B4-BE49-F238E27FC236}">
                <a16:creationId xmlns:a16="http://schemas.microsoft.com/office/drawing/2014/main" id="{8A910DE5-7E73-E747-1621-CC38AEFE5995}"/>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74" name="Shape 0">
            <a:extLst>
              <a:ext uri="{FF2B5EF4-FFF2-40B4-BE49-F238E27FC236}">
                <a16:creationId xmlns:a16="http://schemas.microsoft.com/office/drawing/2014/main" id="{1FBC41CF-CE31-2844-B06A-CE90BD7EF597}"/>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75" name="Rectangle 74">
            <a:extLst>
              <a:ext uri="{FF2B5EF4-FFF2-40B4-BE49-F238E27FC236}">
                <a16:creationId xmlns:a16="http://schemas.microsoft.com/office/drawing/2014/main" id="{5F4DDEB0-5B54-42F1-FAAB-A7B849DCF393}"/>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76" name="Text 1">
            <a:extLst>
              <a:ext uri="{FF2B5EF4-FFF2-40B4-BE49-F238E27FC236}">
                <a16:creationId xmlns:a16="http://schemas.microsoft.com/office/drawing/2014/main" id="{EF2C4DE4-6308-1D6B-5ABA-76D17DF68377}"/>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77" name="Text 11">
            <a:extLst>
              <a:ext uri="{FF2B5EF4-FFF2-40B4-BE49-F238E27FC236}">
                <a16:creationId xmlns:a16="http://schemas.microsoft.com/office/drawing/2014/main" id="{F7F16CDF-8EC9-131E-DD8F-600EF20FCBA9}"/>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12</a:t>
            </a:r>
            <a:endParaRPr lang="en-US" sz="920"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 name="Image 0" descr="/mnt/data/atmos_exec_v3/assets/cover.png">
            <a:extLst>
              <a:ext uri="{FF2B5EF4-FFF2-40B4-BE49-F238E27FC236}">
                <a16:creationId xmlns:a16="http://schemas.microsoft.com/office/drawing/2014/main" id="{5A49A2F0-4A97-1ACC-A762-BAF13E61A401}"/>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 name="Shape 0"/>
          <p:cNvSpPr/>
          <p:nvPr/>
        </p:nvSpPr>
        <p:spPr>
          <a:xfrm>
            <a:off x="0" y="0"/>
            <a:ext cx="12191695" cy="59436"/>
          </a:xfrm>
          <a:prstGeom prst="rect">
            <a:avLst/>
          </a:prstGeom>
          <a:solidFill>
            <a:srgbClr val="E31837"/>
          </a:solidFill>
          <a:ln w="12700">
            <a:solidFill>
              <a:srgbClr val="E31837"/>
            </a:solidFill>
            <a:prstDash val="solid"/>
          </a:ln>
        </p:spPr>
        <p:txBody>
          <a:bodyPr/>
          <a:lstStyle/>
          <a:p>
            <a:endParaRPr lang="en-US">
              <a:solidFill>
                <a:schemeClr val="bg1"/>
              </a:solidFill>
            </a:endParaRPr>
          </a:p>
        </p:txBody>
      </p:sp>
      <p:sp>
        <p:nvSpPr>
          <p:cNvPr id="4" name="Text 2"/>
          <p:cNvSpPr/>
          <p:nvPr/>
        </p:nvSpPr>
        <p:spPr>
          <a:xfrm>
            <a:off x="7498080" y="292608"/>
            <a:ext cx="4160520" cy="219456"/>
          </a:xfrm>
          <a:prstGeom prst="rect">
            <a:avLst/>
          </a:prstGeom>
          <a:noFill/>
          <a:ln/>
        </p:spPr>
        <p:txBody>
          <a:bodyPr wrap="square" lIns="0" tIns="0" rIns="0" bIns="0" rtlCol="0" anchor="ctr"/>
          <a:lstStyle/>
          <a:p>
            <a:pPr marL="0" indent="0" algn="r">
              <a:buNone/>
            </a:pPr>
            <a:r>
              <a:rPr lang="en-US" sz="1050" dirty="0">
                <a:solidFill>
                  <a:schemeClr val="bg1"/>
                </a:solidFill>
                <a:latin typeface="Arial" pitchFamily="34" charset="0"/>
                <a:ea typeface="Arial" pitchFamily="34" charset="-122"/>
                <a:cs typeface="Arial" pitchFamily="34" charset="-120"/>
              </a:rPr>
              <a:t>ATMOS / VERTICAL PRIORITY</a:t>
            </a:r>
            <a:endParaRPr lang="en-US" sz="1050" dirty="0">
              <a:solidFill>
                <a:schemeClr val="bg1"/>
              </a:solidFill>
            </a:endParaRPr>
          </a:p>
        </p:txBody>
      </p:sp>
      <p:sp>
        <p:nvSpPr>
          <p:cNvPr id="5" name="Text 3"/>
          <p:cNvSpPr/>
          <p:nvPr/>
        </p:nvSpPr>
        <p:spPr>
          <a:xfrm>
            <a:off x="502920" y="914400"/>
            <a:ext cx="11183112" cy="621792"/>
          </a:xfrm>
          <a:prstGeom prst="rect">
            <a:avLst/>
          </a:prstGeom>
          <a:noFill/>
          <a:ln/>
        </p:spPr>
        <p:txBody>
          <a:bodyPr wrap="square" lIns="0" tIns="0" rIns="0" bIns="0" rtlCol="0" anchor="ctr"/>
          <a:lstStyle/>
          <a:p>
            <a:pPr marL="0" indent="0">
              <a:buNone/>
            </a:pPr>
            <a:r>
              <a:rPr lang="en-US" sz="2800" b="1" dirty="0">
                <a:solidFill>
                  <a:schemeClr val="bg1"/>
                </a:solidFill>
                <a:latin typeface="Arial" pitchFamily="34" charset="0"/>
                <a:ea typeface="Arial" pitchFamily="34" charset="-122"/>
                <a:cs typeface="Arial" pitchFamily="34" charset="-120"/>
              </a:rPr>
              <a:t>Prioritize vertical workflows with public demand signals.</a:t>
            </a:r>
            <a:endParaRPr lang="en-US" sz="2800" dirty="0">
              <a:solidFill>
                <a:schemeClr val="bg1"/>
              </a:solidFill>
            </a:endParaRPr>
          </a:p>
        </p:txBody>
      </p:sp>
      <p:sp>
        <p:nvSpPr>
          <p:cNvPr id="6" name="Text 4"/>
          <p:cNvSpPr/>
          <p:nvPr/>
        </p:nvSpPr>
        <p:spPr>
          <a:xfrm>
            <a:off x="502920" y="1591056"/>
            <a:ext cx="11109960" cy="329184"/>
          </a:xfrm>
          <a:prstGeom prst="rect">
            <a:avLst/>
          </a:prstGeom>
          <a:noFill/>
          <a:ln/>
        </p:spPr>
        <p:txBody>
          <a:bodyPr wrap="square" lIns="0" tIns="0" rIns="0" bIns="0" rtlCol="0" anchor="ctr"/>
          <a:lstStyle/>
          <a:p>
            <a:pPr marL="0" indent="0">
              <a:buNone/>
            </a:pPr>
            <a:r>
              <a:rPr lang="en-US" sz="1370" dirty="0">
                <a:solidFill>
                  <a:schemeClr val="bg1"/>
                </a:solidFill>
                <a:latin typeface="Arial" pitchFamily="34" charset="0"/>
                <a:ea typeface="Arial" pitchFamily="34" charset="-122"/>
                <a:cs typeface="Arial" pitchFamily="34" charset="-120"/>
              </a:rPr>
              <a:t>The requested industry revenue split is unavailable. The actionable alternative is a workload-led prospect map.</a:t>
            </a:r>
            <a:endParaRPr lang="en-US" sz="1370" dirty="0">
              <a:solidFill>
                <a:schemeClr val="bg1"/>
              </a:solidFill>
            </a:endParaRPr>
          </a:p>
        </p:txBody>
      </p:sp>
      <p:sp>
        <p:nvSpPr>
          <p:cNvPr id="7" name="Shape 5"/>
          <p:cNvSpPr/>
          <p:nvPr/>
        </p:nvSpPr>
        <p:spPr>
          <a:xfrm>
            <a:off x="502920" y="6035040"/>
            <a:ext cx="11183112" cy="365760"/>
          </a:xfrm>
          <a:prstGeom prst="rect">
            <a:avLst/>
          </a:prstGeom>
          <a:solidFill>
            <a:schemeClr val="bg1"/>
          </a:solidFill>
          <a:ln w="12700">
            <a:solidFill>
              <a:srgbClr val="FCECF0"/>
            </a:solidFill>
            <a:prstDash val="solid"/>
          </a:ln>
        </p:spPr>
        <p:txBody>
          <a:bodyPr/>
          <a:lstStyle/>
          <a:p>
            <a:endParaRPr lang="en-US">
              <a:solidFill>
                <a:schemeClr val="bg1"/>
              </a:solidFill>
            </a:endParaRPr>
          </a:p>
        </p:txBody>
      </p:sp>
      <p:sp>
        <p:nvSpPr>
          <p:cNvPr id="8" name="Text 6"/>
          <p:cNvSpPr/>
          <p:nvPr/>
        </p:nvSpPr>
        <p:spPr>
          <a:xfrm>
            <a:off x="658368" y="6089904"/>
            <a:ext cx="10872216" cy="246888"/>
          </a:xfrm>
          <a:prstGeom prst="rect">
            <a:avLst/>
          </a:prstGeom>
          <a:noFill/>
          <a:ln/>
        </p:spPr>
        <p:txBody>
          <a:bodyPr wrap="square" lIns="0" tIns="0" rIns="0" bIns="0" rtlCol="0" anchor="ctr"/>
          <a:lstStyle/>
          <a:p>
            <a:pPr marL="0" indent="0">
              <a:buNone/>
            </a:pPr>
            <a:r>
              <a:rPr lang="en-US" sz="1250" b="1" dirty="0">
                <a:solidFill>
                  <a:srgbClr val="C00000"/>
                </a:solidFill>
                <a:latin typeface="Arial" pitchFamily="34" charset="0"/>
                <a:ea typeface="Arial" pitchFamily="34" charset="-122"/>
                <a:cs typeface="Arial" pitchFamily="34" charset="-120"/>
              </a:rPr>
              <a:t>Finance, manufacturing knowledge and energy lead the V3 priority; qualification and a funded buyer decide.</a:t>
            </a:r>
            <a:endParaRPr lang="en-US" sz="1250" dirty="0">
              <a:solidFill>
                <a:srgbClr val="C00000"/>
              </a:solidFill>
            </a:endParaRPr>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solidFill>
                <a:schemeClr val="bg1"/>
              </a:solidFill>
            </a:endParaRPr>
          </a:p>
        </p:txBody>
      </p:sp>
      <p:sp>
        <p:nvSpPr>
          <p:cNvPr id="14" name="Shape 12"/>
          <p:cNvSpPr/>
          <p:nvPr/>
        </p:nvSpPr>
        <p:spPr>
          <a:xfrm>
            <a:off x="502920" y="2103120"/>
            <a:ext cx="1645920" cy="438912"/>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15" name="Text 13"/>
          <p:cNvSpPr/>
          <p:nvPr/>
        </p:nvSpPr>
        <p:spPr>
          <a:xfrm>
            <a:off x="594360" y="2167128"/>
            <a:ext cx="1463040" cy="329184"/>
          </a:xfrm>
          <a:prstGeom prst="rect">
            <a:avLst/>
          </a:prstGeom>
          <a:noFill/>
          <a:ln/>
        </p:spPr>
        <p:txBody>
          <a:bodyPr wrap="square" lIns="0" tIns="0" rIns="0" bIns="0" rtlCol="0" anchor="ctr"/>
          <a:lstStyle/>
          <a:p>
            <a:pPr marL="0" indent="0">
              <a:buNone/>
            </a:pPr>
            <a:r>
              <a:rPr lang="en-US" sz="1180" b="1" dirty="0">
                <a:solidFill>
                  <a:schemeClr val="bg1"/>
                </a:solidFill>
                <a:latin typeface="Arial" pitchFamily="34" charset="0"/>
                <a:ea typeface="Arial" pitchFamily="34" charset="-122"/>
                <a:cs typeface="Arial" pitchFamily="34" charset="-120"/>
              </a:rPr>
              <a:t>Vertical / V3 rank</a:t>
            </a:r>
            <a:endParaRPr lang="en-US" sz="1180" dirty="0">
              <a:solidFill>
                <a:schemeClr val="bg1"/>
              </a:solidFill>
            </a:endParaRPr>
          </a:p>
        </p:txBody>
      </p:sp>
      <p:sp>
        <p:nvSpPr>
          <p:cNvPr id="16" name="Shape 14"/>
          <p:cNvSpPr/>
          <p:nvPr/>
        </p:nvSpPr>
        <p:spPr>
          <a:xfrm>
            <a:off x="2148840" y="2103120"/>
            <a:ext cx="1874520" cy="438912"/>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17" name="Text 15"/>
          <p:cNvSpPr/>
          <p:nvPr/>
        </p:nvSpPr>
        <p:spPr>
          <a:xfrm>
            <a:off x="2240280" y="2167128"/>
            <a:ext cx="1691640" cy="329184"/>
          </a:xfrm>
          <a:prstGeom prst="rect">
            <a:avLst/>
          </a:prstGeom>
          <a:noFill/>
          <a:ln/>
        </p:spPr>
        <p:txBody>
          <a:bodyPr wrap="square" lIns="0" tIns="0" rIns="0" bIns="0" rtlCol="0" anchor="ctr"/>
          <a:lstStyle/>
          <a:p>
            <a:pPr marL="0" indent="0">
              <a:buNone/>
            </a:pPr>
            <a:r>
              <a:rPr lang="en-US" sz="1180" b="1" dirty="0">
                <a:solidFill>
                  <a:schemeClr val="bg1"/>
                </a:solidFill>
                <a:latin typeface="Arial" pitchFamily="34" charset="0"/>
                <a:ea typeface="Arial" pitchFamily="34" charset="-122"/>
                <a:cs typeface="Arial" pitchFamily="34" charset="-120"/>
              </a:rPr>
              <a:t>Public company signal</a:t>
            </a:r>
            <a:endParaRPr lang="en-US" sz="1180" dirty="0">
              <a:solidFill>
                <a:schemeClr val="bg1"/>
              </a:solidFill>
            </a:endParaRPr>
          </a:p>
        </p:txBody>
      </p:sp>
      <p:sp>
        <p:nvSpPr>
          <p:cNvPr id="18" name="Shape 16"/>
          <p:cNvSpPr/>
          <p:nvPr/>
        </p:nvSpPr>
        <p:spPr>
          <a:xfrm>
            <a:off x="4023360" y="2103120"/>
            <a:ext cx="2990088" cy="438912"/>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19" name="Text 17"/>
          <p:cNvSpPr/>
          <p:nvPr/>
        </p:nvSpPr>
        <p:spPr>
          <a:xfrm>
            <a:off x="4114800" y="2167128"/>
            <a:ext cx="2807208" cy="329184"/>
          </a:xfrm>
          <a:prstGeom prst="rect">
            <a:avLst/>
          </a:prstGeom>
          <a:noFill/>
          <a:ln/>
        </p:spPr>
        <p:txBody>
          <a:bodyPr wrap="square" lIns="0" tIns="0" rIns="0" bIns="0" rtlCol="0" anchor="ctr"/>
          <a:lstStyle/>
          <a:p>
            <a:pPr marL="0" indent="0">
              <a:buNone/>
            </a:pPr>
            <a:r>
              <a:rPr lang="en-US" sz="1180" b="1" dirty="0">
                <a:solidFill>
                  <a:schemeClr val="bg1"/>
                </a:solidFill>
                <a:latin typeface="Arial" pitchFamily="34" charset="0"/>
                <a:ea typeface="Arial" pitchFamily="34" charset="-122"/>
                <a:cs typeface="Arial" pitchFamily="34" charset="-120"/>
              </a:rPr>
              <a:t>Platform evidence</a:t>
            </a:r>
            <a:endParaRPr lang="en-US" sz="1180" dirty="0">
              <a:solidFill>
                <a:schemeClr val="bg1"/>
              </a:solidFill>
            </a:endParaRPr>
          </a:p>
        </p:txBody>
      </p:sp>
      <p:sp>
        <p:nvSpPr>
          <p:cNvPr id="20" name="Shape 18"/>
          <p:cNvSpPr/>
          <p:nvPr/>
        </p:nvSpPr>
        <p:spPr>
          <a:xfrm>
            <a:off x="7013448" y="2103120"/>
            <a:ext cx="1508760" cy="438912"/>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21" name="Text 19"/>
          <p:cNvSpPr/>
          <p:nvPr/>
        </p:nvSpPr>
        <p:spPr>
          <a:xfrm>
            <a:off x="7104888" y="2167128"/>
            <a:ext cx="1325880" cy="329184"/>
          </a:xfrm>
          <a:prstGeom prst="rect">
            <a:avLst/>
          </a:prstGeom>
          <a:noFill/>
          <a:ln/>
        </p:spPr>
        <p:txBody>
          <a:bodyPr wrap="square" lIns="0" tIns="0" rIns="0" bIns="0" rtlCol="0" anchor="ctr"/>
          <a:lstStyle/>
          <a:p>
            <a:pPr marL="0" indent="0">
              <a:buNone/>
            </a:pPr>
            <a:r>
              <a:rPr lang="en-US" sz="1180" b="1" dirty="0">
                <a:solidFill>
                  <a:schemeClr val="bg1"/>
                </a:solidFill>
                <a:latin typeface="Arial" pitchFamily="34" charset="0"/>
                <a:ea typeface="Arial" pitchFamily="34" charset="-122"/>
                <a:cs typeface="Arial" pitchFamily="34" charset="-120"/>
              </a:rPr>
              <a:t>Share of NVIDIA Edge</a:t>
            </a:r>
            <a:endParaRPr lang="en-US" sz="1180" dirty="0">
              <a:solidFill>
                <a:schemeClr val="bg1"/>
              </a:solidFill>
            </a:endParaRPr>
          </a:p>
        </p:txBody>
      </p:sp>
      <p:sp>
        <p:nvSpPr>
          <p:cNvPr id="22" name="Shape 20"/>
          <p:cNvSpPr/>
          <p:nvPr/>
        </p:nvSpPr>
        <p:spPr>
          <a:xfrm>
            <a:off x="8522208" y="2103120"/>
            <a:ext cx="3163824" cy="438912"/>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23" name="Text 21"/>
          <p:cNvSpPr/>
          <p:nvPr/>
        </p:nvSpPr>
        <p:spPr>
          <a:xfrm>
            <a:off x="8613648" y="2167128"/>
            <a:ext cx="2980944" cy="329184"/>
          </a:xfrm>
          <a:prstGeom prst="rect">
            <a:avLst/>
          </a:prstGeom>
          <a:noFill/>
          <a:ln/>
        </p:spPr>
        <p:txBody>
          <a:bodyPr wrap="square" lIns="0" tIns="0" rIns="0" bIns="0" rtlCol="0" anchor="ctr"/>
          <a:lstStyle/>
          <a:p>
            <a:pPr marL="0" indent="0">
              <a:buNone/>
            </a:pPr>
            <a:r>
              <a:rPr lang="en-US" sz="1180" b="1" dirty="0">
                <a:solidFill>
                  <a:schemeClr val="bg1"/>
                </a:solidFill>
                <a:latin typeface="Arial" pitchFamily="34" charset="0"/>
                <a:ea typeface="Arial" pitchFamily="34" charset="-122"/>
                <a:cs typeface="Arial" pitchFamily="34" charset="-120"/>
              </a:rPr>
              <a:t>Candidate ATMOS entry</a:t>
            </a:r>
            <a:endParaRPr lang="en-US" sz="1180" dirty="0">
              <a:solidFill>
                <a:schemeClr val="bg1"/>
              </a:solidFill>
            </a:endParaRPr>
          </a:p>
        </p:txBody>
      </p:sp>
      <p:sp>
        <p:nvSpPr>
          <p:cNvPr id="24" name="Shape 22"/>
          <p:cNvSpPr/>
          <p:nvPr/>
        </p:nvSpPr>
        <p:spPr>
          <a:xfrm>
            <a:off x="502920" y="2542032"/>
            <a:ext cx="16459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5" name="Text 23"/>
          <p:cNvSpPr/>
          <p:nvPr/>
        </p:nvSpPr>
        <p:spPr>
          <a:xfrm>
            <a:off x="594360" y="2619756"/>
            <a:ext cx="1463040" cy="429768"/>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Finance / insurance · 1</a:t>
            </a:r>
            <a:endParaRPr lang="en-US" sz="1300" dirty="0">
              <a:solidFill>
                <a:schemeClr val="bg1"/>
              </a:solidFill>
            </a:endParaRPr>
          </a:p>
        </p:txBody>
      </p:sp>
      <p:sp>
        <p:nvSpPr>
          <p:cNvPr id="26" name="Shape 24"/>
          <p:cNvSpPr/>
          <p:nvPr/>
        </p:nvSpPr>
        <p:spPr>
          <a:xfrm>
            <a:off x="2148840" y="2542032"/>
            <a:ext cx="18745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7" name="Text 25"/>
          <p:cNvSpPr/>
          <p:nvPr/>
        </p:nvSpPr>
        <p:spPr>
          <a:xfrm>
            <a:off x="2240280" y="2619756"/>
            <a:ext cx="169164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Nasdaq</a:t>
            </a:r>
            <a:endParaRPr lang="en-US" sz="1300" dirty="0">
              <a:solidFill>
                <a:schemeClr val="bg1"/>
              </a:solidFill>
            </a:endParaRPr>
          </a:p>
        </p:txBody>
      </p:sp>
      <p:sp>
        <p:nvSpPr>
          <p:cNvPr id="28" name="Shape 26"/>
          <p:cNvSpPr/>
          <p:nvPr/>
        </p:nvSpPr>
        <p:spPr>
          <a:xfrm>
            <a:off x="4023360" y="2542032"/>
            <a:ext cx="2990088"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9" name="Text 27"/>
          <p:cNvSpPr/>
          <p:nvPr/>
        </p:nvSpPr>
        <p:spPr>
          <a:xfrm>
            <a:off x="4114800" y="2619756"/>
            <a:ext cx="2807208"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L40 + NIM / Retriever; no Spark or edge-location proof</a:t>
            </a:r>
            <a:endParaRPr lang="en-US" sz="1300" dirty="0">
              <a:solidFill>
                <a:schemeClr val="bg1"/>
              </a:solidFill>
            </a:endParaRPr>
          </a:p>
        </p:txBody>
      </p:sp>
      <p:sp>
        <p:nvSpPr>
          <p:cNvPr id="30" name="Shape 28"/>
          <p:cNvSpPr/>
          <p:nvPr/>
        </p:nvSpPr>
        <p:spPr>
          <a:xfrm>
            <a:off x="7013448" y="2542032"/>
            <a:ext cx="150876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1" name="Text 29"/>
          <p:cNvSpPr/>
          <p:nvPr/>
        </p:nvSpPr>
        <p:spPr>
          <a:xfrm>
            <a:off x="7104888" y="2619756"/>
            <a:ext cx="132588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Not disclosed</a:t>
            </a:r>
            <a:endParaRPr lang="en-US" sz="1300" dirty="0">
              <a:solidFill>
                <a:schemeClr val="bg1"/>
              </a:solidFill>
            </a:endParaRPr>
          </a:p>
        </p:txBody>
      </p:sp>
      <p:sp>
        <p:nvSpPr>
          <p:cNvPr id="32" name="Shape 30"/>
          <p:cNvSpPr/>
          <p:nvPr/>
        </p:nvSpPr>
        <p:spPr>
          <a:xfrm>
            <a:off x="8522208" y="2542032"/>
            <a:ext cx="3163824"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3" name="Text 31"/>
          <p:cNvSpPr/>
          <p:nvPr/>
        </p:nvSpPr>
        <p:spPr>
          <a:xfrm>
            <a:off x="8613648" y="2619756"/>
            <a:ext cx="2980944"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E8/E16: policy, claims and investigation evidence</a:t>
            </a:r>
            <a:endParaRPr lang="en-US" sz="1300" dirty="0">
              <a:solidFill>
                <a:schemeClr val="bg1"/>
              </a:solidFill>
            </a:endParaRPr>
          </a:p>
        </p:txBody>
      </p:sp>
      <p:sp>
        <p:nvSpPr>
          <p:cNvPr id="34" name="Shape 32"/>
          <p:cNvSpPr/>
          <p:nvPr/>
        </p:nvSpPr>
        <p:spPr>
          <a:xfrm>
            <a:off x="502920" y="3099816"/>
            <a:ext cx="16459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5" name="Text 33"/>
          <p:cNvSpPr/>
          <p:nvPr/>
        </p:nvSpPr>
        <p:spPr>
          <a:xfrm>
            <a:off x="594360" y="3177540"/>
            <a:ext cx="1463040" cy="429768"/>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Industrial knowledge · 2</a:t>
            </a:r>
            <a:endParaRPr lang="en-US" sz="1300" dirty="0">
              <a:solidFill>
                <a:schemeClr val="bg1"/>
              </a:solidFill>
            </a:endParaRPr>
          </a:p>
        </p:txBody>
      </p:sp>
      <p:sp>
        <p:nvSpPr>
          <p:cNvPr id="36" name="Shape 34"/>
          <p:cNvSpPr/>
          <p:nvPr/>
        </p:nvSpPr>
        <p:spPr>
          <a:xfrm>
            <a:off x="2148840" y="3099816"/>
            <a:ext cx="18745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7" name="Text 35"/>
          <p:cNvSpPr/>
          <p:nvPr/>
        </p:nvSpPr>
        <p:spPr>
          <a:xfrm>
            <a:off x="2240280" y="3177540"/>
            <a:ext cx="169164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Arup (engineering)</a:t>
            </a:r>
            <a:endParaRPr lang="en-US" sz="1300" dirty="0">
              <a:solidFill>
                <a:schemeClr val="bg1"/>
              </a:solidFill>
            </a:endParaRPr>
          </a:p>
        </p:txBody>
      </p:sp>
      <p:sp>
        <p:nvSpPr>
          <p:cNvPr id="38" name="Shape 36"/>
          <p:cNvSpPr/>
          <p:nvPr/>
        </p:nvSpPr>
        <p:spPr>
          <a:xfrm>
            <a:off x="4023360" y="3099816"/>
            <a:ext cx="2990088"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9" name="Text 37"/>
          <p:cNvSpPr/>
          <p:nvPr/>
        </p:nvSpPr>
        <p:spPr>
          <a:xfrm>
            <a:off x="4114800" y="3177540"/>
            <a:ext cx="2807208"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Spark GNN design work; factory-knowledge fit is an adjacent hypothesis</a:t>
            </a:r>
            <a:endParaRPr lang="en-US" sz="1300" dirty="0">
              <a:solidFill>
                <a:schemeClr val="bg1"/>
              </a:solidFill>
            </a:endParaRPr>
          </a:p>
        </p:txBody>
      </p:sp>
      <p:sp>
        <p:nvSpPr>
          <p:cNvPr id="40" name="Shape 38"/>
          <p:cNvSpPr/>
          <p:nvPr/>
        </p:nvSpPr>
        <p:spPr>
          <a:xfrm>
            <a:off x="7013448" y="3099816"/>
            <a:ext cx="150876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1" name="Text 39"/>
          <p:cNvSpPr/>
          <p:nvPr/>
        </p:nvSpPr>
        <p:spPr>
          <a:xfrm>
            <a:off x="7104888" y="3177540"/>
            <a:ext cx="132588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Not disclosed</a:t>
            </a:r>
            <a:endParaRPr lang="en-US" sz="1300" dirty="0">
              <a:solidFill>
                <a:schemeClr val="bg1"/>
              </a:solidFill>
            </a:endParaRPr>
          </a:p>
        </p:txBody>
      </p:sp>
      <p:sp>
        <p:nvSpPr>
          <p:cNvPr id="42" name="Shape 40"/>
          <p:cNvSpPr/>
          <p:nvPr/>
        </p:nvSpPr>
        <p:spPr>
          <a:xfrm>
            <a:off x="8522208" y="3099816"/>
            <a:ext cx="3163824"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3" name="Text 41"/>
          <p:cNvSpPr/>
          <p:nvPr/>
        </p:nvSpPr>
        <p:spPr>
          <a:xfrm>
            <a:off x="8613648" y="3177540"/>
            <a:ext cx="2980944"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D8/E16: manuals and quality-record search</a:t>
            </a:r>
            <a:endParaRPr lang="en-US" sz="1300" dirty="0">
              <a:solidFill>
                <a:schemeClr val="bg1"/>
              </a:solidFill>
            </a:endParaRPr>
          </a:p>
        </p:txBody>
      </p:sp>
      <p:sp>
        <p:nvSpPr>
          <p:cNvPr id="44" name="Shape 42"/>
          <p:cNvSpPr/>
          <p:nvPr/>
        </p:nvSpPr>
        <p:spPr>
          <a:xfrm>
            <a:off x="502920" y="3657600"/>
            <a:ext cx="16459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5" name="Text 43"/>
          <p:cNvSpPr/>
          <p:nvPr/>
        </p:nvSpPr>
        <p:spPr>
          <a:xfrm>
            <a:off x="594360" y="3735324"/>
            <a:ext cx="1463040" cy="429768"/>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Energy / utilities · 3</a:t>
            </a:r>
            <a:endParaRPr lang="en-US" sz="1300" dirty="0">
              <a:solidFill>
                <a:schemeClr val="bg1"/>
              </a:solidFill>
            </a:endParaRPr>
          </a:p>
        </p:txBody>
      </p:sp>
      <p:sp>
        <p:nvSpPr>
          <p:cNvPr id="46" name="Shape 44"/>
          <p:cNvSpPr/>
          <p:nvPr/>
        </p:nvSpPr>
        <p:spPr>
          <a:xfrm>
            <a:off x="2148840" y="3657600"/>
            <a:ext cx="18745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7" name="Text 45"/>
          <p:cNvSpPr/>
          <p:nvPr/>
        </p:nvSpPr>
        <p:spPr>
          <a:xfrm>
            <a:off x="2240280" y="3735324"/>
            <a:ext cx="169164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EPRI</a:t>
            </a:r>
            <a:endParaRPr lang="en-US" sz="1300" dirty="0">
              <a:solidFill>
                <a:schemeClr val="bg1"/>
              </a:solidFill>
            </a:endParaRPr>
          </a:p>
        </p:txBody>
      </p:sp>
      <p:sp>
        <p:nvSpPr>
          <p:cNvPr id="48" name="Shape 46"/>
          <p:cNvSpPr/>
          <p:nvPr/>
        </p:nvSpPr>
        <p:spPr>
          <a:xfrm>
            <a:off x="4023360" y="3657600"/>
            <a:ext cx="2990088"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9" name="Text 47"/>
          <p:cNvSpPr/>
          <p:nvPr/>
        </p:nvSpPr>
        <p:spPr>
          <a:xfrm>
            <a:off x="4114800" y="3735324"/>
            <a:ext cx="2807208"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GB10 local knowledge service</a:t>
            </a:r>
            <a:endParaRPr lang="en-US" sz="1300" dirty="0">
              <a:solidFill>
                <a:schemeClr val="bg1"/>
              </a:solidFill>
            </a:endParaRPr>
          </a:p>
        </p:txBody>
      </p:sp>
      <p:sp>
        <p:nvSpPr>
          <p:cNvPr id="50" name="Shape 48"/>
          <p:cNvSpPr/>
          <p:nvPr/>
        </p:nvSpPr>
        <p:spPr>
          <a:xfrm>
            <a:off x="7013448" y="3657600"/>
            <a:ext cx="150876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1" name="Text 49"/>
          <p:cNvSpPr/>
          <p:nvPr/>
        </p:nvSpPr>
        <p:spPr>
          <a:xfrm>
            <a:off x="7104888" y="3735324"/>
            <a:ext cx="132588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Not disclosed</a:t>
            </a:r>
            <a:endParaRPr lang="en-US" sz="1300" dirty="0">
              <a:solidFill>
                <a:schemeClr val="bg1"/>
              </a:solidFill>
            </a:endParaRPr>
          </a:p>
        </p:txBody>
      </p:sp>
      <p:sp>
        <p:nvSpPr>
          <p:cNvPr id="52" name="Shape 50"/>
          <p:cNvSpPr/>
          <p:nvPr/>
        </p:nvSpPr>
        <p:spPr>
          <a:xfrm>
            <a:off x="8522208" y="3657600"/>
            <a:ext cx="3163824"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3" name="Text 51"/>
          <p:cNvSpPr/>
          <p:nvPr/>
        </p:nvSpPr>
        <p:spPr>
          <a:xfrm>
            <a:off x="8613648" y="3735324"/>
            <a:ext cx="2980944"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D8/E8: engineering / procedure assistant</a:t>
            </a:r>
            <a:endParaRPr lang="en-US" sz="1300" dirty="0">
              <a:solidFill>
                <a:schemeClr val="bg1"/>
              </a:solidFill>
            </a:endParaRPr>
          </a:p>
        </p:txBody>
      </p:sp>
      <p:sp>
        <p:nvSpPr>
          <p:cNvPr id="54" name="Shape 52"/>
          <p:cNvSpPr/>
          <p:nvPr/>
        </p:nvSpPr>
        <p:spPr>
          <a:xfrm>
            <a:off x="502920" y="4215384"/>
            <a:ext cx="16459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5" name="Text 53"/>
          <p:cNvSpPr/>
          <p:nvPr/>
        </p:nvSpPr>
        <p:spPr>
          <a:xfrm>
            <a:off x="594360" y="4293108"/>
            <a:ext cx="1463040" cy="429768"/>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Government · 5</a:t>
            </a:r>
            <a:endParaRPr lang="en-US" sz="1300" dirty="0">
              <a:solidFill>
                <a:schemeClr val="bg1"/>
              </a:solidFill>
            </a:endParaRPr>
          </a:p>
        </p:txBody>
      </p:sp>
      <p:sp>
        <p:nvSpPr>
          <p:cNvPr id="56" name="Shape 54"/>
          <p:cNvSpPr/>
          <p:nvPr/>
        </p:nvSpPr>
        <p:spPr>
          <a:xfrm>
            <a:off x="2148840" y="4215384"/>
            <a:ext cx="18745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7" name="Text 55"/>
          <p:cNvSpPr/>
          <p:nvPr/>
        </p:nvSpPr>
        <p:spPr>
          <a:xfrm>
            <a:off x="2240280" y="4293108"/>
            <a:ext cx="169164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ThinkDeep / French agencies</a:t>
            </a:r>
            <a:endParaRPr lang="en-US" sz="1300" dirty="0">
              <a:solidFill>
                <a:schemeClr val="bg1"/>
              </a:solidFill>
            </a:endParaRPr>
          </a:p>
        </p:txBody>
      </p:sp>
      <p:sp>
        <p:nvSpPr>
          <p:cNvPr id="58" name="Shape 56"/>
          <p:cNvSpPr/>
          <p:nvPr/>
        </p:nvSpPr>
        <p:spPr>
          <a:xfrm>
            <a:off x="4023360" y="4215384"/>
            <a:ext cx="2990088"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9" name="Text 57"/>
          <p:cNvSpPr/>
          <p:nvPr/>
        </p:nvSpPr>
        <p:spPr>
          <a:xfrm>
            <a:off x="4114800" y="4293108"/>
            <a:ext cx="2807208"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Sovereign document / agent platform; no Spark unit count</a:t>
            </a:r>
            <a:endParaRPr lang="en-US" sz="1300" dirty="0">
              <a:solidFill>
                <a:schemeClr val="bg1"/>
              </a:solidFill>
            </a:endParaRPr>
          </a:p>
        </p:txBody>
      </p:sp>
      <p:sp>
        <p:nvSpPr>
          <p:cNvPr id="60" name="Shape 58"/>
          <p:cNvSpPr/>
          <p:nvPr/>
        </p:nvSpPr>
        <p:spPr>
          <a:xfrm>
            <a:off x="7013448" y="4215384"/>
            <a:ext cx="150876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1" name="Text 59"/>
          <p:cNvSpPr/>
          <p:nvPr/>
        </p:nvSpPr>
        <p:spPr>
          <a:xfrm>
            <a:off x="7104888" y="4293108"/>
            <a:ext cx="132588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Not disclosed</a:t>
            </a:r>
            <a:endParaRPr lang="en-US" sz="1300" dirty="0">
              <a:solidFill>
                <a:schemeClr val="bg1"/>
              </a:solidFill>
            </a:endParaRPr>
          </a:p>
        </p:txBody>
      </p:sp>
      <p:sp>
        <p:nvSpPr>
          <p:cNvPr id="62" name="Shape 60"/>
          <p:cNvSpPr/>
          <p:nvPr/>
        </p:nvSpPr>
        <p:spPr>
          <a:xfrm>
            <a:off x="8522208" y="4215384"/>
            <a:ext cx="3163824"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3" name="Text 61"/>
          <p:cNvSpPr/>
          <p:nvPr/>
        </p:nvSpPr>
        <p:spPr>
          <a:xfrm>
            <a:off x="8613648" y="4293108"/>
            <a:ext cx="2980944"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E16: controlled evidence and offline operations</a:t>
            </a:r>
            <a:endParaRPr lang="en-US" sz="1300" dirty="0">
              <a:solidFill>
                <a:schemeClr val="bg1"/>
              </a:solidFill>
            </a:endParaRPr>
          </a:p>
        </p:txBody>
      </p:sp>
      <p:sp>
        <p:nvSpPr>
          <p:cNvPr id="64" name="Shape 62"/>
          <p:cNvSpPr/>
          <p:nvPr/>
        </p:nvSpPr>
        <p:spPr>
          <a:xfrm>
            <a:off x="502920" y="4773168"/>
            <a:ext cx="16459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5" name="Text 63"/>
          <p:cNvSpPr/>
          <p:nvPr/>
        </p:nvSpPr>
        <p:spPr>
          <a:xfrm>
            <a:off x="594360" y="4850892"/>
            <a:ext cx="1463040" cy="429768"/>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Telecom · 6</a:t>
            </a:r>
            <a:endParaRPr lang="en-US" sz="1300" dirty="0">
              <a:solidFill>
                <a:schemeClr val="bg1"/>
              </a:solidFill>
            </a:endParaRPr>
          </a:p>
        </p:txBody>
      </p:sp>
      <p:sp>
        <p:nvSpPr>
          <p:cNvPr id="66" name="Shape 64"/>
          <p:cNvSpPr/>
          <p:nvPr/>
        </p:nvSpPr>
        <p:spPr>
          <a:xfrm>
            <a:off x="2148840" y="4773168"/>
            <a:ext cx="18745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7" name="Text 65"/>
          <p:cNvSpPr/>
          <p:nvPr/>
        </p:nvSpPr>
        <p:spPr>
          <a:xfrm>
            <a:off x="2240280" y="4850892"/>
            <a:ext cx="169164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Amdocs</a:t>
            </a:r>
            <a:endParaRPr lang="en-US" sz="1300" dirty="0">
              <a:solidFill>
                <a:schemeClr val="bg1"/>
              </a:solidFill>
            </a:endParaRPr>
          </a:p>
        </p:txBody>
      </p:sp>
      <p:sp>
        <p:nvSpPr>
          <p:cNvPr id="68" name="Shape 66"/>
          <p:cNvSpPr/>
          <p:nvPr/>
        </p:nvSpPr>
        <p:spPr>
          <a:xfrm>
            <a:off x="4023360" y="4773168"/>
            <a:ext cx="2990088"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9" name="Text 67"/>
          <p:cNvSpPr/>
          <p:nvPr/>
        </p:nvSpPr>
        <p:spPr>
          <a:xfrm>
            <a:off x="4114800" y="4850892"/>
            <a:ext cx="2807208"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DGX Cloud / NIM agents; not proof of edge hardware</a:t>
            </a:r>
            <a:endParaRPr lang="en-US" sz="1300" dirty="0">
              <a:solidFill>
                <a:schemeClr val="bg1"/>
              </a:solidFill>
            </a:endParaRPr>
          </a:p>
        </p:txBody>
      </p:sp>
      <p:sp>
        <p:nvSpPr>
          <p:cNvPr id="70" name="Shape 68"/>
          <p:cNvSpPr/>
          <p:nvPr/>
        </p:nvSpPr>
        <p:spPr>
          <a:xfrm>
            <a:off x="7013448" y="4773168"/>
            <a:ext cx="150876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71" name="Text 69"/>
          <p:cNvSpPr/>
          <p:nvPr/>
        </p:nvSpPr>
        <p:spPr>
          <a:xfrm>
            <a:off x="7104888" y="4850892"/>
            <a:ext cx="132588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Not disclosed</a:t>
            </a:r>
            <a:endParaRPr lang="en-US" sz="1300" dirty="0">
              <a:solidFill>
                <a:schemeClr val="bg1"/>
              </a:solidFill>
            </a:endParaRPr>
          </a:p>
        </p:txBody>
      </p:sp>
      <p:sp>
        <p:nvSpPr>
          <p:cNvPr id="72" name="Shape 70"/>
          <p:cNvSpPr/>
          <p:nvPr/>
        </p:nvSpPr>
        <p:spPr>
          <a:xfrm>
            <a:off x="8522208" y="4773168"/>
            <a:ext cx="3163824"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73" name="Text 71"/>
          <p:cNvSpPr/>
          <p:nvPr/>
        </p:nvSpPr>
        <p:spPr>
          <a:xfrm>
            <a:off x="8613648" y="4850892"/>
            <a:ext cx="2980944"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E16/E24: regional ticket and runbook catalog</a:t>
            </a:r>
            <a:endParaRPr lang="en-US" sz="1300" dirty="0">
              <a:solidFill>
                <a:schemeClr val="bg1"/>
              </a:solidFill>
            </a:endParaRPr>
          </a:p>
        </p:txBody>
      </p:sp>
      <p:sp>
        <p:nvSpPr>
          <p:cNvPr id="74" name="Shape 72"/>
          <p:cNvSpPr/>
          <p:nvPr/>
        </p:nvSpPr>
        <p:spPr>
          <a:xfrm>
            <a:off x="502920" y="5330952"/>
            <a:ext cx="16459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75" name="Text 73"/>
          <p:cNvSpPr/>
          <p:nvPr/>
        </p:nvSpPr>
        <p:spPr>
          <a:xfrm>
            <a:off x="594360" y="5408676"/>
            <a:ext cx="1463040" cy="429768"/>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Retail · 7</a:t>
            </a:r>
            <a:endParaRPr lang="en-US" sz="1300" dirty="0">
              <a:solidFill>
                <a:schemeClr val="bg1"/>
              </a:solidFill>
            </a:endParaRPr>
          </a:p>
        </p:txBody>
      </p:sp>
      <p:sp>
        <p:nvSpPr>
          <p:cNvPr id="76" name="Shape 74"/>
          <p:cNvSpPr/>
          <p:nvPr/>
        </p:nvSpPr>
        <p:spPr>
          <a:xfrm>
            <a:off x="2148840" y="5330952"/>
            <a:ext cx="187452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77" name="Text 75"/>
          <p:cNvSpPr/>
          <p:nvPr/>
        </p:nvSpPr>
        <p:spPr>
          <a:xfrm>
            <a:off x="2240280" y="5408676"/>
            <a:ext cx="169164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Lowe’s</a:t>
            </a:r>
            <a:endParaRPr lang="en-US" sz="1300" dirty="0">
              <a:solidFill>
                <a:schemeClr val="bg1"/>
              </a:solidFill>
            </a:endParaRPr>
          </a:p>
        </p:txBody>
      </p:sp>
      <p:sp>
        <p:nvSpPr>
          <p:cNvPr id="78" name="Shape 76"/>
          <p:cNvSpPr/>
          <p:nvPr/>
        </p:nvSpPr>
        <p:spPr>
          <a:xfrm>
            <a:off x="4023360" y="5330952"/>
            <a:ext cx="2990088"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79" name="Text 77"/>
          <p:cNvSpPr/>
          <p:nvPr/>
        </p:nvSpPr>
        <p:spPr>
          <a:xfrm>
            <a:off x="4114800" y="5408676"/>
            <a:ext cx="2807208"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RTX workstations + store-edge systems; mixed workloads</a:t>
            </a:r>
            <a:endParaRPr lang="en-US" sz="1300" dirty="0">
              <a:solidFill>
                <a:schemeClr val="bg1"/>
              </a:solidFill>
            </a:endParaRPr>
          </a:p>
        </p:txBody>
      </p:sp>
      <p:sp>
        <p:nvSpPr>
          <p:cNvPr id="80" name="Shape 78"/>
          <p:cNvSpPr/>
          <p:nvPr/>
        </p:nvSpPr>
        <p:spPr>
          <a:xfrm>
            <a:off x="7013448" y="5330952"/>
            <a:ext cx="1508760"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81" name="Text 79"/>
          <p:cNvSpPr/>
          <p:nvPr/>
        </p:nvSpPr>
        <p:spPr>
          <a:xfrm>
            <a:off x="7104888" y="5408676"/>
            <a:ext cx="1325880"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Not disclosed</a:t>
            </a:r>
            <a:endParaRPr lang="en-US" sz="1300" dirty="0">
              <a:solidFill>
                <a:schemeClr val="bg1"/>
              </a:solidFill>
            </a:endParaRPr>
          </a:p>
        </p:txBody>
      </p:sp>
      <p:sp>
        <p:nvSpPr>
          <p:cNvPr id="82" name="Shape 80"/>
          <p:cNvSpPr/>
          <p:nvPr/>
        </p:nvSpPr>
        <p:spPr>
          <a:xfrm>
            <a:off x="8522208" y="5330952"/>
            <a:ext cx="3163824" cy="557784"/>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83" name="Text 81"/>
          <p:cNvSpPr/>
          <p:nvPr/>
        </p:nvSpPr>
        <p:spPr>
          <a:xfrm>
            <a:off x="8613648" y="5408676"/>
            <a:ext cx="2980944" cy="429768"/>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D8/E16: product / associate knowledge</a:t>
            </a:r>
            <a:endParaRPr lang="en-US" sz="1300" dirty="0">
              <a:solidFill>
                <a:schemeClr val="bg1"/>
              </a:solidFill>
            </a:endParaRPr>
          </a:p>
        </p:txBody>
      </p:sp>
      <p:sp>
        <p:nvSpPr>
          <p:cNvPr id="85" name="Shape 0">
            <a:extLst>
              <a:ext uri="{FF2B5EF4-FFF2-40B4-BE49-F238E27FC236}">
                <a16:creationId xmlns:a16="http://schemas.microsoft.com/office/drawing/2014/main" id="{C1AD2E18-F839-D782-18CD-75DDB738EAE6}"/>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86" name="Shape 0">
            <a:extLst>
              <a:ext uri="{FF2B5EF4-FFF2-40B4-BE49-F238E27FC236}">
                <a16:creationId xmlns:a16="http://schemas.microsoft.com/office/drawing/2014/main" id="{B11C4852-8FCC-47FD-7786-FAB33FF906FA}"/>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87" name="Shape 0">
            <a:extLst>
              <a:ext uri="{FF2B5EF4-FFF2-40B4-BE49-F238E27FC236}">
                <a16:creationId xmlns:a16="http://schemas.microsoft.com/office/drawing/2014/main" id="{E14C69AB-0706-1BFD-2526-CFA526FD571A}"/>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88" name="Shape 0">
            <a:extLst>
              <a:ext uri="{FF2B5EF4-FFF2-40B4-BE49-F238E27FC236}">
                <a16:creationId xmlns:a16="http://schemas.microsoft.com/office/drawing/2014/main" id="{F1233276-7ED9-55C2-11F9-AC2E766FD2C7}"/>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89" name="Rectangle 88">
            <a:extLst>
              <a:ext uri="{FF2B5EF4-FFF2-40B4-BE49-F238E27FC236}">
                <a16:creationId xmlns:a16="http://schemas.microsoft.com/office/drawing/2014/main" id="{3C336F65-9AAB-7EFC-2D28-2079D4B5179F}"/>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90" name="Text 1">
            <a:extLst>
              <a:ext uri="{FF2B5EF4-FFF2-40B4-BE49-F238E27FC236}">
                <a16:creationId xmlns:a16="http://schemas.microsoft.com/office/drawing/2014/main" id="{88398A3E-ED68-EAE6-B169-E203F0EF20AD}"/>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91" name="Text 11">
            <a:extLst>
              <a:ext uri="{FF2B5EF4-FFF2-40B4-BE49-F238E27FC236}">
                <a16:creationId xmlns:a16="http://schemas.microsoft.com/office/drawing/2014/main" id="{1F102E9C-C5A3-8BC7-5398-9BEABF65354D}"/>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13</a:t>
            </a:r>
            <a:endParaRPr lang="en-US" sz="92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Image 0" descr="/mnt/data/atmos_exec_v3/assets/cover.png">
            <a:extLst>
              <a:ext uri="{FF2B5EF4-FFF2-40B4-BE49-F238E27FC236}">
                <a16:creationId xmlns:a16="http://schemas.microsoft.com/office/drawing/2014/main" id="{49696095-4B1C-C77E-F1CD-C457E8A8673E}"/>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chemeClr val="bg1"/>
                </a:solidFill>
                <a:latin typeface="Arial" pitchFamily="34" charset="0"/>
                <a:ea typeface="Arial" pitchFamily="34" charset="-122"/>
                <a:cs typeface="Arial" pitchFamily="34" charset="-120"/>
              </a:rPr>
              <a:t>ATMOS  /  BACKUP / COMPLETE MARKET PRIORITIZATION</a:t>
            </a:r>
            <a:endParaRPr lang="en-US" sz="1030" dirty="0">
              <a:solidFill>
                <a:schemeClr val="bg1"/>
              </a:solidFill>
            </a:endParaRPr>
          </a:p>
        </p:txBody>
      </p:sp>
      <p:sp>
        <p:nvSpPr>
          <p:cNvPr id="5" name="Text 3"/>
          <p:cNvSpPr/>
          <p:nvPr/>
        </p:nvSpPr>
        <p:spPr>
          <a:xfrm>
            <a:off x="475488" y="804672"/>
            <a:ext cx="11247120" cy="694944"/>
          </a:xfrm>
          <a:prstGeom prst="rect">
            <a:avLst/>
          </a:prstGeom>
          <a:noFill/>
          <a:ln/>
        </p:spPr>
        <p:txBody>
          <a:bodyPr wrap="square" lIns="0" tIns="0" rIns="0" bIns="0" rtlCol="0" anchor="ctr">
            <a:normAutofit fontScale="92500"/>
          </a:bodyPr>
          <a:lstStyle/>
          <a:p>
            <a:pPr marL="0" indent="0">
              <a:buNone/>
            </a:pPr>
            <a:r>
              <a:rPr lang="en-US" sz="2900" b="1" dirty="0">
                <a:solidFill>
                  <a:schemeClr val="bg1"/>
                </a:solidFill>
                <a:latin typeface="Arial" pitchFamily="34" charset="0"/>
                <a:ea typeface="Arial" pitchFamily="34" charset="-122"/>
                <a:cs typeface="Arial" pitchFamily="34" charset="-120"/>
              </a:rPr>
              <a:t>Sixteen market packs, ranked by near-term proof and delivery fit.</a:t>
            </a:r>
            <a:endParaRPr lang="en-US" sz="2900" dirty="0">
              <a:solidFill>
                <a:schemeClr val="bg1"/>
              </a:solidFill>
            </a:endParaRPr>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chemeClr val="bg1"/>
                </a:solidFill>
                <a:latin typeface="Arial" pitchFamily="34" charset="0"/>
                <a:ea typeface="Arial" pitchFamily="34" charset="-122"/>
                <a:cs typeface="Arial" pitchFamily="34" charset="-120"/>
              </a:rPr>
              <a:t>Qualitative program prioritization—not market-size estimates, measured ROI or promised payback.</a:t>
            </a:r>
            <a:endParaRPr lang="en-US" sz="1400" dirty="0">
              <a:solidFill>
                <a:schemeClr val="bg1"/>
              </a:solidFill>
            </a:endParaRPr>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solidFill>
                <a:schemeClr val="bg1"/>
              </a:solidFill>
            </a:endParaRPr>
          </a:p>
        </p:txBody>
      </p:sp>
      <p:sp>
        <p:nvSpPr>
          <p:cNvPr id="12" name="Shape 10"/>
          <p:cNvSpPr/>
          <p:nvPr/>
        </p:nvSpPr>
        <p:spPr>
          <a:xfrm>
            <a:off x="594360" y="2029968"/>
            <a:ext cx="5413248" cy="374904"/>
          </a:xfrm>
          <a:prstGeom prst="rect">
            <a:avLst/>
          </a:prstGeom>
          <a:solidFill>
            <a:srgbClr val="C00000"/>
          </a:solidFill>
          <a:ln w="8255">
            <a:solidFill>
              <a:srgbClr val="FDECEF"/>
            </a:solidFill>
            <a:prstDash val="solid"/>
          </a:ln>
        </p:spPr>
        <p:txBody>
          <a:bodyPr/>
          <a:lstStyle/>
          <a:p>
            <a:endParaRPr lang="en-US">
              <a:solidFill>
                <a:schemeClr val="bg1"/>
              </a:solidFill>
            </a:endParaRPr>
          </a:p>
        </p:txBody>
      </p:sp>
      <p:sp>
        <p:nvSpPr>
          <p:cNvPr id="13" name="Text 11"/>
          <p:cNvSpPr/>
          <p:nvPr/>
        </p:nvSpPr>
        <p:spPr>
          <a:xfrm>
            <a:off x="704088" y="2066544"/>
            <a:ext cx="5166360" cy="292608"/>
          </a:xfrm>
          <a:prstGeom prst="rect">
            <a:avLst/>
          </a:prstGeom>
          <a:solidFill>
            <a:srgbClr val="C00000"/>
          </a:solidFill>
          <a:ln/>
        </p:spPr>
        <p:txBody>
          <a:bodyPr wrap="square" lIns="0" tIns="0" rIns="0" bIns="0" rtlCol="0" anchor="ctr">
            <a:normAutofit/>
          </a:bodyPr>
          <a:lstStyle/>
          <a:p>
            <a:pPr marL="0" indent="0">
              <a:buNone/>
            </a:pPr>
            <a:r>
              <a:rPr lang="en-US" sz="1600" b="1" dirty="0">
                <a:solidFill>
                  <a:schemeClr val="bg1"/>
                </a:solidFill>
                <a:latin typeface="Arial" pitchFamily="34" charset="0"/>
                <a:ea typeface="Arial" pitchFamily="34" charset="-122"/>
                <a:cs typeface="Arial" pitchFamily="34" charset="-120"/>
              </a:rPr>
              <a:t>01 Finance / insurance</a:t>
            </a:r>
            <a:endParaRPr lang="en-US" sz="1600" dirty="0">
              <a:solidFill>
                <a:schemeClr val="bg1"/>
              </a:solidFill>
            </a:endParaRPr>
          </a:p>
        </p:txBody>
      </p:sp>
      <p:sp>
        <p:nvSpPr>
          <p:cNvPr id="14" name="Shape 12"/>
          <p:cNvSpPr/>
          <p:nvPr/>
        </p:nvSpPr>
        <p:spPr>
          <a:xfrm>
            <a:off x="594360" y="2478024"/>
            <a:ext cx="5413248" cy="374904"/>
          </a:xfrm>
          <a:prstGeom prst="rect">
            <a:avLst/>
          </a:prstGeom>
          <a:solidFill>
            <a:srgbClr val="C00000"/>
          </a:solidFill>
          <a:ln w="8255">
            <a:solidFill>
              <a:srgbClr val="FDECEF"/>
            </a:solidFill>
            <a:prstDash val="solid"/>
          </a:ln>
        </p:spPr>
        <p:txBody>
          <a:bodyPr/>
          <a:lstStyle/>
          <a:p>
            <a:endParaRPr lang="en-US">
              <a:solidFill>
                <a:schemeClr val="bg1"/>
              </a:solidFill>
            </a:endParaRPr>
          </a:p>
        </p:txBody>
      </p:sp>
      <p:sp>
        <p:nvSpPr>
          <p:cNvPr id="15" name="Text 13"/>
          <p:cNvSpPr/>
          <p:nvPr/>
        </p:nvSpPr>
        <p:spPr>
          <a:xfrm>
            <a:off x="704088" y="2514600"/>
            <a:ext cx="5166360" cy="292608"/>
          </a:xfrm>
          <a:prstGeom prst="rect">
            <a:avLst/>
          </a:prstGeom>
          <a:solidFill>
            <a:srgbClr val="C00000"/>
          </a:solidFill>
          <a:ln/>
        </p:spPr>
        <p:txBody>
          <a:bodyPr wrap="square" lIns="0" tIns="0" rIns="0" bIns="0" rtlCol="0" anchor="ctr">
            <a:normAutofit/>
          </a:bodyPr>
          <a:lstStyle/>
          <a:p>
            <a:pPr marL="0" indent="0">
              <a:buNone/>
            </a:pPr>
            <a:r>
              <a:rPr lang="en-US" sz="1600" b="1" dirty="0">
                <a:solidFill>
                  <a:schemeClr val="bg1"/>
                </a:solidFill>
                <a:latin typeface="Arial" pitchFamily="34" charset="0"/>
                <a:ea typeface="Arial" pitchFamily="34" charset="-122"/>
                <a:cs typeface="Arial" pitchFamily="34" charset="-120"/>
              </a:rPr>
              <a:t>02 Manufacturing</a:t>
            </a:r>
            <a:endParaRPr lang="en-US" sz="1600" dirty="0">
              <a:solidFill>
                <a:schemeClr val="bg1"/>
              </a:solidFill>
            </a:endParaRPr>
          </a:p>
        </p:txBody>
      </p:sp>
      <p:sp>
        <p:nvSpPr>
          <p:cNvPr id="16" name="Shape 14"/>
          <p:cNvSpPr/>
          <p:nvPr/>
        </p:nvSpPr>
        <p:spPr>
          <a:xfrm>
            <a:off x="594360" y="2926080"/>
            <a:ext cx="5413248" cy="374904"/>
          </a:xfrm>
          <a:prstGeom prst="rect">
            <a:avLst/>
          </a:prstGeom>
          <a:solidFill>
            <a:srgbClr val="C00000"/>
          </a:solidFill>
          <a:ln w="8255">
            <a:solidFill>
              <a:srgbClr val="FDECEF"/>
            </a:solidFill>
            <a:prstDash val="solid"/>
          </a:ln>
        </p:spPr>
        <p:txBody>
          <a:bodyPr/>
          <a:lstStyle/>
          <a:p>
            <a:endParaRPr lang="en-US">
              <a:solidFill>
                <a:schemeClr val="bg1"/>
              </a:solidFill>
            </a:endParaRPr>
          </a:p>
        </p:txBody>
      </p:sp>
      <p:sp>
        <p:nvSpPr>
          <p:cNvPr id="17" name="Text 15"/>
          <p:cNvSpPr/>
          <p:nvPr/>
        </p:nvSpPr>
        <p:spPr>
          <a:xfrm>
            <a:off x="704088" y="2962656"/>
            <a:ext cx="5166360" cy="292608"/>
          </a:xfrm>
          <a:prstGeom prst="rect">
            <a:avLst/>
          </a:prstGeom>
          <a:solidFill>
            <a:srgbClr val="C00000"/>
          </a:solidFill>
          <a:ln/>
        </p:spPr>
        <p:txBody>
          <a:bodyPr wrap="square" lIns="0" tIns="0" rIns="0" bIns="0" rtlCol="0" anchor="ctr">
            <a:normAutofit/>
          </a:bodyPr>
          <a:lstStyle/>
          <a:p>
            <a:pPr marL="0" indent="0">
              <a:buNone/>
            </a:pPr>
            <a:r>
              <a:rPr lang="en-US" sz="1600" b="1" dirty="0">
                <a:solidFill>
                  <a:schemeClr val="bg1"/>
                </a:solidFill>
                <a:latin typeface="Arial" pitchFamily="34" charset="0"/>
                <a:ea typeface="Arial" pitchFamily="34" charset="-122"/>
                <a:cs typeface="Arial" pitchFamily="34" charset="-120"/>
              </a:rPr>
              <a:t>03 Energy / utilities</a:t>
            </a:r>
            <a:endParaRPr lang="en-US" sz="1600" dirty="0">
              <a:solidFill>
                <a:schemeClr val="bg1"/>
              </a:solidFill>
            </a:endParaRPr>
          </a:p>
        </p:txBody>
      </p:sp>
      <p:sp>
        <p:nvSpPr>
          <p:cNvPr id="18" name="Shape 16"/>
          <p:cNvSpPr/>
          <p:nvPr/>
        </p:nvSpPr>
        <p:spPr>
          <a:xfrm>
            <a:off x="594360" y="3374136"/>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19" name="Text 17"/>
          <p:cNvSpPr/>
          <p:nvPr/>
        </p:nvSpPr>
        <p:spPr>
          <a:xfrm>
            <a:off x="704088" y="3410712"/>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04 Legal / professional</a:t>
            </a:r>
            <a:endParaRPr lang="en-US" sz="1600" dirty="0">
              <a:solidFill>
                <a:schemeClr val="bg1"/>
              </a:solidFill>
            </a:endParaRPr>
          </a:p>
        </p:txBody>
      </p:sp>
      <p:sp>
        <p:nvSpPr>
          <p:cNvPr id="20" name="Shape 18"/>
          <p:cNvSpPr/>
          <p:nvPr/>
        </p:nvSpPr>
        <p:spPr>
          <a:xfrm>
            <a:off x="594360" y="3822192"/>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21" name="Text 19"/>
          <p:cNvSpPr/>
          <p:nvPr/>
        </p:nvSpPr>
        <p:spPr>
          <a:xfrm>
            <a:off x="704088" y="3858768"/>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05 Government / sovereign</a:t>
            </a:r>
            <a:endParaRPr lang="en-US" sz="1600" dirty="0">
              <a:solidFill>
                <a:schemeClr val="bg1"/>
              </a:solidFill>
            </a:endParaRPr>
          </a:p>
        </p:txBody>
      </p:sp>
      <p:sp>
        <p:nvSpPr>
          <p:cNvPr id="22" name="Shape 20"/>
          <p:cNvSpPr/>
          <p:nvPr/>
        </p:nvSpPr>
        <p:spPr>
          <a:xfrm>
            <a:off x="594360" y="4270248"/>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23" name="Text 21"/>
          <p:cNvSpPr/>
          <p:nvPr/>
        </p:nvSpPr>
        <p:spPr>
          <a:xfrm>
            <a:off x="704088" y="4306824"/>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06 Telecommunications</a:t>
            </a:r>
            <a:endParaRPr lang="en-US" sz="1600" dirty="0">
              <a:solidFill>
                <a:schemeClr val="bg1"/>
              </a:solidFill>
            </a:endParaRPr>
          </a:p>
        </p:txBody>
      </p:sp>
      <p:sp>
        <p:nvSpPr>
          <p:cNvPr id="24" name="Shape 22"/>
          <p:cNvSpPr/>
          <p:nvPr/>
        </p:nvSpPr>
        <p:spPr>
          <a:xfrm>
            <a:off x="594360" y="4718304"/>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25" name="Text 23"/>
          <p:cNvSpPr/>
          <p:nvPr/>
        </p:nvSpPr>
        <p:spPr>
          <a:xfrm>
            <a:off x="704088" y="4754880"/>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07 Retail</a:t>
            </a:r>
            <a:endParaRPr lang="en-US" sz="1600" dirty="0">
              <a:solidFill>
                <a:schemeClr val="bg1"/>
              </a:solidFill>
            </a:endParaRPr>
          </a:p>
        </p:txBody>
      </p:sp>
      <p:sp>
        <p:nvSpPr>
          <p:cNvPr id="26" name="Shape 24"/>
          <p:cNvSpPr/>
          <p:nvPr/>
        </p:nvSpPr>
        <p:spPr>
          <a:xfrm>
            <a:off x="594360" y="5166360"/>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27" name="Text 25"/>
          <p:cNvSpPr/>
          <p:nvPr/>
        </p:nvSpPr>
        <p:spPr>
          <a:xfrm>
            <a:off x="704088" y="5202936"/>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08 Higher education</a:t>
            </a:r>
            <a:endParaRPr lang="en-US" sz="1600" dirty="0">
              <a:solidFill>
                <a:schemeClr val="bg1"/>
              </a:solidFill>
            </a:endParaRPr>
          </a:p>
        </p:txBody>
      </p:sp>
      <p:sp>
        <p:nvSpPr>
          <p:cNvPr id="28" name="Shape 26"/>
          <p:cNvSpPr/>
          <p:nvPr/>
        </p:nvSpPr>
        <p:spPr>
          <a:xfrm>
            <a:off x="6336792" y="2029968"/>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29" name="Text 27"/>
          <p:cNvSpPr/>
          <p:nvPr/>
        </p:nvSpPr>
        <p:spPr>
          <a:xfrm>
            <a:off x="6446520" y="2066544"/>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09 Healthcare knowledge</a:t>
            </a:r>
            <a:endParaRPr lang="en-US" sz="1600" dirty="0">
              <a:solidFill>
                <a:schemeClr val="bg1"/>
              </a:solidFill>
            </a:endParaRPr>
          </a:p>
        </p:txBody>
      </p:sp>
      <p:sp>
        <p:nvSpPr>
          <p:cNvPr id="30" name="Shape 28"/>
          <p:cNvSpPr/>
          <p:nvPr/>
        </p:nvSpPr>
        <p:spPr>
          <a:xfrm>
            <a:off x="6336792" y="2478024"/>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31" name="Text 29"/>
          <p:cNvSpPr/>
          <p:nvPr/>
        </p:nvSpPr>
        <p:spPr>
          <a:xfrm>
            <a:off x="6446520" y="2514600"/>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10 Oil / gas / mining</a:t>
            </a:r>
            <a:endParaRPr lang="en-US" sz="1600" dirty="0">
              <a:solidFill>
                <a:schemeClr val="bg1"/>
              </a:solidFill>
            </a:endParaRPr>
          </a:p>
        </p:txBody>
      </p:sp>
      <p:sp>
        <p:nvSpPr>
          <p:cNvPr id="32" name="Shape 30"/>
          <p:cNvSpPr/>
          <p:nvPr/>
        </p:nvSpPr>
        <p:spPr>
          <a:xfrm>
            <a:off x="6336792" y="2926080"/>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33" name="Text 31"/>
          <p:cNvSpPr/>
          <p:nvPr/>
        </p:nvSpPr>
        <p:spPr>
          <a:xfrm>
            <a:off x="6446520" y="2962656"/>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11 Geospatial / defense</a:t>
            </a:r>
            <a:endParaRPr lang="en-US" sz="1600" dirty="0">
              <a:solidFill>
                <a:schemeClr val="bg1"/>
              </a:solidFill>
            </a:endParaRPr>
          </a:p>
        </p:txBody>
      </p:sp>
      <p:sp>
        <p:nvSpPr>
          <p:cNvPr id="34" name="Shape 32"/>
          <p:cNvSpPr/>
          <p:nvPr/>
        </p:nvSpPr>
        <p:spPr>
          <a:xfrm>
            <a:off x="6336792" y="3374136"/>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35" name="Text 33"/>
          <p:cNvSpPr/>
          <p:nvPr/>
        </p:nvSpPr>
        <p:spPr>
          <a:xfrm>
            <a:off x="6446520" y="3410712"/>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12 Media / entertainment</a:t>
            </a:r>
            <a:endParaRPr lang="en-US" sz="1600" dirty="0">
              <a:solidFill>
                <a:schemeClr val="bg1"/>
              </a:solidFill>
            </a:endParaRPr>
          </a:p>
        </p:txBody>
      </p:sp>
      <p:sp>
        <p:nvSpPr>
          <p:cNvPr id="36" name="Shape 34"/>
          <p:cNvSpPr/>
          <p:nvPr/>
        </p:nvSpPr>
        <p:spPr>
          <a:xfrm>
            <a:off x="6336792" y="3822192"/>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37" name="Text 35"/>
          <p:cNvSpPr/>
          <p:nvPr/>
        </p:nvSpPr>
        <p:spPr>
          <a:xfrm>
            <a:off x="6446520" y="3858768"/>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13 Automotive</a:t>
            </a:r>
            <a:endParaRPr lang="en-US" sz="1600" dirty="0">
              <a:solidFill>
                <a:schemeClr val="bg1"/>
              </a:solidFill>
            </a:endParaRPr>
          </a:p>
        </p:txBody>
      </p:sp>
      <p:sp>
        <p:nvSpPr>
          <p:cNvPr id="38" name="Shape 36"/>
          <p:cNvSpPr/>
          <p:nvPr/>
        </p:nvSpPr>
        <p:spPr>
          <a:xfrm>
            <a:off x="6336792" y="4270248"/>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39" name="Text 37"/>
          <p:cNvSpPr/>
          <p:nvPr/>
        </p:nvSpPr>
        <p:spPr>
          <a:xfrm>
            <a:off x="6446520" y="4306824"/>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14 Architecture / engineering</a:t>
            </a:r>
            <a:endParaRPr lang="en-US" sz="1600" dirty="0">
              <a:solidFill>
                <a:schemeClr val="bg1"/>
              </a:solidFill>
            </a:endParaRPr>
          </a:p>
        </p:txBody>
      </p:sp>
      <p:sp>
        <p:nvSpPr>
          <p:cNvPr id="40" name="Shape 38"/>
          <p:cNvSpPr/>
          <p:nvPr/>
        </p:nvSpPr>
        <p:spPr>
          <a:xfrm>
            <a:off x="6336792" y="4718304"/>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41" name="Text 39"/>
          <p:cNvSpPr/>
          <p:nvPr/>
        </p:nvSpPr>
        <p:spPr>
          <a:xfrm>
            <a:off x="6446520" y="4754880"/>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15 Semiconductor</a:t>
            </a:r>
            <a:endParaRPr lang="en-US" sz="1600" dirty="0">
              <a:solidFill>
                <a:schemeClr val="bg1"/>
              </a:solidFill>
            </a:endParaRPr>
          </a:p>
        </p:txBody>
      </p:sp>
      <p:sp>
        <p:nvSpPr>
          <p:cNvPr id="42" name="Shape 40"/>
          <p:cNvSpPr/>
          <p:nvPr/>
        </p:nvSpPr>
        <p:spPr>
          <a:xfrm>
            <a:off x="6336792" y="5166360"/>
            <a:ext cx="5413248" cy="374904"/>
          </a:xfrm>
          <a:prstGeom prst="rect">
            <a:avLst/>
          </a:prstGeom>
          <a:solidFill>
            <a:srgbClr val="C00000"/>
          </a:solidFill>
          <a:ln w="8255">
            <a:solidFill>
              <a:srgbClr val="F3F4F6"/>
            </a:solidFill>
            <a:prstDash val="solid"/>
          </a:ln>
        </p:spPr>
        <p:txBody>
          <a:bodyPr/>
          <a:lstStyle/>
          <a:p>
            <a:endParaRPr lang="en-US">
              <a:solidFill>
                <a:schemeClr val="bg1"/>
              </a:solidFill>
            </a:endParaRPr>
          </a:p>
        </p:txBody>
      </p:sp>
      <p:sp>
        <p:nvSpPr>
          <p:cNvPr id="43" name="Text 41"/>
          <p:cNvSpPr/>
          <p:nvPr/>
        </p:nvSpPr>
        <p:spPr>
          <a:xfrm>
            <a:off x="6446520" y="5202936"/>
            <a:ext cx="5166360" cy="292608"/>
          </a:xfrm>
          <a:prstGeom prst="rect">
            <a:avLst/>
          </a:prstGeom>
          <a:solidFill>
            <a:srgbClr val="C00000"/>
          </a:solidFill>
          <a:ln/>
        </p:spPr>
        <p:txBody>
          <a:bodyPr wrap="square" lIns="0" tIns="0" rIns="0" bIns="0" rtlCol="0" anchor="ctr">
            <a:normAutofit/>
          </a:bodyPr>
          <a:lstStyle/>
          <a:p>
            <a:pPr marL="0" indent="0">
              <a:buNone/>
            </a:pPr>
            <a:r>
              <a:rPr lang="en-US" sz="1600" dirty="0">
                <a:solidFill>
                  <a:schemeClr val="bg1"/>
                </a:solidFill>
                <a:latin typeface="Arial" pitchFamily="34" charset="0"/>
                <a:ea typeface="Arial" pitchFamily="34" charset="-122"/>
                <a:cs typeface="Arial" pitchFamily="34" charset="-120"/>
              </a:rPr>
              <a:t>16 Robotics</a:t>
            </a:r>
            <a:endParaRPr lang="en-US" sz="1600" dirty="0">
              <a:solidFill>
                <a:schemeClr val="bg1"/>
              </a:solidFill>
            </a:endParaRPr>
          </a:p>
        </p:txBody>
      </p:sp>
      <p:sp>
        <p:nvSpPr>
          <p:cNvPr id="44" name="Shape 42"/>
          <p:cNvSpPr/>
          <p:nvPr/>
        </p:nvSpPr>
        <p:spPr>
          <a:xfrm>
            <a:off x="502920" y="5806440"/>
            <a:ext cx="11183112" cy="310896"/>
          </a:xfrm>
          <a:prstGeom prst="rect">
            <a:avLst/>
          </a:prstGeom>
          <a:solidFill>
            <a:srgbClr val="C00000"/>
          </a:solidFill>
          <a:ln w="8255">
            <a:solidFill>
              <a:srgbClr val="FDECEF"/>
            </a:solidFill>
            <a:prstDash val="solid"/>
          </a:ln>
        </p:spPr>
        <p:txBody>
          <a:bodyPr/>
          <a:lstStyle/>
          <a:p>
            <a:endParaRPr lang="en-US">
              <a:solidFill>
                <a:schemeClr val="bg1"/>
              </a:solidFill>
            </a:endParaRPr>
          </a:p>
        </p:txBody>
      </p:sp>
      <p:sp>
        <p:nvSpPr>
          <p:cNvPr id="45" name="Text 43"/>
          <p:cNvSpPr/>
          <p:nvPr/>
        </p:nvSpPr>
        <p:spPr>
          <a:xfrm>
            <a:off x="640080" y="5838444"/>
            <a:ext cx="10917936" cy="242316"/>
          </a:xfrm>
          <a:prstGeom prst="rect">
            <a:avLst/>
          </a:prstGeom>
          <a:solidFill>
            <a:srgbClr val="C00000"/>
          </a:solidFill>
          <a:ln/>
        </p:spPr>
        <p:txBody>
          <a:bodyPr wrap="square" lIns="0" tIns="0" rIns="0" bIns="0" rtlCol="0" anchor="ctr">
            <a:normAutofit/>
          </a:bodyPr>
          <a:lstStyle/>
          <a:p>
            <a:pPr marL="0" indent="0">
              <a:buNone/>
            </a:pPr>
            <a:r>
              <a:rPr lang="en-US" sz="1200" b="1" dirty="0">
                <a:solidFill>
                  <a:schemeClr val="bg1"/>
                </a:solidFill>
                <a:latin typeface="Arial" pitchFamily="34" charset="0"/>
                <a:ea typeface="Arial" pitchFamily="34" charset="-122"/>
                <a:cs typeface="Arial" pitchFamily="34" charset="-120"/>
              </a:rPr>
              <a:t>Keep scope on documents, retrieval, features and approved inference—not training, rendering, trading or machine control.</a:t>
            </a:r>
            <a:endParaRPr lang="en-US" sz="1200" dirty="0">
              <a:solidFill>
                <a:schemeClr val="bg1"/>
              </a:solidFill>
            </a:endParaRPr>
          </a:p>
        </p:txBody>
      </p:sp>
      <p:sp>
        <p:nvSpPr>
          <p:cNvPr id="47" name="Shape 0">
            <a:extLst>
              <a:ext uri="{FF2B5EF4-FFF2-40B4-BE49-F238E27FC236}">
                <a16:creationId xmlns:a16="http://schemas.microsoft.com/office/drawing/2014/main" id="{DC19AB46-786B-72F9-BFAE-D0982C36AB2E}"/>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48" name="Shape 0">
            <a:extLst>
              <a:ext uri="{FF2B5EF4-FFF2-40B4-BE49-F238E27FC236}">
                <a16:creationId xmlns:a16="http://schemas.microsoft.com/office/drawing/2014/main" id="{7E51535A-3094-7854-083E-CD83CCF094FE}"/>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49" name="Shape 0">
            <a:extLst>
              <a:ext uri="{FF2B5EF4-FFF2-40B4-BE49-F238E27FC236}">
                <a16:creationId xmlns:a16="http://schemas.microsoft.com/office/drawing/2014/main" id="{24D074C0-1794-3243-A9C6-3697864D793C}"/>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50" name="Shape 0">
            <a:extLst>
              <a:ext uri="{FF2B5EF4-FFF2-40B4-BE49-F238E27FC236}">
                <a16:creationId xmlns:a16="http://schemas.microsoft.com/office/drawing/2014/main" id="{DD47775C-26DE-A455-0F81-02361FCA1690}"/>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51" name="Rectangle 50">
            <a:extLst>
              <a:ext uri="{FF2B5EF4-FFF2-40B4-BE49-F238E27FC236}">
                <a16:creationId xmlns:a16="http://schemas.microsoft.com/office/drawing/2014/main" id="{4F195456-B0B6-BD7E-159A-5DC7EE1B47B9}"/>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52" name="Text 1">
            <a:extLst>
              <a:ext uri="{FF2B5EF4-FFF2-40B4-BE49-F238E27FC236}">
                <a16:creationId xmlns:a16="http://schemas.microsoft.com/office/drawing/2014/main" id="{D09A4B98-0E8B-DC9A-81AD-27906FB450C1}"/>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53" name="Text 11">
            <a:extLst>
              <a:ext uri="{FF2B5EF4-FFF2-40B4-BE49-F238E27FC236}">
                <a16:creationId xmlns:a16="http://schemas.microsoft.com/office/drawing/2014/main" id="{5F4A22D3-A98E-2C0F-5004-C64D1B166F10}"/>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14</a:t>
            </a:r>
            <a:endParaRPr lang="en-US" sz="92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Image 0" descr="/mnt/data/atmos_exec_v3/assets/cover.png">
            <a:extLst>
              <a:ext uri="{FF2B5EF4-FFF2-40B4-BE49-F238E27FC236}">
                <a16:creationId xmlns:a16="http://schemas.microsoft.com/office/drawing/2014/main" id="{ADAF53C9-A87E-F3FF-0579-F3ACC1A3275C}"/>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 name="Shape 0"/>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4" name="Text 2"/>
          <p:cNvSpPr/>
          <p:nvPr/>
        </p:nvSpPr>
        <p:spPr>
          <a:xfrm>
            <a:off x="7772400" y="265176"/>
            <a:ext cx="3931920" cy="228600"/>
          </a:xfrm>
          <a:prstGeom prst="rect">
            <a:avLst/>
          </a:prstGeom>
          <a:noFill/>
          <a:ln/>
        </p:spPr>
        <p:txBody>
          <a:bodyPr wrap="square" lIns="0" tIns="0" rIns="0" bIns="0" rtlCol="0" anchor="ctr">
            <a:normAutofit/>
          </a:bodyPr>
          <a:lstStyle/>
          <a:p>
            <a:pPr marL="0" indent="0" algn="r">
              <a:buNone/>
            </a:pPr>
            <a:r>
              <a:rPr lang="en-US" sz="1030" dirty="0">
                <a:solidFill>
                  <a:schemeClr val="bg1"/>
                </a:solidFill>
                <a:latin typeface="Arial" pitchFamily="34" charset="0"/>
                <a:ea typeface="Arial" pitchFamily="34" charset="-122"/>
                <a:cs typeface="Arial" pitchFamily="34" charset="-120"/>
              </a:rPr>
              <a:t>MARKET PRIORITIZATION</a:t>
            </a:r>
            <a:endParaRPr lang="en-US" sz="1030" dirty="0">
              <a:solidFill>
                <a:schemeClr val="bg1"/>
              </a:solidFill>
            </a:endParaRPr>
          </a:p>
        </p:txBody>
      </p:sp>
      <p:sp>
        <p:nvSpPr>
          <p:cNvPr id="5" name="Text 3"/>
          <p:cNvSpPr/>
          <p:nvPr/>
        </p:nvSpPr>
        <p:spPr>
          <a:xfrm>
            <a:off x="475488" y="804672"/>
            <a:ext cx="11247120" cy="694944"/>
          </a:xfrm>
          <a:prstGeom prst="rect">
            <a:avLst/>
          </a:prstGeom>
          <a:noFill/>
          <a:ln/>
        </p:spPr>
        <p:txBody>
          <a:bodyPr wrap="square" lIns="0" tIns="0" rIns="0" bIns="0" rtlCol="0" anchor="ctr">
            <a:normAutofit/>
          </a:bodyPr>
          <a:lstStyle/>
          <a:p>
            <a:pPr marL="0" indent="0">
              <a:buNone/>
            </a:pPr>
            <a:r>
              <a:rPr lang="en-US" sz="2900" b="1" dirty="0">
                <a:solidFill>
                  <a:schemeClr val="bg1"/>
                </a:solidFill>
                <a:latin typeface="Arial" pitchFamily="34" charset="0"/>
                <a:ea typeface="Arial" pitchFamily="34" charset="-122"/>
                <a:cs typeface="Arial" pitchFamily="34" charset="-120"/>
              </a:rPr>
              <a:t>Launch a repeatable workflow—not sixteen vertical products.</a:t>
            </a:r>
            <a:endParaRPr lang="en-US" sz="2900" dirty="0">
              <a:solidFill>
                <a:schemeClr val="bg1"/>
              </a:solidFill>
            </a:endParaRPr>
          </a:p>
        </p:txBody>
      </p:sp>
      <p:sp>
        <p:nvSpPr>
          <p:cNvPr id="6" name="Text 4"/>
          <p:cNvSpPr/>
          <p:nvPr/>
        </p:nvSpPr>
        <p:spPr>
          <a:xfrm>
            <a:off x="502920" y="1499616"/>
            <a:ext cx="11109960" cy="384048"/>
          </a:xfrm>
          <a:prstGeom prst="rect">
            <a:avLst/>
          </a:prstGeom>
          <a:noFill/>
          <a:ln/>
        </p:spPr>
        <p:txBody>
          <a:bodyPr wrap="square" lIns="0" tIns="0" rIns="0" bIns="0" rtlCol="0" anchor="ctr">
            <a:normAutofit/>
          </a:bodyPr>
          <a:lstStyle/>
          <a:p>
            <a:pPr marL="0" indent="0">
              <a:buNone/>
            </a:pPr>
            <a:r>
              <a:rPr lang="en-US" sz="1400" dirty="0">
                <a:solidFill>
                  <a:schemeClr val="bg1"/>
                </a:solidFill>
                <a:latin typeface="Arial" pitchFamily="34" charset="0"/>
                <a:ea typeface="Arial" pitchFamily="34" charset="-122"/>
                <a:cs typeface="Arial" pitchFamily="34" charset="-120"/>
              </a:rPr>
              <a:t>Prioritize near-term proof of business value; reuse one governed Knowledge Agent platform.</a:t>
            </a:r>
            <a:endParaRPr lang="en-US" sz="1400" dirty="0">
              <a:solidFill>
                <a:schemeClr val="bg1"/>
              </a:solidFill>
            </a:endParaRPr>
          </a:p>
        </p:txBody>
      </p:sp>
      <p:sp>
        <p:nvSpPr>
          <p:cNvPr id="7" name="Shape 5"/>
          <p:cNvSpPr/>
          <p:nvPr/>
        </p:nvSpPr>
        <p:spPr>
          <a:xfrm>
            <a:off x="502920" y="6419088"/>
            <a:ext cx="11183112" cy="0"/>
          </a:xfrm>
          <a:prstGeom prst="line">
            <a:avLst/>
          </a:prstGeom>
          <a:noFill/>
          <a:ln w="10160">
            <a:solidFill>
              <a:srgbClr val="D8DBDF"/>
            </a:solidFill>
            <a:prstDash val="solid"/>
          </a:ln>
        </p:spPr>
        <p:txBody>
          <a:bodyPr/>
          <a:lstStyle/>
          <a:p>
            <a:endParaRPr lang="en-US"/>
          </a:p>
        </p:txBody>
      </p:sp>
      <p:sp>
        <p:nvSpPr>
          <p:cNvPr id="12" name="Shape 10"/>
          <p:cNvSpPr/>
          <p:nvPr/>
        </p:nvSpPr>
        <p:spPr>
          <a:xfrm>
            <a:off x="502920" y="2029968"/>
            <a:ext cx="3602736" cy="2404872"/>
          </a:xfrm>
          <a:prstGeom prst="rect">
            <a:avLst/>
          </a:prstGeom>
          <a:solidFill>
            <a:srgbClr val="C00000"/>
          </a:solidFill>
          <a:ln w="8255">
            <a:solidFill>
              <a:srgbClr val="F3F4F6"/>
            </a:solidFill>
            <a:prstDash val="solid"/>
          </a:ln>
        </p:spPr>
        <p:txBody>
          <a:bodyPr/>
          <a:lstStyle/>
          <a:p>
            <a:endParaRPr lang="en-US"/>
          </a:p>
        </p:txBody>
      </p:sp>
      <p:sp>
        <p:nvSpPr>
          <p:cNvPr id="13" name="Shape 11"/>
          <p:cNvSpPr/>
          <p:nvPr/>
        </p:nvSpPr>
        <p:spPr>
          <a:xfrm>
            <a:off x="502920" y="2029968"/>
            <a:ext cx="50292" cy="2404872"/>
          </a:xfrm>
          <a:prstGeom prst="rect">
            <a:avLst/>
          </a:prstGeom>
          <a:solidFill>
            <a:schemeClr val="bg1"/>
          </a:solidFill>
          <a:ln w="8255">
            <a:solidFill>
              <a:srgbClr val="E31837"/>
            </a:solidFill>
            <a:prstDash val="solid"/>
          </a:ln>
        </p:spPr>
        <p:txBody>
          <a:bodyPr/>
          <a:lstStyle/>
          <a:p>
            <a:endParaRPr lang="en-US"/>
          </a:p>
        </p:txBody>
      </p:sp>
      <p:sp>
        <p:nvSpPr>
          <p:cNvPr id="14" name="Text 12"/>
          <p:cNvSpPr/>
          <p:nvPr/>
        </p:nvSpPr>
        <p:spPr>
          <a:xfrm>
            <a:off x="685800" y="2176272"/>
            <a:ext cx="3236976" cy="429768"/>
          </a:xfrm>
          <a:prstGeom prst="rect">
            <a:avLst/>
          </a:prstGeom>
          <a:noFill/>
          <a:ln/>
        </p:spPr>
        <p:txBody>
          <a:bodyPr wrap="square" lIns="0" tIns="0" rIns="0" bIns="0" rtlCol="0" anchor="ctr">
            <a:normAutofit/>
          </a:bodyPr>
          <a:lstStyle/>
          <a:p>
            <a:pPr marL="0" indent="0">
              <a:buNone/>
            </a:pPr>
            <a:r>
              <a:rPr lang="en-US" sz="1500" b="1" dirty="0">
                <a:solidFill>
                  <a:schemeClr val="bg1"/>
                </a:solidFill>
                <a:latin typeface="Arial" pitchFamily="34" charset="0"/>
                <a:ea typeface="Arial" pitchFamily="34" charset="-122"/>
                <a:cs typeface="Arial" pitchFamily="34" charset="-120"/>
              </a:rPr>
              <a:t>01  FINANCE / INSURANCE</a:t>
            </a:r>
            <a:endParaRPr lang="en-US" sz="1500" dirty="0">
              <a:solidFill>
                <a:schemeClr val="bg1"/>
              </a:solidFill>
            </a:endParaRPr>
          </a:p>
        </p:txBody>
      </p:sp>
      <p:sp>
        <p:nvSpPr>
          <p:cNvPr id="15" name="Text 13"/>
          <p:cNvSpPr/>
          <p:nvPr/>
        </p:nvSpPr>
        <p:spPr>
          <a:xfrm>
            <a:off x="685800" y="2734056"/>
            <a:ext cx="3236976" cy="1545336"/>
          </a:xfrm>
          <a:prstGeom prst="rect">
            <a:avLst/>
          </a:prstGeom>
          <a:noFill/>
          <a:ln/>
        </p:spPr>
        <p:txBody>
          <a:bodyPr wrap="square" lIns="0" tIns="0" rIns="0" bIns="0" rtlCol="0" anchor="t">
            <a:normAutofit/>
          </a:bodyPr>
          <a:lstStyle/>
          <a:p>
            <a:pPr marL="0" indent="0">
              <a:buNone/>
            </a:pPr>
            <a:r>
              <a:rPr lang="en-US" sz="1400" dirty="0">
                <a:solidFill>
                  <a:schemeClr val="bg1"/>
                </a:solidFill>
                <a:latin typeface="Arial" pitchFamily="34" charset="0"/>
                <a:ea typeface="Arial" pitchFamily="34" charset="-122"/>
                <a:cs typeface="Arial" pitchFamily="34" charset="-120"/>
              </a:rPr>
              <a:t>Policy, KYC/AML evidence and claims-document assistance.</a:t>
            </a:r>
            <a:endParaRPr lang="en-US" sz="1400" dirty="0">
              <a:solidFill>
                <a:schemeClr val="bg1"/>
              </a:solidFill>
            </a:endParaRPr>
          </a:p>
          <a:p>
            <a:pPr marL="0" indent="0">
              <a:buNone/>
            </a:pPr>
            <a:endParaRPr lang="en-US" sz="1400" dirty="0">
              <a:solidFill>
                <a:schemeClr val="bg1"/>
              </a:solidFill>
            </a:endParaRPr>
          </a:p>
          <a:p>
            <a:pPr marL="0" indent="0">
              <a:buNone/>
            </a:pPr>
            <a:r>
              <a:rPr lang="en-US" sz="1400" dirty="0">
                <a:solidFill>
                  <a:schemeClr val="bg1"/>
                </a:solidFill>
                <a:latin typeface="Arial" pitchFamily="34" charset="0"/>
                <a:ea typeface="Arial" pitchFamily="34" charset="-122"/>
                <a:cs typeface="Arial" pitchFamily="34" charset="-120"/>
              </a:rPr>
              <a:t>Measure reviewer time, accepted fields and citation quality.</a:t>
            </a:r>
            <a:endParaRPr lang="en-US" sz="1400" dirty="0">
              <a:solidFill>
                <a:schemeClr val="bg1"/>
              </a:solidFill>
            </a:endParaRPr>
          </a:p>
        </p:txBody>
      </p:sp>
      <p:sp>
        <p:nvSpPr>
          <p:cNvPr id="16" name="Shape 14"/>
          <p:cNvSpPr/>
          <p:nvPr/>
        </p:nvSpPr>
        <p:spPr>
          <a:xfrm>
            <a:off x="4288536" y="2029968"/>
            <a:ext cx="3602736" cy="2404872"/>
          </a:xfrm>
          <a:prstGeom prst="rect">
            <a:avLst/>
          </a:prstGeom>
          <a:solidFill>
            <a:srgbClr val="C00000"/>
          </a:solidFill>
          <a:ln w="8255">
            <a:solidFill>
              <a:srgbClr val="F3F4F6"/>
            </a:solidFill>
            <a:prstDash val="solid"/>
          </a:ln>
        </p:spPr>
        <p:txBody>
          <a:bodyPr/>
          <a:lstStyle/>
          <a:p>
            <a:endParaRPr lang="en-US"/>
          </a:p>
        </p:txBody>
      </p:sp>
      <p:sp>
        <p:nvSpPr>
          <p:cNvPr id="17" name="Shape 15"/>
          <p:cNvSpPr/>
          <p:nvPr/>
        </p:nvSpPr>
        <p:spPr>
          <a:xfrm>
            <a:off x="4288536" y="2029968"/>
            <a:ext cx="50292" cy="2404872"/>
          </a:xfrm>
          <a:prstGeom prst="rect">
            <a:avLst/>
          </a:prstGeom>
          <a:solidFill>
            <a:schemeClr val="bg1"/>
          </a:solidFill>
          <a:ln w="8255">
            <a:solidFill>
              <a:srgbClr val="E31837"/>
            </a:solidFill>
            <a:prstDash val="solid"/>
          </a:ln>
        </p:spPr>
        <p:txBody>
          <a:bodyPr/>
          <a:lstStyle/>
          <a:p>
            <a:endParaRPr lang="en-US"/>
          </a:p>
        </p:txBody>
      </p:sp>
      <p:sp>
        <p:nvSpPr>
          <p:cNvPr id="18" name="Text 16"/>
          <p:cNvSpPr/>
          <p:nvPr/>
        </p:nvSpPr>
        <p:spPr>
          <a:xfrm>
            <a:off x="4471416" y="2176272"/>
            <a:ext cx="3236976" cy="429768"/>
          </a:xfrm>
          <a:prstGeom prst="rect">
            <a:avLst/>
          </a:prstGeom>
          <a:noFill/>
          <a:ln/>
        </p:spPr>
        <p:txBody>
          <a:bodyPr wrap="square" lIns="0" tIns="0" rIns="0" bIns="0" rtlCol="0" anchor="ctr">
            <a:normAutofit/>
          </a:bodyPr>
          <a:lstStyle/>
          <a:p>
            <a:pPr marL="0" indent="0">
              <a:buNone/>
            </a:pPr>
            <a:r>
              <a:rPr lang="en-US" sz="1500" b="1" dirty="0">
                <a:solidFill>
                  <a:schemeClr val="bg1"/>
                </a:solidFill>
                <a:latin typeface="Arial" pitchFamily="34" charset="0"/>
                <a:ea typeface="Arial" pitchFamily="34" charset="-122"/>
                <a:cs typeface="Arial" pitchFamily="34" charset="-120"/>
              </a:rPr>
              <a:t>02  MANUFACTURING</a:t>
            </a:r>
            <a:endParaRPr lang="en-US" sz="1500" dirty="0">
              <a:solidFill>
                <a:schemeClr val="bg1"/>
              </a:solidFill>
            </a:endParaRPr>
          </a:p>
        </p:txBody>
      </p:sp>
      <p:sp>
        <p:nvSpPr>
          <p:cNvPr id="19" name="Text 17"/>
          <p:cNvSpPr/>
          <p:nvPr/>
        </p:nvSpPr>
        <p:spPr>
          <a:xfrm>
            <a:off x="4471416" y="2734056"/>
            <a:ext cx="3236976" cy="1545336"/>
          </a:xfrm>
          <a:prstGeom prst="rect">
            <a:avLst/>
          </a:prstGeom>
          <a:noFill/>
          <a:ln/>
        </p:spPr>
        <p:txBody>
          <a:bodyPr wrap="square" lIns="0" tIns="0" rIns="0" bIns="0" rtlCol="0" anchor="t">
            <a:normAutofit/>
          </a:bodyPr>
          <a:lstStyle/>
          <a:p>
            <a:pPr marL="0" indent="0">
              <a:buNone/>
            </a:pPr>
            <a:r>
              <a:rPr lang="en-US" sz="1400" dirty="0">
                <a:solidFill>
                  <a:schemeClr val="bg1"/>
                </a:solidFill>
                <a:latin typeface="Arial" pitchFamily="34" charset="0"/>
                <a:ea typeface="Arial" pitchFamily="34" charset="-122"/>
                <a:cs typeface="Arial" pitchFamily="34" charset="-120"/>
              </a:rPr>
              <a:t>Manuals, quality records, work instructions and service cases.</a:t>
            </a:r>
            <a:endParaRPr lang="en-US" sz="1400" dirty="0">
              <a:solidFill>
                <a:schemeClr val="bg1"/>
              </a:solidFill>
            </a:endParaRPr>
          </a:p>
          <a:p>
            <a:pPr marL="0" indent="0">
              <a:buNone/>
            </a:pPr>
            <a:endParaRPr lang="en-US" sz="1400" dirty="0">
              <a:solidFill>
                <a:schemeClr val="bg1"/>
              </a:solidFill>
            </a:endParaRPr>
          </a:p>
          <a:p>
            <a:pPr marL="0" indent="0">
              <a:buNone/>
            </a:pPr>
            <a:r>
              <a:rPr lang="en-US" sz="1400" dirty="0">
                <a:solidFill>
                  <a:schemeClr val="bg1"/>
                </a:solidFill>
                <a:latin typeface="Arial" pitchFamily="34" charset="0"/>
                <a:ea typeface="Arial" pitchFamily="34" charset="-122"/>
                <a:cs typeface="Arial" pitchFamily="34" charset="-120"/>
              </a:rPr>
              <a:t>Measure evidence-finding time and correct-version retrieval.</a:t>
            </a:r>
            <a:endParaRPr lang="en-US" sz="1400" dirty="0">
              <a:solidFill>
                <a:schemeClr val="bg1"/>
              </a:solidFill>
            </a:endParaRPr>
          </a:p>
        </p:txBody>
      </p:sp>
      <p:sp>
        <p:nvSpPr>
          <p:cNvPr id="20" name="Shape 18"/>
          <p:cNvSpPr/>
          <p:nvPr/>
        </p:nvSpPr>
        <p:spPr>
          <a:xfrm>
            <a:off x="8074152" y="2029968"/>
            <a:ext cx="3602736" cy="2404872"/>
          </a:xfrm>
          <a:prstGeom prst="rect">
            <a:avLst/>
          </a:prstGeom>
          <a:solidFill>
            <a:srgbClr val="C00000"/>
          </a:solidFill>
          <a:ln w="8255">
            <a:solidFill>
              <a:srgbClr val="F3F4F6"/>
            </a:solidFill>
            <a:prstDash val="solid"/>
          </a:ln>
        </p:spPr>
        <p:txBody>
          <a:bodyPr/>
          <a:lstStyle/>
          <a:p>
            <a:endParaRPr lang="en-US"/>
          </a:p>
        </p:txBody>
      </p:sp>
      <p:sp>
        <p:nvSpPr>
          <p:cNvPr id="21" name="Shape 19"/>
          <p:cNvSpPr/>
          <p:nvPr/>
        </p:nvSpPr>
        <p:spPr>
          <a:xfrm>
            <a:off x="8074152" y="2029968"/>
            <a:ext cx="50292" cy="2404872"/>
          </a:xfrm>
          <a:prstGeom prst="rect">
            <a:avLst/>
          </a:prstGeom>
          <a:solidFill>
            <a:schemeClr val="bg1"/>
          </a:solidFill>
          <a:ln w="8255">
            <a:solidFill>
              <a:srgbClr val="E31837"/>
            </a:solidFill>
            <a:prstDash val="solid"/>
          </a:ln>
        </p:spPr>
        <p:txBody>
          <a:bodyPr/>
          <a:lstStyle/>
          <a:p>
            <a:endParaRPr lang="en-US"/>
          </a:p>
        </p:txBody>
      </p:sp>
      <p:sp>
        <p:nvSpPr>
          <p:cNvPr id="22" name="Text 20"/>
          <p:cNvSpPr/>
          <p:nvPr/>
        </p:nvSpPr>
        <p:spPr>
          <a:xfrm>
            <a:off x="8257032" y="2176272"/>
            <a:ext cx="3236976" cy="429768"/>
          </a:xfrm>
          <a:prstGeom prst="rect">
            <a:avLst/>
          </a:prstGeom>
          <a:noFill/>
          <a:ln/>
        </p:spPr>
        <p:txBody>
          <a:bodyPr wrap="square" lIns="0" tIns="0" rIns="0" bIns="0" rtlCol="0" anchor="ctr">
            <a:normAutofit/>
          </a:bodyPr>
          <a:lstStyle/>
          <a:p>
            <a:pPr marL="0" indent="0">
              <a:buNone/>
            </a:pPr>
            <a:r>
              <a:rPr lang="en-US" sz="1500" b="1" dirty="0">
                <a:solidFill>
                  <a:schemeClr val="bg1"/>
                </a:solidFill>
                <a:latin typeface="Arial" pitchFamily="34" charset="0"/>
                <a:ea typeface="Arial" pitchFamily="34" charset="-122"/>
                <a:cs typeface="Arial" pitchFamily="34" charset="-120"/>
              </a:rPr>
              <a:t>03  ENERGY / UTILITIES</a:t>
            </a:r>
            <a:endParaRPr lang="en-US" sz="1500" dirty="0">
              <a:solidFill>
                <a:schemeClr val="bg1"/>
              </a:solidFill>
            </a:endParaRPr>
          </a:p>
        </p:txBody>
      </p:sp>
      <p:sp>
        <p:nvSpPr>
          <p:cNvPr id="23" name="Text 21"/>
          <p:cNvSpPr/>
          <p:nvPr/>
        </p:nvSpPr>
        <p:spPr>
          <a:xfrm>
            <a:off x="8257032" y="2734056"/>
            <a:ext cx="3236976" cy="1545336"/>
          </a:xfrm>
          <a:prstGeom prst="rect">
            <a:avLst/>
          </a:prstGeom>
          <a:noFill/>
          <a:ln/>
        </p:spPr>
        <p:txBody>
          <a:bodyPr wrap="square" lIns="0" tIns="0" rIns="0" bIns="0" rtlCol="0" anchor="t">
            <a:normAutofit/>
          </a:bodyPr>
          <a:lstStyle/>
          <a:p>
            <a:pPr marL="0" indent="0">
              <a:buNone/>
            </a:pPr>
            <a:r>
              <a:rPr lang="en-US" sz="1400" dirty="0">
                <a:solidFill>
                  <a:schemeClr val="bg1"/>
                </a:solidFill>
                <a:latin typeface="Arial" pitchFamily="34" charset="0"/>
                <a:ea typeface="Arial" pitchFamily="34" charset="-122"/>
                <a:cs typeface="Arial" pitchFamily="34" charset="-120"/>
              </a:rPr>
              <a:t>Engineering studies, procedures and local technical knowledge.</a:t>
            </a:r>
            <a:endParaRPr lang="en-US" sz="1400" dirty="0">
              <a:solidFill>
                <a:schemeClr val="bg1"/>
              </a:solidFill>
            </a:endParaRPr>
          </a:p>
          <a:p>
            <a:pPr marL="0" indent="0">
              <a:buNone/>
            </a:pPr>
            <a:endParaRPr lang="en-US" sz="1400" dirty="0">
              <a:solidFill>
                <a:schemeClr val="bg1"/>
              </a:solidFill>
            </a:endParaRPr>
          </a:p>
          <a:p>
            <a:pPr marL="0" indent="0">
              <a:buNone/>
            </a:pPr>
            <a:r>
              <a:rPr lang="en-US" sz="1400" dirty="0">
                <a:solidFill>
                  <a:schemeClr val="bg1"/>
                </a:solidFill>
                <a:latin typeface="Arial" pitchFamily="34" charset="0"/>
                <a:ea typeface="Arial" pitchFamily="34" charset="-122"/>
                <a:cs typeface="Arial" pitchFamily="34" charset="-120"/>
              </a:rPr>
              <a:t>Measure research time, groundedness and offline service.</a:t>
            </a:r>
            <a:endParaRPr lang="en-US" sz="1400" dirty="0">
              <a:solidFill>
                <a:schemeClr val="bg1"/>
              </a:solidFill>
            </a:endParaRPr>
          </a:p>
        </p:txBody>
      </p:sp>
      <p:sp>
        <p:nvSpPr>
          <p:cNvPr id="24" name="Shape 22"/>
          <p:cNvSpPr/>
          <p:nvPr/>
        </p:nvSpPr>
        <p:spPr>
          <a:xfrm>
            <a:off x="502920" y="4681728"/>
            <a:ext cx="11183112" cy="859536"/>
          </a:xfrm>
          <a:prstGeom prst="rect">
            <a:avLst/>
          </a:prstGeom>
          <a:solidFill>
            <a:srgbClr val="18191D"/>
          </a:solidFill>
          <a:ln w="8255">
            <a:solidFill>
              <a:schemeClr val="bg1"/>
            </a:solidFill>
            <a:prstDash val="solid"/>
          </a:ln>
        </p:spPr>
        <p:txBody>
          <a:bodyPr/>
          <a:lstStyle/>
          <a:p>
            <a:endParaRPr lang="en-US"/>
          </a:p>
        </p:txBody>
      </p:sp>
      <p:sp>
        <p:nvSpPr>
          <p:cNvPr id="25" name="Text 23"/>
          <p:cNvSpPr/>
          <p:nvPr/>
        </p:nvSpPr>
        <p:spPr>
          <a:xfrm>
            <a:off x="694944" y="4828032"/>
            <a:ext cx="914400" cy="228600"/>
          </a:xfrm>
          <a:prstGeom prst="rect">
            <a:avLst/>
          </a:prstGeom>
          <a:noFill/>
          <a:ln/>
        </p:spPr>
        <p:txBody>
          <a:bodyPr wrap="square" lIns="0" tIns="0" rIns="0" bIns="0" rtlCol="0" anchor="ctr">
            <a:normAutofit/>
          </a:bodyPr>
          <a:lstStyle/>
          <a:p>
            <a:pPr marL="0" indent="0">
              <a:buNone/>
            </a:pPr>
            <a:r>
              <a:rPr lang="en-US" sz="1100" b="1" dirty="0">
                <a:solidFill>
                  <a:srgbClr val="F4A4B2"/>
                </a:solidFill>
                <a:latin typeface="Arial" pitchFamily="34" charset="0"/>
                <a:ea typeface="Arial" pitchFamily="34" charset="-122"/>
                <a:cs typeface="Arial" pitchFamily="34" charset="-120"/>
              </a:rPr>
              <a:t>NEXT</a:t>
            </a:r>
            <a:endParaRPr lang="en-US" sz="1100" dirty="0"/>
          </a:p>
        </p:txBody>
      </p:sp>
      <p:sp>
        <p:nvSpPr>
          <p:cNvPr id="26" name="Text 24"/>
          <p:cNvSpPr/>
          <p:nvPr/>
        </p:nvSpPr>
        <p:spPr>
          <a:xfrm>
            <a:off x="1783080" y="4809744"/>
            <a:ext cx="9665208" cy="484632"/>
          </a:xfrm>
          <a:prstGeom prst="rect">
            <a:avLst/>
          </a:prstGeom>
          <a:noFill/>
          <a:ln/>
        </p:spPr>
        <p:txBody>
          <a:bodyPr wrap="square" lIns="0" tIns="0" rIns="0" bIns="0" rtlCol="0" anchor="ctr">
            <a:normAutofit/>
          </a:bodyPr>
          <a:lstStyle/>
          <a:p>
            <a:pPr marL="0" indent="0">
              <a:buNone/>
            </a:pPr>
            <a:r>
              <a:rPr lang="en-US" sz="1700" b="1" dirty="0">
                <a:solidFill>
                  <a:srgbClr val="FFFFFF"/>
                </a:solidFill>
                <a:latin typeface="Arial" pitchFamily="34" charset="0"/>
                <a:ea typeface="Arial" pitchFamily="34" charset="-122"/>
                <a:cs typeface="Arial" pitchFamily="34" charset="-120"/>
              </a:rPr>
              <a:t>Legal • government • telecom • retail • higher education • healthcare knowledge</a:t>
            </a:r>
            <a:endParaRPr lang="en-US" sz="1700" dirty="0"/>
          </a:p>
        </p:txBody>
      </p:sp>
      <p:sp>
        <p:nvSpPr>
          <p:cNvPr id="27" name="Shape 25"/>
          <p:cNvSpPr/>
          <p:nvPr/>
        </p:nvSpPr>
        <p:spPr>
          <a:xfrm>
            <a:off x="502920" y="5806440"/>
            <a:ext cx="11183112" cy="310896"/>
          </a:xfrm>
          <a:prstGeom prst="rect">
            <a:avLst/>
          </a:prstGeom>
          <a:solidFill>
            <a:srgbClr val="FDECEF"/>
          </a:solidFill>
          <a:ln w="8255">
            <a:solidFill>
              <a:srgbClr val="FDECEF"/>
            </a:solidFill>
            <a:prstDash val="solid"/>
          </a:ln>
        </p:spPr>
        <p:txBody>
          <a:bodyPr/>
          <a:lstStyle/>
          <a:p>
            <a:endParaRPr lang="en-US"/>
          </a:p>
        </p:txBody>
      </p:sp>
      <p:sp>
        <p:nvSpPr>
          <p:cNvPr id="28" name="Text 26"/>
          <p:cNvSpPr/>
          <p:nvPr/>
        </p:nvSpPr>
        <p:spPr>
          <a:xfrm>
            <a:off x="640080" y="5838444"/>
            <a:ext cx="10917936" cy="242316"/>
          </a:xfrm>
          <a:prstGeom prst="rect">
            <a:avLst/>
          </a:prstGeom>
          <a:noFill/>
          <a:ln/>
        </p:spPr>
        <p:txBody>
          <a:bodyPr wrap="square" lIns="0" tIns="0" rIns="0" bIns="0" rtlCol="0" anchor="ctr">
            <a:normAutofit/>
          </a:bodyPr>
          <a:lstStyle/>
          <a:p>
            <a:pPr marL="0" indent="0">
              <a:buNone/>
            </a:pPr>
            <a:r>
              <a:rPr lang="en-US" sz="1200" b="1" dirty="0">
                <a:solidFill>
                  <a:srgbClr val="E31837"/>
                </a:solidFill>
                <a:latin typeface="Arial" pitchFamily="34" charset="0"/>
                <a:ea typeface="Arial" pitchFamily="34" charset="-122"/>
                <a:cs typeface="Arial" pitchFamily="34" charset="-120"/>
              </a:rPr>
              <a:t>PRD appendix: all 92 listed use cases, plus healthcare and selective markets, with scope, KPI and explicit exclusions.</a:t>
            </a:r>
            <a:endParaRPr lang="en-US" sz="1200" dirty="0"/>
          </a:p>
        </p:txBody>
      </p:sp>
      <p:sp>
        <p:nvSpPr>
          <p:cNvPr id="30" name="Shape 0">
            <a:extLst>
              <a:ext uri="{FF2B5EF4-FFF2-40B4-BE49-F238E27FC236}">
                <a16:creationId xmlns:a16="http://schemas.microsoft.com/office/drawing/2014/main" id="{402AEE27-9E10-ED05-17D9-37BB76141B09}"/>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p>
        </p:txBody>
      </p:sp>
      <p:sp>
        <p:nvSpPr>
          <p:cNvPr id="31" name="Shape 0">
            <a:extLst>
              <a:ext uri="{FF2B5EF4-FFF2-40B4-BE49-F238E27FC236}">
                <a16:creationId xmlns:a16="http://schemas.microsoft.com/office/drawing/2014/main" id="{176E8979-5F32-D64B-E350-A08C02B1D531}"/>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2" name="Shape 0">
            <a:extLst>
              <a:ext uri="{FF2B5EF4-FFF2-40B4-BE49-F238E27FC236}">
                <a16:creationId xmlns:a16="http://schemas.microsoft.com/office/drawing/2014/main" id="{71B4B30F-2E8A-0D2D-E38A-999DABE0CA64}"/>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p>
        </p:txBody>
      </p:sp>
      <p:sp>
        <p:nvSpPr>
          <p:cNvPr id="33" name="Shape 0">
            <a:extLst>
              <a:ext uri="{FF2B5EF4-FFF2-40B4-BE49-F238E27FC236}">
                <a16:creationId xmlns:a16="http://schemas.microsoft.com/office/drawing/2014/main" id="{EB143C7A-A364-9BAB-1FEC-28DB6E7417CA}"/>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p>
        </p:txBody>
      </p:sp>
      <p:sp>
        <p:nvSpPr>
          <p:cNvPr id="34" name="Rectangle 33">
            <a:extLst>
              <a:ext uri="{FF2B5EF4-FFF2-40B4-BE49-F238E27FC236}">
                <a16:creationId xmlns:a16="http://schemas.microsoft.com/office/drawing/2014/main" id="{059CE2BF-8AA8-A972-F818-4DFF53BFACB5}"/>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 1">
            <a:extLst>
              <a:ext uri="{FF2B5EF4-FFF2-40B4-BE49-F238E27FC236}">
                <a16:creationId xmlns:a16="http://schemas.microsoft.com/office/drawing/2014/main" id="{8D23C668-1155-34BF-DB9F-BF5B1713E942}"/>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36" name="Text 11">
            <a:extLst>
              <a:ext uri="{FF2B5EF4-FFF2-40B4-BE49-F238E27FC236}">
                <a16:creationId xmlns:a16="http://schemas.microsoft.com/office/drawing/2014/main" id="{B9BBE29D-774E-96FD-1C5B-D3DD4B524330}"/>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15</a:t>
            </a:r>
            <a:endParaRPr lang="en-US" sz="92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0" descr="/mnt/data/atmos_exec_v3/assets/cover.png">
            <a:extLst>
              <a:ext uri="{FF2B5EF4-FFF2-40B4-BE49-F238E27FC236}">
                <a16:creationId xmlns:a16="http://schemas.microsoft.com/office/drawing/2014/main" id="{F1964172-3C24-4842-CFDE-9D72BF07692C}"/>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 name="Shape 0"/>
          <p:cNvSpPr/>
          <p:nvPr/>
        </p:nvSpPr>
        <p:spPr>
          <a:xfrm>
            <a:off x="0" y="0"/>
            <a:ext cx="12191695" cy="59436"/>
          </a:xfrm>
          <a:prstGeom prst="rect">
            <a:avLst/>
          </a:prstGeom>
          <a:solidFill>
            <a:srgbClr val="E31837"/>
          </a:solidFill>
          <a:ln w="12700">
            <a:solidFill>
              <a:srgbClr val="E31837"/>
            </a:solidFill>
            <a:prstDash val="solid"/>
          </a:ln>
        </p:spPr>
        <p:txBody>
          <a:bodyPr/>
          <a:lstStyle/>
          <a:p>
            <a:endParaRPr lang="en-US"/>
          </a:p>
        </p:txBody>
      </p:sp>
      <p:sp>
        <p:nvSpPr>
          <p:cNvPr id="4" name="Text 2"/>
          <p:cNvSpPr/>
          <p:nvPr/>
        </p:nvSpPr>
        <p:spPr>
          <a:xfrm>
            <a:off x="7498080" y="292608"/>
            <a:ext cx="4160520" cy="219456"/>
          </a:xfrm>
          <a:prstGeom prst="rect">
            <a:avLst/>
          </a:prstGeom>
          <a:noFill/>
          <a:ln/>
        </p:spPr>
        <p:txBody>
          <a:bodyPr wrap="square" lIns="0" tIns="0" rIns="0" bIns="0" rtlCol="0" anchor="ctr"/>
          <a:lstStyle/>
          <a:p>
            <a:pPr marL="0" indent="0" algn="r">
              <a:buNone/>
            </a:pPr>
            <a:r>
              <a:rPr lang="en-US" sz="1050" dirty="0">
                <a:solidFill>
                  <a:srgbClr val="5B6169"/>
                </a:solidFill>
                <a:latin typeface="Arial" pitchFamily="34" charset="0"/>
                <a:ea typeface="Arial" pitchFamily="34" charset="-122"/>
                <a:cs typeface="Arial" pitchFamily="34" charset="-120"/>
              </a:rPr>
              <a:t>ATMOS / SKU → CUSTOMER OUTCOME</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marL="0" indent="0">
              <a:buNone/>
            </a:pPr>
            <a:r>
              <a:rPr lang="en-US" sz="2800" b="1" dirty="0">
                <a:solidFill>
                  <a:schemeClr val="bg1"/>
                </a:solidFill>
                <a:latin typeface="Arial" pitchFamily="34" charset="0"/>
                <a:ea typeface="Arial" pitchFamily="34" charset="-122"/>
                <a:cs typeface="Arial" pitchFamily="34" charset="-120"/>
              </a:rPr>
              <a:t>W4 and D8/E8 serve different operational scales.</a:t>
            </a:r>
            <a:endParaRPr lang="en-US" sz="2800" dirty="0">
              <a:solidFill>
                <a:schemeClr val="bg1"/>
              </a:solidFill>
            </a:endParaRPr>
          </a:p>
        </p:txBody>
      </p:sp>
      <p:sp>
        <p:nvSpPr>
          <p:cNvPr id="6" name="Text 4"/>
          <p:cNvSpPr/>
          <p:nvPr/>
        </p:nvSpPr>
        <p:spPr>
          <a:xfrm>
            <a:off x="502920" y="1591056"/>
            <a:ext cx="11109960" cy="329184"/>
          </a:xfrm>
          <a:prstGeom prst="rect">
            <a:avLst/>
          </a:prstGeom>
          <a:noFill/>
          <a:ln/>
        </p:spPr>
        <p:txBody>
          <a:bodyPr wrap="square" lIns="0" tIns="0" rIns="0" bIns="0" rtlCol="0" anchor="ctr"/>
          <a:lstStyle/>
          <a:p>
            <a:pPr marL="0" indent="0">
              <a:buNone/>
            </a:pPr>
            <a:r>
              <a:rPr lang="en-US" sz="1370" dirty="0">
                <a:solidFill>
                  <a:schemeClr val="bg1"/>
                </a:solidFill>
                <a:latin typeface="Arial" pitchFamily="34" charset="0"/>
                <a:ea typeface="Arial" pitchFamily="34" charset="-122"/>
                <a:cs typeface="Arial" pitchFamily="34" charset="-120"/>
              </a:rPr>
              <a:t>Proposed example workflows derived from the PRD—not deployments attributed to the named NVIDIA customers.</a:t>
            </a:r>
            <a:endParaRPr lang="en-US" sz="1370" dirty="0">
              <a:solidFill>
                <a:schemeClr val="bg1"/>
              </a:solidFill>
            </a:endParaRPr>
          </a:p>
        </p:txBody>
      </p:sp>
      <p:sp>
        <p:nvSpPr>
          <p:cNvPr id="7" name="Shape 5"/>
          <p:cNvSpPr/>
          <p:nvPr/>
        </p:nvSpPr>
        <p:spPr>
          <a:xfrm>
            <a:off x="502920" y="6035040"/>
            <a:ext cx="11183112" cy="365760"/>
          </a:xfrm>
          <a:prstGeom prst="rect">
            <a:avLst/>
          </a:prstGeom>
          <a:solidFill>
            <a:srgbClr val="FCECF0"/>
          </a:solidFill>
          <a:ln w="12700">
            <a:solidFill>
              <a:srgbClr val="FCECF0"/>
            </a:solidFill>
            <a:prstDash val="solid"/>
          </a:ln>
        </p:spPr>
        <p:txBody>
          <a:bodyPr/>
          <a:lstStyle/>
          <a:p>
            <a:endParaRPr lang="en-US"/>
          </a:p>
        </p:txBody>
      </p:sp>
      <p:sp>
        <p:nvSpPr>
          <p:cNvPr id="8" name="Text 6"/>
          <p:cNvSpPr/>
          <p:nvPr/>
        </p:nvSpPr>
        <p:spPr>
          <a:xfrm>
            <a:off x="658368" y="6089904"/>
            <a:ext cx="10872216" cy="246888"/>
          </a:xfrm>
          <a:prstGeom prst="rect">
            <a:avLst/>
          </a:prstGeom>
          <a:noFill/>
          <a:ln/>
        </p:spPr>
        <p:txBody>
          <a:bodyPr wrap="square" lIns="0" tIns="0" rIns="0" bIns="0" rtlCol="0" anchor="ctr"/>
          <a:lstStyle/>
          <a:p>
            <a:pPr marL="0" indent="0">
              <a:buNone/>
            </a:pPr>
            <a:r>
              <a:rPr lang="en-US" sz="1250" b="1" dirty="0">
                <a:solidFill>
                  <a:srgbClr val="E31837"/>
                </a:solidFill>
                <a:latin typeface="Arial" pitchFamily="34" charset="0"/>
                <a:ea typeface="Arial" pitchFamily="34" charset="-122"/>
                <a:cs typeface="Arial" pitchFamily="34" charset="-120"/>
              </a:rPr>
              <a:t>D8 and E8 have the same capacity/performance envelope; E8 adds the production integration and support profile.</a:t>
            </a:r>
            <a:endParaRPr lang="en-US" sz="125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p>
        </p:txBody>
      </p:sp>
      <p:sp>
        <p:nvSpPr>
          <p:cNvPr id="14" name="Shape 12"/>
          <p:cNvSpPr/>
          <p:nvPr/>
        </p:nvSpPr>
        <p:spPr>
          <a:xfrm>
            <a:off x="502920" y="2112264"/>
            <a:ext cx="5495544" cy="3657600"/>
          </a:xfrm>
          <a:prstGeom prst="rect">
            <a:avLst/>
          </a:prstGeom>
          <a:solidFill>
            <a:srgbClr val="C00000"/>
          </a:solidFill>
          <a:ln w="12700">
            <a:solidFill>
              <a:srgbClr val="F3F4F6"/>
            </a:solidFill>
            <a:prstDash val="solid"/>
          </a:ln>
        </p:spPr>
        <p:txBody>
          <a:bodyPr/>
          <a:lstStyle/>
          <a:p>
            <a:endParaRPr lang="en-US"/>
          </a:p>
        </p:txBody>
      </p:sp>
      <p:sp>
        <p:nvSpPr>
          <p:cNvPr id="15" name="Text 13"/>
          <p:cNvSpPr/>
          <p:nvPr/>
        </p:nvSpPr>
        <p:spPr>
          <a:xfrm>
            <a:off x="667512" y="2258568"/>
            <a:ext cx="5157216" cy="338328"/>
          </a:xfrm>
          <a:prstGeom prst="rect">
            <a:avLst/>
          </a:prstGeom>
          <a:noFill/>
          <a:ln/>
        </p:spPr>
        <p:txBody>
          <a:bodyPr wrap="square" lIns="0" tIns="0" rIns="0" bIns="0" rtlCol="0" anchor="ctr"/>
          <a:lstStyle/>
          <a:p>
            <a:pPr marL="0" indent="0">
              <a:buNone/>
            </a:pPr>
            <a:r>
              <a:rPr lang="en-US" sz="1800" b="1" dirty="0">
                <a:solidFill>
                  <a:schemeClr val="bg1"/>
                </a:solidFill>
                <a:latin typeface="Arial" pitchFamily="34" charset="0"/>
                <a:ea typeface="Arial" pitchFamily="34" charset="-122"/>
                <a:cs typeface="Arial" pitchFamily="34" charset="-120"/>
              </a:rPr>
              <a:t>W4 | private matter / engineering desk</a:t>
            </a:r>
            <a:endParaRPr lang="en-US" sz="1800" dirty="0">
              <a:solidFill>
                <a:schemeClr val="bg1"/>
              </a:solidFill>
            </a:endParaRPr>
          </a:p>
        </p:txBody>
      </p:sp>
      <p:pic>
        <p:nvPicPr>
          <p:cNvPr id="16" name="Image 0" descr="/mnt/data/atmos_market_work/v3_slide5_image0.png"/>
          <p:cNvPicPr>
            <a:picLocks noChangeAspect="1"/>
          </p:cNvPicPr>
          <p:nvPr/>
        </p:nvPicPr>
        <p:blipFill>
          <a:blip r:embed="rId4"/>
          <a:stretch>
            <a:fillRect/>
          </a:stretch>
        </p:blipFill>
        <p:spPr>
          <a:xfrm>
            <a:off x="4279392" y="2660904"/>
            <a:ext cx="1417320" cy="768096"/>
          </a:xfrm>
          <a:prstGeom prst="rect">
            <a:avLst/>
          </a:prstGeom>
        </p:spPr>
      </p:pic>
      <p:sp>
        <p:nvSpPr>
          <p:cNvPr id="17" name="Text 14"/>
          <p:cNvSpPr/>
          <p:nvPr/>
        </p:nvSpPr>
        <p:spPr>
          <a:xfrm>
            <a:off x="667512" y="2752344"/>
            <a:ext cx="3273552" cy="512064"/>
          </a:xfrm>
          <a:prstGeom prst="rect">
            <a:avLst/>
          </a:prstGeom>
          <a:noFill/>
          <a:ln/>
        </p:spPr>
        <p:txBody>
          <a:bodyPr wrap="square" lIns="0" tIns="0" rIns="0" bIns="0" rtlCol="0" anchor="ctr"/>
          <a:lstStyle/>
          <a:p>
            <a:pPr marL="0" indent="0">
              <a:buNone/>
            </a:pPr>
            <a:r>
              <a:rPr lang="en-US" sz="1600" b="1" dirty="0">
                <a:solidFill>
                  <a:schemeClr val="bg1"/>
                </a:solidFill>
                <a:latin typeface="Arial" pitchFamily="34" charset="0"/>
                <a:ea typeface="Arial" pitchFamily="34" charset="-122"/>
                <a:cs typeface="Arial" pitchFamily="34" charset="-120"/>
              </a:rPr>
              <a:t>4 modules</a:t>
            </a:r>
            <a:endParaRPr lang="en-US" sz="1600" dirty="0">
              <a:solidFill>
                <a:schemeClr val="bg1"/>
              </a:solidFill>
            </a:endParaRPr>
          </a:p>
        </p:txBody>
      </p:sp>
      <p:sp>
        <p:nvSpPr>
          <p:cNvPr id="18" name="Text 15"/>
          <p:cNvSpPr/>
          <p:nvPr/>
        </p:nvSpPr>
        <p:spPr>
          <a:xfrm>
            <a:off x="667512" y="3511296"/>
            <a:ext cx="5120640" cy="685800"/>
          </a:xfrm>
          <a:prstGeom prst="rect">
            <a:avLst/>
          </a:prstGeom>
          <a:noFill/>
          <a:ln/>
        </p:spPr>
        <p:txBody>
          <a:bodyPr wrap="square" lIns="0" tIns="0" rIns="0" bIns="0" rtlCol="0" anchor="ctr"/>
          <a:lstStyle/>
          <a:p>
            <a:pPr marL="0" indent="0">
              <a:buNone/>
            </a:pPr>
            <a:r>
              <a:rPr lang="en-US" sz="1560" dirty="0">
                <a:solidFill>
                  <a:schemeClr val="bg1"/>
                </a:solidFill>
                <a:latin typeface="Arial" pitchFamily="34" charset="0"/>
                <a:ea typeface="Arial" pitchFamily="34" charset="-122"/>
                <a:cs typeface="Arial" pitchFamily="34" charset="-120"/>
              </a:rPr>
              <a:t>A specialist keeps confidential reference collections local. Start with retrieval-only; add a certified generator when useful.</a:t>
            </a:r>
            <a:endParaRPr lang="en-US" sz="1560" dirty="0">
              <a:solidFill>
                <a:schemeClr val="bg1"/>
              </a:solidFill>
            </a:endParaRPr>
          </a:p>
        </p:txBody>
      </p:sp>
      <p:sp>
        <p:nvSpPr>
          <p:cNvPr id="19" name="Shape 16"/>
          <p:cNvSpPr/>
          <p:nvPr/>
        </p:nvSpPr>
        <p:spPr>
          <a:xfrm>
            <a:off x="667512" y="4288536"/>
            <a:ext cx="5157216" cy="402336"/>
          </a:xfrm>
          <a:prstGeom prst="rect">
            <a:avLst/>
          </a:prstGeom>
          <a:solidFill>
            <a:srgbClr val="18191D"/>
          </a:solidFill>
          <a:ln w="12700">
            <a:solidFill>
              <a:srgbClr val="18191D"/>
            </a:solidFill>
            <a:prstDash val="solid"/>
          </a:ln>
        </p:spPr>
        <p:txBody>
          <a:bodyPr/>
          <a:lstStyle/>
          <a:p>
            <a:endParaRPr lang="en-US"/>
          </a:p>
        </p:txBody>
      </p:sp>
      <p:sp>
        <p:nvSpPr>
          <p:cNvPr id="20" name="Text 17"/>
          <p:cNvSpPr/>
          <p:nvPr/>
        </p:nvSpPr>
        <p:spPr>
          <a:xfrm>
            <a:off x="768096" y="4361688"/>
            <a:ext cx="4946904" cy="219456"/>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Approved files → cited search → draft summary</a:t>
            </a:r>
            <a:endParaRPr lang="en-US" sz="1350" dirty="0"/>
          </a:p>
        </p:txBody>
      </p:sp>
      <p:sp>
        <p:nvSpPr>
          <p:cNvPr id="21" name="Text 18"/>
          <p:cNvSpPr/>
          <p:nvPr/>
        </p:nvSpPr>
        <p:spPr>
          <a:xfrm>
            <a:off x="667512" y="4882896"/>
            <a:ext cx="5138928" cy="493776"/>
          </a:xfrm>
          <a:prstGeom prst="rect">
            <a:avLst/>
          </a:prstGeom>
          <a:noFill/>
          <a:ln/>
        </p:spPr>
        <p:txBody>
          <a:bodyPr wrap="square" lIns="0" tIns="0" rIns="0" bIns="0" rtlCol="0" anchor="ctr"/>
          <a:lstStyle/>
          <a:p>
            <a:pPr marL="0" indent="0">
              <a:buNone/>
            </a:pPr>
            <a:r>
              <a:rPr lang="en-US" sz="1510" dirty="0">
                <a:solidFill>
                  <a:schemeClr val="bg1"/>
                </a:solidFill>
                <a:latin typeface="Arial" pitchFamily="34" charset="0"/>
                <a:ea typeface="Arial" pitchFamily="34" charset="-122"/>
                <a:cs typeface="Arial" pitchFamily="34" charset="-120"/>
              </a:rPr>
              <a:t>Prove: time to accepted evidence, ACL correctness,</a:t>
            </a:r>
            <a:endParaRPr lang="en-US" sz="1510" dirty="0">
              <a:solidFill>
                <a:schemeClr val="bg1"/>
              </a:solidFill>
            </a:endParaRPr>
          </a:p>
          <a:p>
            <a:pPr marL="0" indent="0">
              <a:buNone/>
            </a:pPr>
            <a:r>
              <a:rPr lang="en-US" sz="1510" dirty="0">
                <a:solidFill>
                  <a:schemeClr val="bg1"/>
                </a:solidFill>
                <a:latin typeface="Arial" pitchFamily="34" charset="0"/>
                <a:ea typeface="Arial" pitchFamily="34" charset="-122"/>
                <a:cs typeface="Arial" pitchFamily="34" charset="-120"/>
              </a:rPr>
              <a:t>local operation and acceptable office acoustics.</a:t>
            </a:r>
            <a:endParaRPr lang="en-US" sz="1510" dirty="0">
              <a:solidFill>
                <a:schemeClr val="bg1"/>
              </a:solidFill>
            </a:endParaRPr>
          </a:p>
        </p:txBody>
      </p:sp>
      <p:sp>
        <p:nvSpPr>
          <p:cNvPr id="22" name="Text 19"/>
          <p:cNvSpPr/>
          <p:nvPr/>
        </p:nvSpPr>
        <p:spPr>
          <a:xfrm>
            <a:off x="667512" y="5513832"/>
            <a:ext cx="5138928" cy="182880"/>
          </a:xfrm>
          <a:prstGeom prst="rect">
            <a:avLst/>
          </a:prstGeom>
          <a:noFill/>
          <a:ln/>
        </p:spPr>
        <p:txBody>
          <a:bodyPr wrap="square" lIns="0" tIns="0" rIns="0" bIns="0" rtlCol="0" anchor="ctr"/>
          <a:lstStyle/>
          <a:p>
            <a:pPr marL="0" indent="0">
              <a:buNone/>
            </a:pPr>
            <a:r>
              <a:rPr lang="en-US" sz="1260" b="1" dirty="0">
                <a:solidFill>
                  <a:schemeClr val="bg1"/>
                </a:solidFill>
                <a:latin typeface="Arial" pitchFamily="34" charset="0"/>
                <a:ea typeface="Arial" pitchFamily="34" charset="-122"/>
                <a:cs typeface="Arial" pitchFamily="34" charset="-120"/>
              </a:rPr>
              <a:t>R1 target ≥5 QPS • G1 target ≥40 output tok/s</a:t>
            </a:r>
            <a:endParaRPr lang="en-US" sz="1260" dirty="0">
              <a:solidFill>
                <a:schemeClr val="bg1"/>
              </a:solidFill>
            </a:endParaRPr>
          </a:p>
        </p:txBody>
      </p:sp>
      <p:sp>
        <p:nvSpPr>
          <p:cNvPr id="23" name="Shape 20"/>
          <p:cNvSpPr/>
          <p:nvPr/>
        </p:nvSpPr>
        <p:spPr>
          <a:xfrm>
            <a:off x="6190488" y="2112264"/>
            <a:ext cx="5495544" cy="3657600"/>
          </a:xfrm>
          <a:prstGeom prst="rect">
            <a:avLst/>
          </a:prstGeom>
          <a:solidFill>
            <a:srgbClr val="C00000"/>
          </a:solidFill>
          <a:ln w="12700">
            <a:solidFill>
              <a:srgbClr val="F3F4F6"/>
            </a:solidFill>
            <a:prstDash val="solid"/>
          </a:ln>
        </p:spPr>
        <p:txBody>
          <a:bodyPr/>
          <a:lstStyle/>
          <a:p>
            <a:endParaRPr lang="en-US"/>
          </a:p>
        </p:txBody>
      </p:sp>
      <p:sp>
        <p:nvSpPr>
          <p:cNvPr id="24" name="Text 21"/>
          <p:cNvSpPr/>
          <p:nvPr/>
        </p:nvSpPr>
        <p:spPr>
          <a:xfrm>
            <a:off x="6355080" y="2258568"/>
            <a:ext cx="5157216" cy="338328"/>
          </a:xfrm>
          <a:prstGeom prst="rect">
            <a:avLst/>
          </a:prstGeom>
          <a:noFill/>
          <a:ln/>
        </p:spPr>
        <p:txBody>
          <a:bodyPr wrap="square" lIns="0" tIns="0" rIns="0" bIns="0" rtlCol="0" anchor="ctr"/>
          <a:lstStyle/>
          <a:p>
            <a:pPr marL="0" indent="0">
              <a:buNone/>
            </a:pPr>
            <a:r>
              <a:rPr lang="en-US" sz="1800" b="1" dirty="0">
                <a:solidFill>
                  <a:schemeClr val="bg1"/>
                </a:solidFill>
                <a:latin typeface="Arial" pitchFamily="34" charset="0"/>
                <a:ea typeface="Arial" pitchFamily="34" charset="-122"/>
                <a:cs typeface="Arial" pitchFamily="34" charset="-120"/>
              </a:rPr>
              <a:t>D8 / E8 | insurance claims evidence</a:t>
            </a:r>
            <a:endParaRPr lang="en-US" sz="1800" dirty="0">
              <a:solidFill>
                <a:schemeClr val="bg1"/>
              </a:solidFill>
            </a:endParaRPr>
          </a:p>
        </p:txBody>
      </p:sp>
      <p:pic>
        <p:nvPicPr>
          <p:cNvPr id="25" name="Image 1" descr="/mnt/data/atmos_market_work/v3_slide5_image1.png"/>
          <p:cNvPicPr>
            <a:picLocks noChangeAspect="1"/>
          </p:cNvPicPr>
          <p:nvPr/>
        </p:nvPicPr>
        <p:blipFill>
          <a:blip r:embed="rId5"/>
          <a:stretch>
            <a:fillRect/>
          </a:stretch>
        </p:blipFill>
        <p:spPr>
          <a:xfrm>
            <a:off x="9966960" y="2660904"/>
            <a:ext cx="1417320" cy="768096"/>
          </a:xfrm>
          <a:prstGeom prst="rect">
            <a:avLst/>
          </a:prstGeom>
        </p:spPr>
      </p:pic>
      <p:sp>
        <p:nvSpPr>
          <p:cNvPr id="26" name="Text 22"/>
          <p:cNvSpPr/>
          <p:nvPr/>
        </p:nvSpPr>
        <p:spPr>
          <a:xfrm>
            <a:off x="6355080" y="2752344"/>
            <a:ext cx="3273552" cy="512064"/>
          </a:xfrm>
          <a:prstGeom prst="rect">
            <a:avLst/>
          </a:prstGeom>
          <a:noFill/>
          <a:ln/>
        </p:spPr>
        <p:txBody>
          <a:bodyPr wrap="square" lIns="0" tIns="0" rIns="0" bIns="0" rtlCol="0" anchor="ctr"/>
          <a:lstStyle/>
          <a:p>
            <a:pPr marL="0" indent="0">
              <a:buNone/>
            </a:pPr>
            <a:r>
              <a:rPr lang="en-US" sz="1600" b="1" dirty="0">
                <a:solidFill>
                  <a:schemeClr val="bg1"/>
                </a:solidFill>
                <a:latin typeface="Arial" pitchFamily="34" charset="0"/>
                <a:ea typeface="Arial" pitchFamily="34" charset="-122"/>
                <a:cs typeface="Arial" pitchFamily="34" charset="-120"/>
              </a:rPr>
              <a:t>8 modules</a:t>
            </a:r>
            <a:endParaRPr lang="en-US" sz="1600" dirty="0">
              <a:solidFill>
                <a:schemeClr val="bg1"/>
              </a:solidFill>
            </a:endParaRPr>
          </a:p>
        </p:txBody>
      </p:sp>
      <p:sp>
        <p:nvSpPr>
          <p:cNvPr id="27" name="Text 23"/>
          <p:cNvSpPr/>
          <p:nvPr/>
        </p:nvSpPr>
        <p:spPr>
          <a:xfrm>
            <a:off x="6355080" y="3511296"/>
            <a:ext cx="5120640" cy="685800"/>
          </a:xfrm>
          <a:prstGeom prst="rect">
            <a:avLst/>
          </a:prstGeom>
          <a:noFill/>
          <a:ln/>
        </p:spPr>
        <p:txBody>
          <a:bodyPr wrap="square" lIns="0" tIns="0" rIns="0" bIns="0" rtlCol="0" anchor="ctr"/>
          <a:lstStyle/>
          <a:p>
            <a:pPr marL="0" indent="0">
              <a:buNone/>
            </a:pPr>
            <a:r>
              <a:rPr lang="en-US" sz="1560" dirty="0">
                <a:solidFill>
                  <a:schemeClr val="bg1"/>
                </a:solidFill>
                <a:latin typeface="Arial" pitchFamily="34" charset="0"/>
                <a:ea typeface="Arial" pitchFamily="34" charset="-122"/>
                <a:cs typeface="Arial" pitchFamily="34" charset="-120"/>
              </a:rPr>
              <a:t>A department shares policy and document intelligence through quotas, versioned collections and controlled queues.</a:t>
            </a:r>
            <a:endParaRPr lang="en-US" sz="1560" dirty="0">
              <a:solidFill>
                <a:schemeClr val="bg1"/>
              </a:solidFill>
            </a:endParaRPr>
          </a:p>
        </p:txBody>
      </p:sp>
      <p:sp>
        <p:nvSpPr>
          <p:cNvPr id="28" name="Shape 24"/>
          <p:cNvSpPr/>
          <p:nvPr/>
        </p:nvSpPr>
        <p:spPr>
          <a:xfrm>
            <a:off x="6355080" y="4288536"/>
            <a:ext cx="5157216" cy="402336"/>
          </a:xfrm>
          <a:prstGeom prst="rect">
            <a:avLst/>
          </a:prstGeom>
          <a:solidFill>
            <a:srgbClr val="18191D"/>
          </a:solidFill>
          <a:ln w="12700">
            <a:solidFill>
              <a:srgbClr val="18191D"/>
            </a:solidFill>
            <a:prstDash val="solid"/>
          </a:ln>
        </p:spPr>
        <p:txBody>
          <a:bodyPr/>
          <a:lstStyle/>
          <a:p>
            <a:endParaRPr lang="en-US"/>
          </a:p>
        </p:txBody>
      </p:sp>
      <p:sp>
        <p:nvSpPr>
          <p:cNvPr id="29" name="Text 25"/>
          <p:cNvSpPr/>
          <p:nvPr/>
        </p:nvSpPr>
        <p:spPr>
          <a:xfrm>
            <a:off x="6455664" y="4361688"/>
            <a:ext cx="4946904" cy="219456"/>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Claim file + policy → rerank → reviewer evidence</a:t>
            </a:r>
            <a:endParaRPr lang="en-US" sz="1350" dirty="0"/>
          </a:p>
        </p:txBody>
      </p:sp>
      <p:sp>
        <p:nvSpPr>
          <p:cNvPr id="30" name="Text 26"/>
          <p:cNvSpPr/>
          <p:nvPr/>
        </p:nvSpPr>
        <p:spPr>
          <a:xfrm>
            <a:off x="6355080" y="4882896"/>
            <a:ext cx="5138928" cy="493776"/>
          </a:xfrm>
          <a:prstGeom prst="rect">
            <a:avLst/>
          </a:prstGeom>
          <a:noFill/>
          <a:ln/>
        </p:spPr>
        <p:txBody>
          <a:bodyPr wrap="square" lIns="0" tIns="0" rIns="0" bIns="0" rtlCol="0" anchor="ctr"/>
          <a:lstStyle/>
          <a:p>
            <a:pPr marL="0" indent="0">
              <a:buNone/>
            </a:pPr>
            <a:r>
              <a:rPr lang="en-US" sz="1510" dirty="0">
                <a:solidFill>
                  <a:schemeClr val="bg1"/>
                </a:solidFill>
                <a:latin typeface="Arial" pitchFamily="34" charset="0"/>
                <a:ea typeface="Arial" pitchFamily="34" charset="-122"/>
                <a:cs typeface="Arial" pitchFamily="34" charset="-120"/>
              </a:rPr>
              <a:t>Prove: reviewer acceptance, citation quality,</a:t>
            </a:r>
            <a:endParaRPr lang="en-US" sz="1510" dirty="0">
              <a:solidFill>
                <a:schemeClr val="bg1"/>
              </a:solidFill>
            </a:endParaRPr>
          </a:p>
          <a:p>
            <a:pPr marL="0" indent="0">
              <a:buNone/>
            </a:pPr>
            <a:r>
              <a:rPr lang="en-US" sz="1510" dirty="0">
                <a:solidFill>
                  <a:schemeClr val="bg1"/>
                </a:solidFill>
                <a:latin typeface="Arial" pitchFamily="34" charset="0"/>
                <a:ea typeface="Arial" pitchFamily="34" charset="-122"/>
                <a:cs typeface="Arial" pitchFamily="34" charset="-120"/>
              </a:rPr>
              <a:t>case-preparation time and recovery behavior.</a:t>
            </a:r>
            <a:endParaRPr lang="en-US" sz="1510" dirty="0">
              <a:solidFill>
                <a:schemeClr val="bg1"/>
              </a:solidFill>
            </a:endParaRPr>
          </a:p>
        </p:txBody>
      </p:sp>
      <p:sp>
        <p:nvSpPr>
          <p:cNvPr id="31" name="Text 27"/>
          <p:cNvSpPr/>
          <p:nvPr/>
        </p:nvSpPr>
        <p:spPr>
          <a:xfrm>
            <a:off x="6355080" y="5513832"/>
            <a:ext cx="5138928" cy="182880"/>
          </a:xfrm>
          <a:prstGeom prst="rect">
            <a:avLst/>
          </a:prstGeom>
          <a:noFill/>
          <a:ln/>
        </p:spPr>
        <p:txBody>
          <a:bodyPr wrap="square" lIns="0" tIns="0" rIns="0" bIns="0" rtlCol="0" anchor="ctr"/>
          <a:lstStyle/>
          <a:p>
            <a:pPr marL="0" indent="0">
              <a:buNone/>
            </a:pPr>
            <a:r>
              <a:rPr lang="en-US" sz="1260" b="1" dirty="0">
                <a:solidFill>
                  <a:schemeClr val="bg1"/>
                </a:solidFill>
                <a:latin typeface="Arial" pitchFamily="34" charset="0"/>
                <a:ea typeface="Arial" pitchFamily="34" charset="-122"/>
                <a:cs typeface="Arial" pitchFamily="34" charset="-120"/>
              </a:rPr>
              <a:t>R1 target ≥10 QPS • G1 target ≥80 output tok/s</a:t>
            </a:r>
            <a:endParaRPr lang="en-US" sz="1260" dirty="0">
              <a:solidFill>
                <a:schemeClr val="bg1"/>
              </a:solidFill>
            </a:endParaRPr>
          </a:p>
        </p:txBody>
      </p:sp>
      <p:sp>
        <p:nvSpPr>
          <p:cNvPr id="32" name="Text 28"/>
          <p:cNvSpPr/>
          <p:nvPr/>
        </p:nvSpPr>
        <p:spPr>
          <a:xfrm>
            <a:off x="548640" y="5843016"/>
            <a:ext cx="11027664" cy="146304"/>
          </a:xfrm>
          <a:prstGeom prst="rect">
            <a:avLst/>
          </a:prstGeom>
          <a:noFill/>
          <a:ln/>
        </p:spPr>
        <p:txBody>
          <a:bodyPr wrap="square" lIns="0" tIns="0" rIns="0" bIns="0" rtlCol="0" anchor="ctr"/>
          <a:lstStyle/>
          <a:p>
            <a:pPr marL="0" indent="0">
              <a:buNone/>
            </a:pPr>
            <a:r>
              <a:rPr lang="en-US" sz="950" dirty="0">
                <a:solidFill>
                  <a:srgbClr val="5B6169"/>
                </a:solidFill>
                <a:latin typeface="Arial" pitchFamily="34" charset="0"/>
                <a:ea typeface="Arial" pitchFamily="34" charset="-122"/>
                <a:cs typeface="Arial" pitchFamily="34" charset="-120"/>
              </a:rPr>
              <a:t>Appliance images: V3 concepts only. R1 and G1 are separate qualification profiles—not combined workload results.</a:t>
            </a:r>
            <a:endParaRPr lang="en-US" sz="950" dirty="0"/>
          </a:p>
        </p:txBody>
      </p:sp>
      <p:sp>
        <p:nvSpPr>
          <p:cNvPr id="34" name="Shape 0">
            <a:extLst>
              <a:ext uri="{FF2B5EF4-FFF2-40B4-BE49-F238E27FC236}">
                <a16:creationId xmlns:a16="http://schemas.microsoft.com/office/drawing/2014/main" id="{234DE737-22FC-A937-D77C-B3E6B2F7316C}"/>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p>
        </p:txBody>
      </p:sp>
      <p:sp>
        <p:nvSpPr>
          <p:cNvPr id="35" name="Shape 0">
            <a:extLst>
              <a:ext uri="{FF2B5EF4-FFF2-40B4-BE49-F238E27FC236}">
                <a16:creationId xmlns:a16="http://schemas.microsoft.com/office/drawing/2014/main" id="{35E4EF95-286D-BA4A-6AB0-C3AB73181383}"/>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6" name="Shape 0">
            <a:extLst>
              <a:ext uri="{FF2B5EF4-FFF2-40B4-BE49-F238E27FC236}">
                <a16:creationId xmlns:a16="http://schemas.microsoft.com/office/drawing/2014/main" id="{FF503B4D-6043-B0C7-4640-57F65149F6D1}"/>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p>
        </p:txBody>
      </p:sp>
      <p:sp>
        <p:nvSpPr>
          <p:cNvPr id="37" name="Shape 0">
            <a:extLst>
              <a:ext uri="{FF2B5EF4-FFF2-40B4-BE49-F238E27FC236}">
                <a16:creationId xmlns:a16="http://schemas.microsoft.com/office/drawing/2014/main" id="{7C75216A-3FE3-23F9-F059-CDFCEA367AD2}"/>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p>
        </p:txBody>
      </p:sp>
      <p:sp>
        <p:nvSpPr>
          <p:cNvPr id="38" name="Rectangle 37">
            <a:extLst>
              <a:ext uri="{FF2B5EF4-FFF2-40B4-BE49-F238E27FC236}">
                <a16:creationId xmlns:a16="http://schemas.microsoft.com/office/drawing/2014/main" id="{987CABE5-49B3-D3B6-994E-7584042178BD}"/>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 1">
            <a:extLst>
              <a:ext uri="{FF2B5EF4-FFF2-40B4-BE49-F238E27FC236}">
                <a16:creationId xmlns:a16="http://schemas.microsoft.com/office/drawing/2014/main" id="{05D4E887-3182-6171-3636-6D09FC86807D}"/>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0" name="Text 11">
            <a:extLst>
              <a:ext uri="{FF2B5EF4-FFF2-40B4-BE49-F238E27FC236}">
                <a16:creationId xmlns:a16="http://schemas.microsoft.com/office/drawing/2014/main" id="{F02173B0-0CC7-55E3-F3F6-F710A40224E0}"/>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16</a:t>
            </a:r>
            <a:endParaRPr lang="en-US" sz="92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0" descr="/mnt/data/atmos_exec_v3/assets/cover.png">
            <a:extLst>
              <a:ext uri="{FF2B5EF4-FFF2-40B4-BE49-F238E27FC236}">
                <a16:creationId xmlns:a16="http://schemas.microsoft.com/office/drawing/2014/main" id="{1E71F665-4D96-9E66-F724-7296E1B19DD0}"/>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 name="Shape 0"/>
          <p:cNvSpPr/>
          <p:nvPr/>
        </p:nvSpPr>
        <p:spPr>
          <a:xfrm>
            <a:off x="0" y="0"/>
            <a:ext cx="12191695" cy="59436"/>
          </a:xfrm>
          <a:prstGeom prst="rect">
            <a:avLst/>
          </a:prstGeom>
          <a:solidFill>
            <a:srgbClr val="E31837"/>
          </a:solidFill>
          <a:ln w="12700">
            <a:solidFill>
              <a:srgbClr val="E31837"/>
            </a:solidFill>
            <a:prstDash val="solid"/>
          </a:ln>
        </p:spPr>
        <p:txBody>
          <a:bodyPr/>
          <a:lstStyle/>
          <a:p>
            <a:endParaRPr lang="en-US"/>
          </a:p>
        </p:txBody>
      </p:sp>
      <p:sp>
        <p:nvSpPr>
          <p:cNvPr id="4" name="Text 2"/>
          <p:cNvSpPr/>
          <p:nvPr/>
        </p:nvSpPr>
        <p:spPr>
          <a:xfrm>
            <a:off x="7498080" y="292608"/>
            <a:ext cx="4160520" cy="219456"/>
          </a:xfrm>
          <a:prstGeom prst="rect">
            <a:avLst/>
          </a:prstGeom>
          <a:noFill/>
          <a:ln/>
        </p:spPr>
        <p:txBody>
          <a:bodyPr wrap="square" lIns="0" tIns="0" rIns="0" bIns="0" rtlCol="0" anchor="ctr"/>
          <a:lstStyle/>
          <a:p>
            <a:pPr marL="0" indent="0" algn="r">
              <a:buNone/>
            </a:pPr>
            <a:r>
              <a:rPr lang="en-US" sz="1050" dirty="0">
                <a:solidFill>
                  <a:srgbClr val="5B6169"/>
                </a:solidFill>
                <a:latin typeface="Arial" pitchFamily="34" charset="0"/>
                <a:ea typeface="Arial" pitchFamily="34" charset="-122"/>
                <a:cs typeface="Arial" pitchFamily="34" charset="-120"/>
              </a:rPr>
              <a:t>ATMOS / SKU → CUSTOMER OUTCOME</a:t>
            </a:r>
            <a:endParaRPr lang="en-US" sz="1050" dirty="0"/>
          </a:p>
        </p:txBody>
      </p:sp>
      <p:sp>
        <p:nvSpPr>
          <p:cNvPr id="5" name="Text 3"/>
          <p:cNvSpPr/>
          <p:nvPr/>
        </p:nvSpPr>
        <p:spPr>
          <a:xfrm>
            <a:off x="502920" y="914400"/>
            <a:ext cx="11183112" cy="621792"/>
          </a:xfrm>
          <a:prstGeom prst="rect">
            <a:avLst/>
          </a:prstGeom>
          <a:noFill/>
          <a:ln/>
        </p:spPr>
        <p:txBody>
          <a:bodyPr wrap="square" lIns="0" tIns="0" rIns="0" bIns="0" rtlCol="0" anchor="ctr"/>
          <a:lstStyle/>
          <a:p>
            <a:pPr marL="0" indent="0">
              <a:buNone/>
            </a:pPr>
            <a:r>
              <a:rPr lang="en-US" sz="2800" b="1" dirty="0">
                <a:solidFill>
                  <a:schemeClr val="bg1"/>
                </a:solidFill>
                <a:latin typeface="Arial" pitchFamily="34" charset="0"/>
                <a:ea typeface="Arial" pitchFamily="34" charset="-122"/>
                <a:cs typeface="Arial" pitchFamily="34" charset="-120"/>
              </a:rPr>
              <a:t>E16 and E24 scale shared services—not single-token speed.</a:t>
            </a:r>
            <a:endParaRPr lang="en-US" sz="2800" dirty="0">
              <a:solidFill>
                <a:schemeClr val="bg1"/>
              </a:solidFill>
            </a:endParaRPr>
          </a:p>
        </p:txBody>
      </p:sp>
      <p:sp>
        <p:nvSpPr>
          <p:cNvPr id="6" name="Text 4"/>
          <p:cNvSpPr/>
          <p:nvPr/>
        </p:nvSpPr>
        <p:spPr>
          <a:xfrm>
            <a:off x="502920" y="1591056"/>
            <a:ext cx="11109960" cy="329184"/>
          </a:xfrm>
          <a:prstGeom prst="rect">
            <a:avLst/>
          </a:prstGeom>
          <a:noFill/>
          <a:ln/>
        </p:spPr>
        <p:txBody>
          <a:bodyPr wrap="square" lIns="0" tIns="0" rIns="0" bIns="0" rtlCol="0" anchor="ctr"/>
          <a:lstStyle/>
          <a:p>
            <a:pPr marL="0" indent="0">
              <a:buNone/>
            </a:pPr>
            <a:r>
              <a:rPr lang="en-US" sz="1370" dirty="0">
                <a:solidFill>
                  <a:schemeClr val="bg1"/>
                </a:solidFill>
                <a:latin typeface="Arial" pitchFamily="34" charset="0"/>
                <a:ea typeface="Arial" pitchFamily="34" charset="-122"/>
                <a:cs typeface="Arial" pitchFamily="34" charset="-120"/>
              </a:rPr>
              <a:t>Add complete serving groups and durable operations. Device count is not user count or an HA guarantee.</a:t>
            </a:r>
            <a:endParaRPr lang="en-US" sz="1370" dirty="0">
              <a:solidFill>
                <a:schemeClr val="bg1"/>
              </a:solidFill>
            </a:endParaRPr>
          </a:p>
        </p:txBody>
      </p:sp>
      <p:sp>
        <p:nvSpPr>
          <p:cNvPr id="7" name="Shape 5"/>
          <p:cNvSpPr/>
          <p:nvPr/>
        </p:nvSpPr>
        <p:spPr>
          <a:xfrm>
            <a:off x="502920" y="6035040"/>
            <a:ext cx="11183112" cy="365760"/>
          </a:xfrm>
          <a:prstGeom prst="rect">
            <a:avLst/>
          </a:prstGeom>
          <a:solidFill>
            <a:srgbClr val="FCECF0"/>
          </a:solidFill>
          <a:ln w="12700">
            <a:solidFill>
              <a:srgbClr val="FCECF0"/>
            </a:solidFill>
            <a:prstDash val="solid"/>
          </a:ln>
        </p:spPr>
        <p:txBody>
          <a:bodyPr/>
          <a:lstStyle/>
          <a:p>
            <a:endParaRPr lang="en-US"/>
          </a:p>
        </p:txBody>
      </p:sp>
      <p:sp>
        <p:nvSpPr>
          <p:cNvPr id="8" name="Text 6"/>
          <p:cNvSpPr/>
          <p:nvPr/>
        </p:nvSpPr>
        <p:spPr>
          <a:xfrm>
            <a:off x="658368" y="6089904"/>
            <a:ext cx="10872216" cy="246888"/>
          </a:xfrm>
          <a:prstGeom prst="rect">
            <a:avLst/>
          </a:prstGeom>
          <a:noFill/>
          <a:ln/>
        </p:spPr>
        <p:txBody>
          <a:bodyPr wrap="square" lIns="0" tIns="0" rIns="0" bIns="0" rtlCol="0" anchor="ctr"/>
          <a:lstStyle/>
          <a:p>
            <a:pPr marL="0" indent="0">
              <a:buNone/>
            </a:pPr>
            <a:r>
              <a:rPr lang="en-US" sz="1250" b="1" dirty="0">
                <a:solidFill>
                  <a:srgbClr val="E31837"/>
                </a:solidFill>
                <a:latin typeface="Arial" pitchFamily="34" charset="0"/>
                <a:ea typeface="Arial" pitchFamily="34" charset="-122"/>
                <a:cs typeface="Arial" pitchFamily="34" charset="-120"/>
              </a:rPr>
              <a:t>E24 is a gated stretch profile. Confirm six-domain communication, thermals, real demand and service economics.</a:t>
            </a:r>
            <a:endParaRPr lang="en-US" sz="1250" dirty="0"/>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p>
        </p:txBody>
      </p:sp>
      <p:sp>
        <p:nvSpPr>
          <p:cNvPr id="14" name="Shape 12"/>
          <p:cNvSpPr/>
          <p:nvPr/>
        </p:nvSpPr>
        <p:spPr>
          <a:xfrm>
            <a:off x="502920" y="2112264"/>
            <a:ext cx="5495544" cy="3657600"/>
          </a:xfrm>
          <a:prstGeom prst="rect">
            <a:avLst/>
          </a:prstGeom>
          <a:solidFill>
            <a:srgbClr val="C00000"/>
          </a:solidFill>
          <a:ln w="12700">
            <a:solidFill>
              <a:srgbClr val="F3F4F6"/>
            </a:solidFill>
            <a:prstDash val="solid"/>
          </a:ln>
        </p:spPr>
        <p:txBody>
          <a:bodyPr/>
          <a:lstStyle/>
          <a:p>
            <a:endParaRPr lang="en-US"/>
          </a:p>
        </p:txBody>
      </p:sp>
      <p:sp>
        <p:nvSpPr>
          <p:cNvPr id="15" name="Text 13"/>
          <p:cNvSpPr/>
          <p:nvPr/>
        </p:nvSpPr>
        <p:spPr>
          <a:xfrm>
            <a:off x="667512" y="2258568"/>
            <a:ext cx="5157216" cy="384048"/>
          </a:xfrm>
          <a:prstGeom prst="rect">
            <a:avLst/>
          </a:prstGeom>
          <a:noFill/>
          <a:ln/>
        </p:spPr>
        <p:txBody>
          <a:bodyPr wrap="square" lIns="0" tIns="0" rIns="0" bIns="0" rtlCol="0" anchor="ctr"/>
          <a:lstStyle/>
          <a:p>
            <a:pPr marL="0" indent="0">
              <a:buNone/>
            </a:pPr>
            <a:r>
              <a:rPr lang="en-US" sz="1750" b="1" dirty="0">
                <a:solidFill>
                  <a:schemeClr val="bg1"/>
                </a:solidFill>
                <a:latin typeface="Arial" pitchFamily="34" charset="0"/>
                <a:ea typeface="Arial" pitchFamily="34" charset="-122"/>
                <a:cs typeface="Arial" pitchFamily="34" charset="-120"/>
              </a:rPr>
              <a:t>E16 | bank policy and investigation service</a:t>
            </a:r>
            <a:endParaRPr lang="en-US" sz="1750" dirty="0">
              <a:solidFill>
                <a:schemeClr val="bg1"/>
              </a:solidFill>
            </a:endParaRPr>
          </a:p>
        </p:txBody>
      </p:sp>
      <p:pic>
        <p:nvPicPr>
          <p:cNvPr id="16" name="Image 0" descr="/mnt/data/atmos_market_work/v3_slide5_image2.png"/>
          <p:cNvPicPr>
            <a:picLocks noChangeAspect="1"/>
          </p:cNvPicPr>
          <p:nvPr/>
        </p:nvPicPr>
        <p:blipFill>
          <a:blip r:embed="rId4"/>
          <a:stretch>
            <a:fillRect/>
          </a:stretch>
        </p:blipFill>
        <p:spPr>
          <a:xfrm>
            <a:off x="4279392" y="2660904"/>
            <a:ext cx="1417320" cy="768096"/>
          </a:xfrm>
          <a:prstGeom prst="rect">
            <a:avLst/>
          </a:prstGeom>
        </p:spPr>
      </p:pic>
      <p:sp>
        <p:nvSpPr>
          <p:cNvPr id="17" name="Text 14"/>
          <p:cNvSpPr/>
          <p:nvPr/>
        </p:nvSpPr>
        <p:spPr>
          <a:xfrm>
            <a:off x="667512" y="2752344"/>
            <a:ext cx="3273552" cy="530352"/>
          </a:xfrm>
          <a:prstGeom prst="rect">
            <a:avLst/>
          </a:prstGeom>
          <a:noFill/>
          <a:ln/>
        </p:spPr>
        <p:txBody>
          <a:bodyPr wrap="square" lIns="0" tIns="0" rIns="0" bIns="0" rtlCol="0" anchor="ctr"/>
          <a:lstStyle/>
          <a:p>
            <a:pPr marL="0" indent="0">
              <a:buNone/>
            </a:pPr>
            <a:r>
              <a:rPr lang="en-US" sz="1600" b="1" dirty="0">
                <a:solidFill>
                  <a:schemeClr val="bg1"/>
                </a:solidFill>
                <a:latin typeface="Arial" pitchFamily="34" charset="0"/>
                <a:ea typeface="Arial" pitchFamily="34" charset="-122"/>
                <a:cs typeface="Arial" pitchFamily="34" charset="-120"/>
              </a:rPr>
              <a:t>16 modules</a:t>
            </a:r>
            <a:endParaRPr lang="en-US" sz="1600" dirty="0">
              <a:solidFill>
                <a:schemeClr val="bg1"/>
              </a:solidFill>
            </a:endParaRPr>
          </a:p>
        </p:txBody>
      </p:sp>
      <p:sp>
        <p:nvSpPr>
          <p:cNvPr id="18" name="Text 15"/>
          <p:cNvSpPr/>
          <p:nvPr/>
        </p:nvSpPr>
        <p:spPr>
          <a:xfrm>
            <a:off x="667512" y="3511296"/>
            <a:ext cx="5120640" cy="685800"/>
          </a:xfrm>
          <a:prstGeom prst="rect">
            <a:avLst/>
          </a:prstGeom>
          <a:noFill/>
          <a:ln/>
        </p:spPr>
        <p:txBody>
          <a:bodyPr wrap="square" lIns="0" tIns="0" rIns="0" bIns="0" rtlCol="0" anchor="ctr"/>
          <a:lstStyle/>
          <a:p>
            <a:pPr marL="0" indent="0">
              <a:buNone/>
            </a:pPr>
            <a:r>
              <a:rPr lang="en-US" sz="1560" dirty="0">
                <a:solidFill>
                  <a:schemeClr val="bg1"/>
                </a:solidFill>
                <a:latin typeface="Arial" pitchFamily="34" charset="0"/>
                <a:ea typeface="Arial" pitchFamily="34" charset="-122"/>
                <a:cs typeface="Arial" pitchFamily="34" charset="-120"/>
              </a:rPr>
              <a:t>Multiple business teams share approved policy, KYC and investigation knowledge with tenant isolation and audit.</a:t>
            </a:r>
            <a:endParaRPr lang="en-US" sz="1560" dirty="0">
              <a:solidFill>
                <a:schemeClr val="bg1"/>
              </a:solidFill>
            </a:endParaRPr>
          </a:p>
        </p:txBody>
      </p:sp>
      <p:sp>
        <p:nvSpPr>
          <p:cNvPr id="19" name="Shape 16"/>
          <p:cNvSpPr/>
          <p:nvPr/>
        </p:nvSpPr>
        <p:spPr>
          <a:xfrm>
            <a:off x="667512" y="4288536"/>
            <a:ext cx="5157216" cy="402336"/>
          </a:xfrm>
          <a:prstGeom prst="rect">
            <a:avLst/>
          </a:prstGeom>
          <a:solidFill>
            <a:srgbClr val="18191D"/>
          </a:solidFill>
          <a:ln w="12700">
            <a:solidFill>
              <a:srgbClr val="18191D"/>
            </a:solidFill>
            <a:prstDash val="solid"/>
          </a:ln>
        </p:spPr>
        <p:txBody>
          <a:bodyPr/>
          <a:lstStyle/>
          <a:p>
            <a:endParaRPr lang="en-US"/>
          </a:p>
        </p:txBody>
      </p:sp>
      <p:sp>
        <p:nvSpPr>
          <p:cNvPr id="20" name="Text 17"/>
          <p:cNvSpPr/>
          <p:nvPr/>
        </p:nvSpPr>
        <p:spPr>
          <a:xfrm>
            <a:off x="768096" y="4361688"/>
            <a:ext cx="4946904" cy="219456"/>
          </a:xfrm>
          <a:prstGeom prst="rect">
            <a:avLst/>
          </a:prstGeom>
          <a:noFill/>
          <a:ln/>
        </p:spPr>
        <p:txBody>
          <a:bodyPr wrap="square" lIns="0" tIns="0" rIns="0" bIns="0" rtlCol="0" anchor="ctr"/>
          <a:lstStyle/>
          <a:p>
            <a:pPr marL="0" indent="0">
              <a:buNone/>
            </a:pPr>
            <a:r>
              <a:rPr lang="en-US" sz="1320" b="1" dirty="0">
                <a:solidFill>
                  <a:srgbClr val="FFFFFF"/>
                </a:solidFill>
                <a:latin typeface="Arial" pitchFamily="34" charset="0"/>
                <a:ea typeface="Arial" pitchFamily="34" charset="-122"/>
                <a:cs typeface="Arial" pitchFamily="34" charset="-120"/>
              </a:rPr>
              <a:t>Tenant identity → governed evidence → cited answer</a:t>
            </a:r>
            <a:endParaRPr lang="en-US" sz="1320" dirty="0"/>
          </a:p>
        </p:txBody>
      </p:sp>
      <p:sp>
        <p:nvSpPr>
          <p:cNvPr id="21" name="Text 18"/>
          <p:cNvSpPr/>
          <p:nvPr/>
        </p:nvSpPr>
        <p:spPr>
          <a:xfrm>
            <a:off x="667512" y="4882896"/>
            <a:ext cx="5138928" cy="493776"/>
          </a:xfrm>
          <a:prstGeom prst="rect">
            <a:avLst/>
          </a:prstGeom>
          <a:noFill/>
          <a:ln/>
        </p:spPr>
        <p:txBody>
          <a:bodyPr wrap="square" lIns="0" tIns="0" rIns="0" bIns="0" rtlCol="0" anchor="ctr"/>
          <a:lstStyle/>
          <a:p>
            <a:pPr marL="0" indent="0">
              <a:buNone/>
            </a:pPr>
            <a:r>
              <a:rPr lang="en-US" sz="1510" dirty="0">
                <a:solidFill>
                  <a:schemeClr val="bg1"/>
                </a:solidFill>
                <a:latin typeface="Arial" pitchFamily="34" charset="0"/>
                <a:ea typeface="Arial" pitchFamily="34" charset="-122"/>
                <a:cs typeface="Arial" pitchFamily="34" charset="-120"/>
              </a:rPr>
              <a:t>Use complete replicas across nodes for N+1.</a:t>
            </a:r>
            <a:endParaRPr lang="en-US" sz="1510" dirty="0">
              <a:solidFill>
                <a:schemeClr val="bg1"/>
              </a:solidFill>
            </a:endParaRPr>
          </a:p>
          <a:p>
            <a:pPr marL="0" indent="0">
              <a:buNone/>
            </a:pPr>
            <a:r>
              <a:rPr lang="en-US" sz="1510" dirty="0">
                <a:solidFill>
                  <a:schemeClr val="bg1"/>
                </a:solidFill>
                <a:latin typeface="Arial" pitchFamily="34" charset="0"/>
                <a:ea typeface="Arial" pitchFamily="34" charset="-122"/>
                <a:cs typeface="Arial" pitchFamily="34" charset="-120"/>
              </a:rPr>
              <a:t>Measure retained peak capacity after a failure.</a:t>
            </a:r>
            <a:endParaRPr lang="en-US" sz="1510" dirty="0">
              <a:solidFill>
                <a:schemeClr val="bg1"/>
              </a:solidFill>
            </a:endParaRPr>
          </a:p>
        </p:txBody>
      </p:sp>
      <p:sp>
        <p:nvSpPr>
          <p:cNvPr id="22" name="Text 19"/>
          <p:cNvSpPr/>
          <p:nvPr/>
        </p:nvSpPr>
        <p:spPr>
          <a:xfrm>
            <a:off x="667512" y="5513832"/>
            <a:ext cx="5138928" cy="182880"/>
          </a:xfrm>
          <a:prstGeom prst="rect">
            <a:avLst/>
          </a:prstGeom>
          <a:noFill/>
          <a:ln/>
        </p:spPr>
        <p:txBody>
          <a:bodyPr wrap="square" lIns="0" tIns="0" rIns="0" bIns="0" rtlCol="0" anchor="ctr"/>
          <a:lstStyle/>
          <a:p>
            <a:pPr marL="0" indent="0">
              <a:buNone/>
            </a:pPr>
            <a:r>
              <a:rPr lang="en-US" sz="1260" b="1" dirty="0">
                <a:solidFill>
                  <a:schemeClr val="bg1"/>
                </a:solidFill>
                <a:latin typeface="Arial" pitchFamily="34" charset="0"/>
                <a:ea typeface="Arial" pitchFamily="34" charset="-122"/>
                <a:cs typeface="Arial" pitchFamily="34" charset="-120"/>
              </a:rPr>
              <a:t>R1 target ≥20 QPS • G1 target ≥160 output tok/s</a:t>
            </a:r>
            <a:endParaRPr lang="en-US" sz="1260" dirty="0">
              <a:solidFill>
                <a:schemeClr val="bg1"/>
              </a:solidFill>
            </a:endParaRPr>
          </a:p>
        </p:txBody>
      </p:sp>
      <p:sp>
        <p:nvSpPr>
          <p:cNvPr id="23" name="Shape 20"/>
          <p:cNvSpPr/>
          <p:nvPr/>
        </p:nvSpPr>
        <p:spPr>
          <a:xfrm>
            <a:off x="6190488" y="2112264"/>
            <a:ext cx="5495544" cy="3657600"/>
          </a:xfrm>
          <a:prstGeom prst="rect">
            <a:avLst/>
          </a:prstGeom>
          <a:solidFill>
            <a:srgbClr val="C00000"/>
          </a:solidFill>
          <a:ln w="12700">
            <a:solidFill>
              <a:srgbClr val="F3F4F6"/>
            </a:solidFill>
            <a:prstDash val="solid"/>
          </a:ln>
        </p:spPr>
        <p:txBody>
          <a:bodyPr/>
          <a:lstStyle/>
          <a:p>
            <a:endParaRPr lang="en-US"/>
          </a:p>
        </p:txBody>
      </p:sp>
      <p:sp>
        <p:nvSpPr>
          <p:cNvPr id="24" name="Text 21"/>
          <p:cNvSpPr/>
          <p:nvPr/>
        </p:nvSpPr>
        <p:spPr>
          <a:xfrm>
            <a:off x="6355080" y="2258568"/>
            <a:ext cx="5157216" cy="384048"/>
          </a:xfrm>
          <a:prstGeom prst="rect">
            <a:avLst/>
          </a:prstGeom>
          <a:noFill/>
          <a:ln/>
        </p:spPr>
        <p:txBody>
          <a:bodyPr wrap="square" lIns="0" tIns="0" rIns="0" bIns="0" rtlCol="0" anchor="ctr"/>
          <a:lstStyle/>
          <a:p>
            <a:pPr marL="0" indent="0">
              <a:buNone/>
            </a:pPr>
            <a:r>
              <a:rPr lang="en-US" sz="1750" b="1" dirty="0">
                <a:solidFill>
                  <a:schemeClr val="bg1"/>
                </a:solidFill>
                <a:latin typeface="Arial" pitchFamily="34" charset="0"/>
                <a:ea typeface="Arial" pitchFamily="34" charset="-122"/>
                <a:cs typeface="Arial" pitchFamily="34" charset="-120"/>
              </a:rPr>
              <a:t>E24 | regional telecom knowledge hub</a:t>
            </a:r>
            <a:endParaRPr lang="en-US" sz="1750" dirty="0">
              <a:solidFill>
                <a:schemeClr val="bg1"/>
              </a:solidFill>
            </a:endParaRPr>
          </a:p>
        </p:txBody>
      </p:sp>
      <p:pic>
        <p:nvPicPr>
          <p:cNvPr id="25" name="Image 1" descr="/mnt/data/atmos_market_work/v3_slide5_image3.png"/>
          <p:cNvPicPr>
            <a:picLocks noChangeAspect="1"/>
          </p:cNvPicPr>
          <p:nvPr/>
        </p:nvPicPr>
        <p:blipFill>
          <a:blip r:embed="rId5"/>
          <a:stretch>
            <a:fillRect/>
          </a:stretch>
        </p:blipFill>
        <p:spPr>
          <a:xfrm>
            <a:off x="9966960" y="2660904"/>
            <a:ext cx="1417320" cy="768096"/>
          </a:xfrm>
          <a:prstGeom prst="rect">
            <a:avLst/>
          </a:prstGeom>
        </p:spPr>
      </p:pic>
      <p:sp>
        <p:nvSpPr>
          <p:cNvPr id="26" name="Text 22"/>
          <p:cNvSpPr/>
          <p:nvPr/>
        </p:nvSpPr>
        <p:spPr>
          <a:xfrm>
            <a:off x="6355080" y="2752344"/>
            <a:ext cx="3273552" cy="530352"/>
          </a:xfrm>
          <a:prstGeom prst="rect">
            <a:avLst/>
          </a:prstGeom>
          <a:noFill/>
          <a:ln/>
        </p:spPr>
        <p:txBody>
          <a:bodyPr wrap="square" lIns="0" tIns="0" rIns="0" bIns="0" rtlCol="0" anchor="ctr"/>
          <a:lstStyle/>
          <a:p>
            <a:pPr marL="0" indent="0">
              <a:buNone/>
            </a:pPr>
            <a:r>
              <a:rPr lang="en-US" sz="1600" b="1" dirty="0">
                <a:solidFill>
                  <a:schemeClr val="bg1"/>
                </a:solidFill>
                <a:latin typeface="Arial" pitchFamily="34" charset="0"/>
                <a:ea typeface="Arial" pitchFamily="34" charset="-122"/>
                <a:cs typeface="Arial" pitchFamily="34" charset="-120"/>
              </a:rPr>
              <a:t>24 modules</a:t>
            </a:r>
            <a:endParaRPr lang="en-US" sz="1600" dirty="0">
              <a:solidFill>
                <a:schemeClr val="bg1"/>
              </a:solidFill>
            </a:endParaRPr>
          </a:p>
        </p:txBody>
      </p:sp>
      <p:sp>
        <p:nvSpPr>
          <p:cNvPr id="27" name="Text 23"/>
          <p:cNvSpPr/>
          <p:nvPr/>
        </p:nvSpPr>
        <p:spPr>
          <a:xfrm>
            <a:off x="6355080" y="3511296"/>
            <a:ext cx="5120640" cy="685800"/>
          </a:xfrm>
          <a:prstGeom prst="rect">
            <a:avLst/>
          </a:prstGeom>
          <a:noFill/>
          <a:ln/>
        </p:spPr>
        <p:txBody>
          <a:bodyPr wrap="square" lIns="0" tIns="0" rIns="0" bIns="0" rtlCol="0" anchor="ctr"/>
          <a:lstStyle/>
          <a:p>
            <a:pPr marL="0" indent="0">
              <a:buNone/>
            </a:pPr>
            <a:r>
              <a:rPr lang="en-US" sz="1560" dirty="0">
                <a:solidFill>
                  <a:schemeClr val="bg1"/>
                </a:solidFill>
                <a:latin typeface="Arial" pitchFamily="34" charset="0"/>
                <a:ea typeface="Arial" pitchFamily="34" charset="-122"/>
                <a:cs typeface="Arial" pitchFamily="34" charset="-120"/>
              </a:rPr>
              <a:t>Several service catalogs and retained generations support regional runbooks, ticket similarity and batch summaries.</a:t>
            </a:r>
            <a:endParaRPr lang="en-US" sz="1560" dirty="0">
              <a:solidFill>
                <a:schemeClr val="bg1"/>
              </a:solidFill>
            </a:endParaRPr>
          </a:p>
        </p:txBody>
      </p:sp>
      <p:sp>
        <p:nvSpPr>
          <p:cNvPr id="28" name="Shape 24"/>
          <p:cNvSpPr/>
          <p:nvPr/>
        </p:nvSpPr>
        <p:spPr>
          <a:xfrm>
            <a:off x="6355080" y="4288536"/>
            <a:ext cx="5157216" cy="402336"/>
          </a:xfrm>
          <a:prstGeom prst="rect">
            <a:avLst/>
          </a:prstGeom>
          <a:solidFill>
            <a:srgbClr val="18191D"/>
          </a:solidFill>
          <a:ln w="12700">
            <a:solidFill>
              <a:srgbClr val="18191D"/>
            </a:solidFill>
            <a:prstDash val="solid"/>
          </a:ln>
        </p:spPr>
        <p:txBody>
          <a:bodyPr/>
          <a:lstStyle/>
          <a:p>
            <a:endParaRPr lang="en-US"/>
          </a:p>
        </p:txBody>
      </p:sp>
      <p:sp>
        <p:nvSpPr>
          <p:cNvPr id="29" name="Text 25"/>
          <p:cNvSpPr/>
          <p:nvPr/>
        </p:nvSpPr>
        <p:spPr>
          <a:xfrm>
            <a:off x="6455664" y="4361688"/>
            <a:ext cx="4946904" cy="219456"/>
          </a:xfrm>
          <a:prstGeom prst="rect">
            <a:avLst/>
          </a:prstGeom>
          <a:noFill/>
          <a:ln/>
        </p:spPr>
        <p:txBody>
          <a:bodyPr wrap="square" lIns="0" tIns="0" rIns="0" bIns="0" rtlCol="0" anchor="ctr"/>
          <a:lstStyle/>
          <a:p>
            <a:pPr marL="0" indent="0">
              <a:buNone/>
            </a:pPr>
            <a:r>
              <a:rPr lang="en-US" sz="1320" b="1" dirty="0">
                <a:solidFill>
                  <a:srgbClr val="FFFFFF"/>
                </a:solidFill>
                <a:latin typeface="Arial" pitchFamily="34" charset="0"/>
                <a:ea typeface="Arial" pitchFamily="34" charset="-122"/>
                <a:cs typeface="Arial" pitchFamily="34" charset="-120"/>
              </a:rPr>
              <a:t>Tickets + manuals → evidence → operator draft</a:t>
            </a:r>
            <a:endParaRPr lang="en-US" sz="1320" dirty="0"/>
          </a:p>
        </p:txBody>
      </p:sp>
      <p:sp>
        <p:nvSpPr>
          <p:cNvPr id="30" name="Text 26"/>
          <p:cNvSpPr/>
          <p:nvPr/>
        </p:nvSpPr>
        <p:spPr>
          <a:xfrm>
            <a:off x="6355080" y="4882896"/>
            <a:ext cx="5138928" cy="493776"/>
          </a:xfrm>
          <a:prstGeom prst="rect">
            <a:avLst/>
          </a:prstGeom>
          <a:noFill/>
          <a:ln/>
        </p:spPr>
        <p:txBody>
          <a:bodyPr wrap="square" lIns="0" tIns="0" rIns="0" bIns="0" rtlCol="0" anchor="ctr"/>
          <a:lstStyle/>
          <a:p>
            <a:pPr marL="0" indent="0">
              <a:buNone/>
            </a:pPr>
            <a:r>
              <a:rPr lang="en-US" sz="1510" dirty="0">
                <a:solidFill>
                  <a:schemeClr val="bg1"/>
                </a:solidFill>
                <a:latin typeface="Arial" pitchFamily="34" charset="0"/>
                <a:ea typeface="Arial" pitchFamily="34" charset="-122"/>
                <a:cs typeface="Arial" pitchFamily="34" charset="-120"/>
              </a:rPr>
              <a:t>Prove catalog residency, freshness, handle time</a:t>
            </a:r>
            <a:endParaRPr lang="en-US" sz="1510" dirty="0">
              <a:solidFill>
                <a:schemeClr val="bg1"/>
              </a:solidFill>
            </a:endParaRPr>
          </a:p>
          <a:p>
            <a:pPr marL="0" indent="0">
              <a:buNone/>
            </a:pPr>
            <a:r>
              <a:rPr lang="en-US" sz="1510" dirty="0">
                <a:solidFill>
                  <a:schemeClr val="bg1"/>
                </a:solidFill>
                <a:latin typeface="Arial" pitchFamily="34" charset="0"/>
                <a:ea typeface="Arial" pitchFamily="34" charset="-122"/>
                <a:cs typeface="Arial" pitchFamily="34" charset="-120"/>
              </a:rPr>
              <a:t>and safe upgrades—not network control.</a:t>
            </a:r>
            <a:endParaRPr lang="en-US" sz="1510" dirty="0">
              <a:solidFill>
                <a:schemeClr val="bg1"/>
              </a:solidFill>
            </a:endParaRPr>
          </a:p>
        </p:txBody>
      </p:sp>
      <p:sp>
        <p:nvSpPr>
          <p:cNvPr id="31" name="Text 27"/>
          <p:cNvSpPr/>
          <p:nvPr/>
        </p:nvSpPr>
        <p:spPr>
          <a:xfrm>
            <a:off x="6355080" y="5513832"/>
            <a:ext cx="5138928" cy="182880"/>
          </a:xfrm>
          <a:prstGeom prst="rect">
            <a:avLst/>
          </a:prstGeom>
          <a:noFill/>
          <a:ln/>
        </p:spPr>
        <p:txBody>
          <a:bodyPr wrap="square" lIns="0" tIns="0" rIns="0" bIns="0" rtlCol="0" anchor="ctr"/>
          <a:lstStyle/>
          <a:p>
            <a:pPr marL="0" indent="0">
              <a:buNone/>
            </a:pPr>
            <a:r>
              <a:rPr lang="en-US" sz="1260" b="1" dirty="0">
                <a:solidFill>
                  <a:schemeClr val="bg1"/>
                </a:solidFill>
                <a:latin typeface="Arial" pitchFamily="34" charset="0"/>
                <a:ea typeface="Arial" pitchFamily="34" charset="-122"/>
                <a:cs typeface="Arial" pitchFamily="34" charset="-120"/>
              </a:rPr>
              <a:t>R1 target ≥30 QPS • G1 target ≥240 output tok/s</a:t>
            </a:r>
            <a:endParaRPr lang="en-US" sz="1260" dirty="0">
              <a:solidFill>
                <a:schemeClr val="bg1"/>
              </a:solidFill>
            </a:endParaRPr>
          </a:p>
        </p:txBody>
      </p:sp>
      <p:sp>
        <p:nvSpPr>
          <p:cNvPr id="32" name="Text 28"/>
          <p:cNvSpPr/>
          <p:nvPr/>
        </p:nvSpPr>
        <p:spPr>
          <a:xfrm>
            <a:off x="548640" y="5843016"/>
            <a:ext cx="11027664" cy="146304"/>
          </a:xfrm>
          <a:prstGeom prst="rect">
            <a:avLst/>
          </a:prstGeom>
          <a:noFill/>
          <a:ln/>
        </p:spPr>
        <p:txBody>
          <a:bodyPr wrap="square" lIns="0" tIns="0" rIns="0" bIns="0" rtlCol="0" anchor="ctr"/>
          <a:lstStyle/>
          <a:p>
            <a:pPr marL="0" indent="0">
              <a:buNone/>
            </a:pPr>
            <a:r>
              <a:rPr lang="en-US" sz="950" dirty="0">
                <a:solidFill>
                  <a:schemeClr val="bg1"/>
                </a:solidFill>
                <a:latin typeface="Arial" pitchFamily="34" charset="0"/>
                <a:ea typeface="Arial" pitchFamily="34" charset="-122"/>
                <a:cs typeface="Arial" pitchFamily="34" charset="-120"/>
              </a:rPr>
              <a:t>Appliance images: V3 concepts only. R1 and G1 are separate qualification profiles—not combined workload results.</a:t>
            </a:r>
            <a:endParaRPr lang="en-US" sz="950" dirty="0">
              <a:solidFill>
                <a:schemeClr val="bg1"/>
              </a:solidFill>
            </a:endParaRPr>
          </a:p>
        </p:txBody>
      </p:sp>
      <p:sp>
        <p:nvSpPr>
          <p:cNvPr id="34" name="Shape 0">
            <a:extLst>
              <a:ext uri="{FF2B5EF4-FFF2-40B4-BE49-F238E27FC236}">
                <a16:creationId xmlns:a16="http://schemas.microsoft.com/office/drawing/2014/main" id="{8B52EDA0-C563-0A23-210E-3F4690B610F4}"/>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p>
        </p:txBody>
      </p:sp>
      <p:sp>
        <p:nvSpPr>
          <p:cNvPr id="35" name="Shape 0">
            <a:extLst>
              <a:ext uri="{FF2B5EF4-FFF2-40B4-BE49-F238E27FC236}">
                <a16:creationId xmlns:a16="http://schemas.microsoft.com/office/drawing/2014/main" id="{3A6F830F-31DD-2B94-627C-308460C063CD}"/>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p>
        </p:txBody>
      </p:sp>
      <p:sp>
        <p:nvSpPr>
          <p:cNvPr id="36" name="Shape 0">
            <a:extLst>
              <a:ext uri="{FF2B5EF4-FFF2-40B4-BE49-F238E27FC236}">
                <a16:creationId xmlns:a16="http://schemas.microsoft.com/office/drawing/2014/main" id="{A8ED1C52-4F0B-2B1B-9F0A-01E26499C3EC}"/>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p>
        </p:txBody>
      </p:sp>
      <p:sp>
        <p:nvSpPr>
          <p:cNvPr id="37" name="Shape 0">
            <a:extLst>
              <a:ext uri="{FF2B5EF4-FFF2-40B4-BE49-F238E27FC236}">
                <a16:creationId xmlns:a16="http://schemas.microsoft.com/office/drawing/2014/main" id="{2F419142-E852-51E0-A32E-23EC850ACF1D}"/>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p>
        </p:txBody>
      </p:sp>
      <p:sp>
        <p:nvSpPr>
          <p:cNvPr id="38" name="Rectangle 37">
            <a:extLst>
              <a:ext uri="{FF2B5EF4-FFF2-40B4-BE49-F238E27FC236}">
                <a16:creationId xmlns:a16="http://schemas.microsoft.com/office/drawing/2014/main" id="{0B720868-3C2E-B404-6FA8-02838A84217D}"/>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 1">
            <a:extLst>
              <a:ext uri="{FF2B5EF4-FFF2-40B4-BE49-F238E27FC236}">
                <a16:creationId xmlns:a16="http://schemas.microsoft.com/office/drawing/2014/main" id="{E9E4AD66-26F6-B6A5-40DE-A0993C0C895F}"/>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0" name="Text 11">
            <a:extLst>
              <a:ext uri="{FF2B5EF4-FFF2-40B4-BE49-F238E27FC236}">
                <a16:creationId xmlns:a16="http://schemas.microsoft.com/office/drawing/2014/main" id="{46A05C17-95B3-908A-3427-5A053C0BDA38}"/>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17</a:t>
            </a:r>
            <a:endParaRPr lang="en-US" sz="92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Image 0" descr="/mnt/data/atmos_exec_v3/assets/cover.png">
            <a:extLst>
              <a:ext uri="{FF2B5EF4-FFF2-40B4-BE49-F238E27FC236}">
                <a16:creationId xmlns:a16="http://schemas.microsoft.com/office/drawing/2014/main" id="{E36E34E6-DB91-7B29-F46F-2149B565AB98}"/>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 name="Shape 0"/>
          <p:cNvSpPr/>
          <p:nvPr/>
        </p:nvSpPr>
        <p:spPr>
          <a:xfrm>
            <a:off x="0" y="0"/>
            <a:ext cx="12191695" cy="59436"/>
          </a:xfrm>
          <a:prstGeom prst="rect">
            <a:avLst/>
          </a:prstGeom>
          <a:solidFill>
            <a:srgbClr val="E31837"/>
          </a:solidFill>
          <a:ln w="12700">
            <a:solidFill>
              <a:srgbClr val="E31837"/>
            </a:solidFill>
            <a:prstDash val="solid"/>
          </a:ln>
        </p:spPr>
        <p:txBody>
          <a:bodyPr/>
          <a:lstStyle/>
          <a:p>
            <a:endParaRPr lang="en-US">
              <a:solidFill>
                <a:schemeClr val="bg1"/>
              </a:solidFill>
            </a:endParaRPr>
          </a:p>
        </p:txBody>
      </p:sp>
      <p:sp>
        <p:nvSpPr>
          <p:cNvPr id="4" name="Text 2"/>
          <p:cNvSpPr/>
          <p:nvPr/>
        </p:nvSpPr>
        <p:spPr>
          <a:xfrm>
            <a:off x="7498080" y="292608"/>
            <a:ext cx="4160520" cy="219456"/>
          </a:xfrm>
          <a:prstGeom prst="rect">
            <a:avLst/>
          </a:prstGeom>
          <a:noFill/>
          <a:ln/>
        </p:spPr>
        <p:txBody>
          <a:bodyPr wrap="square" lIns="0" tIns="0" rIns="0" bIns="0" rtlCol="0" anchor="ctr"/>
          <a:lstStyle/>
          <a:p>
            <a:pPr marL="0" indent="0" algn="r">
              <a:buNone/>
            </a:pPr>
            <a:r>
              <a:rPr lang="en-US" sz="1050" dirty="0">
                <a:solidFill>
                  <a:schemeClr val="bg1"/>
                </a:solidFill>
                <a:latin typeface="Arial" pitchFamily="34" charset="0"/>
                <a:ea typeface="Arial" pitchFamily="34" charset="-122"/>
                <a:cs typeface="Arial" pitchFamily="34" charset="-120"/>
              </a:rPr>
              <a:t>ATMOS / BANDWIDTH HEATMAP</a:t>
            </a:r>
            <a:endParaRPr lang="en-US" sz="1050" dirty="0">
              <a:solidFill>
                <a:schemeClr val="bg1"/>
              </a:solidFill>
            </a:endParaRPr>
          </a:p>
        </p:txBody>
      </p:sp>
      <p:sp>
        <p:nvSpPr>
          <p:cNvPr id="5" name="Text 3"/>
          <p:cNvSpPr/>
          <p:nvPr/>
        </p:nvSpPr>
        <p:spPr>
          <a:xfrm>
            <a:off x="502920" y="914400"/>
            <a:ext cx="11183112" cy="621792"/>
          </a:xfrm>
          <a:prstGeom prst="rect">
            <a:avLst/>
          </a:prstGeom>
          <a:noFill/>
          <a:ln/>
        </p:spPr>
        <p:txBody>
          <a:bodyPr wrap="square" lIns="0" tIns="0" rIns="0" bIns="0" rtlCol="0" anchor="ctr"/>
          <a:lstStyle/>
          <a:p>
            <a:pPr marL="0" indent="0">
              <a:buNone/>
            </a:pPr>
            <a:r>
              <a:rPr lang="en-US" sz="2800" b="1" dirty="0">
                <a:solidFill>
                  <a:schemeClr val="bg1"/>
                </a:solidFill>
                <a:latin typeface="Arial" pitchFamily="34" charset="0"/>
                <a:ea typeface="Arial" pitchFamily="34" charset="-122"/>
                <a:cs typeface="Arial" pitchFamily="34" charset="-120"/>
              </a:rPr>
              <a:t>Bandwidth heatmap: local feed, device fabric and network.</a:t>
            </a:r>
            <a:endParaRPr lang="en-US" sz="2800" dirty="0">
              <a:solidFill>
                <a:schemeClr val="bg1"/>
              </a:solidFill>
            </a:endParaRPr>
          </a:p>
        </p:txBody>
      </p:sp>
      <p:sp>
        <p:nvSpPr>
          <p:cNvPr id="6" name="Text 4"/>
          <p:cNvSpPr/>
          <p:nvPr/>
        </p:nvSpPr>
        <p:spPr>
          <a:xfrm>
            <a:off x="502920" y="1591056"/>
            <a:ext cx="11109960" cy="329184"/>
          </a:xfrm>
          <a:prstGeom prst="rect">
            <a:avLst/>
          </a:prstGeom>
          <a:noFill/>
          <a:ln/>
        </p:spPr>
        <p:txBody>
          <a:bodyPr wrap="square" lIns="0" tIns="0" rIns="0" bIns="0" rtlCol="0" anchor="ctr"/>
          <a:lstStyle/>
          <a:p>
            <a:pPr marL="0" indent="0">
              <a:buNone/>
            </a:pPr>
            <a:r>
              <a:rPr lang="en-US" sz="1370" dirty="0">
                <a:solidFill>
                  <a:schemeClr val="bg1"/>
                </a:solidFill>
                <a:latin typeface="Arial" pitchFamily="34" charset="0"/>
                <a:ea typeface="Arial" pitchFamily="34" charset="-122"/>
                <a:cs typeface="Arial" pitchFamily="34" charset="-120"/>
              </a:rPr>
              <a:t>Local memory feed, device transport and service Ethernet are different resources; none is LLM throughput.</a:t>
            </a:r>
            <a:endParaRPr lang="en-US" sz="1370" dirty="0">
              <a:solidFill>
                <a:schemeClr val="bg1"/>
              </a:solidFill>
            </a:endParaRPr>
          </a:p>
        </p:txBody>
      </p:sp>
      <p:sp>
        <p:nvSpPr>
          <p:cNvPr id="7" name="Shape 5"/>
          <p:cNvSpPr/>
          <p:nvPr/>
        </p:nvSpPr>
        <p:spPr>
          <a:xfrm>
            <a:off x="502920" y="6035040"/>
            <a:ext cx="11183112" cy="365760"/>
          </a:xfrm>
          <a:prstGeom prst="rect">
            <a:avLst/>
          </a:prstGeom>
          <a:solidFill>
            <a:schemeClr val="bg1"/>
          </a:solidFill>
          <a:ln w="12700">
            <a:solidFill>
              <a:srgbClr val="FCECF0"/>
            </a:solidFill>
            <a:prstDash val="solid"/>
          </a:ln>
        </p:spPr>
        <p:txBody>
          <a:bodyPr/>
          <a:lstStyle/>
          <a:p>
            <a:endParaRPr lang="en-US">
              <a:solidFill>
                <a:srgbClr val="C00000"/>
              </a:solidFill>
            </a:endParaRPr>
          </a:p>
        </p:txBody>
      </p:sp>
      <p:sp>
        <p:nvSpPr>
          <p:cNvPr id="8" name="Text 6"/>
          <p:cNvSpPr/>
          <p:nvPr/>
        </p:nvSpPr>
        <p:spPr>
          <a:xfrm>
            <a:off x="658368" y="6089904"/>
            <a:ext cx="10872216" cy="246888"/>
          </a:xfrm>
          <a:prstGeom prst="rect">
            <a:avLst/>
          </a:prstGeom>
          <a:noFill/>
          <a:ln/>
        </p:spPr>
        <p:txBody>
          <a:bodyPr wrap="square" lIns="0" tIns="0" rIns="0" bIns="0" rtlCol="0" anchor="ctr"/>
          <a:lstStyle/>
          <a:p>
            <a:pPr marL="0" indent="0">
              <a:buNone/>
            </a:pPr>
            <a:r>
              <a:rPr lang="en-US" sz="1250" b="1" dirty="0">
                <a:solidFill>
                  <a:srgbClr val="C00000"/>
                </a:solidFill>
                <a:latin typeface="Arial" pitchFamily="34" charset="0"/>
                <a:ea typeface="Arial" pitchFamily="34" charset="-122"/>
                <a:cs typeface="Arial" pitchFamily="34" charset="-120"/>
              </a:rPr>
              <a:t>Adding ATMOS modules increases independent resource capacity; it does not make one coherent high-bandwidth memory.</a:t>
            </a:r>
            <a:endParaRPr lang="en-US" sz="1250" dirty="0">
              <a:solidFill>
                <a:srgbClr val="C00000"/>
              </a:solidFill>
            </a:endParaRPr>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solidFill>
                <a:schemeClr val="bg1"/>
              </a:solidFill>
            </a:endParaRPr>
          </a:p>
        </p:txBody>
      </p:sp>
      <p:sp>
        <p:nvSpPr>
          <p:cNvPr id="14" name="Text 12"/>
          <p:cNvSpPr/>
          <p:nvPr/>
        </p:nvSpPr>
        <p:spPr>
          <a:xfrm>
            <a:off x="502920" y="2103120"/>
            <a:ext cx="5212080" cy="246888"/>
          </a:xfrm>
          <a:prstGeom prst="rect">
            <a:avLst/>
          </a:prstGeom>
          <a:noFill/>
          <a:ln/>
        </p:spPr>
        <p:txBody>
          <a:bodyPr wrap="square" lIns="0" tIns="0" rIns="0" bIns="0" rtlCol="0" anchor="ctr"/>
          <a:lstStyle/>
          <a:p>
            <a:pPr marL="0" indent="0">
              <a:buNone/>
            </a:pPr>
            <a:r>
              <a:rPr lang="en-US" sz="1250" b="1" dirty="0">
                <a:solidFill>
                  <a:schemeClr val="bg1"/>
                </a:solidFill>
                <a:latin typeface="Arial" pitchFamily="34" charset="0"/>
                <a:ea typeface="Arial" pitchFamily="34" charset="-122"/>
                <a:cs typeface="Arial" pitchFamily="34" charset="-120"/>
              </a:rPr>
              <a:t>LOCAL MEMORY / ONE ENGINE</a:t>
            </a:r>
            <a:endParaRPr lang="en-US" sz="1250" dirty="0">
              <a:solidFill>
                <a:schemeClr val="bg1"/>
              </a:solidFill>
            </a:endParaRPr>
          </a:p>
        </p:txBody>
      </p:sp>
      <p:sp>
        <p:nvSpPr>
          <p:cNvPr id="15" name="Text 13"/>
          <p:cNvSpPr/>
          <p:nvPr/>
        </p:nvSpPr>
        <p:spPr>
          <a:xfrm>
            <a:off x="548640" y="2633472"/>
            <a:ext cx="4114800" cy="228600"/>
          </a:xfrm>
          <a:prstGeom prst="rect">
            <a:avLst/>
          </a:prstGeom>
          <a:noFill/>
          <a:ln/>
        </p:spPr>
        <p:txBody>
          <a:bodyPr wrap="square" lIns="0" tIns="0" rIns="0" bIns="0" rtlCol="0" anchor="ctr"/>
          <a:lstStyle/>
          <a:p>
            <a:pPr marL="0" indent="0">
              <a:buNone/>
            </a:pPr>
            <a:r>
              <a:rPr lang="en-US" sz="1480" b="1" dirty="0">
                <a:solidFill>
                  <a:schemeClr val="bg1"/>
                </a:solidFill>
                <a:latin typeface="Arial" pitchFamily="34" charset="0"/>
                <a:ea typeface="Arial" pitchFamily="34" charset="-122"/>
                <a:cs typeface="Arial" pitchFamily="34" charset="-120"/>
              </a:rPr>
              <a:t>Spark LPDDR5x · P</a:t>
            </a:r>
            <a:endParaRPr lang="en-US" sz="1480" dirty="0">
              <a:solidFill>
                <a:schemeClr val="bg1"/>
              </a:solidFill>
            </a:endParaRPr>
          </a:p>
        </p:txBody>
      </p:sp>
      <p:sp>
        <p:nvSpPr>
          <p:cNvPr id="16" name="Shape 14"/>
          <p:cNvSpPr/>
          <p:nvPr/>
        </p:nvSpPr>
        <p:spPr>
          <a:xfrm>
            <a:off x="548640" y="2962656"/>
            <a:ext cx="3703320" cy="128016"/>
          </a:xfrm>
          <a:prstGeom prst="rect">
            <a:avLst/>
          </a:prstGeom>
          <a:solidFill>
            <a:srgbClr val="F3F4F6"/>
          </a:solidFill>
          <a:ln w="12700">
            <a:solidFill>
              <a:srgbClr val="F3F4F6"/>
            </a:solidFill>
            <a:prstDash val="solid"/>
          </a:ln>
        </p:spPr>
        <p:txBody>
          <a:bodyPr/>
          <a:lstStyle/>
          <a:p>
            <a:endParaRPr lang="en-US">
              <a:solidFill>
                <a:schemeClr val="bg1"/>
              </a:solidFill>
            </a:endParaRPr>
          </a:p>
        </p:txBody>
      </p:sp>
      <p:sp>
        <p:nvSpPr>
          <p:cNvPr id="17" name="Shape 15"/>
          <p:cNvSpPr/>
          <p:nvPr/>
        </p:nvSpPr>
        <p:spPr>
          <a:xfrm>
            <a:off x="548640" y="2962656"/>
            <a:ext cx="142395" cy="128016"/>
          </a:xfrm>
          <a:prstGeom prst="rect">
            <a:avLst/>
          </a:prstGeom>
          <a:solidFill>
            <a:srgbClr val="5B6169"/>
          </a:solidFill>
          <a:ln w="12700">
            <a:solidFill>
              <a:srgbClr val="5B6169"/>
            </a:solidFill>
            <a:prstDash val="solid"/>
          </a:ln>
        </p:spPr>
        <p:txBody>
          <a:bodyPr/>
          <a:lstStyle/>
          <a:p>
            <a:endParaRPr lang="en-US">
              <a:solidFill>
                <a:schemeClr val="bg1"/>
              </a:solidFill>
            </a:endParaRPr>
          </a:p>
        </p:txBody>
      </p:sp>
      <p:sp>
        <p:nvSpPr>
          <p:cNvPr id="18" name="Text 16"/>
          <p:cNvSpPr/>
          <p:nvPr/>
        </p:nvSpPr>
        <p:spPr>
          <a:xfrm>
            <a:off x="4389120" y="2907792"/>
            <a:ext cx="1024128" cy="210312"/>
          </a:xfrm>
          <a:prstGeom prst="rect">
            <a:avLst/>
          </a:prstGeom>
          <a:noFill/>
          <a:ln/>
        </p:spPr>
        <p:txBody>
          <a:bodyPr wrap="square" lIns="0" tIns="0" rIns="0" bIns="0" rtlCol="0" anchor="ctr"/>
          <a:lstStyle/>
          <a:p>
            <a:pPr marL="0" indent="0" algn="r">
              <a:buNone/>
            </a:pPr>
            <a:r>
              <a:rPr lang="en-US" sz="1140" dirty="0">
                <a:solidFill>
                  <a:schemeClr val="bg1"/>
                </a:solidFill>
                <a:latin typeface="Arial" pitchFamily="34" charset="0"/>
                <a:ea typeface="Arial" pitchFamily="34" charset="-122"/>
                <a:cs typeface="Arial" pitchFamily="34" charset="-120"/>
              </a:rPr>
              <a:t>0.273 TB/s</a:t>
            </a:r>
            <a:endParaRPr lang="en-US" sz="1140" dirty="0">
              <a:solidFill>
                <a:schemeClr val="bg1"/>
              </a:solidFill>
            </a:endParaRPr>
          </a:p>
        </p:txBody>
      </p:sp>
      <p:sp>
        <p:nvSpPr>
          <p:cNvPr id="19" name="Text 17"/>
          <p:cNvSpPr/>
          <p:nvPr/>
        </p:nvSpPr>
        <p:spPr>
          <a:xfrm>
            <a:off x="548640" y="3264408"/>
            <a:ext cx="4114800" cy="228600"/>
          </a:xfrm>
          <a:prstGeom prst="rect">
            <a:avLst/>
          </a:prstGeom>
          <a:noFill/>
          <a:ln/>
        </p:spPr>
        <p:txBody>
          <a:bodyPr wrap="square" lIns="0" tIns="0" rIns="0" bIns="0" rtlCol="0" anchor="ctr"/>
          <a:lstStyle/>
          <a:p>
            <a:pPr marL="0" indent="0">
              <a:buNone/>
            </a:pPr>
            <a:r>
              <a:rPr lang="en-US" sz="1480" b="1" dirty="0">
                <a:solidFill>
                  <a:schemeClr val="bg1"/>
                </a:solidFill>
                <a:latin typeface="Arial" pitchFamily="34" charset="0"/>
                <a:ea typeface="Arial" pitchFamily="34" charset="-122"/>
                <a:cs typeface="Arial" pitchFamily="34" charset="-120"/>
              </a:rPr>
              <a:t>RTX WS GDDR7 · P</a:t>
            </a:r>
            <a:endParaRPr lang="en-US" sz="1480" dirty="0">
              <a:solidFill>
                <a:schemeClr val="bg1"/>
              </a:solidFill>
            </a:endParaRPr>
          </a:p>
        </p:txBody>
      </p:sp>
      <p:sp>
        <p:nvSpPr>
          <p:cNvPr id="20" name="Shape 18"/>
          <p:cNvSpPr/>
          <p:nvPr/>
        </p:nvSpPr>
        <p:spPr>
          <a:xfrm>
            <a:off x="548640" y="3593592"/>
            <a:ext cx="3703320" cy="128016"/>
          </a:xfrm>
          <a:prstGeom prst="rect">
            <a:avLst/>
          </a:prstGeom>
          <a:solidFill>
            <a:srgbClr val="F3F4F6"/>
          </a:solidFill>
          <a:ln w="12700">
            <a:solidFill>
              <a:srgbClr val="F3F4F6"/>
            </a:solidFill>
            <a:prstDash val="solid"/>
          </a:ln>
        </p:spPr>
        <p:txBody>
          <a:bodyPr/>
          <a:lstStyle/>
          <a:p>
            <a:endParaRPr lang="en-US">
              <a:solidFill>
                <a:schemeClr val="bg1"/>
              </a:solidFill>
            </a:endParaRPr>
          </a:p>
        </p:txBody>
      </p:sp>
      <p:sp>
        <p:nvSpPr>
          <p:cNvPr id="21" name="Shape 19"/>
          <p:cNvSpPr/>
          <p:nvPr/>
        </p:nvSpPr>
        <p:spPr>
          <a:xfrm>
            <a:off x="548640" y="3593592"/>
            <a:ext cx="934697" cy="128016"/>
          </a:xfrm>
          <a:prstGeom prst="rect">
            <a:avLst/>
          </a:prstGeom>
          <a:solidFill>
            <a:srgbClr val="5B6169"/>
          </a:solidFill>
          <a:ln w="12700">
            <a:solidFill>
              <a:srgbClr val="5B6169"/>
            </a:solidFill>
            <a:prstDash val="solid"/>
          </a:ln>
        </p:spPr>
        <p:txBody>
          <a:bodyPr/>
          <a:lstStyle/>
          <a:p>
            <a:endParaRPr lang="en-US">
              <a:solidFill>
                <a:schemeClr val="bg1"/>
              </a:solidFill>
            </a:endParaRPr>
          </a:p>
        </p:txBody>
      </p:sp>
      <p:sp>
        <p:nvSpPr>
          <p:cNvPr id="22" name="Text 20"/>
          <p:cNvSpPr/>
          <p:nvPr/>
        </p:nvSpPr>
        <p:spPr>
          <a:xfrm>
            <a:off x="4389120" y="3538728"/>
            <a:ext cx="1024128" cy="210312"/>
          </a:xfrm>
          <a:prstGeom prst="rect">
            <a:avLst/>
          </a:prstGeom>
          <a:noFill/>
          <a:ln/>
        </p:spPr>
        <p:txBody>
          <a:bodyPr wrap="square" lIns="0" tIns="0" rIns="0" bIns="0" rtlCol="0" anchor="ctr"/>
          <a:lstStyle/>
          <a:p>
            <a:pPr marL="0" indent="0" algn="r">
              <a:buNone/>
            </a:pPr>
            <a:r>
              <a:rPr lang="en-US" sz="1140" dirty="0">
                <a:solidFill>
                  <a:schemeClr val="bg1"/>
                </a:solidFill>
                <a:latin typeface="Arial" pitchFamily="34" charset="0"/>
                <a:ea typeface="Arial" pitchFamily="34" charset="-122"/>
                <a:cs typeface="Arial" pitchFamily="34" charset="-120"/>
              </a:rPr>
              <a:t>1.792 TB/s</a:t>
            </a:r>
            <a:endParaRPr lang="en-US" sz="1140" dirty="0">
              <a:solidFill>
                <a:schemeClr val="bg1"/>
              </a:solidFill>
            </a:endParaRPr>
          </a:p>
        </p:txBody>
      </p:sp>
      <p:sp>
        <p:nvSpPr>
          <p:cNvPr id="23" name="Text 21"/>
          <p:cNvSpPr/>
          <p:nvPr/>
        </p:nvSpPr>
        <p:spPr>
          <a:xfrm>
            <a:off x="548640" y="3895344"/>
            <a:ext cx="4114800" cy="228600"/>
          </a:xfrm>
          <a:prstGeom prst="rect">
            <a:avLst/>
          </a:prstGeom>
          <a:noFill/>
          <a:ln/>
        </p:spPr>
        <p:txBody>
          <a:bodyPr wrap="square" lIns="0" tIns="0" rIns="0" bIns="0" rtlCol="0" anchor="ctr"/>
          <a:lstStyle/>
          <a:p>
            <a:pPr marL="0" indent="0">
              <a:buNone/>
            </a:pPr>
            <a:r>
              <a:rPr lang="en-US" sz="1480" b="1" dirty="0">
                <a:solidFill>
                  <a:schemeClr val="bg1"/>
                </a:solidFill>
                <a:latin typeface="Arial" pitchFamily="34" charset="0"/>
                <a:ea typeface="Arial" pitchFamily="34" charset="-122"/>
                <a:cs typeface="Arial" pitchFamily="34" charset="-120"/>
              </a:rPr>
              <a:t>Station GPU HBM · P</a:t>
            </a:r>
            <a:endParaRPr lang="en-US" sz="1480" dirty="0">
              <a:solidFill>
                <a:schemeClr val="bg1"/>
              </a:solidFill>
            </a:endParaRPr>
          </a:p>
        </p:txBody>
      </p:sp>
      <p:sp>
        <p:nvSpPr>
          <p:cNvPr id="24" name="Shape 22"/>
          <p:cNvSpPr/>
          <p:nvPr/>
        </p:nvSpPr>
        <p:spPr>
          <a:xfrm>
            <a:off x="548640" y="4224528"/>
            <a:ext cx="3703320" cy="128016"/>
          </a:xfrm>
          <a:prstGeom prst="rect">
            <a:avLst/>
          </a:prstGeom>
          <a:solidFill>
            <a:srgbClr val="F3F4F6"/>
          </a:solidFill>
          <a:ln w="12700">
            <a:solidFill>
              <a:srgbClr val="F3F4F6"/>
            </a:solidFill>
            <a:prstDash val="solid"/>
          </a:ln>
        </p:spPr>
        <p:txBody>
          <a:bodyPr/>
          <a:lstStyle/>
          <a:p>
            <a:endParaRPr lang="en-US">
              <a:solidFill>
                <a:schemeClr val="bg1"/>
              </a:solidFill>
            </a:endParaRPr>
          </a:p>
        </p:txBody>
      </p:sp>
      <p:sp>
        <p:nvSpPr>
          <p:cNvPr id="25" name="Shape 23"/>
          <p:cNvSpPr/>
          <p:nvPr/>
        </p:nvSpPr>
        <p:spPr>
          <a:xfrm>
            <a:off x="548640" y="4224528"/>
            <a:ext cx="3703320" cy="128016"/>
          </a:xfrm>
          <a:prstGeom prst="rect">
            <a:avLst/>
          </a:prstGeom>
          <a:solidFill>
            <a:srgbClr val="5B6169"/>
          </a:solidFill>
          <a:ln w="12700">
            <a:solidFill>
              <a:srgbClr val="5B6169"/>
            </a:solidFill>
            <a:prstDash val="solid"/>
          </a:ln>
        </p:spPr>
        <p:txBody>
          <a:bodyPr/>
          <a:lstStyle/>
          <a:p>
            <a:endParaRPr lang="en-US">
              <a:solidFill>
                <a:schemeClr val="bg1"/>
              </a:solidFill>
            </a:endParaRPr>
          </a:p>
        </p:txBody>
      </p:sp>
      <p:sp>
        <p:nvSpPr>
          <p:cNvPr id="26" name="Text 24"/>
          <p:cNvSpPr/>
          <p:nvPr/>
        </p:nvSpPr>
        <p:spPr>
          <a:xfrm>
            <a:off x="4389120" y="4169664"/>
            <a:ext cx="1024128" cy="210312"/>
          </a:xfrm>
          <a:prstGeom prst="rect">
            <a:avLst/>
          </a:prstGeom>
          <a:noFill/>
          <a:ln/>
        </p:spPr>
        <p:txBody>
          <a:bodyPr wrap="square" lIns="0" tIns="0" rIns="0" bIns="0" rtlCol="0" anchor="ctr"/>
          <a:lstStyle/>
          <a:p>
            <a:pPr marL="0" indent="0" algn="r">
              <a:buNone/>
            </a:pPr>
            <a:r>
              <a:rPr lang="en-US" sz="1140" dirty="0">
                <a:solidFill>
                  <a:schemeClr val="bg1"/>
                </a:solidFill>
                <a:latin typeface="Arial" pitchFamily="34" charset="0"/>
                <a:ea typeface="Arial" pitchFamily="34" charset="-122"/>
                <a:cs typeface="Arial" pitchFamily="34" charset="-120"/>
              </a:rPr>
              <a:t>up to 7.1 TB/s</a:t>
            </a:r>
            <a:endParaRPr lang="en-US" sz="1140" dirty="0">
              <a:solidFill>
                <a:schemeClr val="bg1"/>
              </a:solidFill>
            </a:endParaRPr>
          </a:p>
        </p:txBody>
      </p:sp>
      <p:sp>
        <p:nvSpPr>
          <p:cNvPr id="27" name="Text 25"/>
          <p:cNvSpPr/>
          <p:nvPr/>
        </p:nvSpPr>
        <p:spPr>
          <a:xfrm>
            <a:off x="548640" y="4526280"/>
            <a:ext cx="4114800" cy="228600"/>
          </a:xfrm>
          <a:prstGeom prst="rect">
            <a:avLst/>
          </a:prstGeom>
          <a:noFill/>
          <a:ln/>
        </p:spPr>
        <p:txBody>
          <a:bodyPr wrap="square" lIns="0" tIns="0" rIns="0" bIns="0" rtlCol="0" anchor="ctr"/>
          <a:lstStyle/>
          <a:p>
            <a:pPr marL="0" indent="0">
              <a:buNone/>
            </a:pPr>
            <a:r>
              <a:rPr lang="en-US" sz="1480" b="1" dirty="0">
                <a:solidFill>
                  <a:schemeClr val="bg1"/>
                </a:solidFill>
                <a:latin typeface="Arial" pitchFamily="34" charset="0"/>
                <a:ea typeface="Arial" pitchFamily="34" charset="-122"/>
                <a:cs typeface="Arial" pitchFamily="34" charset="-120"/>
              </a:rPr>
              <a:t>ATMOS HBF / module · T</a:t>
            </a:r>
            <a:endParaRPr lang="en-US" sz="1480" dirty="0">
              <a:solidFill>
                <a:schemeClr val="bg1"/>
              </a:solidFill>
            </a:endParaRPr>
          </a:p>
        </p:txBody>
      </p:sp>
      <p:sp>
        <p:nvSpPr>
          <p:cNvPr id="28" name="Shape 26"/>
          <p:cNvSpPr/>
          <p:nvPr/>
        </p:nvSpPr>
        <p:spPr>
          <a:xfrm>
            <a:off x="548640" y="4855464"/>
            <a:ext cx="3703320" cy="128016"/>
          </a:xfrm>
          <a:prstGeom prst="rect">
            <a:avLst/>
          </a:prstGeom>
          <a:solidFill>
            <a:srgbClr val="F3F4F6"/>
          </a:solidFill>
          <a:ln w="12700">
            <a:solidFill>
              <a:srgbClr val="F3F4F6"/>
            </a:solidFill>
            <a:prstDash val="solid"/>
          </a:ln>
        </p:spPr>
        <p:txBody>
          <a:bodyPr/>
          <a:lstStyle/>
          <a:p>
            <a:endParaRPr lang="en-US">
              <a:solidFill>
                <a:schemeClr val="bg1"/>
              </a:solidFill>
            </a:endParaRPr>
          </a:p>
        </p:txBody>
      </p:sp>
      <p:sp>
        <p:nvSpPr>
          <p:cNvPr id="29" name="Shape 27"/>
          <p:cNvSpPr/>
          <p:nvPr/>
        </p:nvSpPr>
        <p:spPr>
          <a:xfrm>
            <a:off x="548640" y="4855464"/>
            <a:ext cx="104319" cy="128016"/>
          </a:xfrm>
          <a:prstGeom prst="rect">
            <a:avLst/>
          </a:prstGeom>
          <a:solidFill>
            <a:srgbClr val="E31837"/>
          </a:solidFill>
          <a:ln w="12700">
            <a:solidFill>
              <a:srgbClr val="E31837"/>
            </a:solidFill>
            <a:prstDash val="solid"/>
          </a:ln>
        </p:spPr>
        <p:txBody>
          <a:bodyPr/>
          <a:lstStyle/>
          <a:p>
            <a:endParaRPr lang="en-US">
              <a:solidFill>
                <a:schemeClr val="bg1"/>
              </a:solidFill>
            </a:endParaRPr>
          </a:p>
        </p:txBody>
      </p:sp>
      <p:sp>
        <p:nvSpPr>
          <p:cNvPr id="30" name="Text 28"/>
          <p:cNvSpPr/>
          <p:nvPr/>
        </p:nvSpPr>
        <p:spPr>
          <a:xfrm>
            <a:off x="4389120" y="4800600"/>
            <a:ext cx="1024128" cy="210312"/>
          </a:xfrm>
          <a:prstGeom prst="rect">
            <a:avLst/>
          </a:prstGeom>
          <a:noFill/>
          <a:ln/>
        </p:spPr>
        <p:txBody>
          <a:bodyPr wrap="square" lIns="0" tIns="0" rIns="0" bIns="0" rtlCol="0" anchor="ctr"/>
          <a:lstStyle/>
          <a:p>
            <a:pPr marL="0" indent="0" algn="r">
              <a:buNone/>
            </a:pPr>
            <a:r>
              <a:rPr lang="en-US" sz="1140" dirty="0">
                <a:solidFill>
                  <a:schemeClr val="bg1"/>
                </a:solidFill>
                <a:latin typeface="Arial" pitchFamily="34" charset="0"/>
                <a:ea typeface="Arial" pitchFamily="34" charset="-122"/>
                <a:cs typeface="Arial" pitchFamily="34" charset="-120"/>
              </a:rPr>
              <a:t>~0.200 TB/s</a:t>
            </a:r>
            <a:endParaRPr lang="en-US" sz="1140" dirty="0">
              <a:solidFill>
                <a:schemeClr val="bg1"/>
              </a:solidFill>
            </a:endParaRPr>
          </a:p>
        </p:txBody>
      </p:sp>
      <p:sp>
        <p:nvSpPr>
          <p:cNvPr id="31" name="Text 29"/>
          <p:cNvSpPr/>
          <p:nvPr/>
        </p:nvSpPr>
        <p:spPr>
          <a:xfrm>
            <a:off x="5733288" y="2103120"/>
            <a:ext cx="5943600" cy="246888"/>
          </a:xfrm>
          <a:prstGeom prst="rect">
            <a:avLst/>
          </a:prstGeom>
          <a:noFill/>
          <a:ln/>
        </p:spPr>
        <p:txBody>
          <a:bodyPr wrap="square" lIns="0" tIns="0" rIns="0" bIns="0" rtlCol="0" anchor="ctr"/>
          <a:lstStyle/>
          <a:p>
            <a:pPr marL="0" indent="0">
              <a:buNone/>
            </a:pPr>
            <a:r>
              <a:rPr lang="en-US" sz="1250" b="1" dirty="0">
                <a:solidFill>
                  <a:schemeClr val="bg1"/>
                </a:solidFill>
                <a:latin typeface="Arial" pitchFamily="34" charset="0"/>
                <a:ea typeface="Arial" pitchFamily="34" charset="-122"/>
                <a:cs typeface="Arial" pitchFamily="34" charset="-120"/>
              </a:rPr>
              <a:t>ATMOS / INDEPENDENT DOMAIN SUMS (T)</a:t>
            </a:r>
            <a:endParaRPr lang="en-US" sz="1250" dirty="0">
              <a:solidFill>
                <a:schemeClr val="bg1"/>
              </a:solidFill>
            </a:endParaRPr>
          </a:p>
        </p:txBody>
      </p:sp>
      <p:sp>
        <p:nvSpPr>
          <p:cNvPr id="32" name="Shape 30"/>
          <p:cNvSpPr/>
          <p:nvPr/>
        </p:nvSpPr>
        <p:spPr>
          <a:xfrm>
            <a:off x="5733288" y="2560320"/>
            <a:ext cx="941832" cy="539496"/>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33" name="Text 31"/>
          <p:cNvSpPr/>
          <p:nvPr/>
        </p:nvSpPr>
        <p:spPr>
          <a:xfrm>
            <a:off x="5824728" y="2624328"/>
            <a:ext cx="758952" cy="429768"/>
          </a:xfrm>
          <a:prstGeom prst="rect">
            <a:avLst/>
          </a:prstGeom>
          <a:noFill/>
          <a:ln/>
        </p:spPr>
        <p:txBody>
          <a:bodyPr wrap="square" lIns="0" tIns="0" rIns="0" bIns="0" rtlCol="0" anchor="ctr"/>
          <a:lstStyle/>
          <a:p>
            <a:pPr marL="0" indent="0">
              <a:buNone/>
            </a:pPr>
            <a:r>
              <a:rPr lang="en-US" sz="1110" b="1" dirty="0">
                <a:solidFill>
                  <a:schemeClr val="bg1"/>
                </a:solidFill>
                <a:latin typeface="Arial" pitchFamily="34" charset="0"/>
                <a:ea typeface="Arial" pitchFamily="34" charset="-122"/>
                <a:cs typeface="Arial" pitchFamily="34" charset="-120"/>
              </a:rPr>
              <a:t>SKU</a:t>
            </a:r>
            <a:endParaRPr lang="en-US" sz="1110" dirty="0">
              <a:solidFill>
                <a:schemeClr val="bg1"/>
              </a:solidFill>
            </a:endParaRPr>
          </a:p>
        </p:txBody>
      </p:sp>
      <p:sp>
        <p:nvSpPr>
          <p:cNvPr id="34" name="Shape 32"/>
          <p:cNvSpPr/>
          <p:nvPr/>
        </p:nvSpPr>
        <p:spPr>
          <a:xfrm>
            <a:off x="6675120" y="2560320"/>
            <a:ext cx="1444752" cy="539496"/>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35" name="Text 33"/>
          <p:cNvSpPr/>
          <p:nvPr/>
        </p:nvSpPr>
        <p:spPr>
          <a:xfrm>
            <a:off x="6766560" y="2624328"/>
            <a:ext cx="1261872" cy="429768"/>
          </a:xfrm>
          <a:prstGeom prst="rect">
            <a:avLst/>
          </a:prstGeom>
          <a:noFill/>
          <a:ln/>
        </p:spPr>
        <p:txBody>
          <a:bodyPr wrap="square" lIns="0" tIns="0" rIns="0" bIns="0" rtlCol="0" anchor="ctr"/>
          <a:lstStyle/>
          <a:p>
            <a:pPr marL="0" indent="0">
              <a:buNone/>
            </a:pPr>
            <a:r>
              <a:rPr lang="en-US" sz="1110" b="1" dirty="0">
                <a:solidFill>
                  <a:schemeClr val="bg1"/>
                </a:solidFill>
                <a:latin typeface="Arial" pitchFamily="34" charset="0"/>
                <a:ea typeface="Arial" pitchFamily="34" charset="-122"/>
                <a:cs typeface="Arial" pitchFamily="34" charset="-120"/>
              </a:rPr>
              <a:t>Local HBF</a:t>
            </a:r>
            <a:endParaRPr lang="en-US" sz="1110" dirty="0">
              <a:solidFill>
                <a:schemeClr val="bg1"/>
              </a:solidFill>
            </a:endParaRPr>
          </a:p>
          <a:p>
            <a:pPr marL="0" indent="0">
              <a:buNone/>
            </a:pPr>
            <a:r>
              <a:rPr lang="en-US" sz="1110" b="1" dirty="0">
                <a:solidFill>
                  <a:schemeClr val="bg1"/>
                </a:solidFill>
                <a:latin typeface="Arial" pitchFamily="34" charset="0"/>
                <a:ea typeface="Arial" pitchFamily="34" charset="-122"/>
                <a:cs typeface="Arial" pitchFamily="34" charset="-120"/>
              </a:rPr>
              <a:t>read sum</a:t>
            </a:r>
            <a:endParaRPr lang="en-US" sz="1110" dirty="0">
              <a:solidFill>
                <a:schemeClr val="bg1"/>
              </a:solidFill>
            </a:endParaRPr>
          </a:p>
        </p:txBody>
      </p:sp>
      <p:sp>
        <p:nvSpPr>
          <p:cNvPr id="36" name="Shape 34"/>
          <p:cNvSpPr/>
          <p:nvPr/>
        </p:nvSpPr>
        <p:spPr>
          <a:xfrm>
            <a:off x="8119872" y="2560320"/>
            <a:ext cx="1645920" cy="539496"/>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37" name="Text 35"/>
          <p:cNvSpPr/>
          <p:nvPr/>
        </p:nvSpPr>
        <p:spPr>
          <a:xfrm>
            <a:off x="8211312" y="2624328"/>
            <a:ext cx="1463040" cy="429768"/>
          </a:xfrm>
          <a:prstGeom prst="rect">
            <a:avLst/>
          </a:prstGeom>
          <a:noFill/>
          <a:ln/>
        </p:spPr>
        <p:txBody>
          <a:bodyPr wrap="square" lIns="0" tIns="0" rIns="0" bIns="0" rtlCol="0" anchor="ctr"/>
          <a:lstStyle/>
          <a:p>
            <a:pPr marL="0" indent="0">
              <a:buNone/>
            </a:pPr>
            <a:r>
              <a:rPr lang="en-US" sz="1110" b="1" dirty="0">
                <a:solidFill>
                  <a:schemeClr val="bg1"/>
                </a:solidFill>
                <a:latin typeface="Arial" pitchFamily="34" charset="0"/>
                <a:ea typeface="Arial" pitchFamily="34" charset="-122"/>
                <a:cs typeface="Arial" pitchFamily="34" charset="-120"/>
              </a:rPr>
              <a:t>Host uplinks</a:t>
            </a:r>
            <a:endParaRPr lang="en-US" sz="1110" dirty="0">
              <a:solidFill>
                <a:schemeClr val="bg1"/>
              </a:solidFill>
            </a:endParaRPr>
          </a:p>
          <a:p>
            <a:pPr marL="0" indent="0">
              <a:buNone/>
            </a:pPr>
            <a:r>
              <a:rPr lang="en-US" sz="1110" b="1" dirty="0">
                <a:solidFill>
                  <a:schemeClr val="bg1"/>
                </a:solidFill>
                <a:latin typeface="Arial" pitchFamily="34" charset="0"/>
                <a:ea typeface="Arial" pitchFamily="34" charset="-122"/>
                <a:cs typeface="Arial" pitchFamily="34" charset="-120"/>
              </a:rPr>
              <a:t>coded sum</a:t>
            </a:r>
            <a:endParaRPr lang="en-US" sz="1110" dirty="0">
              <a:solidFill>
                <a:schemeClr val="bg1"/>
              </a:solidFill>
            </a:endParaRPr>
          </a:p>
        </p:txBody>
      </p:sp>
      <p:sp>
        <p:nvSpPr>
          <p:cNvPr id="38" name="Shape 36"/>
          <p:cNvSpPr/>
          <p:nvPr/>
        </p:nvSpPr>
        <p:spPr>
          <a:xfrm>
            <a:off x="9765792" y="2560320"/>
            <a:ext cx="1920240" cy="539496"/>
          </a:xfrm>
          <a:prstGeom prst="rect">
            <a:avLst/>
          </a:prstGeom>
          <a:solidFill>
            <a:srgbClr val="18191D"/>
          </a:solidFill>
          <a:ln w="12700">
            <a:solidFill>
              <a:schemeClr val="bg1"/>
            </a:solidFill>
            <a:prstDash val="solid"/>
          </a:ln>
        </p:spPr>
        <p:txBody>
          <a:bodyPr/>
          <a:lstStyle/>
          <a:p>
            <a:endParaRPr lang="en-US">
              <a:solidFill>
                <a:schemeClr val="bg1"/>
              </a:solidFill>
            </a:endParaRPr>
          </a:p>
        </p:txBody>
      </p:sp>
      <p:sp>
        <p:nvSpPr>
          <p:cNvPr id="39" name="Text 37"/>
          <p:cNvSpPr/>
          <p:nvPr/>
        </p:nvSpPr>
        <p:spPr>
          <a:xfrm>
            <a:off x="9857232" y="2624328"/>
            <a:ext cx="1737360" cy="429768"/>
          </a:xfrm>
          <a:prstGeom prst="rect">
            <a:avLst/>
          </a:prstGeom>
          <a:noFill/>
          <a:ln/>
        </p:spPr>
        <p:txBody>
          <a:bodyPr wrap="square" lIns="0" tIns="0" rIns="0" bIns="0" rtlCol="0" anchor="ctr"/>
          <a:lstStyle/>
          <a:p>
            <a:pPr marL="0" indent="0">
              <a:buNone/>
            </a:pPr>
            <a:r>
              <a:rPr lang="en-US" sz="1110" b="1" dirty="0">
                <a:solidFill>
                  <a:schemeClr val="bg1"/>
                </a:solidFill>
                <a:latin typeface="Arial" pitchFamily="34" charset="0"/>
                <a:ea typeface="Arial" pitchFamily="34" charset="-122"/>
                <a:cs typeface="Arial" pitchFamily="34" charset="-120"/>
              </a:rPr>
              <a:t>Service network</a:t>
            </a:r>
            <a:endParaRPr lang="en-US" sz="1110" dirty="0">
              <a:solidFill>
                <a:schemeClr val="bg1"/>
              </a:solidFill>
            </a:endParaRPr>
          </a:p>
          <a:p>
            <a:pPr marL="0" indent="0">
              <a:buNone/>
            </a:pPr>
            <a:r>
              <a:rPr lang="en-US" sz="1110" b="1" dirty="0">
                <a:solidFill>
                  <a:schemeClr val="bg1"/>
                </a:solidFill>
                <a:latin typeface="Arial" pitchFamily="34" charset="0"/>
                <a:ea typeface="Arial" pitchFamily="34" charset="-122"/>
                <a:cs typeface="Arial" pitchFamily="34" charset="-120"/>
              </a:rPr>
              <a:t>(GbE)</a:t>
            </a:r>
            <a:endParaRPr lang="en-US" sz="1110" dirty="0">
              <a:solidFill>
                <a:schemeClr val="bg1"/>
              </a:solidFill>
            </a:endParaRPr>
          </a:p>
        </p:txBody>
      </p:sp>
      <p:sp>
        <p:nvSpPr>
          <p:cNvPr id="40" name="Shape 38"/>
          <p:cNvSpPr/>
          <p:nvPr/>
        </p:nvSpPr>
        <p:spPr>
          <a:xfrm>
            <a:off x="5733288" y="3099816"/>
            <a:ext cx="941832"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1" name="Text 39"/>
          <p:cNvSpPr/>
          <p:nvPr/>
        </p:nvSpPr>
        <p:spPr>
          <a:xfrm>
            <a:off x="5824728" y="3177540"/>
            <a:ext cx="758952" cy="393192"/>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W4</a:t>
            </a:r>
            <a:endParaRPr lang="en-US" sz="1300" dirty="0">
              <a:solidFill>
                <a:schemeClr val="bg1"/>
              </a:solidFill>
            </a:endParaRPr>
          </a:p>
        </p:txBody>
      </p:sp>
      <p:sp>
        <p:nvSpPr>
          <p:cNvPr id="42" name="Shape 40"/>
          <p:cNvSpPr/>
          <p:nvPr/>
        </p:nvSpPr>
        <p:spPr>
          <a:xfrm>
            <a:off x="6675120" y="3099816"/>
            <a:ext cx="1444752"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3" name="Text 41"/>
          <p:cNvSpPr/>
          <p:nvPr/>
        </p:nvSpPr>
        <p:spPr>
          <a:xfrm>
            <a:off x="6766560" y="3177540"/>
            <a:ext cx="1261872" cy="393192"/>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0.8 TB/s</a:t>
            </a:r>
            <a:endParaRPr lang="en-US" sz="1300" dirty="0">
              <a:solidFill>
                <a:schemeClr val="bg1"/>
              </a:solidFill>
            </a:endParaRPr>
          </a:p>
        </p:txBody>
      </p:sp>
      <p:sp>
        <p:nvSpPr>
          <p:cNvPr id="44" name="Shape 42"/>
          <p:cNvSpPr/>
          <p:nvPr/>
        </p:nvSpPr>
        <p:spPr>
          <a:xfrm>
            <a:off x="8119872" y="3099816"/>
            <a:ext cx="1645920"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5" name="Text 43"/>
          <p:cNvSpPr/>
          <p:nvPr/>
        </p:nvSpPr>
        <p:spPr>
          <a:xfrm>
            <a:off x="8211312" y="3177540"/>
            <a:ext cx="1463040" cy="393192"/>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~63 GB/s</a:t>
            </a:r>
            <a:endParaRPr lang="en-US" sz="1300" dirty="0">
              <a:solidFill>
                <a:schemeClr val="bg1"/>
              </a:solidFill>
            </a:endParaRPr>
          </a:p>
        </p:txBody>
      </p:sp>
      <p:sp>
        <p:nvSpPr>
          <p:cNvPr id="46" name="Shape 44"/>
          <p:cNvSpPr/>
          <p:nvPr/>
        </p:nvSpPr>
        <p:spPr>
          <a:xfrm>
            <a:off x="9765792" y="3099816"/>
            <a:ext cx="1920240"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7" name="Text 45"/>
          <p:cNvSpPr/>
          <p:nvPr/>
        </p:nvSpPr>
        <p:spPr>
          <a:xfrm>
            <a:off x="9857232" y="3177540"/>
            <a:ext cx="1737360" cy="393192"/>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25 / 100</a:t>
            </a:r>
            <a:endParaRPr lang="en-US" sz="1300" dirty="0">
              <a:solidFill>
                <a:schemeClr val="bg1"/>
              </a:solidFill>
            </a:endParaRPr>
          </a:p>
        </p:txBody>
      </p:sp>
      <p:sp>
        <p:nvSpPr>
          <p:cNvPr id="48" name="Shape 46"/>
          <p:cNvSpPr/>
          <p:nvPr/>
        </p:nvSpPr>
        <p:spPr>
          <a:xfrm>
            <a:off x="5733288" y="3621024"/>
            <a:ext cx="941832"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9" name="Text 47"/>
          <p:cNvSpPr/>
          <p:nvPr/>
        </p:nvSpPr>
        <p:spPr>
          <a:xfrm>
            <a:off x="5824728" y="3698748"/>
            <a:ext cx="758952" cy="393192"/>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D8 / E8</a:t>
            </a:r>
            <a:endParaRPr lang="en-US" sz="1300" dirty="0">
              <a:solidFill>
                <a:schemeClr val="bg1"/>
              </a:solidFill>
            </a:endParaRPr>
          </a:p>
        </p:txBody>
      </p:sp>
      <p:sp>
        <p:nvSpPr>
          <p:cNvPr id="50" name="Shape 48"/>
          <p:cNvSpPr/>
          <p:nvPr/>
        </p:nvSpPr>
        <p:spPr>
          <a:xfrm>
            <a:off x="6675120" y="3621024"/>
            <a:ext cx="1444752"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1" name="Text 49"/>
          <p:cNvSpPr/>
          <p:nvPr/>
        </p:nvSpPr>
        <p:spPr>
          <a:xfrm>
            <a:off x="6766560" y="3698748"/>
            <a:ext cx="1261872" cy="393192"/>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1.6 TB/s</a:t>
            </a:r>
            <a:endParaRPr lang="en-US" sz="1300" dirty="0">
              <a:solidFill>
                <a:schemeClr val="bg1"/>
              </a:solidFill>
            </a:endParaRPr>
          </a:p>
        </p:txBody>
      </p:sp>
      <p:sp>
        <p:nvSpPr>
          <p:cNvPr id="52" name="Shape 50"/>
          <p:cNvSpPr/>
          <p:nvPr/>
        </p:nvSpPr>
        <p:spPr>
          <a:xfrm>
            <a:off x="8119872" y="3621024"/>
            <a:ext cx="1645920"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3" name="Text 51"/>
          <p:cNvSpPr/>
          <p:nvPr/>
        </p:nvSpPr>
        <p:spPr>
          <a:xfrm>
            <a:off x="8211312" y="3698748"/>
            <a:ext cx="1463040" cy="393192"/>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~126 GB/s</a:t>
            </a:r>
            <a:endParaRPr lang="en-US" sz="1300" dirty="0">
              <a:solidFill>
                <a:schemeClr val="bg1"/>
              </a:solidFill>
            </a:endParaRPr>
          </a:p>
        </p:txBody>
      </p:sp>
      <p:sp>
        <p:nvSpPr>
          <p:cNvPr id="54" name="Shape 52"/>
          <p:cNvSpPr/>
          <p:nvPr/>
        </p:nvSpPr>
        <p:spPr>
          <a:xfrm>
            <a:off x="9765792" y="3621024"/>
            <a:ext cx="1920240"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5" name="Text 53"/>
          <p:cNvSpPr/>
          <p:nvPr/>
        </p:nvSpPr>
        <p:spPr>
          <a:xfrm>
            <a:off x="9857232" y="3698748"/>
            <a:ext cx="1737360" cy="393192"/>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100*</a:t>
            </a:r>
            <a:endParaRPr lang="en-US" sz="1300" dirty="0">
              <a:solidFill>
                <a:schemeClr val="bg1"/>
              </a:solidFill>
            </a:endParaRPr>
          </a:p>
        </p:txBody>
      </p:sp>
      <p:sp>
        <p:nvSpPr>
          <p:cNvPr id="56" name="Shape 54"/>
          <p:cNvSpPr/>
          <p:nvPr/>
        </p:nvSpPr>
        <p:spPr>
          <a:xfrm>
            <a:off x="5733288" y="4142232"/>
            <a:ext cx="941832"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7" name="Text 55"/>
          <p:cNvSpPr/>
          <p:nvPr/>
        </p:nvSpPr>
        <p:spPr>
          <a:xfrm>
            <a:off x="5824728" y="4219956"/>
            <a:ext cx="758952" cy="393192"/>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E16</a:t>
            </a:r>
            <a:endParaRPr lang="en-US" sz="1300" dirty="0">
              <a:solidFill>
                <a:schemeClr val="bg1"/>
              </a:solidFill>
            </a:endParaRPr>
          </a:p>
        </p:txBody>
      </p:sp>
      <p:sp>
        <p:nvSpPr>
          <p:cNvPr id="58" name="Shape 56"/>
          <p:cNvSpPr/>
          <p:nvPr/>
        </p:nvSpPr>
        <p:spPr>
          <a:xfrm>
            <a:off x="6675120" y="4142232"/>
            <a:ext cx="1444752"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9" name="Text 57"/>
          <p:cNvSpPr/>
          <p:nvPr/>
        </p:nvSpPr>
        <p:spPr>
          <a:xfrm>
            <a:off x="6766560" y="4219956"/>
            <a:ext cx="1261872" cy="393192"/>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3.2 TB/s</a:t>
            </a:r>
            <a:endParaRPr lang="en-US" sz="1300" dirty="0">
              <a:solidFill>
                <a:schemeClr val="bg1"/>
              </a:solidFill>
            </a:endParaRPr>
          </a:p>
        </p:txBody>
      </p:sp>
      <p:sp>
        <p:nvSpPr>
          <p:cNvPr id="60" name="Shape 58"/>
          <p:cNvSpPr/>
          <p:nvPr/>
        </p:nvSpPr>
        <p:spPr>
          <a:xfrm>
            <a:off x="8119872" y="4142232"/>
            <a:ext cx="1645920"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1" name="Text 59"/>
          <p:cNvSpPr/>
          <p:nvPr/>
        </p:nvSpPr>
        <p:spPr>
          <a:xfrm>
            <a:off x="8211312" y="4219956"/>
            <a:ext cx="1463040" cy="393192"/>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~252 GB/s</a:t>
            </a:r>
            <a:endParaRPr lang="en-US" sz="1300" dirty="0">
              <a:solidFill>
                <a:schemeClr val="bg1"/>
              </a:solidFill>
            </a:endParaRPr>
          </a:p>
        </p:txBody>
      </p:sp>
      <p:sp>
        <p:nvSpPr>
          <p:cNvPr id="62" name="Shape 60"/>
          <p:cNvSpPr/>
          <p:nvPr/>
        </p:nvSpPr>
        <p:spPr>
          <a:xfrm>
            <a:off x="9765792" y="4142232"/>
            <a:ext cx="1920240"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3" name="Text 61"/>
          <p:cNvSpPr/>
          <p:nvPr/>
        </p:nvSpPr>
        <p:spPr>
          <a:xfrm>
            <a:off x="9857232" y="4219956"/>
            <a:ext cx="1737360" cy="393192"/>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2 × 100/200</a:t>
            </a:r>
            <a:endParaRPr lang="en-US" sz="1300" dirty="0">
              <a:solidFill>
                <a:schemeClr val="bg1"/>
              </a:solidFill>
            </a:endParaRPr>
          </a:p>
        </p:txBody>
      </p:sp>
      <p:sp>
        <p:nvSpPr>
          <p:cNvPr id="64" name="Shape 62"/>
          <p:cNvSpPr/>
          <p:nvPr/>
        </p:nvSpPr>
        <p:spPr>
          <a:xfrm>
            <a:off x="5733288" y="4663440"/>
            <a:ext cx="941832"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5" name="Text 63"/>
          <p:cNvSpPr/>
          <p:nvPr/>
        </p:nvSpPr>
        <p:spPr>
          <a:xfrm>
            <a:off x="5824728" y="4741164"/>
            <a:ext cx="758952" cy="393192"/>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E24</a:t>
            </a:r>
            <a:endParaRPr lang="en-US" sz="1300" dirty="0">
              <a:solidFill>
                <a:schemeClr val="bg1"/>
              </a:solidFill>
            </a:endParaRPr>
          </a:p>
        </p:txBody>
      </p:sp>
      <p:sp>
        <p:nvSpPr>
          <p:cNvPr id="66" name="Shape 64"/>
          <p:cNvSpPr/>
          <p:nvPr/>
        </p:nvSpPr>
        <p:spPr>
          <a:xfrm>
            <a:off x="6675120" y="4663440"/>
            <a:ext cx="1444752"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7" name="Text 65"/>
          <p:cNvSpPr/>
          <p:nvPr/>
        </p:nvSpPr>
        <p:spPr>
          <a:xfrm>
            <a:off x="6766560" y="4741164"/>
            <a:ext cx="1261872" cy="393192"/>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4.8 TB/s</a:t>
            </a:r>
            <a:endParaRPr lang="en-US" sz="1300" dirty="0">
              <a:solidFill>
                <a:schemeClr val="bg1"/>
              </a:solidFill>
            </a:endParaRPr>
          </a:p>
        </p:txBody>
      </p:sp>
      <p:sp>
        <p:nvSpPr>
          <p:cNvPr id="68" name="Shape 66"/>
          <p:cNvSpPr/>
          <p:nvPr/>
        </p:nvSpPr>
        <p:spPr>
          <a:xfrm>
            <a:off x="8119872" y="4663440"/>
            <a:ext cx="1645920"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9" name="Text 67"/>
          <p:cNvSpPr/>
          <p:nvPr/>
        </p:nvSpPr>
        <p:spPr>
          <a:xfrm>
            <a:off x="8211312" y="4741164"/>
            <a:ext cx="1463040" cy="393192"/>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~378 GB/s</a:t>
            </a:r>
            <a:endParaRPr lang="en-US" sz="1300" dirty="0">
              <a:solidFill>
                <a:schemeClr val="bg1"/>
              </a:solidFill>
            </a:endParaRPr>
          </a:p>
        </p:txBody>
      </p:sp>
      <p:sp>
        <p:nvSpPr>
          <p:cNvPr id="70" name="Shape 68"/>
          <p:cNvSpPr/>
          <p:nvPr/>
        </p:nvSpPr>
        <p:spPr>
          <a:xfrm>
            <a:off x="9765792" y="4663440"/>
            <a:ext cx="1920240" cy="521208"/>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71" name="Text 69"/>
          <p:cNvSpPr/>
          <p:nvPr/>
        </p:nvSpPr>
        <p:spPr>
          <a:xfrm>
            <a:off x="9857232" y="4741164"/>
            <a:ext cx="1737360" cy="393192"/>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2 × 200/400</a:t>
            </a:r>
            <a:endParaRPr lang="en-US" sz="1300" dirty="0">
              <a:solidFill>
                <a:schemeClr val="bg1"/>
              </a:solidFill>
            </a:endParaRPr>
          </a:p>
        </p:txBody>
      </p:sp>
      <p:sp>
        <p:nvSpPr>
          <p:cNvPr id="72" name="Shape 70"/>
          <p:cNvSpPr/>
          <p:nvPr/>
        </p:nvSpPr>
        <p:spPr>
          <a:xfrm>
            <a:off x="502920" y="5431536"/>
            <a:ext cx="11183112" cy="374904"/>
          </a:xfrm>
          <a:prstGeom prst="rect">
            <a:avLst/>
          </a:prstGeom>
          <a:solidFill>
            <a:schemeClr val="bg1"/>
          </a:solidFill>
          <a:ln w="12700">
            <a:solidFill>
              <a:srgbClr val="F3F4F6"/>
            </a:solidFill>
            <a:prstDash val="solid"/>
          </a:ln>
        </p:spPr>
        <p:txBody>
          <a:bodyPr/>
          <a:lstStyle/>
          <a:p>
            <a:endParaRPr lang="en-US">
              <a:solidFill>
                <a:srgbClr val="C00000"/>
              </a:solidFill>
            </a:endParaRPr>
          </a:p>
        </p:txBody>
      </p:sp>
      <p:sp>
        <p:nvSpPr>
          <p:cNvPr id="73" name="Text 71"/>
          <p:cNvSpPr/>
          <p:nvPr/>
        </p:nvSpPr>
        <p:spPr>
          <a:xfrm>
            <a:off x="658368" y="5504688"/>
            <a:ext cx="10872216" cy="210312"/>
          </a:xfrm>
          <a:prstGeom prst="rect">
            <a:avLst/>
          </a:prstGeom>
          <a:noFill/>
          <a:ln/>
        </p:spPr>
        <p:txBody>
          <a:bodyPr wrap="square" lIns="0" tIns="0" rIns="0" bIns="0" rtlCol="0" anchor="ctr"/>
          <a:lstStyle/>
          <a:p>
            <a:pPr marL="0" indent="0">
              <a:buNone/>
            </a:pPr>
            <a:r>
              <a:rPr lang="en-US" sz="1230" dirty="0">
                <a:solidFill>
                  <a:srgbClr val="C00000"/>
                </a:solidFill>
                <a:latin typeface="Arial" pitchFamily="34" charset="0"/>
                <a:ea typeface="Arial" pitchFamily="34" charset="-122"/>
                <a:cs typeface="Arial" pitchFamily="34" charset="-120"/>
              </a:rPr>
              <a:t>PCIe screen: 1 domain = Gen5 x16 → 4 × Gen5 x4.  *E8 adds redundant network paths; E24 remains stretch.</a:t>
            </a:r>
            <a:endParaRPr lang="en-US" sz="1230" dirty="0">
              <a:solidFill>
                <a:srgbClr val="C00000"/>
              </a:solidFill>
            </a:endParaRPr>
          </a:p>
        </p:txBody>
      </p:sp>
      <p:sp>
        <p:nvSpPr>
          <p:cNvPr id="75" name="Shape 0">
            <a:extLst>
              <a:ext uri="{FF2B5EF4-FFF2-40B4-BE49-F238E27FC236}">
                <a16:creationId xmlns:a16="http://schemas.microsoft.com/office/drawing/2014/main" id="{60B764E9-F18E-075A-85E0-FED969310B05}"/>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76" name="Shape 0">
            <a:extLst>
              <a:ext uri="{FF2B5EF4-FFF2-40B4-BE49-F238E27FC236}">
                <a16:creationId xmlns:a16="http://schemas.microsoft.com/office/drawing/2014/main" id="{D154087F-089B-59A2-C12F-057C092BEEEE}"/>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77" name="Shape 0">
            <a:extLst>
              <a:ext uri="{FF2B5EF4-FFF2-40B4-BE49-F238E27FC236}">
                <a16:creationId xmlns:a16="http://schemas.microsoft.com/office/drawing/2014/main" id="{B2844ADD-3809-87F8-765E-6BA72E1DF845}"/>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78" name="Shape 0">
            <a:extLst>
              <a:ext uri="{FF2B5EF4-FFF2-40B4-BE49-F238E27FC236}">
                <a16:creationId xmlns:a16="http://schemas.microsoft.com/office/drawing/2014/main" id="{C20CB567-BBB8-EF78-F6C6-CE21D9482929}"/>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79" name="Rectangle 78">
            <a:extLst>
              <a:ext uri="{FF2B5EF4-FFF2-40B4-BE49-F238E27FC236}">
                <a16:creationId xmlns:a16="http://schemas.microsoft.com/office/drawing/2014/main" id="{E33976BA-6191-D19A-F74E-B4FE2142641C}"/>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80" name="Text 1">
            <a:extLst>
              <a:ext uri="{FF2B5EF4-FFF2-40B4-BE49-F238E27FC236}">
                <a16:creationId xmlns:a16="http://schemas.microsoft.com/office/drawing/2014/main" id="{72018E10-F515-81F2-B761-6AFCB211B073}"/>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81" name="Text 11">
            <a:extLst>
              <a:ext uri="{FF2B5EF4-FFF2-40B4-BE49-F238E27FC236}">
                <a16:creationId xmlns:a16="http://schemas.microsoft.com/office/drawing/2014/main" id="{58200F3D-09EC-2CFD-BBC6-408A7073A4A5}"/>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18</a:t>
            </a:r>
            <a:endParaRPr lang="en-US" sz="92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Image 0" descr="/mnt/data/atmos_exec_v3/assets/cover.png">
            <a:extLst>
              <a:ext uri="{FF2B5EF4-FFF2-40B4-BE49-F238E27FC236}">
                <a16:creationId xmlns:a16="http://schemas.microsoft.com/office/drawing/2014/main" id="{6D747DAE-7928-270E-454C-3DCE5ECE197F}"/>
              </a:ext>
            </a:extLst>
          </p:cNvPr>
          <p:cNvPicPr>
            <a:picLocks noChangeAspect="1"/>
          </p:cNvPicPr>
          <p:nvPr/>
        </p:nvPicPr>
        <p:blipFill>
          <a:blip r:embed="rId3"/>
          <a:stretch>
            <a:fillRect/>
          </a:stretch>
        </p:blipFill>
        <p:spPr>
          <a:xfrm>
            <a:off x="45666" y="192024"/>
            <a:ext cx="12100667" cy="6858000"/>
          </a:xfrm>
          <a:prstGeom prst="rect">
            <a:avLst/>
          </a:prstGeom>
        </p:spPr>
      </p:pic>
      <p:sp>
        <p:nvSpPr>
          <p:cNvPr id="2" name="Shape 0"/>
          <p:cNvSpPr/>
          <p:nvPr/>
        </p:nvSpPr>
        <p:spPr>
          <a:xfrm>
            <a:off x="0" y="0"/>
            <a:ext cx="12191695" cy="59436"/>
          </a:xfrm>
          <a:prstGeom prst="rect">
            <a:avLst/>
          </a:prstGeom>
          <a:solidFill>
            <a:srgbClr val="E31837"/>
          </a:solidFill>
          <a:ln w="12700">
            <a:solidFill>
              <a:srgbClr val="E31837"/>
            </a:solidFill>
            <a:prstDash val="solid"/>
          </a:ln>
        </p:spPr>
        <p:txBody>
          <a:bodyPr/>
          <a:lstStyle/>
          <a:p>
            <a:endParaRPr lang="en-US">
              <a:solidFill>
                <a:schemeClr val="bg1"/>
              </a:solidFill>
            </a:endParaRPr>
          </a:p>
        </p:txBody>
      </p:sp>
      <p:sp>
        <p:nvSpPr>
          <p:cNvPr id="4" name="Text 2"/>
          <p:cNvSpPr/>
          <p:nvPr/>
        </p:nvSpPr>
        <p:spPr>
          <a:xfrm>
            <a:off x="7498080" y="292608"/>
            <a:ext cx="4160520" cy="219456"/>
          </a:xfrm>
          <a:prstGeom prst="rect">
            <a:avLst/>
          </a:prstGeom>
          <a:noFill/>
          <a:ln/>
        </p:spPr>
        <p:txBody>
          <a:bodyPr wrap="square" lIns="0" tIns="0" rIns="0" bIns="0" rtlCol="0" anchor="ctr"/>
          <a:lstStyle/>
          <a:p>
            <a:pPr marL="0" indent="0" algn="r">
              <a:buNone/>
            </a:pPr>
            <a:r>
              <a:rPr lang="en-US" sz="1050" dirty="0">
                <a:solidFill>
                  <a:schemeClr val="bg1"/>
                </a:solidFill>
                <a:latin typeface="Arial" pitchFamily="34" charset="0"/>
                <a:ea typeface="Arial" pitchFamily="34" charset="-122"/>
                <a:cs typeface="Arial" pitchFamily="34" charset="-120"/>
              </a:rPr>
              <a:t>ATMOS / PARTNERSHIP PREFERENCE</a:t>
            </a:r>
            <a:endParaRPr lang="en-US" sz="1050" dirty="0">
              <a:solidFill>
                <a:schemeClr val="bg1"/>
              </a:solidFill>
            </a:endParaRPr>
          </a:p>
        </p:txBody>
      </p:sp>
      <p:sp>
        <p:nvSpPr>
          <p:cNvPr id="5" name="Text 3"/>
          <p:cNvSpPr/>
          <p:nvPr/>
        </p:nvSpPr>
        <p:spPr>
          <a:xfrm>
            <a:off x="502920" y="914400"/>
            <a:ext cx="11183112" cy="621792"/>
          </a:xfrm>
          <a:prstGeom prst="rect">
            <a:avLst/>
          </a:prstGeom>
          <a:noFill/>
          <a:ln/>
        </p:spPr>
        <p:txBody>
          <a:bodyPr wrap="square" lIns="0" tIns="0" rIns="0" bIns="0" rtlCol="0" anchor="ctr"/>
          <a:lstStyle/>
          <a:p>
            <a:pPr marL="0" indent="0">
              <a:buNone/>
            </a:pPr>
            <a:r>
              <a:rPr lang="en-US" sz="2800" b="1" dirty="0">
                <a:solidFill>
                  <a:schemeClr val="bg1"/>
                </a:solidFill>
                <a:latin typeface="Arial" pitchFamily="34" charset="0"/>
                <a:ea typeface="Arial" pitchFamily="34" charset="-122"/>
                <a:cs typeface="Arial" pitchFamily="34" charset="-120"/>
              </a:rPr>
              <a:t>Match each SKU to an OEM qualification strategy.</a:t>
            </a:r>
            <a:endParaRPr lang="en-US" sz="2800" dirty="0">
              <a:solidFill>
                <a:schemeClr val="bg1"/>
              </a:solidFill>
            </a:endParaRPr>
          </a:p>
        </p:txBody>
      </p:sp>
      <p:sp>
        <p:nvSpPr>
          <p:cNvPr id="6" name="Text 4"/>
          <p:cNvSpPr/>
          <p:nvPr/>
        </p:nvSpPr>
        <p:spPr>
          <a:xfrm>
            <a:off x="502920" y="1591056"/>
            <a:ext cx="11109960" cy="329184"/>
          </a:xfrm>
          <a:prstGeom prst="rect">
            <a:avLst/>
          </a:prstGeom>
          <a:noFill/>
          <a:ln/>
        </p:spPr>
        <p:txBody>
          <a:bodyPr wrap="square" lIns="0" tIns="0" rIns="0" bIns="0" rtlCol="0" anchor="ctr"/>
          <a:lstStyle/>
          <a:p>
            <a:pPr marL="0" indent="0">
              <a:buNone/>
            </a:pPr>
            <a:r>
              <a:rPr lang="en-US" sz="1370" dirty="0">
                <a:solidFill>
                  <a:schemeClr val="bg1"/>
                </a:solidFill>
                <a:latin typeface="Arial" pitchFamily="34" charset="0"/>
                <a:ea typeface="Arial" pitchFamily="34" charset="-122"/>
                <a:cs typeface="Arial" pitchFamily="34" charset="-120"/>
              </a:rPr>
              <a:t>Recommended engagement order, not a supplier ranking by measured performance, price or committed delivery.</a:t>
            </a:r>
            <a:endParaRPr lang="en-US" sz="1370" dirty="0">
              <a:solidFill>
                <a:schemeClr val="bg1"/>
              </a:solidFill>
            </a:endParaRPr>
          </a:p>
        </p:txBody>
      </p:sp>
      <p:sp>
        <p:nvSpPr>
          <p:cNvPr id="7" name="Shape 5"/>
          <p:cNvSpPr/>
          <p:nvPr/>
        </p:nvSpPr>
        <p:spPr>
          <a:xfrm>
            <a:off x="502920" y="6035040"/>
            <a:ext cx="11183112" cy="365760"/>
          </a:xfrm>
          <a:prstGeom prst="rect">
            <a:avLst/>
          </a:prstGeom>
          <a:solidFill>
            <a:schemeClr val="bg1"/>
          </a:solidFill>
          <a:ln w="12700">
            <a:solidFill>
              <a:srgbClr val="FCECF0"/>
            </a:solidFill>
            <a:prstDash val="solid"/>
          </a:ln>
        </p:spPr>
        <p:txBody>
          <a:bodyPr/>
          <a:lstStyle/>
          <a:p>
            <a:endParaRPr lang="en-US">
              <a:solidFill>
                <a:schemeClr val="bg1"/>
              </a:solidFill>
            </a:endParaRPr>
          </a:p>
        </p:txBody>
      </p:sp>
      <p:sp>
        <p:nvSpPr>
          <p:cNvPr id="8" name="Text 6"/>
          <p:cNvSpPr/>
          <p:nvPr/>
        </p:nvSpPr>
        <p:spPr>
          <a:xfrm>
            <a:off x="658368" y="6089904"/>
            <a:ext cx="10872216" cy="246888"/>
          </a:xfrm>
          <a:prstGeom prst="rect">
            <a:avLst/>
          </a:prstGeom>
          <a:noFill/>
          <a:ln/>
        </p:spPr>
        <p:txBody>
          <a:bodyPr wrap="square" lIns="0" tIns="0" rIns="0" bIns="0" rtlCol="0" anchor="ctr"/>
          <a:lstStyle/>
          <a:p>
            <a:pPr marL="0" indent="0">
              <a:buNone/>
            </a:pPr>
            <a:r>
              <a:rPr lang="en-US" sz="1250" b="1" dirty="0">
                <a:solidFill>
                  <a:srgbClr val="C00000"/>
                </a:solidFill>
                <a:latin typeface="Arial" pitchFamily="34" charset="0"/>
                <a:ea typeface="Arial" pitchFamily="34" charset="-122"/>
                <a:cs typeface="Arial" pitchFamily="34" charset="-120"/>
              </a:rPr>
              <a:t>Use one common RFI. Every candidate must prove E3.S 2T/x4, sustained thermals, topology, firmware and support.</a:t>
            </a:r>
            <a:endParaRPr lang="en-US" sz="1250" dirty="0">
              <a:solidFill>
                <a:srgbClr val="C00000"/>
              </a:solidFill>
            </a:endParaRPr>
          </a:p>
        </p:txBody>
      </p:sp>
      <p:sp>
        <p:nvSpPr>
          <p:cNvPr id="10" name="Shape 8"/>
          <p:cNvSpPr/>
          <p:nvPr/>
        </p:nvSpPr>
        <p:spPr>
          <a:xfrm>
            <a:off x="502920" y="6665976"/>
            <a:ext cx="11183112" cy="0"/>
          </a:xfrm>
          <a:prstGeom prst="line">
            <a:avLst/>
          </a:prstGeom>
          <a:noFill/>
          <a:ln w="7620">
            <a:solidFill>
              <a:srgbClr val="D6D9DE"/>
            </a:solidFill>
            <a:prstDash val="solid"/>
            <a:headEnd type="none"/>
            <a:tailEnd type="none"/>
          </a:ln>
        </p:spPr>
        <p:txBody>
          <a:bodyPr/>
          <a:lstStyle/>
          <a:p>
            <a:endParaRPr lang="en-US">
              <a:solidFill>
                <a:schemeClr val="bg1"/>
              </a:solidFill>
            </a:endParaRPr>
          </a:p>
        </p:txBody>
      </p:sp>
      <p:sp>
        <p:nvSpPr>
          <p:cNvPr id="14" name="Shape 12"/>
          <p:cNvSpPr/>
          <p:nvPr/>
        </p:nvSpPr>
        <p:spPr>
          <a:xfrm>
            <a:off x="502920" y="2103120"/>
            <a:ext cx="1463040" cy="438912"/>
          </a:xfrm>
          <a:prstGeom prst="rect">
            <a:avLst/>
          </a:prstGeom>
          <a:solidFill>
            <a:srgbClr val="C00000"/>
          </a:solidFill>
          <a:ln w="12700">
            <a:solidFill>
              <a:schemeClr val="bg1"/>
            </a:solidFill>
            <a:prstDash val="solid"/>
          </a:ln>
        </p:spPr>
        <p:txBody>
          <a:bodyPr/>
          <a:lstStyle/>
          <a:p>
            <a:endParaRPr lang="en-US">
              <a:solidFill>
                <a:schemeClr val="bg1"/>
              </a:solidFill>
            </a:endParaRPr>
          </a:p>
        </p:txBody>
      </p:sp>
      <p:sp>
        <p:nvSpPr>
          <p:cNvPr id="15" name="Text 13"/>
          <p:cNvSpPr/>
          <p:nvPr/>
        </p:nvSpPr>
        <p:spPr>
          <a:xfrm>
            <a:off x="594360" y="2167128"/>
            <a:ext cx="1280160" cy="329184"/>
          </a:xfrm>
          <a:prstGeom prst="rect">
            <a:avLst/>
          </a:prstGeom>
          <a:solidFill>
            <a:srgbClr val="C00000"/>
          </a:solidFill>
          <a:ln/>
        </p:spPr>
        <p:txBody>
          <a:bodyPr wrap="square" lIns="0" tIns="0" rIns="0" bIns="0" rtlCol="0" anchor="ctr"/>
          <a:lstStyle/>
          <a:p>
            <a:pPr marL="0" indent="0">
              <a:buNone/>
            </a:pPr>
            <a:r>
              <a:rPr lang="en-US" sz="1200" b="1" dirty="0">
                <a:solidFill>
                  <a:schemeClr val="bg1"/>
                </a:solidFill>
                <a:latin typeface="Arial" pitchFamily="34" charset="0"/>
                <a:ea typeface="Arial" pitchFamily="34" charset="-122"/>
                <a:cs typeface="Arial" pitchFamily="34" charset="-120"/>
              </a:rPr>
              <a:t>SKU / stage</a:t>
            </a:r>
            <a:endParaRPr lang="en-US" sz="1200" dirty="0">
              <a:solidFill>
                <a:schemeClr val="bg1"/>
              </a:solidFill>
            </a:endParaRPr>
          </a:p>
        </p:txBody>
      </p:sp>
      <p:sp>
        <p:nvSpPr>
          <p:cNvPr id="16" name="Shape 14"/>
          <p:cNvSpPr/>
          <p:nvPr/>
        </p:nvSpPr>
        <p:spPr>
          <a:xfrm>
            <a:off x="1965960" y="2103120"/>
            <a:ext cx="1947672" cy="438912"/>
          </a:xfrm>
          <a:prstGeom prst="rect">
            <a:avLst/>
          </a:prstGeom>
          <a:solidFill>
            <a:srgbClr val="C00000"/>
          </a:solidFill>
          <a:ln w="12700">
            <a:solidFill>
              <a:schemeClr val="bg1"/>
            </a:solidFill>
            <a:prstDash val="solid"/>
          </a:ln>
        </p:spPr>
        <p:txBody>
          <a:bodyPr/>
          <a:lstStyle/>
          <a:p>
            <a:endParaRPr lang="en-US">
              <a:solidFill>
                <a:schemeClr val="bg1"/>
              </a:solidFill>
            </a:endParaRPr>
          </a:p>
        </p:txBody>
      </p:sp>
      <p:sp>
        <p:nvSpPr>
          <p:cNvPr id="17" name="Text 15"/>
          <p:cNvSpPr/>
          <p:nvPr/>
        </p:nvSpPr>
        <p:spPr>
          <a:xfrm>
            <a:off x="2057400" y="2167128"/>
            <a:ext cx="1764792" cy="329184"/>
          </a:xfrm>
          <a:prstGeom prst="rect">
            <a:avLst/>
          </a:prstGeom>
          <a:solidFill>
            <a:srgbClr val="C00000"/>
          </a:solidFill>
          <a:ln/>
        </p:spPr>
        <p:txBody>
          <a:bodyPr wrap="square" lIns="0" tIns="0" rIns="0" bIns="0" rtlCol="0" anchor="ctr"/>
          <a:lstStyle/>
          <a:p>
            <a:pPr marL="0" indent="0">
              <a:buNone/>
            </a:pPr>
            <a:r>
              <a:rPr lang="en-US" sz="1200" b="1" dirty="0">
                <a:solidFill>
                  <a:schemeClr val="bg1"/>
                </a:solidFill>
                <a:latin typeface="Arial" pitchFamily="34" charset="0"/>
                <a:ea typeface="Arial" pitchFamily="34" charset="-122"/>
                <a:cs typeface="Arial" pitchFamily="34" charset="-120"/>
              </a:rPr>
              <a:t>First inquiry</a:t>
            </a:r>
            <a:endParaRPr lang="en-US" sz="1200" dirty="0">
              <a:solidFill>
                <a:schemeClr val="bg1"/>
              </a:solidFill>
            </a:endParaRPr>
          </a:p>
        </p:txBody>
      </p:sp>
      <p:sp>
        <p:nvSpPr>
          <p:cNvPr id="18" name="Shape 16"/>
          <p:cNvSpPr/>
          <p:nvPr/>
        </p:nvSpPr>
        <p:spPr>
          <a:xfrm>
            <a:off x="3913632" y="2103120"/>
            <a:ext cx="2258568" cy="438912"/>
          </a:xfrm>
          <a:prstGeom prst="rect">
            <a:avLst/>
          </a:prstGeom>
          <a:solidFill>
            <a:srgbClr val="C00000"/>
          </a:solidFill>
          <a:ln w="12700">
            <a:solidFill>
              <a:schemeClr val="bg1"/>
            </a:solidFill>
            <a:prstDash val="solid"/>
          </a:ln>
        </p:spPr>
        <p:txBody>
          <a:bodyPr/>
          <a:lstStyle/>
          <a:p>
            <a:endParaRPr lang="en-US">
              <a:solidFill>
                <a:schemeClr val="bg1"/>
              </a:solidFill>
            </a:endParaRPr>
          </a:p>
        </p:txBody>
      </p:sp>
      <p:sp>
        <p:nvSpPr>
          <p:cNvPr id="19" name="Text 17"/>
          <p:cNvSpPr/>
          <p:nvPr/>
        </p:nvSpPr>
        <p:spPr>
          <a:xfrm>
            <a:off x="4005072" y="2167128"/>
            <a:ext cx="2075688" cy="329184"/>
          </a:xfrm>
          <a:prstGeom prst="rect">
            <a:avLst/>
          </a:prstGeom>
          <a:solidFill>
            <a:srgbClr val="C00000"/>
          </a:solidFill>
          <a:ln/>
        </p:spPr>
        <p:txBody>
          <a:bodyPr wrap="square" lIns="0" tIns="0" rIns="0" bIns="0" rtlCol="0" anchor="ctr"/>
          <a:lstStyle/>
          <a:p>
            <a:pPr marL="0" indent="0">
              <a:buNone/>
            </a:pPr>
            <a:r>
              <a:rPr lang="en-US" sz="1200" b="1" dirty="0">
                <a:solidFill>
                  <a:schemeClr val="bg1"/>
                </a:solidFill>
                <a:latin typeface="Arial" pitchFamily="34" charset="0"/>
                <a:ea typeface="Arial" pitchFamily="34" charset="-122"/>
                <a:cs typeface="Arial" pitchFamily="34" charset="-120"/>
              </a:rPr>
              <a:t>Parallel / alternate</a:t>
            </a:r>
            <a:endParaRPr lang="en-US" sz="1200" dirty="0">
              <a:solidFill>
                <a:schemeClr val="bg1"/>
              </a:solidFill>
            </a:endParaRPr>
          </a:p>
        </p:txBody>
      </p:sp>
      <p:sp>
        <p:nvSpPr>
          <p:cNvPr id="20" name="Shape 18"/>
          <p:cNvSpPr/>
          <p:nvPr/>
        </p:nvSpPr>
        <p:spPr>
          <a:xfrm>
            <a:off x="6172200" y="2103120"/>
            <a:ext cx="3172968" cy="438912"/>
          </a:xfrm>
          <a:prstGeom prst="rect">
            <a:avLst/>
          </a:prstGeom>
          <a:solidFill>
            <a:srgbClr val="C00000"/>
          </a:solidFill>
          <a:ln w="12700">
            <a:solidFill>
              <a:schemeClr val="bg1"/>
            </a:solidFill>
            <a:prstDash val="solid"/>
          </a:ln>
        </p:spPr>
        <p:txBody>
          <a:bodyPr/>
          <a:lstStyle/>
          <a:p>
            <a:endParaRPr lang="en-US">
              <a:solidFill>
                <a:schemeClr val="bg1"/>
              </a:solidFill>
            </a:endParaRPr>
          </a:p>
        </p:txBody>
      </p:sp>
      <p:sp>
        <p:nvSpPr>
          <p:cNvPr id="21" name="Text 19"/>
          <p:cNvSpPr/>
          <p:nvPr/>
        </p:nvSpPr>
        <p:spPr>
          <a:xfrm>
            <a:off x="6263640" y="2167128"/>
            <a:ext cx="2990088" cy="329184"/>
          </a:xfrm>
          <a:prstGeom prst="rect">
            <a:avLst/>
          </a:prstGeom>
          <a:solidFill>
            <a:srgbClr val="C00000"/>
          </a:solidFill>
          <a:ln/>
        </p:spPr>
        <p:txBody>
          <a:bodyPr wrap="square" lIns="0" tIns="0" rIns="0" bIns="0" rtlCol="0" anchor="ctr"/>
          <a:lstStyle/>
          <a:p>
            <a:pPr marL="0" indent="0">
              <a:buNone/>
            </a:pPr>
            <a:r>
              <a:rPr lang="en-US" sz="1200" b="1" dirty="0">
                <a:solidFill>
                  <a:schemeClr val="bg1"/>
                </a:solidFill>
                <a:latin typeface="Arial" pitchFamily="34" charset="0"/>
                <a:ea typeface="Arial" pitchFamily="34" charset="-122"/>
                <a:cs typeface="Arial" pitchFamily="34" charset="-120"/>
              </a:rPr>
              <a:t>Why this order</a:t>
            </a:r>
            <a:endParaRPr lang="en-US" sz="1200" dirty="0">
              <a:solidFill>
                <a:schemeClr val="bg1"/>
              </a:solidFill>
            </a:endParaRPr>
          </a:p>
        </p:txBody>
      </p:sp>
      <p:sp>
        <p:nvSpPr>
          <p:cNvPr id="22" name="Shape 20"/>
          <p:cNvSpPr/>
          <p:nvPr/>
        </p:nvSpPr>
        <p:spPr>
          <a:xfrm>
            <a:off x="9345168" y="2103120"/>
            <a:ext cx="2340864" cy="438912"/>
          </a:xfrm>
          <a:prstGeom prst="rect">
            <a:avLst/>
          </a:prstGeom>
          <a:solidFill>
            <a:srgbClr val="C00000"/>
          </a:solidFill>
          <a:ln w="12700">
            <a:solidFill>
              <a:schemeClr val="bg1"/>
            </a:solidFill>
            <a:prstDash val="solid"/>
          </a:ln>
        </p:spPr>
        <p:txBody>
          <a:bodyPr/>
          <a:lstStyle/>
          <a:p>
            <a:endParaRPr lang="en-US">
              <a:solidFill>
                <a:schemeClr val="bg1"/>
              </a:solidFill>
            </a:endParaRPr>
          </a:p>
        </p:txBody>
      </p:sp>
      <p:sp>
        <p:nvSpPr>
          <p:cNvPr id="23" name="Text 21"/>
          <p:cNvSpPr/>
          <p:nvPr/>
        </p:nvSpPr>
        <p:spPr>
          <a:xfrm>
            <a:off x="9436608" y="2167128"/>
            <a:ext cx="2157984" cy="329184"/>
          </a:xfrm>
          <a:prstGeom prst="rect">
            <a:avLst/>
          </a:prstGeom>
          <a:solidFill>
            <a:srgbClr val="C00000"/>
          </a:solidFill>
          <a:ln/>
        </p:spPr>
        <p:txBody>
          <a:bodyPr wrap="square" lIns="0" tIns="0" rIns="0" bIns="0" rtlCol="0" anchor="ctr"/>
          <a:lstStyle/>
          <a:p>
            <a:pPr marL="0" indent="0">
              <a:buNone/>
            </a:pPr>
            <a:r>
              <a:rPr lang="en-US" sz="1200" b="1" dirty="0">
                <a:solidFill>
                  <a:schemeClr val="bg1"/>
                </a:solidFill>
                <a:latin typeface="Arial" pitchFamily="34" charset="0"/>
                <a:ea typeface="Arial" pitchFamily="34" charset="-122"/>
                <a:cs typeface="Arial" pitchFamily="34" charset="-120"/>
              </a:rPr>
              <a:t>Hard condition</a:t>
            </a:r>
            <a:endParaRPr lang="en-US" sz="1200" dirty="0">
              <a:solidFill>
                <a:schemeClr val="bg1"/>
              </a:solidFill>
            </a:endParaRPr>
          </a:p>
        </p:txBody>
      </p:sp>
      <p:sp>
        <p:nvSpPr>
          <p:cNvPr id="24" name="Shape 22"/>
          <p:cNvSpPr/>
          <p:nvPr/>
        </p:nvSpPr>
        <p:spPr>
          <a:xfrm>
            <a:off x="502920" y="2542032"/>
            <a:ext cx="1463040"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5" name="Text 23"/>
          <p:cNvSpPr/>
          <p:nvPr/>
        </p:nvSpPr>
        <p:spPr>
          <a:xfrm>
            <a:off x="594360" y="2619756"/>
            <a:ext cx="1280160" cy="512064"/>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W4 / derivative</a:t>
            </a:r>
            <a:endParaRPr lang="en-US" sz="1300" dirty="0">
              <a:solidFill>
                <a:schemeClr val="bg1"/>
              </a:solidFill>
            </a:endParaRPr>
          </a:p>
        </p:txBody>
      </p:sp>
      <p:sp>
        <p:nvSpPr>
          <p:cNvPr id="26" name="Shape 24"/>
          <p:cNvSpPr/>
          <p:nvPr/>
        </p:nvSpPr>
        <p:spPr>
          <a:xfrm>
            <a:off x="1965960" y="2542032"/>
            <a:ext cx="1947672"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7" name="Text 25"/>
          <p:cNvSpPr/>
          <p:nvPr/>
        </p:nvSpPr>
        <p:spPr>
          <a:xfrm>
            <a:off x="2057400" y="2619756"/>
            <a:ext cx="1764792"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Supermicro +</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qualified integrator</a:t>
            </a:r>
            <a:endParaRPr lang="en-US" sz="1300" dirty="0">
              <a:solidFill>
                <a:schemeClr val="bg1"/>
              </a:solidFill>
            </a:endParaRPr>
          </a:p>
        </p:txBody>
      </p:sp>
      <p:sp>
        <p:nvSpPr>
          <p:cNvPr id="28" name="Shape 26"/>
          <p:cNvSpPr/>
          <p:nvPr/>
        </p:nvSpPr>
        <p:spPr>
          <a:xfrm>
            <a:off x="3913632" y="2542032"/>
            <a:ext cx="22585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29" name="Text 27"/>
          <p:cNvSpPr/>
          <p:nvPr/>
        </p:nvSpPr>
        <p:spPr>
          <a:xfrm>
            <a:off x="4005072" y="2619756"/>
            <a:ext cx="20756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Dell OEM; HPE OEM</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when customer-aligned</a:t>
            </a:r>
            <a:endParaRPr lang="en-US" sz="1300" dirty="0">
              <a:solidFill>
                <a:schemeClr val="bg1"/>
              </a:solidFill>
            </a:endParaRPr>
          </a:p>
        </p:txBody>
      </p:sp>
      <p:sp>
        <p:nvSpPr>
          <p:cNvPr id="30" name="Shape 28"/>
          <p:cNvSpPr/>
          <p:nvPr/>
        </p:nvSpPr>
        <p:spPr>
          <a:xfrm>
            <a:off x="6172200" y="2542032"/>
            <a:ext cx="31729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1" name="Text 29"/>
          <p:cNvSpPr/>
          <p:nvPr/>
        </p:nvSpPr>
        <p:spPr>
          <a:xfrm>
            <a:off x="6263640" y="2619756"/>
            <a:ext cx="29900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Investigate a purpose-built pedestal / short-depth carrier</a:t>
            </a:r>
            <a:endParaRPr lang="en-US" sz="1300" dirty="0">
              <a:solidFill>
                <a:schemeClr val="bg1"/>
              </a:solidFill>
            </a:endParaRPr>
          </a:p>
        </p:txBody>
      </p:sp>
      <p:sp>
        <p:nvSpPr>
          <p:cNvPr id="32" name="Shape 30"/>
          <p:cNvSpPr/>
          <p:nvPr/>
        </p:nvSpPr>
        <p:spPr>
          <a:xfrm>
            <a:off x="9345168" y="2542032"/>
            <a:ext cx="2340864"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3" name="Text 31"/>
          <p:cNvSpPr/>
          <p:nvPr/>
        </p:nvSpPr>
        <p:spPr>
          <a:xfrm>
            <a:off x="9436608" y="2619756"/>
            <a:ext cx="2157984"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No assumption that a normal workstation has four ATMOS bays</a:t>
            </a:r>
            <a:endParaRPr lang="en-US" sz="1300" dirty="0">
              <a:solidFill>
                <a:schemeClr val="bg1"/>
              </a:solidFill>
            </a:endParaRPr>
          </a:p>
        </p:txBody>
      </p:sp>
      <p:sp>
        <p:nvSpPr>
          <p:cNvPr id="34" name="Shape 32"/>
          <p:cNvSpPr/>
          <p:nvPr/>
        </p:nvSpPr>
        <p:spPr>
          <a:xfrm>
            <a:off x="502920" y="3182112"/>
            <a:ext cx="1463040"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5" name="Text 33"/>
          <p:cNvSpPr/>
          <p:nvPr/>
        </p:nvSpPr>
        <p:spPr>
          <a:xfrm>
            <a:off x="594360" y="3259836"/>
            <a:ext cx="1280160" cy="512064"/>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D8 / engineering lead</a:t>
            </a:r>
            <a:endParaRPr lang="en-US" sz="1300" dirty="0">
              <a:solidFill>
                <a:schemeClr val="bg1"/>
              </a:solidFill>
            </a:endParaRPr>
          </a:p>
        </p:txBody>
      </p:sp>
      <p:sp>
        <p:nvSpPr>
          <p:cNvPr id="36" name="Shape 34"/>
          <p:cNvSpPr/>
          <p:nvPr/>
        </p:nvSpPr>
        <p:spPr>
          <a:xfrm>
            <a:off x="1965960" y="3182112"/>
            <a:ext cx="1947672"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7" name="Text 35"/>
          <p:cNvSpPr/>
          <p:nvPr/>
        </p:nvSpPr>
        <p:spPr>
          <a:xfrm>
            <a:off x="2057400" y="3259836"/>
            <a:ext cx="1764792"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Supermicro</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X14-family study</a:t>
            </a:r>
            <a:endParaRPr lang="en-US" sz="1300" dirty="0">
              <a:solidFill>
                <a:schemeClr val="bg1"/>
              </a:solidFill>
            </a:endParaRPr>
          </a:p>
        </p:txBody>
      </p:sp>
      <p:sp>
        <p:nvSpPr>
          <p:cNvPr id="38" name="Shape 36"/>
          <p:cNvSpPr/>
          <p:nvPr/>
        </p:nvSpPr>
        <p:spPr>
          <a:xfrm>
            <a:off x="3913632" y="3182112"/>
            <a:ext cx="22585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39" name="Text 37"/>
          <p:cNvSpPr/>
          <p:nvPr/>
        </p:nvSpPr>
        <p:spPr>
          <a:xfrm>
            <a:off x="4005072" y="3259836"/>
            <a:ext cx="20756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Dell OEM / R7725</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feasibility</a:t>
            </a:r>
            <a:endParaRPr lang="en-US" sz="1300" dirty="0">
              <a:solidFill>
                <a:schemeClr val="bg1"/>
              </a:solidFill>
            </a:endParaRPr>
          </a:p>
        </p:txBody>
      </p:sp>
      <p:sp>
        <p:nvSpPr>
          <p:cNvPr id="40" name="Shape 38"/>
          <p:cNvSpPr/>
          <p:nvPr/>
        </p:nvSpPr>
        <p:spPr>
          <a:xfrm>
            <a:off x="6172200" y="3182112"/>
            <a:ext cx="31729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1" name="Text 39"/>
          <p:cNvSpPr/>
          <p:nvPr/>
        </p:nvSpPr>
        <p:spPr>
          <a:xfrm>
            <a:off x="6263640" y="3259836"/>
            <a:ext cx="29900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Public E3.S / 2T CXL design experience supports a technical inquiry</a:t>
            </a:r>
            <a:endParaRPr lang="en-US" sz="1300" dirty="0">
              <a:solidFill>
                <a:schemeClr val="bg1"/>
              </a:solidFill>
            </a:endParaRPr>
          </a:p>
        </p:txBody>
      </p:sp>
      <p:sp>
        <p:nvSpPr>
          <p:cNvPr id="42" name="Shape 40"/>
          <p:cNvSpPr/>
          <p:nvPr/>
        </p:nvSpPr>
        <p:spPr>
          <a:xfrm>
            <a:off x="9345168" y="3182112"/>
            <a:ext cx="2340864"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3" name="Text 41"/>
          <p:cNvSpPr/>
          <p:nvPr/>
        </p:nvSpPr>
        <p:spPr>
          <a:xfrm>
            <a:off x="9436608" y="3259836"/>
            <a:ext cx="2157984"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Storage or CXL fit is not NPU certification</a:t>
            </a:r>
            <a:endParaRPr lang="en-US" sz="1300" dirty="0">
              <a:solidFill>
                <a:schemeClr val="bg1"/>
              </a:solidFill>
            </a:endParaRPr>
          </a:p>
        </p:txBody>
      </p:sp>
      <p:sp>
        <p:nvSpPr>
          <p:cNvPr id="44" name="Shape 42"/>
          <p:cNvSpPr/>
          <p:nvPr/>
        </p:nvSpPr>
        <p:spPr>
          <a:xfrm>
            <a:off x="502920" y="3822192"/>
            <a:ext cx="1463040"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5" name="Text 43"/>
          <p:cNvSpPr/>
          <p:nvPr/>
        </p:nvSpPr>
        <p:spPr>
          <a:xfrm>
            <a:off x="594360" y="3899916"/>
            <a:ext cx="1280160" cy="512064"/>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E8 / entry production</a:t>
            </a:r>
            <a:endParaRPr lang="en-US" sz="1300" dirty="0">
              <a:solidFill>
                <a:schemeClr val="bg1"/>
              </a:solidFill>
            </a:endParaRPr>
          </a:p>
        </p:txBody>
      </p:sp>
      <p:sp>
        <p:nvSpPr>
          <p:cNvPr id="46" name="Shape 44"/>
          <p:cNvSpPr/>
          <p:nvPr/>
        </p:nvSpPr>
        <p:spPr>
          <a:xfrm>
            <a:off x="1965960" y="3822192"/>
            <a:ext cx="1947672"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7" name="Text 45"/>
          <p:cNvSpPr/>
          <p:nvPr/>
        </p:nvSpPr>
        <p:spPr>
          <a:xfrm>
            <a:off x="2057400" y="3899916"/>
            <a:ext cx="1764792"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Dell OEM</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enterprise inquiry</a:t>
            </a:r>
            <a:endParaRPr lang="en-US" sz="1300" dirty="0">
              <a:solidFill>
                <a:schemeClr val="bg1"/>
              </a:solidFill>
            </a:endParaRPr>
          </a:p>
        </p:txBody>
      </p:sp>
      <p:sp>
        <p:nvSpPr>
          <p:cNvPr id="48" name="Shape 46"/>
          <p:cNvSpPr/>
          <p:nvPr/>
        </p:nvSpPr>
        <p:spPr>
          <a:xfrm>
            <a:off x="3913632" y="3822192"/>
            <a:ext cx="22585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49" name="Text 47"/>
          <p:cNvSpPr/>
          <p:nvPr/>
        </p:nvSpPr>
        <p:spPr>
          <a:xfrm>
            <a:off x="4005072" y="3899916"/>
            <a:ext cx="20756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Supermicro; HPE where</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installed-base-led</a:t>
            </a:r>
            <a:endParaRPr lang="en-US" sz="1300" dirty="0">
              <a:solidFill>
                <a:schemeClr val="bg1"/>
              </a:solidFill>
            </a:endParaRPr>
          </a:p>
        </p:txBody>
      </p:sp>
      <p:sp>
        <p:nvSpPr>
          <p:cNvPr id="50" name="Shape 48"/>
          <p:cNvSpPr/>
          <p:nvPr/>
        </p:nvSpPr>
        <p:spPr>
          <a:xfrm>
            <a:off x="6172200" y="3822192"/>
            <a:ext cx="31729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1" name="Text 49"/>
          <p:cNvSpPr/>
          <p:nvPr/>
        </p:nvSpPr>
        <p:spPr>
          <a:xfrm>
            <a:off x="6263640" y="3899916"/>
            <a:ext cx="29900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Branding, lifecycle and field-support contract are central</a:t>
            </a:r>
            <a:endParaRPr lang="en-US" sz="1300" dirty="0">
              <a:solidFill>
                <a:schemeClr val="bg1"/>
              </a:solidFill>
            </a:endParaRPr>
          </a:p>
        </p:txBody>
      </p:sp>
      <p:sp>
        <p:nvSpPr>
          <p:cNvPr id="52" name="Shape 50"/>
          <p:cNvSpPr/>
          <p:nvPr/>
        </p:nvSpPr>
        <p:spPr>
          <a:xfrm>
            <a:off x="9345168" y="3822192"/>
            <a:ext cx="2340864"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3" name="Text 51"/>
          <p:cNvSpPr/>
          <p:nvPr/>
        </p:nvSpPr>
        <p:spPr>
          <a:xfrm>
            <a:off x="9436608" y="3899916"/>
            <a:ext cx="2157984"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Same device envelope as D8; no invented speed uplift</a:t>
            </a:r>
            <a:endParaRPr lang="en-US" sz="1300" dirty="0">
              <a:solidFill>
                <a:schemeClr val="bg1"/>
              </a:solidFill>
            </a:endParaRPr>
          </a:p>
        </p:txBody>
      </p:sp>
      <p:sp>
        <p:nvSpPr>
          <p:cNvPr id="54" name="Shape 52"/>
          <p:cNvSpPr/>
          <p:nvPr/>
        </p:nvSpPr>
        <p:spPr>
          <a:xfrm>
            <a:off x="502920" y="4462272"/>
            <a:ext cx="1463040"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5" name="Text 53"/>
          <p:cNvSpPr/>
          <p:nvPr/>
        </p:nvSpPr>
        <p:spPr>
          <a:xfrm>
            <a:off x="594360" y="4539996"/>
            <a:ext cx="1280160" cy="512064"/>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E16 / enterprise lead</a:t>
            </a:r>
            <a:endParaRPr lang="en-US" sz="1300" dirty="0">
              <a:solidFill>
                <a:schemeClr val="bg1"/>
              </a:solidFill>
            </a:endParaRPr>
          </a:p>
        </p:txBody>
      </p:sp>
      <p:sp>
        <p:nvSpPr>
          <p:cNvPr id="56" name="Shape 54"/>
          <p:cNvSpPr/>
          <p:nvPr/>
        </p:nvSpPr>
        <p:spPr>
          <a:xfrm>
            <a:off x="1965960" y="4462272"/>
            <a:ext cx="1947672"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7" name="Text 55"/>
          <p:cNvSpPr/>
          <p:nvPr/>
        </p:nvSpPr>
        <p:spPr>
          <a:xfrm>
            <a:off x="2057400" y="4539996"/>
            <a:ext cx="1764792"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Dell OEM +</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Supermicro finalist</a:t>
            </a:r>
            <a:endParaRPr lang="en-US" sz="1300" dirty="0">
              <a:solidFill>
                <a:schemeClr val="bg1"/>
              </a:solidFill>
            </a:endParaRPr>
          </a:p>
        </p:txBody>
      </p:sp>
      <p:sp>
        <p:nvSpPr>
          <p:cNvPr id="58" name="Shape 56"/>
          <p:cNvSpPr/>
          <p:nvPr/>
        </p:nvSpPr>
        <p:spPr>
          <a:xfrm>
            <a:off x="3913632" y="4462272"/>
            <a:ext cx="22585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59" name="Text 57"/>
          <p:cNvSpPr/>
          <p:nvPr/>
        </p:nvSpPr>
        <p:spPr>
          <a:xfrm>
            <a:off x="4005072" y="4539996"/>
            <a:ext cx="20756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HPE Virtual OEM for</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customer-standard estates</a:t>
            </a:r>
            <a:endParaRPr lang="en-US" sz="1300" dirty="0">
              <a:solidFill>
                <a:schemeClr val="bg1"/>
              </a:solidFill>
            </a:endParaRPr>
          </a:p>
        </p:txBody>
      </p:sp>
      <p:sp>
        <p:nvSpPr>
          <p:cNvPr id="60" name="Shape 58"/>
          <p:cNvSpPr/>
          <p:nvPr/>
        </p:nvSpPr>
        <p:spPr>
          <a:xfrm>
            <a:off x="6172200" y="4462272"/>
            <a:ext cx="31729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1" name="Text 59"/>
          <p:cNvSpPr/>
          <p:nvPr/>
        </p:nvSpPr>
        <p:spPr>
          <a:xfrm>
            <a:off x="6263640" y="4539996"/>
            <a:ext cx="29900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Select on complete 16-device evidence and support scope</a:t>
            </a:r>
            <a:endParaRPr lang="en-US" sz="1300" dirty="0">
              <a:solidFill>
                <a:schemeClr val="bg1"/>
              </a:solidFill>
            </a:endParaRPr>
          </a:p>
        </p:txBody>
      </p:sp>
      <p:sp>
        <p:nvSpPr>
          <p:cNvPr id="62" name="Shape 60"/>
          <p:cNvSpPr/>
          <p:nvPr/>
        </p:nvSpPr>
        <p:spPr>
          <a:xfrm>
            <a:off x="9345168" y="4462272"/>
            <a:ext cx="2340864"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3" name="Text 61"/>
          <p:cNvSpPr/>
          <p:nvPr/>
        </p:nvSpPr>
        <p:spPr>
          <a:xfrm>
            <a:off x="9436608" y="4539996"/>
            <a:ext cx="2157984"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Per-domain isolation and full-load N+1 validation</a:t>
            </a:r>
            <a:endParaRPr lang="en-US" sz="1300" dirty="0">
              <a:solidFill>
                <a:schemeClr val="bg1"/>
              </a:solidFill>
            </a:endParaRPr>
          </a:p>
        </p:txBody>
      </p:sp>
      <p:sp>
        <p:nvSpPr>
          <p:cNvPr id="64" name="Shape 62"/>
          <p:cNvSpPr/>
          <p:nvPr/>
        </p:nvSpPr>
        <p:spPr>
          <a:xfrm>
            <a:off x="502920" y="5102352"/>
            <a:ext cx="1463040"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5" name="Text 63"/>
          <p:cNvSpPr/>
          <p:nvPr/>
        </p:nvSpPr>
        <p:spPr>
          <a:xfrm>
            <a:off x="594360" y="5180076"/>
            <a:ext cx="1280160" cy="512064"/>
          </a:xfrm>
          <a:prstGeom prst="rect">
            <a:avLst/>
          </a:prstGeom>
          <a:solidFill>
            <a:srgbClr val="C00000"/>
          </a:solid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E24 / stretch</a:t>
            </a:r>
            <a:endParaRPr lang="en-US" sz="1300" dirty="0">
              <a:solidFill>
                <a:schemeClr val="bg1"/>
              </a:solidFill>
            </a:endParaRPr>
          </a:p>
        </p:txBody>
      </p:sp>
      <p:sp>
        <p:nvSpPr>
          <p:cNvPr id="66" name="Shape 64"/>
          <p:cNvSpPr/>
          <p:nvPr/>
        </p:nvSpPr>
        <p:spPr>
          <a:xfrm>
            <a:off x="1965960" y="5102352"/>
            <a:ext cx="1947672"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7" name="Text 65"/>
          <p:cNvSpPr/>
          <p:nvPr/>
        </p:nvSpPr>
        <p:spPr>
          <a:xfrm>
            <a:off x="2057400" y="5180076"/>
            <a:ext cx="1764792"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Supermicro</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co-design inquiry</a:t>
            </a:r>
            <a:endParaRPr lang="en-US" sz="1300" dirty="0">
              <a:solidFill>
                <a:schemeClr val="bg1"/>
              </a:solidFill>
            </a:endParaRPr>
          </a:p>
        </p:txBody>
      </p:sp>
      <p:sp>
        <p:nvSpPr>
          <p:cNvPr id="68" name="Shape 66"/>
          <p:cNvSpPr/>
          <p:nvPr/>
        </p:nvSpPr>
        <p:spPr>
          <a:xfrm>
            <a:off x="3913632" y="5102352"/>
            <a:ext cx="22585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69" name="Text 67"/>
          <p:cNvSpPr/>
          <p:nvPr/>
        </p:nvSpPr>
        <p:spPr>
          <a:xfrm>
            <a:off x="4005072" y="5180076"/>
            <a:ext cx="20756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Dell / HPE only with</a:t>
            </a:r>
            <a:endParaRPr lang="en-US" sz="1300" dirty="0">
              <a:solidFill>
                <a:schemeClr val="bg1"/>
              </a:solidFill>
            </a:endParaRPr>
          </a:p>
          <a:p>
            <a:pPr marL="0" indent="0">
              <a:buNone/>
            </a:pPr>
            <a:r>
              <a:rPr lang="en-US" sz="1300" dirty="0">
                <a:solidFill>
                  <a:schemeClr val="bg1"/>
                </a:solidFill>
                <a:latin typeface="Arial" pitchFamily="34" charset="0"/>
                <a:ea typeface="Arial" pitchFamily="34" charset="-122"/>
                <a:cs typeface="Arial" pitchFamily="34" charset="-120"/>
              </a:rPr>
              <a:t>qualified 24-device path</a:t>
            </a:r>
            <a:endParaRPr lang="en-US" sz="1300" dirty="0">
              <a:solidFill>
                <a:schemeClr val="bg1"/>
              </a:solidFill>
            </a:endParaRPr>
          </a:p>
        </p:txBody>
      </p:sp>
      <p:sp>
        <p:nvSpPr>
          <p:cNvPr id="70" name="Shape 68"/>
          <p:cNvSpPr/>
          <p:nvPr/>
        </p:nvSpPr>
        <p:spPr>
          <a:xfrm>
            <a:off x="6172200" y="5102352"/>
            <a:ext cx="3172968"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71" name="Text 69"/>
          <p:cNvSpPr/>
          <p:nvPr/>
        </p:nvSpPr>
        <p:spPr>
          <a:xfrm>
            <a:off x="6263640" y="5180076"/>
            <a:ext cx="2990088"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Six-domain density is a new qualification, not a slot-count upgrade</a:t>
            </a:r>
            <a:endParaRPr lang="en-US" sz="1300" dirty="0">
              <a:solidFill>
                <a:schemeClr val="bg1"/>
              </a:solidFill>
            </a:endParaRPr>
          </a:p>
        </p:txBody>
      </p:sp>
      <p:sp>
        <p:nvSpPr>
          <p:cNvPr id="72" name="Shape 70"/>
          <p:cNvSpPr/>
          <p:nvPr/>
        </p:nvSpPr>
        <p:spPr>
          <a:xfrm>
            <a:off x="9345168" y="5102352"/>
            <a:ext cx="2340864" cy="640080"/>
          </a:xfrm>
          <a:prstGeom prst="rect">
            <a:avLst/>
          </a:prstGeom>
          <a:solidFill>
            <a:srgbClr val="C00000"/>
          </a:solidFill>
          <a:ln w="8890">
            <a:solidFill>
              <a:srgbClr val="FFFFFF"/>
            </a:solidFill>
            <a:prstDash val="solid"/>
          </a:ln>
        </p:spPr>
        <p:txBody>
          <a:bodyPr/>
          <a:lstStyle/>
          <a:p>
            <a:endParaRPr lang="en-US">
              <a:solidFill>
                <a:schemeClr val="bg1"/>
              </a:solidFill>
            </a:endParaRPr>
          </a:p>
        </p:txBody>
      </p:sp>
      <p:sp>
        <p:nvSpPr>
          <p:cNvPr id="73" name="Text 71"/>
          <p:cNvSpPr/>
          <p:nvPr/>
        </p:nvSpPr>
        <p:spPr>
          <a:xfrm>
            <a:off x="9436608" y="5180076"/>
            <a:ext cx="2157984" cy="512064"/>
          </a:xfrm>
          <a:prstGeom prst="rect">
            <a:avLst/>
          </a:prstGeom>
          <a:solidFill>
            <a:srgbClr val="C00000"/>
          </a:solidFill>
          <a:ln/>
        </p:spPr>
        <p:txBody>
          <a:bodyPr wrap="square" lIns="0" tIns="0" rIns="0" bIns="0" rtlCol="0" anchor="ctr"/>
          <a:lstStyle/>
          <a:p>
            <a:pPr marL="0" indent="0">
              <a:buNone/>
            </a:pPr>
            <a:r>
              <a:rPr lang="en-US" sz="1300" dirty="0">
                <a:solidFill>
                  <a:schemeClr val="bg1"/>
                </a:solidFill>
                <a:latin typeface="Arial" pitchFamily="34" charset="0"/>
                <a:ea typeface="Arial" pitchFamily="34" charset="-122"/>
                <a:cs typeface="Arial" pitchFamily="34" charset="-120"/>
              </a:rPr>
              <a:t>Hold until E16, power, service and demand gates pass</a:t>
            </a:r>
            <a:endParaRPr lang="en-US" sz="1300" dirty="0">
              <a:solidFill>
                <a:schemeClr val="bg1"/>
              </a:solidFill>
            </a:endParaRPr>
          </a:p>
        </p:txBody>
      </p:sp>
      <p:sp>
        <p:nvSpPr>
          <p:cNvPr id="75" name="Shape 0">
            <a:extLst>
              <a:ext uri="{FF2B5EF4-FFF2-40B4-BE49-F238E27FC236}">
                <a16:creationId xmlns:a16="http://schemas.microsoft.com/office/drawing/2014/main" id="{F111B756-58B7-2E62-68A0-180253D10D5E}"/>
              </a:ext>
            </a:extLst>
          </p:cNvPr>
          <p:cNvSpPr/>
          <p:nvPr/>
        </p:nvSpPr>
        <p:spPr>
          <a:xfrm>
            <a:off x="842" y="64008"/>
            <a:ext cx="103808"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76" name="Shape 0">
            <a:extLst>
              <a:ext uri="{FF2B5EF4-FFF2-40B4-BE49-F238E27FC236}">
                <a16:creationId xmlns:a16="http://schemas.microsoft.com/office/drawing/2014/main" id="{368965DC-9552-4D05-7158-ECFEC19ECF78}"/>
              </a:ext>
            </a:extLst>
          </p:cNvPr>
          <p:cNvSpPr/>
          <p:nvPr/>
        </p:nvSpPr>
        <p:spPr>
          <a:xfrm>
            <a:off x="0" y="0"/>
            <a:ext cx="12191695" cy="6400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77" name="Shape 0">
            <a:extLst>
              <a:ext uri="{FF2B5EF4-FFF2-40B4-BE49-F238E27FC236}">
                <a16:creationId xmlns:a16="http://schemas.microsoft.com/office/drawing/2014/main" id="{27A3BCD4-0399-5119-442A-C7160F5B7F3D}"/>
              </a:ext>
            </a:extLst>
          </p:cNvPr>
          <p:cNvSpPr/>
          <p:nvPr/>
        </p:nvSpPr>
        <p:spPr>
          <a:xfrm>
            <a:off x="12146333" y="32004"/>
            <a:ext cx="61983" cy="7050024"/>
          </a:xfrm>
          <a:prstGeom prst="rect">
            <a:avLst/>
          </a:prstGeom>
          <a:solidFill>
            <a:srgbClr val="E31837"/>
          </a:solidFill>
          <a:ln w="10160">
            <a:solidFill>
              <a:srgbClr val="E31837"/>
            </a:solidFill>
            <a:prstDash val="solid"/>
          </a:ln>
        </p:spPr>
        <p:txBody>
          <a:bodyPr/>
          <a:lstStyle/>
          <a:p>
            <a:endParaRPr lang="en-US">
              <a:solidFill>
                <a:schemeClr val="bg1"/>
              </a:solidFill>
            </a:endParaRPr>
          </a:p>
        </p:txBody>
      </p:sp>
      <p:sp>
        <p:nvSpPr>
          <p:cNvPr id="78" name="Shape 0">
            <a:extLst>
              <a:ext uri="{FF2B5EF4-FFF2-40B4-BE49-F238E27FC236}">
                <a16:creationId xmlns:a16="http://schemas.microsoft.com/office/drawing/2014/main" id="{94626AFD-03A9-8D8F-11F8-5FC42D10B455}"/>
              </a:ext>
            </a:extLst>
          </p:cNvPr>
          <p:cNvSpPr/>
          <p:nvPr/>
        </p:nvSpPr>
        <p:spPr>
          <a:xfrm>
            <a:off x="2749" y="7056882"/>
            <a:ext cx="12205567" cy="58238"/>
          </a:xfrm>
          <a:prstGeom prst="rect">
            <a:avLst/>
          </a:prstGeom>
          <a:solidFill>
            <a:srgbClr val="E31837"/>
          </a:solidFill>
          <a:ln w="8255">
            <a:solidFill>
              <a:srgbClr val="E31837"/>
            </a:solidFill>
            <a:prstDash val="solid"/>
          </a:ln>
        </p:spPr>
        <p:txBody>
          <a:bodyPr/>
          <a:lstStyle/>
          <a:p>
            <a:endParaRPr lang="en-US">
              <a:solidFill>
                <a:schemeClr val="bg1"/>
              </a:solidFill>
            </a:endParaRPr>
          </a:p>
        </p:txBody>
      </p:sp>
      <p:sp>
        <p:nvSpPr>
          <p:cNvPr id="79" name="Rectangle 78">
            <a:extLst>
              <a:ext uri="{FF2B5EF4-FFF2-40B4-BE49-F238E27FC236}">
                <a16:creationId xmlns:a16="http://schemas.microsoft.com/office/drawing/2014/main" id="{B1B5F8AB-DC4F-9426-C64E-39DB3D26AE42}"/>
              </a:ext>
            </a:extLst>
          </p:cNvPr>
          <p:cNvSpPr/>
          <p:nvPr/>
        </p:nvSpPr>
        <p:spPr>
          <a:xfrm>
            <a:off x="546663" y="460353"/>
            <a:ext cx="11183112" cy="24688"/>
          </a:xfrm>
          <a:prstGeom prst="rect">
            <a:avLst/>
          </a:prstGeom>
          <a:solidFill>
            <a:srgbClr val="D51F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solidFill>
                <a:schemeClr val="bg1"/>
              </a:solidFill>
            </a:endParaRPr>
          </a:p>
        </p:txBody>
      </p:sp>
      <p:sp>
        <p:nvSpPr>
          <p:cNvPr id="81" name="Text 1">
            <a:extLst>
              <a:ext uri="{FF2B5EF4-FFF2-40B4-BE49-F238E27FC236}">
                <a16:creationId xmlns:a16="http://schemas.microsoft.com/office/drawing/2014/main" id="{4DC2F4BA-CF9C-B8EE-C99C-ED62636126DB}"/>
              </a:ext>
            </a:extLst>
          </p:cNvPr>
          <p:cNvSpPr/>
          <p:nvPr/>
        </p:nvSpPr>
        <p:spPr>
          <a:xfrm>
            <a:off x="484632" y="121158"/>
            <a:ext cx="1645920" cy="228600"/>
          </a:xfrm>
          <a:prstGeom prst="rect">
            <a:avLst/>
          </a:prstGeom>
          <a:noFill/>
          <a:ln/>
        </p:spPr>
        <p:txBody>
          <a:bodyPr wrap="square" lIns="0" tIns="0" rIns="0" bIns="0" rtlCol="0" anchor="ctr"/>
          <a:lstStyle/>
          <a:p>
            <a:pPr marL="0" indent="0" algn="l">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82" name="Text 11">
            <a:extLst>
              <a:ext uri="{FF2B5EF4-FFF2-40B4-BE49-F238E27FC236}">
                <a16:creationId xmlns:a16="http://schemas.microsoft.com/office/drawing/2014/main" id="{B9180DAC-3092-6FAD-5BB4-1733E229911E}"/>
              </a:ext>
            </a:extLst>
          </p:cNvPr>
          <p:cNvSpPr/>
          <p:nvPr/>
        </p:nvSpPr>
        <p:spPr>
          <a:xfrm>
            <a:off x="11064240" y="6693408"/>
            <a:ext cx="603504" cy="146304"/>
          </a:xfrm>
          <a:prstGeom prst="rect">
            <a:avLst/>
          </a:prstGeom>
          <a:noFill/>
          <a:ln/>
        </p:spPr>
        <p:txBody>
          <a:bodyPr wrap="square" lIns="0" tIns="0" rIns="0" bIns="0" rtlCol="0" anchor="ctr"/>
          <a:lstStyle/>
          <a:p>
            <a:pPr marL="0" indent="0" algn="r">
              <a:buNone/>
            </a:pPr>
            <a:r>
              <a:rPr lang="en-US" sz="920" b="1" dirty="0">
                <a:solidFill>
                  <a:schemeClr val="bg1"/>
                </a:solidFill>
                <a:latin typeface="Arial" pitchFamily="34" charset="0"/>
                <a:ea typeface="Arial" pitchFamily="34" charset="-122"/>
                <a:cs typeface="Arial" pitchFamily="34" charset="-120"/>
              </a:rPr>
              <a:t>19</a:t>
            </a:r>
            <a:endParaRPr lang="en-US" sz="92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476</TotalTime>
  <Words>8298</Words>
  <Application>Microsoft Macintosh PowerPoint</Application>
  <PresentationFormat>Widescreen</PresentationFormat>
  <Paragraphs>661</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SanDisk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SanDisk ATMOS AI Appliance Executive Proposal v3</dc:title>
  <dc:subject>Evidence-led private AI appliance portfolio</dc:subject>
  <dc:creator>SanDisk ATMOS planning</dc:creator>
  <cp:lastModifiedBy>Shailesh Pilare</cp:lastModifiedBy>
  <cp:revision>39</cp:revision>
  <dcterms:created xsi:type="dcterms:W3CDTF">2026-10-07T03:51:42Z</dcterms:created>
  <dcterms:modified xsi:type="dcterms:W3CDTF">2026-10-08T21:17:47Z</dcterms:modified>
</cp:coreProperties>
</file>