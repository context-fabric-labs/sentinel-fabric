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65" r:id="rId4"/>
    <p:sldId id="258" r:id="rId5"/>
    <p:sldId id="269" r:id="rId6"/>
    <p:sldId id="259" r:id="rId7"/>
    <p:sldId id="261" r:id="rId8"/>
    <p:sldId id="260" r:id="rId9"/>
    <p:sldId id="262" r:id="rId10"/>
    <p:sldId id="263" r:id="rId11"/>
    <p:sldId id="264" r:id="rId12"/>
    <p:sldId id="266" r:id="rId13"/>
    <p:sldId id="267"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51"/>
    <p:restoredTop sz="94669"/>
  </p:normalViewPr>
  <p:slideViewPr>
    <p:cSldViewPr snapToGrid="0" snapToObjects="1">
      <p:cViewPr varScale="1">
        <p:scale>
          <a:sx n="135" d="100"/>
          <a:sy n="135" d="100"/>
        </p:scale>
        <p:origin x="242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1345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Sandisk_ATMOS_AI_Appliance_Portfolio_PRD_v2_Linked.docx. Section 1, bookmark PRD_01.</a:t>
            </a:r>
          </a:p>
          <a:p>
            <a:r>
              <a:t>Keep both files together. Full-document link is the portable fallback if a viewer ignores bookmark fragments. Office security policies can require confirmation for local links.</a:t>
            </a:r>
          </a:p>
          <a:p>
            <a:r>
              <a:t>Slide 1: Sandisk ATMOS AI Appliance Portfolio. All ATMOS specifications and economic scenarios require qualification.</a:t>
            </a:r>
          </a:p>
          <a:p>
            <a:r>
              <a:t>PRD v2 is the controlling proposal, not an approved product or measured result. All ATMOS specifications, prices, node counts, supported models and service levels are planning requirements pending final silicon, OEM qualification, model certification and matched customer service measurements. The linked companion's text/tables are unchanged.</a:t>
            </a:r>
          </a:p>
          <a:p>
            <a:r>
              <a:t>Management approves a bounded product/proof program, not a launch date, final bill of materials, vendor price, supported model or achieved SLA. The PRD's initial wedge is data-heavy inference and enterprise knowledge; target buyers include CIO/infrastructure, AI platform, knowledge-management, security, developers and SRE, including constrained hospital/factory sites. Do not claim training, graphics, coherent terabyte memory, functional-safety control or universal dense-model TPOT parity. The 24-device SKU is stretch. Design-to-cost and support lifecycle targets remain proposed.</a:t>
            </a:r>
          </a:p>
          <a:p>
            <a:endParaRPr/>
          </a:p>
          <a:p>
            <a:r>
              <a:t>PRD: 1. Product Requirements</a:t>
            </a:r>
          </a:p>
          <a:p>
            <a:r>
              <a:t>Sandisk_ATMOS_AI_Appliance_Portfolio_PRD_v2_Linked.docx#PRD_01</a:t>
            </a:r>
          </a:p>
          <a:p>
            <a:r>
              <a:t>PRD: 3. Turnkey Offering: What the Customer Receives</a:t>
            </a:r>
          </a:p>
          <a:p>
            <a:r>
              <a:t>Sandisk_ATMOS_AI_Appliance_Portfolio_PRD_v2_Linked.docx#PRD_03</a:t>
            </a:r>
          </a:p>
          <a:p>
            <a:r>
              <a:t>PRD: 20. Risks and Product Decisions</a:t>
            </a:r>
          </a:p>
          <a:p>
            <a:r>
              <a:t>Sandisk_ATMOS_AI_Appliance_Portfolio_PRD_v2_Linked.docx#PRD_20</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Sandisk_ATMOS_AI_Appliance_Portfolio_PRD_v2_Linked.docx. Section 2, bookmark PRD_02.</a:t>
            </a:r>
          </a:p>
          <a:p>
            <a:r>
              <a:t>Keep both files together. Full-document link is the portable fallback if a viewer ignores bookmark fragments. Office security policies can require confirmation for local links.</a:t>
            </a:r>
          </a:p>
          <a:p>
            <a:r>
              <a:t>Slide 2: Named SKUs. Explicit system and service profiles.. All ATMOS specifications and economic scenarios require qualification.</a:t>
            </a:r>
          </a:p>
          <a:p>
            <a:r>
              <a:t>PRD v2 is the controlling proposal, not an approved product or measured result. All ATMOS specifications, prices, node counts, supported models and service levels are planning requirements pending final silicon, OEM qualification, model certification and matched customer service measurements. The linked companion's text/tables are unchanged.</a:t>
            </a:r>
          </a:p>
          <a:p>
            <a:r>
              <a:t>The source defines Edge AI Workstation 4, Departmental AI Appliance 8, and Enterprise AI Appliance 8/16/24. Enterprise 8 has the same device resource envelope as Departmental 8 but a production OEM/service profile; do not invent a separate host/NIC specification. Study budgets derive from 100 GB/device, not nominal 128 GB. For Workstation 4 the PRD proposes a pedestal/short-depth 2U, one high-lane socket and acoustic qualification. Departmental 8 proposes 2U/3U and one high-lane or two balanced sockets. Enterprise 16/24 uses two sockets and qualified 2U/4U rack options with N+1 and high-performance air or DLC study. Conventional NVMe retains boot, corpus, metadata and rebuild inputs; ATMOS is not an SSD. No single-node SKU alone promises service HA.</a:t>
            </a:r>
          </a:p>
          <a:p>
            <a:endParaRPr/>
          </a:p>
          <a:p>
            <a:r>
              <a:t>PRD: 2. Product Portfolio and Specifications</a:t>
            </a:r>
          </a:p>
          <a:p>
            <a:r>
              <a:t>Sandisk_ATMOS_AI_Appliance_Portfolio_PRD_v2_Linked.docx#PRD_02</a:t>
            </a:r>
          </a:p>
          <a:p>
            <a:r>
              <a:t>PRD: 3. Turnkey Offering: What the Customer Receives</a:t>
            </a:r>
          </a:p>
          <a:p>
            <a:r>
              <a:t>Sandisk_ATMOS_AI_Appliance_Portfolio_PRD_v2_Linked.docx#PRD_03</a:t>
            </a:r>
          </a:p>
          <a:p>
            <a:r>
              <a:t>PRD: 15. OEM Appliance Technical Specification</a:t>
            </a:r>
          </a:p>
          <a:p>
            <a:r>
              <a:t>Sandisk_ATMOS_AI_Appliance_Portfolio_PRD_v2_Linked.docx#PRD_15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Sandisk_ATMOS_AI_Appliance_Portfolio_PRD_v2_Linked.docx. Section 13, bookmark PRD_13.</a:t>
            </a:r>
          </a:p>
          <a:p>
            <a:r>
              <a:t>Keep both files together. Full-document link is the portable fallback if a viewer ignores bookmark fragments. Office security policies can require confirmation for local links.</a:t>
            </a:r>
          </a:p>
          <a:p>
            <a:r>
              <a:t>Slide 10: Adapt an established OEM platform—qualify the whole BOM. All ATMOS specifications and economic scenarios require qualification.</a:t>
            </a:r>
          </a:p>
          <a:p>
            <a:r>
              <a:t>PRD v2 is the controlling proposal, not an approved product or measured result. All ATMOS specifications, prices, node counts, supported models and service levels are planning requirements pending final silicon, OEM qualification, model certification and matched customer service measurements. The linked companion's text/tables are unchanged.</a:t>
            </a:r>
          </a:p>
          <a:p>
            <a:r>
              <a:t>The source proposes Supermicro for early engineering, parallel Dell/HPE feasibility for enterprise pilot, one primary OEM and second-source roadmap for launch. No vendor agreement, ATMOS compatibility or launch date is established by public E3.S/storage specifications. Verify thickness, actual lane width/gen, root/switch layout, power, airflow and reset/error recovery. Direct CPU attachment is not the proposed switch-local peer domain. Storage 1T/x2 populations cannot be advertised as 2T/x4 accelerator bays. HPE ambient restrictions involving DIMMs, NIC/GPU cards and E3.S demonstrate need for a dedicated thermal configuration. Test switch/retimer and connector temperatures, one-fan degradation, full CPU/NIC/service load, 72h soak, N+1 power/cooling, inlet and service stability. The 24-device system has six groups and is a gated stretch SKU. Evaluate a tower/pedestal OEM for Workstation 4 acoustics; do not force Departmental 8 into a quiet desktop. All quoted chassis candidates remain subject to exact OEM selection.</a:t>
            </a:r>
          </a:p>
          <a:p>
            <a:endParaRPr/>
          </a:p>
          <a:p>
            <a:r>
              <a:t>PRD: 13. OEM Appliance Candidates</a:t>
            </a:r>
          </a:p>
          <a:p>
            <a:r>
              <a:t>Sandisk_ATMOS_AI_Appliance_Portfolio_PRD_v2_Linked.docx#PRD_13</a:t>
            </a:r>
          </a:p>
          <a:p>
            <a:r>
              <a:t>PRD: 14. OEM Candidate Detail and Recommendation</a:t>
            </a:r>
          </a:p>
          <a:p>
            <a:r>
              <a:t>Sandisk_ATMOS_AI_Appliance_Portfolio_PRD_v2_Linked.docx#PRD_14</a:t>
            </a:r>
          </a:p>
          <a:p>
            <a:r>
              <a:t>PRD: 15. OEM Appliance Technical Specification</a:t>
            </a:r>
          </a:p>
          <a:p>
            <a:r>
              <a:t>Sandisk_ATMOS_AI_Appliance_Portfolio_PRD_v2_Linked.docx#PRD_15</a:t>
            </a:r>
          </a:p>
          <a:p>
            <a:r>
              <a:t>[R1] PRD reference: Supermicro X14 Petascale systems</a:t>
            </a:r>
          </a:p>
          <a:p>
            <a:r>
              <a:t>https://www.supermicro.com/datasheet/datasheet_X14_Petascale.pdf</a:t>
            </a:r>
          </a:p>
          <a:p>
            <a:r>
              <a:t>Source supplied with PRD; no ATMOS interoperability, engagement or certification implied.</a:t>
            </a:r>
          </a:p>
          <a:p>
            <a:r>
              <a:t>[R3] PRD reference: Dell PowerEdge R7725 product/configuration</a:t>
            </a:r>
          </a:p>
          <a:p>
            <a:r>
              <a:t>https://www.dell.com/en-us/shop/ipovw/poweredge-r7725</a:t>
            </a:r>
          </a:p>
          <a:p>
            <a:r>
              <a:t>Source supplied with PRD; no ATMOS interoperability, engagement or certification implied.</a:t>
            </a:r>
          </a:p>
          <a:p>
            <a:r>
              <a:t>[R4] PRD reference: Dell R7725 40 E3.S topology</a:t>
            </a:r>
          </a:p>
          <a:p>
            <a:r>
              <a:t>https://infohub.delltechnologies.com/en-us/l/nvme-and-i-o-topologies-for-next-generation-dell-poweredge-servers-1/poweredge-r7725-populated-with-40-nvme-e3-s-drives-3/</a:t>
            </a:r>
          </a:p>
          <a:p>
            <a:r>
              <a:t>Source supplied with PRD; no ATMOS interoperability, engagement or certification implied.</a:t>
            </a:r>
          </a:p>
          <a:p>
            <a:r>
              <a:t>[R5] PRD reference: Dell PowerEdge R7725xd specification</a:t>
            </a:r>
          </a:p>
          <a:p>
            <a:r>
              <a:t>https://www.delltechnologies.com/assetlink/doc/en-us/poweredge-r7725xd-spec-sheet-en-dl1m4xc-original.pdf</a:t>
            </a:r>
          </a:p>
          <a:p>
            <a:r>
              <a:t>Source supplied with PRD; no ATMOS interoperability, engagement or certification implied.</a:t>
            </a:r>
          </a:p>
          <a:p>
            <a:r>
              <a:t>[R6] PRD reference: HPE ProLiant DL380 Gen12</a:t>
            </a:r>
          </a:p>
          <a:p>
            <a:r>
              <a:t>https://www.hpe.com/us/en/products/compute/proliant/dl380-gen12.html</a:t>
            </a:r>
          </a:p>
          <a:p>
            <a:r>
              <a:t>Source supplied with PRD; no ATMOS interoperability, engagement or certification implied.</a:t>
            </a:r>
          </a:p>
          <a:p>
            <a:r>
              <a:t>[R7] PRD reference: HPE DL345 Gen12 24 E3.S x4 cabling</a:t>
            </a:r>
          </a:p>
          <a:p>
            <a:r>
              <a:t>https://cdn.support.hpe.com/hpesc/public/docDisplay?docId=sd00005966en_us&amp;page=GUID-58709B31-F99E-4D9E-B660-2B3A9935540B.html&amp;docLocale=en_US</a:t>
            </a:r>
          </a:p>
          <a:p>
            <a:r>
              <a:t>Source supplied with PRD; no ATMOS interoperability, engagement or certification implied.</a:t>
            </a:r>
          </a:p>
          <a:p>
            <a:r>
              <a:t>[R8] PRD reference: HPE Gen12 24 E3.S extended ambient guidance</a:t>
            </a:r>
          </a:p>
          <a:p>
            <a:r>
              <a:t>https://cdn.support.hpe.com/hpesc/public/docDisplay?docId=sd00005705en_us&amp;page=GUID-345AF59A-3A21-41C5-ABEF-38488F623E36.html&amp;docLocale=en_US</a:t>
            </a:r>
          </a:p>
          <a:p>
            <a:r>
              <a:t>Source supplied with PRD; no ATMOS interoperability, engagement or certification implied.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Sandisk_ATMOS_AI_Appliance_Portfolio_PRD_v2_Linked.docx. Section 2, bookmark PRD_02.</a:t>
            </a:r>
          </a:p>
          <a:p>
            <a:r>
              <a:t>Keep both files together. Full-document link is the portable fallback if a viewer ignores bookmark fragments. Office security policies can require confirmation for local links.</a:t>
            </a:r>
          </a:p>
          <a:p>
            <a:r>
              <a:t>Slide 3: Four-device domains: local work before peer exchange. All ATMOS specifications and economic scenarios require qualification.</a:t>
            </a:r>
          </a:p>
          <a:p>
            <a:r>
              <a:t>PRD v2 is the controlling proposal, not an approved product or measured result. All ATMOS specifications, prices, node counts, supported models and service levels are planning requirements pending final silicon, OEM qualification, model certification and matched customer service measurements. The linked companion's text/tables are unchanged.</a:t>
            </a:r>
          </a:p>
          <a:p>
            <a:r>
              <a:t>All targets are unverified planning assumptions. The source's 64 TOPS-class target does not define precision/sparsity and is not comparable to other vendors' peak compute. Arithmetic local-read sums are 0.8/1.6/3.2/4.8 TB/s for 4/8/16/24 devices, but not coherent or per-request throughput. Each group has four x4 endpoints and one x16 uplink; 16 and 24 use four and six domains. Large model/vector objects stay local; compact reductions, replicas/recovery can use qualified peers. Cross-group/host-root paths require measured service and cooperating-driver support. Keep IOMMU mappings bounded and invalidate on reset; never trade isolation for a P2P benchmark. Whole-group allocation, device health, DMA and pack-aware placement are ATMOS deliverables, not automatically supplied by DRA or a PCIe switch.</a:t>
            </a:r>
          </a:p>
          <a:p>
            <a:endParaRPr/>
          </a:p>
          <a:p>
            <a:r>
              <a:t>PRD: 2. Product Portfolio and Specifications</a:t>
            </a:r>
          </a:p>
          <a:p>
            <a:r>
              <a:t>Sandisk_ATMOS_AI_Appliance_Portfolio_PRD_v2_Linked.docx#PRD_02</a:t>
            </a:r>
          </a:p>
          <a:p>
            <a:r>
              <a:t>PRD: 12. Security and Compliance Requirements</a:t>
            </a:r>
          </a:p>
          <a:p>
            <a:r>
              <a:t>Sandisk_ATMOS_AI_Appliance_Portfolio_PRD_v2_Linked.docx#PRD_12</a:t>
            </a:r>
          </a:p>
          <a:p>
            <a:r>
              <a:t>PRD: 15. OEM Appliance Technical Specification</a:t>
            </a:r>
          </a:p>
          <a:p>
            <a:r>
              <a:t>Sandisk_ATMOS_AI_Appliance_Portfolio_PRD_v2_Linked.docx#PRD_15</a:t>
            </a:r>
          </a:p>
          <a:p>
            <a:r>
              <a:t>[R15] PRD reference: Linux PCI Peer-to-Peer DMA documentation</a:t>
            </a:r>
          </a:p>
          <a:p>
            <a:r>
              <a:t>https://docs.kernel.org/driver-api/pci/p2pdma.html</a:t>
            </a:r>
          </a:p>
          <a:p>
            <a:r>
              <a:t>Source supplied with PRD; no ATMOS interoperability, engagement or certification implied.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Internal Sandisk ATMOS product proposal and prior architecture discussions.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Sandisk_ATMOS_AI_Appliance_Portfolio_PRD_v2_Linked.docx. Section 4, bookmark PRD_04.</a:t>
            </a:r>
          </a:p>
          <a:p>
            <a:r>
              <a:t>Keep both files together. Full-document link is the portable fallback if a viewer ignores bookmark fragments. Office security policies can require confirmation for local links.</a:t>
            </a:r>
          </a:p>
          <a:p>
            <a:r>
              <a:t>Slide 4: The software is the product: deliver an integrated stack. All ATMOS specifications and economic scenarios require qualification.</a:t>
            </a:r>
          </a:p>
          <a:p>
            <a:r>
              <a:t>PRD v2 is the controlling proposal, not an approved product or measured result. All ATMOS specifications, prices, node counts, supported models and service levels are planning requirements pending final silicon, OEM qualification, model certification and matched customer service measurements. The linked companion's text/tables are unchanged.</a:t>
            </a:r>
          </a:p>
          <a:p>
            <a:r>
              <a:t>The PRD names nine software products: AI OS, Device Service, Model Services, Certified ModelPacks, Serving Manager, Knowledge Agent, Control Center, SDK and Enterprise Support. Candidate gateway/serving components are Envoy AI Gateway or equivalent, KServe LLMInferenceService, llm-d or Sandisk-packaged alternatives. Those projects supply patterns/components, not an ATMOS-certified backend. Sandisk must own the device/runtime and signed distribution and select/name the NPU compiler/runtime partner. ModelPack binds executable preparation separately from weights-as-data; no custom compiler CLI is claimed available. Readiness depends on signed pack, ABI, per-device memory fit, golden correctness and warmup. Customer-safe configuration and supported SDK extensions are different from firmware/kernel or unchecked binaries.</a:t>
            </a:r>
          </a:p>
          <a:p>
            <a:endParaRPr/>
          </a:p>
          <a:p>
            <a:r>
              <a:t>PRD: 3. Turnkey Offering: What the Customer Receives</a:t>
            </a:r>
          </a:p>
          <a:p>
            <a:r>
              <a:t>Sandisk_ATMOS_AI_Appliance_Portfolio_PRD_v2_Linked.docx#PRD_03</a:t>
            </a:r>
          </a:p>
          <a:p>
            <a:r>
              <a:t>PRD: 4. Turnkey Technical Architecture</a:t>
            </a:r>
          </a:p>
          <a:p>
            <a:r>
              <a:t>Sandisk_ATMOS_AI_Appliance_Portfolio_PRD_v2_Linked.docx#PRD_04</a:t>
            </a:r>
          </a:p>
          <a:p>
            <a:r>
              <a:t>PRD: 7. What Customers Can Configure, Extend or Not Change</a:t>
            </a:r>
          </a:p>
          <a:p>
            <a:r>
              <a:t>Sandisk_ATMOS_AI_Appliance_Portfolio_PRD_v2_Linked.docx#PRD_07</a:t>
            </a:r>
          </a:p>
          <a:p>
            <a:r>
              <a:t>PRD: 12. Security and Compliance Requirements</a:t>
            </a:r>
          </a:p>
          <a:p>
            <a:r>
              <a:t>Sandisk_ATMOS_AI_Appliance_Portfolio_PRD_v2_Linked.docx#PRD_12</a:t>
            </a:r>
          </a:p>
          <a:p>
            <a:r>
              <a:t>[R16] PRD reference: KServe LLMInferenceService with Envoy AI Gateway</a:t>
            </a:r>
          </a:p>
          <a:p>
            <a:r>
              <a:t>https://kserve.github.io/website/docs/model-serving/generative-inference/llmisvc/llmisvc-envoy-ai-gateway</a:t>
            </a:r>
          </a:p>
          <a:p>
            <a:r>
              <a:t>Source supplied with PRD; no ATMOS interoperability, engagement or certification implied.</a:t>
            </a:r>
          </a:p>
          <a:p>
            <a:r>
              <a:t>[R17] PRD reference: KServe and llm-d generative inference architecture</a:t>
            </a:r>
          </a:p>
          <a:p>
            <a:r>
              <a:t>https://developers.redhat.com/articles/2026/04/21/kserve-llm-d-optimized-gen-ai-inference</a:t>
            </a:r>
          </a:p>
          <a:p>
            <a:r>
              <a:t>Source supplied with PRD; no ATMOS interoperability, engagement or certification implied.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Sandisk_ATMOS_AI_Appliance_Portfolio_PRD_v2_Linked.docx. Section 5, bookmark PRD_05.</a:t>
            </a:r>
          </a:p>
          <a:p>
            <a:r>
              <a:t>Keep both files together. Full-document link is the portable fallback if a viewer ignores bookmark fragments. Office security policies can require confirmation for local links.</a:t>
            </a:r>
          </a:p>
          <a:p>
            <a:r>
              <a:t>Slide 6: Out-of-box Knowledge Agent: governed evidence to answers. All ATMOS specifications and economic scenarios require qualification.</a:t>
            </a:r>
          </a:p>
          <a:p>
            <a:r>
              <a:t>PRD v2 is the controlling proposal, not an approved product or measured result. All ATMOS specifications, prices, node counts, supported models and service levels are planning requirements pending final silicon, OEM qualification, model certification and matched customer service measurements. The linked companion's text/tables are unchanged.</a:t>
            </a:r>
          </a:p>
          <a:p>
            <a:r>
              <a:t>The source's six modes are search, standard RAG, deep RAG, agentic RAG, retrieval-only and batch knowledge jobs. The flow summarizes the standard generated-answer mode; search/retrieval-only return evidence and do not require the ATMOS generator. Agentic mode can loop through planning, sub-tasks, tool calls, retries, synthesis and optional verification, but only under explicit step/tool/time/token/cost limits. Launch connectors are NFS/SMB read-only, S3-compatible, controlled uploads, supported SharePoint/OneDrive equivalents, approved database exports and allow-listed web/intranet. Parsers support certified PDF/text/HTML/Markdown/Office; OCR, images and audio/video need explicit profiles/licenses. Every chunk retains source page/section, document version, tenant and ACL. Failed ingestion is quarantined and must not expose partial data.</a:t>
            </a:r>
          </a:p>
          <a:p>
            <a:endParaRPr/>
          </a:p>
          <a:p>
            <a:r>
              <a:t>PRD: 5. Out-of-Box Enterprise Knowledge Agent</a:t>
            </a:r>
          </a:p>
          <a:p>
            <a:r>
              <a:t>Sandisk_ATMOS_AI_Appliance_Portfolio_PRD_v2_Linked.docx#PRD_05</a:t>
            </a:r>
          </a:p>
          <a:p>
            <a:r>
              <a:t>PRD: 6. Knowledge Ingestion and Governance</a:t>
            </a:r>
          </a:p>
          <a:p>
            <a:r>
              <a:t>Sandisk_ATMOS_AI_Appliance_Portfolio_PRD_v2_Linked.docx#PRD_06</a:t>
            </a:r>
          </a:p>
          <a:p>
            <a:r>
              <a:t>PRD: 8. Agent Tools, Safety and Evaluation</a:t>
            </a:r>
          </a:p>
          <a:p>
            <a:r>
              <a:t>Sandisk_ATMOS_AI_Appliance_Portfolio_PRD_v2_Linked.docx#PRD_08</a:t>
            </a:r>
          </a:p>
          <a:p>
            <a:r>
              <a:t>[R9] PRD reference: NVIDIA Agentic RAG Blueprint</a:t>
            </a:r>
          </a:p>
          <a:p>
            <a:r>
              <a:t>https://docs.nvidia.com/rag/latest/agentic-rag.html</a:t>
            </a:r>
          </a:p>
          <a:p>
            <a:r>
              <a:t>Source supplied with PRD; no ATMOS interoperability, engagement or certification implied.</a:t>
            </a:r>
          </a:p>
          <a:p>
            <a:r>
              <a:t>[R10] PRD reference: NVIDIA RAG Blueprint repository</a:t>
            </a:r>
          </a:p>
          <a:p>
            <a:r>
              <a:t>https://github.com/NVIDIA-AI-Blueprints/rag</a:t>
            </a:r>
          </a:p>
          <a:p>
            <a:r>
              <a:t>Source supplied with PRD; no ATMOS interoperability, engagement or certification implied.</a:t>
            </a:r>
          </a:p>
          <a:p>
            <a:r>
              <a:t>[R12] PRD reference: NVIDIA RAG Blueprint documentation</a:t>
            </a:r>
          </a:p>
          <a:p>
            <a:r>
              <a:t>https://docs.nvidia.com/rag/latest/</a:t>
            </a:r>
          </a:p>
          <a:p>
            <a:r>
              <a:t>Source supplied with PRD; no ATMOS interoperability, engagement or certification implied.</a:t>
            </a:r>
          </a:p>
          <a:p>
            <a:r>
              <a:t>[R13] PRD reference: NVIDIA Deep Researcher Agent Blueprint</a:t>
            </a:r>
          </a:p>
          <a:p>
            <a:r>
              <a:t>https://build.nvidia.com/nvidia/aiq</a:t>
            </a:r>
          </a:p>
          <a:p>
            <a:r>
              <a:t>Source supplied with PRD; no ATMOS interoperability, engagement or certification implied.</a:t>
            </a:r>
          </a:p>
          <a:p>
            <a:r>
              <a:t>[R14] PRD reference: NVIDIA RAG technologies overview</a:t>
            </a:r>
          </a:p>
          <a:p>
            <a:r>
              <a:t>https://developer.nvidia.com/topics/ai/retrieval-augmented-generation</a:t>
            </a:r>
          </a:p>
          <a:p>
            <a:r>
              <a:t>Source supplied with PRD; no ATMOS interoperability, engagement or certification implied.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Sandisk_ATMOS_AI_Appliance_Portfolio_PRD_v2_Linked.docx. Section 4, bookmark PRD_04.</a:t>
            </a:r>
          </a:p>
          <a:p>
            <a:r>
              <a:t>Keep both files together. Full-document link is the portable fallback if a viewer ignores bookmark fragments. Office security policies can require confirmation for local links.</a:t>
            </a:r>
          </a:p>
          <a:p>
            <a:r>
              <a:t>Slide 5: Seven service APIs. A bounded certified workload catalog.. All ATMOS specifications and economic scenarios require qualification.</a:t>
            </a:r>
          </a:p>
          <a:p>
            <a:r>
              <a:t>PRD v2 is the controlling proposal, not an approved product or measured result. All ATMOS specifications, prices, node counts, supported models and service levels are planning requirements pending final silicon, OEM qualification, model certification and matched customer service measurements. The linked companion's text/tables are unchanged.</a:t>
            </a:r>
          </a:p>
          <a:p>
            <a:r>
              <a:t>Preserve the actual seven API families. /v1/responses is a proposed supported API only for certified models/documented parameters, not a claim of full external-provider equivalence. Retrieval and rerank have separate metadata/candidate contracts. Multitenancy scopes models, data/indexes, API keys and audit by tenant/project, with separate bounded interactive/batch queues and resource claims. Hard isolation can use dedicated nodes/replicas. The catalog treats embeddings/hybrid retrieval/rerank/Knowledge Agent as GA candidates, documents as GA/vertical candidates, recommendation features as pilot and each private LLM as model-specific pilot/GA. No aggregate HBF/TOPS proves full attention/KV/operator support. Vertical templates cover healthcare, manufacturing, regulated enterprise, research library and support with explicit claims limits.</a:t>
            </a:r>
          </a:p>
          <a:p>
            <a:endParaRPr/>
          </a:p>
          <a:p>
            <a:r>
              <a:t>PRD: 4. Turnkey Technical Architecture</a:t>
            </a:r>
          </a:p>
          <a:p>
            <a:r>
              <a:t>Sandisk_ATMOS_AI_Appliance_Portfolio_PRD_v2_Linked.docx#PRD_04</a:t>
            </a:r>
          </a:p>
          <a:p>
            <a:r>
              <a:t>PRD: 7. What Customers Can Configure, Extend or Not Change</a:t>
            </a:r>
          </a:p>
          <a:p>
            <a:r>
              <a:t>Sandisk_ATMOS_AI_Appliance_Portfolio_PRD_v2_Linked.docx#PRD_07</a:t>
            </a:r>
          </a:p>
          <a:p>
            <a:r>
              <a:t>PRD: 8. Agent Tools, Safety and Evaluation</a:t>
            </a:r>
          </a:p>
          <a:p>
            <a:r>
              <a:t>Sandisk_ATMOS_AI_Appliance_Portfolio_PRD_v2_Linked.docx#PRD_08</a:t>
            </a:r>
          </a:p>
          <a:p>
            <a:r>
              <a:t>PRD: 16. Certified Workload and Solution Catalog</a:t>
            </a:r>
          </a:p>
          <a:p>
            <a:r>
              <a:t>Sandisk_ATMOS_AI_Appliance_Portfolio_PRD_v2_Linked.docx#PRD_16</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Sandisk_ATMOS_AI_Appliance_Portfolio_PRD_v2_Linked.docx. Section 7, bookmark PRD_07.</a:t>
            </a:r>
          </a:p>
          <a:p>
            <a:r>
              <a:t>Keep both files together. Full-document link is the portable fallback if a viewer ignores bookmark fragments. Office security policies can require confirmation for local links.</a:t>
            </a:r>
          </a:p>
          <a:p>
            <a:r>
              <a:t>Slide 7: Governed by default. Configurable within certified limits.. All ATMOS specifications and economic scenarios require qualification.</a:t>
            </a:r>
          </a:p>
          <a:p>
            <a:r>
              <a:t>PRD v2 is the controlling proposal, not an approved product or measured result. All ATMOS specifications, prices, node counts, supported models and service levels are planning requirements pending final silicon, OEM qualification, model certification and matched customer service measurements. The linked companion's text/tables are unchanged.</a:t>
            </a:r>
          </a:p>
          <a:p>
            <a:r>
              <a:t>The retrieval boundary is tenant and source ACL filtering before evidence reaches the generator. Source/path/schema allow-lists, scoped connector credentials, retention and deletion apply throughout ingestion and retrieval. The tool catalog defaults search, document fetch and structured lookup to read-only; calculator is sandboxed with no external network. Ticket creation needs human confirmation and a scoped credential; email/message is draft-only; workflow actions are disabled until signed/policy-approved. Code execution is a separate sandboxed premium profile, not base. Agent limits cover steps, calls, retrieved bytes, tokens, elapsed time and cost. Evaluate recall/NDCG, groundedness, citations, task/tool completion, leakage/unauthorized actions and tails. Developer mode is explicitly nonproduction and isolated from production data. Secure/measured boot, signed supply chain, encryption, vault, TLS/mTLS and audit are requirements that support assessments, not an automatic regulated certification.</a:t>
            </a:r>
          </a:p>
          <a:p>
            <a:endParaRPr/>
          </a:p>
          <a:p>
            <a:r>
              <a:t>PRD: 6. Knowledge Ingestion and Governance</a:t>
            </a:r>
          </a:p>
          <a:p>
            <a:r>
              <a:t>Sandisk_ATMOS_AI_Appliance_Portfolio_PRD_v2_Linked.docx#PRD_06</a:t>
            </a:r>
          </a:p>
          <a:p>
            <a:r>
              <a:t>PRD: 7. What Customers Can Configure, Extend or Not Change</a:t>
            </a:r>
          </a:p>
          <a:p>
            <a:r>
              <a:t>Sandisk_ATMOS_AI_Appliance_Portfolio_PRD_v2_Linked.docx#PRD_07</a:t>
            </a:r>
          </a:p>
          <a:p>
            <a:r>
              <a:t>PRD: 8. Agent Tools, Safety and Evaluation</a:t>
            </a:r>
          </a:p>
          <a:p>
            <a:r>
              <a:t>Sandisk_ATMOS_AI_Appliance_Portfolio_PRD_v2_Linked.docx#PRD_08</a:t>
            </a:r>
          </a:p>
          <a:p>
            <a:r>
              <a:t>PRD: 12. Security and Compliance Requirements</a:t>
            </a:r>
          </a:p>
          <a:p>
            <a:r>
              <a:t>Sandisk_ATMOS_AI_Appliance_Portfolio_PRD_v2_Linked.docx#PRD_12</a:t>
            </a:r>
          </a:p>
          <a:p>
            <a:r>
              <a:t>[R15] PRD reference: Linux PCI Peer-to-Peer DMA documentation</a:t>
            </a:r>
          </a:p>
          <a:p>
            <a:r>
              <a:t>https://docs.kernel.org/driver-api/pci/p2pdma.html</a:t>
            </a:r>
          </a:p>
          <a:p>
            <a:r>
              <a:t>Source supplied with PRD; no ATMOS interoperability, engagement or certification implied.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Sandisk_ATMOS_AI_Appliance_Portfolio_PRD_v2_Linked.docx. Section 9, bookmark PRD_09.</a:t>
            </a:r>
          </a:p>
          <a:p>
            <a:r>
              <a:t>Keep both files together. Full-document link is the portable fallback if a viewer ignores bookmark fragments. Office security policies can require confirmation for local links.</a:t>
            </a:r>
          </a:p>
          <a:p>
            <a:r>
              <a:t>Slide 8: Model and platform upgrades are controlled product releases. All ATMOS specifications and economic scenarios require qualification.</a:t>
            </a:r>
          </a:p>
          <a:p>
            <a:r>
              <a:t>PRD v2 is the controlling proposal, not an approved product or measured result. All ATMOS specifications, prices, node counts, supported models and service levels are planning requirements pending final silicon, OEM qualification, model certification and matched customer service measurements. The linked companion's text/tables are unchanged.</a:t>
            </a:r>
          </a:p>
          <a:p>
            <a:r>
              <a:t>All eight PRD ModelPack states appear: Available, Staged, Validated, Canary, Production, Draining, Rolled back and Retired. A same-embedding generator/reranker update does not silently reindex the corpus. An embedding-model change creates a shadow collection, re-embeds incrementally without modifying the active index, evaluates retrieval/end-to-end quality, optionally dual-reads representative traffic, then atomically switches. Plan two generations and rollback space before approval. Customer fine-tuned weights, new quantization and BYO embedding models go through certification; community models stay developer-only until certified. Platform bundles cover OEM BIOS/BMC, switch/retimer and ATMOS firmware, Linux/kernel/driver, NPU compiler/runtime/operators, Kubernetes/DRA, gateway/identity/observability, model compatibility, SBOM/CVEs and rollback evidence. Offline mode uses signed repository bundles, customer-controlled windows and exportable evidence without mandatory cloud connectivity. No support duration is an approved contract.</a:t>
            </a:r>
          </a:p>
          <a:p>
            <a:endParaRPr/>
          </a:p>
          <a:p>
            <a:r>
              <a:t>PRD: 9. Model and Solution Upgrade Lifecycle</a:t>
            </a:r>
          </a:p>
          <a:p>
            <a:r>
              <a:t>Sandisk_ATMOS_AI_Appliance_Portfolio_PRD_v2_Linked.docx#PRD_09</a:t>
            </a:r>
          </a:p>
          <a:p>
            <a:r>
              <a:t>PRD: 10. Appliance Software, Firmware and Platform Upgrades</a:t>
            </a:r>
          </a:p>
          <a:p>
            <a:r>
              <a:t>Sandisk_ATMOS_AI_Appliance_Portfolio_PRD_v2_Linked.docx#PRD_10</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Sandisk_ATMOS_AI_Appliance_Portfolio_PRD_v2_Linked.docx. Section 11, bookmark PRD_11.</a:t>
            </a:r>
          </a:p>
          <a:p>
            <a:r>
              <a:t>Keep both files together. Full-document link is the portable fallback if a viewer ignores bookmark fragments. Office security policies can require confirmation for local links.</a:t>
            </a:r>
          </a:p>
          <a:p>
            <a:r>
              <a:t>Slide 9: Day-1 setup. Day-2 operation. One support route.. All ATMOS specifications and economic scenarios require qualification.</a:t>
            </a:r>
          </a:p>
          <a:p>
            <a:r>
              <a:t>PRD v2 is the controlling proposal, not an approved product or measured result. All ATMOS specifications, prices, node counts, supported models and service levels are planning requirements pending final silicon, OEM qualification, model certification and matched customer service measurements. The linked companion's text/tables are unchanged.</a:t>
            </a:r>
          </a:p>
          <a:p>
            <a:r>
              <a:t>Day 0 supplies rack/office power, network, identity/DNS/NTP and sources. Day 1 initializes hardware burn-in, enrollment, admin, topology/thermal preflight, identity/TLS, projects and certified signed packs. Day 2 runs ingestion and users/apps with quota, metering and audit. Do not promise completion of a million-document corpus in one day. Single Workstation 4 has no service HA; a single appliance can degrade on a device/group fault but has reduced maintenance capacity. Two nodes maintain service only with appropriate replicas and sufficient remaining capacity; N+1 must survive declared peak demand with complete model/index state. Multi-site data replication is solution-specific. Sandisk is prime for device/firmware/driver/runtime/operator/packs and appliance distribution; OEM covers CPU/DRAM/PSU/fans/NIC/BIOS/BMC under coordinated entitlement; NPU partner covers compiler/runtime internals; connector/application ownership is named in the solution manifest. Developer/Feature/Production/LTS/Extended/Vertical channels differ in cadence and support. Final SLAs, geographic coverage and durations need funding/contracts.</a:t>
            </a:r>
          </a:p>
          <a:p>
            <a:endParaRPr/>
          </a:p>
          <a:p>
            <a:r>
              <a:t>PRD: 3. Turnkey Offering: What the Customer Receives</a:t>
            </a:r>
          </a:p>
          <a:p>
            <a:r>
              <a:t>Sandisk_ATMOS_AI_Appliance_Portfolio_PRD_v2_Linked.docx#PRD_03</a:t>
            </a:r>
          </a:p>
          <a:p>
            <a:r>
              <a:t>PRD: 10. Appliance Software, Firmware and Platform Upgrades</a:t>
            </a:r>
          </a:p>
          <a:p>
            <a:r>
              <a:t>Sandisk_ATMOS_AI_Appliance_Portfolio_PRD_v2_Linked.docx#PRD_10</a:t>
            </a:r>
          </a:p>
          <a:p>
            <a:r>
              <a:t>PRD: 11. Operations, Availability and Support</a:t>
            </a:r>
          </a:p>
          <a:p>
            <a:r>
              <a:t>Sandisk_ATMOS_AI_Appliance_Portfolio_PRD_v2_Linked.docx#PRD_11</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Sandisk_ATMOS_AI_Appliance_Portfolio_PRD_v2_Linked.docx. Section 17, bookmark PRD_17.</a:t>
            </a:r>
          </a:p>
          <a:p>
            <a:r>
              <a:t>Keep both files together. Full-document link is the portable fallback if a viewer ignores bookmark fragments. Office security policies can require confirmation for local links.</a:t>
            </a:r>
          </a:p>
          <a:p>
            <a:r>
              <a:t>Slide 11: Counterpart positioning and the conditional cost target. All ATMOS specifications and economic scenarios require qualification.</a:t>
            </a:r>
          </a:p>
          <a:p>
            <a:r>
              <a:t>PRD v2 is the controlling proposal, not an approved product or measured result. All ATMOS specifications, prices, node counts, supported models and service levels are planning requirements pending final silicon, OEM qualification, model certification and matched customer service measurements. The linked companion's text/tables are unchanged.</a:t>
            </a:r>
          </a:p>
          <a:p>
            <a:r>
              <a:t>Keep the PRD's consolidated reference section in one deck page. Published reference memory types, compute precision/sparsity and platform boundaries are not interchangeable with distributed HBF or the ATMOS 64-TOPS target. Reference configurations and exact OEM quotes must be frozen before external comparative claims. N is synthetic counterpart acquisition cost, not a negotiated quote. Baseline TCO=1.00N + 0.05N integration + 3*(0.12N software/support + 0.07N facility/energy)=1.62N. ATMOS acquisition=0.70N; integration=8%, annual support=14%, facility/energy=8% of ATMOS acquisition; total 0.70*(1.08+3*0.22)N=1.218N. Saving=(1.62-1.218)/1.62=24.8148%. Break-even system ratio=1.62/1.218=1.33005, under proportional cost and equal accepted service. 1.25 systems: 6.0185% saving; 2 systems: 50.3704% higher TCO. Discrete actual node counts, N+1, staging/index/model generations, migration, subscription/support, OEM NRE and measured power can change the result. Freeze demand, quality, p99, availability and best CPU/managed/service alternative. Customer spend must be avoidable. Required finance evidence includes ATMOS BOM/yield/warranty/margin, OEM quote/NRE, software/model certification staffing, accepted-service rates and finance-approved DCF.</a:t>
            </a:r>
          </a:p>
          <a:p>
            <a:endParaRPr/>
          </a:p>
          <a:p>
            <a:r>
              <a:t>PRD: 17. Consolidated NVIDIA Counterpart Comparison</a:t>
            </a:r>
          </a:p>
          <a:p>
            <a:r>
              <a:t>Sandisk_ATMOS_AI_Appliance_Portfolio_PRD_v2_Linked.docx#PRD_17</a:t>
            </a:r>
          </a:p>
          <a:p>
            <a:r>
              <a:t>PRD: 18. TCO and Business-Case Requirements</a:t>
            </a:r>
          </a:p>
          <a:p>
            <a:r>
              <a:t>Sandisk_ATMOS_AI_Appliance_Portfolio_PRD_v2_Linked.docx#PRD_18</a:t>
            </a:r>
          </a:p>
          <a:p>
            <a:r>
              <a:t>[R20] PRD reference: NVIDIA DGX Spark hardware overview</a:t>
            </a:r>
          </a:p>
          <a:p>
            <a:r>
              <a:t>https://docs.nvidia.com/dgx/dgx-spark/hardware.html</a:t>
            </a:r>
          </a:p>
          <a:p>
            <a:r>
              <a:t>Source supplied with PRD; no ATMOS interoperability, engagement or certification implied.</a:t>
            </a:r>
          </a:p>
          <a:p>
            <a:r>
              <a:t>[R21] PRD reference: NVIDIA RTX PRO 6000 Workstation Edition</a:t>
            </a:r>
          </a:p>
          <a:p>
            <a:r>
              <a:t>https://www.nvidia.com/en-us/products/workstations/professional-desktop-gpus/rtx-pro-6000/</a:t>
            </a:r>
          </a:p>
          <a:p>
            <a:r>
              <a:t>Source supplied with PRD; no ATMOS interoperability, engagement or certification implied.</a:t>
            </a:r>
          </a:p>
          <a:p>
            <a:r>
              <a:t>[R22] PRD reference: NVIDIA DGX Station product and development guide</a:t>
            </a:r>
          </a:p>
          <a:p>
            <a:r>
              <a:t>https://docs.nvidia.com/dgx/dgx-station-development-guide/overview.html</a:t>
            </a:r>
          </a:p>
          <a:p>
            <a:r>
              <a:t>Source supplied with PRD; no ATMOS interoperability, engagement or certification implied.</a:t>
            </a:r>
          </a:p>
          <a:p>
            <a:r>
              <a:t>[R23] PRD reference: NVIDIA RTX PRO AI Factory components</a:t>
            </a:r>
          </a:p>
          <a:p>
            <a:r>
              <a:t>https://docs.nvidia.com/enterprise-reference-architectures/rtx-pro-ai-factory/latest/components.html</a:t>
            </a:r>
          </a:p>
          <a:p>
            <a:r>
              <a:t>Source supplied with PRD; no ATMOS interoperability, engagement or certification implied.</a:t>
            </a:r>
          </a:p>
          <a:p>
            <a:r>
              <a:t>[R24] PRD reference: NVIDIA IGX Thor platform</a:t>
            </a:r>
          </a:p>
          <a:p>
            <a:r>
              <a:t>https://developer.nvidia.com/blog/nvidia-igx-thor-powers-industrial-medical-and-robotics-edge-ai-applications/</a:t>
            </a:r>
          </a:p>
          <a:p>
            <a:r>
              <a:t>Source supplied with PRD; no ATMOS interoperability, engagement or certification implied.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Sandisk_ATMOS_AI_Appliance_Portfolio_PRD_v2_Linked.docx. Section 19, bookmark PRD_19.</a:t>
            </a:r>
          </a:p>
          <a:p>
            <a:r>
              <a:t>Keep both files together. Full-document link is the portable fallback if a viewer ignores bookmark fragments. Office security policies can require confirmation for local links.</a:t>
            </a:r>
          </a:p>
          <a:p>
            <a:r>
              <a:t>Slide 12: Release gates convert a PRD into a supportable product. All ATMOS specifications and economic scenarios require qualification.</a:t>
            </a:r>
          </a:p>
          <a:p>
            <a:r>
              <a:t>PRD v2 is the controlling proposal, not an approved product or measured result. All ATMOS specifications, prices, node counts, supported models and service levels are planning requirements pending final silicon, OEM qualification, model certification and matched customer service measurements. The linked companion's text/tables are unchanged.</a:t>
            </a:r>
          </a:p>
          <a:p>
            <a:r>
              <a:t>The nine PRD gates are management charter, single device/three launch workloads, four-device domain, departmental 8 with OOB setup, production software lifecycle, qualified 16 with HA/security/72-hour soak, vertical/ISV/reference customers, qualified 24 and comparative claim approval. The 1-5m pages/chunks Knowledge Agent scope is a POC dataset target, not an achieved index or same-day ingestion promise. Retrieval/rerank needs candidate-distribution recall/NDCG, p99 and cost/query. Private AI needs multi-user quotas, batch and one certified full model. Lifecycle POC exercises two model generations and a platform update through canary/rollback. Simulation/emulation can reject or narrow assumptions but cannot establish physical OEM thermals, accepted service or support readiness. Owners must be named across product, NPU/runtime, platform/OEM, security, applications, SRE/support, sourcing and finance. 24-device and broad replacement claims remain held until their gates.</a:t>
            </a:r>
          </a:p>
          <a:p>
            <a:endParaRPr/>
          </a:p>
          <a:p>
            <a:r>
              <a:t>PRD: 19. Delivery Roadmap and Acceptance Gates</a:t>
            </a:r>
          </a:p>
          <a:p>
            <a:r>
              <a:t>Sandisk_ATMOS_AI_Appliance_Portfolio_PRD_v2_Linked.docx#PRD_19</a:t>
            </a:r>
          </a:p>
          <a:p>
            <a:r>
              <a:t>PRD: 20. Risks and Product Decisions</a:t>
            </a:r>
          </a:p>
          <a:p>
            <a:r>
              <a:t>Sandisk_ATMOS_AI_Appliance_Portfolio_PRD_v2_Linked.docx#PRD_20</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Sandisk_ATMOS_AI_Appliance_Portfolio_PRD_v2_Linked.docx. Section 20, bookmark PRD_20.</a:t>
            </a:r>
          </a:p>
          <a:p>
            <a:r>
              <a:t>Keep both files together. Full-document link is the portable fallback if a viewer ignores bookmark fragments. Office security policies can require confirmation for local links.</a:t>
            </a:r>
          </a:p>
          <a:p>
            <a:r>
              <a:t>Slide 13: Approve bounded product proof—not a launch claim. All ATMOS specifications and economic scenarios require qualification.</a:t>
            </a:r>
          </a:p>
          <a:p>
            <a:r>
              <a:t>PRD v2 is the controlling proposal, not an approved product or measured result. All ATMOS specifications, prices, node counts, supported models and service levels are planning requirements pending final silicon, OEM qualification, model certification and matched customer service measurements. The linked companion's text/tables are unchanged.</a:t>
            </a:r>
          </a:p>
          <a:p>
            <a:r>
              <a:t>Leadership decisions are those requested in the PRD executive summary: approve 8-device departmental and 16-device enterprise proof; flagship Enterprise Knowledge Agent; AI OS/Model Services/Operator/Control Center/ModelPack lifecycle investment; parallel Supermicro/Dell/HPE feasibility; and a conditional design-to-cost target. No staffing count, R&amp;D budget, partner agreement, silicon availability or launch date is invented. Required financial evidence precedes funding/product/price approval. Risk register covers compute/operator deficit, distributed-memory fit, OEM bay mismatch, software ecosystem gap, agent safety, model/index churn, node-count economics, fragmented support and regulated claims. Full-document and section/bookmark links are relative to the linked PRD copy. Keep files in one directory; Office security policies may prompt and some viewers ignore fragments. The source PRD's 281 paragraphs and 55 tables are not rewritten; only navigation bookmarks are added.</a:t>
            </a:r>
          </a:p>
          <a:p>
            <a:endParaRPr/>
          </a:p>
          <a:p>
            <a:r>
              <a:t>PRD: 1. Product Requirements</a:t>
            </a:r>
          </a:p>
          <a:p>
            <a:r>
              <a:t>Sandisk_ATMOS_AI_Appliance_Portfolio_PRD_v2_Linked.docx#PRD_01</a:t>
            </a:r>
          </a:p>
          <a:p>
            <a:r>
              <a:t>PRD: 19. Delivery Roadmap and Acceptance Gates</a:t>
            </a:r>
          </a:p>
          <a:p>
            <a:r>
              <a:t>Sandisk_ATMOS_AI_Appliance_Portfolio_PRD_v2_Linked.docx#PRD_19</a:t>
            </a:r>
          </a:p>
          <a:p>
            <a:r>
              <a:t>PRD: 20. Risks and Product Decisions</a:t>
            </a:r>
          </a:p>
          <a:p>
            <a:r>
              <a:t>Sandisk_ATMOS_AI_Appliance_Portfolio_PRD_v2_Linked.docx#PRD_20</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A39B"/>
          </a:solidFill>
          <a:ln w="12700">
            <a:solidFill>
              <a:srgbClr val="00A39B"/>
            </a:solidFill>
            <a:prstDash val="solid"/>
          </a:ln>
        </p:spPr>
        <p:txBody>
          <a:bodyPr/>
          <a:lstStyle/>
          <a:p>
            <a:endParaRPr lang="en-US"/>
          </a:p>
        </p:txBody>
      </p:sp>
      <p:sp>
        <p:nvSpPr>
          <p:cNvPr id="3" name="Text 1"/>
          <p:cNvSpPr/>
          <p:nvPr/>
        </p:nvSpPr>
        <p:spPr>
          <a:xfrm>
            <a:off x="411480" y="164592"/>
            <a:ext cx="4206240" cy="201168"/>
          </a:xfrm>
          <a:prstGeom prst="rect">
            <a:avLst/>
          </a:prstGeom>
          <a:noFill/>
          <a:ln/>
        </p:spPr>
        <p:txBody>
          <a:bodyPr wrap="square" lIns="0" tIns="0" rIns="0" bIns="0" rtlCol="0" anchor="ctr"/>
          <a:lstStyle/>
          <a:p>
            <a:pPr marL="0" indent="0">
              <a:buNone/>
            </a:pPr>
            <a:r>
              <a:rPr lang="en-US" sz="900" b="1" dirty="0">
                <a:solidFill>
                  <a:srgbClr val="607383"/>
                </a:solidFill>
                <a:latin typeface="Aptos" pitchFamily="34" charset="0"/>
                <a:ea typeface="Aptos" pitchFamily="34" charset="-122"/>
                <a:cs typeface="Aptos" pitchFamily="34" charset="-120"/>
              </a:rPr>
              <a:t>SANDISK  |  ATMOS AI APPLIANCE</a:t>
            </a:r>
            <a:endParaRPr lang="en-US" sz="900" dirty="0"/>
          </a:p>
        </p:txBody>
      </p:sp>
      <p:sp>
        <p:nvSpPr>
          <p:cNvPr id="4" name="Text 2"/>
          <p:cNvSpPr/>
          <p:nvPr/>
        </p:nvSpPr>
        <p:spPr>
          <a:xfrm>
            <a:off x="8458200" y="164592"/>
            <a:ext cx="3291840" cy="201168"/>
          </a:xfrm>
          <a:prstGeom prst="rect">
            <a:avLst/>
          </a:prstGeom>
          <a:noFill/>
          <a:ln/>
        </p:spPr>
        <p:txBody>
          <a:bodyPr wrap="square" lIns="0" tIns="0" rIns="0" bIns="0" rtlCol="0" anchor="ctr"/>
          <a:lstStyle/>
          <a:p>
            <a:pPr marL="0" indent="0" algn="r">
              <a:buNone/>
            </a:pPr>
            <a:r>
              <a:rPr lang="en-US" sz="900" dirty="0">
                <a:solidFill>
                  <a:srgbClr val="607383"/>
                </a:solidFill>
                <a:latin typeface="Aptos" pitchFamily="34" charset="0"/>
                <a:ea typeface="Aptos" pitchFamily="34" charset="-122"/>
                <a:cs typeface="Aptos" pitchFamily="34" charset="-120"/>
              </a:rPr>
              <a:t>Turnkey Technical Architecture</a:t>
            </a:r>
            <a:endParaRPr lang="en-US" sz="900" dirty="0"/>
          </a:p>
        </p:txBody>
      </p:sp>
      <p:sp>
        <p:nvSpPr>
          <p:cNvPr id="5" name="Shape 3"/>
          <p:cNvSpPr/>
          <p:nvPr/>
        </p:nvSpPr>
        <p:spPr>
          <a:xfrm>
            <a:off x="411480" y="6537960"/>
            <a:ext cx="11365992" cy="0"/>
          </a:xfrm>
          <a:prstGeom prst="line">
            <a:avLst/>
          </a:prstGeom>
          <a:noFill/>
          <a:ln w="10160">
            <a:solidFill>
              <a:srgbClr val="DCE5EB"/>
            </a:solidFill>
            <a:prstDash val="solid"/>
          </a:ln>
        </p:spPr>
        <p:txBody>
          <a:bodyPr/>
          <a:lstStyle/>
          <a:p>
            <a:endParaRPr lang="en-US"/>
          </a:p>
        </p:txBody>
      </p:sp>
      <p:sp>
        <p:nvSpPr>
          <p:cNvPr id="6" name="Text 4"/>
          <p:cNvSpPr/>
          <p:nvPr/>
        </p:nvSpPr>
        <p:spPr>
          <a:xfrm>
            <a:off x="411480" y="6583680"/>
            <a:ext cx="2468880" cy="128016"/>
          </a:xfrm>
          <a:prstGeom prst="rect">
            <a:avLst/>
          </a:prstGeom>
          <a:noFill/>
          <a:ln/>
        </p:spPr>
        <p:txBody>
          <a:bodyPr wrap="square" lIns="0" tIns="0" rIns="0" bIns="0" rtlCol="0" anchor="ctr"/>
          <a:lstStyle/>
          <a:p>
            <a:pPr marL="0" indent="0">
              <a:buNone/>
            </a:pPr>
            <a:r>
              <a:rPr lang="en-US" sz="750" dirty="0">
                <a:solidFill>
                  <a:srgbClr val="7A8B97"/>
                </a:solidFill>
              </a:rPr>
              <a:t>Confidential planning draft</a:t>
            </a:r>
            <a:endParaRPr lang="en-US" sz="750" dirty="0"/>
          </a:p>
        </p:txBody>
      </p:sp>
      <p:sp>
        <p:nvSpPr>
          <p:cNvPr id="25" name="Slide Number Placeholder 0"/>
          <p:cNvSpPr>
            <a:spLocks noGrp="1"/>
          </p:cNvSpPr>
          <p:nvPr>
            <p:ph type="sldNum" sz="quarter" idx="4294967295"/>
          </p:nvPr>
        </p:nvSpPr>
        <p:spPr>
          <a:xfrm>
            <a:off x="11384280" y="6574536"/>
            <a:ext cx="365760" cy="137160"/>
          </a:xfrm>
          <a:prstGeom prst="rect">
            <a:avLst/>
          </a:prstGeom>
          <a:extLst>
            <a:ext uri="{C572A759-6A51-4108-AA02-DFA0A04FC94B}">
              <ma14:wrappingTextBoxFlag xmlns="" xmlns:ma14="http://schemas.microsoft.com/office/mac/drawingml/2011/main" val="0"/>
            </a:ext>
          </a:extLst>
        </p:spPr>
        <p:txBody>
          <a:bodyPr/>
          <a:lstStyle>
            <a:lvl1pPr>
              <a:defRPr sz="750">
                <a:solidFill>
                  <a:srgbClr val="7A8B97"/>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620816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Sandisk_ATMOS_AI_Appliance_Portfolio_PRD_v2_Linked.docx"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Sandisk_ATMOS_AI_Appliance_Portfolio_PRD_v2_Linked.docx#PRD_01"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Sandisk_ATMOS_AI_Appliance_Portfolio_PRD_v2_Linked.docx"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Sandisk_ATMOS_AI_Appliance_Portfolio_PRD_v2_Linked.docx#PRD_02"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Sandisk_ATMOS_AI_Appliance_Portfolio_PRD_v2_Linked.docx"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Sandisk_ATMOS_AI_Appliance_Portfolio_PRD_v2_Linked.docx#PRD_13"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Sandisk_ATMOS_AI_Appliance_Portfolio_PRD_v2_Linked.docx"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Sandisk_ATMOS_AI_Appliance_Portfolio_PRD_v2_Linked.docx#PRD_02"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Sandisk_ATMOS_AI_Appliance_Portfolio_PRD_v2_Linked.docx"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Sandisk_ATMOS_AI_Appliance_Portfolio_PRD_v2_Linked.docx#PRD_04"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Sandisk_ATMOS_AI_Appliance_Portfolio_PRD_v2_Linked.docx"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hyperlink" Target="Sandisk_ATMOS_AI_Appliance_Portfolio_PRD_v2_Linked.docx#PRD_05"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Sandisk_ATMOS_AI_Appliance_Portfolio_PRD_v2_Linked.docx"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Sandisk_ATMOS_AI_Appliance_Portfolio_PRD_v2_Linked.docx#PRD_04"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Sandisk_ATMOS_AI_Appliance_Portfolio_PRD_v2_Linked.docx"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hyperlink" Target="Sandisk_ATMOS_AI_Appliance_Portfolio_PRD_v2_Linked.docx#PRD_07"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Sandisk_ATMOS_AI_Appliance_Portfolio_PRD_v2_Linked.docx"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hyperlink" Target="Sandisk_ATMOS_AI_Appliance_Portfolio_PRD_v2_Linked.docx#PRD_09"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Sandisk_ATMOS_AI_Appliance_Portfolio_PRD_v2_Linked.docx"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hyperlink" Target="Sandisk_ATMOS_AI_Appliance_Portfolio_PRD_v2_Linked.docx#PRD_11"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Sandisk_ATMOS_AI_Appliance_Portfolio_PRD_v2_Linked.docx"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hyperlink" Target="Sandisk_ATMOS_AI_Appliance_Portfolio_PRD_v2_Linked.docx#PRD_17"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Sandisk_ATMOS_AI_Appliance_Portfolio_PRD_v2_Linked.docx"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hyperlink" Target="Sandisk_ATMOS_AI_Appliance_Portfolio_PRD_v2_Linked.docx#PRD_19"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Sandisk_ATMOS_AI_Appliance_Portfolio_PRD_v2_Linked.docx#PRD_09" TargetMode="External"/><Relationship Id="rId13" Type="http://schemas.openxmlformats.org/officeDocument/2006/relationships/hyperlink" Target="Sandisk_ATMOS_AI_Appliance_Portfolio_PRD_v2_Linked.docx#PRD_19" TargetMode="External"/><Relationship Id="rId3" Type="http://schemas.openxmlformats.org/officeDocument/2006/relationships/hyperlink" Target="Sandisk_ATMOS_AI_Appliance_Portfolio_PRD_v2_Linked.docx" TargetMode="External"/><Relationship Id="rId7" Type="http://schemas.openxmlformats.org/officeDocument/2006/relationships/hyperlink" Target="Sandisk_ATMOS_AI_Appliance_Portfolio_PRD_v2_Linked.docx#PRD_05" TargetMode="External"/><Relationship Id="rId12" Type="http://schemas.openxmlformats.org/officeDocument/2006/relationships/hyperlink" Target="Sandisk_ATMOS_AI_Appliance_Portfolio_PRD_v2_Linked.docx#PRD_17"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hyperlink" Target="Sandisk_ATMOS_AI_Appliance_Portfolio_PRD_v2_Linked.docx#PRD_03" TargetMode="External"/><Relationship Id="rId11" Type="http://schemas.openxmlformats.org/officeDocument/2006/relationships/hyperlink" Target="Sandisk_ATMOS_AI_Appliance_Portfolio_PRD_v2_Linked.docx#PRD_16" TargetMode="External"/><Relationship Id="rId5" Type="http://schemas.openxmlformats.org/officeDocument/2006/relationships/hyperlink" Target="Sandisk_ATMOS_AI_Appliance_Portfolio_PRD_v2_Linked.docx#PRD_02" TargetMode="External"/><Relationship Id="rId10" Type="http://schemas.openxmlformats.org/officeDocument/2006/relationships/hyperlink" Target="Sandisk_ATMOS_AI_Appliance_Portfolio_PRD_v2_Linked.docx#PRD_13" TargetMode="External"/><Relationship Id="rId4" Type="http://schemas.openxmlformats.org/officeDocument/2006/relationships/hyperlink" Target="Sandisk_ATMOS_AI_Appliance_Portfolio_PRD_v2_Linked.docx#PRD_20" TargetMode="External"/><Relationship Id="rId9" Type="http://schemas.openxmlformats.org/officeDocument/2006/relationships/hyperlink" Target="Sandisk_ATMOS_AI_Appliance_Portfolio_PRD_v2_Linked.docx#PRD_11" TargetMode="External"/><Relationship Id="rId14" Type="http://schemas.openxmlformats.org/officeDocument/2006/relationships/hyperlink" Target="Sandisk_ATMOS_AI_Appliance_Portfolio_PRD_v2_Linked.docx#PRD_Appendix_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3246"/>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FFFFFF"/>
                </a:solidFill>
                <a:latin typeface="Aptos"/>
              </a:rPr>
              <a:t>AI CAPACITY PORTFOLIO / 01</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FFFFFF"/>
                </a:solidFill>
                <a:latin typeface="Aptos"/>
              </a:rPr>
              <a:t>Sandisk ATMOS AI Appliance Portfolio</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C9D7DF"/>
                </a:solidFill>
                <a:latin typeface="Aptos"/>
              </a:rPr>
              <a:t>Sell a complete private-AI service, not an E3.S accelerator kit. Leadership product and proof proposal.</a:t>
            </a:r>
          </a:p>
        </p:txBody>
      </p:sp>
      <p:sp>
        <p:nvSpPr>
          <p:cNvPr id="7" name="Rectangle 6"/>
          <p:cNvSpPr/>
          <p:nvPr/>
        </p:nvSpPr>
        <p:spPr>
          <a:xfrm>
            <a:off x="502920" y="6373368"/>
            <a:ext cx="11183112" cy="10972"/>
          </a:xfrm>
          <a:prstGeom prst="rect">
            <a:avLst/>
          </a:prstGeom>
          <a:solidFill>
            <a:srgbClr val="4159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C9D7DF"/>
                </a:solidFill>
                <a:latin typeface="Aptos"/>
              </a:rPr>
              <a:t>INTERNAL / 6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B8DFE6"/>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B8DFE6"/>
                </a:solidFill>
                <a:latin typeface="Aptos"/>
              </a:rPr>
              <a:t>Section 1</a:t>
            </a:r>
          </a:p>
        </p:txBody>
      </p:sp>
      <p:sp>
        <p:nvSpPr>
          <p:cNvPr id="11" name="Rectangle 10"/>
          <p:cNvSpPr/>
          <p:nvPr/>
        </p:nvSpPr>
        <p:spPr>
          <a:xfrm>
            <a:off x="502920" y="1874519"/>
            <a:ext cx="50292" cy="594360"/>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722376" y="1892807"/>
            <a:ext cx="3977639" cy="3566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800" b="1">
                <a:solidFill>
                  <a:srgbClr val="FFFFFF"/>
                </a:solidFill>
                <a:latin typeface="Aptos"/>
              </a:rPr>
              <a:t>CERTIFIED APPLIANCE</a:t>
            </a:r>
          </a:p>
        </p:txBody>
      </p:sp>
      <p:sp>
        <p:nvSpPr>
          <p:cNvPr id="13" name="TextBox 12"/>
          <p:cNvSpPr txBox="1"/>
          <p:nvPr/>
        </p:nvSpPr>
        <p:spPr>
          <a:xfrm>
            <a:off x="4901184" y="1874519"/>
            <a:ext cx="6501384"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D3E1E8"/>
                </a:solidFill>
                <a:latin typeface="Aptos"/>
              </a:rPr>
              <a:t>4 / 8 / 16 / 24-device family
OEM, topology, thermals and serviceability</a:t>
            </a:r>
          </a:p>
        </p:txBody>
      </p:sp>
      <p:sp>
        <p:nvSpPr>
          <p:cNvPr id="14" name="Rectangle 13"/>
          <p:cNvSpPr/>
          <p:nvPr/>
        </p:nvSpPr>
        <p:spPr>
          <a:xfrm>
            <a:off x="502920" y="2679191"/>
            <a:ext cx="50292" cy="594360"/>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722376" y="2697479"/>
            <a:ext cx="3977639" cy="3566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800" b="1">
                <a:solidFill>
                  <a:srgbClr val="FFFFFF"/>
                </a:solidFill>
                <a:latin typeface="Aptos"/>
              </a:rPr>
              <a:t>TURNKEY SOFTWARE</a:t>
            </a:r>
          </a:p>
        </p:txBody>
      </p:sp>
      <p:sp>
        <p:nvSpPr>
          <p:cNvPr id="16" name="TextBox 15"/>
          <p:cNvSpPr txBox="1"/>
          <p:nvPr/>
        </p:nvSpPr>
        <p:spPr>
          <a:xfrm>
            <a:off x="4901184" y="2679191"/>
            <a:ext cx="6501384"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D3E1E8"/>
                </a:solidFill>
                <a:latin typeface="Aptos"/>
              </a:rPr>
              <a:t>AI OS + Model Services + Operator
Serving Manager, SDK and Control Center</a:t>
            </a:r>
          </a:p>
        </p:txBody>
      </p:sp>
      <p:sp>
        <p:nvSpPr>
          <p:cNvPr id="17" name="Rectangle 16"/>
          <p:cNvSpPr/>
          <p:nvPr/>
        </p:nvSpPr>
        <p:spPr>
          <a:xfrm>
            <a:off x="502920" y="3483863"/>
            <a:ext cx="50292" cy="594360"/>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722376" y="3502151"/>
            <a:ext cx="3977639" cy="3566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800" b="1">
                <a:solidFill>
                  <a:srgbClr val="FFFFFF"/>
                </a:solidFill>
                <a:latin typeface="Aptos"/>
              </a:rPr>
              <a:t>KNOWLEDGE AGENT</a:t>
            </a:r>
          </a:p>
        </p:txBody>
      </p:sp>
      <p:sp>
        <p:nvSpPr>
          <p:cNvPr id="19" name="TextBox 18"/>
          <p:cNvSpPr txBox="1"/>
          <p:nvPr/>
        </p:nvSpPr>
        <p:spPr>
          <a:xfrm>
            <a:off x="4901184" y="3483863"/>
            <a:ext cx="6501384"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D3E1E8"/>
                </a:solidFill>
                <a:latin typeface="Aptos"/>
              </a:rPr>
              <a:t>Ingest -&gt; retrieve -&gt; rerank -&gt; cite
Governed tools, evaluation and audit</a:t>
            </a:r>
          </a:p>
        </p:txBody>
      </p:sp>
      <p:sp>
        <p:nvSpPr>
          <p:cNvPr id="20" name="Rectangle 19"/>
          <p:cNvSpPr/>
          <p:nvPr/>
        </p:nvSpPr>
        <p:spPr>
          <a:xfrm>
            <a:off x="502920" y="4288536"/>
            <a:ext cx="50292" cy="594360"/>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722376" y="4306823"/>
            <a:ext cx="3977639" cy="3566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800" b="1">
                <a:solidFill>
                  <a:srgbClr val="FFFFFF"/>
                </a:solidFill>
                <a:latin typeface="Aptos"/>
              </a:rPr>
              <a:t>ONE SUPPORT ROUTE</a:t>
            </a:r>
          </a:p>
        </p:txBody>
      </p:sp>
      <p:sp>
        <p:nvSpPr>
          <p:cNvPr id="22" name="TextBox 21"/>
          <p:cNvSpPr txBox="1"/>
          <p:nvPr/>
        </p:nvSpPr>
        <p:spPr>
          <a:xfrm>
            <a:off x="4901184" y="4288536"/>
            <a:ext cx="6501384"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D3E1E8"/>
                </a:solidFill>
                <a:latin typeface="Aptos"/>
              </a:rPr>
              <a:t>Signed packs, upgrades and rollback
Sandisk triage + coordinated OEM support</a:t>
            </a:r>
          </a:p>
        </p:txBody>
      </p:sp>
      <p:sp>
        <p:nvSpPr>
          <p:cNvPr id="23" name="Rectangle 22"/>
          <p:cNvSpPr/>
          <p:nvPr/>
        </p:nvSpPr>
        <p:spPr>
          <a:xfrm>
            <a:off x="502920" y="5349240"/>
            <a:ext cx="11183112" cy="722376"/>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676656" y="5486400"/>
            <a:ext cx="10817352"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1">
                <a:solidFill>
                  <a:srgbClr val="FFFFFF"/>
                </a:solidFill>
                <a:latin typeface="Aptos"/>
              </a:rPr>
              <a:t>REQUEST: approve 8/16-device POCs, flagship Knowledge Agent, software ownership and parallel OEM feasibility.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02</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Named SKUs. Explicit system and service profiles.</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Five commercial profiles share four device densities; Enterprise 8 adds production integration and serviceability.</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6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2</a:t>
            </a:r>
          </a:p>
        </p:txBody>
      </p:sp>
      <p:sp>
        <p:nvSpPr>
          <p:cNvPr id="11" name="Rectangle 10"/>
          <p:cNvSpPr/>
          <p:nvPr/>
        </p:nvSpPr>
        <p:spPr>
          <a:xfrm>
            <a:off x="502920" y="1856231"/>
            <a:ext cx="2194560" cy="530352"/>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76072" y="1947672"/>
            <a:ext cx="2048255"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Configuration</a:t>
            </a:r>
          </a:p>
        </p:txBody>
      </p:sp>
      <p:sp>
        <p:nvSpPr>
          <p:cNvPr id="13" name="Rectangle 12"/>
          <p:cNvSpPr/>
          <p:nvPr/>
        </p:nvSpPr>
        <p:spPr>
          <a:xfrm>
            <a:off x="2697480" y="1856231"/>
            <a:ext cx="1426464" cy="530352"/>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2770632" y="1947672"/>
            <a:ext cx="1280160"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Devices / groups</a:t>
            </a:r>
          </a:p>
        </p:txBody>
      </p:sp>
      <p:sp>
        <p:nvSpPr>
          <p:cNvPr id="15" name="Rectangle 14"/>
          <p:cNvSpPr/>
          <p:nvPr/>
        </p:nvSpPr>
        <p:spPr>
          <a:xfrm>
            <a:off x="4123944" y="1856231"/>
            <a:ext cx="2468880" cy="530352"/>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4197096" y="1947672"/>
            <a:ext cx="2322576"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HBF nominal / study</a:t>
            </a:r>
          </a:p>
        </p:txBody>
      </p:sp>
      <p:sp>
        <p:nvSpPr>
          <p:cNvPr id="17" name="Rectangle 16"/>
          <p:cNvSpPr/>
          <p:nvPr/>
        </p:nvSpPr>
        <p:spPr>
          <a:xfrm>
            <a:off x="6592824" y="1856231"/>
            <a:ext cx="3008376" cy="530352"/>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665976" y="1947672"/>
            <a:ext cx="2862072"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DRAM / NVMe</a:t>
            </a:r>
          </a:p>
        </p:txBody>
      </p:sp>
      <p:sp>
        <p:nvSpPr>
          <p:cNvPr id="19" name="Rectangle 18"/>
          <p:cNvSpPr/>
          <p:nvPr/>
        </p:nvSpPr>
        <p:spPr>
          <a:xfrm>
            <a:off x="9601200" y="1856231"/>
            <a:ext cx="2084831" cy="530352"/>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9674352" y="1947672"/>
            <a:ext cx="1938527"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Service network</a:t>
            </a:r>
          </a:p>
        </p:txBody>
      </p:sp>
      <p:sp>
        <p:nvSpPr>
          <p:cNvPr id="21" name="Rectangle 20"/>
          <p:cNvSpPr/>
          <p:nvPr/>
        </p:nvSpPr>
        <p:spPr>
          <a:xfrm>
            <a:off x="502920" y="2386584"/>
            <a:ext cx="2194560"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576072" y="2478024"/>
            <a:ext cx="2048255"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Edge Workstation 4</a:t>
            </a:r>
          </a:p>
        </p:txBody>
      </p:sp>
      <p:sp>
        <p:nvSpPr>
          <p:cNvPr id="23" name="Rectangle 22"/>
          <p:cNvSpPr/>
          <p:nvPr/>
        </p:nvSpPr>
        <p:spPr>
          <a:xfrm>
            <a:off x="2697480" y="2386584"/>
            <a:ext cx="1426464"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770632" y="2478024"/>
            <a:ext cx="1280160"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4 / 1</a:t>
            </a:r>
          </a:p>
        </p:txBody>
      </p:sp>
      <p:sp>
        <p:nvSpPr>
          <p:cNvPr id="25" name="Rectangle 24"/>
          <p:cNvSpPr/>
          <p:nvPr/>
        </p:nvSpPr>
        <p:spPr>
          <a:xfrm>
            <a:off x="4123944" y="2386584"/>
            <a:ext cx="2468880"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197096" y="2478024"/>
            <a:ext cx="2322576"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512 / 400 GB</a:t>
            </a:r>
          </a:p>
        </p:txBody>
      </p:sp>
      <p:sp>
        <p:nvSpPr>
          <p:cNvPr id="27" name="Rectangle 26"/>
          <p:cNvSpPr/>
          <p:nvPr/>
        </p:nvSpPr>
        <p:spPr>
          <a:xfrm>
            <a:off x="6592824" y="2386584"/>
            <a:ext cx="3008376"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6665976" y="2478024"/>
            <a:ext cx="2862072"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128-256 GB / 2-4 TB</a:t>
            </a:r>
          </a:p>
        </p:txBody>
      </p:sp>
      <p:sp>
        <p:nvSpPr>
          <p:cNvPr id="29" name="Rectangle 28"/>
          <p:cNvSpPr/>
          <p:nvPr/>
        </p:nvSpPr>
        <p:spPr>
          <a:xfrm>
            <a:off x="9601200" y="2386584"/>
            <a:ext cx="2084831"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9674352" y="2478024"/>
            <a:ext cx="1938527"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25/100 GbE</a:t>
            </a:r>
          </a:p>
        </p:txBody>
      </p:sp>
      <p:sp>
        <p:nvSpPr>
          <p:cNvPr id="31" name="Rectangle 30"/>
          <p:cNvSpPr/>
          <p:nvPr/>
        </p:nvSpPr>
        <p:spPr>
          <a:xfrm>
            <a:off x="502920" y="2916935"/>
            <a:ext cx="2194560" cy="5303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76072" y="3008375"/>
            <a:ext cx="2048255"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Departmental 8</a:t>
            </a:r>
          </a:p>
        </p:txBody>
      </p:sp>
      <p:sp>
        <p:nvSpPr>
          <p:cNvPr id="33" name="Rectangle 32"/>
          <p:cNvSpPr/>
          <p:nvPr/>
        </p:nvSpPr>
        <p:spPr>
          <a:xfrm>
            <a:off x="2697480" y="2916935"/>
            <a:ext cx="1426464" cy="5303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2770632" y="3008375"/>
            <a:ext cx="1280160"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8 / 2</a:t>
            </a:r>
          </a:p>
        </p:txBody>
      </p:sp>
      <p:sp>
        <p:nvSpPr>
          <p:cNvPr id="35" name="Rectangle 34"/>
          <p:cNvSpPr/>
          <p:nvPr/>
        </p:nvSpPr>
        <p:spPr>
          <a:xfrm>
            <a:off x="4123944" y="2916935"/>
            <a:ext cx="2468880" cy="5303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4197096" y="3008375"/>
            <a:ext cx="2322576"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1.024 / 0.800 TB</a:t>
            </a:r>
          </a:p>
        </p:txBody>
      </p:sp>
      <p:sp>
        <p:nvSpPr>
          <p:cNvPr id="37" name="Rectangle 36"/>
          <p:cNvSpPr/>
          <p:nvPr/>
        </p:nvSpPr>
        <p:spPr>
          <a:xfrm>
            <a:off x="6592824" y="2916935"/>
            <a:ext cx="3008376" cy="5303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6665976" y="3008375"/>
            <a:ext cx="2862072"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256-512 GB / 4-8 TB</a:t>
            </a:r>
          </a:p>
        </p:txBody>
      </p:sp>
      <p:sp>
        <p:nvSpPr>
          <p:cNvPr id="39" name="Rectangle 38"/>
          <p:cNvSpPr/>
          <p:nvPr/>
        </p:nvSpPr>
        <p:spPr>
          <a:xfrm>
            <a:off x="9601200" y="2916935"/>
            <a:ext cx="2084831" cy="5303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9674352" y="3008375"/>
            <a:ext cx="1938527"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100 GbE</a:t>
            </a:r>
          </a:p>
        </p:txBody>
      </p:sp>
      <p:sp>
        <p:nvSpPr>
          <p:cNvPr id="41" name="Rectangle 40"/>
          <p:cNvSpPr/>
          <p:nvPr/>
        </p:nvSpPr>
        <p:spPr>
          <a:xfrm>
            <a:off x="502920" y="3447287"/>
            <a:ext cx="2194560"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576072" y="3538727"/>
            <a:ext cx="2048255"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Enterprise 8</a:t>
            </a:r>
          </a:p>
        </p:txBody>
      </p:sp>
      <p:sp>
        <p:nvSpPr>
          <p:cNvPr id="43" name="Rectangle 42"/>
          <p:cNvSpPr/>
          <p:nvPr/>
        </p:nvSpPr>
        <p:spPr>
          <a:xfrm>
            <a:off x="2697480" y="3447287"/>
            <a:ext cx="1426464"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2770632" y="3538727"/>
            <a:ext cx="1280160"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8 / 2</a:t>
            </a:r>
          </a:p>
        </p:txBody>
      </p:sp>
      <p:sp>
        <p:nvSpPr>
          <p:cNvPr id="45" name="Rectangle 44"/>
          <p:cNvSpPr/>
          <p:nvPr/>
        </p:nvSpPr>
        <p:spPr>
          <a:xfrm>
            <a:off x="4123944" y="3447287"/>
            <a:ext cx="2468880"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197096" y="3538727"/>
            <a:ext cx="2322576"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Same device envelope</a:t>
            </a:r>
          </a:p>
        </p:txBody>
      </p:sp>
      <p:sp>
        <p:nvSpPr>
          <p:cNvPr id="47" name="Rectangle 46"/>
          <p:cNvSpPr/>
          <p:nvPr/>
        </p:nvSpPr>
        <p:spPr>
          <a:xfrm>
            <a:off x="6592824" y="3447287"/>
            <a:ext cx="3008376"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6665976" y="3538727"/>
            <a:ext cx="2862072"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Qualified 8-device BOM</a:t>
            </a:r>
          </a:p>
        </p:txBody>
      </p:sp>
      <p:sp>
        <p:nvSpPr>
          <p:cNvPr id="49" name="Rectangle 48"/>
          <p:cNvSpPr/>
          <p:nvPr/>
        </p:nvSpPr>
        <p:spPr>
          <a:xfrm>
            <a:off x="9601200" y="3447287"/>
            <a:ext cx="2084831"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74352" y="3538727"/>
            <a:ext cx="1938527"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Enterprise 8 BOM</a:t>
            </a:r>
          </a:p>
        </p:txBody>
      </p:sp>
      <p:sp>
        <p:nvSpPr>
          <p:cNvPr id="51" name="Rectangle 50"/>
          <p:cNvSpPr/>
          <p:nvPr/>
        </p:nvSpPr>
        <p:spPr>
          <a:xfrm>
            <a:off x="502920" y="3977639"/>
            <a:ext cx="2194560" cy="5303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576072" y="4069079"/>
            <a:ext cx="2048255"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Enterprise 16</a:t>
            </a:r>
          </a:p>
        </p:txBody>
      </p:sp>
      <p:sp>
        <p:nvSpPr>
          <p:cNvPr id="53" name="Rectangle 52"/>
          <p:cNvSpPr/>
          <p:nvPr/>
        </p:nvSpPr>
        <p:spPr>
          <a:xfrm>
            <a:off x="2697480" y="3977639"/>
            <a:ext cx="1426464" cy="5303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2770632" y="4069079"/>
            <a:ext cx="1280160"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16 / 4</a:t>
            </a:r>
          </a:p>
        </p:txBody>
      </p:sp>
      <p:sp>
        <p:nvSpPr>
          <p:cNvPr id="55" name="Rectangle 54"/>
          <p:cNvSpPr/>
          <p:nvPr/>
        </p:nvSpPr>
        <p:spPr>
          <a:xfrm>
            <a:off x="4123944" y="3977639"/>
            <a:ext cx="2468880" cy="5303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4197096" y="4069079"/>
            <a:ext cx="2322576"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2.048 / 1.600 TB</a:t>
            </a:r>
          </a:p>
        </p:txBody>
      </p:sp>
      <p:sp>
        <p:nvSpPr>
          <p:cNvPr id="57" name="Rectangle 56"/>
          <p:cNvSpPr/>
          <p:nvPr/>
        </p:nvSpPr>
        <p:spPr>
          <a:xfrm>
            <a:off x="6592824" y="3977639"/>
            <a:ext cx="3008376" cy="5303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8" name="TextBox 57"/>
          <p:cNvSpPr txBox="1"/>
          <p:nvPr/>
        </p:nvSpPr>
        <p:spPr>
          <a:xfrm>
            <a:off x="6665976" y="4069079"/>
            <a:ext cx="2862072"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512 GB-1 TB / 8-16 TB</a:t>
            </a:r>
          </a:p>
        </p:txBody>
      </p:sp>
      <p:sp>
        <p:nvSpPr>
          <p:cNvPr id="59" name="Rectangle 58"/>
          <p:cNvSpPr/>
          <p:nvPr/>
        </p:nvSpPr>
        <p:spPr>
          <a:xfrm>
            <a:off x="9601200" y="3977639"/>
            <a:ext cx="2084831" cy="5303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0" name="TextBox 59"/>
          <p:cNvSpPr txBox="1"/>
          <p:nvPr/>
        </p:nvSpPr>
        <p:spPr>
          <a:xfrm>
            <a:off x="9674352" y="4069079"/>
            <a:ext cx="1938527"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2 x 100/200 GbE</a:t>
            </a:r>
          </a:p>
        </p:txBody>
      </p:sp>
      <p:sp>
        <p:nvSpPr>
          <p:cNvPr id="61" name="Rectangle 60"/>
          <p:cNvSpPr/>
          <p:nvPr/>
        </p:nvSpPr>
        <p:spPr>
          <a:xfrm>
            <a:off x="502920" y="4507992"/>
            <a:ext cx="2194560"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576072" y="4599431"/>
            <a:ext cx="2048255"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Enterprise 24 / stretch</a:t>
            </a:r>
          </a:p>
        </p:txBody>
      </p:sp>
      <p:sp>
        <p:nvSpPr>
          <p:cNvPr id="63" name="Rectangle 62"/>
          <p:cNvSpPr/>
          <p:nvPr/>
        </p:nvSpPr>
        <p:spPr>
          <a:xfrm>
            <a:off x="2697480" y="4507992"/>
            <a:ext cx="1426464"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4" name="TextBox 63"/>
          <p:cNvSpPr txBox="1"/>
          <p:nvPr/>
        </p:nvSpPr>
        <p:spPr>
          <a:xfrm>
            <a:off x="2770632" y="4599431"/>
            <a:ext cx="1280160"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24 / 6</a:t>
            </a:r>
          </a:p>
        </p:txBody>
      </p:sp>
      <p:sp>
        <p:nvSpPr>
          <p:cNvPr id="65" name="Rectangle 64"/>
          <p:cNvSpPr/>
          <p:nvPr/>
        </p:nvSpPr>
        <p:spPr>
          <a:xfrm>
            <a:off x="4123944" y="4507992"/>
            <a:ext cx="2468880"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6" name="TextBox 65"/>
          <p:cNvSpPr txBox="1"/>
          <p:nvPr/>
        </p:nvSpPr>
        <p:spPr>
          <a:xfrm>
            <a:off x="4197096" y="4599431"/>
            <a:ext cx="2322576"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3.072 / 2.400 TB</a:t>
            </a:r>
          </a:p>
        </p:txBody>
      </p:sp>
      <p:sp>
        <p:nvSpPr>
          <p:cNvPr id="67" name="Rectangle 66"/>
          <p:cNvSpPr/>
          <p:nvPr/>
        </p:nvSpPr>
        <p:spPr>
          <a:xfrm>
            <a:off x="6592824" y="4507992"/>
            <a:ext cx="3008376"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6665976" y="4599431"/>
            <a:ext cx="2862072"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1 TB+ / 16 TB+</a:t>
            </a:r>
          </a:p>
        </p:txBody>
      </p:sp>
      <p:sp>
        <p:nvSpPr>
          <p:cNvPr id="69" name="Rectangle 68"/>
          <p:cNvSpPr/>
          <p:nvPr/>
        </p:nvSpPr>
        <p:spPr>
          <a:xfrm>
            <a:off x="9601200" y="4507992"/>
            <a:ext cx="2084831" cy="5303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0" name="TextBox 69"/>
          <p:cNvSpPr txBox="1"/>
          <p:nvPr/>
        </p:nvSpPr>
        <p:spPr>
          <a:xfrm>
            <a:off x="9674352" y="4599431"/>
            <a:ext cx="1938527" cy="3931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200/400 GbE</a:t>
            </a:r>
          </a:p>
        </p:txBody>
      </p:sp>
      <p:sp>
        <p:nvSpPr>
          <p:cNvPr id="71" name="TextBox 70"/>
          <p:cNvSpPr txBox="1"/>
          <p:nvPr/>
        </p:nvSpPr>
        <p:spPr>
          <a:xfrm>
            <a:off x="502920" y="5248656"/>
            <a:ext cx="109728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PROFILE DIFFERENCES / CUSTOMER RECEIVES</a:t>
            </a:r>
          </a:p>
        </p:txBody>
      </p:sp>
      <p:sp>
        <p:nvSpPr>
          <p:cNvPr id="72" name="TextBox 71"/>
          <p:cNvSpPr txBox="1"/>
          <p:nvPr/>
        </p:nvSpPr>
        <p:spPr>
          <a:xfrm>
            <a:off x="502920" y="5577840"/>
            <a:ext cx="11082528" cy="42062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40" b="0">
                <a:solidFill>
                  <a:srgbClr val="183246"/>
                </a:solidFill>
                <a:latin typeface="Aptos"/>
              </a:rPr>
              <a:t>Workstation: local catalog + APIs. Departmental: projects, quotas and separate queues. Enterprise: identity, audit, backup and support.</a:t>
            </a:r>
          </a:p>
        </p:txBody>
      </p:sp>
      <p:sp>
        <p:nvSpPr>
          <p:cNvPr id="73" name="TextBox 72"/>
          <p:cNvSpPr txBox="1"/>
          <p:nvPr/>
        </p:nvSpPr>
        <p:spPr>
          <a:xfrm>
            <a:off x="502920" y="6117336"/>
            <a:ext cx="11119104" cy="22860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80" b="0">
                <a:solidFill>
                  <a:srgbClr val="536879"/>
                </a:solidFill>
                <a:latin typeface="Aptos"/>
              </a:rPr>
              <a:t>CPU, form factor, redundant power and acoustic/air/DLC qualification are OEM-specific. Aggregate HBF is distributed, not coherent. PRD 2 / 15.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10</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Adapt an established OEM platform—qualify the whole BOM</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Parallel feasibility, not a partner commitment: early engineering flexibility, enterprise service and regulated lifecycle.</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6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13</a:t>
            </a:r>
          </a:p>
        </p:txBody>
      </p:sp>
      <p:sp>
        <p:nvSpPr>
          <p:cNvPr id="11" name="Rectangle 10"/>
          <p:cNvSpPr/>
          <p:nvPr/>
        </p:nvSpPr>
        <p:spPr>
          <a:xfrm>
            <a:off x="502920" y="1865376"/>
            <a:ext cx="1371600" cy="777240"/>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76072" y="1956816"/>
            <a:ext cx="1225296"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Candidate</a:t>
            </a:r>
          </a:p>
        </p:txBody>
      </p:sp>
      <p:sp>
        <p:nvSpPr>
          <p:cNvPr id="13" name="Rectangle 12"/>
          <p:cNvSpPr/>
          <p:nvPr/>
        </p:nvSpPr>
        <p:spPr>
          <a:xfrm>
            <a:off x="1874519" y="1865376"/>
            <a:ext cx="3255264" cy="777240"/>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1947672" y="1956816"/>
            <a:ext cx="3108960"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PRD rationale / public platform</a:t>
            </a:r>
          </a:p>
        </p:txBody>
      </p:sp>
      <p:sp>
        <p:nvSpPr>
          <p:cNvPr id="15" name="Rectangle 14"/>
          <p:cNvSpPr/>
          <p:nvPr/>
        </p:nvSpPr>
        <p:spPr>
          <a:xfrm>
            <a:off x="5129783" y="1865376"/>
            <a:ext cx="2743200" cy="777240"/>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5202936" y="1956816"/>
            <a:ext cx="2596896"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Product role</a:t>
            </a:r>
          </a:p>
        </p:txBody>
      </p:sp>
      <p:sp>
        <p:nvSpPr>
          <p:cNvPr id="17" name="Rectangle 16"/>
          <p:cNvSpPr/>
          <p:nvPr/>
        </p:nvSpPr>
        <p:spPr>
          <a:xfrm>
            <a:off x="7872983" y="1865376"/>
            <a:ext cx="3813048" cy="777240"/>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7946136" y="1956816"/>
            <a:ext cx="3666744"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ATMOS qualification risk</a:t>
            </a:r>
          </a:p>
        </p:txBody>
      </p:sp>
      <p:sp>
        <p:nvSpPr>
          <p:cNvPr id="19" name="Rectangle 18"/>
          <p:cNvSpPr/>
          <p:nvPr/>
        </p:nvSpPr>
        <p:spPr>
          <a:xfrm>
            <a:off x="502920" y="2642616"/>
            <a:ext cx="1371600" cy="77724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576072" y="2734056"/>
            <a:ext cx="1225296"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Supermicro</a:t>
            </a:r>
          </a:p>
        </p:txBody>
      </p:sp>
      <p:sp>
        <p:nvSpPr>
          <p:cNvPr id="21" name="Rectangle 20"/>
          <p:cNvSpPr/>
          <p:nvPr/>
        </p:nvSpPr>
        <p:spPr>
          <a:xfrm>
            <a:off x="1874519" y="2642616"/>
            <a:ext cx="3255264" cy="77724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1947672" y="2734056"/>
            <a:ext cx="3108960"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X14 Petascale / E3.S-rich 24-32 class</a:t>
            </a:r>
          </a:p>
        </p:txBody>
      </p:sp>
      <p:sp>
        <p:nvSpPr>
          <p:cNvPr id="23" name="Rectangle 22"/>
          <p:cNvSpPr/>
          <p:nvPr/>
        </p:nvSpPr>
        <p:spPr>
          <a:xfrm>
            <a:off x="5129783" y="2642616"/>
            <a:ext cx="2743200" cy="77724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5202936" y="2734056"/>
            <a:ext cx="2596896"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Early 8/16 engineering; flexible configuration</a:t>
            </a:r>
          </a:p>
        </p:txBody>
      </p:sp>
      <p:sp>
        <p:nvSpPr>
          <p:cNvPr id="25" name="Rectangle 24"/>
          <p:cNvSpPr/>
          <p:nvPr/>
        </p:nvSpPr>
        <p:spPr>
          <a:xfrm>
            <a:off x="7872983" y="2642616"/>
            <a:ext cx="3813048" cy="77724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7946136" y="2734056"/>
            <a:ext cx="3666744"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2T/x4/bay power, P2P backplane and productized support</a:t>
            </a:r>
          </a:p>
        </p:txBody>
      </p:sp>
      <p:sp>
        <p:nvSpPr>
          <p:cNvPr id="27" name="Rectangle 26"/>
          <p:cNvSpPr/>
          <p:nvPr/>
        </p:nvSpPr>
        <p:spPr>
          <a:xfrm>
            <a:off x="502920" y="3419856"/>
            <a:ext cx="1371600" cy="7772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576072" y="3511296"/>
            <a:ext cx="1225296"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Dell</a:t>
            </a:r>
          </a:p>
        </p:txBody>
      </p:sp>
      <p:sp>
        <p:nvSpPr>
          <p:cNvPr id="29" name="Rectangle 28"/>
          <p:cNvSpPr/>
          <p:nvPr/>
        </p:nvSpPr>
        <p:spPr>
          <a:xfrm>
            <a:off x="1874519" y="3419856"/>
            <a:ext cx="3255264" cy="7772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1947672" y="3511296"/>
            <a:ext cx="3108960"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PowerEdge R7725 / R7725xd; dense E3.S and root maps</a:t>
            </a:r>
          </a:p>
        </p:txBody>
      </p:sp>
      <p:sp>
        <p:nvSpPr>
          <p:cNvPr id="31" name="Rectangle 30"/>
          <p:cNvSpPr/>
          <p:nvPr/>
        </p:nvSpPr>
        <p:spPr>
          <a:xfrm>
            <a:off x="5129783" y="3419856"/>
            <a:ext cx="2743200" cy="7772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202936" y="3511296"/>
            <a:ext cx="2596896"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Enterprise channel, OpenManage and field service</a:t>
            </a:r>
          </a:p>
        </p:txBody>
      </p:sp>
      <p:sp>
        <p:nvSpPr>
          <p:cNvPr id="33" name="Rectangle 32"/>
          <p:cNvSpPr/>
          <p:nvPr/>
        </p:nvSpPr>
        <p:spPr>
          <a:xfrm>
            <a:off x="7872983" y="3419856"/>
            <a:ext cx="3813048" cy="7772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7946136" y="3511296"/>
            <a:ext cx="3666744"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Direct CPU attachment may need a new switch/P2P backplane</a:t>
            </a:r>
          </a:p>
        </p:txBody>
      </p:sp>
      <p:sp>
        <p:nvSpPr>
          <p:cNvPr id="35" name="Rectangle 34"/>
          <p:cNvSpPr/>
          <p:nvPr/>
        </p:nvSpPr>
        <p:spPr>
          <a:xfrm>
            <a:off x="502920" y="4197096"/>
            <a:ext cx="1371600" cy="77724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576072" y="4288536"/>
            <a:ext cx="1225296"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HPE</a:t>
            </a:r>
          </a:p>
        </p:txBody>
      </p:sp>
      <p:sp>
        <p:nvSpPr>
          <p:cNvPr id="37" name="Rectangle 36"/>
          <p:cNvSpPr/>
          <p:nvPr/>
        </p:nvSpPr>
        <p:spPr>
          <a:xfrm>
            <a:off x="1874519" y="4197096"/>
            <a:ext cx="3255264" cy="77724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1947672" y="4288536"/>
            <a:ext cx="3108960"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DL380/DL345 Gen12; iLO, cooling and x4 cabling options</a:t>
            </a:r>
          </a:p>
        </p:txBody>
      </p:sp>
      <p:sp>
        <p:nvSpPr>
          <p:cNvPr id="39" name="Rectangle 38"/>
          <p:cNvSpPr/>
          <p:nvPr/>
        </p:nvSpPr>
        <p:spPr>
          <a:xfrm>
            <a:off x="5129783" y="4197096"/>
            <a:ext cx="2743200" cy="77724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5202936" y="4288536"/>
            <a:ext cx="2596896"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Regulated edge, lifecycle and management</a:t>
            </a:r>
          </a:p>
        </p:txBody>
      </p:sp>
      <p:sp>
        <p:nvSpPr>
          <p:cNvPr id="41" name="Rectangle 40"/>
          <p:cNvSpPr/>
          <p:nvPr/>
        </p:nvSpPr>
        <p:spPr>
          <a:xfrm>
            <a:off x="7872983" y="4197096"/>
            <a:ext cx="3813048" cy="77724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7946136" y="4288536"/>
            <a:ext cx="3666744"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Dedicated thermal BOM; GPUs/NICs/DIMMs constrain ambient</a:t>
            </a:r>
          </a:p>
        </p:txBody>
      </p:sp>
      <p:sp>
        <p:nvSpPr>
          <p:cNvPr id="43" name="TextBox 42"/>
          <p:cNvSpPr txBox="1"/>
          <p:nvPr/>
        </p:nvSpPr>
        <p:spPr>
          <a:xfrm>
            <a:off x="502920" y="5102352"/>
            <a:ext cx="109728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QUALIFICATION LADDER / DO NOT INFER SUPPORT FROM STORAGE BAY COUNT</a:t>
            </a:r>
          </a:p>
        </p:txBody>
      </p:sp>
      <p:sp>
        <p:nvSpPr>
          <p:cNvPr id="44" name="Rectangle 43"/>
          <p:cNvSpPr/>
          <p:nvPr/>
        </p:nvSpPr>
        <p:spPr>
          <a:xfrm>
            <a:off x="502920" y="5468112"/>
            <a:ext cx="2002536" cy="56692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5" name="TextBox 44"/>
          <p:cNvSpPr txBox="1"/>
          <p:nvPr/>
        </p:nvSpPr>
        <p:spPr>
          <a:xfrm>
            <a:off x="594360" y="5518404"/>
            <a:ext cx="1819656" cy="4754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180" b="1">
                <a:solidFill>
                  <a:srgbClr val="183246"/>
                </a:solidFill>
                <a:latin typeface="Aptos"/>
              </a:rPr>
              <a:t>1 module
power + throttle</a:t>
            </a:r>
          </a:p>
        </p:txBody>
      </p:sp>
      <p:sp>
        <p:nvSpPr>
          <p:cNvPr id="46" name="Right Arrow 45"/>
          <p:cNvSpPr/>
          <p:nvPr/>
        </p:nvSpPr>
        <p:spPr>
          <a:xfrm>
            <a:off x="2546604" y="5660136"/>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Rectangle 46"/>
          <p:cNvSpPr/>
          <p:nvPr/>
        </p:nvSpPr>
        <p:spPr>
          <a:xfrm>
            <a:off x="2798063" y="5468112"/>
            <a:ext cx="2002536" cy="56692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889503" y="5518404"/>
            <a:ext cx="1819656" cy="4754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180" b="1">
                <a:solidFill>
                  <a:srgbClr val="183246"/>
                </a:solidFill>
                <a:latin typeface="Aptos"/>
              </a:rPr>
              <a:t>4-device group
heat + P2P + removal</a:t>
            </a:r>
          </a:p>
        </p:txBody>
      </p:sp>
      <p:sp>
        <p:nvSpPr>
          <p:cNvPr id="49" name="Right Arrow 48"/>
          <p:cNvSpPr/>
          <p:nvPr/>
        </p:nvSpPr>
        <p:spPr>
          <a:xfrm>
            <a:off x="4841748" y="5660136"/>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Rectangle 49"/>
          <p:cNvSpPr/>
          <p:nvPr/>
        </p:nvSpPr>
        <p:spPr>
          <a:xfrm>
            <a:off x="5093207" y="5468112"/>
            <a:ext cx="2002536" cy="56692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1" name="TextBox 50"/>
          <p:cNvSpPr txBox="1"/>
          <p:nvPr/>
        </p:nvSpPr>
        <p:spPr>
          <a:xfrm>
            <a:off x="5184647" y="5518404"/>
            <a:ext cx="1819656" cy="4754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180" b="1">
                <a:solidFill>
                  <a:srgbClr val="183246"/>
                </a:solidFill>
                <a:latin typeface="Aptos"/>
              </a:rPr>
              <a:t>8-device POC
CPU/NIC + 72h soak</a:t>
            </a:r>
          </a:p>
        </p:txBody>
      </p:sp>
      <p:sp>
        <p:nvSpPr>
          <p:cNvPr id="52" name="Right Arrow 51"/>
          <p:cNvSpPr/>
          <p:nvPr/>
        </p:nvSpPr>
        <p:spPr>
          <a:xfrm>
            <a:off x="7136892" y="5660136"/>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Rectangle 52"/>
          <p:cNvSpPr/>
          <p:nvPr/>
        </p:nvSpPr>
        <p:spPr>
          <a:xfrm>
            <a:off x="7388351" y="5468112"/>
            <a:ext cx="2011680" cy="56692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7479791" y="5518404"/>
            <a:ext cx="1828800" cy="4754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180" b="1">
                <a:solidFill>
                  <a:srgbClr val="183246"/>
                </a:solidFill>
                <a:latin typeface="Aptos"/>
              </a:rPr>
              <a:t>16 standard
max inlet + N+1</a:t>
            </a:r>
          </a:p>
        </p:txBody>
      </p:sp>
      <p:sp>
        <p:nvSpPr>
          <p:cNvPr id="55" name="Right Arrow 54"/>
          <p:cNvSpPr/>
          <p:nvPr/>
        </p:nvSpPr>
        <p:spPr>
          <a:xfrm>
            <a:off x="9441179" y="5660136"/>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Rectangle 55"/>
          <p:cNvSpPr/>
          <p:nvPr/>
        </p:nvSpPr>
        <p:spPr>
          <a:xfrm>
            <a:off x="9692639" y="5468112"/>
            <a:ext cx="2011680" cy="56692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9784079" y="5518404"/>
            <a:ext cx="1828800" cy="4754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180" b="1">
                <a:solidFill>
                  <a:srgbClr val="183246"/>
                </a:solidFill>
                <a:latin typeface="Aptos"/>
              </a:rPr>
              <a:t>24 stretch
6 groups + rack proof</a:t>
            </a:r>
          </a:p>
        </p:txBody>
      </p:sp>
      <p:sp>
        <p:nvSpPr>
          <p:cNvPr id="58" name="TextBox 57"/>
          <p:cNvSpPr txBox="1"/>
          <p:nvPr/>
        </p:nvSpPr>
        <p:spPr>
          <a:xfrm>
            <a:off x="502920" y="6117336"/>
            <a:ext cx="11119104" cy="22860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80" b="0">
                <a:solidFill>
                  <a:srgbClr val="536879"/>
                </a:solidFill>
                <a:latin typeface="Aptos"/>
              </a:rPr>
              <a:t>Sign exact 2T/x4 topology, sustained bay/switch cooling, BIOS/BMC, DMA isolation, safe replacement, spares, NRE and prime support. PRD 13-15.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03</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Four-device domains: local work before peer exchange</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One CPU/NUMA root -&gt; x16 uplink -&gt; qualified switch -&gt; four x4 ATMOS modules. Group placement is a software contract.</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6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2</a:t>
            </a:r>
          </a:p>
        </p:txBody>
      </p:sp>
      <p:sp>
        <p:nvSpPr>
          <p:cNvPr id="11" name="TextBox 10"/>
          <p:cNvSpPr txBox="1"/>
          <p:nvPr/>
        </p:nvSpPr>
        <p:spPr>
          <a:xfrm>
            <a:off x="502920" y="1810512"/>
            <a:ext cx="5833872"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STANDARD SWITCH-LOCAL ALLOCATION DOMAIN</a:t>
            </a:r>
          </a:p>
        </p:txBody>
      </p:sp>
      <p:sp>
        <p:nvSpPr>
          <p:cNvPr id="12" name="Rectangle 11"/>
          <p:cNvSpPr/>
          <p:nvPr/>
        </p:nvSpPr>
        <p:spPr>
          <a:xfrm>
            <a:off x="502920" y="2386584"/>
            <a:ext cx="1938528" cy="804672"/>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594360" y="2436876"/>
            <a:ext cx="1755648" cy="71323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500" b="1">
                <a:solidFill>
                  <a:srgbClr val="183246"/>
                </a:solidFill>
                <a:latin typeface="Aptos"/>
              </a:rPr>
              <a:t>CPU / NUMA root
x16 uplink</a:t>
            </a:r>
          </a:p>
        </p:txBody>
      </p:sp>
      <p:sp>
        <p:nvSpPr>
          <p:cNvPr id="14" name="Rectangle 13"/>
          <p:cNvSpPr/>
          <p:nvPr/>
        </p:nvSpPr>
        <p:spPr>
          <a:xfrm>
            <a:off x="502920" y="3447288"/>
            <a:ext cx="1938528" cy="822960"/>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594360" y="3497580"/>
            <a:ext cx="1755648" cy="73152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500" b="1">
                <a:solidFill>
                  <a:srgbClr val="183246"/>
                </a:solidFill>
                <a:latin typeface="Aptos"/>
              </a:rPr>
              <a:t>PCIe P2P switch
4 x x4 ports</a:t>
            </a:r>
          </a:p>
        </p:txBody>
      </p:sp>
      <p:cxnSp>
        <p:nvCxnSpPr>
          <p:cNvPr id="16" name="Connector 15"/>
          <p:cNvCxnSpPr/>
          <p:nvPr/>
        </p:nvCxnSpPr>
        <p:spPr>
          <a:xfrm>
            <a:off x="1472184" y="3191256"/>
            <a:ext cx="0" cy="256032"/>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441448" y="3858768"/>
            <a:ext cx="310896" cy="0"/>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752344" y="2295144"/>
            <a:ext cx="0" cy="2048256"/>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136392" y="2148840"/>
            <a:ext cx="3072384" cy="530352"/>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3227832" y="2199132"/>
            <a:ext cx="2889503" cy="43891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40" b="1">
                <a:solidFill>
                  <a:srgbClr val="183246"/>
                </a:solidFill>
                <a:latin typeface="Aptos"/>
              </a:rPr>
              <a:t>ATMOS 0: HBF + NPU + LPDDR</a:t>
            </a:r>
          </a:p>
        </p:txBody>
      </p:sp>
      <p:cxnSp>
        <p:nvCxnSpPr>
          <p:cNvPr id="21" name="Connector 20"/>
          <p:cNvCxnSpPr/>
          <p:nvPr/>
        </p:nvCxnSpPr>
        <p:spPr>
          <a:xfrm>
            <a:off x="2752344" y="2414016"/>
            <a:ext cx="384048" cy="0"/>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3136392" y="2752344"/>
            <a:ext cx="3072384" cy="530352"/>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3227832" y="2802636"/>
            <a:ext cx="2889503" cy="43891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40" b="1">
                <a:solidFill>
                  <a:srgbClr val="183246"/>
                </a:solidFill>
                <a:latin typeface="Aptos"/>
              </a:rPr>
              <a:t>ATMOS 1: HBF + NPU + LPDDR</a:t>
            </a:r>
          </a:p>
        </p:txBody>
      </p:sp>
      <p:cxnSp>
        <p:nvCxnSpPr>
          <p:cNvPr id="24" name="Connector 23"/>
          <p:cNvCxnSpPr/>
          <p:nvPr/>
        </p:nvCxnSpPr>
        <p:spPr>
          <a:xfrm>
            <a:off x="2752344" y="3017520"/>
            <a:ext cx="384048" cy="0"/>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136392" y="3355848"/>
            <a:ext cx="3072384" cy="530352"/>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3227832" y="3406140"/>
            <a:ext cx="2889503" cy="43891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40" b="1">
                <a:solidFill>
                  <a:srgbClr val="183246"/>
                </a:solidFill>
                <a:latin typeface="Aptos"/>
              </a:rPr>
              <a:t>ATMOS 2: HBF + NPU + LPDDR</a:t>
            </a:r>
          </a:p>
        </p:txBody>
      </p:sp>
      <p:cxnSp>
        <p:nvCxnSpPr>
          <p:cNvPr id="27" name="Connector 26"/>
          <p:cNvCxnSpPr/>
          <p:nvPr/>
        </p:nvCxnSpPr>
        <p:spPr>
          <a:xfrm>
            <a:off x="2752344" y="3621024"/>
            <a:ext cx="384048" cy="0"/>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136392" y="3959352"/>
            <a:ext cx="3072384" cy="530352"/>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3227832" y="4009644"/>
            <a:ext cx="2889503" cy="43891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40" b="1">
                <a:solidFill>
                  <a:srgbClr val="183246"/>
                </a:solidFill>
                <a:latin typeface="Aptos"/>
              </a:rPr>
              <a:t>ATMOS 3: HBF + NPU + LPDDR</a:t>
            </a:r>
          </a:p>
        </p:txBody>
      </p:sp>
      <p:cxnSp>
        <p:nvCxnSpPr>
          <p:cNvPr id="30" name="Connector 29"/>
          <p:cNvCxnSpPr/>
          <p:nvPr/>
        </p:nvCxnSpPr>
        <p:spPr>
          <a:xfrm>
            <a:off x="2752344" y="4224528"/>
            <a:ext cx="384048" cy="0"/>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702552" y="1810512"/>
            <a:ext cx="4974336"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PER-DEVICE PLANNING ENVELOPE</a:t>
            </a:r>
          </a:p>
        </p:txBody>
      </p:sp>
      <p:sp>
        <p:nvSpPr>
          <p:cNvPr id="32" name="Rectangle 31"/>
          <p:cNvSpPr/>
          <p:nvPr/>
        </p:nvSpPr>
        <p:spPr>
          <a:xfrm>
            <a:off x="6702552" y="2157984"/>
            <a:ext cx="1389888" cy="438912"/>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6775704" y="2249424"/>
            <a:ext cx="1243584" cy="30175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Resource</a:t>
            </a:r>
          </a:p>
        </p:txBody>
      </p:sp>
      <p:sp>
        <p:nvSpPr>
          <p:cNvPr id="34" name="Rectangle 33"/>
          <p:cNvSpPr/>
          <p:nvPr/>
        </p:nvSpPr>
        <p:spPr>
          <a:xfrm>
            <a:off x="8092440" y="2157984"/>
            <a:ext cx="3584448" cy="438912"/>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8165592" y="2249424"/>
            <a:ext cx="3438144" cy="30175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Target / constraint</a:t>
            </a:r>
          </a:p>
        </p:txBody>
      </p:sp>
      <p:sp>
        <p:nvSpPr>
          <p:cNvPr id="36" name="Rectangle 35"/>
          <p:cNvSpPr/>
          <p:nvPr/>
        </p:nvSpPr>
        <p:spPr>
          <a:xfrm>
            <a:off x="6702552" y="2596896"/>
            <a:ext cx="1389888" cy="43891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TextBox 36"/>
          <p:cNvSpPr txBox="1"/>
          <p:nvPr/>
        </p:nvSpPr>
        <p:spPr>
          <a:xfrm>
            <a:off x="6775704" y="2688336"/>
            <a:ext cx="1243584" cy="30175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HBF</a:t>
            </a:r>
          </a:p>
        </p:txBody>
      </p:sp>
      <p:sp>
        <p:nvSpPr>
          <p:cNvPr id="38" name="Rectangle 37"/>
          <p:cNvSpPr/>
          <p:nvPr/>
        </p:nvSpPr>
        <p:spPr>
          <a:xfrm>
            <a:off x="8092440" y="2596896"/>
            <a:ext cx="3584448" cy="43891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TextBox 38"/>
          <p:cNvSpPr txBox="1"/>
          <p:nvPr/>
        </p:nvSpPr>
        <p:spPr>
          <a:xfrm>
            <a:off x="8165592" y="2688336"/>
            <a:ext cx="3438144" cy="30175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128 GB nominal / 100 GB study</a:t>
            </a:r>
          </a:p>
        </p:txBody>
      </p:sp>
      <p:sp>
        <p:nvSpPr>
          <p:cNvPr id="40" name="Rectangle 39"/>
          <p:cNvSpPr/>
          <p:nvPr/>
        </p:nvSpPr>
        <p:spPr>
          <a:xfrm>
            <a:off x="6702552" y="3035808"/>
            <a:ext cx="1389888"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6775704" y="3127248"/>
            <a:ext cx="1243584" cy="30175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Local read / NPU</a:t>
            </a:r>
          </a:p>
        </p:txBody>
      </p:sp>
      <p:sp>
        <p:nvSpPr>
          <p:cNvPr id="42" name="Rectangle 41"/>
          <p:cNvSpPr/>
          <p:nvPr/>
        </p:nvSpPr>
        <p:spPr>
          <a:xfrm>
            <a:off x="8092440" y="3035808"/>
            <a:ext cx="3584448"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3" name="TextBox 42"/>
          <p:cNvSpPr txBox="1"/>
          <p:nvPr/>
        </p:nvSpPr>
        <p:spPr>
          <a:xfrm>
            <a:off x="8165592" y="3127248"/>
            <a:ext cx="3438144" cy="30175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~200 GB/s / ~64 TOPS-class</a:t>
            </a:r>
          </a:p>
        </p:txBody>
      </p:sp>
      <p:sp>
        <p:nvSpPr>
          <p:cNvPr id="44" name="Rectangle 43"/>
          <p:cNvSpPr/>
          <p:nvPr/>
        </p:nvSpPr>
        <p:spPr>
          <a:xfrm>
            <a:off x="6702552" y="3474720"/>
            <a:ext cx="1389888" cy="43891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5" name="TextBox 44"/>
          <p:cNvSpPr txBox="1"/>
          <p:nvPr/>
        </p:nvSpPr>
        <p:spPr>
          <a:xfrm>
            <a:off x="6775704" y="3566160"/>
            <a:ext cx="1243584" cy="30175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Dynamic state</a:t>
            </a:r>
          </a:p>
        </p:txBody>
      </p:sp>
      <p:sp>
        <p:nvSpPr>
          <p:cNvPr id="46" name="Rectangle 45"/>
          <p:cNvSpPr/>
          <p:nvPr/>
        </p:nvSpPr>
        <p:spPr>
          <a:xfrm>
            <a:off x="8092440" y="3474720"/>
            <a:ext cx="3584448" cy="43891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8165592" y="3566160"/>
            <a:ext cx="3438144" cy="30175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8-16 GB LPDDR + SRAM</a:t>
            </a:r>
          </a:p>
        </p:txBody>
      </p:sp>
      <p:sp>
        <p:nvSpPr>
          <p:cNvPr id="48" name="Rectangle 47"/>
          <p:cNvSpPr/>
          <p:nvPr/>
        </p:nvSpPr>
        <p:spPr>
          <a:xfrm>
            <a:off x="6702552" y="3913631"/>
            <a:ext cx="1389888"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6775704" y="4005071"/>
            <a:ext cx="1243584" cy="30175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Module / link</a:t>
            </a:r>
          </a:p>
        </p:txBody>
      </p:sp>
      <p:sp>
        <p:nvSpPr>
          <p:cNvPr id="50" name="Rectangle 49"/>
          <p:cNvSpPr/>
          <p:nvPr/>
        </p:nvSpPr>
        <p:spPr>
          <a:xfrm>
            <a:off x="8092440" y="3913631"/>
            <a:ext cx="3584448"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1" name="TextBox 50"/>
          <p:cNvSpPr txBox="1"/>
          <p:nvPr/>
        </p:nvSpPr>
        <p:spPr>
          <a:xfrm>
            <a:off x="8165592" y="4005071"/>
            <a:ext cx="3438144" cy="30175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E3.S 2T / Gen5 or Gen6 x4</a:t>
            </a:r>
          </a:p>
        </p:txBody>
      </p:sp>
      <p:sp>
        <p:nvSpPr>
          <p:cNvPr id="52" name="Rectangle 51"/>
          <p:cNvSpPr/>
          <p:nvPr/>
        </p:nvSpPr>
        <p:spPr>
          <a:xfrm>
            <a:off x="6702552" y="4352544"/>
            <a:ext cx="1389888" cy="43891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6775704" y="4443983"/>
            <a:ext cx="1243584" cy="30175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Sustained power</a:t>
            </a:r>
          </a:p>
        </p:txBody>
      </p:sp>
      <p:sp>
        <p:nvSpPr>
          <p:cNvPr id="54" name="Rectangle 53"/>
          <p:cNvSpPr/>
          <p:nvPr/>
        </p:nvSpPr>
        <p:spPr>
          <a:xfrm>
            <a:off x="8092440" y="4352544"/>
            <a:ext cx="3584448" cy="43891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TextBox 54"/>
          <p:cNvSpPr txBox="1"/>
          <p:nvPr/>
        </p:nvSpPr>
        <p:spPr>
          <a:xfrm>
            <a:off x="8165592" y="4443983"/>
            <a:ext cx="3438144" cy="30175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0">
                <a:solidFill>
                  <a:srgbClr val="183246"/>
                </a:solidFill>
                <a:latin typeface="Aptos"/>
              </a:rPr>
              <a:t>30-40 W; accelerator duty</a:t>
            </a:r>
          </a:p>
        </p:txBody>
      </p:sp>
      <p:sp>
        <p:nvSpPr>
          <p:cNvPr id="56" name="Rectangle 55"/>
          <p:cNvSpPr/>
          <p:nvPr/>
        </p:nvSpPr>
        <p:spPr>
          <a:xfrm>
            <a:off x="502920" y="5138928"/>
            <a:ext cx="2670048" cy="86868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612648" y="5239512"/>
            <a:ext cx="2459736" cy="3017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700" b="1">
                <a:solidFill>
                  <a:srgbClr val="007B78"/>
                </a:solidFill>
                <a:latin typeface="Aptos"/>
              </a:rPr>
              <a:t>4 devices / 0.512 TB</a:t>
            </a:r>
          </a:p>
        </p:txBody>
      </p:sp>
      <p:sp>
        <p:nvSpPr>
          <p:cNvPr id="58" name="TextBox 57"/>
          <p:cNvSpPr txBox="1"/>
          <p:nvPr/>
        </p:nvSpPr>
        <p:spPr>
          <a:xfrm>
            <a:off x="612648" y="5632704"/>
            <a:ext cx="2459736" cy="23774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40" b="0">
                <a:solidFill>
                  <a:srgbClr val="536879"/>
                </a:solidFill>
                <a:latin typeface="Aptos"/>
              </a:rPr>
              <a:t>Device-only power: 120-160 W</a:t>
            </a:r>
          </a:p>
        </p:txBody>
      </p:sp>
      <p:sp>
        <p:nvSpPr>
          <p:cNvPr id="59" name="Rectangle 58"/>
          <p:cNvSpPr/>
          <p:nvPr/>
        </p:nvSpPr>
        <p:spPr>
          <a:xfrm>
            <a:off x="3337560" y="5138928"/>
            <a:ext cx="2670048" cy="86868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0" name="TextBox 59"/>
          <p:cNvSpPr txBox="1"/>
          <p:nvPr/>
        </p:nvSpPr>
        <p:spPr>
          <a:xfrm>
            <a:off x="3447288" y="5239512"/>
            <a:ext cx="2459736" cy="3017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700" b="1">
                <a:solidFill>
                  <a:srgbClr val="007B78"/>
                </a:solidFill>
                <a:latin typeface="Aptos"/>
              </a:rPr>
              <a:t>8 devices / 1.024 TB</a:t>
            </a:r>
          </a:p>
        </p:txBody>
      </p:sp>
      <p:sp>
        <p:nvSpPr>
          <p:cNvPr id="61" name="TextBox 60"/>
          <p:cNvSpPr txBox="1"/>
          <p:nvPr/>
        </p:nvSpPr>
        <p:spPr>
          <a:xfrm>
            <a:off x="3447288" y="5632704"/>
            <a:ext cx="2459736" cy="23774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40" b="0">
                <a:solidFill>
                  <a:srgbClr val="536879"/>
                </a:solidFill>
                <a:latin typeface="Aptos"/>
              </a:rPr>
              <a:t>Device-only power: 240-320 W</a:t>
            </a:r>
          </a:p>
        </p:txBody>
      </p:sp>
      <p:sp>
        <p:nvSpPr>
          <p:cNvPr id="62" name="Rectangle 61"/>
          <p:cNvSpPr/>
          <p:nvPr/>
        </p:nvSpPr>
        <p:spPr>
          <a:xfrm>
            <a:off x="6172200" y="5138928"/>
            <a:ext cx="2670048" cy="86868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3" name="TextBox 62"/>
          <p:cNvSpPr txBox="1"/>
          <p:nvPr/>
        </p:nvSpPr>
        <p:spPr>
          <a:xfrm>
            <a:off x="6281928" y="5239512"/>
            <a:ext cx="2459736" cy="3017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700" b="1">
                <a:solidFill>
                  <a:srgbClr val="007B78"/>
                </a:solidFill>
                <a:latin typeface="Aptos"/>
              </a:rPr>
              <a:t>16 devices / 2.048 TB</a:t>
            </a:r>
          </a:p>
        </p:txBody>
      </p:sp>
      <p:sp>
        <p:nvSpPr>
          <p:cNvPr id="64" name="TextBox 63"/>
          <p:cNvSpPr txBox="1"/>
          <p:nvPr/>
        </p:nvSpPr>
        <p:spPr>
          <a:xfrm>
            <a:off x="6281928" y="5632704"/>
            <a:ext cx="2459736" cy="23774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40" b="0">
                <a:solidFill>
                  <a:srgbClr val="536879"/>
                </a:solidFill>
                <a:latin typeface="Aptos"/>
              </a:rPr>
              <a:t>Device-only power: 480-640 W</a:t>
            </a:r>
          </a:p>
        </p:txBody>
      </p:sp>
      <p:sp>
        <p:nvSpPr>
          <p:cNvPr id="65" name="Rectangle 64"/>
          <p:cNvSpPr/>
          <p:nvPr/>
        </p:nvSpPr>
        <p:spPr>
          <a:xfrm>
            <a:off x="9006840" y="5138928"/>
            <a:ext cx="2670048" cy="868680"/>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6" name="TextBox 65"/>
          <p:cNvSpPr txBox="1"/>
          <p:nvPr/>
        </p:nvSpPr>
        <p:spPr>
          <a:xfrm>
            <a:off x="9116568" y="5239512"/>
            <a:ext cx="2459736" cy="3017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700" b="1">
                <a:solidFill>
                  <a:srgbClr val="007B78"/>
                </a:solidFill>
                <a:latin typeface="Aptos"/>
              </a:rPr>
              <a:t>24 devices / 3.072 TB</a:t>
            </a:r>
          </a:p>
        </p:txBody>
      </p:sp>
      <p:sp>
        <p:nvSpPr>
          <p:cNvPr id="67" name="TextBox 66"/>
          <p:cNvSpPr txBox="1"/>
          <p:nvPr/>
        </p:nvSpPr>
        <p:spPr>
          <a:xfrm>
            <a:off x="9116568" y="5632704"/>
            <a:ext cx="2459736" cy="23774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40" b="0">
                <a:solidFill>
                  <a:srgbClr val="536879"/>
                </a:solidFill>
                <a:latin typeface="Aptos"/>
              </a:rPr>
              <a:t>Device-only power: 720-960 W</a:t>
            </a:r>
          </a:p>
        </p:txBody>
      </p:sp>
      <p:sp>
        <p:nvSpPr>
          <p:cNvPr id="68" name="TextBox 67"/>
          <p:cNvSpPr txBox="1"/>
          <p:nvPr/>
        </p:nvSpPr>
        <p:spPr>
          <a:xfrm>
            <a:off x="502920" y="6117336"/>
            <a:ext cx="11119104" cy="22860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80" b="0">
                <a:solidFill>
                  <a:srgbClr val="536879"/>
                </a:solidFill>
                <a:latin typeface="Aptos"/>
              </a:rPr>
              <a:t>P2P is not coherent memory or local HBF bandwidth. Qualify Gen5/Gen6 separately, per-device fit, IOMMU, safe reset and cross-domain traffic. PRD 2 / 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57200" y="530352"/>
            <a:ext cx="11247120" cy="438912"/>
          </a:xfrm>
          <a:prstGeom prst="rect">
            <a:avLst/>
          </a:prstGeom>
          <a:noFill/>
          <a:ln/>
        </p:spPr>
        <p:txBody>
          <a:bodyPr wrap="square" lIns="0" tIns="0" rIns="0" bIns="0" rtlCol="0" anchor="ctr"/>
          <a:lstStyle/>
          <a:p>
            <a:pPr marL="0" indent="0">
              <a:buNone/>
            </a:pPr>
            <a:r>
              <a:rPr lang="en-US" sz="2300" b="1" dirty="0">
                <a:solidFill>
                  <a:srgbClr val="103A5C"/>
                </a:solidFill>
              </a:rPr>
              <a:t>What the customer receives out of the box</a:t>
            </a:r>
            <a:endParaRPr lang="en-US" sz="2300" dirty="0"/>
          </a:p>
        </p:txBody>
      </p:sp>
      <p:sp>
        <p:nvSpPr>
          <p:cNvPr id="3" name="Text 1"/>
          <p:cNvSpPr/>
          <p:nvPr/>
        </p:nvSpPr>
        <p:spPr>
          <a:xfrm>
            <a:off x="475488" y="969264"/>
            <a:ext cx="11064240" cy="274320"/>
          </a:xfrm>
          <a:prstGeom prst="rect">
            <a:avLst/>
          </a:prstGeom>
          <a:noFill/>
          <a:ln/>
        </p:spPr>
        <p:txBody>
          <a:bodyPr wrap="square" lIns="0" tIns="0" rIns="0" bIns="0" rtlCol="0" anchor="ctr"/>
          <a:lstStyle/>
          <a:p>
            <a:pPr marL="0" indent="0">
              <a:buNone/>
            </a:pPr>
            <a:r>
              <a:rPr lang="en-US" sz="1050" dirty="0">
                <a:solidFill>
                  <a:srgbClr val="5D6C78"/>
                </a:solidFill>
              </a:rPr>
              <a:t>A complete private-AI service platform, not an accelerator kit</a:t>
            </a:r>
            <a:endParaRPr lang="en-US" sz="1050" dirty="0"/>
          </a:p>
        </p:txBody>
      </p:sp>
      <p:sp>
        <p:nvSpPr>
          <p:cNvPr id="4" name="Shape 2"/>
          <p:cNvSpPr/>
          <p:nvPr/>
        </p:nvSpPr>
        <p:spPr>
          <a:xfrm>
            <a:off x="502920" y="1389888"/>
            <a:ext cx="3520440" cy="1719072"/>
          </a:xfrm>
          <a:prstGeom prst="roundRect">
            <a:avLst>
              <a:gd name="adj" fmla="val 3191"/>
            </a:avLst>
          </a:prstGeom>
          <a:solidFill>
            <a:srgbClr val="FFFFFF"/>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5" name="Shape 3"/>
          <p:cNvSpPr/>
          <p:nvPr/>
        </p:nvSpPr>
        <p:spPr>
          <a:xfrm>
            <a:off x="502920" y="1389888"/>
            <a:ext cx="68580" cy="1719072"/>
          </a:xfrm>
          <a:prstGeom prst="rect">
            <a:avLst/>
          </a:prstGeom>
          <a:solidFill>
            <a:srgbClr val="C63D55"/>
          </a:solidFill>
          <a:ln w="12700">
            <a:solidFill>
              <a:srgbClr val="C63D55"/>
            </a:solidFill>
            <a:prstDash val="solid"/>
          </a:ln>
        </p:spPr>
        <p:txBody>
          <a:bodyPr/>
          <a:lstStyle/>
          <a:p>
            <a:endParaRPr lang="en-US"/>
          </a:p>
        </p:txBody>
      </p:sp>
      <p:sp>
        <p:nvSpPr>
          <p:cNvPr id="6" name="Text 4"/>
          <p:cNvSpPr/>
          <p:nvPr/>
        </p:nvSpPr>
        <p:spPr>
          <a:xfrm>
            <a:off x="667512" y="1508760"/>
            <a:ext cx="3246120" cy="219456"/>
          </a:xfrm>
          <a:prstGeom prst="rect">
            <a:avLst/>
          </a:prstGeom>
          <a:noFill/>
          <a:ln/>
        </p:spPr>
        <p:txBody>
          <a:bodyPr wrap="square" lIns="0" tIns="0" rIns="0" bIns="0" rtlCol="0" anchor="ctr"/>
          <a:lstStyle/>
          <a:p>
            <a:pPr marL="0" indent="0">
              <a:buNone/>
            </a:pPr>
            <a:r>
              <a:rPr lang="en-US" sz="1300" b="1" dirty="0">
                <a:solidFill>
                  <a:srgbClr val="103A5C"/>
                </a:solidFill>
              </a:rPr>
              <a:t>OEM-qualified appliance</a:t>
            </a:r>
            <a:endParaRPr lang="en-US" sz="1300" dirty="0"/>
          </a:p>
        </p:txBody>
      </p:sp>
      <p:sp>
        <p:nvSpPr>
          <p:cNvPr id="7" name="Text 5"/>
          <p:cNvSpPr/>
          <p:nvPr/>
        </p:nvSpPr>
        <p:spPr>
          <a:xfrm>
            <a:off x="667512" y="1828800"/>
            <a:ext cx="3246120" cy="1188720"/>
          </a:xfrm>
          <a:prstGeom prst="rect">
            <a:avLst/>
          </a:prstGeom>
          <a:noFill/>
          <a:ln/>
        </p:spPr>
        <p:txBody>
          <a:bodyPr wrap="square" lIns="381" tIns="381" rIns="381" bIns="381" rtlCol="0" anchor="t">
            <a:normAutofit/>
          </a:bodyPr>
          <a:lstStyle/>
          <a:p>
            <a:pPr marL="0" indent="0">
              <a:buNone/>
            </a:pPr>
            <a:r>
              <a:rPr lang="en-US" sz="1000" dirty="0">
                <a:solidFill>
                  <a:srgbClr val="263845"/>
                </a:solidFill>
              </a:rPr>
              <a:t>CPU, ECC DRAM, switches, ATMOS E3.S, NVMe, networking, redundant power</a:t>
            </a:r>
            <a:endParaRPr lang="en-US" sz="1000" dirty="0"/>
          </a:p>
        </p:txBody>
      </p:sp>
      <p:sp>
        <p:nvSpPr>
          <p:cNvPr id="8" name="Shape 6"/>
          <p:cNvSpPr/>
          <p:nvPr/>
        </p:nvSpPr>
        <p:spPr>
          <a:xfrm>
            <a:off x="4389120" y="1389888"/>
            <a:ext cx="3520440" cy="1719072"/>
          </a:xfrm>
          <a:prstGeom prst="roundRect">
            <a:avLst>
              <a:gd name="adj" fmla="val 3191"/>
            </a:avLst>
          </a:prstGeom>
          <a:solidFill>
            <a:srgbClr val="FFFFFF"/>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9" name="Shape 7"/>
          <p:cNvSpPr/>
          <p:nvPr/>
        </p:nvSpPr>
        <p:spPr>
          <a:xfrm>
            <a:off x="4389120" y="1389888"/>
            <a:ext cx="68580" cy="1719072"/>
          </a:xfrm>
          <a:prstGeom prst="rect">
            <a:avLst/>
          </a:prstGeom>
          <a:solidFill>
            <a:srgbClr val="D89A27"/>
          </a:solidFill>
          <a:ln w="12700">
            <a:solidFill>
              <a:srgbClr val="D89A27"/>
            </a:solidFill>
            <a:prstDash val="solid"/>
          </a:ln>
        </p:spPr>
        <p:txBody>
          <a:bodyPr/>
          <a:lstStyle/>
          <a:p>
            <a:endParaRPr lang="en-US"/>
          </a:p>
        </p:txBody>
      </p:sp>
      <p:sp>
        <p:nvSpPr>
          <p:cNvPr id="10" name="Text 8"/>
          <p:cNvSpPr/>
          <p:nvPr/>
        </p:nvSpPr>
        <p:spPr>
          <a:xfrm>
            <a:off x="4553712" y="1508760"/>
            <a:ext cx="3246120" cy="219456"/>
          </a:xfrm>
          <a:prstGeom prst="rect">
            <a:avLst/>
          </a:prstGeom>
          <a:noFill/>
          <a:ln/>
        </p:spPr>
        <p:txBody>
          <a:bodyPr wrap="square" lIns="0" tIns="0" rIns="0" bIns="0" rtlCol="0" anchor="ctr"/>
          <a:lstStyle/>
          <a:p>
            <a:pPr marL="0" indent="0">
              <a:buNone/>
            </a:pPr>
            <a:r>
              <a:rPr lang="en-US" sz="1300" b="1" dirty="0">
                <a:solidFill>
                  <a:srgbClr val="103A5C"/>
                </a:solidFill>
              </a:rPr>
              <a:t>ATMOS AI OS</a:t>
            </a:r>
            <a:endParaRPr lang="en-US" sz="1300" dirty="0"/>
          </a:p>
        </p:txBody>
      </p:sp>
      <p:sp>
        <p:nvSpPr>
          <p:cNvPr id="11" name="Text 9"/>
          <p:cNvSpPr/>
          <p:nvPr/>
        </p:nvSpPr>
        <p:spPr>
          <a:xfrm>
            <a:off x="4553712" y="1828800"/>
            <a:ext cx="3246120" cy="1188720"/>
          </a:xfrm>
          <a:prstGeom prst="rect">
            <a:avLst/>
          </a:prstGeom>
          <a:noFill/>
          <a:ln/>
        </p:spPr>
        <p:txBody>
          <a:bodyPr wrap="square" lIns="381" tIns="381" rIns="381" bIns="381" rtlCol="0" anchor="t">
            <a:normAutofit/>
          </a:bodyPr>
          <a:lstStyle/>
          <a:p>
            <a:pPr marL="0" indent="0">
              <a:buNone/>
            </a:pPr>
            <a:r>
              <a:rPr lang="en-US" sz="1000" dirty="0">
                <a:solidFill>
                  <a:srgbClr val="263845"/>
                </a:solidFill>
              </a:rPr>
              <a:t>Hardened image, drivers, runtime, Kubernetes, signed updates and recovery</a:t>
            </a:r>
            <a:endParaRPr lang="en-US" sz="1000" dirty="0"/>
          </a:p>
        </p:txBody>
      </p:sp>
      <p:sp>
        <p:nvSpPr>
          <p:cNvPr id="12" name="Shape 10"/>
          <p:cNvSpPr/>
          <p:nvPr/>
        </p:nvSpPr>
        <p:spPr>
          <a:xfrm>
            <a:off x="8275320" y="1389888"/>
            <a:ext cx="3520440" cy="1719072"/>
          </a:xfrm>
          <a:prstGeom prst="roundRect">
            <a:avLst>
              <a:gd name="adj" fmla="val 3191"/>
            </a:avLst>
          </a:prstGeom>
          <a:solidFill>
            <a:srgbClr val="FFFFFF"/>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13" name="Shape 11"/>
          <p:cNvSpPr/>
          <p:nvPr/>
        </p:nvSpPr>
        <p:spPr>
          <a:xfrm>
            <a:off x="8275320" y="1389888"/>
            <a:ext cx="68580" cy="1719072"/>
          </a:xfrm>
          <a:prstGeom prst="rect">
            <a:avLst/>
          </a:prstGeom>
          <a:solidFill>
            <a:srgbClr val="008E83"/>
          </a:solidFill>
          <a:ln w="12700">
            <a:solidFill>
              <a:srgbClr val="008E83"/>
            </a:solidFill>
            <a:prstDash val="solid"/>
          </a:ln>
        </p:spPr>
        <p:txBody>
          <a:bodyPr/>
          <a:lstStyle/>
          <a:p>
            <a:endParaRPr lang="en-US"/>
          </a:p>
        </p:txBody>
      </p:sp>
      <p:sp>
        <p:nvSpPr>
          <p:cNvPr id="14" name="Text 12"/>
          <p:cNvSpPr/>
          <p:nvPr/>
        </p:nvSpPr>
        <p:spPr>
          <a:xfrm>
            <a:off x="8439912" y="1508760"/>
            <a:ext cx="3246120" cy="219456"/>
          </a:xfrm>
          <a:prstGeom prst="rect">
            <a:avLst/>
          </a:prstGeom>
          <a:noFill/>
          <a:ln/>
        </p:spPr>
        <p:txBody>
          <a:bodyPr wrap="square" lIns="0" tIns="0" rIns="0" bIns="0" rtlCol="0" anchor="ctr"/>
          <a:lstStyle/>
          <a:p>
            <a:pPr marL="0" indent="0">
              <a:buNone/>
            </a:pPr>
            <a:r>
              <a:rPr lang="en-US" sz="1300" b="1" dirty="0">
                <a:solidFill>
                  <a:srgbClr val="103A5C"/>
                </a:solidFill>
              </a:rPr>
              <a:t>Certified AI services</a:t>
            </a:r>
            <a:endParaRPr lang="en-US" sz="1300" dirty="0"/>
          </a:p>
        </p:txBody>
      </p:sp>
      <p:sp>
        <p:nvSpPr>
          <p:cNvPr id="15" name="Text 13"/>
          <p:cNvSpPr/>
          <p:nvPr/>
        </p:nvSpPr>
        <p:spPr>
          <a:xfrm>
            <a:off x="8439912" y="1828800"/>
            <a:ext cx="3246120" cy="1188720"/>
          </a:xfrm>
          <a:prstGeom prst="rect">
            <a:avLst/>
          </a:prstGeom>
          <a:noFill/>
          <a:ln/>
        </p:spPr>
        <p:txBody>
          <a:bodyPr wrap="square" lIns="381" tIns="381" rIns="381" bIns="381" rtlCol="0" anchor="t">
            <a:normAutofit/>
          </a:bodyPr>
          <a:lstStyle/>
          <a:p>
            <a:pPr marL="0" indent="0">
              <a:buNone/>
            </a:pPr>
            <a:r>
              <a:rPr lang="en-US" sz="1000" dirty="0">
                <a:solidFill>
                  <a:srgbClr val="263845"/>
                </a:solidFill>
              </a:rPr>
              <a:t>Embeddings, retrieval, reranking, document AI and qualified LLM endpoints</a:t>
            </a:r>
            <a:endParaRPr lang="en-US" sz="1000" dirty="0"/>
          </a:p>
        </p:txBody>
      </p:sp>
      <p:sp>
        <p:nvSpPr>
          <p:cNvPr id="16" name="Shape 14"/>
          <p:cNvSpPr/>
          <p:nvPr/>
        </p:nvSpPr>
        <p:spPr>
          <a:xfrm>
            <a:off x="502920" y="3474720"/>
            <a:ext cx="3520440" cy="1719072"/>
          </a:xfrm>
          <a:prstGeom prst="roundRect">
            <a:avLst>
              <a:gd name="adj" fmla="val 3191"/>
            </a:avLst>
          </a:prstGeom>
          <a:solidFill>
            <a:srgbClr val="FFFFFF"/>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17" name="Shape 15"/>
          <p:cNvSpPr/>
          <p:nvPr/>
        </p:nvSpPr>
        <p:spPr>
          <a:xfrm>
            <a:off x="502920" y="3474720"/>
            <a:ext cx="68580" cy="1719072"/>
          </a:xfrm>
          <a:prstGeom prst="rect">
            <a:avLst/>
          </a:prstGeom>
          <a:solidFill>
            <a:srgbClr val="48B7C5"/>
          </a:solidFill>
          <a:ln w="12700">
            <a:solidFill>
              <a:srgbClr val="48B7C5"/>
            </a:solidFill>
            <a:prstDash val="solid"/>
          </a:ln>
        </p:spPr>
        <p:txBody>
          <a:bodyPr/>
          <a:lstStyle/>
          <a:p>
            <a:endParaRPr lang="en-US"/>
          </a:p>
        </p:txBody>
      </p:sp>
      <p:sp>
        <p:nvSpPr>
          <p:cNvPr id="18" name="Text 16"/>
          <p:cNvSpPr/>
          <p:nvPr/>
        </p:nvSpPr>
        <p:spPr>
          <a:xfrm>
            <a:off x="667512" y="3593592"/>
            <a:ext cx="3246120" cy="219456"/>
          </a:xfrm>
          <a:prstGeom prst="rect">
            <a:avLst/>
          </a:prstGeom>
          <a:noFill/>
          <a:ln/>
        </p:spPr>
        <p:txBody>
          <a:bodyPr wrap="square" lIns="0" tIns="0" rIns="0" bIns="0" rtlCol="0" anchor="ctr"/>
          <a:lstStyle/>
          <a:p>
            <a:pPr marL="0" indent="0">
              <a:buNone/>
            </a:pPr>
            <a:r>
              <a:rPr lang="en-US" sz="1300" b="1" dirty="0">
                <a:solidFill>
                  <a:srgbClr val="103A5C"/>
                </a:solidFill>
              </a:rPr>
              <a:t>Enterprise Knowledge Agent</a:t>
            </a:r>
            <a:endParaRPr lang="en-US" sz="1300" dirty="0"/>
          </a:p>
        </p:txBody>
      </p:sp>
      <p:sp>
        <p:nvSpPr>
          <p:cNvPr id="19" name="Text 17"/>
          <p:cNvSpPr/>
          <p:nvPr/>
        </p:nvSpPr>
        <p:spPr>
          <a:xfrm>
            <a:off x="667512" y="3913632"/>
            <a:ext cx="3246120" cy="1188720"/>
          </a:xfrm>
          <a:prstGeom prst="rect">
            <a:avLst/>
          </a:prstGeom>
          <a:noFill/>
          <a:ln/>
        </p:spPr>
        <p:txBody>
          <a:bodyPr wrap="square" lIns="381" tIns="381" rIns="381" bIns="381" rtlCol="0" anchor="t">
            <a:normAutofit/>
          </a:bodyPr>
          <a:lstStyle/>
          <a:p>
            <a:pPr marL="0" indent="0">
              <a:buNone/>
            </a:pPr>
            <a:r>
              <a:rPr lang="en-US" sz="1000" dirty="0">
                <a:solidFill>
                  <a:srgbClr val="263845"/>
                </a:solidFill>
              </a:rPr>
              <a:t>Ingestion, hybrid retrieval, citations, governed tools and evaluation</a:t>
            </a:r>
            <a:endParaRPr lang="en-US" sz="1000" dirty="0"/>
          </a:p>
        </p:txBody>
      </p:sp>
      <p:sp>
        <p:nvSpPr>
          <p:cNvPr id="20" name="Shape 18"/>
          <p:cNvSpPr/>
          <p:nvPr/>
        </p:nvSpPr>
        <p:spPr>
          <a:xfrm>
            <a:off x="4389120" y="3474720"/>
            <a:ext cx="3520440" cy="1719072"/>
          </a:xfrm>
          <a:prstGeom prst="roundRect">
            <a:avLst>
              <a:gd name="adj" fmla="val 3191"/>
            </a:avLst>
          </a:prstGeom>
          <a:solidFill>
            <a:srgbClr val="FFFFFF"/>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21" name="Shape 19"/>
          <p:cNvSpPr/>
          <p:nvPr/>
        </p:nvSpPr>
        <p:spPr>
          <a:xfrm>
            <a:off x="4389120" y="3474720"/>
            <a:ext cx="68580" cy="1719072"/>
          </a:xfrm>
          <a:prstGeom prst="rect">
            <a:avLst/>
          </a:prstGeom>
          <a:solidFill>
            <a:srgbClr val="1679B8"/>
          </a:solidFill>
          <a:ln w="12700">
            <a:solidFill>
              <a:srgbClr val="1679B8"/>
            </a:solidFill>
            <a:prstDash val="solid"/>
          </a:ln>
        </p:spPr>
        <p:txBody>
          <a:bodyPr/>
          <a:lstStyle/>
          <a:p>
            <a:endParaRPr lang="en-US"/>
          </a:p>
        </p:txBody>
      </p:sp>
      <p:sp>
        <p:nvSpPr>
          <p:cNvPr id="22" name="Text 20"/>
          <p:cNvSpPr/>
          <p:nvPr/>
        </p:nvSpPr>
        <p:spPr>
          <a:xfrm>
            <a:off x="4553712" y="3593592"/>
            <a:ext cx="3246120" cy="219456"/>
          </a:xfrm>
          <a:prstGeom prst="rect">
            <a:avLst/>
          </a:prstGeom>
          <a:noFill/>
          <a:ln/>
        </p:spPr>
        <p:txBody>
          <a:bodyPr wrap="square" lIns="0" tIns="0" rIns="0" bIns="0" rtlCol="0" anchor="ctr"/>
          <a:lstStyle/>
          <a:p>
            <a:pPr marL="0" indent="0">
              <a:buNone/>
            </a:pPr>
            <a:r>
              <a:rPr lang="en-US" sz="1300" b="1" dirty="0">
                <a:solidFill>
                  <a:srgbClr val="103A5C"/>
                </a:solidFill>
              </a:rPr>
              <a:t>Control Center</a:t>
            </a:r>
            <a:endParaRPr lang="en-US" sz="1300" dirty="0"/>
          </a:p>
        </p:txBody>
      </p:sp>
      <p:sp>
        <p:nvSpPr>
          <p:cNvPr id="23" name="Text 21"/>
          <p:cNvSpPr/>
          <p:nvPr/>
        </p:nvSpPr>
        <p:spPr>
          <a:xfrm>
            <a:off x="4553712" y="3913632"/>
            <a:ext cx="3246120" cy="1188720"/>
          </a:xfrm>
          <a:prstGeom prst="rect">
            <a:avLst/>
          </a:prstGeom>
          <a:noFill/>
          <a:ln/>
        </p:spPr>
        <p:txBody>
          <a:bodyPr wrap="square" lIns="381" tIns="381" rIns="381" bIns="381" rtlCol="0" anchor="t">
            <a:normAutofit/>
          </a:bodyPr>
          <a:lstStyle/>
          <a:p>
            <a:pPr marL="0" indent="0">
              <a:buNone/>
            </a:pPr>
            <a:r>
              <a:rPr lang="en-US" sz="1000" dirty="0">
                <a:solidFill>
                  <a:srgbClr val="263845"/>
                </a:solidFill>
              </a:rPr>
              <a:t>Fleet, SLO, usage, thermals, updates, audit and support bundles</a:t>
            </a:r>
            <a:endParaRPr lang="en-US" sz="1000" dirty="0"/>
          </a:p>
        </p:txBody>
      </p:sp>
      <p:sp>
        <p:nvSpPr>
          <p:cNvPr id="24" name="Shape 22"/>
          <p:cNvSpPr/>
          <p:nvPr/>
        </p:nvSpPr>
        <p:spPr>
          <a:xfrm>
            <a:off x="8275320" y="3474720"/>
            <a:ext cx="3520440" cy="1719072"/>
          </a:xfrm>
          <a:prstGeom prst="roundRect">
            <a:avLst>
              <a:gd name="adj" fmla="val 3191"/>
            </a:avLst>
          </a:prstGeom>
          <a:solidFill>
            <a:srgbClr val="FFFFFF"/>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25" name="Shape 23"/>
          <p:cNvSpPr/>
          <p:nvPr/>
        </p:nvSpPr>
        <p:spPr>
          <a:xfrm>
            <a:off x="8275320" y="3474720"/>
            <a:ext cx="68580" cy="1719072"/>
          </a:xfrm>
          <a:prstGeom prst="rect">
            <a:avLst/>
          </a:prstGeom>
          <a:solidFill>
            <a:srgbClr val="30A46C"/>
          </a:solidFill>
          <a:ln w="12700">
            <a:solidFill>
              <a:srgbClr val="30A46C"/>
            </a:solidFill>
            <a:prstDash val="solid"/>
          </a:ln>
        </p:spPr>
        <p:txBody>
          <a:bodyPr/>
          <a:lstStyle/>
          <a:p>
            <a:endParaRPr lang="en-US"/>
          </a:p>
        </p:txBody>
      </p:sp>
      <p:sp>
        <p:nvSpPr>
          <p:cNvPr id="26" name="Text 24"/>
          <p:cNvSpPr/>
          <p:nvPr/>
        </p:nvSpPr>
        <p:spPr>
          <a:xfrm>
            <a:off x="8439912" y="3593592"/>
            <a:ext cx="3246120" cy="219456"/>
          </a:xfrm>
          <a:prstGeom prst="rect">
            <a:avLst/>
          </a:prstGeom>
          <a:noFill/>
          <a:ln/>
        </p:spPr>
        <p:txBody>
          <a:bodyPr wrap="square" lIns="0" tIns="0" rIns="0" bIns="0" rtlCol="0" anchor="ctr"/>
          <a:lstStyle/>
          <a:p>
            <a:pPr marL="0" indent="0">
              <a:buNone/>
            </a:pPr>
            <a:r>
              <a:rPr lang="en-US" sz="1300" b="1" dirty="0">
                <a:solidFill>
                  <a:srgbClr val="103A5C"/>
                </a:solidFill>
              </a:rPr>
              <a:t>Enterprise support</a:t>
            </a:r>
            <a:endParaRPr lang="en-US" sz="1300" dirty="0"/>
          </a:p>
        </p:txBody>
      </p:sp>
      <p:sp>
        <p:nvSpPr>
          <p:cNvPr id="27" name="Text 25"/>
          <p:cNvSpPr/>
          <p:nvPr/>
        </p:nvSpPr>
        <p:spPr>
          <a:xfrm>
            <a:off x="8439912" y="3913632"/>
            <a:ext cx="3246120" cy="1188720"/>
          </a:xfrm>
          <a:prstGeom prst="rect">
            <a:avLst/>
          </a:prstGeom>
          <a:noFill/>
          <a:ln/>
        </p:spPr>
        <p:txBody>
          <a:bodyPr wrap="square" lIns="381" tIns="381" rIns="381" bIns="381" rtlCol="0" anchor="t">
            <a:normAutofit/>
          </a:bodyPr>
          <a:lstStyle/>
          <a:p>
            <a:pPr marL="0" indent="0">
              <a:buNone/>
            </a:pPr>
            <a:r>
              <a:rPr lang="en-US" sz="1000" dirty="0">
                <a:solidFill>
                  <a:srgbClr val="263845"/>
                </a:solidFill>
              </a:rPr>
              <a:t>Production/LTS releases, CVE response, OEM field service coordination</a:t>
            </a:r>
            <a:endParaRPr lang="en-US" sz="1000" dirty="0"/>
          </a:p>
        </p:txBody>
      </p:sp>
      <p:sp>
        <p:nvSpPr>
          <p:cNvPr id="28" name="Shape 26"/>
          <p:cNvSpPr/>
          <p:nvPr/>
        </p:nvSpPr>
        <p:spPr>
          <a:xfrm>
            <a:off x="1005840" y="5779008"/>
            <a:ext cx="10149840" cy="493776"/>
          </a:xfrm>
          <a:prstGeom prst="roundRect">
            <a:avLst>
              <a:gd name="adj" fmla="val 14815"/>
            </a:avLst>
          </a:prstGeom>
          <a:solidFill>
            <a:srgbClr val="E7F5EE"/>
          </a:solidFill>
          <a:ln w="12700">
            <a:solidFill>
              <a:srgbClr val="B8E1CB"/>
            </a:solidFill>
            <a:prstDash val="solid"/>
          </a:ln>
        </p:spPr>
        <p:txBody>
          <a:bodyPr/>
          <a:lstStyle/>
          <a:p>
            <a:endParaRPr lang="en-US"/>
          </a:p>
        </p:txBody>
      </p:sp>
      <p:sp>
        <p:nvSpPr>
          <p:cNvPr id="29" name="Text 27"/>
          <p:cNvSpPr/>
          <p:nvPr/>
        </p:nvSpPr>
        <p:spPr>
          <a:xfrm>
            <a:off x="1234440" y="5925312"/>
            <a:ext cx="9692640" cy="164592"/>
          </a:xfrm>
          <a:prstGeom prst="rect">
            <a:avLst/>
          </a:prstGeom>
          <a:noFill/>
          <a:ln/>
        </p:spPr>
        <p:txBody>
          <a:bodyPr wrap="square" lIns="0" tIns="0" rIns="0" bIns="0" rtlCol="0" anchor="ctr"/>
          <a:lstStyle/>
          <a:p>
            <a:pPr marL="0" indent="0" algn="ctr">
              <a:buNone/>
            </a:pPr>
            <a:r>
              <a:rPr lang="en-US" sz="1100" b="1" dirty="0">
                <a:solidFill>
                  <a:srgbClr val="103A5C"/>
                </a:solidFill>
              </a:rPr>
              <a:t>Day 1 outcome: connect identity + data sources → deploy a certified solution profile → publish APIs and user access</a:t>
            </a:r>
            <a:endParaRPr lang="en-US" sz="1100" dirty="0"/>
          </a:p>
        </p:txBody>
      </p:sp>
      <p:sp>
        <p:nvSpPr>
          <p:cNvPr id="30" name="Slide Number Placeholder 0"/>
          <p:cNvSpPr>
            <a:spLocks noGrp="1"/>
          </p:cNvSpPr>
          <p:nvPr>
            <p:ph type="sldNum" sz="quarter" idx="4294967295"/>
          </p:nvPr>
        </p:nvSpPr>
        <p:spPr>
          <a:xfrm>
            <a:off x="11384280" y="6574536"/>
            <a:ext cx="365760" cy="137160"/>
          </a:xfrm>
          <a:prstGeom prst="rect">
            <a:avLst/>
          </a:prstGeom>
          <a:extLst>
            <a:ext uri="{C572A759-6A51-4108-AA02-DFA0A04FC94B}">
              <ma14:wrappingTextBoxFlag xmlns="" xmlns:ma14="http://schemas.microsoft.com/office/mac/drawingml/2011/main" val="0"/>
            </a:ext>
          </a:extLst>
        </p:spPr>
        <p:txBody>
          <a:bodyPr/>
          <a:lstStyle>
            <a:lvl1pPr>
              <a:defRPr sz="750">
                <a:solidFill>
                  <a:srgbClr val="7A8B97"/>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04</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dirty="0">
                <a:solidFill>
                  <a:srgbClr val="536879"/>
                </a:solidFill>
                <a:latin typeface="Aptos"/>
              </a:rPr>
              <a:t>Packaged components, stable contracts and operations—not a requirement for the customer to assemble an inference platform.</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6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4</a:t>
            </a:r>
          </a:p>
        </p:txBody>
      </p:sp>
      <p:sp>
        <p:nvSpPr>
          <p:cNvPr id="11" name="TextBox 10"/>
          <p:cNvSpPr txBox="1"/>
          <p:nvPr/>
        </p:nvSpPr>
        <p:spPr>
          <a:xfrm>
            <a:off x="502920" y="1856231"/>
            <a:ext cx="34290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EXPERIENCE AND KNOWLEDGE</a:t>
            </a:r>
          </a:p>
        </p:txBody>
      </p:sp>
      <p:sp>
        <p:nvSpPr>
          <p:cNvPr id="12" name="TextBox 11"/>
          <p:cNvSpPr txBox="1"/>
          <p:nvPr/>
        </p:nvSpPr>
        <p:spPr>
          <a:xfrm>
            <a:off x="4297680" y="1856231"/>
            <a:ext cx="3739896"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SERVING AND DEVICE EXECUTION</a:t>
            </a:r>
          </a:p>
        </p:txBody>
      </p:sp>
      <p:sp>
        <p:nvSpPr>
          <p:cNvPr id="13" name="TextBox 12"/>
          <p:cNvSpPr txBox="1"/>
          <p:nvPr/>
        </p:nvSpPr>
        <p:spPr>
          <a:xfrm>
            <a:off x="8412480" y="1856231"/>
            <a:ext cx="3273552"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D51F3C"/>
                </a:solidFill>
                <a:latin typeface="Aptos"/>
              </a:rPr>
              <a:t>TRUST AND FLEET OPERATIONS</a:t>
            </a:r>
          </a:p>
        </p:txBody>
      </p:sp>
      <p:sp>
        <p:nvSpPr>
          <p:cNvPr id="14" name="Rectangle 13"/>
          <p:cNvSpPr/>
          <p:nvPr/>
        </p:nvSpPr>
        <p:spPr>
          <a:xfrm>
            <a:off x="502920" y="2267712"/>
            <a:ext cx="3429000" cy="685800"/>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594360" y="2318004"/>
            <a:ext cx="3246120"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Knowledge Agent / UI
Search, RAG, approved workflows</a:t>
            </a:r>
          </a:p>
        </p:txBody>
      </p:sp>
      <p:sp>
        <p:nvSpPr>
          <p:cNvPr id="16" name="Rectangle 15"/>
          <p:cNvSpPr/>
          <p:nvPr/>
        </p:nvSpPr>
        <p:spPr>
          <a:xfrm>
            <a:off x="4297680" y="2267712"/>
            <a:ext cx="3739896" cy="685800"/>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389120" y="2318004"/>
            <a:ext cx="3557015"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Gateway
Auth, quota, API policy and accounting</a:t>
            </a:r>
          </a:p>
        </p:txBody>
      </p:sp>
      <p:sp>
        <p:nvSpPr>
          <p:cNvPr id="18" name="Rectangle 17"/>
          <p:cNvSpPr/>
          <p:nvPr/>
        </p:nvSpPr>
        <p:spPr>
          <a:xfrm>
            <a:off x="8412480" y="2267712"/>
            <a:ext cx="3273552" cy="685800"/>
          </a:xfrm>
          <a:prstGeom prst="rect">
            <a:avLst/>
          </a:prstGeom>
          <a:solidFill>
            <a:srgbClr val="F3F7F9"/>
          </a:solidFill>
          <a:ln w="12700">
            <a:solidFill>
              <a:srgbClr val="D51F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8503919" y="2318004"/>
            <a:ext cx="3090672"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80" b="1">
                <a:solidFill>
                  <a:srgbClr val="183246"/>
                </a:solidFill>
                <a:latin typeface="Aptos"/>
              </a:rPr>
              <a:t>Control Center
Fleet, SLO, updates and cases</a:t>
            </a:r>
          </a:p>
        </p:txBody>
      </p:sp>
      <p:cxnSp>
        <p:nvCxnSpPr>
          <p:cNvPr id="20" name="Connector 19"/>
          <p:cNvCxnSpPr/>
          <p:nvPr/>
        </p:nvCxnSpPr>
        <p:spPr>
          <a:xfrm>
            <a:off x="6167628" y="2953512"/>
            <a:ext cx="0" cy="146304"/>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2920" y="3099816"/>
            <a:ext cx="3429000" cy="685800"/>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594360" y="3150108"/>
            <a:ext cx="3246120"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SDK / API portal / notebooks
Python, REST, examples and profiling</a:t>
            </a:r>
          </a:p>
        </p:txBody>
      </p:sp>
      <p:sp>
        <p:nvSpPr>
          <p:cNvPr id="23" name="Rectangle 22"/>
          <p:cNvSpPr/>
          <p:nvPr/>
        </p:nvSpPr>
        <p:spPr>
          <a:xfrm>
            <a:off x="4297680" y="3099816"/>
            <a:ext cx="3739896" cy="685800"/>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4389120" y="3150108"/>
            <a:ext cx="3557015"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Serving Manager
KServe/llm-d candidate; replicas, queues</a:t>
            </a:r>
          </a:p>
        </p:txBody>
      </p:sp>
      <p:sp>
        <p:nvSpPr>
          <p:cNvPr id="25" name="Rectangle 24"/>
          <p:cNvSpPr/>
          <p:nvPr/>
        </p:nvSpPr>
        <p:spPr>
          <a:xfrm>
            <a:off x="8412480" y="3099816"/>
            <a:ext cx="3273552" cy="685800"/>
          </a:xfrm>
          <a:prstGeom prst="rect">
            <a:avLst/>
          </a:prstGeom>
          <a:solidFill>
            <a:srgbClr val="F3F7F9"/>
          </a:solidFill>
          <a:ln w="12700">
            <a:solidFill>
              <a:srgbClr val="D51F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8503919" y="3150108"/>
            <a:ext cx="3090672"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80" b="1">
                <a:solidFill>
                  <a:srgbClr val="183246"/>
                </a:solidFill>
                <a:latin typeface="Aptos"/>
              </a:rPr>
              <a:t>Identity / secrets / network
OIDC/SAML, RBAC, vault, TLS/mTLS</a:t>
            </a:r>
          </a:p>
        </p:txBody>
      </p:sp>
      <p:cxnSp>
        <p:nvCxnSpPr>
          <p:cNvPr id="27" name="Connector 26"/>
          <p:cNvCxnSpPr/>
          <p:nvPr/>
        </p:nvCxnSpPr>
        <p:spPr>
          <a:xfrm>
            <a:off x="6167628" y="3785616"/>
            <a:ext cx="0" cy="146304"/>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02920" y="3931920"/>
            <a:ext cx="3429000" cy="685800"/>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594360" y="3982211"/>
            <a:ext cx="3246120"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Knowledge plane
Connectors, parsers, ACLs and indexes</a:t>
            </a:r>
          </a:p>
        </p:txBody>
      </p:sp>
      <p:sp>
        <p:nvSpPr>
          <p:cNvPr id="30" name="Rectangle 29"/>
          <p:cNvSpPr/>
          <p:nvPr/>
        </p:nvSpPr>
        <p:spPr>
          <a:xfrm>
            <a:off x="4297680" y="3931920"/>
            <a:ext cx="3739896" cy="685800"/>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4389120" y="3982211"/>
            <a:ext cx="3557015"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Model Services / ATMOS runtime
Certified operators and memory plans</a:t>
            </a:r>
          </a:p>
        </p:txBody>
      </p:sp>
      <p:sp>
        <p:nvSpPr>
          <p:cNvPr id="32" name="Rectangle 31"/>
          <p:cNvSpPr/>
          <p:nvPr/>
        </p:nvSpPr>
        <p:spPr>
          <a:xfrm>
            <a:off x="8412480" y="3931920"/>
            <a:ext cx="3273552" cy="685800"/>
          </a:xfrm>
          <a:prstGeom prst="rect">
            <a:avLst/>
          </a:prstGeom>
          <a:solidFill>
            <a:srgbClr val="F3F7F9"/>
          </a:solidFill>
          <a:ln w="12700">
            <a:solidFill>
              <a:srgbClr val="D51F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8503919" y="3982211"/>
            <a:ext cx="3090672"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80" b="1">
                <a:solidFill>
                  <a:srgbClr val="183246"/>
                </a:solidFill>
                <a:latin typeface="Aptos"/>
              </a:rPr>
              <a:t>Supply chain / policy / evidence
Signing, SBOM, policy and audit</a:t>
            </a:r>
          </a:p>
        </p:txBody>
      </p:sp>
      <p:cxnSp>
        <p:nvCxnSpPr>
          <p:cNvPr id="34" name="Connector 33"/>
          <p:cNvCxnSpPr/>
          <p:nvPr/>
        </p:nvCxnSpPr>
        <p:spPr>
          <a:xfrm>
            <a:off x="6167628" y="4617720"/>
            <a:ext cx="0" cy="146304"/>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02920" y="4764024"/>
            <a:ext cx="3429000" cy="685800"/>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594360" y="4814316"/>
            <a:ext cx="3246120"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Certified ModelPacks
Weights, tokenizer, kernels and tests</a:t>
            </a:r>
          </a:p>
        </p:txBody>
      </p:sp>
      <p:sp>
        <p:nvSpPr>
          <p:cNvPr id="37" name="Rectangle 36"/>
          <p:cNvSpPr/>
          <p:nvPr/>
        </p:nvSpPr>
        <p:spPr>
          <a:xfrm>
            <a:off x="4297680" y="4764024"/>
            <a:ext cx="3739896" cy="685800"/>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389120" y="4814316"/>
            <a:ext cx="3557015"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AI OS + Device Service
DRA/CDI/operator, DMA, P2P, firmware</a:t>
            </a:r>
          </a:p>
        </p:txBody>
      </p:sp>
      <p:sp>
        <p:nvSpPr>
          <p:cNvPr id="39" name="Rectangle 38"/>
          <p:cNvSpPr/>
          <p:nvPr/>
        </p:nvSpPr>
        <p:spPr>
          <a:xfrm>
            <a:off x="8412480" y="4764024"/>
            <a:ext cx="3273552" cy="685800"/>
          </a:xfrm>
          <a:prstGeom prst="rect">
            <a:avLst/>
          </a:prstGeom>
          <a:solidFill>
            <a:srgbClr val="F3F7F9"/>
          </a:solidFill>
          <a:ln w="12700">
            <a:solidFill>
              <a:srgbClr val="D51F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8503919" y="4814316"/>
            <a:ext cx="3090672" cy="59436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80" b="1">
                <a:solidFill>
                  <a:srgbClr val="183246"/>
                </a:solidFill>
                <a:latin typeface="Aptos"/>
              </a:rPr>
              <a:t>Enterprise Support
Prod/LTS, CVEs, OEM escalation</a:t>
            </a:r>
          </a:p>
        </p:txBody>
      </p:sp>
      <p:sp>
        <p:nvSpPr>
          <p:cNvPr id="41" name="Right Arrow 40"/>
          <p:cNvSpPr/>
          <p:nvPr/>
        </p:nvSpPr>
        <p:spPr>
          <a:xfrm>
            <a:off x="3977639" y="2523744"/>
            <a:ext cx="25603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a:off x="8037575" y="3447288"/>
            <a:ext cx="374905" cy="0"/>
          </a:xfrm>
          <a:prstGeom prst="line">
            <a:avLst/>
          </a:prstGeom>
          <a:ln w="19050">
            <a:solidFill>
              <a:srgbClr val="D51F3C"/>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02920" y="6117336"/>
            <a:ext cx="11119104" cy="22860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80" b="0">
                <a:solidFill>
                  <a:srgbClr val="536879"/>
                </a:solidFill>
                <a:latin typeface="Aptos"/>
              </a:rPr>
              <a:t>ATMOS runtime/driver/operator, HBF placement and workload adapters must be delivered/qualified; upstream projects do not establish ready ATMOS support. PRD 3-4 / 12.</a:t>
            </a:r>
          </a:p>
        </p:txBody>
      </p:sp>
      <p:sp>
        <p:nvSpPr>
          <p:cNvPr id="44" name="TextBox 43">
            <a:extLst>
              <a:ext uri="{FF2B5EF4-FFF2-40B4-BE49-F238E27FC236}">
                <a16:creationId xmlns:a16="http://schemas.microsoft.com/office/drawing/2014/main" id="{5E4B1B37-0D8A-683D-3102-9ABD1EB9EABF}"/>
              </a:ext>
            </a:extLst>
          </p:cNvPr>
          <p:cNvSpPr txBox="1"/>
          <p:nvPr/>
        </p:nvSpPr>
        <p:spPr>
          <a:xfrm>
            <a:off x="2564091" y="624708"/>
            <a:ext cx="6622710" cy="486287"/>
          </a:xfrm>
          <a:prstGeom prst="rect">
            <a:avLst/>
          </a:prstGeom>
          <a:noFill/>
        </p:spPr>
        <p:txBody>
          <a:bodyPr wrap="square" lIns="27432" tIns="27432" rIns="27432" bIns="27432" anchor="t">
            <a:spAutoFit/>
          </a:bodyPr>
          <a:lstStyle>
            <a:defPPr>
              <a:defRPr lang="en-US"/>
            </a:defPPr>
            <a:lvl1pPr>
              <a:lnSpc>
                <a:spcPct val="100000"/>
              </a:lnSpc>
              <a:spcBef>
                <a:spcPts val="0"/>
              </a:spcBef>
              <a:spcAft>
                <a:spcPts val="0"/>
              </a:spcAft>
              <a:defRPr sz="2800" b="1">
                <a:solidFill>
                  <a:srgbClr val="183246"/>
                </a:solidFill>
                <a:latin typeface="Aptos"/>
              </a:defRPr>
            </a:lvl1pPr>
          </a:lstStyle>
          <a:p>
            <a:r>
              <a:rPr lang="en-US" dirty="0"/>
              <a:t>Out-of-Box Enterprise Knowledge Agent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06</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Out-of-box Knowledge Agent: governed evidence to answers</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The flagship solution ships ingestion, hybrid retrieval, reranking, citations, evaluation and bounded agent workflows.</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6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5</a:t>
            </a:r>
          </a:p>
        </p:txBody>
      </p:sp>
      <p:sp>
        <p:nvSpPr>
          <p:cNvPr id="11" name="TextBox 10"/>
          <p:cNvSpPr txBox="1"/>
          <p:nvPr/>
        </p:nvSpPr>
        <p:spPr>
          <a:xfrm>
            <a:off x="502920" y="1828800"/>
            <a:ext cx="109728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INGESTION / SOURCE, VERSION, TENANT AND ACL LINEAGE</a:t>
            </a:r>
          </a:p>
        </p:txBody>
      </p:sp>
      <p:sp>
        <p:nvSpPr>
          <p:cNvPr id="12" name="Rectangle 11"/>
          <p:cNvSpPr/>
          <p:nvPr/>
        </p:nvSpPr>
        <p:spPr>
          <a:xfrm>
            <a:off x="502920" y="2185416"/>
            <a:ext cx="2569464" cy="74980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594360" y="2235708"/>
            <a:ext cx="2386584" cy="65836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50" b="1">
                <a:solidFill>
                  <a:srgbClr val="183246"/>
                </a:solidFill>
                <a:latin typeface="Aptos"/>
              </a:rPr>
              <a:t>Approved sources
files / S3 / enterprise</a:t>
            </a:r>
          </a:p>
        </p:txBody>
      </p:sp>
      <p:sp>
        <p:nvSpPr>
          <p:cNvPr id="14" name="Right Arrow 13"/>
          <p:cNvSpPr/>
          <p:nvPr/>
        </p:nvSpPr>
        <p:spPr>
          <a:xfrm>
            <a:off x="3113532" y="2468880"/>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Rectangle 14"/>
          <p:cNvSpPr/>
          <p:nvPr/>
        </p:nvSpPr>
        <p:spPr>
          <a:xfrm>
            <a:off x="3364991" y="2185416"/>
            <a:ext cx="2569464" cy="74980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3456432" y="2235708"/>
            <a:ext cx="2386584" cy="65836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50" b="1">
                <a:solidFill>
                  <a:srgbClr val="183246"/>
                </a:solidFill>
                <a:latin typeface="Aptos"/>
              </a:rPr>
              <a:t>Extract + chunk
parser / OCR profile</a:t>
            </a:r>
          </a:p>
        </p:txBody>
      </p:sp>
      <p:sp>
        <p:nvSpPr>
          <p:cNvPr id="17" name="Right Arrow 16"/>
          <p:cNvSpPr/>
          <p:nvPr/>
        </p:nvSpPr>
        <p:spPr>
          <a:xfrm>
            <a:off x="5975604" y="2468880"/>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6227064" y="2185416"/>
            <a:ext cx="2569464" cy="74980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6318503" y="2235708"/>
            <a:ext cx="2386584" cy="65836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50" b="1">
                <a:solidFill>
                  <a:srgbClr val="183246"/>
                </a:solidFill>
                <a:latin typeface="Aptos"/>
              </a:rPr>
              <a:t>Embed + sparse terms
certified models</a:t>
            </a:r>
          </a:p>
        </p:txBody>
      </p:sp>
      <p:sp>
        <p:nvSpPr>
          <p:cNvPr id="20" name="Right Arrow 19"/>
          <p:cNvSpPr/>
          <p:nvPr/>
        </p:nvSpPr>
        <p:spPr>
          <a:xfrm>
            <a:off x="8837676" y="2468880"/>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Rectangle 20"/>
          <p:cNvSpPr/>
          <p:nvPr/>
        </p:nvSpPr>
        <p:spPr>
          <a:xfrm>
            <a:off x="9089136" y="2185416"/>
            <a:ext cx="2578608" cy="74980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9180576" y="2235708"/>
            <a:ext cx="2395727" cy="65836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50" b="1">
                <a:solidFill>
                  <a:srgbClr val="183246"/>
                </a:solidFill>
                <a:latin typeface="Aptos"/>
              </a:rPr>
              <a:t>Versioned collections
indexes + lineage</a:t>
            </a:r>
          </a:p>
        </p:txBody>
      </p:sp>
      <p:sp>
        <p:nvSpPr>
          <p:cNvPr id="23" name="TextBox 22"/>
          <p:cNvSpPr txBox="1"/>
          <p:nvPr/>
        </p:nvSpPr>
        <p:spPr>
          <a:xfrm>
            <a:off x="502920" y="3182112"/>
            <a:ext cx="109728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D51F3C"/>
                </a:solidFill>
                <a:latin typeface="Aptos"/>
              </a:rPr>
              <a:t>ONLINE QUERY / ACL FILTERING BEFORE EVIDENCE REACHES GENERATION</a:t>
            </a:r>
          </a:p>
        </p:txBody>
      </p:sp>
      <p:sp>
        <p:nvSpPr>
          <p:cNvPr id="24" name="Rectangle 23"/>
          <p:cNvSpPr/>
          <p:nvPr/>
        </p:nvSpPr>
        <p:spPr>
          <a:xfrm>
            <a:off x="502920" y="3538728"/>
            <a:ext cx="2002536" cy="758952"/>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594360" y="3589020"/>
            <a:ext cx="1819656" cy="66751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Query / understand</a:t>
            </a:r>
          </a:p>
        </p:txBody>
      </p:sp>
      <p:sp>
        <p:nvSpPr>
          <p:cNvPr id="26" name="Right Arrow 25"/>
          <p:cNvSpPr/>
          <p:nvPr/>
        </p:nvSpPr>
        <p:spPr>
          <a:xfrm>
            <a:off x="2546604" y="3826764"/>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Rectangle 26"/>
          <p:cNvSpPr/>
          <p:nvPr/>
        </p:nvSpPr>
        <p:spPr>
          <a:xfrm>
            <a:off x="2798063" y="3538728"/>
            <a:ext cx="2002536" cy="758952"/>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2889503" y="3589020"/>
            <a:ext cx="1819656" cy="66751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ACL + hybrid
retrieve</a:t>
            </a:r>
          </a:p>
        </p:txBody>
      </p:sp>
      <p:sp>
        <p:nvSpPr>
          <p:cNvPr id="29" name="Right Arrow 28"/>
          <p:cNvSpPr/>
          <p:nvPr/>
        </p:nvSpPr>
        <p:spPr>
          <a:xfrm>
            <a:off x="4841748" y="3826764"/>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Rectangle 29"/>
          <p:cNvSpPr/>
          <p:nvPr/>
        </p:nvSpPr>
        <p:spPr>
          <a:xfrm>
            <a:off x="5093207" y="3538728"/>
            <a:ext cx="2002536" cy="758952"/>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5184647" y="3589020"/>
            <a:ext cx="1819656" cy="66751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Rerank / select</a:t>
            </a:r>
          </a:p>
        </p:txBody>
      </p:sp>
      <p:sp>
        <p:nvSpPr>
          <p:cNvPr id="32" name="Right Arrow 31"/>
          <p:cNvSpPr/>
          <p:nvPr/>
        </p:nvSpPr>
        <p:spPr>
          <a:xfrm>
            <a:off x="7136892" y="3826764"/>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Rectangle 32"/>
          <p:cNvSpPr/>
          <p:nvPr/>
        </p:nvSpPr>
        <p:spPr>
          <a:xfrm>
            <a:off x="7388351" y="3538728"/>
            <a:ext cx="2011680" cy="758952"/>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7479791" y="3589020"/>
            <a:ext cx="1828800" cy="66751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Generate + cite</a:t>
            </a:r>
          </a:p>
        </p:txBody>
      </p:sp>
      <p:sp>
        <p:nvSpPr>
          <p:cNvPr id="35" name="Right Arrow 34"/>
          <p:cNvSpPr/>
          <p:nvPr/>
        </p:nvSpPr>
        <p:spPr>
          <a:xfrm>
            <a:off x="9441179" y="3826764"/>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Rectangle 35"/>
          <p:cNvSpPr/>
          <p:nvPr/>
        </p:nvSpPr>
        <p:spPr>
          <a:xfrm>
            <a:off x="9692639" y="3538728"/>
            <a:ext cx="2011680" cy="758952"/>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TextBox 36"/>
          <p:cNvSpPr txBox="1"/>
          <p:nvPr/>
        </p:nvSpPr>
        <p:spPr>
          <a:xfrm>
            <a:off x="9784079" y="3589020"/>
            <a:ext cx="1828800" cy="66751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rgbClr val="183246"/>
                </a:solidFill>
                <a:latin typeface="Aptos"/>
              </a:rPr>
              <a:t>Verify + audit</a:t>
            </a:r>
          </a:p>
        </p:txBody>
      </p:sp>
      <p:sp>
        <p:nvSpPr>
          <p:cNvPr id="38" name="TextBox 37"/>
          <p:cNvSpPr txBox="1"/>
          <p:nvPr/>
        </p:nvSpPr>
        <p:spPr>
          <a:xfrm>
            <a:off x="502920" y="4590288"/>
            <a:ext cx="109728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SIX INCLUDED MODES / SELECT WITHIN THE CERTIFIED ENVELOPE</a:t>
            </a:r>
          </a:p>
        </p:txBody>
      </p:sp>
      <p:sp>
        <p:nvSpPr>
          <p:cNvPr id="39" name="TextBox 38"/>
          <p:cNvSpPr txBox="1"/>
          <p:nvPr/>
        </p:nvSpPr>
        <p:spPr>
          <a:xfrm>
            <a:off x="502920" y="4946904"/>
            <a:ext cx="1499616"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20" b="1">
                <a:solidFill>
                  <a:srgbClr val="007B78"/>
                </a:solidFill>
                <a:latin typeface="Aptos"/>
              </a:rPr>
              <a:t>Search</a:t>
            </a:r>
          </a:p>
        </p:txBody>
      </p:sp>
      <p:sp>
        <p:nvSpPr>
          <p:cNvPr id="40" name="TextBox 39"/>
          <p:cNvSpPr txBox="1"/>
          <p:nvPr/>
        </p:nvSpPr>
        <p:spPr>
          <a:xfrm>
            <a:off x="2039112" y="4946904"/>
            <a:ext cx="2103120" cy="38404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40" b="0">
                <a:solidFill>
                  <a:srgbClr val="183246"/>
                </a:solidFill>
                <a:latin typeface="Aptos"/>
              </a:rPr>
              <a:t>Ranked passages only</a:t>
            </a:r>
          </a:p>
        </p:txBody>
      </p:sp>
      <p:sp>
        <p:nvSpPr>
          <p:cNvPr id="41" name="TextBox 40"/>
          <p:cNvSpPr txBox="1"/>
          <p:nvPr/>
        </p:nvSpPr>
        <p:spPr>
          <a:xfrm>
            <a:off x="4306824" y="4946904"/>
            <a:ext cx="1499616"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20" b="1">
                <a:solidFill>
                  <a:srgbClr val="007B78"/>
                </a:solidFill>
                <a:latin typeface="Aptos"/>
              </a:rPr>
              <a:t>Standard RAG</a:t>
            </a:r>
          </a:p>
        </p:txBody>
      </p:sp>
      <p:sp>
        <p:nvSpPr>
          <p:cNvPr id="42" name="TextBox 41"/>
          <p:cNvSpPr txBox="1"/>
          <p:nvPr/>
        </p:nvSpPr>
        <p:spPr>
          <a:xfrm>
            <a:off x="5843016" y="4946904"/>
            <a:ext cx="2103120" cy="38404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40" b="0">
                <a:solidFill>
                  <a:srgbClr val="183246"/>
                </a:solidFill>
                <a:latin typeface="Aptos"/>
              </a:rPr>
              <a:t>One retrieval / answer pass</a:t>
            </a:r>
          </a:p>
        </p:txBody>
      </p:sp>
      <p:sp>
        <p:nvSpPr>
          <p:cNvPr id="43" name="TextBox 42"/>
          <p:cNvSpPr txBox="1"/>
          <p:nvPr/>
        </p:nvSpPr>
        <p:spPr>
          <a:xfrm>
            <a:off x="8110728" y="4946904"/>
            <a:ext cx="1499616"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20" b="1">
                <a:solidFill>
                  <a:srgbClr val="007B78"/>
                </a:solidFill>
                <a:latin typeface="Aptos"/>
              </a:rPr>
              <a:t>Deep RAG</a:t>
            </a:r>
          </a:p>
        </p:txBody>
      </p:sp>
      <p:sp>
        <p:nvSpPr>
          <p:cNvPr id="44" name="TextBox 43"/>
          <p:cNvSpPr txBox="1"/>
          <p:nvPr/>
        </p:nvSpPr>
        <p:spPr>
          <a:xfrm>
            <a:off x="9646920" y="4946904"/>
            <a:ext cx="2103120" cy="38404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40" b="0">
                <a:solidFill>
                  <a:srgbClr val="183246"/>
                </a:solidFill>
                <a:latin typeface="Aptos"/>
              </a:rPr>
              <a:t>Decompose, broaden, synthesize</a:t>
            </a:r>
          </a:p>
        </p:txBody>
      </p:sp>
      <p:sp>
        <p:nvSpPr>
          <p:cNvPr id="45" name="TextBox 44"/>
          <p:cNvSpPr txBox="1"/>
          <p:nvPr/>
        </p:nvSpPr>
        <p:spPr>
          <a:xfrm>
            <a:off x="502920" y="5440680"/>
            <a:ext cx="1499616"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20" b="1">
                <a:solidFill>
                  <a:srgbClr val="007B78"/>
                </a:solidFill>
                <a:latin typeface="Aptos"/>
              </a:rPr>
              <a:t>Agentic RAG</a:t>
            </a:r>
          </a:p>
        </p:txBody>
      </p:sp>
      <p:sp>
        <p:nvSpPr>
          <p:cNvPr id="46" name="TextBox 45"/>
          <p:cNvSpPr txBox="1"/>
          <p:nvPr/>
        </p:nvSpPr>
        <p:spPr>
          <a:xfrm>
            <a:off x="2039112" y="5440680"/>
            <a:ext cx="2103120" cy="38404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40" b="0">
                <a:solidFill>
                  <a:srgbClr val="183246"/>
                </a:solidFill>
                <a:latin typeface="Aptos"/>
              </a:rPr>
              <a:t>Plan, tools, retry, verify</a:t>
            </a:r>
          </a:p>
        </p:txBody>
      </p:sp>
      <p:sp>
        <p:nvSpPr>
          <p:cNvPr id="47" name="TextBox 46"/>
          <p:cNvSpPr txBox="1"/>
          <p:nvPr/>
        </p:nvSpPr>
        <p:spPr>
          <a:xfrm>
            <a:off x="4306824" y="5440680"/>
            <a:ext cx="1499616"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20" b="1">
                <a:solidFill>
                  <a:srgbClr val="007B78"/>
                </a:solidFill>
                <a:latin typeface="Aptos"/>
              </a:rPr>
              <a:t>Retrieval-only</a:t>
            </a:r>
          </a:p>
        </p:txBody>
      </p:sp>
      <p:sp>
        <p:nvSpPr>
          <p:cNvPr id="48" name="TextBox 47"/>
          <p:cNvSpPr txBox="1"/>
          <p:nvPr/>
        </p:nvSpPr>
        <p:spPr>
          <a:xfrm>
            <a:off x="5843016" y="5440680"/>
            <a:ext cx="2103120" cy="38404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40" b="0">
                <a:solidFill>
                  <a:srgbClr val="183246"/>
                </a:solidFill>
                <a:latin typeface="Aptos"/>
              </a:rPr>
              <a:t>Evidence to an existing LLM</a:t>
            </a:r>
          </a:p>
        </p:txBody>
      </p:sp>
      <p:sp>
        <p:nvSpPr>
          <p:cNvPr id="49" name="TextBox 48"/>
          <p:cNvSpPr txBox="1"/>
          <p:nvPr/>
        </p:nvSpPr>
        <p:spPr>
          <a:xfrm>
            <a:off x="8110728" y="5440680"/>
            <a:ext cx="1499616"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20" b="1">
                <a:solidFill>
                  <a:srgbClr val="007B78"/>
                </a:solidFill>
                <a:latin typeface="Aptos"/>
              </a:rPr>
              <a:t>Batch knowledge</a:t>
            </a:r>
          </a:p>
        </p:txBody>
      </p:sp>
      <p:sp>
        <p:nvSpPr>
          <p:cNvPr id="50" name="TextBox 49"/>
          <p:cNvSpPr txBox="1"/>
          <p:nvPr/>
        </p:nvSpPr>
        <p:spPr>
          <a:xfrm>
            <a:off x="9646920" y="5440680"/>
            <a:ext cx="2103120" cy="38404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40" b="0">
                <a:solidFill>
                  <a:srgbClr val="183246"/>
                </a:solidFill>
                <a:latin typeface="Aptos"/>
              </a:rPr>
              <a:t>Summaries, extract, tag</a:t>
            </a:r>
          </a:p>
        </p:txBody>
      </p:sp>
      <p:sp>
        <p:nvSpPr>
          <p:cNvPr id="51" name="TextBox 50"/>
          <p:cNvSpPr txBox="1"/>
          <p:nvPr/>
        </p:nvSpPr>
        <p:spPr>
          <a:xfrm>
            <a:off x="502920" y="6117336"/>
            <a:ext cx="11119104" cy="22860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80" b="0">
                <a:solidFill>
                  <a:srgbClr val="536879"/>
                </a:solidFill>
                <a:latin typeface="Aptos"/>
              </a:rPr>
              <a:t>Agentic mode adds model calls, latency and budget risk. Search/retrieval-only can return evidence without ATMOS generation. Full generation requires model certification. PRD 5-8.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05</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Seven service APIs. A bounded certified workload catalog.</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Support follows model, input, candidate, policy and SLO certification—not compatibility by endpoint name alone.</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6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4</a:t>
            </a:r>
          </a:p>
        </p:txBody>
      </p:sp>
      <p:sp>
        <p:nvSpPr>
          <p:cNvPr id="11" name="Rectangle 10"/>
          <p:cNvSpPr/>
          <p:nvPr/>
        </p:nvSpPr>
        <p:spPr>
          <a:xfrm>
            <a:off x="502920" y="1901952"/>
            <a:ext cx="1883664" cy="475488"/>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76072" y="1993392"/>
            <a:ext cx="173736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API family</a:t>
            </a:r>
          </a:p>
        </p:txBody>
      </p:sp>
      <p:sp>
        <p:nvSpPr>
          <p:cNvPr id="13" name="Rectangle 12"/>
          <p:cNvSpPr/>
          <p:nvPr/>
        </p:nvSpPr>
        <p:spPr>
          <a:xfrm>
            <a:off x="2386584" y="1901952"/>
            <a:ext cx="5266944" cy="475488"/>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2459736" y="1993392"/>
            <a:ext cx="512064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Proposed surface / service contract</a:t>
            </a:r>
          </a:p>
        </p:txBody>
      </p:sp>
      <p:sp>
        <p:nvSpPr>
          <p:cNvPr id="15" name="Rectangle 14"/>
          <p:cNvSpPr/>
          <p:nvPr/>
        </p:nvSpPr>
        <p:spPr>
          <a:xfrm>
            <a:off x="502920" y="2377440"/>
            <a:ext cx="1883664" cy="475488"/>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576072" y="2468880"/>
            <a:ext cx="173736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0">
                <a:solidFill>
                  <a:srgbClr val="183246"/>
                </a:solidFill>
                <a:latin typeface="Aptos"/>
              </a:rPr>
              <a:t>OpenAI-compatible</a:t>
            </a:r>
          </a:p>
        </p:txBody>
      </p:sp>
      <p:sp>
        <p:nvSpPr>
          <p:cNvPr id="17" name="Rectangle 16"/>
          <p:cNvSpPr/>
          <p:nvPr/>
        </p:nvSpPr>
        <p:spPr>
          <a:xfrm>
            <a:off x="2386584" y="2377440"/>
            <a:ext cx="5266944" cy="475488"/>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2459736" y="2468880"/>
            <a:ext cx="512064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0">
                <a:solidFill>
                  <a:srgbClr val="183246"/>
                </a:solidFill>
                <a:latin typeface="Aptos"/>
              </a:rPr>
              <a:t>/v1/chat/completions, /responses, /models; certified params</a:t>
            </a:r>
          </a:p>
        </p:txBody>
      </p:sp>
      <p:sp>
        <p:nvSpPr>
          <p:cNvPr id="19" name="Rectangle 18"/>
          <p:cNvSpPr/>
          <p:nvPr/>
        </p:nvSpPr>
        <p:spPr>
          <a:xfrm>
            <a:off x="502920" y="2852928"/>
            <a:ext cx="1883664" cy="47548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576072" y="2944368"/>
            <a:ext cx="173736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0">
                <a:solidFill>
                  <a:srgbClr val="183246"/>
                </a:solidFill>
                <a:latin typeface="Aptos"/>
              </a:rPr>
              <a:t>Embeddings</a:t>
            </a:r>
          </a:p>
        </p:txBody>
      </p:sp>
      <p:sp>
        <p:nvSpPr>
          <p:cNvPr id="21" name="Rectangle 20"/>
          <p:cNvSpPr/>
          <p:nvPr/>
        </p:nvSpPr>
        <p:spPr>
          <a:xfrm>
            <a:off x="2386584" y="2852928"/>
            <a:ext cx="5266944" cy="47548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2459736" y="2944368"/>
            <a:ext cx="512064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0">
                <a:solidFill>
                  <a:srgbClr val="183246"/>
                </a:solidFill>
                <a:latin typeface="Aptos"/>
              </a:rPr>
              <a:t>/v1/embeddings; batch/indexing; model and input limits</a:t>
            </a:r>
          </a:p>
        </p:txBody>
      </p:sp>
      <p:sp>
        <p:nvSpPr>
          <p:cNvPr id="23" name="Rectangle 22"/>
          <p:cNvSpPr/>
          <p:nvPr/>
        </p:nvSpPr>
        <p:spPr>
          <a:xfrm>
            <a:off x="502920" y="3328416"/>
            <a:ext cx="1883664" cy="475488"/>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576072" y="3419856"/>
            <a:ext cx="173736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0">
                <a:solidFill>
                  <a:srgbClr val="183246"/>
                </a:solidFill>
                <a:latin typeface="Aptos"/>
              </a:rPr>
              <a:t>Retrieval</a:t>
            </a:r>
          </a:p>
        </p:txBody>
      </p:sp>
      <p:sp>
        <p:nvSpPr>
          <p:cNvPr id="25" name="Rectangle 24"/>
          <p:cNvSpPr/>
          <p:nvPr/>
        </p:nvSpPr>
        <p:spPr>
          <a:xfrm>
            <a:off x="2386584" y="3328416"/>
            <a:ext cx="5266944" cy="475488"/>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2459736" y="3419856"/>
            <a:ext cx="512064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0">
                <a:solidFill>
                  <a:srgbClr val="183246"/>
                </a:solidFill>
                <a:latin typeface="Aptos"/>
              </a:rPr>
              <a:t>/v1/retrieve; hybrid search, collections, filters and metadata</a:t>
            </a:r>
          </a:p>
        </p:txBody>
      </p:sp>
      <p:sp>
        <p:nvSpPr>
          <p:cNvPr id="27" name="Rectangle 26"/>
          <p:cNvSpPr/>
          <p:nvPr/>
        </p:nvSpPr>
        <p:spPr>
          <a:xfrm>
            <a:off x="502920" y="3803904"/>
            <a:ext cx="1883664" cy="47548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576072" y="3895344"/>
            <a:ext cx="173736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0">
                <a:solidFill>
                  <a:srgbClr val="183246"/>
                </a:solidFill>
                <a:latin typeface="Aptos"/>
              </a:rPr>
              <a:t>Reranking</a:t>
            </a:r>
          </a:p>
        </p:txBody>
      </p:sp>
      <p:sp>
        <p:nvSpPr>
          <p:cNvPr id="29" name="Rectangle 28"/>
          <p:cNvSpPr/>
          <p:nvPr/>
        </p:nvSpPr>
        <p:spPr>
          <a:xfrm>
            <a:off x="2386584" y="3803904"/>
            <a:ext cx="5266944" cy="47548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2459736" y="3895344"/>
            <a:ext cx="512064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0">
                <a:solidFill>
                  <a:srgbClr val="183246"/>
                </a:solidFill>
                <a:latin typeface="Aptos"/>
              </a:rPr>
              <a:t>/v1/rerank; batch; certified candidate limits</a:t>
            </a:r>
          </a:p>
        </p:txBody>
      </p:sp>
      <p:sp>
        <p:nvSpPr>
          <p:cNvPr id="31" name="Rectangle 30"/>
          <p:cNvSpPr/>
          <p:nvPr/>
        </p:nvSpPr>
        <p:spPr>
          <a:xfrm>
            <a:off x="502920" y="4279392"/>
            <a:ext cx="1883664" cy="475488"/>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76072" y="4370831"/>
            <a:ext cx="173736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0">
                <a:solidFill>
                  <a:srgbClr val="183246"/>
                </a:solidFill>
                <a:latin typeface="Aptos"/>
              </a:rPr>
              <a:t>Documents</a:t>
            </a:r>
          </a:p>
        </p:txBody>
      </p:sp>
      <p:sp>
        <p:nvSpPr>
          <p:cNvPr id="33" name="Rectangle 32"/>
          <p:cNvSpPr/>
          <p:nvPr/>
        </p:nvSpPr>
        <p:spPr>
          <a:xfrm>
            <a:off x="2386584" y="4279392"/>
            <a:ext cx="5266944" cy="475488"/>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2459736" y="4370831"/>
            <a:ext cx="512064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0">
                <a:solidFill>
                  <a:srgbClr val="183246"/>
                </a:solidFill>
                <a:latin typeface="Aptos"/>
              </a:rPr>
              <a:t>Ingest, status, delete, reindex, version and extraction results</a:t>
            </a:r>
          </a:p>
        </p:txBody>
      </p:sp>
      <p:sp>
        <p:nvSpPr>
          <p:cNvPr id="35" name="Rectangle 34"/>
          <p:cNvSpPr/>
          <p:nvPr/>
        </p:nvSpPr>
        <p:spPr>
          <a:xfrm>
            <a:off x="502920" y="4754880"/>
            <a:ext cx="1883664" cy="47548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576072" y="4846320"/>
            <a:ext cx="173736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0">
                <a:solidFill>
                  <a:srgbClr val="183246"/>
                </a:solidFill>
                <a:latin typeface="Aptos"/>
              </a:rPr>
              <a:t>Agents</a:t>
            </a:r>
          </a:p>
        </p:txBody>
      </p:sp>
      <p:sp>
        <p:nvSpPr>
          <p:cNvPr id="37" name="Rectangle 36"/>
          <p:cNvSpPr/>
          <p:nvPr/>
        </p:nvSpPr>
        <p:spPr>
          <a:xfrm>
            <a:off x="2386584" y="4754880"/>
            <a:ext cx="5266944" cy="47548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2459736" y="4846320"/>
            <a:ext cx="512064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0">
                <a:solidFill>
                  <a:srgbClr val="183246"/>
                </a:solidFill>
                <a:latin typeface="Aptos"/>
              </a:rPr>
              <a:t>Sessions/runs, approved tools, citations and policy output</a:t>
            </a:r>
          </a:p>
        </p:txBody>
      </p:sp>
      <p:sp>
        <p:nvSpPr>
          <p:cNvPr id="39" name="Rectangle 38"/>
          <p:cNvSpPr/>
          <p:nvPr/>
        </p:nvSpPr>
        <p:spPr>
          <a:xfrm>
            <a:off x="502920" y="5230368"/>
            <a:ext cx="1883664" cy="475488"/>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576072" y="5321808"/>
            <a:ext cx="173736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0">
                <a:solidFill>
                  <a:srgbClr val="183246"/>
                </a:solidFill>
                <a:latin typeface="Aptos"/>
              </a:rPr>
              <a:t>Administration</a:t>
            </a:r>
          </a:p>
        </p:txBody>
      </p:sp>
      <p:sp>
        <p:nvSpPr>
          <p:cNvPr id="41" name="Rectangle 40"/>
          <p:cNvSpPr/>
          <p:nvPr/>
        </p:nvSpPr>
        <p:spPr>
          <a:xfrm>
            <a:off x="2386584" y="5230368"/>
            <a:ext cx="5266944" cy="475488"/>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2459736" y="5321808"/>
            <a:ext cx="5120640" cy="33832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50" b="0">
                <a:solidFill>
                  <a:srgbClr val="183246"/>
                </a:solidFill>
                <a:latin typeface="Aptos"/>
              </a:rPr>
              <a:t>Projects/users/keys/quotas, models, updates and support</a:t>
            </a:r>
          </a:p>
        </p:txBody>
      </p:sp>
      <p:sp>
        <p:nvSpPr>
          <p:cNvPr id="43" name="TextBox 42"/>
          <p:cNvSpPr txBox="1"/>
          <p:nvPr/>
        </p:nvSpPr>
        <p:spPr>
          <a:xfrm>
            <a:off x="8055864" y="1920240"/>
            <a:ext cx="3630168"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CERTIFY FIRST / LAUNCH CANDIDATES</a:t>
            </a:r>
          </a:p>
        </p:txBody>
      </p:sp>
      <p:sp>
        <p:nvSpPr>
          <p:cNvPr id="44" name="TextBox 43"/>
          <p:cNvSpPr txBox="1"/>
          <p:nvPr/>
        </p:nvSpPr>
        <p:spPr>
          <a:xfrm>
            <a:off x="8055864" y="2340864"/>
            <a:ext cx="3630168" cy="9418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183246"/>
                </a:solidFill>
                <a:latin typeface="Aptos"/>
              </a:rPr>
              <a:t>Embeddings, hybrid retrieval, reranking, cited Knowledge Agent and qualified document services.</a:t>
            </a:r>
          </a:p>
        </p:txBody>
      </p:sp>
      <p:sp>
        <p:nvSpPr>
          <p:cNvPr id="45" name="TextBox 44"/>
          <p:cNvSpPr txBox="1"/>
          <p:nvPr/>
        </p:nvSpPr>
        <p:spPr>
          <a:xfrm>
            <a:off x="8055864" y="3575304"/>
            <a:ext cx="3630168"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AC6528"/>
                </a:solidFill>
                <a:latin typeface="Aptos"/>
              </a:rPr>
              <a:t>MODEL-SPECIFIC PILOTS / RESEARCH</a:t>
            </a:r>
          </a:p>
        </p:txBody>
      </p:sp>
      <p:sp>
        <p:nvSpPr>
          <p:cNvPr id="46" name="TextBox 45"/>
          <p:cNvSpPr txBox="1"/>
          <p:nvPr/>
        </p:nvSpPr>
        <p:spPr>
          <a:xfrm>
            <a:off x="8055864" y="3986784"/>
            <a:ext cx="3630168" cy="131673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183246"/>
                </a:solidFill>
                <a:latin typeface="Aptos"/>
              </a:rPr>
              <a:t>7B-32B private LLM: quality + TTFT/TPOT/context proof. Recommendation features: pilot. MoE prefill/cold experts: research/pilot.</a:t>
            </a:r>
          </a:p>
        </p:txBody>
      </p:sp>
      <p:sp>
        <p:nvSpPr>
          <p:cNvPr id="47" name="TextBox 46"/>
          <p:cNvSpPr txBox="1"/>
          <p:nvPr/>
        </p:nvSpPr>
        <p:spPr>
          <a:xfrm>
            <a:off x="502920" y="5797296"/>
            <a:ext cx="11055096" cy="3017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1">
                <a:solidFill>
                  <a:srgbClr val="D51F3C"/>
                </a:solidFill>
                <a:latin typeface="Aptos"/>
              </a:rPr>
              <a:t>Not launch targets: long-context dense decode, training, graphics or safety-critical control.</a:t>
            </a:r>
          </a:p>
        </p:txBody>
      </p:sp>
      <p:sp>
        <p:nvSpPr>
          <p:cNvPr id="48" name="TextBox 47"/>
          <p:cNvSpPr txBox="1"/>
          <p:nvPr/>
        </p:nvSpPr>
        <p:spPr>
          <a:xfrm>
            <a:off x="502920" y="6117336"/>
            <a:ext cx="11119104" cy="22860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80" b="0">
                <a:solidFill>
                  <a:srgbClr val="536879"/>
                </a:solidFill>
                <a:latin typeface="Aptos"/>
              </a:rPr>
              <a:t>GA candidate is a target, not a released certification. Healthcare/industrial packs provide knowledge assistance, not diagnostic or control claims. PRD 4 / 16.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07</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Governed by default. Configurable within certified limits.</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Tenant/source ACLs must filter retrieval before generation; post-generation masking is not the security boundary.</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6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7</a:t>
            </a:r>
          </a:p>
        </p:txBody>
      </p:sp>
      <p:sp>
        <p:nvSpPr>
          <p:cNvPr id="11" name="Rectangle 10"/>
          <p:cNvSpPr/>
          <p:nvPr/>
        </p:nvSpPr>
        <p:spPr>
          <a:xfrm>
            <a:off x="502920" y="1892807"/>
            <a:ext cx="2569464" cy="822960"/>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94360" y="1943100"/>
            <a:ext cx="2386584" cy="73152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50" b="1">
                <a:solidFill>
                  <a:srgbClr val="183246"/>
                </a:solidFill>
                <a:latin typeface="Aptos"/>
              </a:rPr>
              <a:t>Identity + tenant
OIDC/SAML, RBAC</a:t>
            </a:r>
          </a:p>
        </p:txBody>
      </p:sp>
      <p:sp>
        <p:nvSpPr>
          <p:cNvPr id="13" name="Right Arrow 12"/>
          <p:cNvSpPr/>
          <p:nvPr/>
        </p:nvSpPr>
        <p:spPr>
          <a:xfrm>
            <a:off x="3113532" y="2212848"/>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3364991" y="1892807"/>
            <a:ext cx="2569464" cy="822960"/>
          </a:xfrm>
          <a:prstGeom prst="rect">
            <a:avLst/>
          </a:prstGeom>
          <a:solidFill>
            <a:srgbClr val="F3F7F9"/>
          </a:solidFill>
          <a:ln w="12700">
            <a:solidFill>
              <a:srgbClr val="D51F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3456432" y="1943100"/>
            <a:ext cx="2386584" cy="73152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50" b="1">
                <a:solidFill>
                  <a:srgbClr val="183246"/>
                </a:solidFill>
                <a:latin typeface="Aptos"/>
              </a:rPr>
              <a:t>ACL + freshness
approved evidence</a:t>
            </a:r>
          </a:p>
        </p:txBody>
      </p:sp>
      <p:sp>
        <p:nvSpPr>
          <p:cNvPr id="16" name="Right Arrow 15"/>
          <p:cNvSpPr/>
          <p:nvPr/>
        </p:nvSpPr>
        <p:spPr>
          <a:xfrm>
            <a:off x="5975604" y="2212848"/>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6227064" y="1892807"/>
            <a:ext cx="2569464" cy="822960"/>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318503" y="1943100"/>
            <a:ext cx="2386584" cy="73152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50" b="1">
                <a:solidFill>
                  <a:srgbClr val="183246"/>
                </a:solidFill>
                <a:latin typeface="Aptos"/>
              </a:rPr>
              <a:t>Tools + budget policy
scoped credentials</a:t>
            </a:r>
          </a:p>
        </p:txBody>
      </p:sp>
      <p:sp>
        <p:nvSpPr>
          <p:cNvPr id="19" name="Right Arrow 18"/>
          <p:cNvSpPr/>
          <p:nvPr/>
        </p:nvSpPr>
        <p:spPr>
          <a:xfrm>
            <a:off x="8837676" y="2212848"/>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Rectangle 19"/>
          <p:cNvSpPr/>
          <p:nvPr/>
        </p:nvSpPr>
        <p:spPr>
          <a:xfrm>
            <a:off x="9089136" y="1892807"/>
            <a:ext cx="2578608" cy="822960"/>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9180576" y="1943100"/>
            <a:ext cx="2395727" cy="731520"/>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50" b="1">
                <a:solidFill>
                  <a:srgbClr val="183246"/>
                </a:solidFill>
                <a:latin typeface="Aptos"/>
              </a:rPr>
              <a:t>Output + immutable audit
citations, model and decisions</a:t>
            </a:r>
          </a:p>
        </p:txBody>
      </p:sp>
      <p:sp>
        <p:nvSpPr>
          <p:cNvPr id="22" name="TextBox 21"/>
          <p:cNvSpPr txBox="1"/>
          <p:nvPr/>
        </p:nvSpPr>
        <p:spPr>
          <a:xfrm>
            <a:off x="502920" y="3099816"/>
            <a:ext cx="3621024"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CUSTOMER CONFIGURATION</a:t>
            </a:r>
          </a:p>
        </p:txBody>
      </p:sp>
      <p:sp>
        <p:nvSpPr>
          <p:cNvPr id="23" name="TextBox 22"/>
          <p:cNvSpPr txBox="1"/>
          <p:nvPr/>
        </p:nvSpPr>
        <p:spPr>
          <a:xfrm>
            <a:off x="502920" y="3529584"/>
            <a:ext cx="3621024" cy="152704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183246"/>
                </a:solidFill>
                <a:latin typeface="Aptos"/>
              </a:rPr>
              <a:t>Collections, source schedules and retention. Prompts/citations and certified retrieval settings. Approved tools, models, modes, quotas and golden tests.</a:t>
            </a:r>
          </a:p>
        </p:txBody>
      </p:sp>
      <p:sp>
        <p:nvSpPr>
          <p:cNvPr id="24" name="TextBox 23"/>
          <p:cNvSpPr txBox="1"/>
          <p:nvPr/>
        </p:nvSpPr>
        <p:spPr>
          <a:xfrm>
            <a:off x="4306824" y="3099816"/>
            <a:ext cx="3621024"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2B6791"/>
                </a:solidFill>
                <a:latin typeface="Aptos"/>
              </a:rPr>
              <a:t>SUPPORTED EXTENSIONS</a:t>
            </a:r>
          </a:p>
        </p:txBody>
      </p:sp>
      <p:sp>
        <p:nvSpPr>
          <p:cNvPr id="25" name="TextBox 24"/>
          <p:cNvSpPr txBox="1"/>
          <p:nvPr/>
        </p:nvSpPr>
        <p:spPr>
          <a:xfrm>
            <a:off x="4306824" y="3529584"/>
            <a:ext cx="3621024" cy="152704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183246"/>
                </a:solidFill>
                <a:latin typeface="Aptos"/>
              </a:rPr>
              <a:t>REST/OpenAI + Python SDK, webhooks and approved MCP. Signed restricted connectors and supported workflows. BYO models through Sandisk certification.</a:t>
            </a:r>
          </a:p>
        </p:txBody>
      </p:sp>
      <p:sp>
        <p:nvSpPr>
          <p:cNvPr id="26" name="TextBox 25"/>
          <p:cNvSpPr txBox="1"/>
          <p:nvPr/>
        </p:nvSpPr>
        <p:spPr>
          <a:xfrm>
            <a:off x="8110728" y="3099816"/>
            <a:ext cx="3621024"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D51F3C"/>
                </a:solidFill>
                <a:latin typeface="Aptos"/>
              </a:rPr>
              <a:t>LOCKED PRODUCTION</a:t>
            </a:r>
          </a:p>
        </p:txBody>
      </p:sp>
      <p:sp>
        <p:nvSpPr>
          <p:cNvPr id="27" name="TextBox 26"/>
          <p:cNvSpPr txBox="1"/>
          <p:nvPr/>
        </p:nvSpPr>
        <p:spPr>
          <a:xfrm>
            <a:off x="8110728" y="3529584"/>
            <a:ext cx="3621024" cy="152704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183246"/>
                </a:solidFill>
                <a:latin typeface="Aptos"/>
              </a:rPr>
              <a:t>Firmware, driver, kernels and switch policy. Unsigned binaries, hidden tokenizer/precision changes, unbounded tools and cross-tenant P2P are not self-service.</a:t>
            </a:r>
          </a:p>
        </p:txBody>
      </p:sp>
      <p:sp>
        <p:nvSpPr>
          <p:cNvPr id="28" name="Rectangle 27"/>
          <p:cNvSpPr/>
          <p:nvPr/>
        </p:nvSpPr>
        <p:spPr>
          <a:xfrm>
            <a:off x="502920" y="5340096"/>
            <a:ext cx="11183112" cy="658368"/>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640080" y="5468112"/>
            <a:ext cx="10890504" cy="42976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50" b="0">
                <a:solidFill>
                  <a:srgbClr val="183246"/>
                </a:solidFill>
                <a:latin typeface="Aptos"/>
              </a:rPr>
              <a:t>BASE TOOLS: read-only search/fetch/lookup; sandboxed calculator; draft-only messaging. Actions need approval; code execution is not in base.</a:t>
            </a:r>
          </a:p>
        </p:txBody>
      </p:sp>
      <p:sp>
        <p:nvSpPr>
          <p:cNvPr id="30" name="TextBox 29"/>
          <p:cNvSpPr txBox="1"/>
          <p:nvPr/>
        </p:nvSpPr>
        <p:spPr>
          <a:xfrm>
            <a:off x="502920" y="6117336"/>
            <a:ext cx="11119104" cy="22860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80" b="0">
                <a:solidFill>
                  <a:srgbClr val="536879"/>
                </a:solidFill>
                <a:latin typeface="Aptos"/>
              </a:rPr>
              <a:t>Trust: signed firmware/images/ModelPacks, SBOM/CVE, TPM/secure boot, vault, TLS/mTLS, retention/deletion and audit. No unearned compliance certification. PRD 6-8 / 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08</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Model and platform upgrades are controlled product releases</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ModelPack binds weights, tokenizer, preprocessing, precision, compiler output, runtime, golden tests, APIs and SLO.</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6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9</a:t>
            </a:r>
          </a:p>
        </p:txBody>
      </p:sp>
      <p:sp>
        <p:nvSpPr>
          <p:cNvPr id="11" name="TextBox 10"/>
          <p:cNvSpPr txBox="1"/>
          <p:nvPr/>
        </p:nvSpPr>
        <p:spPr>
          <a:xfrm>
            <a:off x="502920" y="1828800"/>
            <a:ext cx="109728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MODELPACK STATE MACHINE</a:t>
            </a:r>
          </a:p>
        </p:txBody>
      </p:sp>
      <p:sp>
        <p:nvSpPr>
          <p:cNvPr id="12" name="Rectangle 11"/>
          <p:cNvSpPr/>
          <p:nvPr/>
        </p:nvSpPr>
        <p:spPr>
          <a:xfrm>
            <a:off x="502920" y="2194560"/>
            <a:ext cx="1554480" cy="804672"/>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594360" y="2244852"/>
            <a:ext cx="1371600" cy="71323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00" b="1">
                <a:solidFill>
                  <a:srgbClr val="183246"/>
                </a:solidFill>
                <a:latin typeface="Aptos"/>
              </a:rPr>
              <a:t>Available
catalog</a:t>
            </a:r>
          </a:p>
        </p:txBody>
      </p:sp>
      <p:sp>
        <p:nvSpPr>
          <p:cNvPr id="14" name="Right Arrow 13"/>
          <p:cNvSpPr/>
          <p:nvPr/>
        </p:nvSpPr>
        <p:spPr>
          <a:xfrm>
            <a:off x="2098548" y="2505456"/>
            <a:ext cx="283464"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Rectangle 14"/>
          <p:cNvSpPr/>
          <p:nvPr/>
        </p:nvSpPr>
        <p:spPr>
          <a:xfrm>
            <a:off x="2423160" y="2194560"/>
            <a:ext cx="1554480" cy="804672"/>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14600" y="2244852"/>
            <a:ext cx="1371600" cy="71323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00" b="1">
                <a:solidFill>
                  <a:srgbClr val="183246"/>
                </a:solidFill>
                <a:latin typeface="Aptos"/>
              </a:rPr>
              <a:t>Staged
sign + reserve</a:t>
            </a:r>
          </a:p>
        </p:txBody>
      </p:sp>
      <p:sp>
        <p:nvSpPr>
          <p:cNvPr id="17" name="Right Arrow 16"/>
          <p:cNvSpPr/>
          <p:nvPr/>
        </p:nvSpPr>
        <p:spPr>
          <a:xfrm>
            <a:off x="4018788" y="2505456"/>
            <a:ext cx="283464"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343400" y="2194560"/>
            <a:ext cx="1554480" cy="804672"/>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4434840" y="2244852"/>
            <a:ext cx="1371600" cy="71323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00" b="1">
                <a:solidFill>
                  <a:srgbClr val="183246"/>
                </a:solidFill>
                <a:latin typeface="Aptos"/>
              </a:rPr>
              <a:t>Validated
quality + hardware</a:t>
            </a:r>
          </a:p>
        </p:txBody>
      </p:sp>
      <p:sp>
        <p:nvSpPr>
          <p:cNvPr id="20" name="Right Arrow 19"/>
          <p:cNvSpPr/>
          <p:nvPr/>
        </p:nvSpPr>
        <p:spPr>
          <a:xfrm>
            <a:off x="5939028" y="2505456"/>
            <a:ext cx="283464"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Rectangle 20"/>
          <p:cNvSpPr/>
          <p:nvPr/>
        </p:nvSpPr>
        <p:spPr>
          <a:xfrm>
            <a:off x="6263640" y="2194560"/>
            <a:ext cx="1554480" cy="804672"/>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6355079" y="2244852"/>
            <a:ext cx="1371600" cy="71323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00" b="1">
                <a:solidFill>
                  <a:srgbClr val="183246"/>
                </a:solidFill>
                <a:latin typeface="Aptos"/>
              </a:rPr>
              <a:t>Canary
shadow / small share</a:t>
            </a:r>
          </a:p>
        </p:txBody>
      </p:sp>
      <p:sp>
        <p:nvSpPr>
          <p:cNvPr id="23" name="Right Arrow 22"/>
          <p:cNvSpPr/>
          <p:nvPr/>
        </p:nvSpPr>
        <p:spPr>
          <a:xfrm>
            <a:off x="7859267" y="2505456"/>
            <a:ext cx="283464"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Rectangle 23"/>
          <p:cNvSpPr/>
          <p:nvPr/>
        </p:nvSpPr>
        <p:spPr>
          <a:xfrm>
            <a:off x="8183879" y="2194560"/>
            <a:ext cx="1554480" cy="804672"/>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8275319" y="2244852"/>
            <a:ext cx="1371600" cy="71323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00" b="1">
                <a:solidFill>
                  <a:srgbClr val="183246"/>
                </a:solidFill>
                <a:latin typeface="Aptos"/>
              </a:rPr>
              <a:t>Production
default version</a:t>
            </a:r>
          </a:p>
        </p:txBody>
      </p:sp>
      <p:sp>
        <p:nvSpPr>
          <p:cNvPr id="26" name="Right Arrow 25"/>
          <p:cNvSpPr/>
          <p:nvPr/>
        </p:nvSpPr>
        <p:spPr>
          <a:xfrm>
            <a:off x="9779507" y="2505456"/>
            <a:ext cx="283464"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Rectangle 26"/>
          <p:cNvSpPr/>
          <p:nvPr/>
        </p:nvSpPr>
        <p:spPr>
          <a:xfrm>
            <a:off x="10104119" y="2194560"/>
            <a:ext cx="1554480" cy="804672"/>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195559" y="2244852"/>
            <a:ext cx="1371600" cy="71323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00" b="1">
                <a:solidFill>
                  <a:srgbClr val="183246"/>
                </a:solidFill>
                <a:latin typeface="Aptos"/>
              </a:rPr>
              <a:t>Draining
no new sessions</a:t>
            </a:r>
          </a:p>
        </p:txBody>
      </p:sp>
      <p:sp>
        <p:nvSpPr>
          <p:cNvPr id="29" name="TextBox 28"/>
          <p:cNvSpPr txBox="1"/>
          <p:nvPr/>
        </p:nvSpPr>
        <p:spPr>
          <a:xfrm>
            <a:off x="502920" y="3218688"/>
            <a:ext cx="11091672" cy="34747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10" b="1">
                <a:solidFill>
                  <a:srgbClr val="D51F3C"/>
                </a:solidFill>
                <a:latin typeface="Aptos"/>
              </a:rPr>
              <a:t>Failed canary -&gt; Rolled back. Draining -&gt; Retired. Active sessions remain generation-pinned; preserve a rollback generation.</a:t>
            </a:r>
          </a:p>
        </p:txBody>
      </p:sp>
      <p:sp>
        <p:nvSpPr>
          <p:cNvPr id="30" name="TextBox 29"/>
          <p:cNvSpPr txBox="1"/>
          <p:nvPr/>
        </p:nvSpPr>
        <p:spPr>
          <a:xfrm>
            <a:off x="502920" y="3703320"/>
            <a:ext cx="52578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GENERATOR / RERANKER UPDATE</a:t>
            </a:r>
          </a:p>
        </p:txBody>
      </p:sp>
      <p:sp>
        <p:nvSpPr>
          <p:cNvPr id="31" name="TextBox 30"/>
          <p:cNvSpPr txBox="1"/>
          <p:nvPr/>
        </p:nvSpPr>
        <p:spPr>
          <a:xfrm>
            <a:off x="502920" y="4105656"/>
            <a:ext cx="5285232" cy="72237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60" b="0">
                <a:solidFill>
                  <a:srgbClr val="183246"/>
                </a:solidFill>
                <a:latin typeface="Aptos"/>
              </a:rPr>
              <a:t>Stage -&gt; compatibility/golden tests -&gt; shadow/canary -&gt; compare quality/p99/errors -&gt; promote gradually; retain rollback.</a:t>
            </a:r>
          </a:p>
        </p:txBody>
      </p:sp>
      <p:sp>
        <p:nvSpPr>
          <p:cNvPr id="32" name="TextBox 31"/>
          <p:cNvSpPr txBox="1"/>
          <p:nvPr/>
        </p:nvSpPr>
        <p:spPr>
          <a:xfrm>
            <a:off x="6245352" y="3703320"/>
            <a:ext cx="544068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AC6528"/>
                </a:solidFill>
                <a:latin typeface="Aptos"/>
              </a:rPr>
              <a:t>EMBEDDING OR INDEX-COMPATIBILITY CHANGE</a:t>
            </a:r>
          </a:p>
        </p:txBody>
      </p:sp>
      <p:sp>
        <p:nvSpPr>
          <p:cNvPr id="33" name="TextBox 32"/>
          <p:cNvSpPr txBox="1"/>
          <p:nvPr/>
        </p:nvSpPr>
        <p:spPr>
          <a:xfrm>
            <a:off x="6245352" y="4105656"/>
            <a:ext cx="5440680" cy="72237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60" b="0">
                <a:solidFill>
                  <a:srgbClr val="183246"/>
                </a:solidFill>
                <a:latin typeface="Aptos"/>
              </a:rPr>
              <a:t>Build/re-embed a shadow collection -&gt; retrieval evaluation / optional dual-read -&gt; atomic generation switch -&gt; hold old index.</a:t>
            </a:r>
          </a:p>
        </p:txBody>
      </p:sp>
      <p:sp>
        <p:nvSpPr>
          <p:cNvPr id="34" name="TextBox 33"/>
          <p:cNvSpPr txBox="1"/>
          <p:nvPr/>
        </p:nvSpPr>
        <p:spPr>
          <a:xfrm>
            <a:off x="502920" y="5038344"/>
            <a:ext cx="1097280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PLATFORM UPDATE / ADVANCE ONE FAILURE DOMAIN AT A TIME</a:t>
            </a:r>
          </a:p>
        </p:txBody>
      </p:sp>
      <p:sp>
        <p:nvSpPr>
          <p:cNvPr id="35" name="Rectangle 34"/>
          <p:cNvSpPr/>
          <p:nvPr/>
        </p:nvSpPr>
        <p:spPr>
          <a:xfrm>
            <a:off x="502920" y="5385816"/>
            <a:ext cx="2569464" cy="56692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594360" y="5436107"/>
            <a:ext cx="2386584" cy="4754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00" b="1">
                <a:solidFill>
                  <a:srgbClr val="183246"/>
                </a:solidFill>
                <a:latin typeface="Aptos"/>
              </a:rPr>
              <a:t>Preflight + backup
health, space, recovery</a:t>
            </a:r>
          </a:p>
        </p:txBody>
      </p:sp>
      <p:sp>
        <p:nvSpPr>
          <p:cNvPr id="37" name="Right Arrow 36"/>
          <p:cNvSpPr/>
          <p:nvPr/>
        </p:nvSpPr>
        <p:spPr>
          <a:xfrm>
            <a:off x="3113532" y="5577840"/>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Rectangle 37"/>
          <p:cNvSpPr/>
          <p:nvPr/>
        </p:nvSpPr>
        <p:spPr>
          <a:xfrm>
            <a:off x="3364991" y="5385816"/>
            <a:ext cx="2569464" cy="56692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TextBox 38"/>
          <p:cNvSpPr txBox="1"/>
          <p:nvPr/>
        </p:nvSpPr>
        <p:spPr>
          <a:xfrm>
            <a:off x="3456432" y="5436107"/>
            <a:ext cx="2386584" cy="4754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00" b="1">
                <a:solidFill>
                  <a:srgbClr val="183246"/>
                </a:solidFill>
                <a:latin typeface="Aptos"/>
              </a:rPr>
              <a:t>Drain + signed bundle
boot candidate slot</a:t>
            </a:r>
          </a:p>
        </p:txBody>
      </p:sp>
      <p:sp>
        <p:nvSpPr>
          <p:cNvPr id="40" name="Right Arrow 39"/>
          <p:cNvSpPr/>
          <p:nvPr/>
        </p:nvSpPr>
        <p:spPr>
          <a:xfrm>
            <a:off x="5975604" y="5577840"/>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Rectangle 40"/>
          <p:cNvSpPr/>
          <p:nvPr/>
        </p:nvSpPr>
        <p:spPr>
          <a:xfrm>
            <a:off x="6227064" y="5385816"/>
            <a:ext cx="2569464" cy="56692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318503" y="5436107"/>
            <a:ext cx="2386584" cy="4754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00" b="1">
                <a:solidFill>
                  <a:srgbClr val="183246"/>
                </a:solidFill>
                <a:latin typeface="Aptos"/>
              </a:rPr>
              <a:t>Smoke + canary
hardware/P2P/model/SLO</a:t>
            </a:r>
          </a:p>
        </p:txBody>
      </p:sp>
      <p:sp>
        <p:nvSpPr>
          <p:cNvPr id="43" name="Right Arrow 42"/>
          <p:cNvSpPr/>
          <p:nvPr/>
        </p:nvSpPr>
        <p:spPr>
          <a:xfrm>
            <a:off x="8837676" y="5577840"/>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Rectangle 43"/>
          <p:cNvSpPr/>
          <p:nvPr/>
        </p:nvSpPr>
        <p:spPr>
          <a:xfrm>
            <a:off x="9089136" y="5385816"/>
            <a:ext cx="2578608" cy="56692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5" name="TextBox 44"/>
          <p:cNvSpPr txBox="1"/>
          <p:nvPr/>
        </p:nvSpPr>
        <p:spPr>
          <a:xfrm>
            <a:off x="9180576" y="5436107"/>
            <a:ext cx="2395727" cy="4754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00" b="1">
                <a:solidFill>
                  <a:srgbClr val="183246"/>
                </a:solidFill>
                <a:latin typeface="Aptos"/>
              </a:rPr>
              <a:t>Promote or roll back
then next domain</a:t>
            </a:r>
          </a:p>
        </p:txBody>
      </p:sp>
      <p:sp>
        <p:nvSpPr>
          <p:cNvPr id="46" name="TextBox 45"/>
          <p:cNvSpPr txBox="1"/>
          <p:nvPr/>
        </p:nvSpPr>
        <p:spPr>
          <a:xfrm>
            <a:off x="502920" y="6117336"/>
            <a:ext cx="11119104" cy="22860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80" b="0">
                <a:solidFill>
                  <a:srgbClr val="536879"/>
                </a:solidFill>
                <a:latin typeface="Aptos"/>
              </a:rPr>
              <a:t>Offline: signed bundles, customer windows, no cloud required. Breaking parser/index/model/policy changes need migration + rollback. PRD 9-10.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09</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Day-1 setup. Day-2 operation. One support route.</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First-service setup within one business day is a target; corpus ingestion time depends on data volume, connectors and policy.</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6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11</a:t>
            </a:r>
          </a:p>
        </p:txBody>
      </p:sp>
      <p:sp>
        <p:nvSpPr>
          <p:cNvPr id="11" name="Rectangle 10"/>
          <p:cNvSpPr/>
          <p:nvPr/>
        </p:nvSpPr>
        <p:spPr>
          <a:xfrm>
            <a:off x="502920" y="1874519"/>
            <a:ext cx="1618488" cy="47548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94360" y="1924812"/>
            <a:ext cx="1435608" cy="38404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250" b="1">
                <a:solidFill>
                  <a:srgbClr val="183246"/>
                </a:solidFill>
                <a:latin typeface="Aptos"/>
              </a:rPr>
              <a:t>Site readiness</a:t>
            </a:r>
          </a:p>
        </p:txBody>
      </p:sp>
      <p:sp>
        <p:nvSpPr>
          <p:cNvPr id="13" name="Right Arrow 12"/>
          <p:cNvSpPr/>
          <p:nvPr/>
        </p:nvSpPr>
        <p:spPr>
          <a:xfrm>
            <a:off x="2162556" y="2020823"/>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2414015" y="1874519"/>
            <a:ext cx="1618488" cy="47548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2505456" y="1924812"/>
            <a:ext cx="1435608" cy="38404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250" b="1">
                <a:solidFill>
                  <a:srgbClr val="183246"/>
                </a:solidFill>
                <a:latin typeface="Aptos"/>
              </a:rPr>
              <a:t>Secure enrollment</a:t>
            </a:r>
          </a:p>
        </p:txBody>
      </p:sp>
      <p:sp>
        <p:nvSpPr>
          <p:cNvPr id="16" name="Right Arrow 15"/>
          <p:cNvSpPr/>
          <p:nvPr/>
        </p:nvSpPr>
        <p:spPr>
          <a:xfrm>
            <a:off x="4073652" y="2020823"/>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4325112" y="1874519"/>
            <a:ext cx="1618488" cy="47548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4416551" y="1924812"/>
            <a:ext cx="1435608" cy="38404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250" b="1">
                <a:solidFill>
                  <a:srgbClr val="183246"/>
                </a:solidFill>
                <a:latin typeface="Aptos"/>
              </a:rPr>
              <a:t>Identity + sources</a:t>
            </a:r>
          </a:p>
        </p:txBody>
      </p:sp>
      <p:sp>
        <p:nvSpPr>
          <p:cNvPr id="19" name="Right Arrow 18"/>
          <p:cNvSpPr/>
          <p:nvPr/>
        </p:nvSpPr>
        <p:spPr>
          <a:xfrm>
            <a:off x="5984748" y="2020823"/>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Rectangle 19"/>
          <p:cNvSpPr/>
          <p:nvPr/>
        </p:nvSpPr>
        <p:spPr>
          <a:xfrm>
            <a:off x="6236207" y="1874519"/>
            <a:ext cx="1618488" cy="47548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6327647" y="1924812"/>
            <a:ext cx="1435608" cy="38404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250" b="1">
                <a:solidFill>
                  <a:srgbClr val="183246"/>
                </a:solidFill>
                <a:latin typeface="Aptos"/>
              </a:rPr>
              <a:t>Certified profile</a:t>
            </a:r>
          </a:p>
        </p:txBody>
      </p:sp>
      <p:sp>
        <p:nvSpPr>
          <p:cNvPr id="22" name="Right Arrow 21"/>
          <p:cNvSpPr/>
          <p:nvPr/>
        </p:nvSpPr>
        <p:spPr>
          <a:xfrm>
            <a:off x="7895844" y="2020823"/>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Rectangle 22"/>
          <p:cNvSpPr/>
          <p:nvPr/>
        </p:nvSpPr>
        <p:spPr>
          <a:xfrm>
            <a:off x="8147304" y="1874519"/>
            <a:ext cx="1618488" cy="47548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8238744" y="1924812"/>
            <a:ext cx="1435608" cy="38404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250" b="1">
                <a:solidFill>
                  <a:srgbClr val="183246"/>
                </a:solidFill>
                <a:latin typeface="Aptos"/>
              </a:rPr>
              <a:t>Ingest + evaluate</a:t>
            </a:r>
          </a:p>
        </p:txBody>
      </p:sp>
      <p:sp>
        <p:nvSpPr>
          <p:cNvPr id="25" name="Right Arrow 24"/>
          <p:cNvSpPr/>
          <p:nvPr/>
        </p:nvSpPr>
        <p:spPr>
          <a:xfrm>
            <a:off x="9806940" y="2020823"/>
            <a:ext cx="21031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Rectangle 25"/>
          <p:cNvSpPr/>
          <p:nvPr/>
        </p:nvSpPr>
        <p:spPr>
          <a:xfrm>
            <a:off x="10058400" y="1874519"/>
            <a:ext cx="1618488" cy="47548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10149840" y="1924812"/>
            <a:ext cx="1435608" cy="38404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250" b="1">
                <a:solidFill>
                  <a:srgbClr val="183246"/>
                </a:solidFill>
                <a:latin typeface="Aptos"/>
              </a:rPr>
              <a:t>Users + operate</a:t>
            </a:r>
          </a:p>
        </p:txBody>
      </p:sp>
      <p:sp>
        <p:nvSpPr>
          <p:cNvPr id="28" name="TextBox 27"/>
          <p:cNvSpPr txBox="1"/>
          <p:nvPr/>
        </p:nvSpPr>
        <p:spPr>
          <a:xfrm>
            <a:off x="502920" y="2679192"/>
            <a:ext cx="5559552"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CONTROL CENTER / CORRELATED FLEET AND SERVICE VIEWS</a:t>
            </a:r>
          </a:p>
        </p:txBody>
      </p:sp>
      <p:sp>
        <p:nvSpPr>
          <p:cNvPr id="29" name="Rectangle 28"/>
          <p:cNvSpPr/>
          <p:nvPr/>
        </p:nvSpPr>
        <p:spPr>
          <a:xfrm>
            <a:off x="502920" y="3054096"/>
            <a:ext cx="2706624" cy="53949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585216" y="3104388"/>
            <a:ext cx="2532888" cy="2194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1">
                <a:solidFill>
                  <a:srgbClr val="007B78"/>
                </a:solidFill>
                <a:latin typeface="Aptos"/>
              </a:rPr>
              <a:t>Fleet</a:t>
            </a:r>
          </a:p>
        </p:txBody>
      </p:sp>
      <p:sp>
        <p:nvSpPr>
          <p:cNvPr id="31" name="TextBox 30"/>
          <p:cNvSpPr txBox="1"/>
          <p:nvPr/>
        </p:nvSpPr>
        <p:spPr>
          <a:xfrm>
            <a:off x="585216" y="3355848"/>
            <a:ext cx="2532888" cy="20116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90" b="0">
                <a:solidFill>
                  <a:srgbClr val="183246"/>
                </a:solidFill>
                <a:latin typeface="Aptos"/>
              </a:rPr>
              <a:t>BOM, serial, warranty, entitlement</a:t>
            </a:r>
          </a:p>
        </p:txBody>
      </p:sp>
      <p:sp>
        <p:nvSpPr>
          <p:cNvPr id="32" name="Rectangle 31"/>
          <p:cNvSpPr/>
          <p:nvPr/>
        </p:nvSpPr>
        <p:spPr>
          <a:xfrm>
            <a:off x="3364991" y="3054096"/>
            <a:ext cx="2706624" cy="53949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3447287" y="3104388"/>
            <a:ext cx="2532888" cy="2194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1">
                <a:solidFill>
                  <a:srgbClr val="007B78"/>
                </a:solidFill>
                <a:latin typeface="Aptos"/>
              </a:rPr>
              <a:t>Devices</a:t>
            </a:r>
          </a:p>
        </p:txBody>
      </p:sp>
      <p:sp>
        <p:nvSpPr>
          <p:cNvPr id="34" name="TextBox 33"/>
          <p:cNvSpPr txBox="1"/>
          <p:nvPr/>
        </p:nvSpPr>
        <p:spPr>
          <a:xfrm>
            <a:off x="3447287" y="3355848"/>
            <a:ext cx="2532888" cy="20116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90" b="0">
                <a:solidFill>
                  <a:srgbClr val="183246"/>
                </a:solidFill>
                <a:latin typeface="Aptos"/>
              </a:rPr>
              <a:t>HBF/NPU, health, resets, thermal</a:t>
            </a:r>
          </a:p>
        </p:txBody>
      </p:sp>
      <p:sp>
        <p:nvSpPr>
          <p:cNvPr id="35" name="Rectangle 34"/>
          <p:cNvSpPr/>
          <p:nvPr/>
        </p:nvSpPr>
        <p:spPr>
          <a:xfrm>
            <a:off x="502920" y="3648456"/>
            <a:ext cx="2706624" cy="53949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585216" y="3698748"/>
            <a:ext cx="2532888" cy="2194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1">
                <a:solidFill>
                  <a:srgbClr val="007B78"/>
                </a:solidFill>
                <a:latin typeface="Aptos"/>
              </a:rPr>
              <a:t>Topology</a:t>
            </a:r>
          </a:p>
        </p:txBody>
      </p:sp>
      <p:sp>
        <p:nvSpPr>
          <p:cNvPr id="37" name="TextBox 36"/>
          <p:cNvSpPr txBox="1"/>
          <p:nvPr/>
        </p:nvSpPr>
        <p:spPr>
          <a:xfrm>
            <a:off x="585216" y="3950207"/>
            <a:ext cx="2532888" cy="20116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90" b="0">
                <a:solidFill>
                  <a:srgbClr val="183246"/>
                </a:solidFill>
                <a:latin typeface="Aptos"/>
              </a:rPr>
              <a:t>NUMA, PCIe width, switch/P2P</a:t>
            </a:r>
          </a:p>
        </p:txBody>
      </p:sp>
      <p:sp>
        <p:nvSpPr>
          <p:cNvPr id="38" name="Rectangle 37"/>
          <p:cNvSpPr/>
          <p:nvPr/>
        </p:nvSpPr>
        <p:spPr>
          <a:xfrm>
            <a:off x="3364991" y="3648456"/>
            <a:ext cx="2706624" cy="53949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TextBox 38"/>
          <p:cNvSpPr txBox="1"/>
          <p:nvPr/>
        </p:nvSpPr>
        <p:spPr>
          <a:xfrm>
            <a:off x="3447287" y="3698748"/>
            <a:ext cx="2532888" cy="2194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1">
                <a:solidFill>
                  <a:srgbClr val="007B78"/>
                </a:solidFill>
                <a:latin typeface="Aptos"/>
              </a:rPr>
              <a:t>Services</a:t>
            </a:r>
          </a:p>
        </p:txBody>
      </p:sp>
      <p:sp>
        <p:nvSpPr>
          <p:cNvPr id="40" name="TextBox 39"/>
          <p:cNvSpPr txBox="1"/>
          <p:nvPr/>
        </p:nvSpPr>
        <p:spPr>
          <a:xfrm>
            <a:off x="3447287" y="3950207"/>
            <a:ext cx="2532888" cy="20116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90" b="0">
                <a:solidFill>
                  <a:srgbClr val="183246"/>
                </a:solidFill>
                <a:latin typeface="Aptos"/>
              </a:rPr>
              <a:t>Models, sessions, queues, SLO</a:t>
            </a:r>
          </a:p>
        </p:txBody>
      </p:sp>
      <p:sp>
        <p:nvSpPr>
          <p:cNvPr id="41" name="Rectangle 40"/>
          <p:cNvSpPr/>
          <p:nvPr/>
        </p:nvSpPr>
        <p:spPr>
          <a:xfrm>
            <a:off x="502920" y="4242816"/>
            <a:ext cx="2706624" cy="53949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585216" y="4293107"/>
            <a:ext cx="2532888" cy="2194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1">
                <a:solidFill>
                  <a:srgbClr val="007B78"/>
                </a:solidFill>
                <a:latin typeface="Aptos"/>
              </a:rPr>
              <a:t>Knowledge</a:t>
            </a:r>
          </a:p>
        </p:txBody>
      </p:sp>
      <p:sp>
        <p:nvSpPr>
          <p:cNvPr id="43" name="TextBox 42"/>
          <p:cNvSpPr txBox="1"/>
          <p:nvPr/>
        </p:nvSpPr>
        <p:spPr>
          <a:xfrm>
            <a:off x="585216" y="4544568"/>
            <a:ext cx="2532888" cy="20116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90" b="0">
                <a:solidFill>
                  <a:srgbClr val="183246"/>
                </a:solidFill>
                <a:latin typeface="Aptos"/>
              </a:rPr>
              <a:t>Ingestion, collections, generations</a:t>
            </a:r>
          </a:p>
        </p:txBody>
      </p:sp>
      <p:sp>
        <p:nvSpPr>
          <p:cNvPr id="44" name="Rectangle 43"/>
          <p:cNvSpPr/>
          <p:nvPr/>
        </p:nvSpPr>
        <p:spPr>
          <a:xfrm>
            <a:off x="3364991" y="4242816"/>
            <a:ext cx="2706624" cy="53949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5" name="TextBox 44"/>
          <p:cNvSpPr txBox="1"/>
          <p:nvPr/>
        </p:nvSpPr>
        <p:spPr>
          <a:xfrm>
            <a:off x="3447287" y="4293107"/>
            <a:ext cx="2532888" cy="2194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1">
                <a:solidFill>
                  <a:srgbClr val="007B78"/>
                </a:solidFill>
                <a:latin typeface="Aptos"/>
              </a:rPr>
              <a:t>Tenants</a:t>
            </a:r>
          </a:p>
        </p:txBody>
      </p:sp>
      <p:sp>
        <p:nvSpPr>
          <p:cNvPr id="46" name="TextBox 45"/>
          <p:cNvSpPr txBox="1"/>
          <p:nvPr/>
        </p:nvSpPr>
        <p:spPr>
          <a:xfrm>
            <a:off x="3447287" y="4544568"/>
            <a:ext cx="2532888" cy="20116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90" b="0">
                <a:solidFill>
                  <a:srgbClr val="183246"/>
                </a:solidFill>
                <a:latin typeface="Aptos"/>
              </a:rPr>
              <a:t>Usage, quota, keys, chargeback</a:t>
            </a:r>
          </a:p>
        </p:txBody>
      </p:sp>
      <p:sp>
        <p:nvSpPr>
          <p:cNvPr id="47" name="Rectangle 46"/>
          <p:cNvSpPr/>
          <p:nvPr/>
        </p:nvSpPr>
        <p:spPr>
          <a:xfrm>
            <a:off x="502920" y="4837176"/>
            <a:ext cx="2706624" cy="53949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585216" y="4887468"/>
            <a:ext cx="2532888" cy="2194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1">
                <a:solidFill>
                  <a:srgbClr val="007B78"/>
                </a:solidFill>
                <a:latin typeface="Aptos"/>
              </a:rPr>
              <a:t>Updates</a:t>
            </a:r>
          </a:p>
        </p:txBody>
      </p:sp>
      <p:sp>
        <p:nvSpPr>
          <p:cNvPr id="49" name="TextBox 48"/>
          <p:cNvSpPr txBox="1"/>
          <p:nvPr/>
        </p:nvSpPr>
        <p:spPr>
          <a:xfrm>
            <a:off x="585216" y="5138928"/>
            <a:ext cx="2532888" cy="20116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90" b="0">
                <a:solidFill>
                  <a:srgbClr val="183246"/>
                </a:solidFill>
                <a:latin typeface="Aptos"/>
              </a:rPr>
              <a:t>Canary, drift, compatibility, rollback</a:t>
            </a:r>
          </a:p>
        </p:txBody>
      </p:sp>
      <p:sp>
        <p:nvSpPr>
          <p:cNvPr id="50" name="Rectangle 49"/>
          <p:cNvSpPr/>
          <p:nvPr/>
        </p:nvSpPr>
        <p:spPr>
          <a:xfrm>
            <a:off x="3364991" y="4837176"/>
            <a:ext cx="2706624" cy="53949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1" name="TextBox 50"/>
          <p:cNvSpPr txBox="1"/>
          <p:nvPr/>
        </p:nvSpPr>
        <p:spPr>
          <a:xfrm>
            <a:off x="3447287" y="4887468"/>
            <a:ext cx="2532888" cy="2194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1">
                <a:solidFill>
                  <a:srgbClr val="007B78"/>
                </a:solidFill>
                <a:latin typeface="Aptos"/>
              </a:rPr>
              <a:t>Support</a:t>
            </a:r>
          </a:p>
        </p:txBody>
      </p:sp>
      <p:sp>
        <p:nvSpPr>
          <p:cNvPr id="52" name="TextBox 51"/>
          <p:cNvSpPr txBox="1"/>
          <p:nvPr/>
        </p:nvSpPr>
        <p:spPr>
          <a:xfrm>
            <a:off x="3447287" y="5138928"/>
            <a:ext cx="2532888" cy="20116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90" b="0">
                <a:solidFill>
                  <a:srgbClr val="183246"/>
                </a:solidFill>
                <a:latin typeface="Aptos"/>
              </a:rPr>
              <a:t>Alerts, evidence, case, OEM dispatch</a:t>
            </a:r>
          </a:p>
        </p:txBody>
      </p:sp>
      <p:sp>
        <p:nvSpPr>
          <p:cNvPr id="53" name="TextBox 52"/>
          <p:cNvSpPr txBox="1"/>
          <p:nvPr/>
        </p:nvSpPr>
        <p:spPr>
          <a:xfrm>
            <a:off x="6528816" y="2679192"/>
            <a:ext cx="5157216"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D51F3C"/>
                </a:solidFill>
                <a:latin typeface="Aptos"/>
              </a:rPr>
              <a:t>HA REQUIRES COMPLETE REPLICAS AND PEAK RESERVE</a:t>
            </a:r>
          </a:p>
        </p:txBody>
      </p:sp>
      <p:sp>
        <p:nvSpPr>
          <p:cNvPr id="54" name="Rectangle 53"/>
          <p:cNvSpPr/>
          <p:nvPr/>
        </p:nvSpPr>
        <p:spPr>
          <a:xfrm>
            <a:off x="6528816" y="3108960"/>
            <a:ext cx="1572768" cy="566928"/>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TextBox 54"/>
          <p:cNvSpPr txBox="1"/>
          <p:nvPr/>
        </p:nvSpPr>
        <p:spPr>
          <a:xfrm>
            <a:off x="6620255" y="3159252"/>
            <a:ext cx="1389888" cy="4754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00" b="1">
                <a:solidFill>
                  <a:srgbClr val="183246"/>
                </a:solidFill>
                <a:latin typeface="Aptos"/>
              </a:rPr>
              <a:t>Active node 1</a:t>
            </a:r>
          </a:p>
        </p:txBody>
      </p:sp>
      <p:sp>
        <p:nvSpPr>
          <p:cNvPr id="56" name="Right Arrow 55"/>
          <p:cNvSpPr/>
          <p:nvPr/>
        </p:nvSpPr>
        <p:spPr>
          <a:xfrm>
            <a:off x="8142731" y="3300984"/>
            <a:ext cx="137160"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Rectangle 56"/>
          <p:cNvSpPr/>
          <p:nvPr/>
        </p:nvSpPr>
        <p:spPr>
          <a:xfrm>
            <a:off x="8321040" y="3108960"/>
            <a:ext cx="1572768" cy="566928"/>
          </a:xfrm>
          <a:prstGeom prst="rect">
            <a:avLst/>
          </a:prstGeom>
          <a:solidFill>
            <a:srgbClr val="F3F7F9"/>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8" name="TextBox 57"/>
          <p:cNvSpPr txBox="1"/>
          <p:nvPr/>
        </p:nvSpPr>
        <p:spPr>
          <a:xfrm>
            <a:off x="8412480" y="3159252"/>
            <a:ext cx="1389888" cy="4754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00" b="1">
                <a:solidFill>
                  <a:srgbClr val="183246"/>
                </a:solidFill>
                <a:latin typeface="Aptos"/>
              </a:rPr>
              <a:t>Active node 2</a:t>
            </a:r>
          </a:p>
        </p:txBody>
      </p:sp>
      <p:sp>
        <p:nvSpPr>
          <p:cNvPr id="59" name="Right Arrow 58"/>
          <p:cNvSpPr/>
          <p:nvPr/>
        </p:nvSpPr>
        <p:spPr>
          <a:xfrm>
            <a:off x="9934956" y="3300984"/>
            <a:ext cx="137160"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0" name="Rectangle 59"/>
          <p:cNvSpPr/>
          <p:nvPr/>
        </p:nvSpPr>
        <p:spPr>
          <a:xfrm>
            <a:off x="10113263" y="3108960"/>
            <a:ext cx="1572768" cy="566928"/>
          </a:xfrm>
          <a:prstGeom prst="rect">
            <a:avLst/>
          </a:prstGeom>
          <a:solidFill>
            <a:srgbClr val="F3F7F9"/>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1" name="TextBox 60"/>
          <p:cNvSpPr txBox="1"/>
          <p:nvPr/>
        </p:nvSpPr>
        <p:spPr>
          <a:xfrm>
            <a:off x="10204703" y="3159252"/>
            <a:ext cx="1389888" cy="475488"/>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00" b="1">
                <a:solidFill>
                  <a:srgbClr val="183246"/>
                </a:solidFill>
                <a:latin typeface="Aptos"/>
              </a:rPr>
              <a:t>N+1 reserve</a:t>
            </a:r>
          </a:p>
        </p:txBody>
      </p:sp>
      <p:sp>
        <p:nvSpPr>
          <p:cNvPr id="62" name="TextBox 61"/>
          <p:cNvSpPr txBox="1"/>
          <p:nvPr/>
        </p:nvSpPr>
        <p:spPr>
          <a:xfrm>
            <a:off x="6528816" y="3913632"/>
            <a:ext cx="5148072" cy="8503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183246"/>
                </a:solidFill>
                <a:latin typeface="Aptos"/>
              </a:rPr>
              <a:t>One node: no service HA. Two nodes: replicas, not guaranteed full peak after a loss. Three-node N+1: two-node active capacity plus reserve.</a:t>
            </a:r>
          </a:p>
        </p:txBody>
      </p:sp>
      <p:sp>
        <p:nvSpPr>
          <p:cNvPr id="63" name="TextBox 62"/>
          <p:cNvSpPr txBox="1"/>
          <p:nvPr/>
        </p:nvSpPr>
        <p:spPr>
          <a:xfrm>
            <a:off x="6528816" y="4946904"/>
            <a:ext cx="5157216"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SUPPORT OWNERSHIP</a:t>
            </a:r>
          </a:p>
        </p:txBody>
      </p:sp>
      <p:sp>
        <p:nvSpPr>
          <p:cNvPr id="64" name="TextBox 63"/>
          <p:cNvSpPr txBox="1"/>
          <p:nvPr/>
        </p:nvSpPr>
        <p:spPr>
          <a:xfrm>
            <a:off x="6528816" y="5312664"/>
            <a:ext cx="5148072" cy="5943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80" b="0">
                <a:solidFill>
                  <a:srgbClr val="183246"/>
                </a:solidFill>
                <a:latin typeface="Aptos"/>
              </a:rPr>
              <a:t>Sandisk: first call + OS/device/runtime/packs. OEM: chassis/platform, coordinated entitlement. NPU vendor and certified ISV: named escalation.</a:t>
            </a:r>
          </a:p>
        </p:txBody>
      </p:sp>
      <p:sp>
        <p:nvSpPr>
          <p:cNvPr id="65" name="TextBox 64"/>
          <p:cNvSpPr txBox="1"/>
          <p:nvPr/>
        </p:nvSpPr>
        <p:spPr>
          <a:xfrm>
            <a:off x="502920" y="5577840"/>
            <a:ext cx="5550408" cy="49377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90" b="1">
                <a:solidFill>
                  <a:srgbClr val="2B6791"/>
                </a:solidFill>
                <a:latin typeface="Aptos"/>
              </a:rPr>
              <a:t>Release targets: Production 3y | LTS 5y | optional +2y.
Vertical 7-10y only with a funded business case; not contracted.</a:t>
            </a:r>
          </a:p>
        </p:txBody>
      </p:sp>
      <p:sp>
        <p:nvSpPr>
          <p:cNvPr id="66" name="TextBox 65"/>
          <p:cNvSpPr txBox="1"/>
          <p:nvPr/>
        </p:nvSpPr>
        <p:spPr>
          <a:xfrm>
            <a:off x="502920" y="6117336"/>
            <a:ext cx="11119104" cy="22860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80" b="0">
                <a:solidFill>
                  <a:srgbClr val="536879"/>
                </a:solidFill>
                <a:latin typeface="Aptos"/>
              </a:rPr>
              <a:t>Support/lifecycle durations are proposed targets, not contracted entitlements. Evidence bundles redact inventory, versions, SLO/error, thermal and audit data. PRD 3 / 10-11.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11</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Counterpart positioning and the conditional cost target</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The only NVIDIA comparison page: workload-specific positioning, not a universal replacement or a measured price/performance claim.</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6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17</a:t>
            </a:r>
          </a:p>
        </p:txBody>
      </p:sp>
      <p:sp>
        <p:nvSpPr>
          <p:cNvPr id="11" name="Rectangle 10"/>
          <p:cNvSpPr/>
          <p:nvPr/>
        </p:nvSpPr>
        <p:spPr>
          <a:xfrm>
            <a:off x="502920" y="1911095"/>
            <a:ext cx="1865376" cy="585216"/>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76072" y="2002536"/>
            <a:ext cx="1719072"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PRD reference</a:t>
            </a:r>
          </a:p>
        </p:txBody>
      </p:sp>
      <p:sp>
        <p:nvSpPr>
          <p:cNvPr id="13" name="Rectangle 12"/>
          <p:cNvSpPr/>
          <p:nvPr/>
        </p:nvSpPr>
        <p:spPr>
          <a:xfrm>
            <a:off x="2368296" y="1911095"/>
            <a:ext cx="2386584" cy="585216"/>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2441448" y="2002536"/>
            <a:ext cx="2240279"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Published reference memory</a:t>
            </a:r>
          </a:p>
        </p:txBody>
      </p:sp>
      <p:sp>
        <p:nvSpPr>
          <p:cNvPr id="15" name="Rectangle 14"/>
          <p:cNvSpPr/>
          <p:nvPr/>
        </p:nvSpPr>
        <p:spPr>
          <a:xfrm>
            <a:off x="4754879" y="1911095"/>
            <a:ext cx="2496312" cy="585216"/>
          </a:xfrm>
          <a:prstGeom prst="rect">
            <a:avLst/>
          </a:prstGeom>
          <a:solidFill>
            <a:srgbClr val="1832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4828031" y="2002536"/>
            <a:ext cx="2350008"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FFFFFF"/>
                </a:solidFill>
                <a:latin typeface="Aptos"/>
              </a:rPr>
              <a:t>Closest SKU / limit</a:t>
            </a:r>
          </a:p>
        </p:txBody>
      </p:sp>
      <p:sp>
        <p:nvSpPr>
          <p:cNvPr id="17" name="Rectangle 16"/>
          <p:cNvSpPr/>
          <p:nvPr/>
        </p:nvSpPr>
        <p:spPr>
          <a:xfrm>
            <a:off x="502920" y="2496312"/>
            <a:ext cx="1865376" cy="58521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576072" y="2587752"/>
            <a:ext cx="1719072"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00" b="0">
                <a:solidFill>
                  <a:srgbClr val="183246"/>
                </a:solidFill>
                <a:latin typeface="Aptos"/>
              </a:rPr>
              <a:t>DGX Spark</a:t>
            </a:r>
          </a:p>
        </p:txBody>
      </p:sp>
      <p:sp>
        <p:nvSpPr>
          <p:cNvPr id="19" name="Rectangle 18"/>
          <p:cNvSpPr/>
          <p:nvPr/>
        </p:nvSpPr>
        <p:spPr>
          <a:xfrm>
            <a:off x="2368296" y="2496312"/>
            <a:ext cx="2386584" cy="58521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2441448" y="2587752"/>
            <a:ext cx="2240279"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00" b="0">
                <a:solidFill>
                  <a:srgbClr val="183246"/>
                </a:solidFill>
                <a:latin typeface="Aptos"/>
              </a:rPr>
              <a:t>128 GB unified; 273 GB/s</a:t>
            </a:r>
          </a:p>
        </p:txBody>
      </p:sp>
      <p:sp>
        <p:nvSpPr>
          <p:cNvPr id="21" name="Rectangle 20"/>
          <p:cNvSpPr/>
          <p:nvPr/>
        </p:nvSpPr>
        <p:spPr>
          <a:xfrm>
            <a:off x="4754879" y="2496312"/>
            <a:ext cx="2496312" cy="58521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828031" y="2587752"/>
            <a:ext cx="2350008"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00" b="0">
                <a:solidFill>
                  <a:srgbClr val="183246"/>
                </a:solidFill>
                <a:latin typeface="Aptos"/>
              </a:rPr>
              <a:t>W4 / A8; capacity is not compute parity</a:t>
            </a:r>
          </a:p>
        </p:txBody>
      </p:sp>
      <p:sp>
        <p:nvSpPr>
          <p:cNvPr id="23" name="Rectangle 22"/>
          <p:cNvSpPr/>
          <p:nvPr/>
        </p:nvSpPr>
        <p:spPr>
          <a:xfrm>
            <a:off x="502920" y="3081528"/>
            <a:ext cx="1865376" cy="58521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576072" y="3172968"/>
            <a:ext cx="1719072"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00" b="0">
                <a:solidFill>
                  <a:srgbClr val="183246"/>
                </a:solidFill>
                <a:latin typeface="Aptos"/>
              </a:rPr>
              <a:t>RTX PRO 6000</a:t>
            </a:r>
          </a:p>
        </p:txBody>
      </p:sp>
      <p:sp>
        <p:nvSpPr>
          <p:cNvPr id="25" name="Rectangle 24"/>
          <p:cNvSpPr/>
          <p:nvPr/>
        </p:nvSpPr>
        <p:spPr>
          <a:xfrm>
            <a:off x="2368296" y="3081528"/>
            <a:ext cx="2386584" cy="58521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2441448" y="3172968"/>
            <a:ext cx="2240279"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00" b="0">
                <a:solidFill>
                  <a:srgbClr val="183246"/>
                </a:solidFill>
                <a:latin typeface="Aptos"/>
              </a:rPr>
              <a:t>96 GB GDDR7</a:t>
            </a:r>
          </a:p>
        </p:txBody>
      </p:sp>
      <p:sp>
        <p:nvSpPr>
          <p:cNvPr id="27" name="Rectangle 26"/>
          <p:cNvSpPr/>
          <p:nvPr/>
        </p:nvSpPr>
        <p:spPr>
          <a:xfrm>
            <a:off x="4754879" y="3081528"/>
            <a:ext cx="2496312" cy="58521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4828031" y="3172968"/>
            <a:ext cx="2350008"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00" b="0">
                <a:solidFill>
                  <a:srgbClr val="183246"/>
                </a:solidFill>
                <a:latin typeface="Aptos"/>
              </a:rPr>
              <a:t>A8; no graphics/training parity</a:t>
            </a:r>
          </a:p>
        </p:txBody>
      </p:sp>
      <p:sp>
        <p:nvSpPr>
          <p:cNvPr id="29" name="Rectangle 28"/>
          <p:cNvSpPr/>
          <p:nvPr/>
        </p:nvSpPr>
        <p:spPr>
          <a:xfrm>
            <a:off x="502920" y="3666744"/>
            <a:ext cx="1865376" cy="58521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576072" y="3758183"/>
            <a:ext cx="1719072"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00" b="0">
                <a:solidFill>
                  <a:srgbClr val="183246"/>
                </a:solidFill>
                <a:latin typeface="Aptos"/>
              </a:rPr>
              <a:t>DGX Station</a:t>
            </a:r>
          </a:p>
        </p:txBody>
      </p:sp>
      <p:sp>
        <p:nvSpPr>
          <p:cNvPr id="31" name="Rectangle 30"/>
          <p:cNvSpPr/>
          <p:nvPr/>
        </p:nvSpPr>
        <p:spPr>
          <a:xfrm>
            <a:off x="2368296" y="3666744"/>
            <a:ext cx="2386584" cy="58521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441448" y="3758183"/>
            <a:ext cx="2240279"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00" b="0">
                <a:solidFill>
                  <a:srgbClr val="183246"/>
                </a:solidFill>
                <a:latin typeface="Aptos"/>
              </a:rPr>
              <a:t>748 GB coherent; HBM up to 7.1 TB/s</a:t>
            </a:r>
          </a:p>
        </p:txBody>
      </p:sp>
      <p:sp>
        <p:nvSpPr>
          <p:cNvPr id="33" name="Rectangle 32"/>
          <p:cNvSpPr/>
          <p:nvPr/>
        </p:nvSpPr>
        <p:spPr>
          <a:xfrm>
            <a:off x="4754879" y="3666744"/>
            <a:ext cx="2496312" cy="58521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4828031" y="3758183"/>
            <a:ext cx="2350008"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00" b="0">
                <a:solidFill>
                  <a:srgbClr val="183246"/>
                </a:solidFill>
                <a:latin typeface="Aptos"/>
              </a:rPr>
              <a:t>A8; much lower local compute/bandwidth</a:t>
            </a:r>
          </a:p>
        </p:txBody>
      </p:sp>
      <p:sp>
        <p:nvSpPr>
          <p:cNvPr id="35" name="Rectangle 34"/>
          <p:cNvSpPr/>
          <p:nvPr/>
        </p:nvSpPr>
        <p:spPr>
          <a:xfrm>
            <a:off x="502920" y="4251960"/>
            <a:ext cx="1865376" cy="58521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576072" y="4343400"/>
            <a:ext cx="1719072"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00" b="0">
                <a:solidFill>
                  <a:srgbClr val="183246"/>
                </a:solidFill>
                <a:latin typeface="Aptos"/>
              </a:rPr>
              <a:t>RTX PRO Server</a:t>
            </a:r>
          </a:p>
        </p:txBody>
      </p:sp>
      <p:sp>
        <p:nvSpPr>
          <p:cNvPr id="37" name="Rectangle 36"/>
          <p:cNvSpPr/>
          <p:nvPr/>
        </p:nvSpPr>
        <p:spPr>
          <a:xfrm>
            <a:off x="2368296" y="4251960"/>
            <a:ext cx="2386584" cy="58521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2441448" y="4343400"/>
            <a:ext cx="2240279"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00" b="0">
                <a:solidFill>
                  <a:srgbClr val="183246"/>
                </a:solidFill>
                <a:latin typeface="Aptos"/>
              </a:rPr>
              <a:t>2/4/8 x 96 GB; ~1.6 TB/s per GPU</a:t>
            </a:r>
          </a:p>
        </p:txBody>
      </p:sp>
      <p:sp>
        <p:nvSpPr>
          <p:cNvPr id="39" name="Rectangle 38"/>
          <p:cNvSpPr/>
          <p:nvPr/>
        </p:nvSpPr>
        <p:spPr>
          <a:xfrm>
            <a:off x="4754879" y="4251960"/>
            <a:ext cx="2496312" cy="58521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4828031" y="4343400"/>
            <a:ext cx="2350008"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00" b="0">
                <a:solidFill>
                  <a:srgbClr val="183246"/>
                </a:solidFill>
                <a:latin typeface="Aptos"/>
              </a:rPr>
              <a:t>E8/16/24; certify the exact service</a:t>
            </a:r>
          </a:p>
        </p:txBody>
      </p:sp>
      <p:sp>
        <p:nvSpPr>
          <p:cNvPr id="41" name="Rectangle 40"/>
          <p:cNvSpPr/>
          <p:nvPr/>
        </p:nvSpPr>
        <p:spPr>
          <a:xfrm>
            <a:off x="502920" y="4837176"/>
            <a:ext cx="1865376" cy="58521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576072" y="4928616"/>
            <a:ext cx="1719072"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00" b="0">
                <a:solidFill>
                  <a:srgbClr val="183246"/>
                </a:solidFill>
                <a:latin typeface="Aptos"/>
              </a:rPr>
              <a:t>IGX Thor</a:t>
            </a:r>
          </a:p>
        </p:txBody>
      </p:sp>
      <p:sp>
        <p:nvSpPr>
          <p:cNvPr id="43" name="Rectangle 42"/>
          <p:cNvSpPr/>
          <p:nvPr/>
        </p:nvSpPr>
        <p:spPr>
          <a:xfrm>
            <a:off x="2368296" y="4837176"/>
            <a:ext cx="2386584" cy="58521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2441448" y="4928616"/>
            <a:ext cx="2240279"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00" b="0">
                <a:solidFill>
                  <a:srgbClr val="183246"/>
                </a:solidFill>
                <a:latin typeface="Aptos"/>
              </a:rPr>
              <a:t>128 GB + optional dGPU</a:t>
            </a:r>
          </a:p>
        </p:txBody>
      </p:sp>
      <p:sp>
        <p:nvSpPr>
          <p:cNvPr id="45" name="Rectangle 44"/>
          <p:cNvSpPr/>
          <p:nvPr/>
        </p:nvSpPr>
        <p:spPr>
          <a:xfrm>
            <a:off x="4754879" y="4837176"/>
            <a:ext cx="2496312" cy="585216"/>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828031" y="4928616"/>
            <a:ext cx="2350008" cy="44805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00" b="0">
                <a:solidFill>
                  <a:srgbClr val="183246"/>
                </a:solidFill>
                <a:latin typeface="Aptos"/>
              </a:rPr>
              <a:t>E8/16 backend, not a safety/controller replacement</a:t>
            </a:r>
          </a:p>
        </p:txBody>
      </p:sp>
      <p:sp>
        <p:nvSpPr>
          <p:cNvPr id="47" name="TextBox 46"/>
          <p:cNvSpPr txBox="1"/>
          <p:nvPr/>
        </p:nvSpPr>
        <p:spPr>
          <a:xfrm>
            <a:off x="7662672" y="1911095"/>
            <a:ext cx="4023360"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AC6528"/>
                </a:solidFill>
                <a:latin typeface="Aptos"/>
              </a:rPr>
              <a:t>70% ACQUISITION: DESIGN-TO-COST OBJECTIVE</a:t>
            </a:r>
          </a:p>
        </p:txBody>
      </p:sp>
      <p:sp>
        <p:nvSpPr>
          <p:cNvPr id="48" name="TextBox 47"/>
          <p:cNvSpPr txBox="1"/>
          <p:nvPr/>
        </p:nvSpPr>
        <p:spPr>
          <a:xfrm>
            <a:off x="7662672" y="2386584"/>
            <a:ext cx="3822191" cy="78638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4700" b="1">
                <a:solidFill>
                  <a:srgbClr val="007B78"/>
                </a:solidFill>
                <a:latin typeface="Aptos"/>
              </a:rPr>
              <a:t>24.8%</a:t>
            </a:r>
          </a:p>
        </p:txBody>
      </p:sp>
      <p:sp>
        <p:nvSpPr>
          <p:cNvPr id="49" name="TextBox 48"/>
          <p:cNvSpPr txBox="1"/>
          <p:nvPr/>
        </p:nvSpPr>
        <p:spPr>
          <a:xfrm>
            <a:off x="7662672" y="3337560"/>
            <a:ext cx="3986784" cy="69494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700" b="0">
                <a:solidFill>
                  <a:srgbClr val="183246"/>
                </a:solidFill>
                <a:latin typeface="Aptos"/>
              </a:rPr>
              <a:t>Illustrative 3-year TCO saving
1.218N versus 1.62N</a:t>
            </a:r>
          </a:p>
        </p:txBody>
      </p:sp>
      <p:sp>
        <p:nvSpPr>
          <p:cNvPr id="50" name="TextBox 49"/>
          <p:cNvSpPr txBox="1"/>
          <p:nvPr/>
        </p:nvSpPr>
        <p:spPr>
          <a:xfrm>
            <a:off x="7662672" y="4306824"/>
            <a:ext cx="3977639" cy="88696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30" b="0">
                <a:solidFill>
                  <a:srgbClr val="183246"/>
                </a:solidFill>
                <a:latin typeface="Aptos"/>
              </a:rPr>
              <a:t>Synthetic 4-GPU-server-class N=$180k:
$126k ATMOS acquisition; 3-year TCO
$219,240 versus $291,600.</a:t>
            </a:r>
          </a:p>
        </p:txBody>
      </p:sp>
      <p:sp>
        <p:nvSpPr>
          <p:cNvPr id="51" name="TextBox 50"/>
          <p:cNvSpPr txBox="1"/>
          <p:nvPr/>
        </p:nvSpPr>
        <p:spPr>
          <a:xfrm>
            <a:off x="502920" y="5596128"/>
            <a:ext cx="11082528" cy="40233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1">
                <a:solidFill>
                  <a:srgbClr val="D51F3C"/>
                </a:solidFill>
                <a:latin typeface="Aptos"/>
              </a:rPr>
              <a:t>Break-even: &lt;1.33 ATMOS systems per counterpart. At 1.25x: ~6% saving. At 2x: ~50% higher TCO.</a:t>
            </a:r>
          </a:p>
        </p:txBody>
      </p:sp>
      <p:sp>
        <p:nvSpPr>
          <p:cNvPr id="52" name="TextBox 51"/>
          <p:cNvSpPr txBox="1"/>
          <p:nvPr/>
        </p:nvSpPr>
        <p:spPr>
          <a:xfrm>
            <a:off x="502920" y="6117336"/>
            <a:ext cx="11119104" cy="22860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80" b="0">
                <a:solidFill>
                  <a:srgbClr val="536879"/>
                </a:solidFill>
                <a:latin typeface="Aptos"/>
              </a:rPr>
              <a:t>PRD scenario only: same quality, SLO, peak demand and availability; 3y undiscounted. All prices synthetic; use quotes, measured node counts and removable spend. PRD 17-18.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12</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Release gates convert a PRD into a supportable product</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Evidence sequence, not a calendar promise. Approve claims only after certified quality, service, availability and economics.</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6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19</a:t>
            </a:r>
          </a:p>
        </p:txBody>
      </p:sp>
      <p:sp>
        <p:nvSpPr>
          <p:cNvPr id="11" name="Rectangle 10"/>
          <p:cNvSpPr/>
          <p:nvPr/>
        </p:nvSpPr>
        <p:spPr>
          <a:xfrm>
            <a:off x="502920" y="1874519"/>
            <a:ext cx="3566160" cy="9875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12648" y="1984248"/>
            <a:ext cx="3346704" cy="3200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1">
                <a:solidFill>
                  <a:srgbClr val="007B78"/>
                </a:solidFill>
                <a:latin typeface="Aptos"/>
              </a:rPr>
              <a:t>G0 / CHARTER</a:t>
            </a:r>
          </a:p>
        </p:txBody>
      </p:sp>
      <p:sp>
        <p:nvSpPr>
          <p:cNvPr id="13" name="TextBox 12"/>
          <p:cNvSpPr txBox="1"/>
          <p:nvPr/>
        </p:nvSpPr>
        <p:spPr>
          <a:xfrm>
            <a:off x="612648" y="2423160"/>
            <a:ext cx="3346704" cy="3931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0">
                <a:solidFill>
                  <a:srgbClr val="183246"/>
                </a:solidFill>
                <a:latin typeface="Aptos"/>
              </a:rPr>
              <a:t>PRD, personas, SKUs, catalog
Management approval</a:t>
            </a:r>
          </a:p>
        </p:txBody>
      </p:sp>
      <p:sp>
        <p:nvSpPr>
          <p:cNvPr id="14" name="Right Arrow 13"/>
          <p:cNvSpPr/>
          <p:nvPr/>
        </p:nvSpPr>
        <p:spPr>
          <a:xfrm>
            <a:off x="4105656" y="2313432"/>
            <a:ext cx="137160"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Rectangle 14"/>
          <p:cNvSpPr/>
          <p:nvPr/>
        </p:nvSpPr>
        <p:spPr>
          <a:xfrm>
            <a:off x="4306824" y="1874519"/>
            <a:ext cx="3566160" cy="9875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4416552" y="1984248"/>
            <a:ext cx="3346704" cy="3200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1">
                <a:solidFill>
                  <a:srgbClr val="007B78"/>
                </a:solidFill>
                <a:latin typeface="Aptos"/>
              </a:rPr>
              <a:t>G1 / DEVICE</a:t>
            </a:r>
          </a:p>
        </p:txBody>
      </p:sp>
      <p:sp>
        <p:nvSpPr>
          <p:cNvPr id="17" name="TextBox 16"/>
          <p:cNvSpPr txBox="1"/>
          <p:nvPr/>
        </p:nvSpPr>
        <p:spPr>
          <a:xfrm>
            <a:off x="4416552" y="2423160"/>
            <a:ext cx="3346704" cy="3931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0">
                <a:solidFill>
                  <a:srgbClr val="183246"/>
                </a:solidFill>
                <a:latin typeface="Aptos"/>
              </a:rPr>
              <a:t>Service curves, compiler, thermals
Three launch workloads feasible</a:t>
            </a:r>
          </a:p>
        </p:txBody>
      </p:sp>
      <p:sp>
        <p:nvSpPr>
          <p:cNvPr id="18" name="Right Arrow 17"/>
          <p:cNvSpPr/>
          <p:nvPr/>
        </p:nvSpPr>
        <p:spPr>
          <a:xfrm>
            <a:off x="7909560" y="2313432"/>
            <a:ext cx="137160"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Rectangle 18"/>
          <p:cNvSpPr/>
          <p:nvPr/>
        </p:nvSpPr>
        <p:spPr>
          <a:xfrm>
            <a:off x="8110728" y="1874519"/>
            <a:ext cx="3566160" cy="9875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8220456" y="1984248"/>
            <a:ext cx="3346704" cy="3200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1">
                <a:solidFill>
                  <a:srgbClr val="007B78"/>
                </a:solidFill>
                <a:latin typeface="Aptos"/>
              </a:rPr>
              <a:t>G2 / GROUP</a:t>
            </a:r>
          </a:p>
        </p:txBody>
      </p:sp>
      <p:sp>
        <p:nvSpPr>
          <p:cNvPr id="21" name="TextBox 20"/>
          <p:cNvSpPr txBox="1"/>
          <p:nvPr/>
        </p:nvSpPr>
        <p:spPr>
          <a:xfrm>
            <a:off x="8220456" y="2423160"/>
            <a:ext cx="3346704" cy="3931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0">
                <a:solidFill>
                  <a:srgbClr val="183246"/>
                </a:solidFill>
                <a:latin typeface="Aptos"/>
              </a:rPr>
              <a:t>4-device P2P, isolation, resets
Qualified hardware building block</a:t>
            </a:r>
          </a:p>
        </p:txBody>
      </p:sp>
      <p:sp>
        <p:nvSpPr>
          <p:cNvPr id="22" name="Rectangle 21"/>
          <p:cNvSpPr/>
          <p:nvPr/>
        </p:nvSpPr>
        <p:spPr>
          <a:xfrm>
            <a:off x="502920" y="3118104"/>
            <a:ext cx="3566160" cy="9875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612648" y="3227832"/>
            <a:ext cx="3346704" cy="3200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1">
                <a:solidFill>
                  <a:srgbClr val="007B78"/>
                </a:solidFill>
                <a:latin typeface="Aptos"/>
              </a:rPr>
              <a:t>G3 / 8-DEVICE OOB</a:t>
            </a:r>
          </a:p>
        </p:txBody>
      </p:sp>
      <p:sp>
        <p:nvSpPr>
          <p:cNvPr id="24" name="TextBox 23"/>
          <p:cNvSpPr txBox="1"/>
          <p:nvPr/>
        </p:nvSpPr>
        <p:spPr>
          <a:xfrm>
            <a:off x="612648" y="3666744"/>
            <a:ext cx="3346704" cy="3931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0">
                <a:solidFill>
                  <a:srgbClr val="183246"/>
                </a:solidFill>
                <a:latin typeface="Aptos"/>
              </a:rPr>
              <a:t>Knowledge Agent pilot
First-service setup within one day</a:t>
            </a:r>
          </a:p>
        </p:txBody>
      </p:sp>
      <p:sp>
        <p:nvSpPr>
          <p:cNvPr id="25" name="Right Arrow 24"/>
          <p:cNvSpPr/>
          <p:nvPr/>
        </p:nvSpPr>
        <p:spPr>
          <a:xfrm>
            <a:off x="4105656" y="3557016"/>
            <a:ext cx="137160"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Rectangle 25"/>
          <p:cNvSpPr/>
          <p:nvPr/>
        </p:nvSpPr>
        <p:spPr>
          <a:xfrm>
            <a:off x="4306824" y="3118104"/>
            <a:ext cx="3566160" cy="9875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4416552" y="3227832"/>
            <a:ext cx="3346704" cy="3200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1">
                <a:solidFill>
                  <a:srgbClr val="007B78"/>
                </a:solidFill>
                <a:latin typeface="Aptos"/>
              </a:rPr>
              <a:t>G4 / SOFTWARE BASELINE</a:t>
            </a:r>
          </a:p>
        </p:txBody>
      </p:sp>
      <p:sp>
        <p:nvSpPr>
          <p:cNvPr id="28" name="TextBox 27"/>
          <p:cNvSpPr txBox="1"/>
          <p:nvPr/>
        </p:nvSpPr>
        <p:spPr>
          <a:xfrm>
            <a:off x="4416552" y="3666744"/>
            <a:ext cx="3346704" cy="3931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0">
                <a:solidFill>
                  <a:srgbClr val="183246"/>
                </a:solidFill>
                <a:latin typeface="Aptos"/>
              </a:rPr>
              <a:t>Packs, catalog, canary and rollback
Production update/support workflow</a:t>
            </a:r>
          </a:p>
        </p:txBody>
      </p:sp>
      <p:sp>
        <p:nvSpPr>
          <p:cNvPr id="29" name="Right Arrow 28"/>
          <p:cNvSpPr/>
          <p:nvPr/>
        </p:nvSpPr>
        <p:spPr>
          <a:xfrm>
            <a:off x="7909560" y="3557016"/>
            <a:ext cx="137160"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Rectangle 29"/>
          <p:cNvSpPr/>
          <p:nvPr/>
        </p:nvSpPr>
        <p:spPr>
          <a:xfrm>
            <a:off x="8110728" y="3118104"/>
            <a:ext cx="3566160" cy="9875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8220456" y="3227832"/>
            <a:ext cx="3346704" cy="3200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1">
                <a:solidFill>
                  <a:srgbClr val="007B78"/>
                </a:solidFill>
                <a:latin typeface="Aptos"/>
              </a:rPr>
              <a:t>G5 / 16-DEVICE OEM</a:t>
            </a:r>
          </a:p>
        </p:txBody>
      </p:sp>
      <p:sp>
        <p:nvSpPr>
          <p:cNvPr id="32" name="TextBox 31"/>
          <p:cNvSpPr txBox="1"/>
          <p:nvPr/>
        </p:nvSpPr>
        <p:spPr>
          <a:xfrm>
            <a:off x="8220456" y="3666744"/>
            <a:ext cx="3346704" cy="3931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0">
                <a:solidFill>
                  <a:srgbClr val="183246"/>
                </a:solidFill>
                <a:latin typeface="Aptos"/>
              </a:rPr>
              <a:t>HA, security and 72-hour soak
Orderable qualified pilot SKU</a:t>
            </a:r>
          </a:p>
        </p:txBody>
      </p:sp>
      <p:sp>
        <p:nvSpPr>
          <p:cNvPr id="33" name="Rectangle 32"/>
          <p:cNvSpPr/>
          <p:nvPr/>
        </p:nvSpPr>
        <p:spPr>
          <a:xfrm>
            <a:off x="502920" y="4361688"/>
            <a:ext cx="3566160" cy="9875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12648" y="4471416"/>
            <a:ext cx="3346704" cy="3200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1">
                <a:solidFill>
                  <a:srgbClr val="AC6528"/>
                </a:solidFill>
                <a:latin typeface="Aptos"/>
              </a:rPr>
              <a:t>G6 / VERTICAL PACKS</a:t>
            </a:r>
          </a:p>
        </p:txBody>
      </p:sp>
      <p:sp>
        <p:nvSpPr>
          <p:cNvPr id="35" name="TextBox 34"/>
          <p:cNvSpPr txBox="1"/>
          <p:nvPr/>
        </p:nvSpPr>
        <p:spPr>
          <a:xfrm>
            <a:off x="612648" y="4910327"/>
            <a:ext cx="3346704" cy="3931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0">
                <a:solidFill>
                  <a:srgbClr val="183246"/>
                </a:solidFill>
                <a:latin typeface="Aptos"/>
              </a:rPr>
              <a:t>Healthcare/manufacturing + ISVs
Reference-customer evidence</a:t>
            </a:r>
          </a:p>
        </p:txBody>
      </p:sp>
      <p:sp>
        <p:nvSpPr>
          <p:cNvPr id="36" name="Right Arrow 35"/>
          <p:cNvSpPr/>
          <p:nvPr/>
        </p:nvSpPr>
        <p:spPr>
          <a:xfrm>
            <a:off x="4105656" y="4800600"/>
            <a:ext cx="137160"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Rectangle 36"/>
          <p:cNvSpPr/>
          <p:nvPr/>
        </p:nvSpPr>
        <p:spPr>
          <a:xfrm>
            <a:off x="4306824" y="4361688"/>
            <a:ext cx="3566160" cy="9875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16552" y="4471416"/>
            <a:ext cx="3346704" cy="3200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1">
                <a:solidFill>
                  <a:srgbClr val="AC6528"/>
                </a:solidFill>
                <a:latin typeface="Aptos"/>
              </a:rPr>
              <a:t>G7 / 24-DEVICE STRETCH</a:t>
            </a:r>
          </a:p>
        </p:txBody>
      </p:sp>
      <p:sp>
        <p:nvSpPr>
          <p:cNvPr id="39" name="TextBox 38"/>
          <p:cNvSpPr txBox="1"/>
          <p:nvPr/>
        </p:nvSpPr>
        <p:spPr>
          <a:xfrm>
            <a:off x="4416552" y="4910327"/>
            <a:ext cx="3346704" cy="3931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0">
                <a:solidFill>
                  <a:srgbClr val="183246"/>
                </a:solidFill>
                <a:latin typeface="Aptos"/>
              </a:rPr>
              <a:t>Six groups, thermal, N+1 and cost
Advance only after standard proof</a:t>
            </a:r>
          </a:p>
        </p:txBody>
      </p:sp>
      <p:sp>
        <p:nvSpPr>
          <p:cNvPr id="40" name="Right Arrow 39"/>
          <p:cNvSpPr/>
          <p:nvPr/>
        </p:nvSpPr>
        <p:spPr>
          <a:xfrm>
            <a:off x="7909560" y="4800600"/>
            <a:ext cx="137160"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Rectangle 40"/>
          <p:cNvSpPr/>
          <p:nvPr/>
        </p:nvSpPr>
        <p:spPr>
          <a:xfrm>
            <a:off x="8110728" y="4361688"/>
            <a:ext cx="3566160" cy="987552"/>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8220456" y="4471416"/>
            <a:ext cx="3346704" cy="32004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400" b="1">
                <a:solidFill>
                  <a:srgbClr val="AC6528"/>
                </a:solidFill>
                <a:latin typeface="Aptos"/>
              </a:rPr>
              <a:t>G8 / COMPARATIVE CLAIMS</a:t>
            </a:r>
          </a:p>
        </p:txBody>
      </p:sp>
      <p:sp>
        <p:nvSpPr>
          <p:cNvPr id="43" name="TextBox 42"/>
          <p:cNvSpPr txBox="1"/>
          <p:nvPr/>
        </p:nvSpPr>
        <p:spPr>
          <a:xfrm>
            <a:off x="8220456" y="4910327"/>
            <a:ext cx="3346704" cy="3931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30" b="0">
                <a:solidFill>
                  <a:srgbClr val="183246"/>
                </a:solidFill>
                <a:latin typeface="Aptos"/>
              </a:rPr>
              <a:t>Matched service + TCO evidence
Legal, product and finance approval</a:t>
            </a:r>
          </a:p>
        </p:txBody>
      </p:sp>
      <p:sp>
        <p:nvSpPr>
          <p:cNvPr id="44" name="TextBox 43"/>
          <p:cNvSpPr txBox="1"/>
          <p:nvPr/>
        </p:nvSpPr>
        <p:spPr>
          <a:xfrm>
            <a:off x="502920" y="5742432"/>
            <a:ext cx="11082528" cy="32918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340" b="0">
                <a:solidFill>
                  <a:srgbClr val="183246"/>
                </a:solidFill>
                <a:latin typeface="Aptos"/>
              </a:rPr>
              <a:t>First POCs: 8-device Knowledge Agent / 1-5m pages or chunks; 16-device retrieval/rerank; 8-device private AI; thermal and lifecycle tests.</a:t>
            </a:r>
          </a:p>
        </p:txBody>
      </p:sp>
      <p:sp>
        <p:nvSpPr>
          <p:cNvPr id="45" name="TextBox 44"/>
          <p:cNvSpPr txBox="1"/>
          <p:nvPr/>
        </p:nvSpPr>
        <p:spPr>
          <a:xfrm>
            <a:off x="502920" y="6117336"/>
            <a:ext cx="11119104" cy="22860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80" b="0">
                <a:solidFill>
                  <a:srgbClr val="536879"/>
                </a:solidFill>
                <a:latin typeface="Aptos"/>
              </a:rPr>
              <a:t>Fail on quality/ACL/safety, unsafe DMA, missed p99/freshness or peak HA, thermal derating, incomplete software/support, or adverse accepted-service TCO. PRD 19-20.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4632" y="192024"/>
            <a:ext cx="2926080" cy="25603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00" b="1">
                <a:solidFill>
                  <a:srgbClr val="D51F3C"/>
                </a:solidFill>
                <a:latin typeface="Aptos"/>
              </a:rPr>
              <a:t>SANDISK / ATMOS</a:t>
            </a:r>
          </a:p>
        </p:txBody>
      </p:sp>
      <p:sp>
        <p:nvSpPr>
          <p:cNvPr id="3" name="TextBox 2"/>
          <p:cNvSpPr txBox="1"/>
          <p:nvPr/>
        </p:nvSpPr>
        <p:spPr>
          <a:xfrm>
            <a:off x="8247888" y="192024"/>
            <a:ext cx="3456432" cy="256032"/>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536879"/>
                </a:solidFill>
                <a:latin typeface="Aptos"/>
              </a:rPr>
              <a:t>AI CAPACITY PORTFOLIO / 13</a:t>
            </a:r>
          </a:p>
        </p:txBody>
      </p:sp>
      <p:sp>
        <p:nvSpPr>
          <p:cNvPr id="4" name="Rectangle 3"/>
          <p:cNvSpPr/>
          <p:nvPr/>
        </p:nvSpPr>
        <p:spPr>
          <a:xfrm>
            <a:off x="502920" y="566928"/>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84632" y="758952"/>
            <a:ext cx="11183112" cy="53035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a:solidFill>
                  <a:srgbClr val="183246"/>
                </a:solidFill>
                <a:latin typeface="Aptos"/>
              </a:rPr>
              <a:t>Approve bounded product proof—not a launch claim</a:t>
            </a:r>
          </a:p>
        </p:txBody>
      </p:sp>
      <p:sp>
        <p:nvSpPr>
          <p:cNvPr id="6" name="TextBox 5"/>
          <p:cNvSpPr txBox="1"/>
          <p:nvPr/>
        </p:nvSpPr>
        <p:spPr>
          <a:xfrm>
            <a:off x="502920" y="1316736"/>
            <a:ext cx="11109960" cy="4114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rgbClr val="536879"/>
                </a:solidFill>
                <a:latin typeface="Aptos"/>
              </a:rPr>
              <a:t>Leadership needs scope, accountable software/service owners, an OEM qualification path and a finance gate.</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84632" y="6510528"/>
            <a:ext cx="6400800" cy="21031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850" b="0">
                <a:solidFill>
                  <a:srgbClr val="536879"/>
                </a:solidFill>
                <a:latin typeface="Aptos"/>
              </a:rPr>
              <a:t>INTERNAL / 6 October 2026 / PLANNING, NOT QUALIFIED PERFORMANCE</a:t>
            </a:r>
          </a:p>
        </p:txBody>
      </p:sp>
      <p:sp>
        <p:nvSpPr>
          <p:cNvPr id="9" name="TextBox 8">
            <a:hlinkClick r:id="rId3"/>
          </p:cNvPr>
          <p:cNvSpPr txBox="1"/>
          <p:nvPr/>
        </p:nvSpPr>
        <p:spPr>
          <a:xfrm>
            <a:off x="7178040" y="6492240"/>
            <a:ext cx="2148840"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00" b="0">
                <a:solidFill>
                  <a:srgbClr val="2B6791"/>
                </a:solidFill>
                <a:latin typeface="Aptos"/>
              </a:rPr>
              <a:t>Open Word proposal</a:t>
            </a:r>
          </a:p>
        </p:txBody>
      </p:sp>
      <p:sp>
        <p:nvSpPr>
          <p:cNvPr id="10" name="TextBox 9">
            <a:hlinkClick r:id="rId4"/>
          </p:cNvPr>
          <p:cNvSpPr txBox="1"/>
          <p:nvPr/>
        </p:nvSpPr>
        <p:spPr>
          <a:xfrm>
            <a:off x="9555480" y="6492240"/>
            <a:ext cx="2139696" cy="246888"/>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a:solidFill>
                  <a:srgbClr val="2B6791"/>
                </a:solidFill>
                <a:latin typeface="Aptos"/>
              </a:rPr>
              <a:t>Section 20</a:t>
            </a:r>
          </a:p>
        </p:txBody>
      </p:sp>
      <p:sp>
        <p:nvSpPr>
          <p:cNvPr id="11" name="TextBox 10"/>
          <p:cNvSpPr txBox="1"/>
          <p:nvPr/>
        </p:nvSpPr>
        <p:spPr>
          <a:xfrm>
            <a:off x="502920" y="1837943"/>
            <a:ext cx="6437376"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007B78"/>
                </a:solidFill>
                <a:latin typeface="Aptos"/>
              </a:rPr>
              <a:t>APPROVE / ASSIGN / HOLD</a:t>
            </a:r>
          </a:p>
        </p:txBody>
      </p:sp>
      <p:sp>
        <p:nvSpPr>
          <p:cNvPr id="12" name="TextBox 11"/>
          <p:cNvSpPr txBox="1"/>
          <p:nvPr/>
        </p:nvSpPr>
        <p:spPr>
          <a:xfrm>
            <a:off x="502920" y="2240280"/>
            <a:ext cx="1408176"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20" b="1">
                <a:solidFill>
                  <a:srgbClr val="007B78"/>
                </a:solidFill>
                <a:latin typeface="Aptos"/>
              </a:rPr>
              <a:t>PRODUCT</a:t>
            </a:r>
          </a:p>
        </p:txBody>
      </p:sp>
      <p:sp>
        <p:nvSpPr>
          <p:cNvPr id="13" name="TextBox 12"/>
          <p:cNvSpPr txBox="1"/>
          <p:nvPr/>
        </p:nvSpPr>
        <p:spPr>
          <a:xfrm>
            <a:off x="2029968" y="2240280"/>
            <a:ext cx="5029200" cy="6217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183246"/>
                </a:solidFill>
                <a:latin typeface="Aptos"/>
              </a:rPr>
              <a:t>Approve 8/16-device POCs and the OOB Knowledge Agent; retain strict workload and claims boundaries.</a:t>
            </a:r>
          </a:p>
        </p:txBody>
      </p:sp>
      <p:sp>
        <p:nvSpPr>
          <p:cNvPr id="14" name="TextBox 13"/>
          <p:cNvSpPr txBox="1"/>
          <p:nvPr/>
        </p:nvSpPr>
        <p:spPr>
          <a:xfrm>
            <a:off x="502920" y="2962656"/>
            <a:ext cx="1408176"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20" b="1">
                <a:solidFill>
                  <a:srgbClr val="007B78"/>
                </a:solidFill>
                <a:latin typeface="Aptos"/>
              </a:rPr>
              <a:t>SOFTWARE</a:t>
            </a:r>
          </a:p>
        </p:txBody>
      </p:sp>
      <p:sp>
        <p:nvSpPr>
          <p:cNvPr id="15" name="TextBox 14"/>
          <p:cNvSpPr txBox="1"/>
          <p:nvPr/>
        </p:nvSpPr>
        <p:spPr>
          <a:xfrm>
            <a:off x="2029968" y="2962656"/>
            <a:ext cx="5029200" cy="6217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183246"/>
                </a:solidFill>
                <a:latin typeface="Aptos"/>
              </a:rPr>
              <a:t>Name owners for AI OS, driver/runtime, Model Services/Operator, Control Center, SDK and release/support.</a:t>
            </a:r>
          </a:p>
        </p:txBody>
      </p:sp>
      <p:sp>
        <p:nvSpPr>
          <p:cNvPr id="16" name="TextBox 15"/>
          <p:cNvSpPr txBox="1"/>
          <p:nvPr/>
        </p:nvSpPr>
        <p:spPr>
          <a:xfrm>
            <a:off x="502920" y="3685032"/>
            <a:ext cx="1408176"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20" b="1">
                <a:solidFill>
                  <a:srgbClr val="007B78"/>
                </a:solidFill>
                <a:latin typeface="Aptos"/>
              </a:rPr>
              <a:t>PLATFORM</a:t>
            </a:r>
          </a:p>
        </p:txBody>
      </p:sp>
      <p:sp>
        <p:nvSpPr>
          <p:cNvPr id="17" name="TextBox 16"/>
          <p:cNvSpPr txBox="1"/>
          <p:nvPr/>
        </p:nvSpPr>
        <p:spPr>
          <a:xfrm>
            <a:off x="2029968" y="3685032"/>
            <a:ext cx="5029200" cy="6217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183246"/>
                </a:solidFill>
                <a:latin typeface="Aptos"/>
              </a:rPr>
              <a:t>Start Supermicro/Dell/HPE feasibility; freeze 2T/x4/P2P, thermal, HA, firmware and service contracts.</a:t>
            </a:r>
          </a:p>
        </p:txBody>
      </p:sp>
      <p:sp>
        <p:nvSpPr>
          <p:cNvPr id="18" name="TextBox 17"/>
          <p:cNvSpPr txBox="1"/>
          <p:nvPr/>
        </p:nvSpPr>
        <p:spPr>
          <a:xfrm>
            <a:off x="502920" y="4407408"/>
            <a:ext cx="1408176"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20" b="1">
                <a:solidFill>
                  <a:srgbClr val="007B78"/>
                </a:solidFill>
                <a:latin typeface="Aptos"/>
              </a:rPr>
              <a:t>COMMERCIAL</a:t>
            </a:r>
          </a:p>
        </p:txBody>
      </p:sp>
      <p:sp>
        <p:nvSpPr>
          <p:cNvPr id="19" name="TextBox 18"/>
          <p:cNvSpPr txBox="1"/>
          <p:nvPr/>
        </p:nvSpPr>
        <p:spPr>
          <a:xfrm>
            <a:off x="2029968" y="4407408"/>
            <a:ext cx="5029200" cy="6217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183246"/>
                </a:solidFill>
                <a:latin typeface="Aptos"/>
              </a:rPr>
              <a:t>Keep 70% price as a target; require quotes, certification staffing, measured unit costs and cashable displacement.</a:t>
            </a:r>
          </a:p>
        </p:txBody>
      </p:sp>
      <p:sp>
        <p:nvSpPr>
          <p:cNvPr id="20" name="TextBox 19"/>
          <p:cNvSpPr txBox="1"/>
          <p:nvPr/>
        </p:nvSpPr>
        <p:spPr>
          <a:xfrm>
            <a:off x="502920" y="5129784"/>
            <a:ext cx="1408176" cy="36576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20" b="1">
                <a:solidFill>
                  <a:srgbClr val="D51F3C"/>
                </a:solidFill>
                <a:latin typeface="Aptos"/>
              </a:rPr>
              <a:t>HOLD</a:t>
            </a:r>
          </a:p>
        </p:txBody>
      </p:sp>
      <p:sp>
        <p:nvSpPr>
          <p:cNvPr id="21" name="TextBox 20"/>
          <p:cNvSpPr txBox="1"/>
          <p:nvPr/>
        </p:nvSpPr>
        <p:spPr>
          <a:xfrm>
            <a:off x="2029968" y="5129784"/>
            <a:ext cx="5029200" cy="621792"/>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00" b="0">
                <a:solidFill>
                  <a:srgbClr val="183246"/>
                </a:solidFill>
                <a:latin typeface="Aptos"/>
              </a:rPr>
              <a:t>24-device launch, unsupported models, compliance/diagnostic/safety claims and universal replacement promises.</a:t>
            </a:r>
          </a:p>
        </p:txBody>
      </p:sp>
      <p:sp>
        <p:nvSpPr>
          <p:cNvPr id="22" name="Rectangle 21"/>
          <p:cNvSpPr/>
          <p:nvPr/>
        </p:nvSpPr>
        <p:spPr>
          <a:xfrm>
            <a:off x="7452360" y="1828800"/>
            <a:ext cx="4233672" cy="4215384"/>
          </a:xfrm>
          <a:prstGeom prst="rect">
            <a:avLst/>
          </a:prstGeom>
          <a:solidFill>
            <a:srgbClr val="F3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7607808" y="1993392"/>
            <a:ext cx="3922776" cy="28346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rgbClr val="2B6791"/>
                </a:solidFill>
                <a:latin typeface="Aptos"/>
              </a:rPr>
              <a:t>CLICK TO OPEN PRD DETAILS</a:t>
            </a:r>
          </a:p>
        </p:txBody>
      </p:sp>
      <p:sp>
        <p:nvSpPr>
          <p:cNvPr id="24" name="TextBox 23">
            <a:hlinkClick r:id="rId5"/>
          </p:cNvPr>
          <p:cNvSpPr txBox="1"/>
          <p:nvPr/>
        </p:nvSpPr>
        <p:spPr>
          <a:xfrm>
            <a:off x="7607808" y="2496312"/>
            <a:ext cx="3913632"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60" b="0">
                <a:solidFill>
                  <a:srgbClr val="2B6791"/>
                </a:solidFill>
                <a:latin typeface="Aptos"/>
              </a:rPr>
              <a:t>2 / 15  Hardware and SKU specs</a:t>
            </a:r>
          </a:p>
        </p:txBody>
      </p:sp>
      <p:sp>
        <p:nvSpPr>
          <p:cNvPr id="25" name="TextBox 24">
            <a:hlinkClick r:id="rId6"/>
          </p:cNvPr>
          <p:cNvSpPr txBox="1"/>
          <p:nvPr/>
        </p:nvSpPr>
        <p:spPr>
          <a:xfrm>
            <a:off x="7607808" y="2807208"/>
            <a:ext cx="3913632"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60" b="0">
                <a:solidFill>
                  <a:srgbClr val="2B6791"/>
                </a:solidFill>
                <a:latin typeface="Aptos"/>
              </a:rPr>
              <a:t>3-4  Turnkey stack and APIs</a:t>
            </a:r>
          </a:p>
        </p:txBody>
      </p:sp>
      <p:sp>
        <p:nvSpPr>
          <p:cNvPr id="26" name="TextBox 25">
            <a:hlinkClick r:id="rId7"/>
          </p:cNvPr>
          <p:cNvSpPr txBox="1"/>
          <p:nvPr/>
        </p:nvSpPr>
        <p:spPr>
          <a:xfrm>
            <a:off x="7607808" y="3118104"/>
            <a:ext cx="3913632"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60" b="0">
                <a:solidFill>
                  <a:srgbClr val="2B6791"/>
                </a:solidFill>
                <a:latin typeface="Aptos"/>
              </a:rPr>
              <a:t>5-8  Knowledge, data, tools, safety</a:t>
            </a:r>
          </a:p>
        </p:txBody>
      </p:sp>
      <p:sp>
        <p:nvSpPr>
          <p:cNvPr id="27" name="TextBox 26">
            <a:hlinkClick r:id="rId8"/>
          </p:cNvPr>
          <p:cNvSpPr txBox="1"/>
          <p:nvPr/>
        </p:nvSpPr>
        <p:spPr>
          <a:xfrm>
            <a:off x="7607808" y="3429000"/>
            <a:ext cx="3913632"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60" b="0">
                <a:solidFill>
                  <a:srgbClr val="2B6791"/>
                </a:solidFill>
                <a:latin typeface="Aptos"/>
              </a:rPr>
              <a:t>9-10  Models and platform upgrades</a:t>
            </a:r>
          </a:p>
        </p:txBody>
      </p:sp>
      <p:sp>
        <p:nvSpPr>
          <p:cNvPr id="28" name="TextBox 27">
            <a:hlinkClick r:id="rId9"/>
          </p:cNvPr>
          <p:cNvSpPr txBox="1"/>
          <p:nvPr/>
        </p:nvSpPr>
        <p:spPr>
          <a:xfrm>
            <a:off x="7607808" y="3739896"/>
            <a:ext cx="3913632"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60" b="0">
                <a:solidFill>
                  <a:srgbClr val="2B6791"/>
                </a:solidFill>
                <a:latin typeface="Aptos"/>
              </a:rPr>
              <a:t>11-12  Operations, support, security</a:t>
            </a:r>
          </a:p>
        </p:txBody>
      </p:sp>
      <p:sp>
        <p:nvSpPr>
          <p:cNvPr id="29" name="TextBox 28">
            <a:hlinkClick r:id="rId10"/>
          </p:cNvPr>
          <p:cNvSpPr txBox="1"/>
          <p:nvPr/>
        </p:nvSpPr>
        <p:spPr>
          <a:xfrm>
            <a:off x="7607808" y="4050791"/>
            <a:ext cx="3913632"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60" b="0">
                <a:solidFill>
                  <a:srgbClr val="2B6791"/>
                </a:solidFill>
                <a:latin typeface="Aptos"/>
              </a:rPr>
              <a:t>13-15  OEM design and qualification</a:t>
            </a:r>
          </a:p>
        </p:txBody>
      </p:sp>
      <p:sp>
        <p:nvSpPr>
          <p:cNvPr id="30" name="TextBox 29">
            <a:hlinkClick r:id="rId11"/>
          </p:cNvPr>
          <p:cNvSpPr txBox="1"/>
          <p:nvPr/>
        </p:nvSpPr>
        <p:spPr>
          <a:xfrm>
            <a:off x="7607808" y="4361688"/>
            <a:ext cx="3913632"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60" b="0">
                <a:solidFill>
                  <a:srgbClr val="2B6791"/>
                </a:solidFill>
                <a:latin typeface="Aptos"/>
              </a:rPr>
              <a:t>16  Workload and vertical catalog</a:t>
            </a:r>
          </a:p>
        </p:txBody>
      </p:sp>
      <p:sp>
        <p:nvSpPr>
          <p:cNvPr id="31" name="TextBox 30">
            <a:hlinkClick r:id="rId12"/>
          </p:cNvPr>
          <p:cNvSpPr txBox="1"/>
          <p:nvPr/>
        </p:nvSpPr>
        <p:spPr>
          <a:xfrm>
            <a:off x="7607808" y="4672584"/>
            <a:ext cx="3913632"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60" b="0">
                <a:solidFill>
                  <a:srgbClr val="2B6791"/>
                </a:solidFill>
                <a:latin typeface="Aptos"/>
              </a:rPr>
              <a:t>17-18  Counterparts and TCO</a:t>
            </a:r>
          </a:p>
        </p:txBody>
      </p:sp>
      <p:sp>
        <p:nvSpPr>
          <p:cNvPr id="32" name="TextBox 31">
            <a:hlinkClick r:id="rId13"/>
          </p:cNvPr>
          <p:cNvSpPr txBox="1"/>
          <p:nvPr/>
        </p:nvSpPr>
        <p:spPr>
          <a:xfrm>
            <a:off x="7607808" y="4983480"/>
            <a:ext cx="3913632"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60" b="0">
                <a:solidFill>
                  <a:srgbClr val="2B6791"/>
                </a:solidFill>
                <a:latin typeface="Aptos"/>
              </a:rPr>
              <a:t>19-20  Gates, risks and decisions</a:t>
            </a:r>
          </a:p>
        </p:txBody>
      </p:sp>
      <p:sp>
        <p:nvSpPr>
          <p:cNvPr id="33" name="TextBox 32">
            <a:hlinkClick r:id="rId14"/>
          </p:cNvPr>
          <p:cNvSpPr txBox="1"/>
          <p:nvPr/>
        </p:nvSpPr>
        <p:spPr>
          <a:xfrm>
            <a:off x="7607808" y="5294376"/>
            <a:ext cx="3913632" cy="24688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260" b="0">
                <a:solidFill>
                  <a:srgbClr val="2B6791"/>
                </a:solidFill>
                <a:latin typeface="Aptos"/>
              </a:rPr>
              <a:t>A  PRD public source register</a:t>
            </a:r>
          </a:p>
        </p:txBody>
      </p:sp>
      <p:sp>
        <p:nvSpPr>
          <p:cNvPr id="34" name="TextBox 33"/>
          <p:cNvSpPr txBox="1"/>
          <p:nvPr/>
        </p:nvSpPr>
        <p:spPr>
          <a:xfrm>
            <a:off x="502920" y="6117336"/>
            <a:ext cx="11119104" cy="22860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80" b="0">
                <a:solidFill>
                  <a:srgbClr val="536879"/>
                </a:solidFill>
                <a:latin typeface="Aptos"/>
              </a:rPr>
              <a:t>Keep PPTX + linked PRD together. Each slide offers a full-document link if the viewer ignores section bookmarks. Original PRD content is preserved.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9105</Words>
  <Application>Microsoft Macintosh PowerPoint</Application>
  <PresentationFormat>Widescreen</PresentationFormat>
  <Paragraphs>614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Sandisk ATMOS AI Appliance Portfolio: Leadership Proposal</dc:title>
  <dc:subject>Source-controlled PRD requirements, product scope and investment gates</dc:subject>
  <dc:creator>Sandisk / ATMOS Product and Engineering</dc:creator>
  <cp:keywords/>
  <dc:description>generated using python-pptx</dc:description>
  <cp:lastModifiedBy>Shailesh Pilare</cp:lastModifiedBy>
  <cp:revision>3</cp:revision>
  <dcterms:created xsi:type="dcterms:W3CDTF">2026-10-06T20:26:59Z</dcterms:created>
  <dcterms:modified xsi:type="dcterms:W3CDTF">2026-10-06T21:08:33Z</dcterms:modified>
  <cp:category/>
</cp:coreProperties>
</file>