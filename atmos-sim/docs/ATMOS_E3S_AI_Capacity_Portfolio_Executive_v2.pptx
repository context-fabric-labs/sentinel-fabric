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07"/>
    <p:restoredTop sz="94675"/>
  </p:normalViewPr>
  <p:slideViewPr>
    <p:cSldViewPr snapToGrid="0" snapToObjects="1">
      <p:cViewPr varScale="1">
        <p:scale>
          <a:sx n="119" d="100"/>
          <a:sy n="119" d="100"/>
        </p:scale>
        <p:origin x="360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3651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ATMOS_E3S_Product_Portfolio_and_Rackscale_Integration_Proposal_v2.docx. Section 1, bookmark Portfolio.</a:t>
            </a:r>
          </a:p>
          <a:p>
            <a:r>
              <a:t>Keep both files together. Full-document link is the portable fallback if a viewer ignores bookmark fragments. Office security policies can require confirmation for local links.</a:t>
            </a:r>
          </a:p>
          <a:p>
            <a:r>
              <a:t>Slide 1: ATMOS E3.S AI Capacity Portfolio. All ATMOS specifications and economic scenarios require qualification.</a:t>
            </a:r>
          </a:p>
          <a:p>
            <a:r>
              <a:t>E1/E2/E3 are enterprise deployment modes, not additive pools of savings. H is hyperscale-first. The supplied portfolio's removed research product is absent from product scope, roadmap, pricing and claims. No launch is approved here.</a:t>
            </a:r>
          </a:p>
          <a:p>
            <a:r>
              <a:t>[S4] Meta: Scaling the Instagram Explore recommendations system (9 Aug 2023)</a:t>
            </a:r>
          </a:p>
          <a:p>
            <a:r>
              <a:t>https://engineering.fb.com/2023/08/09/ml-applications/scaling-instagram-explore-recommendations-system/</a:t>
            </a:r>
          </a:p>
          <a:p>
            <a:r>
              <a:t>Use: Billions of items; cached two-tower retrieval; multi-stage ranking that narrows thousands of candidates. Market-scale precedent, not ATMOS adoption. Reviewed 5 October 2026.</a:t>
            </a:r>
          </a:p>
          <a:p>
            <a:r>
              <a:t>[S10] LinkedIn authors: LiRank (2024; revised 7 Aug 2024)</a:t>
            </a:r>
          </a:p>
          <a:p>
            <a:r>
              <a:t>https://arxiv.org/abs/2402.06859</a:t>
            </a:r>
          </a:p>
          <a:p>
            <a:r>
              <a:t>Use: Production-scale feed, jobs and ads ranking; quantization/vocabulary compression. Target-market precedent and incumbent optimization, not ATMOS validation. Reviewed 5 October 2026.</a:t>
            </a:r>
          </a:p>
          <a:p>
            <a:r>
              <a:t>[S11] Meta: Multi-Stage Architecture for Ads Ranking (5 Aug 2026)</a:t>
            </a:r>
          </a:p>
          <a:p>
            <a:r>
              <a:t>https://engineering.fb.com/2026/08/05/ml-applications/from-user-sequences-to-scaling-laws-a-multi-stage-architecture-for-metas-ads-ranking/</a:t>
            </a:r>
          </a:p>
          <a:p>
            <a:r>
              <a:t>Use: Heavy offline user modeling and cached embeddings with latency-constrained online ranking. Co-design and caching must be included in the comparator. Reviewed 5 October 2026.</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ATMOS_E3S_Product_Portfolio_and_Rackscale_Integration_Proposal_v2.docx. Section 2, bookmark Foundation.</a:t>
            </a:r>
          </a:p>
          <a:p>
            <a:r>
              <a:t>Keep both files together. Full-document link is the portable fallback if a viewer ignores bookmark fragments. Office security policies can require confirmation for local links.</a:t>
            </a:r>
          </a:p>
          <a:p>
            <a:r>
              <a:t>Slide 2: Localize bytes. Exchange compact results.. All ATMOS specifications and economic scenarios require qualification.</a:t>
            </a:r>
          </a:p>
          <a:p>
            <a:r>
              <a:t>All ATMOS values are source planning assumptions. Per-device LPDDR 8-16 GB, 30-40 W device power, 64 TOPS-class source target with undefined precision/sparsity. Two four-device x16 domains consume 32 host lanes. Peer DMA is a transport capability, not a collective, coherent pool or connection to GPU native fabric. ModelPack/ExpertPack and ATMOS-specific driver/runtime/operator require delivery.</a:t>
            </a:r>
          </a:p>
          <a:p>
            <a:r>
              <a:t>[S1] Linux kernel: PCI Peer-to-Peer DMA Support</a:t>
            </a:r>
          </a:p>
          <a:p>
            <a:r>
              <a:t>https://docs.kernel.org/driver-api/pci/p2pdma.html</a:t>
            </a:r>
          </a:p>
          <a:p>
            <a:r>
              <a:t>Use: Topology limits, cooperating provider/client/orchestrator drivers, safe DMA invalidation. Not ATMOS qualification. Reviewed 5 October 2026.</a:t>
            </a:r>
          </a:p>
          <a:p>
            <a:r>
              <a:t>[S2] Kubernetes: Dynamic Resource Allocation</a:t>
            </a:r>
          </a:p>
          <a:p>
            <a:r>
              <a:t>https://kubernetes.io/docs/concepts/scheduling-eviction/dynamic-resource-allocation/</a:t>
            </a:r>
          </a:p>
          <a:p>
            <a:r>
              <a:t>Use: ResourceSlices, DeviceClasses, ResourceClaims and CDI. Version and feature status must be pinned; DRA is not model readiness or failover. Reviewed 5 October 2026.</a:t>
            </a:r>
          </a:p>
          <a:p>
            <a:r>
              <a:t>[S3] llm-d: Architecture</a:t>
            </a:r>
          </a:p>
          <a:p>
            <a:r>
              <a:t>https://llm-d.ai/docs/architecture</a:t>
            </a:r>
          </a:p>
          <a:p>
            <a:r>
              <a:t>Use: Router, endpoint picker, InferencePool, model servers and workload variants. ATMOS still requires its own backend, metrics and qualification. Reviewed 5 October 2026.</a:t>
            </a:r>
          </a:p>
          <a:p>
            <a:r>
              <a:t>[S9] Tenstorrent: vLLM TT Plugin</a:t>
            </a:r>
          </a:p>
          <a:p>
            <a:r>
              <a:t>https://github.com/tenstorrent/vllm-tt-plugin</a:t>
            </a:r>
          </a:p>
          <a:p>
            <a:r>
              <a:t>Use: A public Tenstorrent/vLLM integration path with model/device/version limits. Does not establish an ATMOS HBF backend or ATMOS performance. Reviewed 5 October 2026.</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ATMOS_E3S_Product_Portfolio_and_Rackscale_Integration_Proposal_v2.docx. Section 3, bookmark Appliance.</a:t>
            </a:r>
          </a:p>
          <a:p>
            <a:r>
              <a:t>Keep both files together. Full-document link is the portable fallback if a viewer ignores bookmark fragments. Office security policies can require confirmation for local links.</a:t>
            </a:r>
          </a:p>
          <a:p>
            <a:r>
              <a:t>Slide 3: E1 / A turnkey private neural-service endpoint. All ATMOS specifications and economic scenarios require qualification.</a:t>
            </a:r>
          </a:p>
          <a:p>
            <a:r>
              <a:t>ILLUSTRATIVE E1, constant USD, 36 months, no discounting or residual value. Initial hardware $90,000 + deployment $30,000 = $120,000. Annual support $12,000, software $8,000, operations $25,000, average IT 1.5 kW. Power cost = kW x 8760 x assumed PUE 1.4 x $0.12/kWh = $2,208/year. Annual recurring $47,208; avoidable baseline $180,000; retained $0. Baseline 3y $540,000; project 3y $261,623; net $278,377. TCO saving 51.6%, upfront-investment ROI 232.0%, simple payback 10.8 months. Break-even monetization 48.4%. At 50% realization net benefit $8,377. Annual demand 100,000,000 embedding requests; Three assumed $30k 8-device nodes; two active plus one N+1 node. Node count and accepted rates must be measured under identical quality, SLO and HA. Freed installed-GPU capacity is noncash unless a named bill or future purchase is avoided. Scenarios are independent/non-additive. Details: ATMOS_E3S_Product_Portfolio_and_Rackscale_Integration_Proposal_v2.docx#Economics.</a:t>
            </a:r>
          </a:p>
          <a:p>
            <a:r>
              <a:t>Published embedding API prices can defeat the private-appliance business case. 100m requests x hypothetical 512 tokens = 51.2 billion input tokens/year. At $0.02/million, small-model token charges are $1,024/year, excluding other costs and requiring permitted privacy/quality/SLO. No direct API equivalence is assumed.</a:t>
            </a:r>
          </a:p>
          <a:p>
            <a:r>
              <a:t>[S13] OpenAI: API pricing, specialized embedding models</a:t>
            </a:r>
          </a:p>
          <a:p>
            <a:r>
              <a:t>https://developers.openai.com/api/docs/pricing/</a:t>
            </a:r>
          </a:p>
          <a:p>
            <a:r>
              <a:t>Use: Published standard input-token prices: text-embedding-3-small $0.02 and text-embedding-3-large $0.13 per million tokens. Policy/quality/SLO and non-token costs differ from private infrastructure. Reviewed 5 October 2026.</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ATMOS_E3S_Product_Portfolio_and_Rackscale_Integration_Proposal_v2.docx. Section 4, bookmark Companion.</a:t>
            </a:r>
          </a:p>
          <a:p>
            <a:r>
              <a:t>Keep both files together. Full-document link is the portable fallback if a viewer ignores bookmark fragments. Office security policies can require confirmation for local links.</a:t>
            </a:r>
          </a:p>
          <a:p>
            <a:r>
              <a:t>Slide 4: E2 / Add capacity without splitting an inference request. All ATMOS specifications and economic scenarios require qualification.</a:t>
            </a:r>
          </a:p>
          <a:p>
            <a:r>
              <a:t>ILLUSTRATIVE E2, constant USD, 36 months, no discounting or residual value. Initial hardware $75,000 + deployment $25,000 = $100,000. Annual support $10,000, software $8,000, operations $24,000, average IT 1.2 kW. Power cost = kW x 8760 x assumed PUE 1.4 x $0.12/kWh = $1,766/year. Annual recurring $43,766; avoidable baseline $120,000; retained $0. Baseline 3y $360,000; project 3y $231,298; net $128,702. TCO saving 35.8%, upfront-investment ROI 128.7%, simple payback 15.7 months. Break-even monetization 64.2%. At 50% realization net benefit -$51,298. Annual demand 20,000,000 qualified batch jobs; Three assumed $25k 8-device nodes; two active plus one N+1 node. Node count and accepted rates must be measured under identical quality, SLO and HA. Freed installed-GPU capacity is noncash unless a named bill or future purchase is avoided. Scenarios are independent/non-additive. Details: ATMOS_E3S_Product_Portfolio_and_Rackscale_Integration_Proposal_v2.docx#Economics.</a:t>
            </a:r>
          </a:p>
          <a:p>
            <a:r>
              <a:t>Request count share is not equal to GPU cost share. Peak, model residency, batch efficiency and lease terms control removability. At only half the avoidable baseline budget monetized, this scenario loses money over 36 months.</a:t>
            </a:r>
          </a:p>
          <a:p>
            <a:r>
              <a:t>[S3] llm-d: Architecture</a:t>
            </a:r>
          </a:p>
          <a:p>
            <a:r>
              <a:t>https://llm-d.ai/docs/architecture</a:t>
            </a:r>
          </a:p>
          <a:p>
            <a:r>
              <a:t>Use: Router, endpoint picker, InferencePool, model servers and workload variants. ATMOS still requires its own backend, metrics and qualification. Reviewed 5 October 2026.</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ATMOS_E3S_Product_Portfolio_and_Rackscale_Integration_Proposal_v2.docx. Section 5, bookmark CapacityPool.</a:t>
            </a:r>
          </a:p>
          <a:p>
            <a:r>
              <a:t>Keep both files together. Full-document link is the portable fallback if a viewer ignores bookmark fragments. Office security policies can require confirmation for local links.</a:t>
            </a:r>
          </a:p>
          <a:p>
            <a:r>
              <a:t>Slide 5: E3 / One gateway. Two qualified hardware pools.. All ATMOS specifications and economic scenarios require qualification.</a:t>
            </a:r>
          </a:p>
          <a:p>
            <a:r>
              <a:t>ILLUSTRATIVE E3, constant USD, 36 months, no discounting or residual value. Initial hardware $120,000 + deployment $60,000 = $180,000. Annual support $18,000, software $12,000, operations $50,000, average IT 2.0 kW. Power cost = kW x 8760 x assumed PUE 1.4 x $0.12/kWh = $2,943/year. Annual recurring $82,943; avoidable baseline $300,000; retained $700,000. Baseline 3y $3,000,000; project 3y $2,528,830; net $471,170. TCO saving 15.7%, upfront-investment ROI 261.8%, simple payback 10.0 months. Break-even monetization 47.6%. At 50% realization net benefit $21,170. Annual demand 500,000,000 requests in the unchanged estate workload mix; Three assumed $40k 16-device nodes; two active plus one N+1 node. Node count and accepted rates must be measured under identical quality, SLO and HA. Freed installed-GPU capacity is noncash unless a named bill or future purchase is avoided. Scenarios are independent/non-additive. Details: ATMOS_E3S_Product_Portfolio_and_Rackscale_Integration_Proposal_v2.docx#Economics.</a:t>
            </a:r>
          </a:p>
          <a:p>
            <a:r>
              <a:t>DRA does not imply atomic P2P groups unless represented/enforced by the vendor driver, model readiness, application failover or device preemption. Pin features to selected Kubernetes/API versions. E3 assumes three 16-device nodes, two active and one N+1; measure surviving peak capacity. 500m requests/year use a frozen estate mix.</a:t>
            </a:r>
          </a:p>
          <a:p>
            <a:r>
              <a:t>[S2] Kubernetes: Dynamic Resource Allocation</a:t>
            </a:r>
          </a:p>
          <a:p>
            <a:r>
              <a:t>https://kubernetes.io/docs/concepts/scheduling-eviction/dynamic-resource-allocation/</a:t>
            </a:r>
          </a:p>
          <a:p>
            <a:r>
              <a:t>Use: ResourceSlices, DeviceClasses, ResourceClaims and CDI. Version and feature status must be pinned; DRA is not model readiness or failover. Reviewed 5 October 2026.</a:t>
            </a:r>
          </a:p>
          <a:p>
            <a:r>
              <a:t>[S3] llm-d: Architecture</a:t>
            </a:r>
          </a:p>
          <a:p>
            <a:r>
              <a:t>https://llm-d.ai/docs/architecture</a:t>
            </a:r>
          </a:p>
          <a:p>
            <a:r>
              <a:t>Use: Router, endpoint picker, InferencePool, model servers and workload variants. ATMOS still requires its own backend, metrics and qualification. Reviewed 5 October 2026.</a:t>
            </a:r>
          </a:p>
          <a:p>
            <a:r>
              <a:t>[S12] Agent Router capabilities (formerly Envoy AI Gateway)</a:t>
            </a:r>
          </a:p>
          <a:p>
            <a:r>
              <a:t>https://theagentrouter.ai/docs/capabilities/</a:t>
            </a:r>
          </a:p>
          <a:p>
            <a:r>
              <a:t>Use: Provider/pool routing, quota, rate limits and metrics. A candidate gateway foundation, not an ATMOS-ready distribution. Reviewed 5 October 2026.</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ATMOS_E3S_Product_Portfolio_and_Rackscale_Integration_Proposal_v2.docx. Section 6, bookmark HyperscaleSidecar.</a:t>
            </a:r>
          </a:p>
          <a:p>
            <a:r>
              <a:t>Keep both files together. Full-document link is the portable fallback if a viewer ignores bookmark fragments. Office security policies can require confirmation for local links.</a:t>
            </a:r>
          </a:p>
          <a:p>
            <a:r>
              <a:t>Slide 6: H / Hyperscale Neural-Data Sidecar. All ATMOS specifications and economic scenarios require qualification.</a:t>
            </a:r>
          </a:p>
          <a:p>
            <a:r>
              <a:t>ILLUSTRATIVE H, constant USD, 36 months, no discounting or residual value. Initial hardware $240,000 + deployment $120,000 = $360,000. Annual support $36,000, software $24,000, operations $120,000, average IT 6.0 kW. Power cost = kW x 8760 x assumed PUE 1.4 x $0.12/kWh = $8,830/year. Annual recurring $188,830; avoidable baseline $600,000; retained $900,000. Baseline 3y $4,500,000; project 3y $3,626,490; net $873,510. TCO saving 19.4%, upfront-investment ROI 242.6%, simple payback 10.5 months. Break-even monetization 51.5%. At 50% realization net benefit -$26,490. Annual demand 10,000,000,000 search/recommendation queries; Four assumed $60k 16-device nodes: two index generations times two service replicas. Node count and accepted rates must be measured under identical quality, SLO and HA. Freed installed-GPU capacity is noncash unless a named bill or future purchase is avoided. Scenarios are independent/non-additive. Details: ATMOS_E3S_Product_Portfolio_and_Rackscale_Integration_Proposal_v2.docx#Economics.</a:t>
            </a:r>
          </a:p>
          <a:p>
            <a:r>
              <a:t>Companies named are market archetypes, not partners/customers/endorsers. No cold-expert or Transformer-layer execution split is in the sidecar product. 500m*768*2=768e9 bytes; 25% allowance gives 960e9; two generations x two replicas=3.84e12 bytes, four separately qualified 16-device nodes at 100GB study budget/device. A surviving complete live node must meet the peak SLO. 20k*768*2=30.72e6 bytes; 200*(8+4)=2400 bytes. Actual input IDs, query, headers, selected features, merge, update/replica traffic are excluded. If incumbent ANN already emits compact IDs, this vector-movement benefit may be zero. No full scan of the corpus per query. HBF ingest/update is unproven.</a:t>
            </a:r>
          </a:p>
          <a:p>
            <a:r>
              <a:t>[S4] Meta: Scaling the Instagram Explore recommendations system (9 Aug 2023)</a:t>
            </a:r>
          </a:p>
          <a:p>
            <a:r>
              <a:t>https://engineering.fb.com/2023/08/09/ml-applications/scaling-instagram-explore-recommendations-system/</a:t>
            </a:r>
          </a:p>
          <a:p>
            <a:r>
              <a:t>Use: Billions of items; cached two-tower retrieval; multi-stage ranking that narrows thousands of candidates. Market-scale precedent, not ATMOS adoption. Reviewed 5 October 2026.</a:t>
            </a:r>
          </a:p>
          <a:p>
            <a:r>
              <a:t>[S5] Meta authors: Deep Learning Recommendation Model (31 May 2019)</a:t>
            </a:r>
          </a:p>
          <a:p>
            <a:r>
              <a:t>https://arxiv.org/abs/1906.00091</a:t>
            </a:r>
          </a:p>
          <a:p>
            <a:r>
              <a:t>Use: Embedding-table memory constraints and separate dense compute. Older architecture evidence, not a current measured ATMOS business case. Reviewed 5 October 2026.</a:t>
            </a:r>
          </a:p>
          <a:p>
            <a:r>
              <a:t>[S10] LinkedIn authors: LiRank (2024; revised 7 Aug 2024)</a:t>
            </a:r>
          </a:p>
          <a:p>
            <a:r>
              <a:t>https://arxiv.org/abs/2402.06859</a:t>
            </a:r>
          </a:p>
          <a:p>
            <a:r>
              <a:t>Use: Production-scale feed, jobs and ads ranking; quantization/vocabulary compression. Target-market precedent and incumbent optimization, not ATMOS validation. Reviewed 5 October 2026.</a:t>
            </a:r>
          </a:p>
          <a:p>
            <a:r>
              <a:t>[S11] Meta: Multi-Stage Architecture for Ads Ranking (5 Aug 2026)</a:t>
            </a:r>
          </a:p>
          <a:p>
            <a:r>
              <a:t>https://engineering.fb.com/2026/08/05/ml-applications/from-user-sequences-to-scaling-laws-a-multi-stage-architecture-for-metas-ads-ranking/</a:t>
            </a:r>
          </a:p>
          <a:p>
            <a:r>
              <a:t>Use: Heavy offline user modeling and cached embeddings with latency-constrained online ranking. Co-design and caching must be included in the comparator. Reviewed 5 October 2026.</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ATMOS_E3S_Product_Portfolio_and_Rackscale_Integration_Proposal_v2.docx. Section 8, bookmark Economics.</a:t>
            </a:r>
          </a:p>
          <a:p>
            <a:r>
              <a:t>Keep both files together. Full-document link is the portable fallback if a viewer ignores bookmark fragments. Office security policies can require confirmation for local links.</a:t>
            </a:r>
          </a:p>
          <a:p>
            <a:r>
              <a:t>Slide 7: Cost advantage needs accepted service AND avoided spend. All ATMOS specifications and economic scenarios require qualification.</a:t>
            </a:r>
          </a:p>
          <a:p>
            <a:r>
              <a:t>ILLUSTRATIVE E1, constant USD, 36 months, no discounting or residual value. Initial hardware $90,000 + deployment $30,000 = $120,000. Annual support $12,000, software $8,000, operations $25,000, average IT 1.5 kW. Power cost = kW x 8760 x assumed PUE 1.4 x $0.12/kWh = $2,208/year. Annual recurring $47,208; avoidable baseline $180,000; retained $0. Baseline 3y $540,000; project 3y $261,623; net $278,377. TCO saving 51.6%, upfront-investment ROI 232.0%, simple payback 10.8 months. Break-even monetization 48.4%. At 50% realization net benefit $8,377. Annual demand 100,000,000 embedding requests; Three assumed $30k 8-device nodes; two active plus one N+1 node. Node count and accepted rates must be measured under identical quality, SLO and HA. Freed installed-GPU capacity is noncash unless a named bill or future purchase is avoided. Scenarios are independent/non-additive. Details: ATMOS_E3S_Product_Portfolio_and_Rackscale_Integration_Proposal_v2.docx#Economics.</a:t>
            </a:r>
          </a:p>
          <a:p>
            <a:r>
              <a:t>ILLUSTRATIVE E2, constant USD, 36 months, no discounting or residual value. Initial hardware $75,000 + deployment $25,000 = $100,000. Annual support $10,000, software $8,000, operations $24,000, average IT 1.2 kW. Power cost = kW x 8760 x assumed PUE 1.4 x $0.12/kWh = $1,766/year. Annual recurring $43,766; avoidable baseline $120,000; retained $0. Baseline 3y $360,000; project 3y $231,298; net $128,702. TCO saving 35.8%, upfront-investment ROI 128.7%, simple payback 15.7 months. Break-even monetization 64.2%. At 50% realization net benefit -$51,298. Annual demand 20,000,000 qualified batch jobs; Three assumed $25k 8-device nodes; two active plus one N+1 node. Node count and accepted rates must be measured under identical quality, SLO and HA. Freed installed-GPU capacity is noncash unless a named bill or future purchase is avoided. Scenarios are independent/non-additive. Details: ATMOS_E3S_Product_Portfolio_and_Rackscale_Integration_Proposal_v2.docx#Economics.</a:t>
            </a:r>
          </a:p>
          <a:p>
            <a:r>
              <a:t>ILLUSTRATIVE E3, constant USD, 36 months, no discounting or residual value. Initial hardware $120,000 + deployment $60,000 = $180,000. Annual support $18,000, software $12,000, operations $50,000, average IT 2.0 kW. Power cost = kW x 8760 x assumed PUE 1.4 x $0.12/kWh = $2,943/year. Annual recurring $82,943; avoidable baseline $300,000; retained $700,000. Baseline 3y $3,000,000; project 3y $2,528,830; net $471,170. TCO saving 15.7%, upfront-investment ROI 261.8%, simple payback 10.0 months. Break-even monetization 47.6%. At 50% realization net benefit $21,170. Annual demand 500,000,000 requests in the unchanged estate workload mix; Three assumed $40k 16-device nodes; two active plus one N+1 node. Node count and accepted rates must be measured under identical quality, SLO and HA. Freed installed-GPU capacity is noncash unless a named bill or future purchase is avoided. Scenarios are independent/non-additive. Details: ATMOS_E3S_Product_Portfolio_and_Rackscale_Integration_Proposal_v2.docx#Economics.</a:t>
            </a:r>
          </a:p>
          <a:p>
            <a:r>
              <a:t>ILLUSTRATIVE H, constant USD, 36 months, no discounting or residual value. Initial hardware $240,000 + deployment $120,000 = $360,000. Annual support $36,000, software $24,000, operations $120,000, average IT 6.0 kW. Power cost = kW x 8760 x assumed PUE 1.4 x $0.12/kWh = $8,830/year. Annual recurring $188,830; avoidable baseline $600,000; retained $900,000. Baseline 3y $4,500,000; project 3y $3,626,490; net $873,510. TCO saving 19.4%, upfront-investment ROI 242.6%, simple payback 10.5 months. Break-even monetization 51.5%. At 50% realization net benefit -$26,490. Annual demand 10,000,000,000 search/recommendation queries; Four assumed $60k 16-device nodes: two index generations times two service replicas. Node count and accepted rates must be measured under identical quality, SLO and HA. Freed installed-GPU capacity is noncash unless a named bill or future purchase is avoided. Scenarios are independent/non-additive. Details: ATMOS_E3S_Product_Portfolio_and_Rackscale_Integration_Proposal_v2.docx#Economics.</a:t>
            </a:r>
          </a:p>
          <a:p>
            <a:r>
              <a:t>Simple ROI is cumulative 36-month net cash benefit divided by upfront investment, not vendor gross margin. Baseline provider power is already in cloud/lease/service budgets. No sunk-capital refund, tax, financing, residual value or revenue uplift. Customer quotes must include allocated supplier program NRE. All assumed service rate and node count inputs remain to be proven; see per-track ledgers and unit rates.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ATMOS_E3S_Product_Portfolio_and_Rackscale_Integration_Proposal_v2.docx. Section 8, bookmark Economics.</a:t>
            </a:r>
          </a:p>
          <a:p>
            <a:r>
              <a:t>Keep both files together. Full-document link is the portable fallback if a viewer ignores bookmark fragments. Office security policies can require confirmation for local links.</a:t>
            </a:r>
          </a:p>
          <a:p>
            <a:r>
              <a:t>Slide 8: Where the business case breaks. All ATMOS specifications and economic scenarios require qualification.</a:t>
            </a:r>
          </a:p>
          <a:p>
            <a:r>
              <a:t>ILLUSTRATIVE E1, constant USD, 36 months, no discounting or residual value. Initial hardware $90,000 + deployment $30,000 = $120,000. Annual support $12,000, software $8,000, operations $25,000, average IT 1.5 kW. Power cost = kW x 8760 x assumed PUE 1.4 x $0.12/kWh = $2,208/year. Annual recurring $47,208; avoidable baseline $180,000; retained $0. Baseline 3y $540,000; project 3y $261,623; net $278,377. TCO saving 51.6%, upfront-investment ROI 232.0%, simple payback 10.8 months. Break-even monetization 48.4%. At 50% realization net benefit $8,377. Annual demand 100,000,000 embedding requests; Three assumed $30k 8-device nodes; two active plus one N+1 node. Node count and accepted rates must be measured under identical quality, SLO and HA. Freed installed-GPU capacity is noncash unless a named bill or future purchase is avoided. Scenarios are independent/non-additive. Details: ATMOS_E3S_Product_Portfolio_and_Rackscale_Integration_Proposal_v2.docx#Economics.</a:t>
            </a:r>
          </a:p>
          <a:p>
            <a:r>
              <a:t>ILLUSTRATIVE E2, constant USD, 36 months, no discounting or residual value. Initial hardware $75,000 + deployment $25,000 = $100,000. Annual support $10,000, software $8,000, operations $24,000, average IT 1.2 kW. Power cost = kW x 8760 x assumed PUE 1.4 x $0.12/kWh = $1,766/year. Annual recurring $43,766; avoidable baseline $120,000; retained $0. Baseline 3y $360,000; project 3y $231,298; net $128,702. TCO saving 35.8%, upfront-investment ROI 128.7%, simple payback 15.7 months. Break-even monetization 64.2%. At 50% realization net benefit -$51,298. Annual demand 20,000,000 qualified batch jobs; Three assumed $25k 8-device nodes; two active plus one N+1 node. Node count and accepted rates must be measured under identical quality, SLO and HA. Freed installed-GPU capacity is noncash unless a named bill or future purchase is avoided. Scenarios are independent/non-additive. Details: ATMOS_E3S_Product_Portfolio_and_Rackscale_Integration_Proposal_v2.docx#Economics.</a:t>
            </a:r>
          </a:p>
          <a:p>
            <a:r>
              <a:t>ILLUSTRATIVE E3, constant USD, 36 months, no discounting or residual value. Initial hardware $120,000 + deployment $60,000 = $180,000. Annual support $18,000, software $12,000, operations $50,000, average IT 2.0 kW. Power cost = kW x 8760 x assumed PUE 1.4 x $0.12/kWh = $2,943/year. Annual recurring $82,943; avoidable baseline $300,000; retained $700,000. Baseline 3y $3,000,000; project 3y $2,528,830; net $471,170. TCO saving 15.7%, upfront-investment ROI 261.8%, simple payback 10.0 months. Break-even monetization 47.6%. At 50% realization net benefit $21,170. Annual demand 500,000,000 requests in the unchanged estate workload mix; Three assumed $40k 16-device nodes; two active plus one N+1 node. Node count and accepted rates must be measured under identical quality, SLO and HA. Freed installed-GPU capacity is noncash unless a named bill or future purchase is avoided. Scenarios are independent/non-additive. Details: ATMOS_E3S_Product_Portfolio_and_Rackscale_Integration_Proposal_v2.docx#Economics.</a:t>
            </a:r>
          </a:p>
          <a:p>
            <a:r>
              <a:t>ILLUSTRATIVE H, constant USD, 36 months, no discounting or residual value. Initial hardware $240,000 + deployment $120,000 = $360,000. Annual support $36,000, software $24,000, operations $120,000, average IT 6.0 kW. Power cost = kW x 8760 x assumed PUE 1.4 x $0.12/kWh = $8,830/year. Annual recurring $188,830; avoidable baseline $600,000; retained $900,000. Baseline 3y $4,500,000; project 3y $3,626,490; net $873,510. TCO saving 19.4%, upfront-investment ROI 242.6%, simple payback 10.5 months. Break-even monetization 51.5%. At 50% realization net benefit -$26,490. Annual demand 10,000,000,000 search/recommendation queries; Four assumed $60k 16-device nodes: two index generations times two service replicas. Node count and accepted rates must be measured under identical quality, SLO and HA. Freed installed-GPU capacity is noncash unless a named bill or future purchase is avoided. Scenarios are independent/non-additive. Details: ATMOS_E3S_Product_Portfolio_and_Rackscale_Integration_Proposal_v2.docx#Economics.</a:t>
            </a:r>
          </a:p>
          <a:p>
            <a:r>
              <a:t>51.2 billion tokens / one million * $0.02 = $1,024 yearly token charge; at $0.13 text-embedding-3-large charge=$6,656. These published standard prices reviewed 5 Oct 2026 exclude retrieval, network, storage, support and private-policy requirements. No quality/model identity assumption is made. E2 and H net return are negative at 50% realized avoided cost. E1 and E3 positive cases are small at that level and remain subject to measured rates/quotes.</a:t>
            </a:r>
          </a:p>
          <a:p>
            <a:r>
              <a:t>[S13] OpenAI: API pricing, specialized embedding models</a:t>
            </a:r>
          </a:p>
          <a:p>
            <a:r>
              <a:t>https://developers.openai.com/api/docs/pricing/</a:t>
            </a:r>
          </a:p>
          <a:p>
            <a:r>
              <a:t>Use: Published standard input-token prices: text-embedding-3-small $0.02 and text-embedding-3-large $0.13 per million tokens. Policy/quality/SLO and non-token costs differ from private infrastructure. Reviewed 5 October 2026.</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ATMOS_E3S_Product_Portfolio_and_Rackscale_Integration_Proposal_v2.docx. Section 9 / 11, bookmark OEM.</a:t>
            </a:r>
          </a:p>
          <a:p>
            <a:r>
              <a:t>Keep both files together. Full-document link is the portable fallback if a viewer ignores bookmark fragments. Office security policies can require confirmation for local links.</a:t>
            </a:r>
          </a:p>
          <a:p>
            <a:r>
              <a:t>Slide 9: OEM density and service are evidence gates, not bay counts. All ATMOS specifications and economic scenarios require qualification.</a:t>
            </a:r>
          </a:p>
          <a:p>
            <a:r>
              <a:t>Eight-module power is 240-320 W device-only; sixteen is 480-640 W. CPU/DRAM, switch/retimer/backplane, NIC/SSD, fans and conversion loss are additional. Disjoint shards in separate groups do not provide full-model/index HA. High-end GPU controls have substantially larger/faster HBM than older capacity arguments assume; compare exact service units, not a rack versus a node.</a:t>
            </a:r>
          </a:p>
          <a:p>
            <a:r>
              <a:t>[S1] Linux kernel: PCI Peer-to-Peer DMA Support</a:t>
            </a:r>
          </a:p>
          <a:p>
            <a:r>
              <a:t>https://docs.kernel.org/driver-api/pci/p2pdma.html</a:t>
            </a:r>
          </a:p>
          <a:p>
            <a:r>
              <a:t>Use: Topology limits, cooperating provider/client/orchestrator drivers, safe DMA invalidation. Not ATMOS qualification. Reviewed 5 October 2026.</a:t>
            </a:r>
          </a:p>
          <a:p>
            <a:r>
              <a:t>[S6] Supermicro: ASG-2115S-NE332R product specifications</a:t>
            </a:r>
          </a:p>
          <a:p>
            <a:r>
              <a:t>https://www.supermicro.com/en/products/system/storage/2u/asg-2115s-ne332r</a:t>
            </a:r>
          </a:p>
          <a:p>
            <a:r>
              <a:t>Use: 32 front E3.S 1T Gen5 x2 storage bays. Demonstrates why bay count is not proof of x4, 2T, accelerator-class support. Reviewed 5 October 2026.</a:t>
            </a:r>
          </a:p>
          <a:p>
            <a:r>
              <a:t>[S7] NVIDIA: H200 product specifications</a:t>
            </a:r>
          </a:p>
          <a:p>
            <a:r>
              <a:t>https://www.nvidia.com/en-us/data-center/h200/</a:t>
            </a:r>
          </a:p>
          <a:p>
            <a:r>
              <a:t>Use: 141 GB HBM3e and 4.8 TB/s per GPU; distinct SXM/NVL configurations. A strong installed-base control, not a price quote. Reviewed 5 October 2026.</a:t>
            </a:r>
          </a:p>
          <a:p>
            <a:r>
              <a:t>[S8] NVIDIA: GB300 NVL72 product specifications</a:t>
            </a:r>
          </a:p>
          <a:p>
            <a:r>
              <a:t>https://www.nvidia.com/en-us/data-center/gb300-nvl72/</a:t>
            </a:r>
          </a:p>
          <a:p>
            <a:r>
              <a:t>Use: 72 Blackwell Ultra GPUs; rounded 20 TB GPU memory; 130 TB/s rack NVLink. No ATMOS access to that fabric is implied. Reviewed 5 October 2026.</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ATMOS_E3S_Product_Portfolio_and_Rackscale_Integration_Proposal_v2.docx. Section 12, bookmark Decisions.</a:t>
            </a:r>
          </a:p>
          <a:p>
            <a:r>
              <a:t>Keep both files together. Full-document link is the portable fallback if a viewer ignores bookmark fragments. Office security policies can require confirmation for local links.</a:t>
            </a:r>
          </a:p>
          <a:p>
            <a:r>
              <a:t>Slide 10: Fund bounded proof. Hold launch and savings claims.. All ATMOS specifications and economic scenarios require qualification.</a:t>
            </a:r>
          </a:p>
          <a:p>
            <a:r>
              <a:t>Each slide provides a relative full-document link and an explicit bookmark link. All destinations refer to the paired v2 DOCX in the same directory. Viewer/Office security policies can require confirmation; section numbers are a human-readable fallback. Word contains reciprocal deck links and an internal slide-to-section guide. No silicon launch date, benchmark, quote or named-company engagement is invented.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ATMOS_E3S_Product_Portfolio_and_Rackscale_Integration_Proposal_v2.docx#HyperscaleSidecar" TargetMode="External"/><Relationship Id="rId3" Type="http://schemas.openxmlformats.org/officeDocument/2006/relationships/hyperlink" Target="ATMOS_E3S_Product_Portfolio_and_Rackscale_Integration_Proposal_v2.docx" TargetMode="External"/><Relationship Id="rId7" Type="http://schemas.openxmlformats.org/officeDocument/2006/relationships/hyperlink" Target="ATMOS_E3S_Product_Portfolio_and_Rackscale_Integration_Proposal_v2.docx#CapacityPool"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hyperlink" Target="ATMOS_E3S_Product_Portfolio_and_Rackscale_Integration_Proposal_v2.docx#Companion" TargetMode="External"/><Relationship Id="rId5" Type="http://schemas.openxmlformats.org/officeDocument/2006/relationships/hyperlink" Target="ATMOS_E3S_Product_Portfolio_and_Rackscale_Integration_Proposal_v2.docx#Appliance" TargetMode="External"/><Relationship Id="rId4" Type="http://schemas.openxmlformats.org/officeDocument/2006/relationships/hyperlink" Target="ATMOS_E3S_Product_Portfolio_and_Rackscale_Integration_Proposal_v2.docx#Portfolio"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ATMOS_E3S_Product_Portfolio_and_Rackscale_Integration_Proposal_v2.docx"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hyperlink" Target="ATMOS_E3S_Product_Portfolio_and_Rackscale_Integration_Proposal_v2.docx#Foundation"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ATMOS_E3S_Product_Portfolio_and_Rackscale_Integration_Proposal_v2.docx"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hyperlink" Target="ATMOS_E3S_Product_Portfolio_and_Rackscale_Integration_Proposal_v2.docx#Appliance"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ATMOS_E3S_Product_Portfolio_and_Rackscale_Integration_Proposal_v2.docx"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ATMOS_E3S_Product_Portfolio_and_Rackscale_Integration_Proposal_v2.docx#Companion"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ATMOS_E3S_Product_Portfolio_and_Rackscale_Integration_Proposal_v2.docx"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hyperlink" Target="ATMOS_E3S_Product_Portfolio_and_Rackscale_Integration_Proposal_v2.docx#CapacityPool"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ATMOS_E3S_Product_Portfolio_and_Rackscale_Integration_Proposal_v2.docx"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hyperlink" Target="ATMOS_E3S_Product_Portfolio_and_Rackscale_Integration_Proposal_v2.docx#HyperscaleSidecar"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ATMOS_E3S_Product_Portfolio_and_Rackscale_Integration_Proposal_v2.docx"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hyperlink" Target="ATMOS_E3S_Product_Portfolio_and_Rackscale_Integration_Proposal_v2.docx#Economics"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ATMOS_E3S_Product_Portfolio_and_Rackscale_Integration_Proposal_v2.docx"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hyperlink" Target="ATMOS_E3S_Product_Portfolio_and_Rackscale_Integration_Proposal_v2.docx#Economics"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ATMOS_E3S_Product_Portfolio_and_Rackscale_Integration_Proposal_v2.docx"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hyperlink" Target="ATMOS_E3S_Product_Portfolio_and_Rackscale_Integration_Proposal_v2.docx#OEM"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ATMOS_E3S_Product_Portfolio_and_Rackscale_Integration_Proposal_v2.docx#Economics" TargetMode="External"/><Relationship Id="rId3" Type="http://schemas.openxmlformats.org/officeDocument/2006/relationships/hyperlink" Target="ATMOS_E3S_Product_Portfolio_and_Rackscale_Integration_Proposal_v2.docx" TargetMode="External"/><Relationship Id="rId7" Type="http://schemas.openxmlformats.org/officeDocument/2006/relationships/hyperlink" Target="ATMOS_E3S_Product_Portfolio_and_Rackscale_Integration_Proposal_v2.docx#HyperscaleSidecar"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hyperlink" Target="ATMOS_E3S_Product_Portfolio_and_Rackscale_Integration_Proposal_v2.docx#Appliance" TargetMode="External"/><Relationship Id="rId5" Type="http://schemas.openxmlformats.org/officeDocument/2006/relationships/hyperlink" Target="ATMOS_E3S_Product_Portfolio_and_Rackscale_Integration_Proposal_v2.docx#Foundation" TargetMode="External"/><Relationship Id="rId10" Type="http://schemas.openxmlformats.org/officeDocument/2006/relationships/hyperlink" Target="ATMOS_E3S_Product_Portfolio_and_Rackscale_Integration_Proposal_v2.docx#Sources" TargetMode="External"/><Relationship Id="rId4" Type="http://schemas.openxmlformats.org/officeDocument/2006/relationships/hyperlink" Target="ATMOS_E3S_Product_Portfolio_and_Rackscale_Integration_Proposal_v2.docx#Decisions" TargetMode="External"/><Relationship Id="rId9" Type="http://schemas.openxmlformats.org/officeDocument/2006/relationships/hyperlink" Target="ATMOS_E3S_Product_Portfolio_and_Rackscale_Integration_Proposal_v2.docx#OE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3246"/>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FFFFFF"/>
                </a:solidFill>
                <a:latin typeface="Aptos"/>
              </a:rPr>
              <a:t>AI CAPACITY PORTFOLIO / 01</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FFFFFF"/>
                </a:solidFill>
                <a:latin typeface="Aptos"/>
              </a:rPr>
              <a:t>ATMOS E3.S AI Capacity Portfolio</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C9D7DF"/>
                </a:solidFill>
                <a:latin typeface="Aptos"/>
              </a:rPr>
              <a:t>Three enterprise deployment modes. One separate hyperscale neural-data track.</a:t>
            </a:r>
          </a:p>
        </p:txBody>
      </p:sp>
      <p:sp>
        <p:nvSpPr>
          <p:cNvPr id="7" name="Rectangle 6"/>
          <p:cNvSpPr/>
          <p:nvPr/>
        </p:nvSpPr>
        <p:spPr>
          <a:xfrm>
            <a:off x="502920" y="6373368"/>
            <a:ext cx="11183112" cy="10972"/>
          </a:xfrm>
          <a:prstGeom prst="rect">
            <a:avLst/>
          </a:prstGeom>
          <a:solidFill>
            <a:srgbClr val="4159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C9D7DF"/>
                </a:solidFill>
                <a:latin typeface="Aptos"/>
              </a:rPr>
              <a:t>INTERNAL / 5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B8DFE6"/>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B8DFE6"/>
                </a:solidFill>
                <a:latin typeface="Aptos"/>
              </a:rPr>
              <a:t>Section 1</a:t>
            </a:r>
          </a:p>
        </p:txBody>
      </p:sp>
      <p:sp>
        <p:nvSpPr>
          <p:cNvPr id="11" name="Rectangle 10"/>
          <p:cNvSpPr/>
          <p:nvPr/>
        </p:nvSpPr>
        <p:spPr>
          <a:xfrm>
            <a:off x="502920" y="1874519"/>
            <a:ext cx="45720" cy="630936"/>
          </a:xfrm>
          <a:prstGeom prst="rect">
            <a:avLst/>
          </a:prstGeom>
          <a:solidFill>
            <a:srgbClr val="2B67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694944" y="1947672"/>
            <a:ext cx="603504" cy="38404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500" b="1">
                <a:solidFill>
                  <a:srgbClr val="F4B9C2"/>
                </a:solidFill>
                <a:latin typeface="Aptos"/>
              </a:rPr>
              <a:t>E1</a:t>
            </a:r>
          </a:p>
        </p:txBody>
      </p:sp>
      <p:sp>
        <p:nvSpPr>
          <p:cNvPr id="13" name="TextBox 12">
            <a:hlinkClick r:id="rId5"/>
          </p:cNvPr>
          <p:cNvSpPr txBox="1"/>
          <p:nvPr/>
        </p:nvSpPr>
        <p:spPr>
          <a:xfrm>
            <a:off x="1508760" y="1911095"/>
            <a:ext cx="4608576" cy="65836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950" b="1">
                <a:solidFill>
                  <a:srgbClr val="FFFFFF"/>
                </a:solidFill>
                <a:latin typeface="Aptos"/>
              </a:rPr>
              <a:t>ATMOS AI Appliance</a:t>
            </a:r>
          </a:p>
        </p:txBody>
      </p:sp>
      <p:sp>
        <p:nvSpPr>
          <p:cNvPr id="14" name="TextBox 13"/>
          <p:cNvSpPr txBox="1"/>
          <p:nvPr/>
        </p:nvSpPr>
        <p:spPr>
          <a:xfrm>
            <a:off x="6492240" y="1911095"/>
            <a:ext cx="4800600" cy="5943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C9D7DF"/>
                </a:solidFill>
                <a:latin typeface="Aptos"/>
              </a:rPr>
              <a:t>Enterprise / private neural services</a:t>
            </a:r>
          </a:p>
        </p:txBody>
      </p:sp>
      <p:cxnSp>
        <p:nvCxnSpPr>
          <p:cNvPr id="15" name="Connector 14"/>
          <p:cNvCxnSpPr/>
          <p:nvPr/>
        </p:nvCxnSpPr>
        <p:spPr>
          <a:xfrm>
            <a:off x="1508760" y="2606039"/>
            <a:ext cx="10030968" cy="0"/>
          </a:xfrm>
          <a:prstGeom prst="line">
            <a:avLst/>
          </a:prstGeom>
          <a:ln w="7620">
            <a:solidFill>
              <a:srgbClr val="41596A"/>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502920" y="2715768"/>
            <a:ext cx="45720" cy="630936"/>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694944" y="2788920"/>
            <a:ext cx="603504" cy="38404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500" b="1">
                <a:solidFill>
                  <a:srgbClr val="F4B9C2"/>
                </a:solidFill>
                <a:latin typeface="Aptos"/>
              </a:rPr>
              <a:t>E2</a:t>
            </a:r>
          </a:p>
        </p:txBody>
      </p:sp>
      <p:sp>
        <p:nvSpPr>
          <p:cNvPr id="18" name="TextBox 17">
            <a:hlinkClick r:id="rId6"/>
          </p:cNvPr>
          <p:cNvSpPr txBox="1"/>
          <p:nvPr/>
        </p:nvSpPr>
        <p:spPr>
          <a:xfrm>
            <a:off x="1508760" y="2752344"/>
            <a:ext cx="4608576" cy="65836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950" b="1">
                <a:solidFill>
                  <a:srgbClr val="FFFFFF"/>
                </a:solidFill>
                <a:latin typeface="Aptos"/>
              </a:rPr>
              <a:t>ATMOS Companion Service</a:t>
            </a:r>
          </a:p>
        </p:txBody>
      </p:sp>
      <p:sp>
        <p:nvSpPr>
          <p:cNvPr id="19" name="TextBox 18"/>
          <p:cNvSpPr txBox="1"/>
          <p:nvPr/>
        </p:nvSpPr>
        <p:spPr>
          <a:xfrm>
            <a:off x="6492240" y="2752344"/>
            <a:ext cx="4800600" cy="5943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C9D7DF"/>
                </a:solidFill>
                <a:latin typeface="Aptos"/>
              </a:rPr>
              <a:t>Existing enterprise GPU estates</a:t>
            </a:r>
          </a:p>
        </p:txBody>
      </p:sp>
      <p:cxnSp>
        <p:nvCxnSpPr>
          <p:cNvPr id="20" name="Connector 19"/>
          <p:cNvCxnSpPr/>
          <p:nvPr/>
        </p:nvCxnSpPr>
        <p:spPr>
          <a:xfrm>
            <a:off x="1508760" y="3447287"/>
            <a:ext cx="10030968" cy="0"/>
          </a:xfrm>
          <a:prstGeom prst="line">
            <a:avLst/>
          </a:prstGeom>
          <a:ln w="7620">
            <a:solidFill>
              <a:srgbClr val="41596A"/>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02920" y="3557015"/>
            <a:ext cx="45720" cy="630936"/>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694944" y="3630168"/>
            <a:ext cx="603504" cy="38404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500" b="1">
                <a:solidFill>
                  <a:srgbClr val="F4B9C2"/>
                </a:solidFill>
                <a:latin typeface="Aptos"/>
              </a:rPr>
              <a:t>E3</a:t>
            </a:r>
          </a:p>
        </p:txBody>
      </p:sp>
      <p:sp>
        <p:nvSpPr>
          <p:cNvPr id="23" name="TextBox 22">
            <a:hlinkClick r:id="rId7"/>
          </p:cNvPr>
          <p:cNvSpPr txBox="1"/>
          <p:nvPr/>
        </p:nvSpPr>
        <p:spPr>
          <a:xfrm>
            <a:off x="1508760" y="3593591"/>
            <a:ext cx="4608576" cy="65836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950" b="1">
                <a:solidFill>
                  <a:srgbClr val="FFFFFF"/>
                </a:solidFill>
                <a:latin typeface="Aptos"/>
              </a:rPr>
              <a:t>ATMOS Integrated Capacity Pool</a:t>
            </a:r>
          </a:p>
        </p:txBody>
      </p:sp>
      <p:sp>
        <p:nvSpPr>
          <p:cNvPr id="24" name="TextBox 23"/>
          <p:cNvSpPr txBox="1"/>
          <p:nvPr/>
        </p:nvSpPr>
        <p:spPr>
          <a:xfrm>
            <a:off x="6492240" y="3593591"/>
            <a:ext cx="4800600" cy="5943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C9D7DF"/>
                </a:solidFill>
                <a:latin typeface="Aptos"/>
              </a:rPr>
              <a:t>Enterprises with platform operations teams</a:t>
            </a:r>
          </a:p>
        </p:txBody>
      </p:sp>
      <p:cxnSp>
        <p:nvCxnSpPr>
          <p:cNvPr id="25" name="Connector 24"/>
          <p:cNvCxnSpPr/>
          <p:nvPr/>
        </p:nvCxnSpPr>
        <p:spPr>
          <a:xfrm>
            <a:off x="1508760" y="4288536"/>
            <a:ext cx="10030968" cy="0"/>
          </a:xfrm>
          <a:prstGeom prst="line">
            <a:avLst/>
          </a:prstGeom>
          <a:ln w="7620">
            <a:solidFill>
              <a:srgbClr val="41596A"/>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02920" y="4398264"/>
            <a:ext cx="45720" cy="630936"/>
          </a:xfrm>
          <a:prstGeom prst="rect">
            <a:avLst/>
          </a:prstGeom>
          <a:solidFill>
            <a:srgbClr val="AC652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694944" y="4471416"/>
            <a:ext cx="603504" cy="38404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500" b="1">
                <a:solidFill>
                  <a:srgbClr val="F4B9C2"/>
                </a:solidFill>
                <a:latin typeface="Aptos"/>
              </a:rPr>
              <a:t>H</a:t>
            </a:r>
          </a:p>
        </p:txBody>
      </p:sp>
      <p:sp>
        <p:nvSpPr>
          <p:cNvPr id="28" name="TextBox 27">
            <a:hlinkClick r:id="rId8"/>
          </p:cNvPr>
          <p:cNvSpPr txBox="1"/>
          <p:nvPr/>
        </p:nvSpPr>
        <p:spPr>
          <a:xfrm>
            <a:off x="1508760" y="4434840"/>
            <a:ext cx="4608576" cy="65836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950" b="1">
                <a:solidFill>
                  <a:srgbClr val="FFFFFF"/>
                </a:solidFill>
                <a:latin typeface="Aptos"/>
              </a:rPr>
              <a:t>Hyperscale Neural-Data Sidecar</a:t>
            </a:r>
          </a:p>
        </p:txBody>
      </p:sp>
      <p:sp>
        <p:nvSpPr>
          <p:cNvPr id="29" name="TextBox 28"/>
          <p:cNvSpPr txBox="1"/>
          <p:nvPr/>
        </p:nvSpPr>
        <p:spPr>
          <a:xfrm>
            <a:off x="6492240" y="4434840"/>
            <a:ext cx="4800600" cy="5943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C9D7DF"/>
                </a:solidFill>
                <a:latin typeface="Aptos"/>
              </a:rPr>
              <a:t>Hyperscalers and very large search / recommendation operators</a:t>
            </a:r>
          </a:p>
        </p:txBody>
      </p:sp>
      <p:sp>
        <p:nvSpPr>
          <p:cNvPr id="30" name="Rectangle 29"/>
          <p:cNvSpPr/>
          <p:nvPr/>
        </p:nvSpPr>
        <p:spPr>
          <a:xfrm>
            <a:off x="502920" y="5513832"/>
            <a:ext cx="11183112" cy="621792"/>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TextBox 30"/>
          <p:cNvSpPr txBox="1"/>
          <p:nvPr/>
        </p:nvSpPr>
        <p:spPr>
          <a:xfrm>
            <a:off x="667512" y="5641848"/>
            <a:ext cx="1088136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50" b="1">
                <a:solidFill>
                  <a:srgbClr val="FFFFFF"/>
                </a:solidFill>
                <a:latin typeface="Aptos"/>
              </a:rPr>
              <a:t>LEAD E2: prove one complete service. Productize E1; integrate E3. Sponsor H only at scale.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02</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Localize bytes. Exchange compact results.</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One qualified four-device group is the atomic hardware and scheduling unit, not shared memory.</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5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2</a:t>
            </a:r>
          </a:p>
        </p:txBody>
      </p:sp>
      <p:sp>
        <p:nvSpPr>
          <p:cNvPr id="11" name="TextBox 10"/>
          <p:cNvSpPr txBox="1"/>
          <p:nvPr/>
        </p:nvSpPr>
        <p:spPr>
          <a:xfrm>
            <a:off x="502920" y="1801368"/>
            <a:ext cx="594360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FOUR-DEVICE SWITCH / NUMA DOMAIN</a:t>
            </a:r>
          </a:p>
        </p:txBody>
      </p:sp>
      <p:sp>
        <p:nvSpPr>
          <p:cNvPr id="12" name="Rectangle 11"/>
          <p:cNvSpPr/>
          <p:nvPr/>
        </p:nvSpPr>
        <p:spPr>
          <a:xfrm>
            <a:off x="694944" y="2340864"/>
            <a:ext cx="1920240" cy="832104"/>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786384" y="2391156"/>
            <a:ext cx="1737360" cy="740664"/>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600" b="1">
                <a:solidFill>
                  <a:srgbClr val="183246"/>
                </a:solidFill>
                <a:latin typeface="Aptos"/>
              </a:rPr>
              <a:t>CPU / NUMA root
Gen5 x16</a:t>
            </a:r>
          </a:p>
        </p:txBody>
      </p:sp>
      <p:sp>
        <p:nvSpPr>
          <p:cNvPr id="14" name="Rectangle 13"/>
          <p:cNvSpPr/>
          <p:nvPr/>
        </p:nvSpPr>
        <p:spPr>
          <a:xfrm>
            <a:off x="694944" y="3465576"/>
            <a:ext cx="1920240" cy="832104"/>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786384" y="3515868"/>
            <a:ext cx="1737360" cy="740664"/>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600" b="1">
                <a:solidFill>
                  <a:srgbClr val="183246"/>
                </a:solidFill>
                <a:latin typeface="Aptos"/>
              </a:rPr>
              <a:t>P2P-capable
PCIe switch</a:t>
            </a:r>
          </a:p>
        </p:txBody>
      </p:sp>
      <p:cxnSp>
        <p:nvCxnSpPr>
          <p:cNvPr id="16" name="Connector 15"/>
          <p:cNvCxnSpPr/>
          <p:nvPr/>
        </p:nvCxnSpPr>
        <p:spPr>
          <a:xfrm>
            <a:off x="1655064" y="3172968"/>
            <a:ext cx="0" cy="292608"/>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615184" y="3867912"/>
            <a:ext cx="356616" cy="0"/>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971800" y="2340864"/>
            <a:ext cx="0" cy="1901952"/>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3364992" y="2057400"/>
            <a:ext cx="3273552" cy="521207"/>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3456432" y="2107692"/>
            <a:ext cx="3090672" cy="42976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50" b="1">
                <a:solidFill>
                  <a:srgbClr val="183246"/>
                </a:solidFill>
                <a:latin typeface="Aptos"/>
              </a:rPr>
              <a:t>ATMOS 0  /  local HBF + NPU</a:t>
            </a:r>
          </a:p>
        </p:txBody>
      </p:sp>
      <p:cxnSp>
        <p:nvCxnSpPr>
          <p:cNvPr id="21" name="Connector 20"/>
          <p:cNvCxnSpPr/>
          <p:nvPr/>
        </p:nvCxnSpPr>
        <p:spPr>
          <a:xfrm>
            <a:off x="2971800" y="2318004"/>
            <a:ext cx="393192" cy="0"/>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3364992" y="2679192"/>
            <a:ext cx="3273552" cy="521207"/>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3456432" y="2729484"/>
            <a:ext cx="3090672" cy="42976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50" b="1">
                <a:solidFill>
                  <a:srgbClr val="183246"/>
                </a:solidFill>
                <a:latin typeface="Aptos"/>
              </a:rPr>
              <a:t>ATMOS 1  /  local HBF + NPU</a:t>
            </a:r>
          </a:p>
        </p:txBody>
      </p:sp>
      <p:cxnSp>
        <p:nvCxnSpPr>
          <p:cNvPr id="24" name="Connector 23"/>
          <p:cNvCxnSpPr/>
          <p:nvPr/>
        </p:nvCxnSpPr>
        <p:spPr>
          <a:xfrm>
            <a:off x="2971800" y="2939796"/>
            <a:ext cx="393192" cy="0"/>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364992" y="3300984"/>
            <a:ext cx="3273552" cy="521207"/>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3456432" y="3351276"/>
            <a:ext cx="3090672" cy="42976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50" b="1">
                <a:solidFill>
                  <a:srgbClr val="183246"/>
                </a:solidFill>
                <a:latin typeface="Aptos"/>
              </a:rPr>
              <a:t>ATMOS 2  /  local HBF + NPU</a:t>
            </a:r>
          </a:p>
        </p:txBody>
      </p:sp>
      <p:cxnSp>
        <p:nvCxnSpPr>
          <p:cNvPr id="27" name="Connector 26"/>
          <p:cNvCxnSpPr/>
          <p:nvPr/>
        </p:nvCxnSpPr>
        <p:spPr>
          <a:xfrm>
            <a:off x="2971800" y="3561588"/>
            <a:ext cx="393192" cy="0"/>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364992" y="3922776"/>
            <a:ext cx="3273552" cy="521207"/>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3456432" y="3973068"/>
            <a:ext cx="3090672" cy="42976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50" b="1">
                <a:solidFill>
                  <a:srgbClr val="183246"/>
                </a:solidFill>
                <a:latin typeface="Aptos"/>
              </a:rPr>
              <a:t>ATMOS 3  /  local HBF + NPU</a:t>
            </a:r>
          </a:p>
        </p:txBody>
      </p:sp>
      <p:cxnSp>
        <p:nvCxnSpPr>
          <p:cNvPr id="30" name="Connector 29"/>
          <p:cNvCxnSpPr/>
          <p:nvPr/>
        </p:nvCxnSpPr>
        <p:spPr>
          <a:xfrm>
            <a:off x="2971800" y="4183380"/>
            <a:ext cx="393192" cy="0"/>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114032" y="1801368"/>
            <a:ext cx="457200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STACK: REUSE UPSTREAM; QUALIFY THE ATMOS PATH</a:t>
            </a:r>
          </a:p>
        </p:txBody>
      </p:sp>
      <p:sp>
        <p:nvSpPr>
          <p:cNvPr id="32" name="Rectangle 31"/>
          <p:cNvSpPr/>
          <p:nvPr/>
        </p:nvSpPr>
        <p:spPr>
          <a:xfrm>
            <a:off x="7114032" y="2176272"/>
            <a:ext cx="4572000" cy="40233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TextBox 32"/>
          <p:cNvSpPr txBox="1"/>
          <p:nvPr/>
        </p:nvSpPr>
        <p:spPr>
          <a:xfrm>
            <a:off x="7205472" y="2221991"/>
            <a:ext cx="4389120" cy="31089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20" b="0">
                <a:solidFill>
                  <a:srgbClr val="183246"/>
                </a:solidFill>
                <a:latin typeface="Aptos"/>
              </a:rPr>
              <a:t>Gateway / identity / quota / complete-request routing</a:t>
            </a:r>
          </a:p>
        </p:txBody>
      </p:sp>
      <p:sp>
        <p:nvSpPr>
          <p:cNvPr id="34" name="Rectangle 33"/>
          <p:cNvSpPr/>
          <p:nvPr/>
        </p:nvSpPr>
        <p:spPr>
          <a:xfrm>
            <a:off x="7114032" y="2624328"/>
            <a:ext cx="4572000" cy="4023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7205472" y="2670048"/>
            <a:ext cx="4389120" cy="31089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20" b="0">
                <a:solidFill>
                  <a:srgbClr val="183246"/>
                </a:solidFill>
                <a:latin typeface="Aptos"/>
              </a:rPr>
              <a:t>KServe or llm-d / model API and live endpoint metrics</a:t>
            </a:r>
          </a:p>
        </p:txBody>
      </p:sp>
      <p:sp>
        <p:nvSpPr>
          <p:cNvPr id="36" name="Rectangle 35"/>
          <p:cNvSpPr/>
          <p:nvPr/>
        </p:nvSpPr>
        <p:spPr>
          <a:xfrm>
            <a:off x="7114032" y="3072384"/>
            <a:ext cx="4572000" cy="40233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7" name="TextBox 36"/>
          <p:cNvSpPr txBox="1"/>
          <p:nvPr/>
        </p:nvSpPr>
        <p:spPr>
          <a:xfrm>
            <a:off x="7205472" y="3118103"/>
            <a:ext cx="4389120" cy="31089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20" b="0">
                <a:solidFill>
                  <a:srgbClr val="183246"/>
                </a:solidFill>
                <a:latin typeface="Aptos"/>
              </a:rPr>
              <a:t>DRA / CDI + ATMOS Operator / ready-drain-rollback</a:t>
            </a:r>
          </a:p>
        </p:txBody>
      </p:sp>
      <p:sp>
        <p:nvSpPr>
          <p:cNvPr id="38" name="Rectangle 37"/>
          <p:cNvSpPr/>
          <p:nvPr/>
        </p:nvSpPr>
        <p:spPr>
          <a:xfrm>
            <a:off x="7114032" y="3520439"/>
            <a:ext cx="4572000" cy="4023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9" name="TextBox 38"/>
          <p:cNvSpPr txBox="1"/>
          <p:nvPr/>
        </p:nvSpPr>
        <p:spPr>
          <a:xfrm>
            <a:off x="7205472" y="3566159"/>
            <a:ext cx="4389120" cy="31089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20" b="1">
                <a:solidFill>
                  <a:srgbClr val="183246"/>
                </a:solidFill>
                <a:latin typeface="Aptos"/>
              </a:rPr>
              <a:t>ATMOS workload runtime / selected NPU SDK / packs</a:t>
            </a:r>
          </a:p>
        </p:txBody>
      </p:sp>
      <p:sp>
        <p:nvSpPr>
          <p:cNvPr id="40" name="Rectangle 39"/>
          <p:cNvSpPr/>
          <p:nvPr/>
        </p:nvSpPr>
        <p:spPr>
          <a:xfrm>
            <a:off x="7114032" y="3968496"/>
            <a:ext cx="4572000" cy="40233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7205472" y="4014215"/>
            <a:ext cx="4389120" cy="31089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20" b="0">
                <a:solidFill>
                  <a:srgbClr val="183246"/>
                </a:solidFill>
                <a:latin typeface="Aptos"/>
              </a:rPr>
              <a:t>ATMOS driver, firmware, DMA, P2P and telemetry</a:t>
            </a:r>
          </a:p>
        </p:txBody>
      </p:sp>
      <p:sp>
        <p:nvSpPr>
          <p:cNvPr id="42" name="Rectangle 41"/>
          <p:cNvSpPr/>
          <p:nvPr/>
        </p:nvSpPr>
        <p:spPr>
          <a:xfrm>
            <a:off x="502920" y="4864608"/>
            <a:ext cx="2688336" cy="91440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3" name="TextBox 42"/>
          <p:cNvSpPr txBox="1"/>
          <p:nvPr/>
        </p:nvSpPr>
        <p:spPr>
          <a:xfrm>
            <a:off x="612648" y="4965192"/>
            <a:ext cx="246888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100" b="1">
                <a:solidFill>
                  <a:srgbClr val="007B78"/>
                </a:solidFill>
                <a:latin typeface="Aptos"/>
              </a:rPr>
              <a:t>128 / 100 GB</a:t>
            </a:r>
          </a:p>
        </p:txBody>
      </p:sp>
      <p:sp>
        <p:nvSpPr>
          <p:cNvPr id="44" name="TextBox 43"/>
          <p:cNvSpPr txBox="1"/>
          <p:nvPr/>
        </p:nvSpPr>
        <p:spPr>
          <a:xfrm>
            <a:off x="612648" y="5385816"/>
            <a:ext cx="2468880" cy="32004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30" b="0">
                <a:solidFill>
                  <a:srgbClr val="536879"/>
                </a:solidFill>
                <a:latin typeface="Aptos"/>
              </a:rPr>
              <a:t>Nominal HBF / study budget per device</a:t>
            </a:r>
          </a:p>
        </p:txBody>
      </p:sp>
      <p:sp>
        <p:nvSpPr>
          <p:cNvPr id="45" name="Rectangle 44"/>
          <p:cNvSpPr/>
          <p:nvPr/>
        </p:nvSpPr>
        <p:spPr>
          <a:xfrm>
            <a:off x="3328415" y="4864608"/>
            <a:ext cx="2688336" cy="91440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3438144" y="4965192"/>
            <a:ext cx="246888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100" b="1">
                <a:solidFill>
                  <a:srgbClr val="007B78"/>
                </a:solidFill>
                <a:latin typeface="Aptos"/>
              </a:rPr>
              <a:t>200 GB/s</a:t>
            </a:r>
          </a:p>
        </p:txBody>
      </p:sp>
      <p:sp>
        <p:nvSpPr>
          <p:cNvPr id="47" name="TextBox 46"/>
          <p:cNvSpPr txBox="1"/>
          <p:nvPr/>
        </p:nvSpPr>
        <p:spPr>
          <a:xfrm>
            <a:off x="3438144" y="5385816"/>
            <a:ext cx="2468880" cy="32004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30" b="0">
                <a:solidFill>
                  <a:srgbClr val="536879"/>
                </a:solidFill>
                <a:latin typeface="Aptos"/>
              </a:rPr>
              <a:t>Local HBF read target; not peer bandwidth</a:t>
            </a:r>
          </a:p>
        </p:txBody>
      </p:sp>
      <p:sp>
        <p:nvSpPr>
          <p:cNvPr id="48" name="Rectangle 47"/>
          <p:cNvSpPr/>
          <p:nvPr/>
        </p:nvSpPr>
        <p:spPr>
          <a:xfrm>
            <a:off x="6153912" y="4864608"/>
            <a:ext cx="2688336" cy="91440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6263640" y="4965192"/>
            <a:ext cx="246888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100" b="1">
                <a:solidFill>
                  <a:srgbClr val="007B78"/>
                </a:solidFill>
                <a:latin typeface="Aptos"/>
              </a:rPr>
              <a:t>~15.75 GB/s</a:t>
            </a:r>
          </a:p>
        </p:txBody>
      </p:sp>
      <p:sp>
        <p:nvSpPr>
          <p:cNvPr id="50" name="TextBox 49"/>
          <p:cNvSpPr txBox="1"/>
          <p:nvPr/>
        </p:nvSpPr>
        <p:spPr>
          <a:xfrm>
            <a:off x="6263640" y="5385816"/>
            <a:ext cx="2468880" cy="32004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30" b="0">
                <a:solidFill>
                  <a:srgbClr val="536879"/>
                </a:solidFill>
                <a:latin typeface="Aptos"/>
              </a:rPr>
              <a:t>Gen5 x4 / direction before overhead</a:t>
            </a:r>
          </a:p>
        </p:txBody>
      </p:sp>
      <p:sp>
        <p:nvSpPr>
          <p:cNvPr id="51" name="Rectangle 50"/>
          <p:cNvSpPr/>
          <p:nvPr/>
        </p:nvSpPr>
        <p:spPr>
          <a:xfrm>
            <a:off x="8979408" y="4864608"/>
            <a:ext cx="2688336" cy="91440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9089136" y="4965192"/>
            <a:ext cx="246888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100" b="1">
                <a:solidFill>
                  <a:srgbClr val="007B78"/>
                </a:solidFill>
                <a:latin typeface="Aptos"/>
              </a:rPr>
              <a:t>8 -&gt; 16</a:t>
            </a:r>
          </a:p>
        </p:txBody>
      </p:sp>
      <p:sp>
        <p:nvSpPr>
          <p:cNvPr id="53" name="TextBox 52"/>
          <p:cNvSpPr txBox="1"/>
          <p:nvPr/>
        </p:nvSpPr>
        <p:spPr>
          <a:xfrm>
            <a:off x="9089136" y="5385816"/>
            <a:ext cx="2468880" cy="32004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30" b="0">
                <a:solidFill>
                  <a:srgbClr val="536879"/>
                </a:solidFill>
                <a:latin typeface="Aptos"/>
              </a:rPr>
              <a:t>Qualified node densities; 20-22 stretch</a:t>
            </a:r>
          </a:p>
        </p:txBody>
      </p:sp>
      <p:sp>
        <p:nvSpPr>
          <p:cNvPr id="54" name="TextBox 53"/>
          <p:cNvSpPr txBox="1"/>
          <p:nvPr/>
        </p:nvSpPr>
        <p:spPr>
          <a:xfrm>
            <a:off x="502920" y="5980176"/>
            <a:ext cx="11109960" cy="3017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20" b="0">
                <a:solidFill>
                  <a:srgbClr val="536879"/>
                </a:solidFill>
                <a:latin typeface="Aptos"/>
              </a:rPr>
              <a:t>Host staging first. No unsafe isolation bypass. P2P/TT plugin/DRA is not ATMOS-ready model support. [S1-S3, S9]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03</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E1 / A turnkey private neural-service endpoint</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Sell a complete, supported workload first; full interactive LLM support is a separate qualification.</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5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3</a:t>
            </a:r>
          </a:p>
        </p:txBody>
      </p:sp>
      <p:sp>
        <p:nvSpPr>
          <p:cNvPr id="11" name="Rectangle 10"/>
          <p:cNvSpPr/>
          <p:nvPr/>
        </p:nvSpPr>
        <p:spPr>
          <a:xfrm>
            <a:off x="502920" y="1847088"/>
            <a:ext cx="2551176" cy="795528"/>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594360" y="1897380"/>
            <a:ext cx="2368296" cy="70408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600" b="1">
                <a:solidFill>
                  <a:srgbClr val="183246"/>
                </a:solidFill>
                <a:latin typeface="Aptos"/>
              </a:rPr>
              <a:t>Client / job
model + tier</a:t>
            </a:r>
          </a:p>
        </p:txBody>
      </p:sp>
      <p:sp>
        <p:nvSpPr>
          <p:cNvPr id="13" name="Right Arrow 12"/>
          <p:cNvSpPr/>
          <p:nvPr/>
        </p:nvSpPr>
        <p:spPr>
          <a:xfrm>
            <a:off x="3090672" y="2157984"/>
            <a:ext cx="201168"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3328415" y="1847088"/>
            <a:ext cx="2551176" cy="795528"/>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3419856" y="1897380"/>
            <a:ext cx="2368296" cy="70408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600" b="1">
                <a:solidFill>
                  <a:srgbClr val="183246"/>
                </a:solidFill>
                <a:latin typeface="Aptos"/>
              </a:rPr>
              <a:t>Identity / quota
API + queues</a:t>
            </a:r>
          </a:p>
        </p:txBody>
      </p:sp>
      <p:sp>
        <p:nvSpPr>
          <p:cNvPr id="16" name="Right Arrow 15"/>
          <p:cNvSpPr/>
          <p:nvPr/>
        </p:nvSpPr>
        <p:spPr>
          <a:xfrm>
            <a:off x="5916168" y="2157984"/>
            <a:ext cx="201168"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6153912" y="1847088"/>
            <a:ext cx="2551176" cy="795528"/>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245351" y="1897380"/>
            <a:ext cx="2368296" cy="70408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600" b="1">
                <a:solidFill>
                  <a:srgbClr val="183246"/>
                </a:solidFill>
                <a:latin typeface="Aptos"/>
              </a:rPr>
              <a:t>ATMOS runtime
qualified operators</a:t>
            </a:r>
          </a:p>
        </p:txBody>
      </p:sp>
      <p:sp>
        <p:nvSpPr>
          <p:cNvPr id="19" name="Right Arrow 18"/>
          <p:cNvSpPr/>
          <p:nvPr/>
        </p:nvSpPr>
        <p:spPr>
          <a:xfrm>
            <a:off x="8741663" y="2157984"/>
            <a:ext cx="201168"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Rectangle 19"/>
          <p:cNvSpPr/>
          <p:nvPr/>
        </p:nvSpPr>
        <p:spPr>
          <a:xfrm>
            <a:off x="8979408" y="1847088"/>
            <a:ext cx="2551176" cy="795528"/>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9070848" y="1897380"/>
            <a:ext cx="2368296" cy="70408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600" b="1">
                <a:solidFill>
                  <a:srgbClr val="183246"/>
                </a:solidFill>
                <a:latin typeface="Aptos"/>
              </a:rPr>
              <a:t>8 / 16 devices
OEM + support</a:t>
            </a:r>
          </a:p>
        </p:txBody>
      </p:sp>
      <p:sp>
        <p:nvSpPr>
          <p:cNvPr id="22" name="TextBox 21"/>
          <p:cNvSpPr txBox="1"/>
          <p:nvPr/>
        </p:nvSpPr>
        <p:spPr>
          <a:xfrm>
            <a:off x="502920" y="2907792"/>
            <a:ext cx="594360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PRODUCT AND RELEASE ENVELOPE</a:t>
            </a:r>
          </a:p>
        </p:txBody>
      </p:sp>
      <p:sp>
        <p:nvSpPr>
          <p:cNvPr id="23" name="Rectangle 22"/>
          <p:cNvSpPr/>
          <p:nvPr/>
        </p:nvSpPr>
        <p:spPr>
          <a:xfrm>
            <a:off x="502920" y="3410712"/>
            <a:ext cx="41148" cy="155448"/>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649224" y="3300984"/>
            <a:ext cx="6272783" cy="594359"/>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80" b="0">
                <a:solidFill>
                  <a:srgbClr val="183246"/>
                </a:solidFill>
                <a:latin typeface="Aptos"/>
              </a:rPr>
              <a:t>Lead with embeddings, rerank, retrieval or bounded document/batch operators.</a:t>
            </a:r>
          </a:p>
        </p:txBody>
      </p:sp>
      <p:sp>
        <p:nvSpPr>
          <p:cNvPr id="25" name="Rectangle 24"/>
          <p:cNvSpPr/>
          <p:nvPr/>
        </p:nvSpPr>
        <p:spPr>
          <a:xfrm>
            <a:off x="502920" y="4069080"/>
            <a:ext cx="41148" cy="155448"/>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9224" y="3959352"/>
            <a:ext cx="6272783" cy="594359"/>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80" b="0">
                <a:solidFill>
                  <a:srgbClr val="183246"/>
                </a:solidFill>
                <a:latin typeface="Aptos"/>
              </a:rPr>
              <a:t>8 devices: 1.024 TB nominal HBF. 16: 2.048 TB, distributed across qualified domains.</a:t>
            </a:r>
          </a:p>
        </p:txBody>
      </p:sp>
      <p:sp>
        <p:nvSpPr>
          <p:cNvPr id="27" name="Rectangle 26"/>
          <p:cNvSpPr/>
          <p:nvPr/>
        </p:nvSpPr>
        <p:spPr>
          <a:xfrm>
            <a:off x="502920" y="4727448"/>
            <a:ext cx="41148" cy="155448"/>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649224" y="4617720"/>
            <a:ext cx="6272783" cy="594359"/>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80" b="0">
                <a:solidFill>
                  <a:srgbClr val="183246"/>
                </a:solidFill>
                <a:latin typeface="Aptos"/>
              </a:rPr>
              <a:t>Turnkey means identity, tenant isolation, packs, canary/drain, metering, HA and one support prime.</a:t>
            </a:r>
          </a:p>
        </p:txBody>
      </p:sp>
      <p:sp>
        <p:nvSpPr>
          <p:cNvPr id="29" name="Rectangle 28"/>
          <p:cNvSpPr/>
          <p:nvPr/>
        </p:nvSpPr>
        <p:spPr>
          <a:xfrm>
            <a:off x="7333488" y="2907792"/>
            <a:ext cx="4315968" cy="2487168"/>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7507223" y="3054096"/>
            <a:ext cx="3968496"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2B6791"/>
                </a:solidFill>
                <a:latin typeface="Aptos"/>
              </a:rPr>
              <a:t>ILLUSTRATIVE 3-YEAR TCO SAVING</a:t>
            </a:r>
          </a:p>
        </p:txBody>
      </p:sp>
      <p:sp>
        <p:nvSpPr>
          <p:cNvPr id="31" name="TextBox 30"/>
          <p:cNvSpPr txBox="1"/>
          <p:nvPr/>
        </p:nvSpPr>
        <p:spPr>
          <a:xfrm>
            <a:off x="7488936" y="3447288"/>
            <a:ext cx="2130552" cy="7406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4700" b="1">
                <a:solidFill>
                  <a:srgbClr val="2B6791"/>
                </a:solidFill>
                <a:latin typeface="Aptos"/>
              </a:rPr>
              <a:t>51.6%</a:t>
            </a:r>
          </a:p>
        </p:txBody>
      </p:sp>
      <p:sp>
        <p:nvSpPr>
          <p:cNvPr id="32" name="TextBox 31"/>
          <p:cNvSpPr txBox="1"/>
          <p:nvPr/>
        </p:nvSpPr>
        <p:spPr>
          <a:xfrm>
            <a:off x="9710928" y="3566160"/>
            <a:ext cx="1764791" cy="6675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1">
                <a:solidFill>
                  <a:srgbClr val="183246"/>
                </a:solidFill>
                <a:latin typeface="Aptos"/>
              </a:rPr>
              <a:t>10.8 months
simple payback</a:t>
            </a:r>
          </a:p>
        </p:txBody>
      </p:sp>
      <p:sp>
        <p:nvSpPr>
          <p:cNvPr id="33" name="TextBox 32"/>
          <p:cNvSpPr txBox="1"/>
          <p:nvPr/>
        </p:nvSpPr>
        <p:spPr>
          <a:xfrm>
            <a:off x="7498079" y="4361688"/>
            <a:ext cx="3986783" cy="54864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183246"/>
                </a:solidFill>
                <a:latin typeface="Aptos"/>
              </a:rPr>
              <a:t>$120,000 upfront | $47,208/year ATMOS</a:t>
            </a:r>
          </a:p>
        </p:txBody>
      </p:sp>
      <p:sp>
        <p:nvSpPr>
          <p:cNvPr id="34" name="TextBox 33"/>
          <p:cNvSpPr txBox="1"/>
          <p:nvPr/>
        </p:nvSpPr>
        <p:spPr>
          <a:xfrm>
            <a:off x="7498079" y="4919472"/>
            <a:ext cx="3986783" cy="3657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50" b="0">
                <a:solidFill>
                  <a:srgbClr val="536879"/>
                </a:solidFill>
                <a:latin typeface="Aptos"/>
              </a:rPr>
              <a:t>Cash benefit needs &gt;48.4% baseline-spend realization.</a:t>
            </a:r>
          </a:p>
        </p:txBody>
      </p:sp>
      <p:sp>
        <p:nvSpPr>
          <p:cNvPr id="35" name="Rectangle 34"/>
          <p:cNvSpPr/>
          <p:nvPr/>
        </p:nvSpPr>
        <p:spPr>
          <a:xfrm>
            <a:off x="502920" y="5559552"/>
            <a:ext cx="11183112" cy="5303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640080" y="5669280"/>
            <a:ext cx="10899648" cy="29260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1">
                <a:solidFill>
                  <a:srgbClr val="183246"/>
                </a:solidFill>
                <a:latin typeface="Aptos"/>
              </a:rPr>
              <a:t>SCENARIO: replace $180k/year private service; $120k upfront; 3 x 8-device nodes including N+1.</a:t>
            </a:r>
          </a:p>
        </p:txBody>
      </p:sp>
      <p:sp>
        <p:nvSpPr>
          <p:cNvPr id="37" name="TextBox 36"/>
          <p:cNvSpPr txBox="1"/>
          <p:nvPr/>
        </p:nvSpPr>
        <p:spPr>
          <a:xfrm>
            <a:off x="502920" y="6108192"/>
            <a:ext cx="11100816"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80" b="0">
                <a:solidFill>
                  <a:srgbClr val="536879"/>
                </a:solidFill>
                <a:latin typeface="Aptos"/>
              </a:rPr>
              <a:t>Compare with CPU / managed API too. Positive ROI is conditional on the best permitted baseline. [S13]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04</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E2 / Add capacity without splitting an inference request</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First enterprise integration priority: separate endpoint, failure domain and device lifecycle.</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5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4</a:t>
            </a:r>
          </a:p>
        </p:txBody>
      </p:sp>
      <p:sp>
        <p:nvSpPr>
          <p:cNvPr id="11" name="Rectangle 10"/>
          <p:cNvSpPr/>
          <p:nvPr/>
        </p:nvSpPr>
        <p:spPr>
          <a:xfrm>
            <a:off x="502920" y="1883664"/>
            <a:ext cx="3200400" cy="914400"/>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594360" y="1933956"/>
            <a:ext cx="3017520" cy="8229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600" b="1">
                <a:solidFill>
                  <a:srgbClr val="183246"/>
                </a:solidFill>
                <a:latin typeface="Aptos"/>
              </a:rPr>
              <a:t>Application / portal
choose before execution</a:t>
            </a:r>
          </a:p>
        </p:txBody>
      </p:sp>
      <p:sp>
        <p:nvSpPr>
          <p:cNvPr id="13" name="Rectangle 12"/>
          <p:cNvSpPr/>
          <p:nvPr/>
        </p:nvSpPr>
        <p:spPr>
          <a:xfrm>
            <a:off x="4599432" y="1847088"/>
            <a:ext cx="7077456" cy="594360"/>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690872" y="1897380"/>
            <a:ext cx="6894576" cy="50292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600" b="1">
                <a:solidFill>
                  <a:srgbClr val="183246"/>
                </a:solidFill>
                <a:latin typeface="Aptos"/>
              </a:rPr>
              <a:t>Existing GPU endpoint
strict token SLO / VLM / long context</a:t>
            </a:r>
          </a:p>
        </p:txBody>
      </p:sp>
      <p:sp>
        <p:nvSpPr>
          <p:cNvPr id="15" name="Rectangle 14"/>
          <p:cNvSpPr/>
          <p:nvPr/>
        </p:nvSpPr>
        <p:spPr>
          <a:xfrm>
            <a:off x="4599432" y="2633472"/>
            <a:ext cx="7077456" cy="594360"/>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4690872" y="2683764"/>
            <a:ext cx="6894576" cy="50292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600" b="1">
                <a:solidFill>
                  <a:srgbClr val="183246"/>
                </a:solidFill>
                <a:latin typeface="Aptos"/>
              </a:rPr>
              <a:t>Independent ATMOS endpoint
qualified neural services / batch</a:t>
            </a:r>
          </a:p>
        </p:txBody>
      </p:sp>
      <p:cxnSp>
        <p:nvCxnSpPr>
          <p:cNvPr id="17" name="Connector 16"/>
          <p:cNvCxnSpPr/>
          <p:nvPr/>
        </p:nvCxnSpPr>
        <p:spPr>
          <a:xfrm>
            <a:off x="3703320" y="2340864"/>
            <a:ext cx="457200" cy="0"/>
          </a:xfrm>
          <a:prstGeom prst="line">
            <a:avLst/>
          </a:prstGeom>
          <a:ln w="19050">
            <a:solidFill>
              <a:srgbClr val="53687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160520" y="2144268"/>
            <a:ext cx="0" cy="786384"/>
          </a:xfrm>
          <a:prstGeom prst="line">
            <a:avLst/>
          </a:prstGeom>
          <a:ln w="19050">
            <a:solidFill>
              <a:srgbClr val="536879"/>
            </a:solidFill>
          </a:ln>
        </p:spPr>
        <p:style>
          <a:lnRef idx="2">
            <a:schemeClr val="accent1"/>
          </a:lnRef>
          <a:fillRef idx="0">
            <a:schemeClr val="accent1"/>
          </a:fillRef>
          <a:effectRef idx="1">
            <a:schemeClr val="accent1"/>
          </a:effectRef>
          <a:fontRef idx="minor">
            <a:schemeClr val="tx1"/>
          </a:fontRef>
        </p:style>
      </p:cxnSp>
      <p:sp>
        <p:nvSpPr>
          <p:cNvPr id="19" name="Right Arrow 18"/>
          <p:cNvSpPr/>
          <p:nvPr/>
        </p:nvSpPr>
        <p:spPr>
          <a:xfrm>
            <a:off x="4197096" y="2052828"/>
            <a:ext cx="292608" cy="182880"/>
          </a:xfrm>
          <a:prstGeom prst="rightArrow">
            <a:avLst/>
          </a:prstGeom>
          <a:solidFill>
            <a:srgbClr val="2B67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Right Arrow 19"/>
          <p:cNvSpPr/>
          <p:nvPr/>
        </p:nvSpPr>
        <p:spPr>
          <a:xfrm>
            <a:off x="4197096" y="2839212"/>
            <a:ext cx="292608" cy="182880"/>
          </a:xfrm>
          <a:prstGeom prst="rightArrow">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502920" y="3538728"/>
            <a:ext cx="594360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LOW-INTEGRATION ADOPTION / NON-NEGOTIABLE TESTS</a:t>
            </a:r>
          </a:p>
        </p:txBody>
      </p:sp>
      <p:sp>
        <p:nvSpPr>
          <p:cNvPr id="22" name="Rectangle 21"/>
          <p:cNvSpPr/>
          <p:nvPr/>
        </p:nvSpPr>
        <p:spPr>
          <a:xfrm>
            <a:off x="502920" y="3986784"/>
            <a:ext cx="41148" cy="155448"/>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649224" y="3877056"/>
            <a:ext cx="6272783" cy="53949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20" b="0">
                <a:solidFill>
                  <a:srgbClr val="183246"/>
                </a:solidFill>
                <a:latin typeface="Aptos"/>
              </a:rPr>
              <a:t>No CUDA/ROCm, GPU firmware or native-collective modification. No peer-DMA dependency.</a:t>
            </a:r>
          </a:p>
        </p:txBody>
      </p:sp>
      <p:sp>
        <p:nvSpPr>
          <p:cNvPr id="24" name="Rectangle 23"/>
          <p:cNvSpPr/>
          <p:nvPr/>
        </p:nvSpPr>
        <p:spPr>
          <a:xfrm>
            <a:off x="502920" y="4590288"/>
            <a:ext cx="41148" cy="155448"/>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TextBox 24"/>
          <p:cNvSpPr txBox="1"/>
          <p:nvPr/>
        </p:nvSpPr>
        <p:spPr>
          <a:xfrm>
            <a:off x="649224" y="4480560"/>
            <a:ext cx="6272783" cy="53949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20" b="0">
                <a:solidFill>
                  <a:srgbClr val="183246"/>
                </a:solidFill>
                <a:latin typeface="Aptos"/>
              </a:rPr>
              <a:t>Shared gateway, CPU, NIC, storage and power can still hurt GPU tails: test mixed saturation.</a:t>
            </a:r>
          </a:p>
        </p:txBody>
      </p:sp>
      <p:sp>
        <p:nvSpPr>
          <p:cNvPr id="26" name="Rectangle 25"/>
          <p:cNvSpPr/>
          <p:nvPr/>
        </p:nvSpPr>
        <p:spPr>
          <a:xfrm>
            <a:off x="502920" y="5193792"/>
            <a:ext cx="41148" cy="155448"/>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649224" y="5084064"/>
            <a:ext cx="6272783" cy="53949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20" b="0">
                <a:solidFill>
                  <a:srgbClr val="183246"/>
                </a:solidFill>
                <a:latin typeface="Aptos"/>
              </a:rPr>
              <a:t>Freed installed GPU capacity is not cash. Avoid a specific future purchase or bill.</a:t>
            </a:r>
          </a:p>
        </p:txBody>
      </p:sp>
      <p:sp>
        <p:nvSpPr>
          <p:cNvPr id="28" name="Rectangle 27"/>
          <p:cNvSpPr/>
          <p:nvPr/>
        </p:nvSpPr>
        <p:spPr>
          <a:xfrm>
            <a:off x="7333488" y="3538728"/>
            <a:ext cx="4315968" cy="2487168"/>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7507223" y="3685032"/>
            <a:ext cx="3968496"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ILLUSTRATIVE 3-YEAR TCO SAVING</a:t>
            </a:r>
          </a:p>
        </p:txBody>
      </p:sp>
      <p:sp>
        <p:nvSpPr>
          <p:cNvPr id="30" name="TextBox 29"/>
          <p:cNvSpPr txBox="1"/>
          <p:nvPr/>
        </p:nvSpPr>
        <p:spPr>
          <a:xfrm>
            <a:off x="7488936" y="4078224"/>
            <a:ext cx="2130552" cy="7406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4700" b="1">
                <a:solidFill>
                  <a:srgbClr val="007B78"/>
                </a:solidFill>
                <a:latin typeface="Aptos"/>
              </a:rPr>
              <a:t>35.8%</a:t>
            </a:r>
          </a:p>
        </p:txBody>
      </p:sp>
      <p:sp>
        <p:nvSpPr>
          <p:cNvPr id="31" name="TextBox 30"/>
          <p:cNvSpPr txBox="1"/>
          <p:nvPr/>
        </p:nvSpPr>
        <p:spPr>
          <a:xfrm>
            <a:off x="9710928" y="4197096"/>
            <a:ext cx="1764791" cy="6675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1">
                <a:solidFill>
                  <a:srgbClr val="183246"/>
                </a:solidFill>
                <a:latin typeface="Aptos"/>
              </a:rPr>
              <a:t>15.7 months
simple payback</a:t>
            </a:r>
          </a:p>
        </p:txBody>
      </p:sp>
      <p:sp>
        <p:nvSpPr>
          <p:cNvPr id="32" name="TextBox 31"/>
          <p:cNvSpPr txBox="1"/>
          <p:nvPr/>
        </p:nvSpPr>
        <p:spPr>
          <a:xfrm>
            <a:off x="7498079" y="4992624"/>
            <a:ext cx="3986783" cy="54864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183246"/>
                </a:solidFill>
                <a:latin typeface="Aptos"/>
              </a:rPr>
              <a:t>$100,000 upfront | $43,766/year ATMOS</a:t>
            </a:r>
          </a:p>
        </p:txBody>
      </p:sp>
      <p:sp>
        <p:nvSpPr>
          <p:cNvPr id="33" name="TextBox 32"/>
          <p:cNvSpPr txBox="1"/>
          <p:nvPr/>
        </p:nvSpPr>
        <p:spPr>
          <a:xfrm>
            <a:off x="7498079" y="5550408"/>
            <a:ext cx="3986783" cy="3657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50" b="0">
                <a:solidFill>
                  <a:srgbClr val="536879"/>
                </a:solidFill>
                <a:latin typeface="Aptos"/>
              </a:rPr>
              <a:t>Cash benefit needs &gt;64.2% baseline-spend realization.</a:t>
            </a:r>
          </a:p>
        </p:txBody>
      </p:sp>
      <p:sp>
        <p:nvSpPr>
          <p:cNvPr id="34" name="TextBox 33"/>
          <p:cNvSpPr txBox="1"/>
          <p:nvPr/>
        </p:nvSpPr>
        <p:spPr>
          <a:xfrm>
            <a:off x="502920" y="6144768"/>
            <a:ext cx="1110996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0">
                <a:solidFill>
                  <a:srgbClr val="536879"/>
                </a:solidFill>
                <a:latin typeface="Aptos"/>
              </a:rPr>
              <a:t>SCENARIO: avoid $120k/year GPU overflow; $100k upfront; 3 x 8-device nodes, including N+1.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05</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E3 / One gateway. Two qualified hardware pools.</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Reuse the enterprise catalog and policy; select one compatible, ready backend for the whole request.</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5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5</a:t>
            </a:r>
          </a:p>
        </p:txBody>
      </p:sp>
      <p:sp>
        <p:nvSpPr>
          <p:cNvPr id="11" name="Rectangle 10"/>
          <p:cNvSpPr/>
          <p:nvPr/>
        </p:nvSpPr>
        <p:spPr>
          <a:xfrm>
            <a:off x="502920" y="1865376"/>
            <a:ext cx="2944368" cy="832104"/>
          </a:xfrm>
          <a:prstGeom prst="rect">
            <a:avLst/>
          </a:prstGeom>
          <a:solidFill>
            <a:srgbClr val="F3F7F9"/>
          </a:solidFill>
          <a:ln w="12700">
            <a:solidFill>
              <a:srgbClr val="D51F3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594360" y="1915668"/>
            <a:ext cx="2761488" cy="740664"/>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600" b="1">
                <a:solidFill>
                  <a:srgbClr val="183246"/>
                </a:solidFill>
                <a:latin typeface="Aptos"/>
              </a:rPr>
              <a:t>Enterprise gateway
identity / quota / SLO / cost</a:t>
            </a:r>
          </a:p>
        </p:txBody>
      </p:sp>
      <p:sp>
        <p:nvSpPr>
          <p:cNvPr id="13" name="Rectangle 12"/>
          <p:cNvSpPr/>
          <p:nvPr/>
        </p:nvSpPr>
        <p:spPr>
          <a:xfrm>
            <a:off x="3977639" y="1847088"/>
            <a:ext cx="2834640" cy="566928"/>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069079" y="1897380"/>
            <a:ext cx="2651760" cy="47548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500" b="1">
                <a:solidFill>
                  <a:srgbClr val="183246"/>
                </a:solidFill>
                <a:latin typeface="Aptos"/>
              </a:rPr>
              <a:t>GPU InferencePool
existing runtime</a:t>
            </a:r>
          </a:p>
        </p:txBody>
      </p:sp>
      <p:sp>
        <p:nvSpPr>
          <p:cNvPr id="15" name="Rectangle 14"/>
          <p:cNvSpPr/>
          <p:nvPr/>
        </p:nvSpPr>
        <p:spPr>
          <a:xfrm>
            <a:off x="3977639" y="2670048"/>
            <a:ext cx="2834640" cy="56692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4069079" y="2720340"/>
            <a:ext cx="2651760" cy="47548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500" b="1">
                <a:solidFill>
                  <a:srgbClr val="183246"/>
                </a:solidFill>
                <a:latin typeface="Aptos"/>
              </a:rPr>
              <a:t>ATMOS InferencePool
qualified model / pack</a:t>
            </a:r>
          </a:p>
        </p:txBody>
      </p:sp>
      <p:cxnSp>
        <p:nvCxnSpPr>
          <p:cNvPr id="17" name="Connector 16"/>
          <p:cNvCxnSpPr/>
          <p:nvPr/>
        </p:nvCxnSpPr>
        <p:spPr>
          <a:xfrm>
            <a:off x="3447288" y="2295144"/>
            <a:ext cx="237744" cy="0"/>
          </a:xfrm>
          <a:prstGeom prst="line">
            <a:avLst/>
          </a:prstGeom>
          <a:ln w="19050">
            <a:solidFill>
              <a:srgbClr val="53687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685032" y="2130552"/>
            <a:ext cx="0" cy="822960"/>
          </a:xfrm>
          <a:prstGeom prst="line">
            <a:avLst/>
          </a:prstGeom>
          <a:ln w="19050">
            <a:solidFill>
              <a:srgbClr val="536879"/>
            </a:solidFill>
          </a:ln>
        </p:spPr>
        <p:style>
          <a:lnRef idx="2">
            <a:schemeClr val="accent1"/>
          </a:lnRef>
          <a:fillRef idx="0">
            <a:schemeClr val="accent1"/>
          </a:fillRef>
          <a:effectRef idx="1">
            <a:schemeClr val="accent1"/>
          </a:effectRef>
          <a:fontRef idx="minor">
            <a:schemeClr val="tx1"/>
          </a:fontRef>
        </p:style>
      </p:cxnSp>
      <p:sp>
        <p:nvSpPr>
          <p:cNvPr id="19" name="Right Arrow 18"/>
          <p:cNvSpPr/>
          <p:nvPr/>
        </p:nvSpPr>
        <p:spPr>
          <a:xfrm>
            <a:off x="3703320" y="2039112"/>
            <a:ext cx="210312" cy="182880"/>
          </a:xfrm>
          <a:prstGeom prst="rightArrow">
            <a:avLst/>
          </a:prstGeom>
          <a:solidFill>
            <a:srgbClr val="2B67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Right Arrow 19"/>
          <p:cNvSpPr/>
          <p:nvPr/>
        </p:nvSpPr>
        <p:spPr>
          <a:xfrm>
            <a:off x="3703320" y="2862072"/>
            <a:ext cx="210312" cy="182880"/>
          </a:xfrm>
          <a:prstGeom prst="rightArrow">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502920" y="3465576"/>
            <a:ext cx="644652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DRA ALLOCATES DEVICES; THE OPERATOR MAKES A SERVICE READY</a:t>
            </a:r>
          </a:p>
        </p:txBody>
      </p:sp>
      <p:sp>
        <p:nvSpPr>
          <p:cNvPr id="22" name="Rectangle 21"/>
          <p:cNvSpPr/>
          <p:nvPr/>
        </p:nvSpPr>
        <p:spPr>
          <a:xfrm>
            <a:off x="502920" y="3831336"/>
            <a:ext cx="1444752" cy="502920"/>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576072" y="3922776"/>
            <a:ext cx="1298448" cy="3657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Contract</a:t>
            </a:r>
          </a:p>
        </p:txBody>
      </p:sp>
      <p:sp>
        <p:nvSpPr>
          <p:cNvPr id="24" name="Rectangle 23"/>
          <p:cNvSpPr/>
          <p:nvPr/>
        </p:nvSpPr>
        <p:spPr>
          <a:xfrm>
            <a:off x="1947672" y="3831336"/>
            <a:ext cx="5120640" cy="502920"/>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TextBox 24"/>
          <p:cNvSpPr txBox="1"/>
          <p:nvPr/>
        </p:nvSpPr>
        <p:spPr>
          <a:xfrm>
            <a:off x="2020824" y="3922776"/>
            <a:ext cx="4974336" cy="3657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ATMOS responsibility</a:t>
            </a:r>
          </a:p>
        </p:txBody>
      </p:sp>
      <p:sp>
        <p:nvSpPr>
          <p:cNvPr id="26" name="Rectangle 25"/>
          <p:cNvSpPr/>
          <p:nvPr/>
        </p:nvSpPr>
        <p:spPr>
          <a:xfrm>
            <a:off x="502920" y="4334256"/>
            <a:ext cx="1444752" cy="50292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576072" y="4425696"/>
            <a:ext cx="1298448" cy="3657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DRA / CDI</a:t>
            </a:r>
          </a:p>
        </p:txBody>
      </p:sp>
      <p:sp>
        <p:nvSpPr>
          <p:cNvPr id="28" name="Rectangle 27"/>
          <p:cNvSpPr/>
          <p:nvPr/>
        </p:nvSpPr>
        <p:spPr>
          <a:xfrm>
            <a:off x="1947672" y="4334256"/>
            <a:ext cx="5120640" cy="50292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2020824" y="4425696"/>
            <a:ext cx="4974336" cy="3657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Group, NUMA, topology, allocation and isolation</a:t>
            </a:r>
          </a:p>
        </p:txBody>
      </p:sp>
      <p:sp>
        <p:nvSpPr>
          <p:cNvPr id="30" name="Rectangle 29"/>
          <p:cNvSpPr/>
          <p:nvPr/>
        </p:nvSpPr>
        <p:spPr>
          <a:xfrm>
            <a:off x="502920" y="4837176"/>
            <a:ext cx="1444752" cy="5029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TextBox 30"/>
          <p:cNvSpPr txBox="1"/>
          <p:nvPr/>
        </p:nvSpPr>
        <p:spPr>
          <a:xfrm>
            <a:off x="576072" y="4928616"/>
            <a:ext cx="1298448" cy="3657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Operator</a:t>
            </a:r>
          </a:p>
        </p:txBody>
      </p:sp>
      <p:sp>
        <p:nvSpPr>
          <p:cNvPr id="32" name="Rectangle 31"/>
          <p:cNvSpPr/>
          <p:nvPr/>
        </p:nvSpPr>
        <p:spPr>
          <a:xfrm>
            <a:off x="1947672" y="4837176"/>
            <a:ext cx="5120640" cy="5029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TextBox 32"/>
          <p:cNvSpPr txBox="1"/>
          <p:nvPr/>
        </p:nvSpPr>
        <p:spPr>
          <a:xfrm>
            <a:off x="2020824" y="4928616"/>
            <a:ext cx="4974336" cy="3657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ABI / pack / warmup -&gt; ready -&gt; drain / rollback</a:t>
            </a:r>
          </a:p>
        </p:txBody>
      </p:sp>
      <p:sp>
        <p:nvSpPr>
          <p:cNvPr id="34" name="Rectangle 33"/>
          <p:cNvSpPr/>
          <p:nvPr/>
        </p:nvSpPr>
        <p:spPr>
          <a:xfrm>
            <a:off x="502920" y="5340096"/>
            <a:ext cx="1444752" cy="50292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76072" y="5431536"/>
            <a:ext cx="1298448" cy="3657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Gateway</a:t>
            </a:r>
          </a:p>
        </p:txBody>
      </p:sp>
      <p:sp>
        <p:nvSpPr>
          <p:cNvPr id="36" name="Rectangle 35"/>
          <p:cNvSpPr/>
          <p:nvPr/>
        </p:nvSpPr>
        <p:spPr>
          <a:xfrm>
            <a:off x="1947672" y="5340096"/>
            <a:ext cx="5120640" cy="50292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7" name="TextBox 36"/>
          <p:cNvSpPr txBox="1"/>
          <p:nvPr/>
        </p:nvSpPr>
        <p:spPr>
          <a:xfrm>
            <a:off x="2020824" y="5431536"/>
            <a:ext cx="4974336" cy="3657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Same model/API quality; live queue and safe overload</a:t>
            </a:r>
          </a:p>
        </p:txBody>
      </p:sp>
      <p:sp>
        <p:nvSpPr>
          <p:cNvPr id="38" name="Rectangle 37"/>
          <p:cNvSpPr/>
          <p:nvPr/>
        </p:nvSpPr>
        <p:spPr>
          <a:xfrm>
            <a:off x="7333488" y="1856231"/>
            <a:ext cx="4315968" cy="2487168"/>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9" name="TextBox 38"/>
          <p:cNvSpPr txBox="1"/>
          <p:nvPr/>
        </p:nvSpPr>
        <p:spPr>
          <a:xfrm>
            <a:off x="7507223" y="2002536"/>
            <a:ext cx="3968496"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D51F3C"/>
                </a:solidFill>
                <a:latin typeface="Aptos"/>
              </a:rPr>
              <a:t>ILLUSTRATIVE 3-YEAR TCO SAVING</a:t>
            </a:r>
          </a:p>
        </p:txBody>
      </p:sp>
      <p:sp>
        <p:nvSpPr>
          <p:cNvPr id="40" name="TextBox 39"/>
          <p:cNvSpPr txBox="1"/>
          <p:nvPr/>
        </p:nvSpPr>
        <p:spPr>
          <a:xfrm>
            <a:off x="7488936" y="2395727"/>
            <a:ext cx="2130552" cy="7406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4700" b="1">
                <a:solidFill>
                  <a:srgbClr val="D51F3C"/>
                </a:solidFill>
                <a:latin typeface="Aptos"/>
              </a:rPr>
              <a:t>15.7%</a:t>
            </a:r>
          </a:p>
        </p:txBody>
      </p:sp>
      <p:sp>
        <p:nvSpPr>
          <p:cNvPr id="41" name="TextBox 40"/>
          <p:cNvSpPr txBox="1"/>
          <p:nvPr/>
        </p:nvSpPr>
        <p:spPr>
          <a:xfrm>
            <a:off x="9710928" y="2514600"/>
            <a:ext cx="1764791" cy="6675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1">
                <a:solidFill>
                  <a:srgbClr val="183246"/>
                </a:solidFill>
                <a:latin typeface="Aptos"/>
              </a:rPr>
              <a:t>10.0 months
simple payback</a:t>
            </a:r>
          </a:p>
        </p:txBody>
      </p:sp>
      <p:sp>
        <p:nvSpPr>
          <p:cNvPr id="42" name="TextBox 41"/>
          <p:cNvSpPr txBox="1"/>
          <p:nvPr/>
        </p:nvSpPr>
        <p:spPr>
          <a:xfrm>
            <a:off x="7498079" y="3310128"/>
            <a:ext cx="3986783" cy="54864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183246"/>
                </a:solidFill>
                <a:latin typeface="Aptos"/>
              </a:rPr>
              <a:t>$180,000 upfront | $82,943/year ATMOS</a:t>
            </a:r>
          </a:p>
        </p:txBody>
      </p:sp>
      <p:sp>
        <p:nvSpPr>
          <p:cNvPr id="43" name="TextBox 42"/>
          <p:cNvSpPr txBox="1"/>
          <p:nvPr/>
        </p:nvSpPr>
        <p:spPr>
          <a:xfrm>
            <a:off x="7498079" y="3867912"/>
            <a:ext cx="3986783" cy="3657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50" b="0">
                <a:solidFill>
                  <a:srgbClr val="536879"/>
                </a:solidFill>
                <a:latin typeface="Aptos"/>
              </a:rPr>
              <a:t>Cash benefit needs &gt;47.6% baseline-spend realization.</a:t>
            </a:r>
          </a:p>
        </p:txBody>
      </p:sp>
      <p:sp>
        <p:nvSpPr>
          <p:cNvPr id="44" name="TextBox 43"/>
          <p:cNvSpPr txBox="1"/>
          <p:nvPr/>
        </p:nvSpPr>
        <p:spPr>
          <a:xfrm>
            <a:off x="7507224" y="4608576"/>
            <a:ext cx="4005072" cy="8503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183246"/>
                </a:solidFill>
                <a:latin typeface="Aptos"/>
              </a:rPr>
              <a:t>vs E2: unified platform, identity and chargeback; more lifecycle/routing integration.</a:t>
            </a:r>
          </a:p>
        </p:txBody>
      </p:sp>
      <p:sp>
        <p:nvSpPr>
          <p:cNvPr id="45" name="TextBox 44"/>
          <p:cNvSpPr txBox="1"/>
          <p:nvPr/>
        </p:nvSpPr>
        <p:spPr>
          <a:xfrm>
            <a:off x="502920" y="6108192"/>
            <a:ext cx="11109960" cy="22860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0">
                <a:solidFill>
                  <a:srgbClr val="536879"/>
                </a:solidFill>
                <a:latin typeface="Aptos"/>
              </a:rPr>
              <a:t>SCENARIO: $1m/year estate; $300k removable, $700k retained; $180k upfront. Full-estate denominator.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06</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H / Hyperscale Neural-Data Sidecar</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Hyperscalers and Meta / LinkedIn-like operators; enterprise only with exceptional scale and proven pain.</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5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6</a:t>
            </a:r>
          </a:p>
        </p:txBody>
      </p:sp>
      <p:sp>
        <p:nvSpPr>
          <p:cNvPr id="11" name="Rectangle 10"/>
          <p:cNvSpPr/>
          <p:nvPr/>
        </p:nvSpPr>
        <p:spPr>
          <a:xfrm>
            <a:off x="502920" y="1837943"/>
            <a:ext cx="3054096" cy="905256"/>
          </a:xfrm>
          <a:prstGeom prst="rect">
            <a:avLst/>
          </a:prstGeom>
          <a:solidFill>
            <a:srgbClr val="F3F7F9"/>
          </a:solidFill>
          <a:ln w="12700">
            <a:solidFill>
              <a:srgbClr val="AC652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594360" y="1888236"/>
            <a:ext cx="2871215" cy="813816"/>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550" b="1">
                <a:solidFill>
                  <a:srgbClr val="183246"/>
                </a:solidFill>
                <a:latin typeface="Aptos"/>
              </a:rPr>
              <a:t>Existing ANN / candidates
query + versioned IDs</a:t>
            </a:r>
          </a:p>
        </p:txBody>
      </p:sp>
      <p:sp>
        <p:nvSpPr>
          <p:cNvPr id="13" name="Right Arrow 12"/>
          <p:cNvSpPr/>
          <p:nvPr/>
        </p:nvSpPr>
        <p:spPr>
          <a:xfrm>
            <a:off x="3611879" y="2176272"/>
            <a:ext cx="219456"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3950208" y="1837943"/>
            <a:ext cx="3849624" cy="905256"/>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4041648" y="1888236"/>
            <a:ext cx="3666744" cy="813816"/>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550" b="1">
                <a:solidFill>
                  <a:srgbClr val="183246"/>
                </a:solidFill>
                <a:latin typeface="Aptos"/>
              </a:rPr>
              <a:t>ATMOS local vector / feature shards
gather, score, pool, top-k</a:t>
            </a:r>
          </a:p>
        </p:txBody>
      </p:sp>
      <p:sp>
        <p:nvSpPr>
          <p:cNvPr id="16" name="Right Arrow 15"/>
          <p:cNvSpPr/>
          <p:nvPr/>
        </p:nvSpPr>
        <p:spPr>
          <a:xfrm>
            <a:off x="7854696" y="2176272"/>
            <a:ext cx="219456"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8074152" y="1837943"/>
            <a:ext cx="3611880" cy="905256"/>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8165592" y="1888236"/>
            <a:ext cx="3429000" cy="813816"/>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550" b="1">
                <a:solidFill>
                  <a:srgbClr val="183246"/>
                </a:solidFill>
                <a:latin typeface="Aptos"/>
              </a:rPr>
              <a:t>Compact results -&gt; GPU / app
ranker, attention, KV, generation</a:t>
            </a:r>
          </a:p>
        </p:txBody>
      </p:sp>
      <p:cxnSp>
        <p:nvCxnSpPr>
          <p:cNvPr id="19" name="Connector 18"/>
          <p:cNvCxnSpPr/>
          <p:nvPr/>
        </p:nvCxnSpPr>
        <p:spPr>
          <a:xfrm>
            <a:off x="502920" y="3008376"/>
            <a:ext cx="11183112" cy="0"/>
          </a:xfrm>
          <a:prstGeom prst="line">
            <a:avLst/>
          </a:prstGeom>
          <a:ln w="12700">
            <a:solidFill>
              <a:srgbClr val="D9E2E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2920" y="3236976"/>
            <a:ext cx="3712463"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AC6528"/>
                </a:solidFill>
                <a:latin typeface="Aptos"/>
              </a:rPr>
              <a:t>MEMORY AND LIFECYCLE / HYPOTHETICAL</a:t>
            </a:r>
          </a:p>
        </p:txBody>
      </p:sp>
      <p:sp>
        <p:nvSpPr>
          <p:cNvPr id="21" name="TextBox 20"/>
          <p:cNvSpPr txBox="1"/>
          <p:nvPr/>
        </p:nvSpPr>
        <p:spPr>
          <a:xfrm>
            <a:off x="502920" y="3648456"/>
            <a:ext cx="3675887" cy="81381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000" b="1">
                <a:solidFill>
                  <a:srgbClr val="183246"/>
                </a:solidFill>
                <a:latin typeface="Aptos"/>
              </a:rPr>
              <a:t>500m x 768 x FP16
= 768 GB raw vectors</a:t>
            </a:r>
          </a:p>
        </p:txBody>
      </p:sp>
      <p:sp>
        <p:nvSpPr>
          <p:cNvPr id="22" name="TextBox 21"/>
          <p:cNvSpPr txBox="1"/>
          <p:nvPr/>
        </p:nvSpPr>
        <p:spPr>
          <a:xfrm>
            <a:off x="502920" y="4636008"/>
            <a:ext cx="3685032" cy="1042415"/>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183246"/>
                </a:solidFill>
                <a:latin typeface="Aptos"/>
              </a:rPr>
              <a:t>960 GB with a 25% layout allowance.
Four 16-device nodes: 2 generations x 2 complete replicas; each shard must fit.</a:t>
            </a:r>
          </a:p>
        </p:txBody>
      </p:sp>
      <p:sp>
        <p:nvSpPr>
          <p:cNvPr id="23" name="TextBox 22"/>
          <p:cNvSpPr txBox="1"/>
          <p:nvPr/>
        </p:nvSpPr>
        <p:spPr>
          <a:xfrm>
            <a:off x="4434840" y="3236976"/>
            <a:ext cx="3465576"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REDUCE BEFORE EXPENSIVE RANKING</a:t>
            </a:r>
          </a:p>
        </p:txBody>
      </p:sp>
      <p:sp>
        <p:nvSpPr>
          <p:cNvPr id="24" name="TextBox 23"/>
          <p:cNvSpPr txBox="1"/>
          <p:nvPr/>
        </p:nvSpPr>
        <p:spPr>
          <a:xfrm>
            <a:off x="4434840" y="3675887"/>
            <a:ext cx="3310128" cy="49377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600" b="1">
                <a:solidFill>
                  <a:srgbClr val="007B78"/>
                </a:solidFill>
                <a:latin typeface="Aptos"/>
              </a:rPr>
              <a:t>20,000 -&gt; 200</a:t>
            </a:r>
          </a:p>
        </p:txBody>
      </p:sp>
      <p:sp>
        <p:nvSpPr>
          <p:cNvPr id="25" name="TextBox 24"/>
          <p:cNvSpPr txBox="1"/>
          <p:nvPr/>
        </p:nvSpPr>
        <p:spPr>
          <a:xfrm>
            <a:off x="4434840" y="4325112"/>
            <a:ext cx="3337560" cy="7589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183246"/>
                </a:solidFill>
                <a:latin typeface="Aptos"/>
              </a:rPr>
              <a:t>99% fewer candidates, only if relevance is retained; not 99% total savings.</a:t>
            </a:r>
          </a:p>
        </p:txBody>
      </p:sp>
      <p:sp>
        <p:nvSpPr>
          <p:cNvPr id="26" name="TextBox 25"/>
          <p:cNvSpPr txBox="1"/>
          <p:nvPr/>
        </p:nvSpPr>
        <p:spPr>
          <a:xfrm>
            <a:off x="4434840" y="5157216"/>
            <a:ext cx="3337560" cy="8686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80" b="0">
                <a:solidFill>
                  <a:srgbClr val="536879"/>
                </a:solidFill>
                <a:latin typeface="Aptos"/>
              </a:rPr>
              <a:t>30.72 MB vectors -&gt; 2.4 kB IDs/scores ONLY for a vector-moving baseline. Input IDs / refresh / features excluded.</a:t>
            </a:r>
          </a:p>
        </p:txBody>
      </p:sp>
      <p:sp>
        <p:nvSpPr>
          <p:cNvPr id="27" name="Rectangle 26"/>
          <p:cNvSpPr/>
          <p:nvPr/>
        </p:nvSpPr>
        <p:spPr>
          <a:xfrm>
            <a:off x="8074152" y="3236976"/>
            <a:ext cx="3611880" cy="263347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8238744" y="3383280"/>
            <a:ext cx="3282696" cy="32004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20" b="1">
                <a:solidFill>
                  <a:srgbClr val="AC6528"/>
                </a:solidFill>
                <a:latin typeface="Aptos"/>
              </a:rPr>
              <a:t>ILLUSTRATIVE WHOLE-PIPELINE TCO</a:t>
            </a:r>
          </a:p>
        </p:txBody>
      </p:sp>
      <p:sp>
        <p:nvSpPr>
          <p:cNvPr id="29" name="TextBox 28"/>
          <p:cNvSpPr txBox="1"/>
          <p:nvPr/>
        </p:nvSpPr>
        <p:spPr>
          <a:xfrm>
            <a:off x="8220456" y="3840480"/>
            <a:ext cx="3063240" cy="76809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4600" b="1">
                <a:solidFill>
                  <a:srgbClr val="AC6528"/>
                </a:solidFill>
                <a:latin typeface="Aptos"/>
              </a:rPr>
              <a:t>19.4%</a:t>
            </a:r>
          </a:p>
        </p:txBody>
      </p:sp>
      <p:sp>
        <p:nvSpPr>
          <p:cNvPr id="30" name="TextBox 29"/>
          <p:cNvSpPr txBox="1"/>
          <p:nvPr/>
        </p:nvSpPr>
        <p:spPr>
          <a:xfrm>
            <a:off x="8238744" y="4727448"/>
            <a:ext cx="3236976" cy="9326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183246"/>
                </a:solidFill>
                <a:latin typeface="Aptos"/>
              </a:rPr>
              <a:t>$600k/year tier removable; $900k/year GPU retained. $360k upfront, including replicas / staging nodes.</a:t>
            </a:r>
          </a:p>
        </p:txBody>
      </p:sp>
      <p:sp>
        <p:nvSpPr>
          <p:cNvPr id="31" name="TextBox 30"/>
          <p:cNvSpPr txBox="1"/>
          <p:nvPr/>
        </p:nvSpPr>
        <p:spPr>
          <a:xfrm>
            <a:off x="502920" y="6089904"/>
            <a:ext cx="1110996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30" b="0">
                <a:solidFill>
                  <a:srgbClr val="536879"/>
                </a:solidFill>
                <a:latin typeface="Aptos"/>
              </a:rPr>
              <a:t>Gate: best CPU/DRAM ANN control + recall/NDCG + freshness + end-to-end p99 + deletions/ACL + actual tier removal. [S4, S10-S11]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07</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Cost advantage needs accepted service AND avoided spend</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Illustrative constant-USD 36-month cash models. Same quality, SLO, demand and availability; not ATMOS quotes or benchmarks.</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5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8</a:t>
            </a:r>
          </a:p>
        </p:txBody>
      </p:sp>
      <p:sp>
        <p:nvSpPr>
          <p:cNvPr id="11" name="TextBox 10"/>
          <p:cNvSpPr txBox="1"/>
          <p:nvPr/>
        </p:nvSpPr>
        <p:spPr>
          <a:xfrm>
            <a:off x="502920" y="1847088"/>
            <a:ext cx="548640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3-YEAR TCO / EACH BASELINE NORMALIZED TO 100</a:t>
            </a:r>
          </a:p>
        </p:txBody>
      </p:sp>
      <p:sp>
        <p:nvSpPr>
          <p:cNvPr id="12" name="TextBox 11"/>
          <p:cNvSpPr txBox="1"/>
          <p:nvPr/>
        </p:nvSpPr>
        <p:spPr>
          <a:xfrm>
            <a:off x="502920" y="2368296"/>
            <a:ext cx="438912" cy="31089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900" b="1">
                <a:solidFill>
                  <a:srgbClr val="2B6791"/>
                </a:solidFill>
                <a:latin typeface="Aptos"/>
              </a:rPr>
              <a:t>E1</a:t>
            </a:r>
          </a:p>
        </p:txBody>
      </p:sp>
      <p:sp>
        <p:nvSpPr>
          <p:cNvPr id="13" name="Rectangle 12"/>
          <p:cNvSpPr/>
          <p:nvPr/>
        </p:nvSpPr>
        <p:spPr>
          <a:xfrm>
            <a:off x="1170432" y="2340863"/>
            <a:ext cx="4096512" cy="146304"/>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1170432" y="2569463"/>
            <a:ext cx="1984703" cy="210312"/>
          </a:xfrm>
          <a:prstGeom prst="rect">
            <a:avLst/>
          </a:prstGeom>
          <a:solidFill>
            <a:srgbClr val="2B67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1170432" y="2843784"/>
            <a:ext cx="2313432" cy="265457"/>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50" b="1" dirty="0">
                <a:solidFill>
                  <a:srgbClr val="2B6791"/>
                </a:solidFill>
                <a:latin typeface="Aptos"/>
              </a:rPr>
              <a:t>51.6%</a:t>
            </a:r>
          </a:p>
        </p:txBody>
      </p:sp>
      <p:sp>
        <p:nvSpPr>
          <p:cNvPr id="16" name="TextBox 15"/>
          <p:cNvSpPr txBox="1"/>
          <p:nvPr/>
        </p:nvSpPr>
        <p:spPr>
          <a:xfrm>
            <a:off x="3593592" y="2816352"/>
            <a:ext cx="2194560" cy="310896"/>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280" b="0">
                <a:solidFill>
                  <a:srgbClr val="536879"/>
                </a:solidFill>
                <a:latin typeface="Aptos"/>
              </a:rPr>
              <a:t>$540.0k -&gt; $261.6k</a:t>
            </a:r>
          </a:p>
        </p:txBody>
      </p:sp>
      <p:sp>
        <p:nvSpPr>
          <p:cNvPr id="17" name="TextBox 16"/>
          <p:cNvSpPr txBox="1"/>
          <p:nvPr/>
        </p:nvSpPr>
        <p:spPr>
          <a:xfrm>
            <a:off x="502920" y="3200400"/>
            <a:ext cx="438912" cy="31089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900" b="1">
                <a:solidFill>
                  <a:srgbClr val="007B78"/>
                </a:solidFill>
                <a:latin typeface="Aptos"/>
              </a:rPr>
              <a:t>E2</a:t>
            </a:r>
          </a:p>
        </p:txBody>
      </p:sp>
      <p:sp>
        <p:nvSpPr>
          <p:cNvPr id="18" name="Rectangle 17"/>
          <p:cNvSpPr/>
          <p:nvPr/>
        </p:nvSpPr>
        <p:spPr>
          <a:xfrm>
            <a:off x="1170432" y="3172968"/>
            <a:ext cx="4096512" cy="146304"/>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Rectangle 18"/>
          <p:cNvSpPr/>
          <p:nvPr/>
        </p:nvSpPr>
        <p:spPr>
          <a:xfrm>
            <a:off x="1170432" y="3401568"/>
            <a:ext cx="2631986" cy="210312"/>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170432" y="3675887"/>
            <a:ext cx="2313432" cy="265457"/>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50" b="1" dirty="0">
                <a:solidFill>
                  <a:srgbClr val="007B78"/>
                </a:solidFill>
                <a:latin typeface="Aptos"/>
              </a:rPr>
              <a:t>35.8%</a:t>
            </a:r>
          </a:p>
        </p:txBody>
      </p:sp>
      <p:sp>
        <p:nvSpPr>
          <p:cNvPr id="21" name="TextBox 20"/>
          <p:cNvSpPr txBox="1"/>
          <p:nvPr/>
        </p:nvSpPr>
        <p:spPr>
          <a:xfrm>
            <a:off x="3593592" y="3648456"/>
            <a:ext cx="2194560" cy="310896"/>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280" b="0">
                <a:solidFill>
                  <a:srgbClr val="536879"/>
                </a:solidFill>
                <a:latin typeface="Aptos"/>
              </a:rPr>
              <a:t>$360.0k -&gt; $231.3k</a:t>
            </a:r>
          </a:p>
        </p:txBody>
      </p:sp>
      <p:sp>
        <p:nvSpPr>
          <p:cNvPr id="22" name="TextBox 21"/>
          <p:cNvSpPr txBox="1"/>
          <p:nvPr/>
        </p:nvSpPr>
        <p:spPr>
          <a:xfrm>
            <a:off x="502920" y="4032504"/>
            <a:ext cx="438912" cy="31089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900" b="1">
                <a:solidFill>
                  <a:srgbClr val="D51F3C"/>
                </a:solidFill>
                <a:latin typeface="Aptos"/>
              </a:rPr>
              <a:t>E3</a:t>
            </a:r>
          </a:p>
        </p:txBody>
      </p:sp>
      <p:sp>
        <p:nvSpPr>
          <p:cNvPr id="23" name="Rectangle 22"/>
          <p:cNvSpPr/>
          <p:nvPr/>
        </p:nvSpPr>
        <p:spPr>
          <a:xfrm>
            <a:off x="1170432" y="4005072"/>
            <a:ext cx="4096512" cy="146304"/>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Rectangle 23"/>
          <p:cNvSpPr/>
          <p:nvPr/>
        </p:nvSpPr>
        <p:spPr>
          <a:xfrm>
            <a:off x="1170432" y="4233672"/>
            <a:ext cx="3453127" cy="210312"/>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TextBox 24"/>
          <p:cNvSpPr txBox="1"/>
          <p:nvPr/>
        </p:nvSpPr>
        <p:spPr>
          <a:xfrm>
            <a:off x="1170432" y="4507992"/>
            <a:ext cx="2313432" cy="265457"/>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50" b="1" dirty="0">
                <a:solidFill>
                  <a:srgbClr val="D51F3C"/>
                </a:solidFill>
                <a:latin typeface="Aptos"/>
              </a:rPr>
              <a:t>15.7%</a:t>
            </a:r>
          </a:p>
        </p:txBody>
      </p:sp>
      <p:sp>
        <p:nvSpPr>
          <p:cNvPr id="26" name="TextBox 25"/>
          <p:cNvSpPr txBox="1"/>
          <p:nvPr/>
        </p:nvSpPr>
        <p:spPr>
          <a:xfrm>
            <a:off x="3593592" y="4480560"/>
            <a:ext cx="2194560" cy="310896"/>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280" b="0">
                <a:solidFill>
                  <a:srgbClr val="536879"/>
                </a:solidFill>
                <a:latin typeface="Aptos"/>
              </a:rPr>
              <a:t>$3.00m -&gt; $2.53m</a:t>
            </a:r>
          </a:p>
        </p:txBody>
      </p:sp>
      <p:sp>
        <p:nvSpPr>
          <p:cNvPr id="27" name="TextBox 26"/>
          <p:cNvSpPr txBox="1"/>
          <p:nvPr/>
        </p:nvSpPr>
        <p:spPr>
          <a:xfrm>
            <a:off x="502920" y="4864607"/>
            <a:ext cx="438912" cy="31089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900" b="1">
                <a:solidFill>
                  <a:srgbClr val="AC6528"/>
                </a:solidFill>
                <a:latin typeface="Aptos"/>
              </a:rPr>
              <a:t>H</a:t>
            </a:r>
          </a:p>
        </p:txBody>
      </p:sp>
      <p:sp>
        <p:nvSpPr>
          <p:cNvPr id="28" name="Rectangle 27"/>
          <p:cNvSpPr/>
          <p:nvPr/>
        </p:nvSpPr>
        <p:spPr>
          <a:xfrm>
            <a:off x="1170432" y="4837175"/>
            <a:ext cx="4096512" cy="146304"/>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Rectangle 28"/>
          <p:cNvSpPr/>
          <p:nvPr/>
        </p:nvSpPr>
        <p:spPr>
          <a:xfrm>
            <a:off x="1170432" y="5065775"/>
            <a:ext cx="3301324" cy="210312"/>
          </a:xfrm>
          <a:prstGeom prst="rect">
            <a:avLst/>
          </a:prstGeom>
          <a:solidFill>
            <a:srgbClr val="AC652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1170432" y="5340096"/>
            <a:ext cx="2313432" cy="265457"/>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50" b="1" dirty="0">
                <a:solidFill>
                  <a:srgbClr val="AC6528"/>
                </a:solidFill>
                <a:latin typeface="Aptos"/>
              </a:rPr>
              <a:t>19.4%</a:t>
            </a:r>
          </a:p>
        </p:txBody>
      </p:sp>
      <p:sp>
        <p:nvSpPr>
          <p:cNvPr id="31" name="TextBox 30"/>
          <p:cNvSpPr txBox="1"/>
          <p:nvPr/>
        </p:nvSpPr>
        <p:spPr>
          <a:xfrm>
            <a:off x="3593592" y="5312664"/>
            <a:ext cx="2194560" cy="310896"/>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280" b="0">
                <a:solidFill>
                  <a:srgbClr val="536879"/>
                </a:solidFill>
                <a:latin typeface="Aptos"/>
              </a:rPr>
              <a:t>$4.50m -&gt; $3.63m</a:t>
            </a:r>
          </a:p>
        </p:txBody>
      </p:sp>
      <p:sp>
        <p:nvSpPr>
          <p:cNvPr id="32" name="TextBox 31"/>
          <p:cNvSpPr txBox="1"/>
          <p:nvPr/>
        </p:nvSpPr>
        <p:spPr>
          <a:xfrm>
            <a:off x="6236208" y="1847088"/>
            <a:ext cx="544068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100% OF SPECIFIED AVOIDABLE BUDGET REALIZED</a:t>
            </a:r>
          </a:p>
        </p:txBody>
      </p:sp>
      <p:sp>
        <p:nvSpPr>
          <p:cNvPr id="33" name="Rectangle 32"/>
          <p:cNvSpPr/>
          <p:nvPr/>
        </p:nvSpPr>
        <p:spPr>
          <a:xfrm>
            <a:off x="6236208" y="2267712"/>
            <a:ext cx="658368" cy="557784"/>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309360" y="2359152"/>
            <a:ext cx="512063"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Track</a:t>
            </a:r>
          </a:p>
        </p:txBody>
      </p:sp>
      <p:sp>
        <p:nvSpPr>
          <p:cNvPr id="35" name="Rectangle 34"/>
          <p:cNvSpPr/>
          <p:nvPr/>
        </p:nvSpPr>
        <p:spPr>
          <a:xfrm>
            <a:off x="6894576" y="2267712"/>
            <a:ext cx="1133856" cy="557784"/>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6967728" y="2359152"/>
            <a:ext cx="987552"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Upfront</a:t>
            </a:r>
          </a:p>
        </p:txBody>
      </p:sp>
      <p:sp>
        <p:nvSpPr>
          <p:cNvPr id="37" name="Rectangle 36"/>
          <p:cNvSpPr/>
          <p:nvPr/>
        </p:nvSpPr>
        <p:spPr>
          <a:xfrm>
            <a:off x="8028431" y="2267712"/>
            <a:ext cx="1371600" cy="557784"/>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8101583" y="2359152"/>
            <a:ext cx="1225296"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3y net benefit</a:t>
            </a:r>
          </a:p>
        </p:txBody>
      </p:sp>
      <p:sp>
        <p:nvSpPr>
          <p:cNvPr id="39" name="Rectangle 38"/>
          <p:cNvSpPr/>
          <p:nvPr/>
        </p:nvSpPr>
        <p:spPr>
          <a:xfrm>
            <a:off x="9400032" y="2267712"/>
            <a:ext cx="1133856" cy="557784"/>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9473184" y="2359152"/>
            <a:ext cx="987552"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Payback</a:t>
            </a:r>
          </a:p>
        </p:txBody>
      </p:sp>
      <p:sp>
        <p:nvSpPr>
          <p:cNvPr id="41" name="Rectangle 40"/>
          <p:cNvSpPr/>
          <p:nvPr/>
        </p:nvSpPr>
        <p:spPr>
          <a:xfrm>
            <a:off x="10533888" y="2267712"/>
            <a:ext cx="1152144" cy="557784"/>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10607040" y="2359152"/>
            <a:ext cx="1005840"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3y ROI</a:t>
            </a:r>
          </a:p>
        </p:txBody>
      </p:sp>
      <p:sp>
        <p:nvSpPr>
          <p:cNvPr id="43" name="Rectangle 42"/>
          <p:cNvSpPr/>
          <p:nvPr/>
        </p:nvSpPr>
        <p:spPr>
          <a:xfrm>
            <a:off x="6236208" y="2825496"/>
            <a:ext cx="658368" cy="557784"/>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6309360" y="2916936"/>
            <a:ext cx="512063"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E1</a:t>
            </a:r>
          </a:p>
        </p:txBody>
      </p:sp>
      <p:sp>
        <p:nvSpPr>
          <p:cNvPr id="45" name="Rectangle 44"/>
          <p:cNvSpPr/>
          <p:nvPr/>
        </p:nvSpPr>
        <p:spPr>
          <a:xfrm>
            <a:off x="6894576" y="2825496"/>
            <a:ext cx="1133856" cy="557784"/>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6967728" y="2916936"/>
            <a:ext cx="987552"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$120.0k</a:t>
            </a:r>
          </a:p>
        </p:txBody>
      </p:sp>
      <p:sp>
        <p:nvSpPr>
          <p:cNvPr id="47" name="Rectangle 46"/>
          <p:cNvSpPr/>
          <p:nvPr/>
        </p:nvSpPr>
        <p:spPr>
          <a:xfrm>
            <a:off x="8028431" y="2825496"/>
            <a:ext cx="1371600" cy="557784"/>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8101583" y="2916936"/>
            <a:ext cx="1225296"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$278,377</a:t>
            </a:r>
          </a:p>
        </p:txBody>
      </p:sp>
      <p:sp>
        <p:nvSpPr>
          <p:cNvPr id="49" name="Rectangle 48"/>
          <p:cNvSpPr/>
          <p:nvPr/>
        </p:nvSpPr>
        <p:spPr>
          <a:xfrm>
            <a:off x="9400032" y="2825496"/>
            <a:ext cx="1133856" cy="557784"/>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473184" y="2916936"/>
            <a:ext cx="987552"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10.8 mo</a:t>
            </a:r>
          </a:p>
        </p:txBody>
      </p:sp>
      <p:sp>
        <p:nvSpPr>
          <p:cNvPr id="51" name="Rectangle 50"/>
          <p:cNvSpPr/>
          <p:nvPr/>
        </p:nvSpPr>
        <p:spPr>
          <a:xfrm>
            <a:off x="10533888" y="2825496"/>
            <a:ext cx="1152144" cy="557784"/>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607040" y="2916936"/>
            <a:ext cx="1005840"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232%</a:t>
            </a:r>
          </a:p>
        </p:txBody>
      </p:sp>
      <p:sp>
        <p:nvSpPr>
          <p:cNvPr id="53" name="Rectangle 52"/>
          <p:cNvSpPr/>
          <p:nvPr/>
        </p:nvSpPr>
        <p:spPr>
          <a:xfrm>
            <a:off x="6236208" y="3383280"/>
            <a:ext cx="658368" cy="5577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309360" y="3474720"/>
            <a:ext cx="512063"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E2</a:t>
            </a:r>
          </a:p>
        </p:txBody>
      </p:sp>
      <p:sp>
        <p:nvSpPr>
          <p:cNvPr id="55" name="Rectangle 54"/>
          <p:cNvSpPr/>
          <p:nvPr/>
        </p:nvSpPr>
        <p:spPr>
          <a:xfrm>
            <a:off x="6894576" y="3383280"/>
            <a:ext cx="1133856" cy="5577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6967728" y="3474720"/>
            <a:ext cx="987552"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$100.0k</a:t>
            </a:r>
          </a:p>
        </p:txBody>
      </p:sp>
      <p:sp>
        <p:nvSpPr>
          <p:cNvPr id="57" name="Rectangle 56"/>
          <p:cNvSpPr/>
          <p:nvPr/>
        </p:nvSpPr>
        <p:spPr>
          <a:xfrm>
            <a:off x="8028431" y="3383280"/>
            <a:ext cx="1371600" cy="5577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8" name="TextBox 57"/>
          <p:cNvSpPr txBox="1"/>
          <p:nvPr/>
        </p:nvSpPr>
        <p:spPr>
          <a:xfrm>
            <a:off x="8101583" y="3474720"/>
            <a:ext cx="1225296"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$128,702</a:t>
            </a:r>
          </a:p>
        </p:txBody>
      </p:sp>
      <p:sp>
        <p:nvSpPr>
          <p:cNvPr id="59" name="Rectangle 58"/>
          <p:cNvSpPr/>
          <p:nvPr/>
        </p:nvSpPr>
        <p:spPr>
          <a:xfrm>
            <a:off x="9400032" y="3383280"/>
            <a:ext cx="1133856" cy="5577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0" name="TextBox 59"/>
          <p:cNvSpPr txBox="1"/>
          <p:nvPr/>
        </p:nvSpPr>
        <p:spPr>
          <a:xfrm>
            <a:off x="9473184" y="3474720"/>
            <a:ext cx="987552"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15.7 mo</a:t>
            </a:r>
          </a:p>
        </p:txBody>
      </p:sp>
      <p:sp>
        <p:nvSpPr>
          <p:cNvPr id="61" name="Rectangle 60"/>
          <p:cNvSpPr/>
          <p:nvPr/>
        </p:nvSpPr>
        <p:spPr>
          <a:xfrm>
            <a:off x="10533888" y="3383280"/>
            <a:ext cx="1152144" cy="5577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10607040" y="3474720"/>
            <a:ext cx="1005840"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129%</a:t>
            </a:r>
          </a:p>
        </p:txBody>
      </p:sp>
      <p:sp>
        <p:nvSpPr>
          <p:cNvPr id="63" name="Rectangle 62"/>
          <p:cNvSpPr/>
          <p:nvPr/>
        </p:nvSpPr>
        <p:spPr>
          <a:xfrm>
            <a:off x="6236208" y="3941064"/>
            <a:ext cx="658368" cy="557784"/>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4" name="TextBox 63"/>
          <p:cNvSpPr txBox="1"/>
          <p:nvPr/>
        </p:nvSpPr>
        <p:spPr>
          <a:xfrm>
            <a:off x="6309360" y="4032504"/>
            <a:ext cx="512063"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E3</a:t>
            </a:r>
          </a:p>
        </p:txBody>
      </p:sp>
      <p:sp>
        <p:nvSpPr>
          <p:cNvPr id="65" name="Rectangle 64"/>
          <p:cNvSpPr/>
          <p:nvPr/>
        </p:nvSpPr>
        <p:spPr>
          <a:xfrm>
            <a:off x="6894576" y="3941064"/>
            <a:ext cx="1133856" cy="557784"/>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6" name="TextBox 65"/>
          <p:cNvSpPr txBox="1"/>
          <p:nvPr/>
        </p:nvSpPr>
        <p:spPr>
          <a:xfrm>
            <a:off x="6967728" y="4032504"/>
            <a:ext cx="987552"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$180.0k</a:t>
            </a:r>
          </a:p>
        </p:txBody>
      </p:sp>
      <p:sp>
        <p:nvSpPr>
          <p:cNvPr id="67" name="Rectangle 66"/>
          <p:cNvSpPr/>
          <p:nvPr/>
        </p:nvSpPr>
        <p:spPr>
          <a:xfrm>
            <a:off x="8028431" y="3941064"/>
            <a:ext cx="1371600" cy="557784"/>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8101583" y="4032504"/>
            <a:ext cx="1225296"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$471,170</a:t>
            </a:r>
          </a:p>
        </p:txBody>
      </p:sp>
      <p:sp>
        <p:nvSpPr>
          <p:cNvPr id="69" name="Rectangle 68"/>
          <p:cNvSpPr/>
          <p:nvPr/>
        </p:nvSpPr>
        <p:spPr>
          <a:xfrm>
            <a:off x="9400032" y="3941064"/>
            <a:ext cx="1133856" cy="557784"/>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0" name="TextBox 69"/>
          <p:cNvSpPr txBox="1"/>
          <p:nvPr/>
        </p:nvSpPr>
        <p:spPr>
          <a:xfrm>
            <a:off x="9473184" y="4032504"/>
            <a:ext cx="987552"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10.0 mo</a:t>
            </a:r>
          </a:p>
        </p:txBody>
      </p:sp>
      <p:sp>
        <p:nvSpPr>
          <p:cNvPr id="71" name="Rectangle 70"/>
          <p:cNvSpPr/>
          <p:nvPr/>
        </p:nvSpPr>
        <p:spPr>
          <a:xfrm>
            <a:off x="10533888" y="3941064"/>
            <a:ext cx="1152144" cy="557784"/>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2" name="TextBox 71"/>
          <p:cNvSpPr txBox="1"/>
          <p:nvPr/>
        </p:nvSpPr>
        <p:spPr>
          <a:xfrm>
            <a:off x="10607040" y="4032504"/>
            <a:ext cx="1005840"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262%</a:t>
            </a:r>
          </a:p>
        </p:txBody>
      </p:sp>
      <p:sp>
        <p:nvSpPr>
          <p:cNvPr id="73" name="Rectangle 72"/>
          <p:cNvSpPr/>
          <p:nvPr/>
        </p:nvSpPr>
        <p:spPr>
          <a:xfrm>
            <a:off x="6236208" y="4498848"/>
            <a:ext cx="658368" cy="5577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4" name="TextBox 73"/>
          <p:cNvSpPr txBox="1"/>
          <p:nvPr/>
        </p:nvSpPr>
        <p:spPr>
          <a:xfrm>
            <a:off x="6309360" y="4590288"/>
            <a:ext cx="512063"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H</a:t>
            </a:r>
          </a:p>
        </p:txBody>
      </p:sp>
      <p:sp>
        <p:nvSpPr>
          <p:cNvPr id="75" name="Rectangle 74"/>
          <p:cNvSpPr/>
          <p:nvPr/>
        </p:nvSpPr>
        <p:spPr>
          <a:xfrm>
            <a:off x="6894576" y="4498848"/>
            <a:ext cx="1133856" cy="5577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6967728" y="4590288"/>
            <a:ext cx="987552"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$360.0k</a:t>
            </a:r>
          </a:p>
        </p:txBody>
      </p:sp>
      <p:sp>
        <p:nvSpPr>
          <p:cNvPr id="77" name="Rectangle 76"/>
          <p:cNvSpPr/>
          <p:nvPr/>
        </p:nvSpPr>
        <p:spPr>
          <a:xfrm>
            <a:off x="8028431" y="4498848"/>
            <a:ext cx="1371600" cy="5577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8101583" y="4590288"/>
            <a:ext cx="1225296"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$873,510</a:t>
            </a:r>
          </a:p>
        </p:txBody>
      </p:sp>
      <p:sp>
        <p:nvSpPr>
          <p:cNvPr id="79" name="Rectangle 78"/>
          <p:cNvSpPr/>
          <p:nvPr/>
        </p:nvSpPr>
        <p:spPr>
          <a:xfrm>
            <a:off x="9400032" y="4498848"/>
            <a:ext cx="1133856" cy="5577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9473184" y="4590288"/>
            <a:ext cx="987552"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10.5 mo</a:t>
            </a:r>
          </a:p>
        </p:txBody>
      </p:sp>
      <p:sp>
        <p:nvSpPr>
          <p:cNvPr id="81" name="Rectangle 80"/>
          <p:cNvSpPr/>
          <p:nvPr/>
        </p:nvSpPr>
        <p:spPr>
          <a:xfrm>
            <a:off x="10533888" y="4498848"/>
            <a:ext cx="1152144" cy="5577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607040" y="4590288"/>
            <a:ext cx="1005840" cy="42062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243%</a:t>
            </a:r>
          </a:p>
        </p:txBody>
      </p:sp>
      <p:sp>
        <p:nvSpPr>
          <p:cNvPr id="83" name="TextBox 82"/>
          <p:cNvSpPr txBox="1"/>
          <p:nvPr/>
        </p:nvSpPr>
        <p:spPr>
          <a:xfrm>
            <a:off x="6309360" y="5303520"/>
            <a:ext cx="5257800" cy="69494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183246"/>
                </a:solidFill>
                <a:latin typeface="Aptos"/>
              </a:rPr>
              <a:t>E3 retains $700k/year GPU services. H retains $900k/year. Denominators cover the whole unchanged service/estate.</a:t>
            </a:r>
          </a:p>
        </p:txBody>
      </p:sp>
      <p:sp>
        <p:nvSpPr>
          <p:cNvPr id="84" name="TextBox 83"/>
          <p:cNvSpPr txBox="1"/>
          <p:nvPr/>
        </p:nvSpPr>
        <p:spPr>
          <a:xfrm>
            <a:off x="502920" y="6062472"/>
            <a:ext cx="11109960" cy="26517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70" b="0">
                <a:solidFill>
                  <a:srgbClr val="536879"/>
                </a:solidFill>
                <a:latin typeface="Aptos"/>
              </a:rPr>
              <a:t>Includes hardware, rollout, support, software, operations, electricity and reserve. No double-counting / no additive portfolio savings.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08</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Where the business case breaks</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Realized fraction means baseline bills or future purchases actually avoided, not just requests routed elsewhere.</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5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8</a:t>
            </a:r>
          </a:p>
        </p:txBody>
      </p:sp>
      <p:sp>
        <p:nvSpPr>
          <p:cNvPr id="11" name="TextBox 10"/>
          <p:cNvSpPr txBox="1"/>
          <p:nvPr/>
        </p:nvSpPr>
        <p:spPr>
          <a:xfrm>
            <a:off x="502920" y="1865376"/>
            <a:ext cx="726948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NET 3-YEAR BENEFIT AT DIFFERENT REALIZATION LEVELS</a:t>
            </a:r>
          </a:p>
        </p:txBody>
      </p:sp>
      <p:sp>
        <p:nvSpPr>
          <p:cNvPr id="12" name="Rectangle 11"/>
          <p:cNvSpPr/>
          <p:nvPr/>
        </p:nvSpPr>
        <p:spPr>
          <a:xfrm>
            <a:off x="502920" y="2313432"/>
            <a:ext cx="621792" cy="621792"/>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576072" y="2404872"/>
            <a:ext cx="475488"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Track</a:t>
            </a:r>
          </a:p>
        </p:txBody>
      </p:sp>
      <p:sp>
        <p:nvSpPr>
          <p:cNvPr id="14" name="Rectangle 13"/>
          <p:cNvSpPr/>
          <p:nvPr/>
        </p:nvSpPr>
        <p:spPr>
          <a:xfrm>
            <a:off x="1124712" y="2313432"/>
            <a:ext cx="1609344" cy="621792"/>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1197864" y="2404872"/>
            <a:ext cx="1463040"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50% realized</a:t>
            </a:r>
          </a:p>
        </p:txBody>
      </p:sp>
      <p:sp>
        <p:nvSpPr>
          <p:cNvPr id="16" name="Rectangle 15"/>
          <p:cNvSpPr/>
          <p:nvPr/>
        </p:nvSpPr>
        <p:spPr>
          <a:xfrm>
            <a:off x="2734056" y="2313432"/>
            <a:ext cx="1627632" cy="621792"/>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2807208" y="2404872"/>
            <a:ext cx="1481328"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75% realized</a:t>
            </a:r>
          </a:p>
        </p:txBody>
      </p:sp>
      <p:sp>
        <p:nvSpPr>
          <p:cNvPr id="18" name="Rectangle 17"/>
          <p:cNvSpPr/>
          <p:nvPr/>
        </p:nvSpPr>
        <p:spPr>
          <a:xfrm>
            <a:off x="4361688" y="2313432"/>
            <a:ext cx="1627632" cy="621792"/>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4434840" y="2404872"/>
            <a:ext cx="1481328"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100% realized</a:t>
            </a:r>
          </a:p>
        </p:txBody>
      </p:sp>
      <p:sp>
        <p:nvSpPr>
          <p:cNvPr id="20" name="Rectangle 19"/>
          <p:cNvSpPr/>
          <p:nvPr/>
        </p:nvSpPr>
        <p:spPr>
          <a:xfrm>
            <a:off x="5989320" y="2313432"/>
            <a:ext cx="1508760" cy="621792"/>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6062472" y="2404872"/>
            <a:ext cx="1362456"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Break-even</a:t>
            </a:r>
          </a:p>
        </p:txBody>
      </p:sp>
      <p:sp>
        <p:nvSpPr>
          <p:cNvPr id="22" name="Rectangle 21"/>
          <p:cNvSpPr/>
          <p:nvPr/>
        </p:nvSpPr>
        <p:spPr>
          <a:xfrm>
            <a:off x="502920" y="2935224"/>
            <a:ext cx="621792" cy="62179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576072" y="3026664"/>
            <a:ext cx="475488"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183246"/>
                </a:solidFill>
                <a:latin typeface="Aptos"/>
              </a:rPr>
              <a:t>E1</a:t>
            </a:r>
          </a:p>
        </p:txBody>
      </p:sp>
      <p:sp>
        <p:nvSpPr>
          <p:cNvPr id="24" name="Rectangle 23"/>
          <p:cNvSpPr/>
          <p:nvPr/>
        </p:nvSpPr>
        <p:spPr>
          <a:xfrm>
            <a:off x="1124712" y="2935224"/>
            <a:ext cx="1609344" cy="62179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TextBox 24"/>
          <p:cNvSpPr txBox="1"/>
          <p:nvPr/>
        </p:nvSpPr>
        <p:spPr>
          <a:xfrm>
            <a:off x="1197864" y="3026664"/>
            <a:ext cx="1463040"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007B78"/>
                </a:solidFill>
                <a:latin typeface="Aptos"/>
              </a:rPr>
              <a:t>$8,377</a:t>
            </a:r>
          </a:p>
        </p:txBody>
      </p:sp>
      <p:sp>
        <p:nvSpPr>
          <p:cNvPr id="26" name="Rectangle 25"/>
          <p:cNvSpPr/>
          <p:nvPr/>
        </p:nvSpPr>
        <p:spPr>
          <a:xfrm>
            <a:off x="2734056" y="2935224"/>
            <a:ext cx="1627632" cy="62179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2807208" y="3026664"/>
            <a:ext cx="1481328"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007B78"/>
                </a:solidFill>
                <a:latin typeface="Aptos"/>
              </a:rPr>
              <a:t>$143,377</a:t>
            </a:r>
          </a:p>
        </p:txBody>
      </p:sp>
      <p:sp>
        <p:nvSpPr>
          <p:cNvPr id="28" name="Rectangle 27"/>
          <p:cNvSpPr/>
          <p:nvPr/>
        </p:nvSpPr>
        <p:spPr>
          <a:xfrm>
            <a:off x="4361688" y="2935224"/>
            <a:ext cx="1627632" cy="62179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434840" y="3026664"/>
            <a:ext cx="1481328"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007B78"/>
                </a:solidFill>
                <a:latin typeface="Aptos"/>
              </a:rPr>
              <a:t>$278,377</a:t>
            </a:r>
          </a:p>
        </p:txBody>
      </p:sp>
      <p:sp>
        <p:nvSpPr>
          <p:cNvPr id="30" name="Rectangle 29"/>
          <p:cNvSpPr/>
          <p:nvPr/>
        </p:nvSpPr>
        <p:spPr>
          <a:xfrm>
            <a:off x="5989320" y="2935224"/>
            <a:ext cx="1508760" cy="62179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TextBox 30"/>
          <p:cNvSpPr txBox="1"/>
          <p:nvPr/>
        </p:nvSpPr>
        <p:spPr>
          <a:xfrm>
            <a:off x="6062472" y="3026664"/>
            <a:ext cx="1362456"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007B78"/>
                </a:solidFill>
                <a:latin typeface="Aptos"/>
              </a:rPr>
              <a:t>&gt;48.4%</a:t>
            </a:r>
          </a:p>
        </p:txBody>
      </p:sp>
      <p:sp>
        <p:nvSpPr>
          <p:cNvPr id="32" name="Rectangle 31"/>
          <p:cNvSpPr/>
          <p:nvPr/>
        </p:nvSpPr>
        <p:spPr>
          <a:xfrm>
            <a:off x="502920" y="3557015"/>
            <a:ext cx="621792" cy="6217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TextBox 32"/>
          <p:cNvSpPr txBox="1"/>
          <p:nvPr/>
        </p:nvSpPr>
        <p:spPr>
          <a:xfrm>
            <a:off x="576072" y="3648456"/>
            <a:ext cx="475488"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183246"/>
                </a:solidFill>
                <a:latin typeface="Aptos"/>
              </a:rPr>
              <a:t>E2</a:t>
            </a:r>
          </a:p>
        </p:txBody>
      </p:sp>
      <p:sp>
        <p:nvSpPr>
          <p:cNvPr id="34" name="Rectangle 33"/>
          <p:cNvSpPr/>
          <p:nvPr/>
        </p:nvSpPr>
        <p:spPr>
          <a:xfrm>
            <a:off x="1124712" y="3557015"/>
            <a:ext cx="1609344" cy="6217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1197864" y="3648456"/>
            <a:ext cx="1463040"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D51F3C"/>
                </a:solidFill>
                <a:latin typeface="Aptos"/>
              </a:rPr>
              <a:t>-$51,298</a:t>
            </a:r>
          </a:p>
        </p:txBody>
      </p:sp>
      <p:sp>
        <p:nvSpPr>
          <p:cNvPr id="36" name="Rectangle 35"/>
          <p:cNvSpPr/>
          <p:nvPr/>
        </p:nvSpPr>
        <p:spPr>
          <a:xfrm>
            <a:off x="2734056" y="3557015"/>
            <a:ext cx="1627632" cy="6217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7" name="TextBox 36"/>
          <p:cNvSpPr txBox="1"/>
          <p:nvPr/>
        </p:nvSpPr>
        <p:spPr>
          <a:xfrm>
            <a:off x="2807208" y="3648456"/>
            <a:ext cx="1481328"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D51F3C"/>
                </a:solidFill>
                <a:latin typeface="Aptos"/>
              </a:rPr>
              <a:t>$38,702</a:t>
            </a:r>
          </a:p>
        </p:txBody>
      </p:sp>
      <p:sp>
        <p:nvSpPr>
          <p:cNvPr id="38" name="Rectangle 37"/>
          <p:cNvSpPr/>
          <p:nvPr/>
        </p:nvSpPr>
        <p:spPr>
          <a:xfrm>
            <a:off x="4361688" y="3557015"/>
            <a:ext cx="1627632" cy="6217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9" name="TextBox 38"/>
          <p:cNvSpPr txBox="1"/>
          <p:nvPr/>
        </p:nvSpPr>
        <p:spPr>
          <a:xfrm>
            <a:off x="4434840" y="3648456"/>
            <a:ext cx="1481328"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D51F3C"/>
                </a:solidFill>
                <a:latin typeface="Aptos"/>
              </a:rPr>
              <a:t>$128,702</a:t>
            </a:r>
          </a:p>
        </p:txBody>
      </p:sp>
      <p:sp>
        <p:nvSpPr>
          <p:cNvPr id="40" name="Rectangle 39"/>
          <p:cNvSpPr/>
          <p:nvPr/>
        </p:nvSpPr>
        <p:spPr>
          <a:xfrm>
            <a:off x="5989320" y="3557015"/>
            <a:ext cx="1508760" cy="6217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6062472" y="3648456"/>
            <a:ext cx="1362456"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D51F3C"/>
                </a:solidFill>
                <a:latin typeface="Aptos"/>
              </a:rPr>
              <a:t>&gt;64.2%</a:t>
            </a:r>
          </a:p>
        </p:txBody>
      </p:sp>
      <p:sp>
        <p:nvSpPr>
          <p:cNvPr id="42" name="Rectangle 41"/>
          <p:cNvSpPr/>
          <p:nvPr/>
        </p:nvSpPr>
        <p:spPr>
          <a:xfrm>
            <a:off x="502920" y="4178808"/>
            <a:ext cx="621792" cy="62179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3" name="TextBox 42"/>
          <p:cNvSpPr txBox="1"/>
          <p:nvPr/>
        </p:nvSpPr>
        <p:spPr>
          <a:xfrm>
            <a:off x="576072" y="4270248"/>
            <a:ext cx="475488"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183246"/>
                </a:solidFill>
                <a:latin typeface="Aptos"/>
              </a:rPr>
              <a:t>E3</a:t>
            </a:r>
          </a:p>
        </p:txBody>
      </p:sp>
      <p:sp>
        <p:nvSpPr>
          <p:cNvPr id="44" name="Rectangle 43"/>
          <p:cNvSpPr/>
          <p:nvPr/>
        </p:nvSpPr>
        <p:spPr>
          <a:xfrm>
            <a:off x="1124712" y="4178808"/>
            <a:ext cx="1609344" cy="62179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5" name="TextBox 44"/>
          <p:cNvSpPr txBox="1"/>
          <p:nvPr/>
        </p:nvSpPr>
        <p:spPr>
          <a:xfrm>
            <a:off x="1197864" y="4270248"/>
            <a:ext cx="1463040"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007B78"/>
                </a:solidFill>
                <a:latin typeface="Aptos"/>
              </a:rPr>
              <a:t>$21,170</a:t>
            </a:r>
          </a:p>
        </p:txBody>
      </p:sp>
      <p:sp>
        <p:nvSpPr>
          <p:cNvPr id="46" name="Rectangle 45"/>
          <p:cNvSpPr/>
          <p:nvPr/>
        </p:nvSpPr>
        <p:spPr>
          <a:xfrm>
            <a:off x="2734056" y="4178808"/>
            <a:ext cx="1627632" cy="62179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2807208" y="4270248"/>
            <a:ext cx="1481328"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007B78"/>
                </a:solidFill>
                <a:latin typeface="Aptos"/>
              </a:rPr>
              <a:t>$246,170</a:t>
            </a:r>
          </a:p>
        </p:txBody>
      </p:sp>
      <p:sp>
        <p:nvSpPr>
          <p:cNvPr id="48" name="Rectangle 47"/>
          <p:cNvSpPr/>
          <p:nvPr/>
        </p:nvSpPr>
        <p:spPr>
          <a:xfrm>
            <a:off x="4361688" y="4178808"/>
            <a:ext cx="1627632" cy="62179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4434840" y="4270248"/>
            <a:ext cx="1481328"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007B78"/>
                </a:solidFill>
                <a:latin typeface="Aptos"/>
              </a:rPr>
              <a:t>$471,170</a:t>
            </a:r>
          </a:p>
        </p:txBody>
      </p:sp>
      <p:sp>
        <p:nvSpPr>
          <p:cNvPr id="50" name="Rectangle 49"/>
          <p:cNvSpPr/>
          <p:nvPr/>
        </p:nvSpPr>
        <p:spPr>
          <a:xfrm>
            <a:off x="5989320" y="4178808"/>
            <a:ext cx="1508760" cy="62179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1" name="TextBox 50"/>
          <p:cNvSpPr txBox="1"/>
          <p:nvPr/>
        </p:nvSpPr>
        <p:spPr>
          <a:xfrm>
            <a:off x="6062472" y="4270248"/>
            <a:ext cx="1362456"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007B78"/>
                </a:solidFill>
                <a:latin typeface="Aptos"/>
              </a:rPr>
              <a:t>&gt;47.6%</a:t>
            </a:r>
          </a:p>
        </p:txBody>
      </p:sp>
      <p:sp>
        <p:nvSpPr>
          <p:cNvPr id="52" name="Rectangle 51"/>
          <p:cNvSpPr/>
          <p:nvPr/>
        </p:nvSpPr>
        <p:spPr>
          <a:xfrm>
            <a:off x="502920" y="4800600"/>
            <a:ext cx="621792" cy="6217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576072" y="4892040"/>
            <a:ext cx="475488"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183246"/>
                </a:solidFill>
                <a:latin typeface="Aptos"/>
              </a:rPr>
              <a:t>H</a:t>
            </a:r>
          </a:p>
        </p:txBody>
      </p:sp>
      <p:sp>
        <p:nvSpPr>
          <p:cNvPr id="54" name="Rectangle 53"/>
          <p:cNvSpPr/>
          <p:nvPr/>
        </p:nvSpPr>
        <p:spPr>
          <a:xfrm>
            <a:off x="1124712" y="4800600"/>
            <a:ext cx="1609344" cy="6217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5" name="TextBox 54"/>
          <p:cNvSpPr txBox="1"/>
          <p:nvPr/>
        </p:nvSpPr>
        <p:spPr>
          <a:xfrm>
            <a:off x="1197864" y="4892040"/>
            <a:ext cx="1463040"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D51F3C"/>
                </a:solidFill>
                <a:latin typeface="Aptos"/>
              </a:rPr>
              <a:t>-$26,490</a:t>
            </a:r>
          </a:p>
        </p:txBody>
      </p:sp>
      <p:sp>
        <p:nvSpPr>
          <p:cNvPr id="56" name="Rectangle 55"/>
          <p:cNvSpPr/>
          <p:nvPr/>
        </p:nvSpPr>
        <p:spPr>
          <a:xfrm>
            <a:off x="2734056" y="4800600"/>
            <a:ext cx="1627632" cy="6217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2807208" y="4892040"/>
            <a:ext cx="1481328"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D51F3C"/>
                </a:solidFill>
                <a:latin typeface="Aptos"/>
              </a:rPr>
              <a:t>$423,510</a:t>
            </a:r>
          </a:p>
        </p:txBody>
      </p:sp>
      <p:sp>
        <p:nvSpPr>
          <p:cNvPr id="58" name="Rectangle 57"/>
          <p:cNvSpPr/>
          <p:nvPr/>
        </p:nvSpPr>
        <p:spPr>
          <a:xfrm>
            <a:off x="4361688" y="4800600"/>
            <a:ext cx="1627632" cy="6217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4434840" y="4892040"/>
            <a:ext cx="1481328"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D51F3C"/>
                </a:solidFill>
                <a:latin typeface="Aptos"/>
              </a:rPr>
              <a:t>$873,510</a:t>
            </a:r>
          </a:p>
        </p:txBody>
      </p:sp>
      <p:sp>
        <p:nvSpPr>
          <p:cNvPr id="60" name="Rectangle 59"/>
          <p:cNvSpPr/>
          <p:nvPr/>
        </p:nvSpPr>
        <p:spPr>
          <a:xfrm>
            <a:off x="5989320" y="4800600"/>
            <a:ext cx="1508760" cy="6217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1" name="TextBox 60"/>
          <p:cNvSpPr txBox="1"/>
          <p:nvPr/>
        </p:nvSpPr>
        <p:spPr>
          <a:xfrm>
            <a:off x="6062472" y="4892040"/>
            <a:ext cx="1362456" cy="4846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D51F3C"/>
                </a:solidFill>
                <a:latin typeface="Aptos"/>
              </a:rPr>
              <a:t>&gt;51.5%</a:t>
            </a:r>
          </a:p>
        </p:txBody>
      </p:sp>
      <p:sp>
        <p:nvSpPr>
          <p:cNvPr id="62" name="TextBox 61"/>
          <p:cNvSpPr txBox="1"/>
          <p:nvPr/>
        </p:nvSpPr>
        <p:spPr>
          <a:xfrm>
            <a:off x="8028431" y="1865376"/>
            <a:ext cx="3630168"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AC6528"/>
                </a:solidFill>
                <a:latin typeface="Aptos"/>
              </a:rPr>
              <a:t>THE CHEAPER ALTERNATIVE CAN WIN</a:t>
            </a:r>
          </a:p>
        </p:txBody>
      </p:sp>
      <p:sp>
        <p:nvSpPr>
          <p:cNvPr id="63" name="Rectangle 62"/>
          <p:cNvSpPr/>
          <p:nvPr/>
        </p:nvSpPr>
        <p:spPr>
          <a:xfrm>
            <a:off x="8028431" y="2313432"/>
            <a:ext cx="3657600" cy="2395728"/>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4" name="TextBox 63"/>
          <p:cNvSpPr txBox="1"/>
          <p:nvPr/>
        </p:nvSpPr>
        <p:spPr>
          <a:xfrm>
            <a:off x="8202168" y="2551176"/>
            <a:ext cx="3282696" cy="58521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AC6528"/>
                </a:solidFill>
                <a:latin typeface="Aptos"/>
              </a:rPr>
              <a:t>$1,024/year</a:t>
            </a:r>
          </a:p>
        </p:txBody>
      </p:sp>
      <p:sp>
        <p:nvSpPr>
          <p:cNvPr id="65" name="TextBox 64"/>
          <p:cNvSpPr txBox="1"/>
          <p:nvPr/>
        </p:nvSpPr>
        <p:spPr>
          <a:xfrm>
            <a:off x="8202168" y="3319272"/>
            <a:ext cx="3273552" cy="10789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183246"/>
                </a:solidFill>
                <a:latin typeface="Aptos"/>
              </a:rPr>
              <a:t>Published small-embedding API token charges at 100m x 512 tokens. $0.02 per million tokens. [S13]</a:t>
            </a:r>
          </a:p>
        </p:txBody>
      </p:sp>
      <p:sp>
        <p:nvSpPr>
          <p:cNvPr id="66" name="Rectangle 65"/>
          <p:cNvSpPr/>
          <p:nvPr/>
        </p:nvSpPr>
        <p:spPr>
          <a:xfrm>
            <a:off x="502920" y="5669280"/>
            <a:ext cx="41148" cy="155448"/>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7" name="TextBox 66"/>
          <p:cNvSpPr txBox="1"/>
          <p:nvPr/>
        </p:nvSpPr>
        <p:spPr>
          <a:xfrm>
            <a:off x="649224" y="5559552"/>
            <a:ext cx="6821424" cy="27432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Freed GPU capacity is noncash until a bill or future purchase is avoided.</a:t>
            </a:r>
          </a:p>
        </p:txBody>
      </p:sp>
      <p:sp>
        <p:nvSpPr>
          <p:cNvPr id="68" name="Rectangle 67"/>
          <p:cNvSpPr/>
          <p:nvPr/>
        </p:nvSpPr>
        <p:spPr>
          <a:xfrm>
            <a:off x="502920" y="6007608"/>
            <a:ext cx="41148" cy="155448"/>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9" name="TextBox 68"/>
          <p:cNvSpPr txBox="1"/>
          <p:nvPr/>
        </p:nvSpPr>
        <p:spPr>
          <a:xfrm>
            <a:off x="649224" y="5897880"/>
            <a:ext cx="6821424" cy="27432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Stress-test goodput, node count, refresh/HA, support/NRE and energy.</a:t>
            </a:r>
          </a:p>
        </p:txBody>
      </p:sp>
      <p:sp>
        <p:nvSpPr>
          <p:cNvPr id="70" name="TextBox 69"/>
          <p:cNvSpPr txBox="1"/>
          <p:nvPr/>
        </p:nvSpPr>
        <p:spPr>
          <a:xfrm>
            <a:off x="8065008" y="5020056"/>
            <a:ext cx="3566160" cy="9418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183246"/>
                </a:solidFill>
                <a:latin typeface="Aptos"/>
              </a:rPr>
              <a:t>API is not an equal private-service quote. If privacy, quality and SLO permit it, the assumed appliance baseline must change.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09</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OEM density and service are evidence gates, not bay counts</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A four-device fixture -&gt; supported 8-device pilot -&gt; 16-device standard. Hold 20-22 until customer/OEM proof.</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5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9 / 11</a:t>
            </a:r>
          </a:p>
        </p:txBody>
      </p:sp>
      <p:sp>
        <p:nvSpPr>
          <p:cNvPr id="11" name="Rectangle 10"/>
          <p:cNvSpPr/>
          <p:nvPr/>
        </p:nvSpPr>
        <p:spPr>
          <a:xfrm>
            <a:off x="502920" y="1901952"/>
            <a:ext cx="2039112" cy="1042415"/>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612648" y="2029968"/>
            <a:ext cx="1828800" cy="29260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1">
                <a:solidFill>
                  <a:srgbClr val="007B78"/>
                </a:solidFill>
                <a:latin typeface="Aptos"/>
              </a:rPr>
              <a:t>1 DEVICE</a:t>
            </a:r>
          </a:p>
        </p:txBody>
      </p:sp>
      <p:sp>
        <p:nvSpPr>
          <p:cNvPr id="13" name="TextBox 12"/>
          <p:cNvSpPr txBox="1"/>
          <p:nvPr/>
        </p:nvSpPr>
        <p:spPr>
          <a:xfrm>
            <a:off x="612648" y="2450592"/>
            <a:ext cx="182880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70" b="0">
                <a:solidFill>
                  <a:srgbClr val="183246"/>
                </a:solidFill>
                <a:latin typeface="Aptos"/>
              </a:rPr>
              <a:t>Correctness / useful rate
power / thermal / reset</a:t>
            </a:r>
          </a:p>
        </p:txBody>
      </p:sp>
      <p:sp>
        <p:nvSpPr>
          <p:cNvPr id="14" name="Right Arrow 13"/>
          <p:cNvSpPr/>
          <p:nvPr/>
        </p:nvSpPr>
        <p:spPr>
          <a:xfrm>
            <a:off x="2578608" y="2359152"/>
            <a:ext cx="173736"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Rectangle 14"/>
          <p:cNvSpPr/>
          <p:nvPr/>
        </p:nvSpPr>
        <p:spPr>
          <a:xfrm>
            <a:off x="2788920" y="1901952"/>
            <a:ext cx="2039112" cy="1042415"/>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898648" y="2029968"/>
            <a:ext cx="1828800" cy="29260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1">
                <a:solidFill>
                  <a:srgbClr val="007B78"/>
                </a:solidFill>
                <a:latin typeface="Aptos"/>
              </a:rPr>
              <a:t>4 DEVICES</a:t>
            </a:r>
          </a:p>
        </p:txBody>
      </p:sp>
      <p:sp>
        <p:nvSpPr>
          <p:cNvPr id="17" name="TextBox 16"/>
          <p:cNvSpPr txBox="1"/>
          <p:nvPr/>
        </p:nvSpPr>
        <p:spPr>
          <a:xfrm>
            <a:off x="2898648" y="2450592"/>
            <a:ext cx="182880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70" b="0">
                <a:solidFill>
                  <a:srgbClr val="183246"/>
                </a:solidFill>
                <a:latin typeface="Aptos"/>
              </a:rPr>
              <a:t>P2P + staging / skew
isolation / safe removal</a:t>
            </a:r>
          </a:p>
        </p:txBody>
      </p:sp>
      <p:sp>
        <p:nvSpPr>
          <p:cNvPr id="18" name="Right Arrow 17"/>
          <p:cNvSpPr/>
          <p:nvPr/>
        </p:nvSpPr>
        <p:spPr>
          <a:xfrm>
            <a:off x="4864608" y="2359152"/>
            <a:ext cx="173736"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Rectangle 18"/>
          <p:cNvSpPr/>
          <p:nvPr/>
        </p:nvSpPr>
        <p:spPr>
          <a:xfrm>
            <a:off x="5074920" y="1901952"/>
            <a:ext cx="2039112" cy="1042415"/>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5184648" y="2029968"/>
            <a:ext cx="1828800" cy="29260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1">
                <a:solidFill>
                  <a:srgbClr val="007B78"/>
                </a:solidFill>
                <a:latin typeface="Aptos"/>
              </a:rPr>
              <a:t>8 DEVICES</a:t>
            </a:r>
          </a:p>
        </p:txBody>
      </p:sp>
      <p:sp>
        <p:nvSpPr>
          <p:cNvPr id="21" name="TextBox 20"/>
          <p:cNvSpPr txBox="1"/>
          <p:nvPr/>
        </p:nvSpPr>
        <p:spPr>
          <a:xfrm>
            <a:off x="5184648" y="2450592"/>
            <a:ext cx="182880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70" b="0">
                <a:solidFill>
                  <a:srgbClr val="183246"/>
                </a:solidFill>
                <a:latin typeface="Aptos"/>
              </a:rPr>
              <a:t>Whole service / tenants
NUMA / complete replicas</a:t>
            </a:r>
          </a:p>
        </p:txBody>
      </p:sp>
      <p:sp>
        <p:nvSpPr>
          <p:cNvPr id="22" name="Right Arrow 21"/>
          <p:cNvSpPr/>
          <p:nvPr/>
        </p:nvSpPr>
        <p:spPr>
          <a:xfrm>
            <a:off x="7150608" y="2359152"/>
            <a:ext cx="173736"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Rectangle 22"/>
          <p:cNvSpPr/>
          <p:nvPr/>
        </p:nvSpPr>
        <p:spPr>
          <a:xfrm>
            <a:off x="7360920" y="1901952"/>
            <a:ext cx="2039112" cy="1042415"/>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7470648" y="2029968"/>
            <a:ext cx="1828800" cy="29260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1">
                <a:solidFill>
                  <a:srgbClr val="007B78"/>
                </a:solidFill>
                <a:latin typeface="Aptos"/>
              </a:rPr>
              <a:t>16 DEVICES</a:t>
            </a:r>
          </a:p>
        </p:txBody>
      </p:sp>
      <p:sp>
        <p:nvSpPr>
          <p:cNvPr id="25" name="TextBox 24"/>
          <p:cNvSpPr txBox="1"/>
          <p:nvPr/>
        </p:nvSpPr>
        <p:spPr>
          <a:xfrm>
            <a:off x="7470648" y="2450592"/>
            <a:ext cx="182880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70" b="0">
                <a:solidFill>
                  <a:srgbClr val="183246"/>
                </a:solidFill>
                <a:latin typeface="Aptos"/>
              </a:rPr>
              <a:t>OEM BOM / full soak
N+1 peak service / support</a:t>
            </a:r>
          </a:p>
        </p:txBody>
      </p:sp>
      <p:sp>
        <p:nvSpPr>
          <p:cNvPr id="26" name="Right Arrow 25"/>
          <p:cNvSpPr/>
          <p:nvPr/>
        </p:nvSpPr>
        <p:spPr>
          <a:xfrm>
            <a:off x="9436608" y="2359152"/>
            <a:ext cx="173736"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Rectangle 26"/>
          <p:cNvSpPr/>
          <p:nvPr/>
        </p:nvSpPr>
        <p:spPr>
          <a:xfrm>
            <a:off x="9646920" y="1901952"/>
            <a:ext cx="2039112" cy="1042415"/>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9756648" y="2029968"/>
            <a:ext cx="1828800" cy="29260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1">
                <a:solidFill>
                  <a:srgbClr val="007B78"/>
                </a:solidFill>
                <a:latin typeface="Aptos"/>
              </a:rPr>
              <a:t>CUSTOMER</a:t>
            </a:r>
          </a:p>
        </p:txBody>
      </p:sp>
      <p:sp>
        <p:nvSpPr>
          <p:cNvPr id="29" name="TextBox 28"/>
          <p:cNvSpPr txBox="1"/>
          <p:nvPr/>
        </p:nvSpPr>
        <p:spPr>
          <a:xfrm>
            <a:off x="9756648" y="2450592"/>
            <a:ext cx="182880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70" b="0">
                <a:solidFill>
                  <a:srgbClr val="183246"/>
                </a:solidFill>
                <a:latin typeface="Aptos"/>
              </a:rPr>
              <a:t>E2 / E3 routing or H
quality + cost gate</a:t>
            </a:r>
          </a:p>
        </p:txBody>
      </p:sp>
      <p:sp>
        <p:nvSpPr>
          <p:cNvPr id="30" name="TextBox 29"/>
          <p:cNvSpPr txBox="1"/>
          <p:nvPr/>
        </p:nvSpPr>
        <p:spPr>
          <a:xfrm>
            <a:off x="502920" y="3328416"/>
            <a:ext cx="5340096"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WHAT THE OEM / PRIME MUST SIGN</a:t>
            </a:r>
          </a:p>
        </p:txBody>
      </p:sp>
      <p:sp>
        <p:nvSpPr>
          <p:cNvPr id="31" name="Rectangle 30"/>
          <p:cNvSpPr/>
          <p:nvPr/>
        </p:nvSpPr>
        <p:spPr>
          <a:xfrm>
            <a:off x="502920" y="3858768"/>
            <a:ext cx="41148" cy="155448"/>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649224" y="3749039"/>
            <a:ext cx="5202936" cy="60350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10" b="0">
                <a:solidFill>
                  <a:srgbClr val="183246"/>
                </a:solidFill>
                <a:latin typeface="Aptos"/>
              </a:rPr>
              <a:t>E3.S 2T / x4 lanes / BAR and security / BIOS-BMC / sustained bay power and cooling.</a:t>
            </a:r>
          </a:p>
        </p:txBody>
      </p:sp>
      <p:sp>
        <p:nvSpPr>
          <p:cNvPr id="33" name="Rectangle 32"/>
          <p:cNvSpPr/>
          <p:nvPr/>
        </p:nvSpPr>
        <p:spPr>
          <a:xfrm>
            <a:off x="502920" y="4526280"/>
            <a:ext cx="41148" cy="155448"/>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9224" y="4416552"/>
            <a:ext cx="5202936" cy="60350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10" b="0">
                <a:solidFill>
                  <a:srgbClr val="183246"/>
                </a:solidFill>
                <a:latin typeface="Aptos"/>
              </a:rPr>
              <a:t>Wall power at maximum inlet; CPU/NIC/storage load; safe replacement and full replica reserve.</a:t>
            </a:r>
          </a:p>
        </p:txBody>
      </p:sp>
      <p:sp>
        <p:nvSpPr>
          <p:cNvPr id="35" name="Rectangle 34"/>
          <p:cNvSpPr/>
          <p:nvPr/>
        </p:nvSpPr>
        <p:spPr>
          <a:xfrm>
            <a:off x="502920" y="5193792"/>
            <a:ext cx="41148" cy="155448"/>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649224" y="5084064"/>
            <a:ext cx="5202936" cy="60350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10" b="0">
                <a:solidFill>
                  <a:srgbClr val="183246"/>
                </a:solidFill>
                <a:latin typeface="Aptos"/>
              </a:rPr>
              <a:t>Named BOM, NRE, firmware/driver/runtime matrix, spares and one support escalation route.</a:t>
            </a:r>
          </a:p>
        </p:txBody>
      </p:sp>
      <p:sp>
        <p:nvSpPr>
          <p:cNvPr id="37" name="TextBox 36"/>
          <p:cNvSpPr txBox="1"/>
          <p:nvPr/>
        </p:nvSpPr>
        <p:spPr>
          <a:xfrm>
            <a:off x="6263640" y="3328416"/>
            <a:ext cx="5422392"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D51F3C"/>
                </a:solidFill>
                <a:latin typeface="Aptos"/>
              </a:rPr>
              <a:t>WHAT THE SERVICE / FINANCE GATE MUST PROVE</a:t>
            </a:r>
          </a:p>
        </p:txBody>
      </p:sp>
      <p:sp>
        <p:nvSpPr>
          <p:cNvPr id="38" name="Rectangle 37"/>
          <p:cNvSpPr/>
          <p:nvPr/>
        </p:nvSpPr>
        <p:spPr>
          <a:xfrm>
            <a:off x="6263640" y="3858768"/>
            <a:ext cx="41148" cy="155448"/>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9" name="TextBox 38"/>
          <p:cNvSpPr txBox="1"/>
          <p:nvPr/>
        </p:nvSpPr>
        <p:spPr>
          <a:xfrm>
            <a:off x="6409944" y="3749039"/>
            <a:ext cx="5276088" cy="60350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10" b="0">
                <a:solidFill>
                  <a:srgbClr val="183246"/>
                </a:solidFill>
                <a:latin typeface="Aptos"/>
              </a:rPr>
              <a:t>Same quality, p99 / TTFT / TPOT where relevant, freshness and accepted service under failures.</a:t>
            </a:r>
          </a:p>
        </p:txBody>
      </p:sp>
      <p:sp>
        <p:nvSpPr>
          <p:cNvPr id="40" name="Rectangle 39"/>
          <p:cNvSpPr/>
          <p:nvPr/>
        </p:nvSpPr>
        <p:spPr>
          <a:xfrm>
            <a:off x="6263640" y="4526280"/>
            <a:ext cx="41148" cy="155448"/>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6409944" y="4416552"/>
            <a:ext cx="5276088" cy="60350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10" b="0">
                <a:solidFill>
                  <a:srgbClr val="183246"/>
                </a:solidFill>
                <a:latin typeface="Aptos"/>
              </a:rPr>
              <a:t>Protect GPU tails and tenant isolation; no forced unqualified routing or unsafe DMA bypass.</a:t>
            </a:r>
          </a:p>
        </p:txBody>
      </p:sp>
      <p:sp>
        <p:nvSpPr>
          <p:cNvPr id="42" name="Rectangle 41"/>
          <p:cNvSpPr/>
          <p:nvPr/>
        </p:nvSpPr>
        <p:spPr>
          <a:xfrm>
            <a:off x="6263640" y="5193792"/>
            <a:ext cx="41148" cy="155448"/>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3" name="TextBox 42"/>
          <p:cNvSpPr txBox="1"/>
          <p:nvPr/>
        </p:nvSpPr>
        <p:spPr>
          <a:xfrm>
            <a:off x="6409944" y="5084064"/>
            <a:ext cx="5276088" cy="603503"/>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10" b="0">
                <a:solidFill>
                  <a:srgbClr val="183246"/>
                </a:solidFill>
                <a:latin typeface="Aptos"/>
              </a:rPr>
              <a:t>Best incumbent/CPU/GPU comparison + measured node count + actual quotes + removable spend.</a:t>
            </a:r>
          </a:p>
        </p:txBody>
      </p:sp>
      <p:sp>
        <p:nvSpPr>
          <p:cNvPr id="44" name="TextBox 43"/>
          <p:cNvSpPr txBox="1"/>
          <p:nvPr/>
        </p:nvSpPr>
        <p:spPr>
          <a:xfrm>
            <a:off x="502920" y="6080760"/>
            <a:ext cx="11109960" cy="26517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10" b="0">
                <a:solidFill>
                  <a:srgbClr val="536879"/>
                </a:solidFill>
                <a:latin typeface="Aptos"/>
              </a:rPr>
              <a:t>Public 32-bay E3.S 1T x2 storage density does not certify ATMOS x4/2T accelerators. Simulation cannot pass physical gates. [S1, S6]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10</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Fund bounded proof. Hold launch and savings claims.</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One shared foundation, clear ownership, four retained tracks and a linked technical/economic decision package.</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5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12</a:t>
            </a:r>
          </a:p>
        </p:txBody>
      </p:sp>
      <p:sp>
        <p:nvSpPr>
          <p:cNvPr id="11" name="TextBox 10"/>
          <p:cNvSpPr txBox="1"/>
          <p:nvPr/>
        </p:nvSpPr>
        <p:spPr>
          <a:xfrm>
            <a:off x="502920" y="1837943"/>
            <a:ext cx="662940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NEXT DECISIONS / ACCOUNTABLE OWNERS</a:t>
            </a:r>
          </a:p>
        </p:txBody>
      </p:sp>
      <p:sp>
        <p:nvSpPr>
          <p:cNvPr id="12" name="TextBox 11"/>
          <p:cNvSpPr txBox="1"/>
          <p:nvPr/>
        </p:nvSpPr>
        <p:spPr>
          <a:xfrm>
            <a:off x="502920" y="2295144"/>
            <a:ext cx="1399032" cy="40233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1">
                <a:solidFill>
                  <a:srgbClr val="007B78"/>
                </a:solidFill>
                <a:latin typeface="Aptos"/>
              </a:rPr>
              <a:t>E2 FIRST</a:t>
            </a:r>
          </a:p>
        </p:txBody>
      </p:sp>
      <p:sp>
        <p:nvSpPr>
          <p:cNvPr id="13" name="TextBox 12"/>
          <p:cNvSpPr txBox="1"/>
          <p:nvPr/>
        </p:nvSpPr>
        <p:spPr>
          <a:xfrm>
            <a:off x="2093976" y="2295144"/>
            <a:ext cx="4965192" cy="58521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183246"/>
                </a:solidFill>
                <a:latin typeface="Aptos"/>
              </a:rPr>
              <a:t>Product + customer: freeze one paid workload, best control and removable overflow block.</a:t>
            </a:r>
          </a:p>
        </p:txBody>
      </p:sp>
      <p:sp>
        <p:nvSpPr>
          <p:cNvPr id="14" name="TextBox 13"/>
          <p:cNvSpPr txBox="1"/>
          <p:nvPr/>
        </p:nvSpPr>
        <p:spPr>
          <a:xfrm>
            <a:off x="502920" y="3008376"/>
            <a:ext cx="1399032" cy="40233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1">
                <a:solidFill>
                  <a:srgbClr val="007B78"/>
                </a:solidFill>
                <a:latin typeface="Aptos"/>
              </a:rPr>
              <a:t>E1 PRODUCT</a:t>
            </a:r>
          </a:p>
        </p:txBody>
      </p:sp>
      <p:sp>
        <p:nvSpPr>
          <p:cNvPr id="15" name="TextBox 14"/>
          <p:cNvSpPr txBox="1"/>
          <p:nvPr/>
        </p:nvSpPr>
        <p:spPr>
          <a:xfrm>
            <a:off x="2093976" y="3008376"/>
            <a:ext cx="4965192" cy="58521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183246"/>
                </a:solidFill>
                <a:latin typeface="Aptos"/>
              </a:rPr>
              <a:t>OEM + SanDisk: qualify 4 -&gt; 8 -&gt; 16 devices, full-service reserve and one support prime.</a:t>
            </a:r>
          </a:p>
        </p:txBody>
      </p:sp>
      <p:sp>
        <p:nvSpPr>
          <p:cNvPr id="16" name="TextBox 15"/>
          <p:cNvSpPr txBox="1"/>
          <p:nvPr/>
        </p:nvSpPr>
        <p:spPr>
          <a:xfrm>
            <a:off x="502920" y="3721608"/>
            <a:ext cx="1399032" cy="40233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1">
                <a:solidFill>
                  <a:srgbClr val="007B78"/>
                </a:solidFill>
                <a:latin typeface="Aptos"/>
              </a:rPr>
              <a:t>E3 INTEGRATE</a:t>
            </a:r>
          </a:p>
        </p:txBody>
      </p:sp>
      <p:sp>
        <p:nvSpPr>
          <p:cNvPr id="17" name="TextBox 16"/>
          <p:cNvSpPr txBox="1"/>
          <p:nvPr/>
        </p:nvSpPr>
        <p:spPr>
          <a:xfrm>
            <a:off x="2093976" y="3721608"/>
            <a:ext cx="4965192" cy="58521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183246"/>
                </a:solidFill>
                <a:latin typeface="Aptos"/>
              </a:rPr>
              <a:t>Platform owner: DRA/operator/gateway contract, GPU tail protection and cost-aware policy.</a:t>
            </a:r>
          </a:p>
        </p:txBody>
      </p:sp>
      <p:sp>
        <p:nvSpPr>
          <p:cNvPr id="18" name="TextBox 17"/>
          <p:cNvSpPr txBox="1"/>
          <p:nvPr/>
        </p:nvSpPr>
        <p:spPr>
          <a:xfrm>
            <a:off x="502920" y="4434840"/>
            <a:ext cx="1399032" cy="40233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1">
                <a:solidFill>
                  <a:srgbClr val="007B78"/>
                </a:solidFill>
                <a:latin typeface="Aptos"/>
              </a:rPr>
              <a:t>H AT SCALE</a:t>
            </a:r>
          </a:p>
        </p:txBody>
      </p:sp>
      <p:sp>
        <p:nvSpPr>
          <p:cNvPr id="19" name="TextBox 18"/>
          <p:cNvSpPr txBox="1"/>
          <p:nvPr/>
        </p:nvSpPr>
        <p:spPr>
          <a:xfrm>
            <a:off x="2093976" y="4434840"/>
            <a:ext cx="4965192" cy="58521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183246"/>
                </a:solidFill>
                <a:latin typeface="Aptos"/>
              </a:rPr>
              <a:t>Hyperscale sponsor: index/update trace, relevance/freshness, p99 and tier-removal charter.</a:t>
            </a:r>
          </a:p>
        </p:txBody>
      </p:sp>
      <p:sp>
        <p:nvSpPr>
          <p:cNvPr id="20" name="TextBox 19"/>
          <p:cNvSpPr txBox="1"/>
          <p:nvPr/>
        </p:nvSpPr>
        <p:spPr>
          <a:xfrm>
            <a:off x="502920" y="5148072"/>
            <a:ext cx="1399032" cy="40233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1">
                <a:solidFill>
                  <a:srgbClr val="D51F3C"/>
                </a:solidFill>
                <a:latin typeface="Aptos"/>
              </a:rPr>
              <a:t>FINANCE GATE</a:t>
            </a:r>
          </a:p>
        </p:txBody>
      </p:sp>
      <p:sp>
        <p:nvSpPr>
          <p:cNvPr id="21" name="TextBox 20"/>
          <p:cNvSpPr txBox="1"/>
          <p:nvPr/>
        </p:nvSpPr>
        <p:spPr>
          <a:xfrm>
            <a:off x="2093976" y="5148072"/>
            <a:ext cx="4965192" cy="58521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183246"/>
                </a:solidFill>
                <a:latin typeface="Aptos"/>
              </a:rPr>
              <a:t>Finance + engineering: substitute matched physical rates and binding quotes; reject below break-even.</a:t>
            </a:r>
          </a:p>
        </p:txBody>
      </p:sp>
      <p:sp>
        <p:nvSpPr>
          <p:cNvPr id="22" name="Rectangle 21"/>
          <p:cNvSpPr/>
          <p:nvPr/>
        </p:nvSpPr>
        <p:spPr>
          <a:xfrm>
            <a:off x="7516368" y="1856231"/>
            <a:ext cx="4169663" cy="425196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7690104" y="2039112"/>
            <a:ext cx="3803904"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2B6791"/>
                </a:solidFill>
                <a:latin typeface="Aptos"/>
              </a:rPr>
              <a:t>LINKED WORD DETAIL NAVIGATOR</a:t>
            </a:r>
          </a:p>
        </p:txBody>
      </p:sp>
      <p:sp>
        <p:nvSpPr>
          <p:cNvPr id="24" name="TextBox 23">
            <a:hlinkClick r:id="rId5"/>
          </p:cNvPr>
          <p:cNvSpPr txBox="1"/>
          <p:nvPr/>
        </p:nvSpPr>
        <p:spPr>
          <a:xfrm>
            <a:off x="7680960" y="2587752"/>
            <a:ext cx="3794760" cy="3931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60" b="0">
                <a:solidFill>
                  <a:srgbClr val="2B6791"/>
                </a:solidFill>
                <a:latin typeface="Aptos"/>
              </a:rPr>
              <a:t>2   Foundation / software boundary</a:t>
            </a:r>
          </a:p>
        </p:txBody>
      </p:sp>
      <p:sp>
        <p:nvSpPr>
          <p:cNvPr id="25" name="TextBox 24">
            <a:hlinkClick r:id="rId6"/>
          </p:cNvPr>
          <p:cNvSpPr txBox="1"/>
          <p:nvPr/>
        </p:nvSpPr>
        <p:spPr>
          <a:xfrm>
            <a:off x="7680960" y="3072384"/>
            <a:ext cx="3794760" cy="3931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60" b="0">
                <a:solidFill>
                  <a:srgbClr val="2B6791"/>
                </a:solidFill>
                <a:latin typeface="Aptos"/>
              </a:rPr>
              <a:t>3-5   Enterprise E1 / E2 / E3</a:t>
            </a:r>
          </a:p>
        </p:txBody>
      </p:sp>
      <p:sp>
        <p:nvSpPr>
          <p:cNvPr id="26" name="TextBox 25">
            <a:hlinkClick r:id="rId7"/>
          </p:cNvPr>
          <p:cNvSpPr txBox="1"/>
          <p:nvPr/>
        </p:nvSpPr>
        <p:spPr>
          <a:xfrm>
            <a:off x="7680960" y="3557016"/>
            <a:ext cx="3794760" cy="3931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60" b="0">
                <a:solidFill>
                  <a:srgbClr val="2B6791"/>
                </a:solidFill>
                <a:latin typeface="Aptos"/>
              </a:rPr>
              <a:t>6   Hyperscale H / sizing / refresh</a:t>
            </a:r>
          </a:p>
        </p:txBody>
      </p:sp>
      <p:sp>
        <p:nvSpPr>
          <p:cNvPr id="27" name="TextBox 26">
            <a:hlinkClick r:id="rId8"/>
          </p:cNvPr>
          <p:cNvSpPr txBox="1"/>
          <p:nvPr/>
        </p:nvSpPr>
        <p:spPr>
          <a:xfrm>
            <a:off x="7680960" y="4041648"/>
            <a:ext cx="3794760" cy="3931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60" b="0">
                <a:solidFill>
                  <a:srgbClr val="2B6791"/>
                </a:solidFill>
                <a:latin typeface="Aptos"/>
              </a:rPr>
              <a:t>8   Cost / ROI / downside / API control</a:t>
            </a:r>
          </a:p>
        </p:txBody>
      </p:sp>
      <p:sp>
        <p:nvSpPr>
          <p:cNvPr id="28" name="TextBox 27">
            <a:hlinkClick r:id="rId9"/>
          </p:cNvPr>
          <p:cNvSpPr txBox="1"/>
          <p:nvPr/>
        </p:nvSpPr>
        <p:spPr>
          <a:xfrm>
            <a:off x="7680960" y="4526280"/>
            <a:ext cx="3794760" cy="3931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60" b="0">
                <a:solidFill>
                  <a:srgbClr val="2B6791"/>
                </a:solidFill>
                <a:latin typeface="Aptos"/>
              </a:rPr>
              <a:t>9-11   OEM / support / gates</a:t>
            </a:r>
          </a:p>
        </p:txBody>
      </p:sp>
      <p:sp>
        <p:nvSpPr>
          <p:cNvPr id="29" name="TextBox 28">
            <a:hlinkClick r:id="rId10"/>
          </p:cNvPr>
          <p:cNvSpPr txBox="1"/>
          <p:nvPr/>
        </p:nvSpPr>
        <p:spPr>
          <a:xfrm>
            <a:off x="7680960" y="5010912"/>
            <a:ext cx="3794760" cy="3931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60" b="0">
                <a:solidFill>
                  <a:srgbClr val="2B6791"/>
                </a:solidFill>
                <a:latin typeface="Aptos"/>
              </a:rPr>
              <a:t>A   Research / source and claim register</a:t>
            </a:r>
          </a:p>
        </p:txBody>
      </p:sp>
      <p:sp>
        <p:nvSpPr>
          <p:cNvPr id="30" name="TextBox 29"/>
          <p:cNvSpPr txBox="1"/>
          <p:nvPr/>
        </p:nvSpPr>
        <p:spPr>
          <a:xfrm>
            <a:off x="7680960" y="5632704"/>
            <a:ext cx="3767328" cy="4389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40" b="0">
                <a:solidFill>
                  <a:srgbClr val="536879"/>
                </a:solidFill>
                <a:latin typeface="Aptos"/>
              </a:rPr>
              <a:t>Keep PPT + DOCX together.
Use 'Open Word proposal' if a viewer ignores section bookmarks.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7074</Words>
  <Application>Microsoft Macintosh PowerPoint</Application>
  <PresentationFormat>Widescreen</PresentationFormat>
  <Paragraphs>392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ATMOS E3.S AI Capacity Portfolio</dc:title>
  <dc:subject/>
  <dc:creator>SanDisk / ATMOS Architecture</dc:creator>
  <cp:keywords/>
  <dc:description>generated using python-pptx</dc:description>
  <cp:lastModifiedBy>Shailesh Pilare</cp:lastModifiedBy>
  <cp:revision>3</cp:revision>
  <dcterms:created xsi:type="dcterms:W3CDTF">2026-10-05T18:52:32Z</dcterms:created>
  <dcterms:modified xsi:type="dcterms:W3CDTF">2026-10-05T19:24:57Z</dcterms:modified>
  <cp:category/>
</cp:coreProperties>
</file>