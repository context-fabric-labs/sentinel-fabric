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execution boundaries, not customer names or cost forecasts. Offering A is an independent full-model service. Offering B performs complete target-model prefill on NVIDIA and transfers target KV plus continuation state once to an ATMOS-native decoder. Offering C uses a separate small draft model on GPU; ATMOS owns the full target model and verifies candidate token blocks with target-correct acceptance/correction. C is not voting, a quality classifier, or KV handoff from B.</a:t>
            </a:r>
          </a:p>
          <a:p/>
          <a:p>
            <a:r>
              <a:t>Recommendation: A is the least intrusive integration because requests and responses cross the boundary. B is conditional on a compatible KV layout/connector and measured TTFT/TPOT benefit; public vLLM documentation explicitly states disaggregated prefilling does not inherently improve throughput. C is conditional on acceptance rate and verification economics and must fall back to normal target decode when it loses.</a:t>
            </a:r>
          </a:p>
          <a:p/>
          <a:p>
            <a:r>
              <a:t>No measured ATMOS performance is asserted. All ATMOS device capacities, local bandwidth, runtime, power and support remain internal planning targets until qualified.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2 Oct 2026:</a:t>
            </a:r>
          </a:p>
          <a:p>
            <a:r>
              <a:t>- NVIDIA RTX PRO 6000 Blackwell Server Edition: 96 GB GDDR7, 1,597 GB/s, PCIe Gen5; available now. https://www.nvidia.com/en-us/data-center/rtx-pro-6000-blackwell-server-edition/</a:t>
            </a:r>
          </a:p>
          <a:p>
            <a:r>
              <a:t>- NVIDIA RTX PRO Server: MGX 4U/6U examples support 8 RTX PRO 6000 GPUs. https://www.nvidia.com/en-us/data-center/products/rtx-pro-server/</a:t>
            </a:r>
          </a:p>
          <a:p>
            <a:r>
              <a:t>- NVIDIA H200: 141 GB HBM3e, 4.8 TB/s, up to 700 W SXM / 600 W NVL, NVLink 900 GB/s per GPU, HGX 4/8 GPU or H200 NVL options. https://www.nvidia.com/en-us/data-center/h200/</a:t>
            </a:r>
          </a:p>
          <a:p>
            <a:r>
              <a:t>- NVIDIA GB300 NVL72: 72 Blackwell Ultra GPUs, 36 Grace CPUs, 20 TB rounded aggregate GPU memory, up to 576 TB/s aggregate GPU-memory bandwidth and 130 TB/s rack NVLink; available now and liquid cooled. https://www.nvidia.com/en-us/data-center/gb300-nvl72/</a:t>
            </a:r>
          </a:p>
          <a:p>
            <a:r>
              <a:t>- NVIDIA Blackwell Ultra datasheet: 288 GB HBM3e per B300 GPU. https://resources.nvidia.com/en-us-blackwell-architecture/blackwell-ultra-datasheet</a:t>
            </a:r>
          </a:p>
          <a:p/>
          <a:p>
            <a:r>
              <a:t>Calculated arithmetic: 8 × 96 GB RTX PRO = 768 GB aggregate GDDR. 8 × 141 GB H200 = 1,128 GB aggregate HBM and 8 × 4.8 TB/s = 38.4 TB/s arithmetic local-memory bandwidth. These sums are not uniform shared memory and do not represent application throughput.</a:t>
            </a:r>
          </a:p>
          <a:p/>
          <a:p>
            <a:r>
              <a:t>Technical interpretation: RTX PRO is the most accessible Blackwell development/OEM control. H200 represents a mature Hopper installed base with very high HBM bandwidth. GB300 NVL72 is the strategic rack control whose native memory and NVLink reduce any pure capacity argument for ATMOS. Qualification must hold model, quality, latency and failure reserve constant.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Hypothetical use case, not tied to a named customer: regulated document synthesis with 4,096 input tokens, up to 512 generated tokens, 8K total-context cap, 2 requests/s peak and proposed p95 completion &lt;=120 s. These are study inputs, not a measured SLA.</a:t>
            </a:r>
          </a:p>
          <a:p/>
          <a:p>
            <a:r>
              <a:t>Model: Qwen3-235B-A22B-class. A raw FP8 weight floor is approximately 235 GB by one byte per parameter; real packages include scales, mixed-precision tensors, alignment, metadata, runtime and replicas. Qwen model configuration used for KV arithmetic: 94 layers, 4 KV heads, head dimension 128. BF16 logical KV bytes = 2 (K,V) × 94 × 4 × 128 × 2 bytes × cached tokens. At 4,096 tokens: 788,529,152 bytes = 0.734375 GiB/request. At 8,192 tokens: 1.46875 GiB/request. Thirty-two 8K sequences: 47 GiB logical KV. Excludes block rounding, replication, staging and workspace. Source: https://huggingface.co/Qwen/Qwen3-235B-A22B/blob/main/config.json</a:t>
            </a:r>
          </a:p>
          <a:p/>
          <a:p>
            <a:r>
              <a:t>Internal ATMOS planning envelope retained from supplied materials: up to 128 GB HBF and 8–16 GB LPDDR per E3.S, 100 GB application weight budget per device, 200 GB/s local-read target. For eight devices this is 1,024 GB nominal HBF, 800 GB weight study budget and 128 GB LPDDR at 16 GB/device; a provisional 4 GB/device reserve leaves 96 GB. These are unqualified planning targets. Per-device sharding and fabric matter; aggregate memory is not unified.</a:t>
            </a:r>
          </a:p>
          <a:p/>
          <a:p>
            <a:r>
              <a:t>GPU controls: 4 RTX PRO 6000 GPUs provide 384 GB aggregate GDDR7 and an accessible Blackwell development control. An H200 or Blackwell Ultra control must be sized by the actual runtime; raw memory fit does not establish accepted service. No cost savings are assumed.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Offering A: one request is routed either to the existing GPU service or to a complete ATMOS-native target-model service. Only request/response crosses. ATMOS must implement full model loading, attention, KV, router, experts, combine and sampling. This is not GPU expert offload.</a:t>
            </a:r>
          </a:p>
          <a:p/>
          <a:p>
            <a:r>
              <a:t>Offering B: the GPU executes the complete target model during prefill and creates target-model KV. The service transfers exact KV blocks plus model identity, positions, dtype/scales, head/shard layout, fences and continuation state to an ATMOS-native decoder holding the same target weights. ATMOS then executes the complete decode loop without returning per layer. Both pools need target weights. vLLM describes disaggregated prefill as useful for separately tuning TTFT and inter-token latency and controlling tail ITL, but explicitly states it does not inherently improve throughput. Public connectors are precedents, not an ATMOS KV-compatibility guarantee.</a:t>
            </a:r>
          </a:p>
          <a:p/>
          <a:p>
            <a:r>
              <a:t>Offering C: a separate small draft model on GPU proposes a token block using its own KV. ATMOS owns the large target model and target KV and scores the candidates using a distribution-preserving speculative decoding algorithm. Candidate token IDs plus required probability/protocol metadata cross every verification cycle; committed prefix/correction returns to the drafter. Draft KV is never imported as target KV. C must automatically use normal target decoding when expected accepted output does not repay draft + verification overhead.</a:t>
            </a:r>
          </a:p>
          <a:p/>
          <a:p>
            <a:r>
              <a:t>Speculative-decoding algorithm precedent: Leviathan, Kalman &amp; Matias, ICML 2023, https://proceedings.mlr.press/v202/leviathan23a.html</a:t>
            </a:r>
          </a:p>
          <a:p>
            <a:r>
              <a:t>Disaggregated prefill reference: https://docs.vllm.ai/en/latest/features/disagg_prefill/</a:t>
            </a:r>
          </a:p>
          <a:p>
            <a:r>
              <a:t>NVIDIA Dynamo reference: https://docs.nvidia.com/dynamo/components/router/disaggregated-serving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Offering A routes each eligible request to exactly one complete service. The NVIDIA service and its KV cache remain independent. ATMOS must load and execute the complete target model, including prompt prefill, attention, active KV, router, routed/shared experts, combination and output sampling. If a model spans several E3.S modules, the ATMOS-native fabric and failure policy are part of the product.</a:t>
            </a:r>
          </a:p>
          <a:p/>
          <a:p>
            <a:r>
              <a:t>What crosses the integration boundary: prompt/token input, model/version, generation limits, tenant identity, deadline/cancellation and the response. No target KV or per-layer activation crosses from NVIDIA.</a:t>
            </a:r>
          </a:p>
          <a:p/>
          <a:p>
            <a:r>
              <a:t>Why it can help in a Hopper/Blackwell environment: it creates an independently managed service pool for bounded, lower-urgency or private jobs without modifying the protected NVIDIA inference engine. The value is not that ATMOS is faster than H200/B300 memory. It is that eligible work can be isolated and scaled under a different capacity/power/support envelope if the complete service meets quality and deadline.</a:t>
            </a:r>
          </a:p>
          <a:p/>
          <a:p>
            <a:r>
              <a:t>Primary technical risks: full-model compiler/runtime breadth, attention and active-KV fit, native inter-device fabric, small-batch performance, queue stability, complete-service availability, platform operations and support. Capacity fit alone does not pass.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Offering B uses NVIDIA where its parallel prompt processing is strongest and ATMOS for the complete target decode loop. Both phases execute the same target model and therefore both hold target weights. The primary benefit is separate scaling and queue isolation of prefill versus decode—not GPU weight reclamation.</a:t>
            </a:r>
          </a:p>
          <a:p/>
          <a:p>
            <a:r>
              <a:t>The handoff is a model-state transfer, not a pointer. It includes exact model/checkpoint identity, positions, token IDs, layer/head/shard ownership, KV dtype/scales/layout, transfer fences, completion/ownership, first-token handling, cancellation and reset semantics. A connector may transfer blocks layer-by-layer; 'one handoff' means one service-phase boundary per request, not one DMA operation.</a:t>
            </a:r>
          </a:p>
          <a:p/>
          <a:p>
            <a:r>
              <a:t>Qwen3-235B example: BF16 logical KV at a 4,096-token prompt is 0.734375 GiB. At 2 requests/s the logical handoff is 1.46875 GiB/s before block rounding, duplication, staging, protocol and burst reserve. These are arithmetic inputs, not measured ATMOS traffic.</a:t>
            </a:r>
          </a:p>
          <a:p/>
          <a:p>
            <a:r>
              <a:t>vLLM documentation states disaggregated prefilling is useful for independently tuning TTFT/ITL and controlling tail ITL, and explicitly says it does not improve throughput. Public NIXL/LMCache/Dynamo connectors do not prove GPU-to-ATMOS cache compatibility. Sources:</a:t>
            </a:r>
          </a:p>
          <a:p>
            <a:r>
              <a:t>- https://docs.vllm.ai/en/latest/features/disagg_prefill/</a:t>
            </a:r>
          </a:p>
          <a:p>
            <a:r>
              <a:t>- https://docs.nvidia.com/dynamo/components/router/disaggregated-serving</a:t>
            </a:r>
          </a:p>
          <a:p/>
          <a:p>
            <a:r>
              <a:t>Adoption gate: same model/quality, combined TTFT, handoff, TPOT, accepted rate, duplicated model capacity, failure reserve and operational cost must beat the optimized control. If ATMOS decode backs up, GPU prefill cannot create value by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clarifies Option C. It is speculative decoding: a small, fast GPU draft model proposes a block; ATMOS executes the large target model to score the candidates and applies a distribution-preserving acceptance/correction algorithm. It is not GPU prefill of the target, not majority voting and not a quality classifier.</a:t>
            </a:r>
          </a:p>
          <a:p/>
          <a:p>
            <a:r>
              <a:t>State: the draft model and target model have separate weights and separate KV caches. Both initialize prompt state unless a separately qualified optimization exists. The draft KV is never imported into the target. The wire contract may require draft probabilities/logits or algorithm-specific metadata in addition to token IDs. The target commits accepted output and corrects according to the chosen exact algorithm. Both sides roll forward only from the committed prefix.</a:t>
            </a:r>
          </a:p>
          <a:p/>
          <a:p>
            <a:r>
              <a:t>Break-even derivation: let t_native be ordinary target time per committed token. Let t_cycle(k) include drafting k candidates, target verification and protocol/communication. Let C be committed target-approved tokens per cycle. Effective time/token = t_cycle / E[C]. Speculation wins only if E[C] &gt; t_cycle / t_native. In the illustration, 120/80 = 1.5, so the rolling expected committed count must exceed 1.5. Three commits gives 40 ms/token (2x); one gives 120 ms/token (slower). These numbers are illustrative, not an ATMOS benchmark.</a:t>
            </a:r>
          </a:p>
          <a:p/>
          <a:p>
            <a:r>
              <a:t>Measure acceptance by workload and context, accepted tokens/s, target cycles, draft/verification time, communication, rejected work, target KV rollback, quality/distribution and tail latency. Automatically fall back to normal ATMOS target decoding when the rolling confidence-adjusted benefit is negative.</a:t>
            </a:r>
          </a:p>
          <a:p/>
          <a:p>
            <a:r>
              <a:t>Algorithm reference: Leviathan, Kalman &amp; Matias, Fast Inference from Transformers via Speculative Decoding, ICML 2023. https://proceedings.mlr.press/v202/leviathan23a.html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ATMOS cluster is a common study platform, not a validated BOM. Internal planning inputs: eight E3.S devices, up to 128 GB HBF/device and 8–16 GB LPDDR/device, 100 GB application HBF budget/device and 200 GB/s local-read target/device. The displayed 1,024/800/128/96 GB arithmetic uses 16 GB LPDDR/device and a provisional 4 GB/device working-memory reserve. Per-device placement, scratch, updates, replicas and failure reserve reduce usable capacity.</a:t>
            </a:r>
          </a:p>
          <a:p/>
          <a:p>
            <a:r>
              <a:t>A: integrate through a normal service API over the qualified network. It is the least invasive path for RTX PRO, H200/HGX or GB300 environments because the existing NVIDIA service can remain unchanged.</a:t>
            </a:r>
          </a:p>
          <a:p/>
          <a:p>
            <a:r>
              <a:t>B: requires a target-KV connector and transport. Depending on physical productization this may use a supported network/RDMA/NIXL-like path or an OEM-approved local path. Exact layout conversion and ownership are more important than headline bandwidth. The target weights exist in both pools.</a:t>
            </a:r>
          </a:p>
          <a:p/>
          <a:p>
            <a:r>
              <a:t>C: transfers less state per cycle than B but synchronizes repeatedly, making latency and protocol efficiency critical. The small draft GPU can be an RTX PRO-class or another supported GPU selected by fit; it does not run target layers.</a:t>
            </a:r>
          </a:p>
          <a:p/>
          <a:p>
            <a:r>
              <a:t>NVIDIA target sequence: RTX PRO 6000 Blackwell Server Edition for development/integration; H200/HGX as an installed-base high-bandwidth control; GB300 NVL72 for strategic rack qualification. Every platform is remeasured. ATMOS remains outside NVLink/NVSwitch and stock NVIDIA firmware/driver/NCCL are preserved.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the selection rule. A is preferred when the request can be assigned entirely to an independent ATMOS service. B is appropriate only when ATMOS decode is already competitive and prompt processing or prefill/decode interference is the measured bottleneck. C is appropriate only when target decoding is the bottleneck and the selected draft model has a high, stable, workload-specific acceptance rate.</a:t>
            </a:r>
          </a:p>
          <a:p/>
          <a:p>
            <a:r>
              <a:t>Control requirements: each offering must be compared with an optimized NVIDIA control at the same checkpoint/target quality, prompt/output distribution, TTFT/TPOT or completion deadline, availability and reserve. H200 or GB300 can make memory capacity less scarce; ATMOS still needs to show useful accepted work or a deployment boundary worth operating.</a:t>
            </a:r>
          </a:p>
          <a:p/>
          <a:p>
            <a:r>
              <a:t>Cost attribute: use total delivered cost per accepted request/output token. Include hardware, network, rack, power/cooling, licenses/support, spares/failure reserve, engineering/qualification and operations. Offering B includes full target weights in both pools, GPU prefill and KV transfer. Offering C includes the draft GPU, rejected draft work, target verification and protocol/rollback. Do not equate low GPU utilization or nominal ATMOS HBF with savings.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1 — simulation: represent the complete native target model, not only expert capacity. Model full weights, attention, active KV, NPU service, native ATMOS fabric, queues, device failure and control GPU service. Use RTX PRO/H200/GB300 specs only as control inputs, not ATMOS predictions.</a:t>
            </a:r>
          </a:p>
          <a:p/>
          <a:p>
            <a:r>
              <a:t>Gate 2 — emulator: operate the real software contracts and produce correct target results on surrogate/partner compute. A needs full model pack/loader/runtime and request API. B adds exact KV export/import, ownership and continuation. C adds draft/target scheduler, exact acceptance/correction and KV commit/rollback. Emulator timing remains provisional.</a:t>
            </a:r>
          </a:p>
          <a:p/>
          <a:p>
            <a:r>
              <a:t>Gate 3 — physical node: prove offering A first on ATMOS silicon/prototype with quality, completion/TTFT/TPOT, NPU/HBF/LPDDR/fabric, all-device load, power/thermal, faults, updates and recovery. Only then execute B handoff and C verification experiments. A successful demo without failure/lifecycle evidence is not a gate pass.</a:t>
            </a:r>
          </a:p>
          <a:p/>
          <a:p>
            <a:r>
              <a:t>Gate 4 — named NVIDIA platform: compare each selected offering against its own optimized control. Development target: RTX PRO 6000 Blackwell Server Edition. Installed-base production control: H200/HGX or H200 NVL. Strategic rack control: one exact GB300 NVL72 OEM configuration. Include support, lifecycle, supply, security, availability reserve and accepted-work result. Requalify every OEM and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request:</a:t>
            </a:r>
          </a:p>
          <a:p>
            <a:r>
              <a:t>1. Approve a bounded native ATMOS full-model backend and Offering A study for one Qwen3-235B-A22B-class profile.</a:t>
            </a:r>
          </a:p>
          <a:p>
            <a:r>
              <a:t>2. Use RTX PRO 6000 Blackwell Server Edition as the most accessible development control; retain H200 as installed-base production control and GB300 NVL72 as strategic rack control.</a:t>
            </a:r>
          </a:p>
          <a:p>
            <a:r>
              <a:t>3. Fund B only to close target-KV schema/connector/ownership and combined-service feasibility. Public disaggregated serving does not deliver an ATMOS decoder or throughput guarantee.</a:t>
            </a:r>
          </a:p>
          <a:p>
            <a:r>
              <a:t>4. Keep C as research until a selected small draft/large target pair shows a confidence-adjusted committed-token rate above the measured break-even, with exact distribution-preserving acceptance/correction and safe target/draft KV state.</a:t>
            </a:r>
          </a:p>
          <a:p>
            <a:r>
              <a:t>5. Request one OEM physical/fabric study and explicit SanDisk/Tenstorrent/runtime ownership. Do not imply partner commitment from public software.</a:t>
            </a:r>
          </a:p>
          <a:p/>
          <a:p>
            <a:r>
              <a:t>First 90 days:</a:t>
            </a:r>
          </a:p>
          <a:p>
            <a:r>
              <a:t>- Days 0–30: freeze checkpoint, precision, workload, quality/deadline, GPU controls, full-model memory/active-state/fabric ledger and interface ownership.</a:t>
            </a:r>
          </a:p>
          <a:p>
            <a:r>
              <a:t>- Days 31–60: build/verify the complete native pack/runtime on emulator; implement A API; define and unit-test B KV schema and C verification protocol; calibrate simulator.</a:t>
            </a:r>
          </a:p>
          <a:p>
            <a:r>
              <a:t>- Days 61–90: run physical primitive/native service tests as evidence permits; return A go/pivot/stop, B KV feasibility and C acceptance simulation, plus one named OEM path and risk/cost boundary.</a:t>
            </a:r>
          </a:p>
          <a:p/>
          <a:p>
            <a:r>
              <a:t>Cost is subordinate to technical proof. Later compare total delivered cost per accepted work at equal quality/SLO/availability. No measured ATMOS rates, power, price, OEM support or launch date are asserted.</a:t>
            </a:r>
          </a:p>
          <a:p/>
          <a:p>
            <a:r>
              <a:t>Principal public references:</a:t>
            </a:r>
          </a:p>
          <a:p>
            <a:r>
              <a:t>- NVIDIA RTX PRO 6000: https://www.nvidia.com/en-us/data-center/rtx-pro-6000-blackwell-server-edition/</a:t>
            </a:r>
          </a:p>
          <a:p>
            <a:r>
              <a:t>- NVIDIA RTX PRO Server: https://www.nvidia.com/en-us/data-center/products/rtx-pro-server/</a:t>
            </a:r>
          </a:p>
          <a:p>
            <a:r>
              <a:t>- NVIDIA H200: https://www.nvidia.com/en-us/data-center/h200/</a:t>
            </a:r>
          </a:p>
          <a:p>
            <a:r>
              <a:t>- NVIDIA GB300 NVL72: https://www.nvidia.com/en-us/data-center/gb300-nvl72/</a:t>
            </a:r>
          </a:p>
          <a:p>
            <a:r>
              <a:t>- NVIDIA Dynamo disaggregated serving: https://docs.nvidia.com/dynamo/components/router/disaggregated-serving</a:t>
            </a:r>
          </a:p>
          <a:p>
            <a:r>
              <a:t>- vLLM disaggregated prefill: https://docs.vllm.ai/en/latest/features/disagg_prefill/</a:t>
            </a:r>
          </a:p>
          <a:p>
            <a:r>
              <a:t>- Speculative decoding: https://proceedings.mlr.press/v202/leviathan23a.html</a:t>
            </a:r>
          </a:p>
          <a:p>
            <a:r>
              <a:t>- Qwen3-235B configuration: https://huggingface.co/Qwen/Qwen3-235B-A22B/blob/main/config.json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31837"/>
          </a:solidFill>
          <a:ln w="12700">
            <a:solidFill>
              <a:srgbClr val="E31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2011680" cy="292608"/>
          </a:xfrm>
          <a:prstGeom prst="rect">
            <a:avLst/>
          </a:prstGeom>
          <a:noFill/>
        </p:spPr>
        <p:txBody>
          <a:bodyPr wrap="square" lIns="27432" rIns="27432" tIns="27432" bIns="27432" anchor="t">
            <a:spAutoFit/>
          </a:bodyPr>
          <a:lstStyle/>
          <a:p>
            <a:pPr algn="l">
              <a:spcAft>
                <a:spcPts val="0"/>
              </a:spcAft>
            </a:pPr>
            <a:r>
              <a:rPr sz="1100" b="1">
                <a:solidFill>
                  <a:srgbClr val="E31837"/>
                </a:solidFill>
                <a:latin typeface="Aptos"/>
              </a:rPr>
              <a:t>SANDISK / ATMOS</a:t>
            </a:r>
          </a:p>
        </p:txBody>
      </p:sp>
      <p:sp>
        <p:nvSpPr>
          <p:cNvPr id="4" name="TextBox 3"/>
          <p:cNvSpPr txBox="1"/>
          <p:nvPr/>
        </p:nvSpPr>
        <p:spPr>
          <a:xfrm>
            <a:off x="594360" y="804672"/>
            <a:ext cx="4937760" cy="274320"/>
          </a:xfrm>
          <a:prstGeom prst="rect">
            <a:avLst/>
          </a:prstGeom>
          <a:noFill/>
        </p:spPr>
        <p:txBody>
          <a:bodyPr wrap="square" lIns="27432" rIns="27432" tIns="27432" bIns="27432" anchor="t">
            <a:spAutoFit/>
          </a:bodyPr>
          <a:lstStyle/>
          <a:p>
            <a:pPr algn="l">
              <a:spcAft>
                <a:spcPts val="0"/>
              </a:spcAft>
            </a:pPr>
            <a:r>
              <a:rPr sz="1100" b="1">
                <a:solidFill>
                  <a:srgbClr val="9FB3C8"/>
                </a:solidFill>
                <a:latin typeface="Aptos"/>
              </a:rPr>
              <a:t>THREE TECHNICAL OFFERINGS</a:t>
            </a:r>
          </a:p>
        </p:txBody>
      </p:sp>
      <p:sp>
        <p:nvSpPr>
          <p:cNvPr id="5" name="TextBox 4"/>
          <p:cNvSpPr txBox="1"/>
          <p:nvPr/>
        </p:nvSpPr>
        <p:spPr>
          <a:xfrm>
            <a:off x="594360" y="1234440"/>
            <a:ext cx="10515600" cy="1234440"/>
          </a:xfrm>
          <a:prstGeom prst="rect">
            <a:avLst/>
          </a:prstGeom>
          <a:noFill/>
        </p:spPr>
        <p:txBody>
          <a:bodyPr wrap="square" lIns="27432" rIns="27432" tIns="27432" bIns="27432" anchor="t">
            <a:spAutoFit/>
          </a:bodyPr>
          <a:lstStyle/>
          <a:p>
            <a:pPr algn="l">
              <a:spcAft>
                <a:spcPts val="0"/>
              </a:spcAft>
            </a:pPr>
            <a:r>
              <a:rPr sz="3500" b="1">
                <a:solidFill>
                  <a:srgbClr val="FFFFFF"/>
                </a:solidFill>
                <a:latin typeface="Aptos Display"/>
              </a:rPr>
              <a:t>ATMOS in a Blackwell / Hopper
inference architecture</a:t>
            </a:r>
          </a:p>
        </p:txBody>
      </p:sp>
      <p:sp>
        <p:nvSpPr>
          <p:cNvPr id="6" name="TextBox 5"/>
          <p:cNvSpPr txBox="1"/>
          <p:nvPr/>
        </p:nvSpPr>
        <p:spPr>
          <a:xfrm>
            <a:off x="621792" y="2578608"/>
            <a:ext cx="9875520" cy="347472"/>
          </a:xfrm>
          <a:prstGeom prst="rect">
            <a:avLst/>
          </a:prstGeom>
          <a:noFill/>
        </p:spPr>
        <p:txBody>
          <a:bodyPr wrap="square" lIns="27432" rIns="27432" tIns="27432" bIns="27432" anchor="t">
            <a:spAutoFit/>
          </a:bodyPr>
          <a:lstStyle/>
          <a:p>
            <a:pPr algn="l">
              <a:spcAft>
                <a:spcPts val="0"/>
              </a:spcAft>
            </a:pPr>
            <a:r>
              <a:rPr sz="1600" b="0">
                <a:solidFill>
                  <a:srgbClr val="C7D3DF"/>
                </a:solidFill>
                <a:latin typeface="Aptos"/>
              </a:rPr>
              <a:t>Execution boundaries, technical value, and the evidence required before productization</a:t>
            </a:r>
          </a:p>
        </p:txBody>
      </p:sp>
      <p:sp>
        <p:nvSpPr>
          <p:cNvPr id="7" name="Rounded Rectangle 6"/>
          <p:cNvSpPr/>
          <p:nvPr/>
        </p:nvSpPr>
        <p:spPr>
          <a:xfrm>
            <a:off x="621792" y="3401568"/>
            <a:ext cx="3401568" cy="1481328"/>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547872"/>
            <a:ext cx="420624" cy="438912"/>
          </a:xfrm>
          <a:prstGeom prst="rect">
            <a:avLst/>
          </a:prstGeom>
          <a:noFill/>
        </p:spPr>
        <p:txBody>
          <a:bodyPr wrap="square" lIns="27432" rIns="27432" tIns="27432" bIns="27432" anchor="t">
            <a:spAutoFit/>
          </a:bodyPr>
          <a:lstStyle/>
          <a:p>
            <a:pPr algn="l">
              <a:spcAft>
                <a:spcPts val="0"/>
              </a:spcAft>
            </a:pPr>
            <a:r>
              <a:rPr sz="2700" b="1">
                <a:solidFill>
                  <a:srgbClr val="2E6F9E"/>
                </a:solidFill>
                <a:latin typeface="Aptos Display"/>
              </a:rPr>
              <a:t>A</a:t>
            </a:r>
          </a:p>
        </p:txBody>
      </p:sp>
      <p:sp>
        <p:nvSpPr>
          <p:cNvPr id="9" name="TextBox 8"/>
          <p:cNvSpPr txBox="1"/>
          <p:nvPr/>
        </p:nvSpPr>
        <p:spPr>
          <a:xfrm>
            <a:off x="1280160" y="3547872"/>
            <a:ext cx="2487168" cy="274320"/>
          </a:xfrm>
          <a:prstGeom prst="rect">
            <a:avLst/>
          </a:prstGeom>
          <a:noFill/>
        </p:spPr>
        <p:txBody>
          <a:bodyPr wrap="square" lIns="27432" rIns="27432" tIns="27432" bIns="27432" anchor="t">
            <a:spAutoFit/>
          </a:bodyPr>
          <a:lstStyle/>
          <a:p>
            <a:pPr algn="l">
              <a:spcAft>
                <a:spcPts val="0"/>
              </a:spcAft>
            </a:pPr>
            <a:r>
              <a:rPr sz="1200" b="1">
                <a:solidFill>
                  <a:srgbClr val="FFFFFF"/>
                </a:solidFill>
                <a:latin typeface="Aptos"/>
              </a:rPr>
              <a:t>NATIVE SERVICE</a:t>
            </a:r>
          </a:p>
        </p:txBody>
      </p:sp>
      <p:sp>
        <p:nvSpPr>
          <p:cNvPr id="10" name="TextBox 9"/>
          <p:cNvSpPr txBox="1"/>
          <p:nvPr/>
        </p:nvSpPr>
        <p:spPr>
          <a:xfrm>
            <a:off x="1280160" y="3858768"/>
            <a:ext cx="2487168" cy="219456"/>
          </a:xfrm>
          <a:prstGeom prst="rect">
            <a:avLst/>
          </a:prstGeom>
          <a:noFill/>
        </p:spPr>
        <p:txBody>
          <a:bodyPr wrap="square" lIns="27432" rIns="27432" tIns="27432" bIns="27432" anchor="t">
            <a:spAutoFit/>
          </a:bodyPr>
          <a:lstStyle/>
          <a:p>
            <a:pPr algn="l">
              <a:spcAft>
                <a:spcPts val="0"/>
              </a:spcAft>
            </a:pPr>
            <a:r>
              <a:rPr sz="1050" b="1">
                <a:solidFill>
                  <a:srgbClr val="9FB3C8"/>
                </a:solidFill>
                <a:latin typeface="Aptos"/>
              </a:rPr>
              <a:t>Request boundary</a:t>
            </a:r>
          </a:p>
        </p:txBody>
      </p:sp>
      <p:sp>
        <p:nvSpPr>
          <p:cNvPr id="11" name="TextBox 10"/>
          <p:cNvSpPr txBox="1"/>
          <p:nvPr/>
        </p:nvSpPr>
        <p:spPr>
          <a:xfrm>
            <a:off x="786384" y="4297680"/>
            <a:ext cx="3017520" cy="347472"/>
          </a:xfrm>
          <a:prstGeom prst="rect">
            <a:avLst/>
          </a:prstGeom>
          <a:noFill/>
        </p:spPr>
        <p:txBody>
          <a:bodyPr wrap="square" lIns="27432" rIns="27432" tIns="27432" bIns="27432" anchor="t">
            <a:spAutoFit/>
          </a:bodyPr>
          <a:lstStyle/>
          <a:p>
            <a:pPr algn="l">
              <a:spcAft>
                <a:spcPts val="0"/>
              </a:spcAft>
            </a:pPr>
            <a:r>
              <a:rPr sz="1300" b="0">
                <a:solidFill>
                  <a:srgbClr val="DDE5ED"/>
                </a:solidFill>
                <a:latin typeface="Aptos"/>
              </a:rPr>
              <a:t>Complete prefill + decode on ATMOS</a:t>
            </a:r>
          </a:p>
        </p:txBody>
      </p:sp>
      <p:sp>
        <p:nvSpPr>
          <p:cNvPr id="12" name="Rounded Rectangle 11"/>
          <p:cNvSpPr/>
          <p:nvPr/>
        </p:nvSpPr>
        <p:spPr>
          <a:xfrm>
            <a:off x="4325112" y="3401568"/>
            <a:ext cx="3401568" cy="1481328"/>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9703" y="3547872"/>
            <a:ext cx="420624" cy="438912"/>
          </a:xfrm>
          <a:prstGeom prst="rect">
            <a:avLst/>
          </a:prstGeom>
          <a:noFill/>
        </p:spPr>
        <p:txBody>
          <a:bodyPr wrap="square" lIns="27432" rIns="27432" tIns="27432" bIns="27432" anchor="t">
            <a:spAutoFit/>
          </a:bodyPr>
          <a:lstStyle/>
          <a:p>
            <a:pPr algn="l">
              <a:spcAft>
                <a:spcPts val="0"/>
              </a:spcAft>
            </a:pPr>
            <a:r>
              <a:rPr sz="2700" b="1">
                <a:solidFill>
                  <a:srgbClr val="008C82"/>
                </a:solidFill>
                <a:latin typeface="Aptos Display"/>
              </a:rPr>
              <a:t>B</a:t>
            </a:r>
          </a:p>
        </p:txBody>
      </p:sp>
      <p:sp>
        <p:nvSpPr>
          <p:cNvPr id="14" name="TextBox 13"/>
          <p:cNvSpPr txBox="1"/>
          <p:nvPr/>
        </p:nvSpPr>
        <p:spPr>
          <a:xfrm>
            <a:off x="4983479" y="3547872"/>
            <a:ext cx="2487168" cy="274320"/>
          </a:xfrm>
          <a:prstGeom prst="rect">
            <a:avLst/>
          </a:prstGeom>
          <a:noFill/>
        </p:spPr>
        <p:txBody>
          <a:bodyPr wrap="square" lIns="27432" rIns="27432" tIns="27432" bIns="27432" anchor="t">
            <a:spAutoFit/>
          </a:bodyPr>
          <a:lstStyle/>
          <a:p>
            <a:pPr algn="l">
              <a:spcAft>
                <a:spcPts val="0"/>
              </a:spcAft>
            </a:pPr>
            <a:r>
              <a:rPr sz="1200" b="1">
                <a:solidFill>
                  <a:srgbClr val="FFFFFF"/>
                </a:solidFill>
                <a:latin typeface="Aptos"/>
              </a:rPr>
              <a:t>DISAGGREGATED</a:t>
            </a:r>
          </a:p>
        </p:txBody>
      </p:sp>
      <p:sp>
        <p:nvSpPr>
          <p:cNvPr id="15" name="TextBox 14"/>
          <p:cNvSpPr txBox="1"/>
          <p:nvPr/>
        </p:nvSpPr>
        <p:spPr>
          <a:xfrm>
            <a:off x="4983479" y="3858768"/>
            <a:ext cx="2487168" cy="219456"/>
          </a:xfrm>
          <a:prstGeom prst="rect">
            <a:avLst/>
          </a:prstGeom>
          <a:noFill/>
        </p:spPr>
        <p:txBody>
          <a:bodyPr wrap="square" lIns="27432" rIns="27432" tIns="27432" bIns="27432" anchor="t">
            <a:spAutoFit/>
          </a:bodyPr>
          <a:lstStyle/>
          <a:p>
            <a:pPr algn="l">
              <a:spcAft>
                <a:spcPts val="0"/>
              </a:spcAft>
            </a:pPr>
            <a:r>
              <a:rPr sz="1050" b="1">
                <a:solidFill>
                  <a:srgbClr val="9FB3C8"/>
                </a:solidFill>
                <a:latin typeface="Aptos"/>
              </a:rPr>
              <a:t>KV boundary</a:t>
            </a:r>
          </a:p>
        </p:txBody>
      </p:sp>
      <p:sp>
        <p:nvSpPr>
          <p:cNvPr id="16" name="TextBox 15"/>
          <p:cNvSpPr txBox="1"/>
          <p:nvPr/>
        </p:nvSpPr>
        <p:spPr>
          <a:xfrm>
            <a:off x="4489703" y="4297680"/>
            <a:ext cx="3017520" cy="347472"/>
          </a:xfrm>
          <a:prstGeom prst="rect">
            <a:avLst/>
          </a:prstGeom>
          <a:noFill/>
        </p:spPr>
        <p:txBody>
          <a:bodyPr wrap="square" lIns="27432" rIns="27432" tIns="27432" bIns="27432" anchor="t">
            <a:spAutoFit/>
          </a:bodyPr>
          <a:lstStyle/>
          <a:p>
            <a:pPr algn="l">
              <a:spcAft>
                <a:spcPts val="0"/>
              </a:spcAft>
            </a:pPr>
            <a:r>
              <a:rPr sz="1300" b="0">
                <a:solidFill>
                  <a:srgbClr val="DDE5ED"/>
                </a:solidFill>
                <a:latin typeface="Aptos"/>
              </a:rPr>
              <a:t>GPU prefill → ATMOS decode</a:t>
            </a:r>
          </a:p>
        </p:txBody>
      </p:sp>
      <p:sp>
        <p:nvSpPr>
          <p:cNvPr id="17" name="Rounded Rectangle 16"/>
          <p:cNvSpPr/>
          <p:nvPr/>
        </p:nvSpPr>
        <p:spPr>
          <a:xfrm>
            <a:off x="8028431" y="3401568"/>
            <a:ext cx="3401568" cy="1481328"/>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93023" y="3547872"/>
            <a:ext cx="420624" cy="438912"/>
          </a:xfrm>
          <a:prstGeom prst="rect">
            <a:avLst/>
          </a:prstGeom>
          <a:noFill/>
        </p:spPr>
        <p:txBody>
          <a:bodyPr wrap="square" lIns="27432" rIns="27432" tIns="27432" bIns="27432" anchor="t">
            <a:spAutoFit/>
          </a:bodyPr>
          <a:lstStyle/>
          <a:p>
            <a:pPr algn="l">
              <a:spcAft>
                <a:spcPts val="0"/>
              </a:spcAft>
            </a:pPr>
            <a:r>
              <a:rPr sz="2700" b="1">
                <a:solidFill>
                  <a:srgbClr val="D9823B"/>
                </a:solidFill>
                <a:latin typeface="Aptos Display"/>
              </a:rPr>
              <a:t>C</a:t>
            </a:r>
          </a:p>
        </p:txBody>
      </p:sp>
      <p:sp>
        <p:nvSpPr>
          <p:cNvPr id="19" name="TextBox 18"/>
          <p:cNvSpPr txBox="1"/>
          <p:nvPr/>
        </p:nvSpPr>
        <p:spPr>
          <a:xfrm>
            <a:off x="8686800" y="3547872"/>
            <a:ext cx="2487168" cy="274320"/>
          </a:xfrm>
          <a:prstGeom prst="rect">
            <a:avLst/>
          </a:prstGeom>
          <a:noFill/>
        </p:spPr>
        <p:txBody>
          <a:bodyPr wrap="square" lIns="27432" rIns="27432" tIns="27432" bIns="27432" anchor="t">
            <a:spAutoFit/>
          </a:bodyPr>
          <a:lstStyle/>
          <a:p>
            <a:pPr algn="l">
              <a:spcAft>
                <a:spcPts val="0"/>
              </a:spcAft>
            </a:pPr>
            <a:r>
              <a:rPr sz="1200" b="1">
                <a:solidFill>
                  <a:srgbClr val="FFFFFF"/>
                </a:solidFill>
                <a:latin typeface="Aptos"/>
              </a:rPr>
              <a:t>SPECULATIVE</a:t>
            </a:r>
          </a:p>
        </p:txBody>
      </p:sp>
      <p:sp>
        <p:nvSpPr>
          <p:cNvPr id="20" name="TextBox 19"/>
          <p:cNvSpPr txBox="1"/>
          <p:nvPr/>
        </p:nvSpPr>
        <p:spPr>
          <a:xfrm>
            <a:off x="8686800" y="3858768"/>
            <a:ext cx="2487168" cy="219456"/>
          </a:xfrm>
          <a:prstGeom prst="rect">
            <a:avLst/>
          </a:prstGeom>
          <a:noFill/>
        </p:spPr>
        <p:txBody>
          <a:bodyPr wrap="square" lIns="27432" rIns="27432" tIns="27432" bIns="27432" anchor="t">
            <a:spAutoFit/>
          </a:bodyPr>
          <a:lstStyle/>
          <a:p>
            <a:pPr algn="l">
              <a:spcAft>
                <a:spcPts val="0"/>
              </a:spcAft>
            </a:pPr>
            <a:r>
              <a:rPr sz="1050" b="1">
                <a:solidFill>
                  <a:srgbClr val="9FB3C8"/>
                </a:solidFill>
                <a:latin typeface="Aptos"/>
              </a:rPr>
              <a:t>Token-block boundary</a:t>
            </a:r>
          </a:p>
        </p:txBody>
      </p:sp>
      <p:sp>
        <p:nvSpPr>
          <p:cNvPr id="21" name="TextBox 20"/>
          <p:cNvSpPr txBox="1"/>
          <p:nvPr/>
        </p:nvSpPr>
        <p:spPr>
          <a:xfrm>
            <a:off x="8193023" y="4297680"/>
            <a:ext cx="3017520" cy="347472"/>
          </a:xfrm>
          <a:prstGeom prst="rect">
            <a:avLst/>
          </a:prstGeom>
          <a:noFill/>
        </p:spPr>
        <p:txBody>
          <a:bodyPr wrap="square" lIns="27432" rIns="27432" tIns="27432" bIns="27432" anchor="t">
            <a:spAutoFit/>
          </a:bodyPr>
          <a:lstStyle/>
          <a:p>
            <a:pPr algn="l">
              <a:spcAft>
                <a:spcPts val="0"/>
              </a:spcAft>
            </a:pPr>
            <a:r>
              <a:rPr sz="1300" b="0">
                <a:solidFill>
                  <a:srgbClr val="DDE5ED"/>
                </a:solidFill>
                <a:latin typeface="Aptos"/>
              </a:rPr>
              <a:t>GPU drafts → ATMOS verifies</a:t>
            </a:r>
          </a:p>
        </p:txBody>
      </p:sp>
      <p:sp>
        <p:nvSpPr>
          <p:cNvPr id="22" name="Rounded Rectangle 21"/>
          <p:cNvSpPr/>
          <p:nvPr/>
        </p:nvSpPr>
        <p:spPr>
          <a:xfrm>
            <a:off x="621792" y="5285232"/>
            <a:ext cx="10808208" cy="658368"/>
          </a:xfrm>
          <a:prstGeom prst="roundRect">
            <a:avLst/>
          </a:prstGeom>
          <a:solidFill>
            <a:srgbClr val="2A1D25"/>
          </a:solidFill>
          <a:ln w="12700">
            <a:solidFill>
              <a:srgbClr val="5D2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431536"/>
            <a:ext cx="10378440" cy="338328"/>
          </a:xfrm>
          <a:prstGeom prst="rect">
            <a:avLst/>
          </a:prstGeom>
          <a:noFill/>
        </p:spPr>
        <p:txBody>
          <a:bodyPr wrap="square" lIns="27432" rIns="27432" tIns="27432" bIns="27432" anchor="t">
            <a:spAutoFit/>
          </a:bodyPr>
          <a:lstStyle/>
          <a:p>
            <a:pPr algn="l">
              <a:spcAft>
                <a:spcPts val="0"/>
              </a:spcAft>
            </a:pPr>
            <a:r>
              <a:rPr sz="1400" b="1">
                <a:solidFill>
                  <a:srgbClr val="E31837"/>
                </a:solidFill>
                <a:latin typeface="Aptos"/>
              </a:rPr>
              <a:t>RECOMMENDATION  </a:t>
            </a:r>
            <a:r>
              <a:rPr sz="1400" b="0">
                <a:solidFill>
                  <a:srgbClr val="FFFFFF"/>
                </a:solidFill>
                <a:latin typeface="Aptos"/>
              </a:rPr>
              <a:t>Lead with A; qualify B only after a measured KV handoff; retain C as a research option with an automatic normal-decode fallback.</a:t>
            </a:r>
          </a:p>
        </p:txBody>
      </p:sp>
      <p:sp>
        <p:nvSpPr>
          <p:cNvPr id="24" name="TextBox 23"/>
          <p:cNvSpPr txBox="1"/>
          <p:nvPr/>
        </p:nvSpPr>
        <p:spPr>
          <a:xfrm>
            <a:off x="621792" y="6464808"/>
            <a:ext cx="8961120" cy="164592"/>
          </a:xfrm>
          <a:prstGeom prst="rect">
            <a:avLst/>
          </a:prstGeom>
          <a:noFill/>
        </p:spPr>
        <p:txBody>
          <a:bodyPr wrap="square" lIns="27432" rIns="27432" tIns="27432" bIns="27432" anchor="t">
            <a:spAutoFit/>
          </a:bodyPr>
          <a:lstStyle/>
          <a:p>
            <a:pPr algn="l">
              <a:spcAft>
                <a:spcPts val="0"/>
              </a:spcAft>
            </a:pPr>
            <a:r>
              <a:rPr sz="750" b="1">
                <a:solidFill>
                  <a:srgbClr val="8294A8"/>
                </a:solidFill>
                <a:latin typeface="Aptos"/>
              </a:rPr>
              <a:t>INTERNAL • 02 OCT 2026 • PRODUCT AND PERFORMANCE SUBJECT TO QUALIFICATION</a:t>
            </a:r>
          </a:p>
        </p:txBody>
      </p:sp>
      <p:sp>
        <p:nvSpPr>
          <p:cNvPr id="25" name="TextBox 24"/>
          <p:cNvSpPr txBox="1"/>
          <p:nvPr/>
        </p:nvSpPr>
        <p:spPr>
          <a:xfrm>
            <a:off x="11045952" y="6464808"/>
            <a:ext cx="365760" cy="164592"/>
          </a:xfrm>
          <a:prstGeom prst="rect">
            <a:avLst/>
          </a:prstGeom>
          <a:noFill/>
        </p:spPr>
        <p:txBody>
          <a:bodyPr wrap="square" lIns="27432" rIns="27432" tIns="27432" bIns="27432" anchor="t">
            <a:spAutoFit/>
          </a:bodyPr>
          <a:lstStyle/>
          <a:p>
            <a:pPr algn="r">
              <a:spcAft>
                <a:spcPts val="0"/>
              </a:spcAft>
            </a:pPr>
            <a:r>
              <a:rPr sz="750" b="1">
                <a:solidFill>
                  <a:srgbClr val="8294A8"/>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NVIDIA BASELINE</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ATMOS competes with a moving GPU memory + fabric target</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Hopper is the installed-base control; Blackwell Ultra is the strategic rack-scale control.</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02</a:t>
            </a:r>
          </a:p>
        </p:txBody>
      </p:sp>
      <p:sp>
        <p:nvSpPr>
          <p:cNvPr id="8" name="Rounded Rectangle 7"/>
          <p:cNvSpPr/>
          <p:nvPr/>
        </p:nvSpPr>
        <p:spPr>
          <a:xfrm>
            <a:off x="530352" y="1847088"/>
            <a:ext cx="3246120" cy="4096512"/>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94944" y="1993392"/>
            <a:ext cx="1600200" cy="274320"/>
          </a:xfrm>
          <a:prstGeom prst="roundRect">
            <a:avLst/>
          </a:prstGeom>
          <a:solidFill>
            <a:srgbClr val="E31837"/>
          </a:solidFill>
          <a:ln w="12700">
            <a:solidFill>
              <a:srgbClr val="E31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80"/>
            <a:ext cx="1527048" cy="228600"/>
          </a:xfrm>
          <a:prstGeom prst="rect">
            <a:avLst/>
          </a:prstGeom>
          <a:noFill/>
        </p:spPr>
        <p:txBody>
          <a:bodyPr wrap="square" lIns="27432" rIns="27432" tIns="27432" bIns="27432" anchor="ctr">
            <a:spAutoFit/>
          </a:bodyPr>
          <a:lstStyle/>
          <a:p>
            <a:pPr algn="ctr">
              <a:spcAft>
                <a:spcPts val="0"/>
              </a:spcAft>
            </a:pPr>
            <a:r>
              <a:rPr sz="950" b="1">
                <a:solidFill>
                  <a:srgbClr val="FFFFFF"/>
                </a:solidFill>
                <a:latin typeface="Aptos"/>
              </a:rPr>
              <a:t>BLACKWELL / PCIe</a:t>
            </a:r>
          </a:p>
        </p:txBody>
      </p:sp>
      <p:sp>
        <p:nvSpPr>
          <p:cNvPr id="11" name="TextBox 10"/>
          <p:cNvSpPr txBox="1"/>
          <p:nvPr/>
        </p:nvSpPr>
        <p:spPr>
          <a:xfrm>
            <a:off x="694944" y="2395728"/>
            <a:ext cx="2880360" cy="329184"/>
          </a:xfrm>
          <a:prstGeom prst="rect">
            <a:avLst/>
          </a:prstGeom>
          <a:noFill/>
        </p:spPr>
        <p:txBody>
          <a:bodyPr wrap="square" lIns="27432" rIns="27432" tIns="27432" bIns="27432" anchor="t">
            <a:spAutoFit/>
          </a:bodyPr>
          <a:lstStyle/>
          <a:p>
            <a:pPr algn="l">
              <a:spcAft>
                <a:spcPts val="0"/>
              </a:spcAft>
            </a:pPr>
            <a:r>
              <a:rPr sz="2100" b="1">
                <a:solidFill>
                  <a:srgbClr val="102A43"/>
                </a:solidFill>
                <a:latin typeface="Aptos Display"/>
              </a:rPr>
              <a:t>RTX PRO 6000</a:t>
            </a:r>
          </a:p>
        </p:txBody>
      </p:sp>
      <p:sp>
        <p:nvSpPr>
          <p:cNvPr id="12" name="TextBox 11"/>
          <p:cNvSpPr txBox="1"/>
          <p:nvPr/>
        </p:nvSpPr>
        <p:spPr>
          <a:xfrm>
            <a:off x="713232" y="2898648"/>
            <a:ext cx="1188720" cy="310896"/>
          </a:xfrm>
          <a:prstGeom prst="rect">
            <a:avLst/>
          </a:prstGeom>
          <a:noFill/>
        </p:spPr>
        <p:txBody>
          <a:bodyPr wrap="square" lIns="27432" rIns="27432" tIns="27432" bIns="27432" anchor="t">
            <a:spAutoFit/>
          </a:bodyPr>
          <a:lstStyle/>
          <a:p>
            <a:pPr algn="l">
              <a:spcAft>
                <a:spcPts val="0"/>
              </a:spcAft>
            </a:pPr>
            <a:r>
              <a:rPr sz="2000" b="1">
                <a:solidFill>
                  <a:srgbClr val="E31837"/>
                </a:solidFill>
                <a:latin typeface="Aptos Display"/>
              </a:rPr>
              <a:t>96 GB</a:t>
            </a:r>
          </a:p>
        </p:txBody>
      </p:sp>
      <p:sp>
        <p:nvSpPr>
          <p:cNvPr id="13" name="TextBox 12"/>
          <p:cNvSpPr txBox="1"/>
          <p:nvPr/>
        </p:nvSpPr>
        <p:spPr>
          <a:xfrm>
            <a:off x="1883664" y="2944368"/>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GDDR7 / GPU</a:t>
            </a:r>
          </a:p>
        </p:txBody>
      </p:sp>
      <p:sp>
        <p:nvSpPr>
          <p:cNvPr id="14" name="TextBox 13"/>
          <p:cNvSpPr txBox="1"/>
          <p:nvPr/>
        </p:nvSpPr>
        <p:spPr>
          <a:xfrm>
            <a:off x="713232" y="3529584"/>
            <a:ext cx="1188720" cy="310896"/>
          </a:xfrm>
          <a:prstGeom prst="rect">
            <a:avLst/>
          </a:prstGeom>
          <a:noFill/>
        </p:spPr>
        <p:txBody>
          <a:bodyPr wrap="square" lIns="27432" rIns="27432" tIns="27432" bIns="27432" anchor="t">
            <a:spAutoFit/>
          </a:bodyPr>
          <a:lstStyle/>
          <a:p>
            <a:pPr algn="l">
              <a:spcAft>
                <a:spcPts val="0"/>
              </a:spcAft>
            </a:pPr>
            <a:r>
              <a:rPr sz="2000" b="1">
                <a:solidFill>
                  <a:srgbClr val="E31837"/>
                </a:solidFill>
                <a:latin typeface="Aptos Display"/>
              </a:rPr>
              <a:t>1.597 TB/s</a:t>
            </a:r>
          </a:p>
        </p:txBody>
      </p:sp>
      <p:sp>
        <p:nvSpPr>
          <p:cNvPr id="15" name="TextBox 14"/>
          <p:cNvSpPr txBox="1"/>
          <p:nvPr/>
        </p:nvSpPr>
        <p:spPr>
          <a:xfrm>
            <a:off x="1883664" y="3575303"/>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memory BW / GPU</a:t>
            </a:r>
          </a:p>
        </p:txBody>
      </p:sp>
      <p:sp>
        <p:nvSpPr>
          <p:cNvPr id="16" name="TextBox 15"/>
          <p:cNvSpPr txBox="1"/>
          <p:nvPr/>
        </p:nvSpPr>
        <p:spPr>
          <a:xfrm>
            <a:off x="713232" y="4160520"/>
            <a:ext cx="1188720" cy="310896"/>
          </a:xfrm>
          <a:prstGeom prst="rect">
            <a:avLst/>
          </a:prstGeom>
          <a:noFill/>
        </p:spPr>
        <p:txBody>
          <a:bodyPr wrap="square" lIns="27432" rIns="27432" tIns="27432" bIns="27432" anchor="t">
            <a:spAutoFit/>
          </a:bodyPr>
          <a:lstStyle/>
          <a:p>
            <a:pPr algn="l">
              <a:spcAft>
                <a:spcPts val="0"/>
              </a:spcAft>
            </a:pPr>
            <a:r>
              <a:rPr sz="2000" b="1">
                <a:solidFill>
                  <a:srgbClr val="E31837"/>
                </a:solidFill>
                <a:latin typeface="Aptos Display"/>
              </a:rPr>
              <a:t>PCIe Gen5</a:t>
            </a:r>
          </a:p>
        </p:txBody>
      </p:sp>
      <p:sp>
        <p:nvSpPr>
          <p:cNvPr id="17" name="TextBox 16"/>
          <p:cNvSpPr txBox="1"/>
          <p:nvPr/>
        </p:nvSpPr>
        <p:spPr>
          <a:xfrm>
            <a:off x="1883664" y="4206240"/>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host interface</a:t>
            </a:r>
          </a:p>
        </p:txBody>
      </p:sp>
      <p:cxnSp>
        <p:nvCxnSpPr>
          <p:cNvPr id="18" name="Connector 17"/>
          <p:cNvCxnSpPr/>
          <p:nvPr/>
        </p:nvCxnSpPr>
        <p:spPr>
          <a:xfrm>
            <a:off x="694944" y="4828032"/>
            <a:ext cx="2916936"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3232" y="4965192"/>
            <a:ext cx="2852928" cy="329184"/>
          </a:xfrm>
          <a:prstGeom prst="rect">
            <a:avLst/>
          </a:prstGeom>
          <a:noFill/>
        </p:spPr>
        <p:txBody>
          <a:bodyPr wrap="square" lIns="27432" rIns="27432" tIns="27432" bIns="27432" anchor="t">
            <a:spAutoFit/>
          </a:bodyPr>
          <a:lstStyle/>
          <a:p>
            <a:pPr algn="l">
              <a:spcAft>
                <a:spcPts val="0"/>
              </a:spcAft>
            </a:pPr>
            <a:r>
              <a:rPr sz="1250" b="1">
                <a:solidFill>
                  <a:srgbClr val="24384A"/>
                </a:solidFill>
                <a:latin typeface="Aptos"/>
              </a:rPr>
              <a:t>Best development and OEM integration control</a:t>
            </a:r>
          </a:p>
        </p:txBody>
      </p:sp>
      <p:sp>
        <p:nvSpPr>
          <p:cNvPr id="20" name="TextBox 19"/>
          <p:cNvSpPr txBox="1"/>
          <p:nvPr/>
        </p:nvSpPr>
        <p:spPr>
          <a:xfrm>
            <a:off x="713232" y="5376672"/>
            <a:ext cx="2852928" cy="420624"/>
          </a:xfrm>
          <a:prstGeom prst="rect">
            <a:avLst/>
          </a:prstGeom>
          <a:noFill/>
        </p:spPr>
        <p:txBody>
          <a:bodyPr wrap="square" lIns="27432" rIns="27432" tIns="27432" bIns="27432" anchor="t">
            <a:spAutoFit/>
          </a:bodyPr>
          <a:lstStyle/>
          <a:p>
            <a:pPr algn="l">
              <a:spcAft>
                <a:spcPts val="0"/>
              </a:spcAft>
            </a:pPr>
            <a:r>
              <a:rPr sz="1050" b="0">
                <a:solidFill>
                  <a:srgbClr val="64748B"/>
                </a:solidFill>
                <a:latin typeface="Aptos"/>
              </a:rPr>
              <a:t>8-GPU MGX examples exist; 768 GB aggregate GDDR is calculated.</a:t>
            </a:r>
          </a:p>
        </p:txBody>
      </p:sp>
      <p:sp>
        <p:nvSpPr>
          <p:cNvPr id="21" name="Rounded Rectangle 20"/>
          <p:cNvSpPr/>
          <p:nvPr/>
        </p:nvSpPr>
        <p:spPr>
          <a:xfrm>
            <a:off x="4096512" y="1847088"/>
            <a:ext cx="3246120" cy="4096512"/>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61104" y="1993392"/>
            <a:ext cx="1600200" cy="274320"/>
          </a:xfrm>
          <a:prstGeom prst="round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80" y="2011680"/>
            <a:ext cx="1527048" cy="228600"/>
          </a:xfrm>
          <a:prstGeom prst="rect">
            <a:avLst/>
          </a:prstGeom>
          <a:noFill/>
        </p:spPr>
        <p:txBody>
          <a:bodyPr wrap="square" lIns="27432" rIns="27432" tIns="27432" bIns="27432" anchor="ctr">
            <a:spAutoFit/>
          </a:bodyPr>
          <a:lstStyle/>
          <a:p>
            <a:pPr algn="ctr">
              <a:spcAft>
                <a:spcPts val="0"/>
              </a:spcAft>
            </a:pPr>
            <a:r>
              <a:rPr sz="950" b="1">
                <a:solidFill>
                  <a:srgbClr val="FFFFFF"/>
                </a:solidFill>
                <a:latin typeface="Aptos"/>
              </a:rPr>
              <a:t>HOPPER / SXM or NVL</a:t>
            </a:r>
          </a:p>
        </p:txBody>
      </p:sp>
      <p:sp>
        <p:nvSpPr>
          <p:cNvPr id="24" name="TextBox 23"/>
          <p:cNvSpPr txBox="1"/>
          <p:nvPr/>
        </p:nvSpPr>
        <p:spPr>
          <a:xfrm>
            <a:off x="4261104" y="2395728"/>
            <a:ext cx="2880360" cy="329184"/>
          </a:xfrm>
          <a:prstGeom prst="rect">
            <a:avLst/>
          </a:prstGeom>
          <a:noFill/>
        </p:spPr>
        <p:txBody>
          <a:bodyPr wrap="square" lIns="27432" rIns="27432" tIns="27432" bIns="27432" anchor="t">
            <a:spAutoFit/>
          </a:bodyPr>
          <a:lstStyle/>
          <a:p>
            <a:pPr algn="l">
              <a:spcAft>
                <a:spcPts val="0"/>
              </a:spcAft>
            </a:pPr>
            <a:r>
              <a:rPr sz="2100" b="1">
                <a:solidFill>
                  <a:srgbClr val="102A43"/>
                </a:solidFill>
                <a:latin typeface="Aptos Display"/>
              </a:rPr>
              <a:t>H200</a:t>
            </a:r>
          </a:p>
        </p:txBody>
      </p:sp>
      <p:sp>
        <p:nvSpPr>
          <p:cNvPr id="25" name="TextBox 24"/>
          <p:cNvSpPr txBox="1"/>
          <p:nvPr/>
        </p:nvSpPr>
        <p:spPr>
          <a:xfrm>
            <a:off x="4279392" y="2898648"/>
            <a:ext cx="1188720" cy="310896"/>
          </a:xfrm>
          <a:prstGeom prst="rect">
            <a:avLst/>
          </a:prstGeom>
          <a:noFill/>
        </p:spPr>
        <p:txBody>
          <a:bodyPr wrap="square" lIns="27432" rIns="27432" tIns="27432" bIns="27432" anchor="t">
            <a:spAutoFit/>
          </a:bodyPr>
          <a:lstStyle/>
          <a:p>
            <a:pPr algn="l">
              <a:spcAft>
                <a:spcPts val="0"/>
              </a:spcAft>
            </a:pPr>
            <a:r>
              <a:rPr sz="2000" b="1">
                <a:solidFill>
                  <a:srgbClr val="2E6F9E"/>
                </a:solidFill>
                <a:latin typeface="Aptos Display"/>
              </a:rPr>
              <a:t>141 GB</a:t>
            </a:r>
          </a:p>
        </p:txBody>
      </p:sp>
      <p:sp>
        <p:nvSpPr>
          <p:cNvPr id="26" name="TextBox 25"/>
          <p:cNvSpPr txBox="1"/>
          <p:nvPr/>
        </p:nvSpPr>
        <p:spPr>
          <a:xfrm>
            <a:off x="5449824" y="2944368"/>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HBM3e / GPU</a:t>
            </a:r>
          </a:p>
        </p:txBody>
      </p:sp>
      <p:sp>
        <p:nvSpPr>
          <p:cNvPr id="27" name="TextBox 26"/>
          <p:cNvSpPr txBox="1"/>
          <p:nvPr/>
        </p:nvSpPr>
        <p:spPr>
          <a:xfrm>
            <a:off x="4279392" y="3529584"/>
            <a:ext cx="1188720" cy="310896"/>
          </a:xfrm>
          <a:prstGeom prst="rect">
            <a:avLst/>
          </a:prstGeom>
          <a:noFill/>
        </p:spPr>
        <p:txBody>
          <a:bodyPr wrap="square" lIns="27432" rIns="27432" tIns="27432" bIns="27432" anchor="t">
            <a:spAutoFit/>
          </a:bodyPr>
          <a:lstStyle/>
          <a:p>
            <a:pPr algn="l">
              <a:spcAft>
                <a:spcPts val="0"/>
              </a:spcAft>
            </a:pPr>
            <a:r>
              <a:rPr sz="2000" b="1">
                <a:solidFill>
                  <a:srgbClr val="2E6F9E"/>
                </a:solidFill>
                <a:latin typeface="Aptos Display"/>
              </a:rPr>
              <a:t>4.8 TB/s</a:t>
            </a:r>
          </a:p>
        </p:txBody>
      </p:sp>
      <p:sp>
        <p:nvSpPr>
          <p:cNvPr id="28" name="TextBox 27"/>
          <p:cNvSpPr txBox="1"/>
          <p:nvPr/>
        </p:nvSpPr>
        <p:spPr>
          <a:xfrm>
            <a:off x="5449824" y="3575303"/>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memory BW / GPU</a:t>
            </a:r>
          </a:p>
        </p:txBody>
      </p:sp>
      <p:sp>
        <p:nvSpPr>
          <p:cNvPr id="29" name="TextBox 28"/>
          <p:cNvSpPr txBox="1"/>
          <p:nvPr/>
        </p:nvSpPr>
        <p:spPr>
          <a:xfrm>
            <a:off x="4279392" y="4160520"/>
            <a:ext cx="1188720" cy="310896"/>
          </a:xfrm>
          <a:prstGeom prst="rect">
            <a:avLst/>
          </a:prstGeom>
          <a:noFill/>
        </p:spPr>
        <p:txBody>
          <a:bodyPr wrap="square" lIns="27432" rIns="27432" tIns="27432" bIns="27432" anchor="t">
            <a:spAutoFit/>
          </a:bodyPr>
          <a:lstStyle/>
          <a:p>
            <a:pPr algn="l">
              <a:spcAft>
                <a:spcPts val="0"/>
              </a:spcAft>
            </a:pPr>
            <a:r>
              <a:rPr sz="2000" b="1">
                <a:solidFill>
                  <a:srgbClr val="2E6F9E"/>
                </a:solidFill>
                <a:latin typeface="Aptos Display"/>
              </a:rPr>
              <a:t>900 GB/s</a:t>
            </a:r>
          </a:p>
        </p:txBody>
      </p:sp>
      <p:sp>
        <p:nvSpPr>
          <p:cNvPr id="30" name="TextBox 29"/>
          <p:cNvSpPr txBox="1"/>
          <p:nvPr/>
        </p:nvSpPr>
        <p:spPr>
          <a:xfrm>
            <a:off x="5449824" y="4206240"/>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NVLink / GPU</a:t>
            </a:r>
          </a:p>
        </p:txBody>
      </p:sp>
      <p:cxnSp>
        <p:nvCxnSpPr>
          <p:cNvPr id="31" name="Connector 30"/>
          <p:cNvCxnSpPr/>
          <p:nvPr/>
        </p:nvCxnSpPr>
        <p:spPr>
          <a:xfrm>
            <a:off x="4261104" y="4828032"/>
            <a:ext cx="2916936"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79392" y="4965192"/>
            <a:ext cx="2852928" cy="329184"/>
          </a:xfrm>
          <a:prstGeom prst="rect">
            <a:avLst/>
          </a:prstGeom>
          <a:noFill/>
        </p:spPr>
        <p:txBody>
          <a:bodyPr wrap="square" lIns="27432" rIns="27432" tIns="27432" bIns="27432" anchor="t">
            <a:spAutoFit/>
          </a:bodyPr>
          <a:lstStyle/>
          <a:p>
            <a:pPr algn="l">
              <a:spcAft>
                <a:spcPts val="0"/>
              </a:spcAft>
            </a:pPr>
            <a:r>
              <a:rPr sz="1250" b="1">
                <a:solidFill>
                  <a:srgbClr val="24384A"/>
                </a:solidFill>
                <a:latin typeface="Aptos"/>
              </a:rPr>
              <a:t>Installed-base high-bandwidth control</a:t>
            </a:r>
          </a:p>
        </p:txBody>
      </p:sp>
      <p:sp>
        <p:nvSpPr>
          <p:cNvPr id="33" name="TextBox 32"/>
          <p:cNvSpPr txBox="1"/>
          <p:nvPr/>
        </p:nvSpPr>
        <p:spPr>
          <a:xfrm>
            <a:off x="4279392" y="5376672"/>
            <a:ext cx="2852928" cy="420624"/>
          </a:xfrm>
          <a:prstGeom prst="rect">
            <a:avLst/>
          </a:prstGeom>
          <a:noFill/>
        </p:spPr>
        <p:txBody>
          <a:bodyPr wrap="square" lIns="27432" rIns="27432" tIns="27432" bIns="27432" anchor="t">
            <a:spAutoFit/>
          </a:bodyPr>
          <a:lstStyle/>
          <a:p>
            <a:pPr algn="l">
              <a:spcAft>
                <a:spcPts val="0"/>
              </a:spcAft>
            </a:pPr>
            <a:r>
              <a:rPr sz="1050" b="0">
                <a:solidFill>
                  <a:srgbClr val="64748B"/>
                </a:solidFill>
                <a:latin typeface="Aptos"/>
              </a:rPr>
              <a:t>4/8-GPU HGX and enterprise H200 NVL systems are available.</a:t>
            </a:r>
          </a:p>
        </p:txBody>
      </p:sp>
      <p:sp>
        <p:nvSpPr>
          <p:cNvPr id="34" name="Rounded Rectangle 33"/>
          <p:cNvSpPr/>
          <p:nvPr/>
        </p:nvSpPr>
        <p:spPr>
          <a:xfrm>
            <a:off x="7662672" y="1847088"/>
            <a:ext cx="3246120" cy="4096512"/>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827264" y="1993392"/>
            <a:ext cx="1600200" cy="274320"/>
          </a:xfrm>
          <a:prstGeom prst="round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0" y="2011680"/>
            <a:ext cx="1527048" cy="228600"/>
          </a:xfrm>
          <a:prstGeom prst="rect">
            <a:avLst/>
          </a:prstGeom>
          <a:noFill/>
        </p:spPr>
        <p:txBody>
          <a:bodyPr wrap="square" lIns="27432" rIns="27432" tIns="27432" bIns="27432" anchor="ctr">
            <a:spAutoFit/>
          </a:bodyPr>
          <a:lstStyle/>
          <a:p>
            <a:pPr algn="ctr">
              <a:spcAft>
                <a:spcPts val="0"/>
              </a:spcAft>
            </a:pPr>
            <a:r>
              <a:rPr sz="950" b="1">
                <a:solidFill>
                  <a:srgbClr val="FFFFFF"/>
                </a:solidFill>
                <a:latin typeface="Aptos"/>
              </a:rPr>
              <a:t>BLACKWELL ULTRA / RACK</a:t>
            </a:r>
          </a:p>
        </p:txBody>
      </p:sp>
      <p:sp>
        <p:nvSpPr>
          <p:cNvPr id="37" name="TextBox 36"/>
          <p:cNvSpPr txBox="1"/>
          <p:nvPr/>
        </p:nvSpPr>
        <p:spPr>
          <a:xfrm>
            <a:off x="7827264" y="2395728"/>
            <a:ext cx="2880360" cy="329184"/>
          </a:xfrm>
          <a:prstGeom prst="rect">
            <a:avLst/>
          </a:prstGeom>
          <a:noFill/>
        </p:spPr>
        <p:txBody>
          <a:bodyPr wrap="square" lIns="27432" rIns="27432" tIns="27432" bIns="27432" anchor="t">
            <a:spAutoFit/>
          </a:bodyPr>
          <a:lstStyle/>
          <a:p>
            <a:pPr algn="l">
              <a:spcAft>
                <a:spcPts val="0"/>
              </a:spcAft>
            </a:pPr>
            <a:r>
              <a:rPr sz="2100" b="1">
                <a:solidFill>
                  <a:srgbClr val="102A43"/>
                </a:solidFill>
                <a:latin typeface="Aptos Display"/>
              </a:rPr>
              <a:t>GB300 NVL72</a:t>
            </a:r>
          </a:p>
        </p:txBody>
      </p:sp>
      <p:sp>
        <p:nvSpPr>
          <p:cNvPr id="38" name="TextBox 37"/>
          <p:cNvSpPr txBox="1"/>
          <p:nvPr/>
        </p:nvSpPr>
        <p:spPr>
          <a:xfrm>
            <a:off x="7845552" y="2898648"/>
            <a:ext cx="1188720" cy="310896"/>
          </a:xfrm>
          <a:prstGeom prst="rect">
            <a:avLst/>
          </a:prstGeom>
          <a:noFill/>
        </p:spPr>
        <p:txBody>
          <a:bodyPr wrap="square" lIns="27432" rIns="27432" tIns="27432" bIns="27432" anchor="t">
            <a:spAutoFit/>
          </a:bodyPr>
          <a:lstStyle/>
          <a:p>
            <a:pPr algn="l">
              <a:spcAft>
                <a:spcPts val="0"/>
              </a:spcAft>
            </a:pPr>
            <a:r>
              <a:rPr sz="2000" b="1">
                <a:solidFill>
                  <a:srgbClr val="008C82"/>
                </a:solidFill>
                <a:latin typeface="Aptos Display"/>
              </a:rPr>
              <a:t>72</a:t>
            </a:r>
          </a:p>
        </p:txBody>
      </p:sp>
      <p:sp>
        <p:nvSpPr>
          <p:cNvPr id="39" name="TextBox 38"/>
          <p:cNvSpPr txBox="1"/>
          <p:nvPr/>
        </p:nvSpPr>
        <p:spPr>
          <a:xfrm>
            <a:off x="9015984" y="2944368"/>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Blackwell Ultra GPUs</a:t>
            </a:r>
          </a:p>
        </p:txBody>
      </p:sp>
      <p:sp>
        <p:nvSpPr>
          <p:cNvPr id="40" name="TextBox 39"/>
          <p:cNvSpPr txBox="1"/>
          <p:nvPr/>
        </p:nvSpPr>
        <p:spPr>
          <a:xfrm>
            <a:off x="7845552" y="3529584"/>
            <a:ext cx="1188720" cy="310896"/>
          </a:xfrm>
          <a:prstGeom prst="rect">
            <a:avLst/>
          </a:prstGeom>
          <a:noFill/>
        </p:spPr>
        <p:txBody>
          <a:bodyPr wrap="square" lIns="27432" rIns="27432" tIns="27432" bIns="27432" anchor="t">
            <a:spAutoFit/>
          </a:bodyPr>
          <a:lstStyle/>
          <a:p>
            <a:pPr algn="l">
              <a:spcAft>
                <a:spcPts val="0"/>
              </a:spcAft>
            </a:pPr>
            <a:r>
              <a:rPr sz="2000" b="1">
                <a:solidFill>
                  <a:srgbClr val="008C82"/>
                </a:solidFill>
                <a:latin typeface="Aptos Display"/>
              </a:rPr>
              <a:t>20 TB</a:t>
            </a:r>
          </a:p>
        </p:txBody>
      </p:sp>
      <p:sp>
        <p:nvSpPr>
          <p:cNvPr id="41" name="TextBox 40"/>
          <p:cNvSpPr txBox="1"/>
          <p:nvPr/>
        </p:nvSpPr>
        <p:spPr>
          <a:xfrm>
            <a:off x="9015984" y="3575303"/>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aggregate GPU memory</a:t>
            </a:r>
          </a:p>
        </p:txBody>
      </p:sp>
      <p:sp>
        <p:nvSpPr>
          <p:cNvPr id="42" name="TextBox 41"/>
          <p:cNvSpPr txBox="1"/>
          <p:nvPr/>
        </p:nvSpPr>
        <p:spPr>
          <a:xfrm>
            <a:off x="7845552" y="4160520"/>
            <a:ext cx="1188720" cy="310896"/>
          </a:xfrm>
          <a:prstGeom prst="rect">
            <a:avLst/>
          </a:prstGeom>
          <a:noFill/>
        </p:spPr>
        <p:txBody>
          <a:bodyPr wrap="square" lIns="27432" rIns="27432" tIns="27432" bIns="27432" anchor="t">
            <a:spAutoFit/>
          </a:bodyPr>
          <a:lstStyle/>
          <a:p>
            <a:pPr algn="l">
              <a:spcAft>
                <a:spcPts val="0"/>
              </a:spcAft>
            </a:pPr>
            <a:r>
              <a:rPr sz="2000" b="1">
                <a:solidFill>
                  <a:srgbClr val="008C82"/>
                </a:solidFill>
                <a:latin typeface="Aptos Display"/>
              </a:rPr>
              <a:t>130 TB/s</a:t>
            </a:r>
          </a:p>
        </p:txBody>
      </p:sp>
      <p:sp>
        <p:nvSpPr>
          <p:cNvPr id="43" name="TextBox 42"/>
          <p:cNvSpPr txBox="1"/>
          <p:nvPr/>
        </p:nvSpPr>
        <p:spPr>
          <a:xfrm>
            <a:off x="9015984" y="4206240"/>
            <a:ext cx="1600200" cy="237744"/>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rack NVLink</a:t>
            </a:r>
          </a:p>
        </p:txBody>
      </p:sp>
      <p:cxnSp>
        <p:nvCxnSpPr>
          <p:cNvPr id="44" name="Connector 43"/>
          <p:cNvCxnSpPr/>
          <p:nvPr/>
        </p:nvCxnSpPr>
        <p:spPr>
          <a:xfrm>
            <a:off x="7827264" y="4828032"/>
            <a:ext cx="2916936"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845552" y="4965192"/>
            <a:ext cx="2852928" cy="329184"/>
          </a:xfrm>
          <a:prstGeom prst="rect">
            <a:avLst/>
          </a:prstGeom>
          <a:noFill/>
        </p:spPr>
        <p:txBody>
          <a:bodyPr wrap="square" lIns="27432" rIns="27432" tIns="27432" bIns="27432" anchor="t">
            <a:spAutoFit/>
          </a:bodyPr>
          <a:lstStyle/>
          <a:p>
            <a:pPr algn="l">
              <a:spcAft>
                <a:spcPts val="0"/>
              </a:spcAft>
            </a:pPr>
            <a:r>
              <a:rPr sz="1250" b="1">
                <a:solidFill>
                  <a:srgbClr val="24384A"/>
                </a:solidFill>
                <a:latin typeface="Aptos"/>
              </a:rPr>
              <a:t>Strategic rack product control</a:t>
            </a:r>
          </a:p>
        </p:txBody>
      </p:sp>
      <p:sp>
        <p:nvSpPr>
          <p:cNvPr id="46" name="TextBox 45"/>
          <p:cNvSpPr txBox="1"/>
          <p:nvPr/>
        </p:nvSpPr>
        <p:spPr>
          <a:xfrm>
            <a:off x="7845552" y="5376672"/>
            <a:ext cx="2852928" cy="420624"/>
          </a:xfrm>
          <a:prstGeom prst="rect">
            <a:avLst/>
          </a:prstGeom>
          <a:noFill/>
        </p:spPr>
        <p:txBody>
          <a:bodyPr wrap="square" lIns="27432" rIns="27432" tIns="27432" bIns="27432" anchor="t">
            <a:spAutoFit/>
          </a:bodyPr>
          <a:lstStyle/>
          <a:p>
            <a:pPr algn="l">
              <a:spcAft>
                <a:spcPts val="0"/>
              </a:spcAft>
            </a:pPr>
            <a:r>
              <a:rPr sz="1050" b="0">
                <a:solidFill>
                  <a:srgbClr val="64748B"/>
                </a:solidFill>
                <a:latin typeface="Aptos"/>
              </a:rPr>
              <a:t>≈288 GB HBM3e/GPU; 576 TB/s aggregate memory bandwidth; liquid cooled.</a:t>
            </a:r>
          </a:p>
        </p:txBody>
      </p:sp>
      <p:sp>
        <p:nvSpPr>
          <p:cNvPr id="47" name="Rounded Rectangle 46"/>
          <p:cNvSpPr/>
          <p:nvPr/>
        </p:nvSpPr>
        <p:spPr>
          <a:xfrm>
            <a:off x="530352" y="6089904"/>
            <a:ext cx="10378440" cy="310896"/>
          </a:xfrm>
          <a:prstGeom prst="roundRect">
            <a:avLst/>
          </a:prstGeom>
          <a:solidFill>
            <a:srgbClr val="F7E7E7"/>
          </a:solidFill>
          <a:ln w="12700">
            <a:solidFill>
              <a:srgbClr val="F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6117336"/>
            <a:ext cx="10104120" cy="237744"/>
          </a:xfrm>
          <a:prstGeom prst="rect">
            <a:avLst/>
          </a:prstGeom>
          <a:noFill/>
        </p:spPr>
        <p:txBody>
          <a:bodyPr wrap="square" lIns="27432" rIns="27432" tIns="27432" bIns="27432" anchor="t">
            <a:spAutoFit/>
          </a:bodyPr>
          <a:lstStyle/>
          <a:p>
            <a:pPr algn="l">
              <a:spcAft>
                <a:spcPts val="0"/>
              </a:spcAft>
            </a:pPr>
            <a:r>
              <a:rPr sz="1120" b="1">
                <a:solidFill>
                  <a:srgbClr val="E31837"/>
                </a:solidFill>
                <a:latin typeface="Aptos"/>
              </a:rPr>
              <a:t>ATMOS implication  </a:t>
            </a:r>
            <a:r>
              <a:rPr sz="1120" b="0">
                <a:solidFill>
                  <a:srgbClr val="24384A"/>
                </a:solidFill>
                <a:latin typeface="Aptos"/>
              </a:rPr>
              <a:t>As native GPU memory and fabric improve, ATMOS cannot rely on 'the model does not fit.' It must prove workload separation, phase disaggregation, or more accepted work per rack/power/support envelope.</a:t>
            </a:r>
          </a:p>
        </p:txBody>
      </p:sp>
      <p:cxnSp>
        <p:nvCxnSpPr>
          <p:cNvPr id="49" name="Connector 48"/>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51" name="TextBox 50"/>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NVIDIA public specs • calculations labeled</a:t>
            </a:r>
          </a:p>
        </p:txBody>
      </p:sp>
      <p:sp>
        <p:nvSpPr>
          <p:cNvPr id="52" name="TextBox 51"/>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HYPOTHETICAL STUDY</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A bounded MoE service with numbers we can defend</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No customer reference: this is a technical sizing profile, not a deployment claim.</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03</a:t>
            </a:r>
          </a:p>
        </p:txBody>
      </p:sp>
      <p:sp>
        <p:nvSpPr>
          <p:cNvPr id="8" name="Rounded Rectangle 7"/>
          <p:cNvSpPr/>
          <p:nvPr/>
        </p:nvSpPr>
        <p:spPr>
          <a:xfrm>
            <a:off x="530352" y="1847088"/>
            <a:ext cx="2971800" cy="4334256"/>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057400"/>
            <a:ext cx="2514600" cy="658368"/>
          </a:xfrm>
          <a:prstGeom prst="rect">
            <a:avLst/>
          </a:prstGeom>
          <a:noFill/>
        </p:spPr>
        <p:txBody>
          <a:bodyPr wrap="square" lIns="27432" rIns="27432" tIns="27432" bIns="27432" anchor="t">
            <a:spAutoFit/>
          </a:bodyPr>
          <a:lstStyle/>
          <a:p>
            <a:pPr algn="l">
              <a:spcAft>
                <a:spcPts val="0"/>
              </a:spcAft>
            </a:pPr>
            <a:r>
              <a:rPr sz="1900" b="1">
                <a:solidFill>
                  <a:srgbClr val="FFFFFF"/>
                </a:solidFill>
                <a:latin typeface="Aptos Display"/>
              </a:rPr>
              <a:t>REGULATED DOCUMENT
SYNTHESIS</a:t>
            </a:r>
          </a:p>
        </p:txBody>
      </p:sp>
      <p:sp>
        <p:nvSpPr>
          <p:cNvPr id="10" name="TextBox 9"/>
          <p:cNvSpPr txBox="1"/>
          <p:nvPr/>
        </p:nvSpPr>
        <p:spPr>
          <a:xfrm>
            <a:off x="758952" y="2898648"/>
            <a:ext cx="2468880" cy="274320"/>
          </a:xfrm>
          <a:prstGeom prst="rect">
            <a:avLst/>
          </a:prstGeom>
          <a:noFill/>
        </p:spPr>
        <p:txBody>
          <a:bodyPr wrap="square" lIns="27432" rIns="27432" tIns="27432" bIns="27432" anchor="t">
            <a:spAutoFit/>
          </a:bodyPr>
          <a:lstStyle/>
          <a:p>
            <a:pPr algn="l">
              <a:spcAft>
                <a:spcPts val="0"/>
              </a:spcAft>
            </a:pPr>
            <a:r>
              <a:rPr sz="1350" b="1">
                <a:solidFill>
                  <a:srgbClr val="BFD7EA"/>
                </a:solidFill>
                <a:latin typeface="Aptos"/>
              </a:rPr>
              <a:t>Qwen3-235B-A22B class</a:t>
            </a:r>
          </a:p>
        </p:txBody>
      </p:sp>
      <p:sp>
        <p:nvSpPr>
          <p:cNvPr id="11" name="TextBox 10"/>
          <p:cNvSpPr txBox="1"/>
          <p:nvPr/>
        </p:nvSpPr>
        <p:spPr>
          <a:xfrm>
            <a:off x="786384" y="3401568"/>
            <a:ext cx="777240" cy="256032"/>
          </a:xfrm>
          <a:prstGeom prst="rect">
            <a:avLst/>
          </a:prstGeom>
          <a:noFill/>
        </p:spPr>
        <p:txBody>
          <a:bodyPr wrap="square" lIns="27432" rIns="27432" tIns="27432" bIns="27432" anchor="t">
            <a:spAutoFit/>
          </a:bodyPr>
          <a:lstStyle/>
          <a:p>
            <a:pPr algn="l">
              <a:spcAft>
                <a:spcPts val="0"/>
              </a:spcAft>
            </a:pPr>
            <a:r>
              <a:rPr sz="1650" b="1">
                <a:solidFill>
                  <a:srgbClr val="FFFFFF"/>
                </a:solidFill>
                <a:latin typeface="Aptos Display"/>
              </a:rPr>
              <a:t>4,096</a:t>
            </a:r>
          </a:p>
        </p:txBody>
      </p:sp>
      <p:sp>
        <p:nvSpPr>
          <p:cNvPr id="12" name="TextBox 11"/>
          <p:cNvSpPr txBox="1"/>
          <p:nvPr/>
        </p:nvSpPr>
        <p:spPr>
          <a:xfrm>
            <a:off x="1627632" y="3429000"/>
            <a:ext cx="1417320" cy="219456"/>
          </a:xfrm>
          <a:prstGeom prst="rect">
            <a:avLst/>
          </a:prstGeom>
          <a:noFill/>
        </p:spPr>
        <p:txBody>
          <a:bodyPr wrap="square" lIns="27432" rIns="27432" tIns="27432" bIns="27432" anchor="t">
            <a:spAutoFit/>
          </a:bodyPr>
          <a:lstStyle/>
          <a:p>
            <a:pPr algn="l">
              <a:spcAft>
                <a:spcPts val="0"/>
              </a:spcAft>
            </a:pPr>
            <a:r>
              <a:rPr sz="1050" b="1">
                <a:solidFill>
                  <a:srgbClr val="C7D3DF"/>
                </a:solidFill>
                <a:latin typeface="Aptos"/>
              </a:rPr>
              <a:t>input tokens</a:t>
            </a:r>
          </a:p>
        </p:txBody>
      </p:sp>
      <p:sp>
        <p:nvSpPr>
          <p:cNvPr id="13" name="TextBox 12"/>
          <p:cNvSpPr txBox="1"/>
          <p:nvPr/>
        </p:nvSpPr>
        <p:spPr>
          <a:xfrm>
            <a:off x="786384" y="3886200"/>
            <a:ext cx="777240" cy="256032"/>
          </a:xfrm>
          <a:prstGeom prst="rect">
            <a:avLst/>
          </a:prstGeom>
          <a:noFill/>
        </p:spPr>
        <p:txBody>
          <a:bodyPr wrap="square" lIns="27432" rIns="27432" tIns="27432" bIns="27432" anchor="t">
            <a:spAutoFit/>
          </a:bodyPr>
          <a:lstStyle/>
          <a:p>
            <a:pPr algn="l">
              <a:spcAft>
                <a:spcPts val="0"/>
              </a:spcAft>
            </a:pPr>
            <a:r>
              <a:rPr sz="1650" b="1">
                <a:solidFill>
                  <a:srgbClr val="FFFFFF"/>
                </a:solidFill>
                <a:latin typeface="Aptos Display"/>
              </a:rPr>
              <a:t>≤512</a:t>
            </a:r>
          </a:p>
        </p:txBody>
      </p:sp>
      <p:sp>
        <p:nvSpPr>
          <p:cNvPr id="14" name="TextBox 13"/>
          <p:cNvSpPr txBox="1"/>
          <p:nvPr/>
        </p:nvSpPr>
        <p:spPr>
          <a:xfrm>
            <a:off x="1627632" y="3913632"/>
            <a:ext cx="1417320" cy="219456"/>
          </a:xfrm>
          <a:prstGeom prst="rect">
            <a:avLst/>
          </a:prstGeom>
          <a:noFill/>
        </p:spPr>
        <p:txBody>
          <a:bodyPr wrap="square" lIns="27432" rIns="27432" tIns="27432" bIns="27432" anchor="t">
            <a:spAutoFit/>
          </a:bodyPr>
          <a:lstStyle/>
          <a:p>
            <a:pPr algn="l">
              <a:spcAft>
                <a:spcPts val="0"/>
              </a:spcAft>
            </a:pPr>
            <a:r>
              <a:rPr sz="1050" b="1">
                <a:solidFill>
                  <a:srgbClr val="C7D3DF"/>
                </a:solidFill>
                <a:latin typeface="Aptos"/>
              </a:rPr>
              <a:t>output tokens</a:t>
            </a:r>
          </a:p>
        </p:txBody>
      </p:sp>
      <p:sp>
        <p:nvSpPr>
          <p:cNvPr id="15" name="TextBox 14"/>
          <p:cNvSpPr txBox="1"/>
          <p:nvPr/>
        </p:nvSpPr>
        <p:spPr>
          <a:xfrm>
            <a:off x="786384" y="4370832"/>
            <a:ext cx="777240" cy="256032"/>
          </a:xfrm>
          <a:prstGeom prst="rect">
            <a:avLst/>
          </a:prstGeom>
          <a:noFill/>
        </p:spPr>
        <p:txBody>
          <a:bodyPr wrap="square" lIns="27432" rIns="27432" tIns="27432" bIns="27432" anchor="t">
            <a:spAutoFit/>
          </a:bodyPr>
          <a:lstStyle/>
          <a:p>
            <a:pPr algn="l">
              <a:spcAft>
                <a:spcPts val="0"/>
              </a:spcAft>
            </a:pPr>
            <a:r>
              <a:rPr sz="1650" b="1">
                <a:solidFill>
                  <a:srgbClr val="FFFFFF"/>
                </a:solidFill>
                <a:latin typeface="Aptos Display"/>
              </a:rPr>
              <a:t>8K</a:t>
            </a:r>
          </a:p>
        </p:txBody>
      </p:sp>
      <p:sp>
        <p:nvSpPr>
          <p:cNvPr id="16" name="TextBox 15"/>
          <p:cNvSpPr txBox="1"/>
          <p:nvPr/>
        </p:nvSpPr>
        <p:spPr>
          <a:xfrm>
            <a:off x="1627632" y="4398264"/>
            <a:ext cx="1417320" cy="219456"/>
          </a:xfrm>
          <a:prstGeom prst="rect">
            <a:avLst/>
          </a:prstGeom>
          <a:noFill/>
        </p:spPr>
        <p:txBody>
          <a:bodyPr wrap="square" lIns="27432" rIns="27432" tIns="27432" bIns="27432" anchor="t">
            <a:spAutoFit/>
          </a:bodyPr>
          <a:lstStyle/>
          <a:p>
            <a:pPr algn="l">
              <a:spcAft>
                <a:spcPts val="0"/>
              </a:spcAft>
            </a:pPr>
            <a:r>
              <a:rPr sz="1050" b="1">
                <a:solidFill>
                  <a:srgbClr val="C7D3DF"/>
                </a:solidFill>
                <a:latin typeface="Aptos"/>
              </a:rPr>
              <a:t>total-context cap</a:t>
            </a:r>
          </a:p>
        </p:txBody>
      </p:sp>
      <p:sp>
        <p:nvSpPr>
          <p:cNvPr id="17" name="TextBox 16"/>
          <p:cNvSpPr txBox="1"/>
          <p:nvPr/>
        </p:nvSpPr>
        <p:spPr>
          <a:xfrm>
            <a:off x="786384" y="4855464"/>
            <a:ext cx="777240" cy="256032"/>
          </a:xfrm>
          <a:prstGeom prst="rect">
            <a:avLst/>
          </a:prstGeom>
          <a:noFill/>
        </p:spPr>
        <p:txBody>
          <a:bodyPr wrap="square" lIns="27432" rIns="27432" tIns="27432" bIns="27432" anchor="t">
            <a:spAutoFit/>
          </a:bodyPr>
          <a:lstStyle/>
          <a:p>
            <a:pPr algn="l">
              <a:spcAft>
                <a:spcPts val="0"/>
              </a:spcAft>
            </a:pPr>
            <a:r>
              <a:rPr sz="1650" b="1">
                <a:solidFill>
                  <a:srgbClr val="FFFFFF"/>
                </a:solidFill>
                <a:latin typeface="Aptos Display"/>
              </a:rPr>
              <a:t>2 RPS</a:t>
            </a:r>
          </a:p>
        </p:txBody>
      </p:sp>
      <p:sp>
        <p:nvSpPr>
          <p:cNvPr id="18" name="TextBox 17"/>
          <p:cNvSpPr txBox="1"/>
          <p:nvPr/>
        </p:nvSpPr>
        <p:spPr>
          <a:xfrm>
            <a:off x="1627632" y="4882896"/>
            <a:ext cx="1417320" cy="219456"/>
          </a:xfrm>
          <a:prstGeom prst="rect">
            <a:avLst/>
          </a:prstGeom>
          <a:noFill/>
        </p:spPr>
        <p:txBody>
          <a:bodyPr wrap="square" lIns="27432" rIns="27432" tIns="27432" bIns="27432" anchor="t">
            <a:spAutoFit/>
          </a:bodyPr>
          <a:lstStyle/>
          <a:p>
            <a:pPr algn="l">
              <a:spcAft>
                <a:spcPts val="0"/>
              </a:spcAft>
            </a:pPr>
            <a:r>
              <a:rPr sz="1050" b="1">
                <a:solidFill>
                  <a:srgbClr val="C7D3DF"/>
                </a:solidFill>
                <a:latin typeface="Aptos"/>
              </a:rPr>
              <a:t>peak study load</a:t>
            </a:r>
          </a:p>
        </p:txBody>
      </p:sp>
      <p:sp>
        <p:nvSpPr>
          <p:cNvPr id="19" name="TextBox 18"/>
          <p:cNvSpPr txBox="1"/>
          <p:nvPr/>
        </p:nvSpPr>
        <p:spPr>
          <a:xfrm>
            <a:off x="786384" y="5340096"/>
            <a:ext cx="777240" cy="256032"/>
          </a:xfrm>
          <a:prstGeom prst="rect">
            <a:avLst/>
          </a:prstGeom>
          <a:noFill/>
        </p:spPr>
        <p:txBody>
          <a:bodyPr wrap="square" lIns="27432" rIns="27432" tIns="27432" bIns="27432" anchor="t">
            <a:spAutoFit/>
          </a:bodyPr>
          <a:lstStyle/>
          <a:p>
            <a:pPr algn="l">
              <a:spcAft>
                <a:spcPts val="0"/>
              </a:spcAft>
            </a:pPr>
            <a:r>
              <a:rPr sz="1650" b="1">
                <a:solidFill>
                  <a:srgbClr val="FFFFFF"/>
                </a:solidFill>
                <a:latin typeface="Aptos Display"/>
              </a:rPr>
              <a:t>≤120 s</a:t>
            </a:r>
          </a:p>
        </p:txBody>
      </p:sp>
      <p:sp>
        <p:nvSpPr>
          <p:cNvPr id="20" name="TextBox 19"/>
          <p:cNvSpPr txBox="1"/>
          <p:nvPr/>
        </p:nvSpPr>
        <p:spPr>
          <a:xfrm>
            <a:off x="1627632" y="5367528"/>
            <a:ext cx="1417320" cy="219456"/>
          </a:xfrm>
          <a:prstGeom prst="rect">
            <a:avLst/>
          </a:prstGeom>
          <a:noFill/>
        </p:spPr>
        <p:txBody>
          <a:bodyPr wrap="square" lIns="27432" rIns="27432" tIns="27432" bIns="27432" anchor="t">
            <a:spAutoFit/>
          </a:bodyPr>
          <a:lstStyle/>
          <a:p>
            <a:pPr algn="l">
              <a:spcAft>
                <a:spcPts val="0"/>
              </a:spcAft>
            </a:pPr>
            <a:r>
              <a:rPr sz="1050" b="1">
                <a:solidFill>
                  <a:srgbClr val="C7D3DF"/>
                </a:solidFill>
                <a:latin typeface="Aptos"/>
              </a:rPr>
              <a:t>proposed p95 completion</a:t>
            </a:r>
          </a:p>
        </p:txBody>
      </p:sp>
      <p:sp>
        <p:nvSpPr>
          <p:cNvPr id="21" name="Rounded Rectangle 20"/>
          <p:cNvSpPr/>
          <p:nvPr/>
        </p:nvSpPr>
        <p:spPr>
          <a:xfrm>
            <a:off x="3767328" y="1847088"/>
            <a:ext cx="3822191" cy="4334256"/>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95928" y="2048256"/>
            <a:ext cx="2011680" cy="256032"/>
          </a:xfrm>
          <a:prstGeom prst="rect">
            <a:avLst/>
          </a:prstGeom>
          <a:noFill/>
        </p:spPr>
        <p:txBody>
          <a:bodyPr wrap="square" lIns="27432" rIns="27432" tIns="27432" bIns="27432" anchor="t">
            <a:spAutoFit/>
          </a:bodyPr>
          <a:lstStyle/>
          <a:p>
            <a:pPr algn="l">
              <a:spcAft>
                <a:spcPts val="0"/>
              </a:spcAft>
            </a:pPr>
            <a:r>
              <a:rPr sz="1100" b="1">
                <a:solidFill>
                  <a:srgbClr val="E31837"/>
                </a:solidFill>
                <a:latin typeface="Aptos"/>
              </a:rPr>
              <a:t>CAPACITY SCREEN</a:t>
            </a:r>
          </a:p>
        </p:txBody>
      </p:sp>
      <p:sp>
        <p:nvSpPr>
          <p:cNvPr id="23" name="Rounded Rectangle 22"/>
          <p:cNvSpPr/>
          <p:nvPr/>
        </p:nvSpPr>
        <p:spPr>
          <a:xfrm>
            <a:off x="3995928" y="2450592"/>
            <a:ext cx="1572768"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23944" y="2542032"/>
            <a:ext cx="1316736" cy="347472"/>
          </a:xfrm>
          <a:prstGeom prst="rect">
            <a:avLst/>
          </a:prstGeom>
          <a:noFill/>
        </p:spPr>
        <p:txBody>
          <a:bodyPr wrap="square" lIns="27432" rIns="27432" tIns="27432" bIns="27432" anchor="t">
            <a:spAutoFit/>
          </a:bodyPr>
          <a:lstStyle/>
          <a:p>
            <a:pPr algn="l">
              <a:spcAft>
                <a:spcPts val="0"/>
              </a:spcAft>
            </a:pPr>
            <a:r>
              <a:rPr sz="2100" b="1">
                <a:solidFill>
                  <a:srgbClr val="E31837"/>
                </a:solidFill>
                <a:latin typeface="Aptos Display"/>
              </a:rPr>
              <a:t>≈235 GB</a:t>
            </a:r>
          </a:p>
        </p:txBody>
      </p:sp>
      <p:sp>
        <p:nvSpPr>
          <p:cNvPr id="25" name="TextBox 24"/>
          <p:cNvSpPr txBox="1"/>
          <p:nvPr/>
        </p:nvSpPr>
        <p:spPr>
          <a:xfrm>
            <a:off x="4123944" y="2926080"/>
            <a:ext cx="1316736"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raw FP8 model-weight floor</a:t>
            </a:r>
          </a:p>
        </p:txBody>
      </p:sp>
      <p:sp>
        <p:nvSpPr>
          <p:cNvPr id="26" name="Rounded Rectangle 25"/>
          <p:cNvSpPr/>
          <p:nvPr/>
        </p:nvSpPr>
        <p:spPr>
          <a:xfrm>
            <a:off x="5742432" y="2450592"/>
            <a:ext cx="1572768"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70448" y="2542032"/>
            <a:ext cx="1316736" cy="347472"/>
          </a:xfrm>
          <a:prstGeom prst="rect">
            <a:avLst/>
          </a:prstGeom>
          <a:noFill/>
        </p:spPr>
        <p:txBody>
          <a:bodyPr wrap="square" lIns="27432" rIns="27432" tIns="27432" bIns="27432" anchor="t">
            <a:spAutoFit/>
          </a:bodyPr>
          <a:lstStyle/>
          <a:p>
            <a:pPr algn="l">
              <a:spcAft>
                <a:spcPts val="0"/>
              </a:spcAft>
            </a:pPr>
            <a:r>
              <a:rPr sz="2000" b="1">
                <a:solidFill>
                  <a:srgbClr val="2E6F9E"/>
                </a:solidFill>
                <a:latin typeface="Aptos Display"/>
              </a:rPr>
              <a:t>0.734 GiB</a:t>
            </a:r>
          </a:p>
        </p:txBody>
      </p:sp>
      <p:sp>
        <p:nvSpPr>
          <p:cNvPr id="28" name="TextBox 27"/>
          <p:cNvSpPr txBox="1"/>
          <p:nvPr/>
        </p:nvSpPr>
        <p:spPr>
          <a:xfrm>
            <a:off x="5870448" y="2926080"/>
            <a:ext cx="1316736"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BF16 logical KV at 4K</a:t>
            </a:r>
          </a:p>
        </p:txBody>
      </p:sp>
      <p:sp>
        <p:nvSpPr>
          <p:cNvPr id="29" name="Rounded Rectangle 28"/>
          <p:cNvSpPr/>
          <p:nvPr/>
        </p:nvSpPr>
        <p:spPr>
          <a:xfrm>
            <a:off x="3995928" y="3493008"/>
            <a:ext cx="1572768"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23944" y="3584448"/>
            <a:ext cx="1316736" cy="347472"/>
          </a:xfrm>
          <a:prstGeom prst="rect">
            <a:avLst/>
          </a:prstGeom>
          <a:noFill/>
        </p:spPr>
        <p:txBody>
          <a:bodyPr wrap="square" lIns="27432" rIns="27432" tIns="27432" bIns="27432" anchor="t">
            <a:spAutoFit/>
          </a:bodyPr>
          <a:lstStyle/>
          <a:p>
            <a:pPr algn="l">
              <a:spcAft>
                <a:spcPts val="0"/>
              </a:spcAft>
            </a:pPr>
            <a:r>
              <a:rPr sz="2000" b="1">
                <a:solidFill>
                  <a:srgbClr val="2E6F9E"/>
                </a:solidFill>
                <a:latin typeface="Aptos Display"/>
              </a:rPr>
              <a:t>1.469 GiB</a:t>
            </a:r>
          </a:p>
        </p:txBody>
      </p:sp>
      <p:sp>
        <p:nvSpPr>
          <p:cNvPr id="31" name="TextBox 30"/>
          <p:cNvSpPr txBox="1"/>
          <p:nvPr/>
        </p:nvSpPr>
        <p:spPr>
          <a:xfrm>
            <a:off x="4123944" y="3968496"/>
            <a:ext cx="1316736"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BF16 logical KV at 8K</a:t>
            </a:r>
          </a:p>
        </p:txBody>
      </p:sp>
      <p:sp>
        <p:nvSpPr>
          <p:cNvPr id="32" name="Rounded Rectangle 31"/>
          <p:cNvSpPr/>
          <p:nvPr/>
        </p:nvSpPr>
        <p:spPr>
          <a:xfrm>
            <a:off x="5742432" y="3493008"/>
            <a:ext cx="1572768"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70448" y="3584448"/>
            <a:ext cx="1316736" cy="347472"/>
          </a:xfrm>
          <a:prstGeom prst="rect">
            <a:avLst/>
          </a:prstGeom>
          <a:noFill/>
        </p:spPr>
        <p:txBody>
          <a:bodyPr wrap="square" lIns="27432" rIns="27432" tIns="27432" bIns="27432" anchor="t">
            <a:spAutoFit/>
          </a:bodyPr>
          <a:lstStyle/>
          <a:p>
            <a:pPr algn="l">
              <a:spcAft>
                <a:spcPts val="0"/>
              </a:spcAft>
            </a:pPr>
            <a:r>
              <a:rPr sz="2100" b="1">
                <a:solidFill>
                  <a:srgbClr val="008C82"/>
                </a:solidFill>
                <a:latin typeface="Aptos Display"/>
              </a:rPr>
              <a:t>47 GiB</a:t>
            </a:r>
          </a:p>
        </p:txBody>
      </p:sp>
      <p:sp>
        <p:nvSpPr>
          <p:cNvPr id="34" name="TextBox 33"/>
          <p:cNvSpPr txBox="1"/>
          <p:nvPr/>
        </p:nvSpPr>
        <p:spPr>
          <a:xfrm>
            <a:off x="5870448" y="3968496"/>
            <a:ext cx="1316736"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32 sequences × 8K KV</a:t>
            </a:r>
          </a:p>
        </p:txBody>
      </p:sp>
      <p:sp>
        <p:nvSpPr>
          <p:cNvPr id="35" name="TextBox 34"/>
          <p:cNvSpPr txBox="1"/>
          <p:nvPr/>
        </p:nvSpPr>
        <p:spPr>
          <a:xfrm>
            <a:off x="3995928" y="4709160"/>
            <a:ext cx="2286000" cy="256032"/>
          </a:xfrm>
          <a:prstGeom prst="rect">
            <a:avLst/>
          </a:prstGeom>
          <a:noFill/>
        </p:spPr>
        <p:txBody>
          <a:bodyPr wrap="square" lIns="27432" rIns="27432" tIns="27432" bIns="27432" anchor="t">
            <a:spAutoFit/>
          </a:bodyPr>
          <a:lstStyle/>
          <a:p>
            <a:pPr algn="l">
              <a:spcAft>
                <a:spcPts val="0"/>
              </a:spcAft>
            </a:pPr>
            <a:r>
              <a:rPr sz="1200" b="1">
                <a:solidFill>
                  <a:srgbClr val="102A43"/>
                </a:solidFill>
                <a:latin typeface="Aptos"/>
              </a:rPr>
              <a:t>ATMOS study envelope</a:t>
            </a:r>
          </a:p>
        </p:txBody>
      </p:sp>
      <p:sp>
        <p:nvSpPr>
          <p:cNvPr id="36" name="TextBox 35"/>
          <p:cNvSpPr txBox="1"/>
          <p:nvPr/>
        </p:nvSpPr>
        <p:spPr>
          <a:xfrm>
            <a:off x="3995928" y="5029200"/>
            <a:ext cx="182880" cy="310896"/>
          </a:xfrm>
          <a:prstGeom prst="rect">
            <a:avLst/>
          </a:prstGeom>
          <a:noFill/>
        </p:spPr>
        <p:txBody>
          <a:bodyPr wrap="square" lIns="27432" rIns="27432" tIns="27432" bIns="27432" anchor="t">
            <a:spAutoFit/>
          </a:bodyPr>
          <a:lstStyle/>
          <a:p>
            <a:pPr algn="l">
              <a:spcAft>
                <a:spcPts val="0"/>
              </a:spcAft>
            </a:pPr>
            <a:r>
              <a:rPr sz="1180" b="1">
                <a:solidFill>
                  <a:srgbClr val="E31837"/>
                </a:solidFill>
                <a:latin typeface="Aptos"/>
              </a:rPr>
              <a:t>•</a:t>
            </a:r>
          </a:p>
        </p:txBody>
      </p:sp>
      <p:sp>
        <p:nvSpPr>
          <p:cNvPr id="37" name="TextBox 36"/>
          <p:cNvSpPr txBox="1"/>
          <p:nvPr/>
        </p:nvSpPr>
        <p:spPr>
          <a:xfrm>
            <a:off x="4224528" y="5029200"/>
            <a:ext cx="3081528" cy="31089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8 × 128 GB HBF = 1,024 GB nominal</a:t>
            </a:r>
          </a:p>
        </p:txBody>
      </p:sp>
      <p:sp>
        <p:nvSpPr>
          <p:cNvPr id="38" name="TextBox 37"/>
          <p:cNvSpPr txBox="1"/>
          <p:nvPr/>
        </p:nvSpPr>
        <p:spPr>
          <a:xfrm>
            <a:off x="3995928" y="5340096"/>
            <a:ext cx="182880" cy="310896"/>
          </a:xfrm>
          <a:prstGeom prst="rect">
            <a:avLst/>
          </a:prstGeom>
          <a:noFill/>
        </p:spPr>
        <p:txBody>
          <a:bodyPr wrap="square" lIns="27432" rIns="27432" tIns="27432" bIns="27432" anchor="t">
            <a:spAutoFit/>
          </a:bodyPr>
          <a:lstStyle/>
          <a:p>
            <a:pPr algn="l">
              <a:spcAft>
                <a:spcPts val="0"/>
              </a:spcAft>
            </a:pPr>
            <a:r>
              <a:rPr sz="1180" b="1">
                <a:solidFill>
                  <a:srgbClr val="E31837"/>
                </a:solidFill>
                <a:latin typeface="Aptos"/>
              </a:rPr>
              <a:t>•</a:t>
            </a:r>
          </a:p>
        </p:txBody>
      </p:sp>
      <p:sp>
        <p:nvSpPr>
          <p:cNvPr id="39" name="TextBox 38"/>
          <p:cNvSpPr txBox="1"/>
          <p:nvPr/>
        </p:nvSpPr>
        <p:spPr>
          <a:xfrm>
            <a:off x="4224528" y="5340096"/>
            <a:ext cx="3081528" cy="31089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800 GB application weight budget</a:t>
            </a:r>
          </a:p>
        </p:txBody>
      </p:sp>
      <p:sp>
        <p:nvSpPr>
          <p:cNvPr id="40" name="TextBox 39"/>
          <p:cNvSpPr txBox="1"/>
          <p:nvPr/>
        </p:nvSpPr>
        <p:spPr>
          <a:xfrm>
            <a:off x="3995928" y="5650992"/>
            <a:ext cx="182880" cy="310896"/>
          </a:xfrm>
          <a:prstGeom prst="rect">
            <a:avLst/>
          </a:prstGeom>
          <a:noFill/>
        </p:spPr>
        <p:txBody>
          <a:bodyPr wrap="square" lIns="27432" rIns="27432" tIns="27432" bIns="27432" anchor="t">
            <a:spAutoFit/>
          </a:bodyPr>
          <a:lstStyle/>
          <a:p>
            <a:pPr algn="l">
              <a:spcAft>
                <a:spcPts val="0"/>
              </a:spcAft>
            </a:pPr>
            <a:r>
              <a:rPr sz="1180" b="1">
                <a:solidFill>
                  <a:srgbClr val="E31837"/>
                </a:solidFill>
                <a:latin typeface="Aptos"/>
              </a:rPr>
              <a:t>•</a:t>
            </a:r>
          </a:p>
        </p:txBody>
      </p:sp>
      <p:sp>
        <p:nvSpPr>
          <p:cNvPr id="41" name="TextBox 40"/>
          <p:cNvSpPr txBox="1"/>
          <p:nvPr/>
        </p:nvSpPr>
        <p:spPr>
          <a:xfrm>
            <a:off x="4224528" y="5650992"/>
            <a:ext cx="3081528" cy="31089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128 GB LPDDR nominal; 96 GB after provisional reserve</a:t>
            </a:r>
          </a:p>
        </p:txBody>
      </p:sp>
      <p:sp>
        <p:nvSpPr>
          <p:cNvPr id="42" name="Rounded Rectangle 41"/>
          <p:cNvSpPr/>
          <p:nvPr/>
        </p:nvSpPr>
        <p:spPr>
          <a:xfrm>
            <a:off x="7845552" y="1847088"/>
            <a:ext cx="3813048" cy="4334256"/>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74152" y="2048256"/>
            <a:ext cx="3200400" cy="256032"/>
          </a:xfrm>
          <a:prstGeom prst="rect">
            <a:avLst/>
          </a:prstGeom>
          <a:noFill/>
        </p:spPr>
        <p:txBody>
          <a:bodyPr wrap="square" lIns="27432" rIns="27432" tIns="27432" bIns="27432" anchor="t">
            <a:spAutoFit/>
          </a:bodyPr>
          <a:lstStyle/>
          <a:p>
            <a:pPr algn="l">
              <a:spcAft>
                <a:spcPts val="0"/>
              </a:spcAft>
            </a:pPr>
            <a:r>
              <a:rPr sz="1100" b="1">
                <a:solidFill>
                  <a:srgbClr val="008C82"/>
                </a:solidFill>
                <a:latin typeface="Aptos"/>
              </a:rPr>
              <a:t>WHAT THE STUDY MUST PROVE</a:t>
            </a:r>
          </a:p>
        </p:txBody>
      </p:sp>
      <p:sp>
        <p:nvSpPr>
          <p:cNvPr id="44" name="TextBox 43"/>
          <p:cNvSpPr txBox="1"/>
          <p:nvPr/>
        </p:nvSpPr>
        <p:spPr>
          <a:xfrm>
            <a:off x="8074152" y="2496312"/>
            <a:ext cx="182880" cy="429768"/>
          </a:xfrm>
          <a:prstGeom prst="rect">
            <a:avLst/>
          </a:prstGeom>
          <a:noFill/>
        </p:spPr>
        <p:txBody>
          <a:bodyPr wrap="square" lIns="27432" rIns="27432" tIns="27432" bIns="27432" anchor="t">
            <a:spAutoFit/>
          </a:bodyPr>
          <a:lstStyle/>
          <a:p>
            <a:pPr algn="l">
              <a:spcAft>
                <a:spcPts val="0"/>
              </a:spcAft>
            </a:pPr>
            <a:r>
              <a:rPr sz="1310" b="1">
                <a:solidFill>
                  <a:srgbClr val="E31837"/>
                </a:solidFill>
                <a:latin typeface="Aptos"/>
              </a:rPr>
              <a:t>•</a:t>
            </a:r>
          </a:p>
        </p:txBody>
      </p:sp>
      <p:sp>
        <p:nvSpPr>
          <p:cNvPr id="45" name="TextBox 44"/>
          <p:cNvSpPr txBox="1"/>
          <p:nvPr/>
        </p:nvSpPr>
        <p:spPr>
          <a:xfrm>
            <a:off x="8302752" y="2496312"/>
            <a:ext cx="3017520" cy="429768"/>
          </a:xfrm>
          <a:prstGeom prst="rect">
            <a:avLst/>
          </a:prstGeom>
          <a:noFill/>
        </p:spPr>
        <p:txBody>
          <a:bodyPr wrap="square" lIns="27432" rIns="27432" tIns="27432" bIns="27432" anchor="t">
            <a:spAutoFit/>
          </a:bodyPr>
          <a:lstStyle/>
          <a:p>
            <a:pPr algn="l">
              <a:spcAft>
                <a:spcPts val="0"/>
              </a:spcAft>
            </a:pPr>
            <a:r>
              <a:rPr sz="1210" b="0">
                <a:solidFill>
                  <a:srgbClr val="24384A"/>
                </a:solidFill>
                <a:latin typeface="Aptos"/>
              </a:rPr>
              <a:t>Full-model compiler + attention/KV + MoE runtime</a:t>
            </a:r>
          </a:p>
        </p:txBody>
      </p:sp>
      <p:sp>
        <p:nvSpPr>
          <p:cNvPr id="46" name="TextBox 45"/>
          <p:cNvSpPr txBox="1"/>
          <p:nvPr/>
        </p:nvSpPr>
        <p:spPr>
          <a:xfrm>
            <a:off x="8074152" y="2926080"/>
            <a:ext cx="182880" cy="429768"/>
          </a:xfrm>
          <a:prstGeom prst="rect">
            <a:avLst/>
          </a:prstGeom>
          <a:noFill/>
        </p:spPr>
        <p:txBody>
          <a:bodyPr wrap="square" lIns="27432" rIns="27432" tIns="27432" bIns="27432" anchor="t">
            <a:spAutoFit/>
          </a:bodyPr>
          <a:lstStyle/>
          <a:p>
            <a:pPr algn="l">
              <a:spcAft>
                <a:spcPts val="0"/>
              </a:spcAft>
            </a:pPr>
            <a:r>
              <a:rPr sz="1310" b="1">
                <a:solidFill>
                  <a:srgbClr val="E31837"/>
                </a:solidFill>
                <a:latin typeface="Aptos"/>
              </a:rPr>
              <a:t>•</a:t>
            </a:r>
          </a:p>
        </p:txBody>
      </p:sp>
      <p:sp>
        <p:nvSpPr>
          <p:cNvPr id="47" name="TextBox 46"/>
          <p:cNvSpPr txBox="1"/>
          <p:nvPr/>
        </p:nvSpPr>
        <p:spPr>
          <a:xfrm>
            <a:off x="8302752" y="2926080"/>
            <a:ext cx="3017520" cy="429768"/>
          </a:xfrm>
          <a:prstGeom prst="rect">
            <a:avLst/>
          </a:prstGeom>
          <a:noFill/>
        </p:spPr>
        <p:txBody>
          <a:bodyPr wrap="square" lIns="27432" rIns="27432" tIns="27432" bIns="27432" anchor="t">
            <a:spAutoFit/>
          </a:bodyPr>
          <a:lstStyle/>
          <a:p>
            <a:pPr algn="l">
              <a:spcAft>
                <a:spcPts val="0"/>
              </a:spcAft>
            </a:pPr>
            <a:r>
              <a:rPr sz="1210" b="0">
                <a:solidFill>
                  <a:srgbClr val="24384A"/>
                </a:solidFill>
                <a:latin typeface="Aptos"/>
              </a:rPr>
              <a:t>Per-device working-memory fit—not aggregate arithmetic</a:t>
            </a:r>
          </a:p>
        </p:txBody>
      </p:sp>
      <p:sp>
        <p:nvSpPr>
          <p:cNvPr id="48" name="TextBox 47"/>
          <p:cNvSpPr txBox="1"/>
          <p:nvPr/>
        </p:nvSpPr>
        <p:spPr>
          <a:xfrm>
            <a:off x="8074152" y="3355848"/>
            <a:ext cx="182880" cy="429768"/>
          </a:xfrm>
          <a:prstGeom prst="rect">
            <a:avLst/>
          </a:prstGeom>
          <a:noFill/>
        </p:spPr>
        <p:txBody>
          <a:bodyPr wrap="square" lIns="27432" rIns="27432" tIns="27432" bIns="27432" anchor="t">
            <a:spAutoFit/>
          </a:bodyPr>
          <a:lstStyle/>
          <a:p>
            <a:pPr algn="l">
              <a:spcAft>
                <a:spcPts val="0"/>
              </a:spcAft>
            </a:pPr>
            <a:r>
              <a:rPr sz="1310" b="1">
                <a:solidFill>
                  <a:srgbClr val="E31837"/>
                </a:solidFill>
                <a:latin typeface="Aptos"/>
              </a:rPr>
              <a:t>•</a:t>
            </a:r>
          </a:p>
        </p:txBody>
      </p:sp>
      <p:sp>
        <p:nvSpPr>
          <p:cNvPr id="49" name="TextBox 48"/>
          <p:cNvSpPr txBox="1"/>
          <p:nvPr/>
        </p:nvSpPr>
        <p:spPr>
          <a:xfrm>
            <a:off x="8302752" y="3355848"/>
            <a:ext cx="3017520" cy="429768"/>
          </a:xfrm>
          <a:prstGeom prst="rect">
            <a:avLst/>
          </a:prstGeom>
          <a:noFill/>
        </p:spPr>
        <p:txBody>
          <a:bodyPr wrap="square" lIns="27432" rIns="27432" tIns="27432" bIns="27432" anchor="t">
            <a:spAutoFit/>
          </a:bodyPr>
          <a:lstStyle/>
          <a:p>
            <a:pPr algn="l">
              <a:spcAft>
                <a:spcPts val="0"/>
              </a:spcAft>
            </a:pPr>
            <a:r>
              <a:rPr sz="1210" b="0">
                <a:solidFill>
                  <a:srgbClr val="24384A"/>
                </a:solidFill>
                <a:latin typeface="Aptos"/>
              </a:rPr>
              <a:t>Native device fabric, queueing, failure and recovery</a:t>
            </a:r>
          </a:p>
        </p:txBody>
      </p:sp>
      <p:sp>
        <p:nvSpPr>
          <p:cNvPr id="50" name="TextBox 49"/>
          <p:cNvSpPr txBox="1"/>
          <p:nvPr/>
        </p:nvSpPr>
        <p:spPr>
          <a:xfrm>
            <a:off x="8074152" y="3785615"/>
            <a:ext cx="182880" cy="429768"/>
          </a:xfrm>
          <a:prstGeom prst="rect">
            <a:avLst/>
          </a:prstGeom>
          <a:noFill/>
        </p:spPr>
        <p:txBody>
          <a:bodyPr wrap="square" lIns="27432" rIns="27432" tIns="27432" bIns="27432" anchor="t">
            <a:spAutoFit/>
          </a:bodyPr>
          <a:lstStyle/>
          <a:p>
            <a:pPr algn="l">
              <a:spcAft>
                <a:spcPts val="0"/>
              </a:spcAft>
            </a:pPr>
            <a:r>
              <a:rPr sz="1310" b="1">
                <a:solidFill>
                  <a:srgbClr val="E31837"/>
                </a:solidFill>
                <a:latin typeface="Aptos"/>
              </a:rPr>
              <a:t>•</a:t>
            </a:r>
          </a:p>
        </p:txBody>
      </p:sp>
      <p:sp>
        <p:nvSpPr>
          <p:cNvPr id="51" name="TextBox 50"/>
          <p:cNvSpPr txBox="1"/>
          <p:nvPr/>
        </p:nvSpPr>
        <p:spPr>
          <a:xfrm>
            <a:off x="8302752" y="3785615"/>
            <a:ext cx="3017520" cy="429768"/>
          </a:xfrm>
          <a:prstGeom prst="rect">
            <a:avLst/>
          </a:prstGeom>
          <a:noFill/>
        </p:spPr>
        <p:txBody>
          <a:bodyPr wrap="square" lIns="27432" rIns="27432" tIns="27432" bIns="27432" anchor="t">
            <a:spAutoFit/>
          </a:bodyPr>
          <a:lstStyle/>
          <a:p>
            <a:pPr algn="l">
              <a:spcAft>
                <a:spcPts val="0"/>
              </a:spcAft>
            </a:pPr>
            <a:r>
              <a:rPr sz="1210" b="0">
                <a:solidFill>
                  <a:srgbClr val="24384A"/>
                </a:solidFill>
                <a:latin typeface="Aptos"/>
              </a:rPr>
              <a:t>Quality and p95 deadline at the declared load</a:t>
            </a:r>
          </a:p>
        </p:txBody>
      </p:sp>
      <p:sp>
        <p:nvSpPr>
          <p:cNvPr id="52" name="TextBox 51"/>
          <p:cNvSpPr txBox="1"/>
          <p:nvPr/>
        </p:nvSpPr>
        <p:spPr>
          <a:xfrm>
            <a:off x="8074152" y="4215383"/>
            <a:ext cx="182880" cy="429768"/>
          </a:xfrm>
          <a:prstGeom prst="rect">
            <a:avLst/>
          </a:prstGeom>
          <a:noFill/>
        </p:spPr>
        <p:txBody>
          <a:bodyPr wrap="square" lIns="27432" rIns="27432" tIns="27432" bIns="27432" anchor="t">
            <a:spAutoFit/>
          </a:bodyPr>
          <a:lstStyle/>
          <a:p>
            <a:pPr algn="l">
              <a:spcAft>
                <a:spcPts val="0"/>
              </a:spcAft>
            </a:pPr>
            <a:r>
              <a:rPr sz="1310" b="1">
                <a:solidFill>
                  <a:srgbClr val="E31837"/>
                </a:solidFill>
                <a:latin typeface="Aptos"/>
              </a:rPr>
              <a:t>•</a:t>
            </a:r>
          </a:p>
        </p:txBody>
      </p:sp>
      <p:sp>
        <p:nvSpPr>
          <p:cNvPr id="53" name="TextBox 52"/>
          <p:cNvSpPr txBox="1"/>
          <p:nvPr/>
        </p:nvSpPr>
        <p:spPr>
          <a:xfrm>
            <a:off x="8302752" y="4215383"/>
            <a:ext cx="3017520" cy="429768"/>
          </a:xfrm>
          <a:prstGeom prst="rect">
            <a:avLst/>
          </a:prstGeom>
          <a:noFill/>
        </p:spPr>
        <p:txBody>
          <a:bodyPr wrap="square" lIns="27432" rIns="27432" tIns="27432" bIns="27432" anchor="t">
            <a:spAutoFit/>
          </a:bodyPr>
          <a:lstStyle/>
          <a:p>
            <a:pPr algn="l">
              <a:spcAft>
                <a:spcPts val="0"/>
              </a:spcAft>
            </a:pPr>
            <a:r>
              <a:rPr sz="1210" b="0">
                <a:solidFill>
                  <a:srgbClr val="24384A"/>
                </a:solidFill>
                <a:latin typeface="Aptos"/>
              </a:rPr>
              <a:t>Accepted work versus optimized GPU controls</a:t>
            </a:r>
          </a:p>
        </p:txBody>
      </p:sp>
      <p:sp>
        <p:nvSpPr>
          <p:cNvPr id="54" name="Rounded Rectangle 53"/>
          <p:cNvSpPr/>
          <p:nvPr/>
        </p:nvSpPr>
        <p:spPr>
          <a:xfrm>
            <a:off x="8074152" y="5010912"/>
            <a:ext cx="3182112" cy="841248"/>
          </a:xfrm>
          <a:prstGeom prst="roundRect">
            <a:avLst/>
          </a:prstGeom>
          <a:solidFill>
            <a:srgbClr val="FBEDE1"/>
          </a:solidFill>
          <a:ln w="12700">
            <a:solidFill>
              <a:srgbClr val="E9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47888" y="5175504"/>
            <a:ext cx="2852928" cy="475488"/>
          </a:xfrm>
          <a:prstGeom prst="rect">
            <a:avLst/>
          </a:prstGeom>
          <a:noFill/>
        </p:spPr>
        <p:txBody>
          <a:bodyPr wrap="square" lIns="27432" rIns="27432" tIns="27432" bIns="27432" anchor="ctr">
            <a:spAutoFit/>
          </a:bodyPr>
          <a:lstStyle/>
          <a:p>
            <a:pPr algn="ctr">
              <a:spcAft>
                <a:spcPts val="0"/>
              </a:spcAft>
            </a:pPr>
            <a:r>
              <a:rPr sz="1120" b="1">
                <a:solidFill>
                  <a:srgbClr val="24384A"/>
                </a:solidFill>
                <a:latin typeface="Aptos"/>
              </a:rPr>
              <a:t>Capacity fit is only the admission ticket.
Compute, active KV and fabric decide the service.</a:t>
            </a:r>
          </a:p>
        </p:txBody>
      </p:sp>
      <p:cxnSp>
        <p:nvCxnSpPr>
          <p:cNvPr id="56" name="Connector 55"/>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58" name="TextBox 57"/>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hypothetical inputs • arithmetic disclosed</a:t>
            </a:r>
          </a:p>
        </p:txBody>
      </p:sp>
      <p:sp>
        <p:nvSpPr>
          <p:cNvPr id="59" name="TextBox 58"/>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PORTFOLIO</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Three offerings, three execution boundaries</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Option C is now explicit: speculative decoding, not another prefill/decode split.</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04</a:t>
            </a:r>
          </a:p>
        </p:txBody>
      </p:sp>
      <p:sp>
        <p:nvSpPr>
          <p:cNvPr id="8" name="Rounded Rectangle 7"/>
          <p:cNvSpPr/>
          <p:nvPr/>
        </p:nvSpPr>
        <p:spPr>
          <a:xfrm>
            <a:off x="530352" y="1856231"/>
            <a:ext cx="3246120" cy="4270248"/>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93392"/>
            <a:ext cx="384048" cy="420624"/>
          </a:xfrm>
          <a:prstGeom prst="rect">
            <a:avLst/>
          </a:prstGeom>
          <a:noFill/>
        </p:spPr>
        <p:txBody>
          <a:bodyPr wrap="square" lIns="27432" rIns="27432" tIns="27432" bIns="27432" anchor="t">
            <a:spAutoFit/>
          </a:bodyPr>
          <a:lstStyle/>
          <a:p>
            <a:pPr algn="l">
              <a:spcAft>
                <a:spcPts val="0"/>
              </a:spcAft>
            </a:pPr>
            <a:r>
              <a:rPr sz="2700" b="1">
                <a:solidFill>
                  <a:srgbClr val="2E6F9E"/>
                </a:solidFill>
                <a:latin typeface="Aptos Display"/>
              </a:rPr>
              <a:t>A</a:t>
            </a:r>
          </a:p>
        </p:txBody>
      </p:sp>
      <p:sp>
        <p:nvSpPr>
          <p:cNvPr id="10" name="TextBox 9"/>
          <p:cNvSpPr txBox="1"/>
          <p:nvPr/>
        </p:nvSpPr>
        <p:spPr>
          <a:xfrm>
            <a:off x="1170431" y="2011680"/>
            <a:ext cx="2377440" cy="530352"/>
          </a:xfrm>
          <a:prstGeom prst="rect">
            <a:avLst/>
          </a:prstGeom>
          <a:noFill/>
        </p:spPr>
        <p:txBody>
          <a:bodyPr wrap="square" lIns="27432" rIns="27432" tIns="27432" bIns="27432" anchor="t">
            <a:spAutoFit/>
          </a:bodyPr>
          <a:lstStyle/>
          <a:p>
            <a:pPr algn="l">
              <a:spcAft>
                <a:spcPts val="0"/>
              </a:spcAft>
            </a:pPr>
            <a:r>
              <a:rPr sz="1330" b="1">
                <a:solidFill>
                  <a:srgbClr val="102A43"/>
                </a:solidFill>
                <a:latin typeface="Aptos"/>
              </a:rPr>
              <a:t>NATIVE ATMOS SERVICE</a:t>
            </a:r>
          </a:p>
        </p:txBody>
      </p:sp>
      <p:sp>
        <p:nvSpPr>
          <p:cNvPr id="11" name="Rounded Rectangle 10"/>
          <p:cNvSpPr/>
          <p:nvPr/>
        </p:nvSpPr>
        <p:spPr>
          <a:xfrm>
            <a:off x="2587752" y="2615184"/>
            <a:ext cx="978408" cy="274320"/>
          </a:xfrm>
          <a:prstGeom prst="round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4328" y="2633472"/>
            <a:ext cx="905256"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LEAD</a:t>
            </a:r>
          </a:p>
        </p:txBody>
      </p:sp>
      <p:sp>
        <p:nvSpPr>
          <p:cNvPr id="13" name="TextBox 12"/>
          <p:cNvSpPr txBox="1"/>
          <p:nvPr/>
        </p:nvSpPr>
        <p:spPr>
          <a:xfrm>
            <a:off x="713232" y="3072384"/>
            <a:ext cx="100584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BOUNDARY</a:t>
            </a:r>
          </a:p>
        </p:txBody>
      </p:sp>
      <p:sp>
        <p:nvSpPr>
          <p:cNvPr id="14" name="TextBox 13"/>
          <p:cNvSpPr txBox="1"/>
          <p:nvPr/>
        </p:nvSpPr>
        <p:spPr>
          <a:xfrm>
            <a:off x="713232" y="3310128"/>
            <a:ext cx="2788920" cy="384048"/>
          </a:xfrm>
          <a:prstGeom prst="rect">
            <a:avLst/>
          </a:prstGeom>
          <a:noFill/>
        </p:spPr>
        <p:txBody>
          <a:bodyPr wrap="square" lIns="27432" rIns="27432" tIns="27432" bIns="27432" anchor="t">
            <a:spAutoFit/>
          </a:bodyPr>
          <a:lstStyle/>
          <a:p>
            <a:pPr algn="l">
              <a:spcAft>
                <a:spcPts val="0"/>
              </a:spcAft>
            </a:pPr>
            <a:r>
              <a:rPr sz="1500" b="1">
                <a:solidFill>
                  <a:srgbClr val="2E6F9E"/>
                </a:solidFill>
                <a:latin typeface="Aptos Display"/>
              </a:rPr>
              <a:t>REQUEST / RESPONSE</a:t>
            </a:r>
          </a:p>
        </p:txBody>
      </p:sp>
      <p:sp>
        <p:nvSpPr>
          <p:cNvPr id="15" name="TextBox 14"/>
          <p:cNvSpPr txBox="1"/>
          <p:nvPr/>
        </p:nvSpPr>
        <p:spPr>
          <a:xfrm>
            <a:off x="713232" y="3877056"/>
            <a:ext cx="141732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EXECUTION OWNERS</a:t>
            </a:r>
          </a:p>
        </p:txBody>
      </p:sp>
      <p:sp>
        <p:nvSpPr>
          <p:cNvPr id="16" name="TextBox 15"/>
          <p:cNvSpPr txBox="1"/>
          <p:nvPr/>
        </p:nvSpPr>
        <p:spPr>
          <a:xfrm>
            <a:off x="713232" y="4114800"/>
            <a:ext cx="2788920" cy="292608"/>
          </a:xfrm>
          <a:prstGeom prst="rect">
            <a:avLst/>
          </a:prstGeom>
          <a:noFill/>
        </p:spPr>
        <p:txBody>
          <a:bodyPr wrap="square" lIns="27432" rIns="27432" tIns="27432" bIns="27432" anchor="t">
            <a:spAutoFit/>
          </a:bodyPr>
          <a:lstStyle/>
          <a:p>
            <a:pPr algn="l">
              <a:spcAft>
                <a:spcPts val="0"/>
              </a:spcAft>
            </a:pPr>
            <a:r>
              <a:rPr sz="1300" b="1">
                <a:solidFill>
                  <a:srgbClr val="24384A"/>
                </a:solidFill>
                <a:latin typeface="Aptos"/>
              </a:rPr>
              <a:t>ATMOS</a:t>
            </a:r>
          </a:p>
        </p:txBody>
      </p:sp>
      <p:sp>
        <p:nvSpPr>
          <p:cNvPr id="17" name="TextBox 16"/>
          <p:cNvSpPr txBox="1"/>
          <p:nvPr/>
        </p:nvSpPr>
        <p:spPr>
          <a:xfrm>
            <a:off x="713232" y="4590288"/>
            <a:ext cx="2834640" cy="630936"/>
          </a:xfrm>
          <a:prstGeom prst="rect">
            <a:avLst/>
          </a:prstGeom>
          <a:noFill/>
        </p:spPr>
        <p:txBody>
          <a:bodyPr wrap="square" lIns="27432" rIns="27432" tIns="27432" bIns="27432" anchor="t">
            <a:spAutoFit/>
          </a:bodyPr>
          <a:lstStyle/>
          <a:p>
            <a:pPr algn="l">
              <a:spcAft>
                <a:spcPts val="0"/>
              </a:spcAft>
            </a:pPr>
            <a:r>
              <a:rPr sz="1180" b="0">
                <a:solidFill>
                  <a:srgbClr val="24384A"/>
                </a:solidFill>
                <a:latin typeface="Aptos"/>
              </a:rPr>
              <a:t>Full target model: prefill + decode</a:t>
            </a:r>
          </a:p>
        </p:txBody>
      </p:sp>
      <p:cxnSp>
        <p:nvCxnSpPr>
          <p:cNvPr id="18" name="Connector 17"/>
          <p:cNvCxnSpPr/>
          <p:nvPr/>
        </p:nvCxnSpPr>
        <p:spPr>
          <a:xfrm>
            <a:off x="713232" y="5376672"/>
            <a:ext cx="2880360"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3232" y="5495544"/>
            <a:ext cx="1078992" cy="182880"/>
          </a:xfrm>
          <a:prstGeom prst="rect">
            <a:avLst/>
          </a:prstGeom>
          <a:noFill/>
        </p:spPr>
        <p:txBody>
          <a:bodyPr wrap="square" lIns="27432" rIns="27432" tIns="27432" bIns="27432" anchor="t">
            <a:spAutoFit/>
          </a:bodyPr>
          <a:lstStyle/>
          <a:p>
            <a:pPr algn="l">
              <a:spcAft>
                <a:spcPts val="0"/>
              </a:spcAft>
            </a:pPr>
            <a:r>
              <a:rPr sz="930" b="1">
                <a:solidFill>
                  <a:srgbClr val="64748B"/>
                </a:solidFill>
                <a:latin typeface="Aptos"/>
              </a:rPr>
              <a:t>WHAT CROSSES</a:t>
            </a:r>
          </a:p>
        </p:txBody>
      </p:sp>
      <p:sp>
        <p:nvSpPr>
          <p:cNvPr id="20" name="TextBox 19"/>
          <p:cNvSpPr txBox="1"/>
          <p:nvPr/>
        </p:nvSpPr>
        <p:spPr>
          <a:xfrm>
            <a:off x="1764792" y="5477256"/>
            <a:ext cx="1783080" cy="301752"/>
          </a:xfrm>
          <a:prstGeom prst="rect">
            <a:avLst/>
          </a:prstGeom>
          <a:noFill/>
        </p:spPr>
        <p:txBody>
          <a:bodyPr wrap="square" lIns="27432" rIns="27432" tIns="27432" bIns="27432" anchor="t">
            <a:spAutoFit/>
          </a:bodyPr>
          <a:lstStyle/>
          <a:p>
            <a:pPr algn="l">
              <a:spcAft>
                <a:spcPts val="0"/>
              </a:spcAft>
            </a:pPr>
            <a:r>
              <a:rPr sz="1060" b="1">
                <a:solidFill>
                  <a:srgbClr val="24384A"/>
                </a:solidFill>
                <a:latin typeface="Aptos"/>
              </a:rPr>
              <a:t>Prompt in; response out</a:t>
            </a:r>
          </a:p>
        </p:txBody>
      </p:sp>
      <p:sp>
        <p:nvSpPr>
          <p:cNvPr id="21" name="Rounded Rectangle 20"/>
          <p:cNvSpPr/>
          <p:nvPr/>
        </p:nvSpPr>
        <p:spPr>
          <a:xfrm>
            <a:off x="4096512" y="1856231"/>
            <a:ext cx="3246120" cy="4270248"/>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61104" y="1993392"/>
            <a:ext cx="384048" cy="420624"/>
          </a:xfrm>
          <a:prstGeom prst="rect">
            <a:avLst/>
          </a:prstGeom>
          <a:noFill/>
        </p:spPr>
        <p:txBody>
          <a:bodyPr wrap="square" lIns="27432" rIns="27432" tIns="27432" bIns="27432" anchor="t">
            <a:spAutoFit/>
          </a:bodyPr>
          <a:lstStyle/>
          <a:p>
            <a:pPr algn="l">
              <a:spcAft>
                <a:spcPts val="0"/>
              </a:spcAft>
            </a:pPr>
            <a:r>
              <a:rPr sz="2700" b="1">
                <a:solidFill>
                  <a:srgbClr val="008C82"/>
                </a:solidFill>
                <a:latin typeface="Aptos Display"/>
              </a:rPr>
              <a:t>B</a:t>
            </a:r>
          </a:p>
        </p:txBody>
      </p:sp>
      <p:sp>
        <p:nvSpPr>
          <p:cNvPr id="23" name="TextBox 22"/>
          <p:cNvSpPr txBox="1"/>
          <p:nvPr/>
        </p:nvSpPr>
        <p:spPr>
          <a:xfrm>
            <a:off x="4736592" y="2011680"/>
            <a:ext cx="2377440" cy="530352"/>
          </a:xfrm>
          <a:prstGeom prst="rect">
            <a:avLst/>
          </a:prstGeom>
          <a:noFill/>
        </p:spPr>
        <p:txBody>
          <a:bodyPr wrap="square" lIns="27432" rIns="27432" tIns="27432" bIns="27432" anchor="t">
            <a:spAutoFit/>
          </a:bodyPr>
          <a:lstStyle/>
          <a:p>
            <a:pPr algn="l">
              <a:spcAft>
                <a:spcPts val="0"/>
              </a:spcAft>
            </a:pPr>
            <a:r>
              <a:rPr sz="1330" b="1">
                <a:solidFill>
                  <a:srgbClr val="102A43"/>
                </a:solidFill>
                <a:latin typeface="Aptos"/>
              </a:rPr>
              <a:t>GPU PREFILL → ATMOS DECODE</a:t>
            </a:r>
          </a:p>
        </p:txBody>
      </p:sp>
      <p:sp>
        <p:nvSpPr>
          <p:cNvPr id="24" name="Rounded Rectangle 23"/>
          <p:cNvSpPr/>
          <p:nvPr/>
        </p:nvSpPr>
        <p:spPr>
          <a:xfrm>
            <a:off x="6153912" y="2615184"/>
            <a:ext cx="978408" cy="274320"/>
          </a:xfrm>
          <a:prstGeom prst="round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2633472"/>
            <a:ext cx="905256"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CONDITIONAL</a:t>
            </a:r>
          </a:p>
        </p:txBody>
      </p:sp>
      <p:sp>
        <p:nvSpPr>
          <p:cNvPr id="26" name="TextBox 25"/>
          <p:cNvSpPr txBox="1"/>
          <p:nvPr/>
        </p:nvSpPr>
        <p:spPr>
          <a:xfrm>
            <a:off x="4279392" y="3072384"/>
            <a:ext cx="100584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BOUNDARY</a:t>
            </a:r>
          </a:p>
        </p:txBody>
      </p:sp>
      <p:sp>
        <p:nvSpPr>
          <p:cNvPr id="27" name="TextBox 26"/>
          <p:cNvSpPr txBox="1"/>
          <p:nvPr/>
        </p:nvSpPr>
        <p:spPr>
          <a:xfrm>
            <a:off x="4279392" y="3310128"/>
            <a:ext cx="2788920" cy="384048"/>
          </a:xfrm>
          <a:prstGeom prst="rect">
            <a:avLst/>
          </a:prstGeom>
          <a:noFill/>
        </p:spPr>
        <p:txBody>
          <a:bodyPr wrap="square" lIns="27432" rIns="27432" tIns="27432" bIns="27432" anchor="t">
            <a:spAutoFit/>
          </a:bodyPr>
          <a:lstStyle/>
          <a:p>
            <a:pPr algn="l">
              <a:spcAft>
                <a:spcPts val="0"/>
              </a:spcAft>
            </a:pPr>
            <a:r>
              <a:rPr sz="1500" b="1">
                <a:solidFill>
                  <a:srgbClr val="008C82"/>
                </a:solidFill>
                <a:latin typeface="Aptos Display"/>
              </a:rPr>
              <a:t>TARGET KV + STATE</a:t>
            </a:r>
          </a:p>
        </p:txBody>
      </p:sp>
      <p:sp>
        <p:nvSpPr>
          <p:cNvPr id="28" name="TextBox 27"/>
          <p:cNvSpPr txBox="1"/>
          <p:nvPr/>
        </p:nvSpPr>
        <p:spPr>
          <a:xfrm>
            <a:off x="4279392" y="3877056"/>
            <a:ext cx="141732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EXECUTION OWNERS</a:t>
            </a:r>
          </a:p>
        </p:txBody>
      </p:sp>
      <p:sp>
        <p:nvSpPr>
          <p:cNvPr id="29" name="TextBox 28"/>
          <p:cNvSpPr txBox="1"/>
          <p:nvPr/>
        </p:nvSpPr>
        <p:spPr>
          <a:xfrm>
            <a:off x="4279392" y="4114800"/>
            <a:ext cx="2788920" cy="292608"/>
          </a:xfrm>
          <a:prstGeom prst="rect">
            <a:avLst/>
          </a:prstGeom>
          <a:noFill/>
        </p:spPr>
        <p:txBody>
          <a:bodyPr wrap="square" lIns="27432" rIns="27432" tIns="27432" bIns="27432" anchor="t">
            <a:spAutoFit/>
          </a:bodyPr>
          <a:lstStyle/>
          <a:p>
            <a:pPr algn="l">
              <a:spcAft>
                <a:spcPts val="0"/>
              </a:spcAft>
            </a:pPr>
            <a:r>
              <a:rPr sz="1300" b="1">
                <a:solidFill>
                  <a:srgbClr val="24384A"/>
                </a:solidFill>
                <a:latin typeface="Aptos"/>
              </a:rPr>
              <a:t>GPU + ATMOS</a:t>
            </a:r>
          </a:p>
        </p:txBody>
      </p:sp>
      <p:sp>
        <p:nvSpPr>
          <p:cNvPr id="30" name="TextBox 29"/>
          <p:cNvSpPr txBox="1"/>
          <p:nvPr/>
        </p:nvSpPr>
        <p:spPr>
          <a:xfrm>
            <a:off x="4279392" y="4590288"/>
            <a:ext cx="2834640" cy="630936"/>
          </a:xfrm>
          <a:prstGeom prst="rect">
            <a:avLst/>
          </a:prstGeom>
          <a:noFill/>
        </p:spPr>
        <p:txBody>
          <a:bodyPr wrap="square" lIns="27432" rIns="27432" tIns="27432" bIns="27432" anchor="t">
            <a:spAutoFit/>
          </a:bodyPr>
          <a:lstStyle/>
          <a:p>
            <a:pPr algn="l">
              <a:spcAft>
                <a:spcPts val="0"/>
              </a:spcAft>
            </a:pPr>
            <a:r>
              <a:rPr sz="1180" b="0">
                <a:solidFill>
                  <a:srgbClr val="24384A"/>
                </a:solidFill>
                <a:latin typeface="Aptos"/>
              </a:rPr>
              <a:t>GPU runs full prefill; ATMOS runs full target decode</a:t>
            </a:r>
          </a:p>
        </p:txBody>
      </p:sp>
      <p:cxnSp>
        <p:nvCxnSpPr>
          <p:cNvPr id="31" name="Connector 30"/>
          <p:cNvCxnSpPr/>
          <p:nvPr/>
        </p:nvCxnSpPr>
        <p:spPr>
          <a:xfrm>
            <a:off x="4279392" y="5376672"/>
            <a:ext cx="2880360"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79392" y="5495544"/>
            <a:ext cx="1078992" cy="182880"/>
          </a:xfrm>
          <a:prstGeom prst="rect">
            <a:avLst/>
          </a:prstGeom>
          <a:noFill/>
        </p:spPr>
        <p:txBody>
          <a:bodyPr wrap="square" lIns="27432" rIns="27432" tIns="27432" bIns="27432" anchor="t">
            <a:spAutoFit/>
          </a:bodyPr>
          <a:lstStyle/>
          <a:p>
            <a:pPr algn="l">
              <a:spcAft>
                <a:spcPts val="0"/>
              </a:spcAft>
            </a:pPr>
            <a:r>
              <a:rPr sz="930" b="1">
                <a:solidFill>
                  <a:srgbClr val="64748B"/>
                </a:solidFill>
                <a:latin typeface="Aptos"/>
              </a:rPr>
              <a:t>WHAT CROSSES</a:t>
            </a:r>
          </a:p>
        </p:txBody>
      </p:sp>
      <p:sp>
        <p:nvSpPr>
          <p:cNvPr id="33" name="TextBox 32"/>
          <p:cNvSpPr txBox="1"/>
          <p:nvPr/>
        </p:nvSpPr>
        <p:spPr>
          <a:xfrm>
            <a:off x="5330952" y="5477256"/>
            <a:ext cx="1783080" cy="301752"/>
          </a:xfrm>
          <a:prstGeom prst="rect">
            <a:avLst/>
          </a:prstGeom>
          <a:noFill/>
        </p:spPr>
        <p:txBody>
          <a:bodyPr wrap="square" lIns="27432" rIns="27432" tIns="27432" bIns="27432" anchor="t">
            <a:spAutoFit/>
          </a:bodyPr>
          <a:lstStyle/>
          <a:p>
            <a:pPr algn="l">
              <a:spcAft>
                <a:spcPts val="0"/>
              </a:spcAft>
            </a:pPr>
            <a:r>
              <a:rPr sz="1060" b="1">
                <a:solidFill>
                  <a:srgbClr val="24384A"/>
                </a:solidFill>
                <a:latin typeface="Aptos"/>
              </a:rPr>
              <a:t>One handoff per request</a:t>
            </a:r>
          </a:p>
        </p:txBody>
      </p:sp>
      <p:sp>
        <p:nvSpPr>
          <p:cNvPr id="34" name="Rounded Rectangle 33"/>
          <p:cNvSpPr/>
          <p:nvPr/>
        </p:nvSpPr>
        <p:spPr>
          <a:xfrm>
            <a:off x="7662672" y="1856231"/>
            <a:ext cx="3246120" cy="4270248"/>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27264" y="1993392"/>
            <a:ext cx="384048" cy="420624"/>
          </a:xfrm>
          <a:prstGeom prst="rect">
            <a:avLst/>
          </a:prstGeom>
          <a:noFill/>
        </p:spPr>
        <p:txBody>
          <a:bodyPr wrap="square" lIns="27432" rIns="27432" tIns="27432" bIns="27432" anchor="t">
            <a:spAutoFit/>
          </a:bodyPr>
          <a:lstStyle/>
          <a:p>
            <a:pPr algn="l">
              <a:spcAft>
                <a:spcPts val="0"/>
              </a:spcAft>
            </a:pPr>
            <a:r>
              <a:rPr sz="2700" b="1">
                <a:solidFill>
                  <a:srgbClr val="D9823B"/>
                </a:solidFill>
                <a:latin typeface="Aptos Display"/>
              </a:rPr>
              <a:t>C</a:t>
            </a:r>
          </a:p>
        </p:txBody>
      </p:sp>
      <p:sp>
        <p:nvSpPr>
          <p:cNvPr id="36" name="TextBox 35"/>
          <p:cNvSpPr txBox="1"/>
          <p:nvPr/>
        </p:nvSpPr>
        <p:spPr>
          <a:xfrm>
            <a:off x="8302752" y="2011680"/>
            <a:ext cx="2377440" cy="530352"/>
          </a:xfrm>
          <a:prstGeom prst="rect">
            <a:avLst/>
          </a:prstGeom>
          <a:noFill/>
        </p:spPr>
        <p:txBody>
          <a:bodyPr wrap="square" lIns="27432" rIns="27432" tIns="27432" bIns="27432" anchor="t">
            <a:spAutoFit/>
          </a:bodyPr>
          <a:lstStyle/>
          <a:p>
            <a:pPr algn="l">
              <a:spcAft>
                <a:spcPts val="0"/>
              </a:spcAft>
            </a:pPr>
            <a:r>
              <a:rPr sz="1330" b="1">
                <a:solidFill>
                  <a:srgbClr val="102A43"/>
                </a:solidFill>
                <a:latin typeface="Aptos"/>
              </a:rPr>
              <a:t>GPU DRAFT → ATMOS VERIFY</a:t>
            </a:r>
          </a:p>
        </p:txBody>
      </p:sp>
      <p:sp>
        <p:nvSpPr>
          <p:cNvPr id="37" name="Rounded Rectangle 36"/>
          <p:cNvSpPr/>
          <p:nvPr/>
        </p:nvSpPr>
        <p:spPr>
          <a:xfrm>
            <a:off x="9720072" y="2615184"/>
            <a:ext cx="978408" cy="274320"/>
          </a:xfrm>
          <a:prstGeom prst="roundRect">
            <a:avLst/>
          </a:prstGeom>
          <a:solidFill>
            <a:srgbClr val="D9823B"/>
          </a:solidFill>
          <a:ln w="1270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56648" y="2633472"/>
            <a:ext cx="905256"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RESEARCH</a:t>
            </a:r>
          </a:p>
        </p:txBody>
      </p:sp>
      <p:sp>
        <p:nvSpPr>
          <p:cNvPr id="39" name="TextBox 38"/>
          <p:cNvSpPr txBox="1"/>
          <p:nvPr/>
        </p:nvSpPr>
        <p:spPr>
          <a:xfrm>
            <a:off x="7845552" y="3072384"/>
            <a:ext cx="100584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BOUNDARY</a:t>
            </a:r>
          </a:p>
        </p:txBody>
      </p:sp>
      <p:sp>
        <p:nvSpPr>
          <p:cNvPr id="40" name="TextBox 39"/>
          <p:cNvSpPr txBox="1"/>
          <p:nvPr/>
        </p:nvSpPr>
        <p:spPr>
          <a:xfrm>
            <a:off x="7845552" y="3310128"/>
            <a:ext cx="2788920" cy="384048"/>
          </a:xfrm>
          <a:prstGeom prst="rect">
            <a:avLst/>
          </a:prstGeom>
          <a:noFill/>
        </p:spPr>
        <p:txBody>
          <a:bodyPr wrap="square" lIns="27432" rIns="27432" tIns="27432" bIns="27432" anchor="t">
            <a:spAutoFit/>
          </a:bodyPr>
          <a:lstStyle/>
          <a:p>
            <a:pPr algn="l">
              <a:spcAft>
                <a:spcPts val="0"/>
              </a:spcAft>
            </a:pPr>
            <a:r>
              <a:rPr sz="1500" b="1">
                <a:solidFill>
                  <a:srgbClr val="D9823B"/>
                </a:solidFill>
                <a:latin typeface="Aptos Display"/>
              </a:rPr>
              <a:t>CANDIDATE TOKEN BLOCK</a:t>
            </a:r>
          </a:p>
        </p:txBody>
      </p:sp>
      <p:sp>
        <p:nvSpPr>
          <p:cNvPr id="41" name="TextBox 40"/>
          <p:cNvSpPr txBox="1"/>
          <p:nvPr/>
        </p:nvSpPr>
        <p:spPr>
          <a:xfrm>
            <a:off x="7845552" y="3877056"/>
            <a:ext cx="1417320" cy="201168"/>
          </a:xfrm>
          <a:prstGeom prst="rect">
            <a:avLst/>
          </a:prstGeom>
          <a:noFill/>
        </p:spPr>
        <p:txBody>
          <a:bodyPr wrap="square" lIns="27432" rIns="27432" tIns="27432" bIns="27432" anchor="t">
            <a:spAutoFit/>
          </a:bodyPr>
          <a:lstStyle/>
          <a:p>
            <a:pPr algn="l">
              <a:spcAft>
                <a:spcPts val="0"/>
              </a:spcAft>
            </a:pPr>
            <a:r>
              <a:rPr sz="950" b="1">
                <a:solidFill>
                  <a:srgbClr val="64748B"/>
                </a:solidFill>
                <a:latin typeface="Aptos"/>
              </a:rPr>
              <a:t>EXECUTION OWNERS</a:t>
            </a:r>
          </a:p>
        </p:txBody>
      </p:sp>
      <p:sp>
        <p:nvSpPr>
          <p:cNvPr id="42" name="TextBox 41"/>
          <p:cNvSpPr txBox="1"/>
          <p:nvPr/>
        </p:nvSpPr>
        <p:spPr>
          <a:xfrm>
            <a:off x="7845552" y="4114800"/>
            <a:ext cx="2788920" cy="292608"/>
          </a:xfrm>
          <a:prstGeom prst="rect">
            <a:avLst/>
          </a:prstGeom>
          <a:noFill/>
        </p:spPr>
        <p:txBody>
          <a:bodyPr wrap="square" lIns="27432" rIns="27432" tIns="27432" bIns="27432" anchor="t">
            <a:spAutoFit/>
          </a:bodyPr>
          <a:lstStyle/>
          <a:p>
            <a:pPr algn="l">
              <a:spcAft>
                <a:spcPts val="0"/>
              </a:spcAft>
            </a:pPr>
            <a:r>
              <a:rPr sz="1300" b="1">
                <a:solidFill>
                  <a:srgbClr val="24384A"/>
                </a:solidFill>
                <a:latin typeface="Aptos"/>
              </a:rPr>
              <a:t>SMALL GPU + ATMOS</a:t>
            </a:r>
          </a:p>
        </p:txBody>
      </p:sp>
      <p:sp>
        <p:nvSpPr>
          <p:cNvPr id="43" name="TextBox 42"/>
          <p:cNvSpPr txBox="1"/>
          <p:nvPr/>
        </p:nvSpPr>
        <p:spPr>
          <a:xfrm>
            <a:off x="7845552" y="4590288"/>
            <a:ext cx="2834640" cy="630936"/>
          </a:xfrm>
          <a:prstGeom prst="rect">
            <a:avLst/>
          </a:prstGeom>
          <a:noFill/>
        </p:spPr>
        <p:txBody>
          <a:bodyPr wrap="square" lIns="27432" rIns="27432" tIns="27432" bIns="27432" anchor="t">
            <a:spAutoFit/>
          </a:bodyPr>
          <a:lstStyle/>
          <a:p>
            <a:pPr algn="l">
              <a:spcAft>
                <a:spcPts val="0"/>
              </a:spcAft>
            </a:pPr>
            <a:r>
              <a:rPr sz="1180" b="0">
                <a:solidFill>
                  <a:srgbClr val="24384A"/>
                </a:solidFill>
                <a:latin typeface="Aptos"/>
              </a:rPr>
              <a:t>GPU draft model proposes; ATMOS target accepts/corrects</a:t>
            </a:r>
          </a:p>
        </p:txBody>
      </p:sp>
      <p:cxnSp>
        <p:nvCxnSpPr>
          <p:cNvPr id="44" name="Connector 43"/>
          <p:cNvCxnSpPr/>
          <p:nvPr/>
        </p:nvCxnSpPr>
        <p:spPr>
          <a:xfrm>
            <a:off x="7845552" y="5376672"/>
            <a:ext cx="2880360"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845552" y="5495544"/>
            <a:ext cx="1078992" cy="182880"/>
          </a:xfrm>
          <a:prstGeom prst="rect">
            <a:avLst/>
          </a:prstGeom>
          <a:noFill/>
        </p:spPr>
        <p:txBody>
          <a:bodyPr wrap="square" lIns="27432" rIns="27432" tIns="27432" bIns="27432" anchor="t">
            <a:spAutoFit/>
          </a:bodyPr>
          <a:lstStyle/>
          <a:p>
            <a:pPr algn="l">
              <a:spcAft>
                <a:spcPts val="0"/>
              </a:spcAft>
            </a:pPr>
            <a:r>
              <a:rPr sz="930" b="1">
                <a:solidFill>
                  <a:srgbClr val="64748B"/>
                </a:solidFill>
                <a:latin typeface="Aptos"/>
              </a:rPr>
              <a:t>WHAT CROSSES</a:t>
            </a:r>
          </a:p>
        </p:txBody>
      </p:sp>
      <p:sp>
        <p:nvSpPr>
          <p:cNvPr id="46" name="TextBox 45"/>
          <p:cNvSpPr txBox="1"/>
          <p:nvPr/>
        </p:nvSpPr>
        <p:spPr>
          <a:xfrm>
            <a:off x="8897112" y="5477256"/>
            <a:ext cx="1783080" cy="301752"/>
          </a:xfrm>
          <a:prstGeom prst="rect">
            <a:avLst/>
          </a:prstGeom>
          <a:noFill/>
        </p:spPr>
        <p:txBody>
          <a:bodyPr wrap="square" lIns="27432" rIns="27432" tIns="27432" bIns="27432" anchor="t">
            <a:spAutoFit/>
          </a:bodyPr>
          <a:lstStyle/>
          <a:p>
            <a:pPr algn="l">
              <a:spcAft>
                <a:spcPts val="0"/>
              </a:spcAft>
            </a:pPr>
            <a:r>
              <a:rPr sz="1060" b="1">
                <a:solidFill>
                  <a:srgbClr val="24384A"/>
                </a:solidFill>
                <a:latin typeface="Aptos"/>
              </a:rPr>
              <a:t>Repeated verification cycles</a:t>
            </a:r>
          </a:p>
        </p:txBody>
      </p:sp>
      <p:cxnSp>
        <p:nvCxnSpPr>
          <p:cNvPr id="47" name="Connector 46"/>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49" name="TextBox 48"/>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same target quality • different integration work</a:t>
            </a:r>
          </a:p>
        </p:txBody>
      </p:sp>
      <p:sp>
        <p:nvSpPr>
          <p:cNvPr id="50" name="TextBox 49"/>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OFFERING A</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Native ATMOS service: isolate a complete request</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The lowest-coupling offer—ATMOS is a full model endpoint, not a GPU weight cache.</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05</a:t>
            </a:r>
          </a:p>
        </p:txBody>
      </p:sp>
      <p:sp>
        <p:nvSpPr>
          <p:cNvPr id="8" name="Rounded Rectangle 7"/>
          <p:cNvSpPr/>
          <p:nvPr/>
        </p:nvSpPr>
        <p:spPr>
          <a:xfrm>
            <a:off x="548640" y="1920240"/>
            <a:ext cx="2148840" cy="1143000"/>
          </a:xfrm>
          <a:prstGeom prst="roundRect">
            <a:avLst/>
          </a:prstGeom>
          <a:solidFill>
            <a:srgbClr val="F7E7E7"/>
          </a:solidFill>
          <a:ln w="19050">
            <a:solidFill>
              <a:srgbClr val="E31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91440" cy="1143000"/>
          </a:xfrm>
          <a:prstGeom prst="rect">
            <a:avLst/>
          </a:prstGeom>
          <a:solidFill>
            <a:srgbClr val="E31837"/>
          </a:solidFill>
          <a:ln w="12700">
            <a:solidFill>
              <a:srgbClr val="E31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66544"/>
            <a:ext cx="180136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Admission / policy</a:t>
            </a:r>
          </a:p>
        </p:txBody>
      </p:sp>
      <p:sp>
        <p:nvSpPr>
          <p:cNvPr id="11" name="TextBox 10"/>
          <p:cNvSpPr txBox="1"/>
          <p:nvPr/>
        </p:nvSpPr>
        <p:spPr>
          <a:xfrm>
            <a:off x="768096" y="2386584"/>
            <a:ext cx="1801368" cy="56692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Choose one complete service by model, context, deadline, tenant and current queue.</a:t>
            </a:r>
          </a:p>
        </p:txBody>
      </p:sp>
      <p:cxnSp>
        <p:nvCxnSpPr>
          <p:cNvPr id="12" name="Connector 11"/>
          <p:cNvCxnSpPr/>
          <p:nvPr/>
        </p:nvCxnSpPr>
        <p:spPr>
          <a:xfrm>
            <a:off x="2697480" y="2487168"/>
            <a:ext cx="530352" cy="0"/>
          </a:xfrm>
          <a:prstGeom prst="line">
            <a:avLst/>
          </a:prstGeom>
          <a:ln w="27940">
            <a:solidFill>
              <a:srgbClr val="E31837"/>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64408" y="1920240"/>
            <a:ext cx="2331720" cy="1143000"/>
          </a:xfrm>
          <a:prstGeom prst="roundRect">
            <a:avLst/>
          </a:prstGeom>
          <a:solidFill>
            <a:srgbClr val="E7F0F7"/>
          </a:solidFill>
          <a:ln w="190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64408" y="1920240"/>
            <a:ext cx="91440" cy="1143000"/>
          </a:xfrm>
          <a:prstGeom prst="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83863" y="2066544"/>
            <a:ext cx="198424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GPU service</a:t>
            </a:r>
          </a:p>
        </p:txBody>
      </p:sp>
      <p:sp>
        <p:nvSpPr>
          <p:cNvPr id="16" name="TextBox 15"/>
          <p:cNvSpPr txBox="1"/>
          <p:nvPr/>
        </p:nvSpPr>
        <p:spPr>
          <a:xfrm>
            <a:off x="3483863" y="2386584"/>
            <a:ext cx="1984248" cy="56692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Existing CUDA model + GPU KV
Interactive or ineligible work</a:t>
            </a:r>
          </a:p>
        </p:txBody>
      </p:sp>
      <p:sp>
        <p:nvSpPr>
          <p:cNvPr id="17" name="TextBox 16"/>
          <p:cNvSpPr txBox="1"/>
          <p:nvPr/>
        </p:nvSpPr>
        <p:spPr>
          <a:xfrm>
            <a:off x="5760720" y="2286000"/>
            <a:ext cx="384048" cy="274320"/>
          </a:xfrm>
          <a:prstGeom prst="rect">
            <a:avLst/>
          </a:prstGeom>
          <a:noFill/>
        </p:spPr>
        <p:txBody>
          <a:bodyPr wrap="square" lIns="27432" rIns="27432" tIns="27432" bIns="27432" anchor="t">
            <a:spAutoFit/>
          </a:bodyPr>
          <a:lstStyle/>
          <a:p>
            <a:pPr algn="ctr">
              <a:spcAft>
                <a:spcPts val="0"/>
              </a:spcAft>
            </a:pPr>
            <a:r>
              <a:rPr sz="1200" b="1">
                <a:solidFill>
                  <a:srgbClr val="64748B"/>
                </a:solidFill>
                <a:latin typeface="Aptos"/>
              </a:rPr>
              <a:t>OR</a:t>
            </a:r>
          </a:p>
        </p:txBody>
      </p:sp>
      <p:sp>
        <p:nvSpPr>
          <p:cNvPr id="18" name="Rounded Rectangle 17"/>
          <p:cNvSpPr/>
          <p:nvPr/>
        </p:nvSpPr>
        <p:spPr>
          <a:xfrm>
            <a:off x="6309360" y="1920240"/>
            <a:ext cx="3246120" cy="1143000"/>
          </a:xfrm>
          <a:prstGeom prst="roundRect">
            <a:avLst/>
          </a:prstGeom>
          <a:solidFill>
            <a:srgbClr val="E4F3F0"/>
          </a:solidFill>
          <a:ln w="1905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920240"/>
            <a:ext cx="91440" cy="1143000"/>
          </a:xfrm>
          <a:prstGeom prst="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8816" y="2066544"/>
            <a:ext cx="289864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ATMOS-native service group</a:t>
            </a:r>
          </a:p>
        </p:txBody>
      </p:sp>
      <p:sp>
        <p:nvSpPr>
          <p:cNvPr id="21" name="TextBox 20"/>
          <p:cNvSpPr txBox="1"/>
          <p:nvPr/>
        </p:nvSpPr>
        <p:spPr>
          <a:xfrm>
            <a:off x="6528816" y="2386584"/>
            <a:ext cx="2898648" cy="56692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Full target model: attention → router → experts → combine → sampling</a:t>
            </a:r>
          </a:p>
        </p:txBody>
      </p:sp>
      <p:cxnSp>
        <p:nvCxnSpPr>
          <p:cNvPr id="22" name="Connector 21"/>
          <p:cNvCxnSpPr/>
          <p:nvPr/>
        </p:nvCxnSpPr>
        <p:spPr>
          <a:xfrm>
            <a:off x="9555480" y="2487168"/>
            <a:ext cx="539496" cy="0"/>
          </a:xfrm>
          <a:prstGeom prst="line">
            <a:avLst/>
          </a:prstGeom>
          <a:ln w="27940">
            <a:solidFill>
              <a:srgbClr val="008C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131552" y="1920240"/>
            <a:ext cx="1481328" cy="1143000"/>
          </a:xfrm>
          <a:prstGeom prst="roundRect">
            <a:avLst/>
          </a:prstGeom>
          <a:solidFill>
            <a:srgbClr val="EAF4EC"/>
          </a:solidFill>
          <a:ln w="1905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131552" y="1920240"/>
            <a:ext cx="91440" cy="1143000"/>
          </a:xfrm>
          <a:prstGeom prst="rect">
            <a:avLst/>
          </a:prstGeom>
          <a:solidFill>
            <a:srgbClr val="4D8B61"/>
          </a:solidFill>
          <a:ln w="1270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51008" y="2066544"/>
            <a:ext cx="1133856"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Response</a:t>
            </a:r>
          </a:p>
        </p:txBody>
      </p:sp>
      <p:sp>
        <p:nvSpPr>
          <p:cNvPr id="26" name="TextBox 25"/>
          <p:cNvSpPr txBox="1"/>
          <p:nvPr/>
        </p:nvSpPr>
        <p:spPr>
          <a:xfrm>
            <a:off x="10351008" y="2386584"/>
            <a:ext cx="1133856" cy="56692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One target-approved output
No GPU state handoff</a:t>
            </a:r>
          </a:p>
        </p:txBody>
      </p:sp>
      <p:sp>
        <p:nvSpPr>
          <p:cNvPr id="27" name="Rounded Rectangle 26"/>
          <p:cNvSpPr/>
          <p:nvPr/>
        </p:nvSpPr>
        <p:spPr>
          <a:xfrm>
            <a:off x="548640" y="3401568"/>
            <a:ext cx="6784848" cy="2441448"/>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584448"/>
            <a:ext cx="2926080" cy="246888"/>
          </a:xfrm>
          <a:prstGeom prst="rect">
            <a:avLst/>
          </a:prstGeom>
          <a:noFill/>
        </p:spPr>
        <p:txBody>
          <a:bodyPr wrap="square" lIns="27432" rIns="27432" tIns="27432" bIns="27432" anchor="t">
            <a:spAutoFit/>
          </a:bodyPr>
          <a:lstStyle/>
          <a:p>
            <a:pPr algn="l">
              <a:spcAft>
                <a:spcPts val="0"/>
              </a:spcAft>
            </a:pPr>
            <a:r>
              <a:rPr sz="1100" b="1">
                <a:solidFill>
                  <a:srgbClr val="008C82"/>
                </a:solidFill>
                <a:latin typeface="Aptos"/>
              </a:rPr>
              <a:t>ATMOS CLUSTER RESPONSIBILITIES</a:t>
            </a:r>
          </a:p>
        </p:txBody>
      </p:sp>
      <p:sp>
        <p:nvSpPr>
          <p:cNvPr id="29" name="TextBox 28"/>
          <p:cNvSpPr txBox="1"/>
          <p:nvPr/>
        </p:nvSpPr>
        <p:spPr>
          <a:xfrm>
            <a:off x="786384" y="3986784"/>
            <a:ext cx="1051560" cy="228600"/>
          </a:xfrm>
          <a:prstGeom prst="rect">
            <a:avLst/>
          </a:prstGeom>
          <a:noFill/>
        </p:spPr>
        <p:txBody>
          <a:bodyPr wrap="square" lIns="27432" rIns="27432" tIns="27432" bIns="27432" anchor="t">
            <a:spAutoFit/>
          </a:bodyPr>
          <a:lstStyle/>
          <a:p>
            <a:pPr algn="l">
              <a:spcAft>
                <a:spcPts val="0"/>
              </a:spcAft>
            </a:pPr>
            <a:r>
              <a:rPr sz="1120" b="1">
                <a:solidFill>
                  <a:srgbClr val="008C82"/>
                </a:solidFill>
                <a:latin typeface="Aptos"/>
              </a:rPr>
              <a:t>HBF</a:t>
            </a:r>
          </a:p>
        </p:txBody>
      </p:sp>
      <p:sp>
        <p:nvSpPr>
          <p:cNvPr id="30" name="TextBox 29"/>
          <p:cNvSpPr txBox="1"/>
          <p:nvPr/>
        </p:nvSpPr>
        <p:spPr>
          <a:xfrm>
            <a:off x="1892807" y="3986784"/>
            <a:ext cx="5029200" cy="265176"/>
          </a:xfrm>
          <a:prstGeom prst="rect">
            <a:avLst/>
          </a:prstGeom>
          <a:noFill/>
        </p:spPr>
        <p:txBody>
          <a:bodyPr wrap="square" lIns="27432" rIns="27432" tIns="27432" bIns="27432" anchor="t">
            <a:spAutoFit/>
          </a:bodyPr>
          <a:lstStyle/>
          <a:p>
            <a:pPr algn="l">
              <a:spcAft>
                <a:spcPts val="0"/>
              </a:spcAft>
            </a:pPr>
            <a:r>
              <a:rPr sz="1120" b="0">
                <a:solidFill>
                  <a:srgbClr val="24384A"/>
                </a:solidFill>
                <a:latin typeface="Aptos"/>
              </a:rPr>
              <a:t>Full target weights; versioned native pack</a:t>
            </a:r>
          </a:p>
        </p:txBody>
      </p:sp>
      <p:sp>
        <p:nvSpPr>
          <p:cNvPr id="31" name="TextBox 30"/>
          <p:cNvSpPr txBox="1"/>
          <p:nvPr/>
        </p:nvSpPr>
        <p:spPr>
          <a:xfrm>
            <a:off x="786384" y="4416552"/>
            <a:ext cx="1051560" cy="228600"/>
          </a:xfrm>
          <a:prstGeom prst="rect">
            <a:avLst/>
          </a:prstGeom>
          <a:noFill/>
        </p:spPr>
        <p:txBody>
          <a:bodyPr wrap="square" lIns="27432" rIns="27432" tIns="27432" bIns="27432" anchor="t">
            <a:spAutoFit/>
          </a:bodyPr>
          <a:lstStyle/>
          <a:p>
            <a:pPr algn="l">
              <a:spcAft>
                <a:spcPts val="0"/>
              </a:spcAft>
            </a:pPr>
            <a:r>
              <a:rPr sz="1120" b="1">
                <a:solidFill>
                  <a:srgbClr val="008C82"/>
                </a:solidFill>
                <a:latin typeface="Aptos"/>
              </a:rPr>
              <a:t>LPDDR / SRAM</a:t>
            </a:r>
          </a:p>
        </p:txBody>
      </p:sp>
      <p:sp>
        <p:nvSpPr>
          <p:cNvPr id="32" name="TextBox 31"/>
          <p:cNvSpPr txBox="1"/>
          <p:nvPr/>
        </p:nvSpPr>
        <p:spPr>
          <a:xfrm>
            <a:off x="1892807" y="4416552"/>
            <a:ext cx="5029200" cy="265176"/>
          </a:xfrm>
          <a:prstGeom prst="rect">
            <a:avLst/>
          </a:prstGeom>
          <a:noFill/>
        </p:spPr>
        <p:txBody>
          <a:bodyPr wrap="square" lIns="27432" rIns="27432" tIns="27432" bIns="27432" anchor="t">
            <a:spAutoFit/>
          </a:bodyPr>
          <a:lstStyle/>
          <a:p>
            <a:pPr algn="l">
              <a:spcAft>
                <a:spcPts val="0"/>
              </a:spcAft>
            </a:pPr>
            <a:r>
              <a:rPr sz="1120" b="0">
                <a:solidFill>
                  <a:srgbClr val="24384A"/>
                </a:solidFill>
                <a:latin typeface="Aptos"/>
              </a:rPr>
              <a:t>Active target KV, scratch and runtime state</a:t>
            </a:r>
          </a:p>
        </p:txBody>
      </p:sp>
      <p:sp>
        <p:nvSpPr>
          <p:cNvPr id="33" name="TextBox 32"/>
          <p:cNvSpPr txBox="1"/>
          <p:nvPr/>
        </p:nvSpPr>
        <p:spPr>
          <a:xfrm>
            <a:off x="786384" y="4846320"/>
            <a:ext cx="1051560" cy="228600"/>
          </a:xfrm>
          <a:prstGeom prst="rect">
            <a:avLst/>
          </a:prstGeom>
          <a:noFill/>
        </p:spPr>
        <p:txBody>
          <a:bodyPr wrap="square" lIns="27432" rIns="27432" tIns="27432" bIns="27432" anchor="t">
            <a:spAutoFit/>
          </a:bodyPr>
          <a:lstStyle/>
          <a:p>
            <a:pPr algn="l">
              <a:spcAft>
                <a:spcPts val="0"/>
              </a:spcAft>
            </a:pPr>
            <a:r>
              <a:rPr sz="1120" b="1">
                <a:solidFill>
                  <a:srgbClr val="008C82"/>
                </a:solidFill>
                <a:latin typeface="Aptos"/>
              </a:rPr>
              <a:t>NPU + fabric</a:t>
            </a:r>
          </a:p>
        </p:txBody>
      </p:sp>
      <p:sp>
        <p:nvSpPr>
          <p:cNvPr id="34" name="TextBox 33"/>
          <p:cNvSpPr txBox="1"/>
          <p:nvPr/>
        </p:nvSpPr>
        <p:spPr>
          <a:xfrm>
            <a:off x="1892807" y="4846320"/>
            <a:ext cx="5029200" cy="265176"/>
          </a:xfrm>
          <a:prstGeom prst="rect">
            <a:avLst/>
          </a:prstGeom>
          <a:noFill/>
        </p:spPr>
        <p:txBody>
          <a:bodyPr wrap="square" lIns="27432" rIns="27432" tIns="27432" bIns="27432" anchor="t">
            <a:spAutoFit/>
          </a:bodyPr>
          <a:lstStyle/>
          <a:p>
            <a:pPr algn="l">
              <a:spcAft>
                <a:spcPts val="0"/>
              </a:spcAft>
            </a:pPr>
            <a:r>
              <a:rPr sz="1120" b="0">
                <a:solidFill>
                  <a:srgbClr val="24384A"/>
                </a:solidFill>
                <a:latin typeface="Aptos"/>
              </a:rPr>
              <a:t>Attention, MoE, collectives, sampling and inter-device execution</a:t>
            </a:r>
          </a:p>
        </p:txBody>
      </p:sp>
      <p:sp>
        <p:nvSpPr>
          <p:cNvPr id="35" name="TextBox 34"/>
          <p:cNvSpPr txBox="1"/>
          <p:nvPr/>
        </p:nvSpPr>
        <p:spPr>
          <a:xfrm>
            <a:off x="786384" y="5276088"/>
            <a:ext cx="1051560" cy="228600"/>
          </a:xfrm>
          <a:prstGeom prst="rect">
            <a:avLst/>
          </a:prstGeom>
          <a:noFill/>
        </p:spPr>
        <p:txBody>
          <a:bodyPr wrap="square" lIns="27432" rIns="27432" tIns="27432" bIns="27432" anchor="t">
            <a:spAutoFit/>
          </a:bodyPr>
          <a:lstStyle/>
          <a:p>
            <a:pPr algn="l">
              <a:spcAft>
                <a:spcPts val="0"/>
              </a:spcAft>
            </a:pPr>
            <a:r>
              <a:rPr sz="1120" b="1">
                <a:solidFill>
                  <a:srgbClr val="008C82"/>
                </a:solidFill>
                <a:latin typeface="Aptos"/>
              </a:rPr>
              <a:t>Service plane</a:t>
            </a:r>
          </a:p>
        </p:txBody>
      </p:sp>
      <p:sp>
        <p:nvSpPr>
          <p:cNvPr id="36" name="TextBox 35"/>
          <p:cNvSpPr txBox="1"/>
          <p:nvPr/>
        </p:nvSpPr>
        <p:spPr>
          <a:xfrm>
            <a:off x="1892807" y="5276088"/>
            <a:ext cx="5029200" cy="265176"/>
          </a:xfrm>
          <a:prstGeom prst="rect">
            <a:avLst/>
          </a:prstGeom>
          <a:noFill/>
        </p:spPr>
        <p:txBody>
          <a:bodyPr wrap="square" lIns="27432" rIns="27432" tIns="27432" bIns="27432" anchor="t">
            <a:spAutoFit/>
          </a:bodyPr>
          <a:lstStyle/>
          <a:p>
            <a:pPr algn="l">
              <a:spcAft>
                <a:spcPts val="0"/>
              </a:spcAft>
            </a:pPr>
            <a:r>
              <a:rPr sz="1120" b="0">
                <a:solidFill>
                  <a:srgbClr val="24384A"/>
                </a:solidFill>
                <a:latin typeface="Aptos"/>
              </a:rPr>
              <a:t>Admission, readiness, isolation, update, rollback and recovery</a:t>
            </a:r>
          </a:p>
        </p:txBody>
      </p:sp>
      <p:sp>
        <p:nvSpPr>
          <p:cNvPr id="37" name="Rounded Rectangle 36"/>
          <p:cNvSpPr/>
          <p:nvPr/>
        </p:nvSpPr>
        <p:spPr>
          <a:xfrm>
            <a:off x="7589520" y="3401568"/>
            <a:ext cx="4023360" cy="2441448"/>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36408" y="3602736"/>
            <a:ext cx="1920240" cy="256032"/>
          </a:xfrm>
          <a:prstGeom prst="rect">
            <a:avLst/>
          </a:prstGeom>
          <a:noFill/>
        </p:spPr>
        <p:txBody>
          <a:bodyPr wrap="square" lIns="27432" rIns="27432" tIns="27432" bIns="27432" anchor="t">
            <a:spAutoFit/>
          </a:bodyPr>
          <a:lstStyle/>
          <a:p>
            <a:pPr algn="l">
              <a:spcAft>
                <a:spcPts val="0"/>
              </a:spcAft>
            </a:pPr>
            <a:r>
              <a:rPr sz="1100" b="1">
                <a:solidFill>
                  <a:srgbClr val="BFD7EA"/>
                </a:solidFill>
                <a:latin typeface="Aptos"/>
              </a:rPr>
              <a:t>TECHNICAL VALUE</a:t>
            </a:r>
          </a:p>
        </p:txBody>
      </p:sp>
      <p:sp>
        <p:nvSpPr>
          <p:cNvPr id="39" name="TextBox 38"/>
          <p:cNvSpPr txBox="1"/>
          <p:nvPr/>
        </p:nvSpPr>
        <p:spPr>
          <a:xfrm>
            <a:off x="7818120" y="4005072"/>
            <a:ext cx="182880" cy="411480"/>
          </a:xfrm>
          <a:prstGeom prst="rect">
            <a:avLst/>
          </a:prstGeom>
          <a:noFill/>
        </p:spPr>
        <p:txBody>
          <a:bodyPr wrap="square" lIns="27432" rIns="27432" tIns="27432" bIns="27432" anchor="t">
            <a:spAutoFit/>
          </a:bodyPr>
          <a:lstStyle/>
          <a:p>
            <a:pPr algn="l">
              <a:spcAft>
                <a:spcPts val="0"/>
              </a:spcAft>
            </a:pPr>
            <a:r>
              <a:rPr sz="1240" b="1">
                <a:solidFill>
                  <a:srgbClr val="008C82"/>
                </a:solidFill>
                <a:latin typeface="Aptos"/>
              </a:rPr>
              <a:t>•</a:t>
            </a:r>
          </a:p>
        </p:txBody>
      </p:sp>
      <p:sp>
        <p:nvSpPr>
          <p:cNvPr id="40" name="TextBox 39"/>
          <p:cNvSpPr txBox="1"/>
          <p:nvPr/>
        </p:nvSpPr>
        <p:spPr>
          <a:xfrm>
            <a:off x="8046720" y="4005072"/>
            <a:ext cx="3246120" cy="411480"/>
          </a:xfrm>
          <a:prstGeom prst="rect">
            <a:avLst/>
          </a:prstGeom>
          <a:noFill/>
        </p:spPr>
        <p:txBody>
          <a:bodyPr wrap="square" lIns="27432" rIns="27432" tIns="27432" bIns="27432" anchor="t">
            <a:spAutoFit/>
          </a:bodyPr>
          <a:lstStyle/>
          <a:p>
            <a:pPr algn="l">
              <a:spcAft>
                <a:spcPts val="0"/>
              </a:spcAft>
            </a:pPr>
            <a:r>
              <a:rPr sz="1140" b="0">
                <a:solidFill>
                  <a:srgbClr val="24384A"/>
                </a:solidFill>
                <a:latin typeface="Aptos"/>
              </a:rPr>
              <a:t>No KV, hidden-state or per-layer return to NVIDIA</a:t>
            </a:r>
          </a:p>
        </p:txBody>
      </p:sp>
      <p:sp>
        <p:nvSpPr>
          <p:cNvPr id="41" name="TextBox 40"/>
          <p:cNvSpPr txBox="1"/>
          <p:nvPr/>
        </p:nvSpPr>
        <p:spPr>
          <a:xfrm>
            <a:off x="7818120" y="4416552"/>
            <a:ext cx="182880" cy="411480"/>
          </a:xfrm>
          <a:prstGeom prst="rect">
            <a:avLst/>
          </a:prstGeom>
          <a:noFill/>
        </p:spPr>
        <p:txBody>
          <a:bodyPr wrap="square" lIns="27432" rIns="27432" tIns="27432" bIns="27432" anchor="t">
            <a:spAutoFit/>
          </a:bodyPr>
          <a:lstStyle/>
          <a:p>
            <a:pPr algn="l">
              <a:spcAft>
                <a:spcPts val="0"/>
              </a:spcAft>
            </a:pPr>
            <a:r>
              <a:rPr sz="1240" b="1">
                <a:solidFill>
                  <a:srgbClr val="008C82"/>
                </a:solidFill>
                <a:latin typeface="Aptos"/>
              </a:rPr>
              <a:t>•</a:t>
            </a:r>
          </a:p>
        </p:txBody>
      </p:sp>
      <p:sp>
        <p:nvSpPr>
          <p:cNvPr id="42" name="TextBox 41"/>
          <p:cNvSpPr txBox="1"/>
          <p:nvPr/>
        </p:nvSpPr>
        <p:spPr>
          <a:xfrm>
            <a:off x="8046720" y="4416552"/>
            <a:ext cx="3246120" cy="411480"/>
          </a:xfrm>
          <a:prstGeom prst="rect">
            <a:avLst/>
          </a:prstGeom>
          <a:noFill/>
        </p:spPr>
        <p:txBody>
          <a:bodyPr wrap="square" lIns="27432" rIns="27432" tIns="27432" bIns="27432" anchor="t">
            <a:spAutoFit/>
          </a:bodyPr>
          <a:lstStyle/>
          <a:p>
            <a:pPr algn="l">
              <a:spcAft>
                <a:spcPts val="0"/>
              </a:spcAft>
            </a:pPr>
            <a:r>
              <a:rPr sz="1140" b="0">
                <a:solidFill>
                  <a:srgbClr val="24384A"/>
                </a:solidFill>
                <a:latin typeface="Aptos"/>
              </a:rPr>
              <a:t>Existing Hopper / Blackwell service can remain unchanged</a:t>
            </a:r>
          </a:p>
        </p:txBody>
      </p:sp>
      <p:sp>
        <p:nvSpPr>
          <p:cNvPr id="43" name="TextBox 42"/>
          <p:cNvSpPr txBox="1"/>
          <p:nvPr/>
        </p:nvSpPr>
        <p:spPr>
          <a:xfrm>
            <a:off x="7818120" y="4828032"/>
            <a:ext cx="182880" cy="411480"/>
          </a:xfrm>
          <a:prstGeom prst="rect">
            <a:avLst/>
          </a:prstGeom>
          <a:noFill/>
        </p:spPr>
        <p:txBody>
          <a:bodyPr wrap="square" lIns="27432" rIns="27432" tIns="27432" bIns="27432" anchor="t">
            <a:spAutoFit/>
          </a:bodyPr>
          <a:lstStyle/>
          <a:p>
            <a:pPr algn="l">
              <a:spcAft>
                <a:spcPts val="0"/>
              </a:spcAft>
            </a:pPr>
            <a:r>
              <a:rPr sz="1240" b="1">
                <a:solidFill>
                  <a:srgbClr val="008C82"/>
                </a:solidFill>
                <a:latin typeface="Aptos"/>
              </a:rPr>
              <a:t>•</a:t>
            </a:r>
          </a:p>
        </p:txBody>
      </p:sp>
      <p:sp>
        <p:nvSpPr>
          <p:cNvPr id="44" name="TextBox 43"/>
          <p:cNvSpPr txBox="1"/>
          <p:nvPr/>
        </p:nvSpPr>
        <p:spPr>
          <a:xfrm>
            <a:off x="8046720" y="4828032"/>
            <a:ext cx="3246120" cy="411480"/>
          </a:xfrm>
          <a:prstGeom prst="rect">
            <a:avLst/>
          </a:prstGeom>
          <a:noFill/>
        </p:spPr>
        <p:txBody>
          <a:bodyPr wrap="square" lIns="27432" rIns="27432" tIns="27432" bIns="27432" anchor="t">
            <a:spAutoFit/>
          </a:bodyPr>
          <a:lstStyle/>
          <a:p>
            <a:pPr algn="l">
              <a:spcAft>
                <a:spcPts val="0"/>
              </a:spcAft>
            </a:pPr>
            <a:r>
              <a:rPr sz="1140" b="0">
                <a:solidFill>
                  <a:srgbClr val="24384A"/>
                </a:solidFill>
                <a:latin typeface="Aptos"/>
              </a:rPr>
              <a:t>Independent queue, failure and scaling boundary</a:t>
            </a:r>
          </a:p>
        </p:txBody>
      </p:sp>
      <p:sp>
        <p:nvSpPr>
          <p:cNvPr id="45" name="TextBox 44"/>
          <p:cNvSpPr txBox="1"/>
          <p:nvPr/>
        </p:nvSpPr>
        <p:spPr>
          <a:xfrm>
            <a:off x="7836408" y="5422392"/>
            <a:ext cx="502920" cy="201168"/>
          </a:xfrm>
          <a:prstGeom prst="rect">
            <a:avLst/>
          </a:prstGeom>
          <a:noFill/>
        </p:spPr>
        <p:txBody>
          <a:bodyPr wrap="square" lIns="27432" rIns="27432" tIns="27432" bIns="27432" anchor="t">
            <a:spAutoFit/>
          </a:bodyPr>
          <a:lstStyle/>
          <a:p>
            <a:pPr algn="l">
              <a:spcAft>
                <a:spcPts val="0"/>
              </a:spcAft>
            </a:pPr>
            <a:r>
              <a:rPr sz="950" b="1">
                <a:solidFill>
                  <a:srgbClr val="BFD7EA"/>
                </a:solidFill>
                <a:latin typeface="Aptos"/>
              </a:rPr>
              <a:t>GATE</a:t>
            </a:r>
          </a:p>
        </p:txBody>
      </p:sp>
      <p:sp>
        <p:nvSpPr>
          <p:cNvPr id="46" name="TextBox 45"/>
          <p:cNvSpPr txBox="1"/>
          <p:nvPr/>
        </p:nvSpPr>
        <p:spPr>
          <a:xfrm>
            <a:off x="8394192" y="5376672"/>
            <a:ext cx="2907792" cy="347472"/>
          </a:xfrm>
          <a:prstGeom prst="rect">
            <a:avLst/>
          </a:prstGeom>
          <a:noFill/>
        </p:spPr>
        <p:txBody>
          <a:bodyPr wrap="square" lIns="27432" rIns="27432" tIns="27432" bIns="27432" anchor="t">
            <a:spAutoFit/>
          </a:bodyPr>
          <a:lstStyle/>
          <a:p>
            <a:pPr algn="l">
              <a:spcAft>
                <a:spcPts val="0"/>
              </a:spcAft>
            </a:pPr>
            <a:r>
              <a:rPr sz="1080" b="1">
                <a:solidFill>
                  <a:srgbClr val="FFFFFF"/>
                </a:solidFill>
                <a:latin typeface="Aptos"/>
              </a:rPr>
              <a:t>Full-model quality + jobs/hour + p95 completion + recovery</a:t>
            </a:r>
          </a:p>
        </p:txBody>
      </p:sp>
      <p:cxnSp>
        <p:nvCxnSpPr>
          <p:cNvPr id="47" name="Connector 46"/>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49" name="TextBox 48"/>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A is the recommended lead offer</a:t>
            </a:r>
          </a:p>
        </p:txBody>
      </p:sp>
      <p:sp>
        <p:nvSpPr>
          <p:cNvPr id="50" name="TextBox 49"/>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OFFERING B</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GPU prefill → ATMOS decode: one target-KV handoff</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Use NVIDIA for prompt parallelism; move the serial token-generation phase only after exact cache compatibility is proven.</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06</a:t>
            </a:r>
          </a:p>
        </p:txBody>
      </p:sp>
      <p:sp>
        <p:nvSpPr>
          <p:cNvPr id="8" name="Rounded Rectangle 7"/>
          <p:cNvSpPr/>
          <p:nvPr/>
        </p:nvSpPr>
        <p:spPr>
          <a:xfrm>
            <a:off x="548640" y="1993392"/>
            <a:ext cx="2926080" cy="1508760"/>
          </a:xfrm>
          <a:prstGeom prst="roundRect">
            <a:avLst/>
          </a:prstGeom>
          <a:solidFill>
            <a:srgbClr val="E7F0F7"/>
          </a:solidFill>
          <a:ln w="190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93392"/>
            <a:ext cx="91440" cy="1508760"/>
          </a:xfrm>
          <a:prstGeom prst="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139696"/>
            <a:ext cx="257860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NVIDIA prefill pool</a:t>
            </a:r>
          </a:p>
        </p:txBody>
      </p:sp>
      <p:sp>
        <p:nvSpPr>
          <p:cNvPr id="11" name="TextBox 10"/>
          <p:cNvSpPr txBox="1"/>
          <p:nvPr/>
        </p:nvSpPr>
        <p:spPr>
          <a:xfrm>
            <a:off x="768096" y="2459736"/>
            <a:ext cx="2578608" cy="93268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Complete target model weights
Attention + experts on GPU
Creates target-model KV</a:t>
            </a:r>
          </a:p>
        </p:txBody>
      </p:sp>
      <p:cxnSp>
        <p:nvCxnSpPr>
          <p:cNvPr id="12" name="Connector 11"/>
          <p:cNvCxnSpPr/>
          <p:nvPr/>
        </p:nvCxnSpPr>
        <p:spPr>
          <a:xfrm>
            <a:off x="3474720" y="2743200"/>
            <a:ext cx="1216152" cy="0"/>
          </a:xfrm>
          <a:prstGeom prst="line">
            <a:avLst/>
          </a:prstGeom>
          <a:ln w="31750">
            <a:solidFill>
              <a:srgbClr val="008C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30752" y="2029968"/>
            <a:ext cx="713232" cy="274320"/>
          </a:xfrm>
          <a:prstGeom prst="round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58184" y="2057400"/>
            <a:ext cx="658368" cy="210312"/>
          </a:xfrm>
          <a:prstGeom prst="rect">
            <a:avLst/>
          </a:prstGeom>
          <a:noFill/>
        </p:spPr>
        <p:txBody>
          <a:bodyPr wrap="square" lIns="27432" rIns="27432" tIns="27432" bIns="27432" anchor="t">
            <a:spAutoFit/>
          </a:bodyPr>
          <a:lstStyle/>
          <a:p>
            <a:pPr algn="ctr">
              <a:spcAft>
                <a:spcPts val="0"/>
              </a:spcAft>
            </a:pPr>
            <a:r>
              <a:rPr sz="919" b="1">
                <a:solidFill>
                  <a:srgbClr val="FFFFFF"/>
                </a:solidFill>
                <a:latin typeface="Aptos"/>
              </a:rPr>
              <a:t>ONCE</a:t>
            </a:r>
          </a:p>
        </p:txBody>
      </p:sp>
      <p:sp>
        <p:nvSpPr>
          <p:cNvPr id="15" name="TextBox 14"/>
          <p:cNvSpPr txBox="1"/>
          <p:nvPr/>
        </p:nvSpPr>
        <p:spPr>
          <a:xfrm>
            <a:off x="3584448" y="2962656"/>
            <a:ext cx="1078992" cy="932688"/>
          </a:xfrm>
          <a:prstGeom prst="rect">
            <a:avLst/>
          </a:prstGeom>
          <a:noFill/>
        </p:spPr>
        <p:txBody>
          <a:bodyPr wrap="square" lIns="27432" rIns="27432" tIns="27432" bIns="27432" anchor="t">
            <a:spAutoFit/>
          </a:bodyPr>
          <a:lstStyle/>
          <a:p>
            <a:pPr algn="ctr">
              <a:spcAft>
                <a:spcPts val="0"/>
              </a:spcAft>
            </a:pPr>
            <a:r>
              <a:rPr sz="930" b="0">
                <a:solidFill>
                  <a:srgbClr val="64748B"/>
                </a:solidFill>
                <a:latin typeface="Aptos"/>
              </a:rPr>
              <a:t>Target KV blocks + model/hash + positions +
head/shard layout + dtype/scales + fences + continuation</a:t>
            </a:r>
          </a:p>
        </p:txBody>
      </p:sp>
      <p:sp>
        <p:nvSpPr>
          <p:cNvPr id="16" name="Rounded Rectangle 15"/>
          <p:cNvSpPr/>
          <p:nvPr/>
        </p:nvSpPr>
        <p:spPr>
          <a:xfrm>
            <a:off x="4736592" y="1993392"/>
            <a:ext cx="3063240" cy="1508760"/>
          </a:xfrm>
          <a:prstGeom prst="roundRect">
            <a:avLst/>
          </a:prstGeom>
          <a:solidFill>
            <a:srgbClr val="E4F3F0"/>
          </a:solidFill>
          <a:ln w="1905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36592" y="1993392"/>
            <a:ext cx="91440" cy="1508760"/>
          </a:xfrm>
          <a:prstGeom prst="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56048" y="2139696"/>
            <a:ext cx="271576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ATMOS decode group</a:t>
            </a:r>
          </a:p>
        </p:txBody>
      </p:sp>
      <p:sp>
        <p:nvSpPr>
          <p:cNvPr id="19" name="TextBox 18"/>
          <p:cNvSpPr txBox="1"/>
          <p:nvPr/>
        </p:nvSpPr>
        <p:spPr>
          <a:xfrm>
            <a:off x="4956048" y="2459736"/>
            <a:ext cx="2715768" cy="93268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Same target weights in HBF
Imported target KV
Attention + experts + next-token loop</a:t>
            </a:r>
          </a:p>
        </p:txBody>
      </p:sp>
      <p:cxnSp>
        <p:nvCxnSpPr>
          <p:cNvPr id="20" name="Connector 19"/>
          <p:cNvCxnSpPr/>
          <p:nvPr/>
        </p:nvCxnSpPr>
        <p:spPr>
          <a:xfrm>
            <a:off x="7799831" y="2743200"/>
            <a:ext cx="612649" cy="0"/>
          </a:xfrm>
          <a:prstGeom prst="line">
            <a:avLst/>
          </a:prstGeom>
          <a:ln w="31750">
            <a:solidFill>
              <a:srgbClr val="4D8B61"/>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58200" y="1993392"/>
            <a:ext cx="3145536" cy="1508760"/>
          </a:xfrm>
          <a:prstGeom prst="roundRect">
            <a:avLst/>
          </a:prstGeom>
          <a:solidFill>
            <a:srgbClr val="EAF4EC"/>
          </a:solidFill>
          <a:ln w="1905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58200" y="1993392"/>
            <a:ext cx="91440" cy="1508760"/>
          </a:xfrm>
          <a:prstGeom prst="rect">
            <a:avLst/>
          </a:prstGeom>
          <a:solidFill>
            <a:srgbClr val="4D8B61"/>
          </a:solidFill>
          <a:ln w="1270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77656" y="2139696"/>
            <a:ext cx="2798064"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Streaming response</a:t>
            </a:r>
          </a:p>
        </p:txBody>
      </p:sp>
      <p:sp>
        <p:nvSpPr>
          <p:cNvPr id="24" name="TextBox 23"/>
          <p:cNvSpPr txBox="1"/>
          <p:nvPr/>
        </p:nvSpPr>
        <p:spPr>
          <a:xfrm>
            <a:off x="8677656" y="2459736"/>
            <a:ext cx="2798064" cy="932688"/>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ATMOS owns decode until completion or declared fallback</a:t>
            </a:r>
          </a:p>
        </p:txBody>
      </p:sp>
      <p:sp>
        <p:nvSpPr>
          <p:cNvPr id="25" name="Rounded Rectangle 24"/>
          <p:cNvSpPr/>
          <p:nvPr/>
        </p:nvSpPr>
        <p:spPr>
          <a:xfrm>
            <a:off x="548640" y="3867912"/>
            <a:ext cx="2103120"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 y="3959352"/>
            <a:ext cx="1847087" cy="347472"/>
          </a:xfrm>
          <a:prstGeom prst="rect">
            <a:avLst/>
          </a:prstGeom>
          <a:noFill/>
        </p:spPr>
        <p:txBody>
          <a:bodyPr wrap="square" lIns="27432" rIns="27432" tIns="27432" bIns="27432" anchor="t">
            <a:spAutoFit/>
          </a:bodyPr>
          <a:lstStyle/>
          <a:p>
            <a:pPr algn="l">
              <a:spcAft>
                <a:spcPts val="0"/>
              </a:spcAft>
            </a:pPr>
            <a:r>
              <a:rPr sz="2200" b="1">
                <a:solidFill>
                  <a:srgbClr val="2E6F9E"/>
                </a:solidFill>
                <a:latin typeface="Aptos Display"/>
              </a:rPr>
              <a:t>0.734 GiB</a:t>
            </a:r>
          </a:p>
        </p:txBody>
      </p:sp>
      <p:sp>
        <p:nvSpPr>
          <p:cNvPr id="27" name="TextBox 26"/>
          <p:cNvSpPr txBox="1"/>
          <p:nvPr/>
        </p:nvSpPr>
        <p:spPr>
          <a:xfrm>
            <a:off x="676656" y="4343400"/>
            <a:ext cx="1847087"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logical BF16 KV / 4K prompt</a:t>
            </a:r>
          </a:p>
        </p:txBody>
      </p:sp>
      <p:sp>
        <p:nvSpPr>
          <p:cNvPr id="28" name="Rounded Rectangle 27"/>
          <p:cNvSpPr/>
          <p:nvPr/>
        </p:nvSpPr>
        <p:spPr>
          <a:xfrm>
            <a:off x="2852928" y="3867912"/>
            <a:ext cx="2103120"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80944" y="3959352"/>
            <a:ext cx="1847087" cy="347472"/>
          </a:xfrm>
          <a:prstGeom prst="rect">
            <a:avLst/>
          </a:prstGeom>
          <a:noFill/>
        </p:spPr>
        <p:txBody>
          <a:bodyPr wrap="square" lIns="27432" rIns="27432" tIns="27432" bIns="27432" anchor="t">
            <a:spAutoFit/>
          </a:bodyPr>
          <a:lstStyle/>
          <a:p>
            <a:pPr algn="l">
              <a:spcAft>
                <a:spcPts val="0"/>
              </a:spcAft>
            </a:pPr>
            <a:r>
              <a:rPr sz="2200" b="1">
                <a:solidFill>
                  <a:srgbClr val="008C82"/>
                </a:solidFill>
                <a:latin typeface="Aptos Display"/>
              </a:rPr>
              <a:t>1.47 GiB/s</a:t>
            </a:r>
          </a:p>
        </p:txBody>
      </p:sp>
      <p:sp>
        <p:nvSpPr>
          <p:cNvPr id="30" name="TextBox 29"/>
          <p:cNvSpPr txBox="1"/>
          <p:nvPr/>
        </p:nvSpPr>
        <p:spPr>
          <a:xfrm>
            <a:off x="2980944" y="4343400"/>
            <a:ext cx="1847087"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logical handoff at 2 RPS</a:t>
            </a:r>
          </a:p>
        </p:txBody>
      </p:sp>
      <p:sp>
        <p:nvSpPr>
          <p:cNvPr id="31" name="Rounded Rectangle 30"/>
          <p:cNvSpPr/>
          <p:nvPr/>
        </p:nvSpPr>
        <p:spPr>
          <a:xfrm>
            <a:off x="5157216" y="3867912"/>
            <a:ext cx="2103120" cy="868680"/>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85231" y="3959352"/>
            <a:ext cx="1847087" cy="347472"/>
          </a:xfrm>
          <a:prstGeom prst="rect">
            <a:avLst/>
          </a:prstGeom>
          <a:noFill/>
        </p:spPr>
        <p:txBody>
          <a:bodyPr wrap="square" lIns="27432" rIns="27432" tIns="27432" bIns="27432" anchor="t">
            <a:spAutoFit/>
          </a:bodyPr>
          <a:lstStyle/>
          <a:p>
            <a:pPr algn="l">
              <a:spcAft>
                <a:spcPts val="0"/>
              </a:spcAft>
            </a:pPr>
            <a:r>
              <a:rPr sz="2200" b="1">
                <a:solidFill>
                  <a:srgbClr val="D9823B"/>
                </a:solidFill>
                <a:latin typeface="Aptos Display"/>
              </a:rPr>
              <a:t>2× weights</a:t>
            </a:r>
          </a:p>
        </p:txBody>
      </p:sp>
      <p:sp>
        <p:nvSpPr>
          <p:cNvPr id="33" name="TextBox 32"/>
          <p:cNvSpPr txBox="1"/>
          <p:nvPr/>
        </p:nvSpPr>
        <p:spPr>
          <a:xfrm>
            <a:off x="5285231" y="4343400"/>
            <a:ext cx="1847087" cy="256032"/>
          </a:xfrm>
          <a:prstGeom prst="rect">
            <a:avLst/>
          </a:prstGeom>
          <a:noFill/>
        </p:spPr>
        <p:txBody>
          <a:bodyPr wrap="square" lIns="27432" rIns="27432" tIns="27432" bIns="27432" anchor="t">
            <a:spAutoFit/>
          </a:bodyPr>
          <a:lstStyle/>
          <a:p>
            <a:pPr algn="l">
              <a:spcAft>
                <a:spcPts val="0"/>
              </a:spcAft>
            </a:pPr>
            <a:r>
              <a:rPr sz="1050" b="1">
                <a:solidFill>
                  <a:srgbClr val="64748B"/>
                </a:solidFill>
                <a:latin typeface="Aptos"/>
              </a:rPr>
              <a:t>target weights live in both pools</a:t>
            </a:r>
          </a:p>
        </p:txBody>
      </p:sp>
      <p:sp>
        <p:nvSpPr>
          <p:cNvPr id="34" name="Rounded Rectangle 33"/>
          <p:cNvSpPr/>
          <p:nvPr/>
        </p:nvSpPr>
        <p:spPr>
          <a:xfrm>
            <a:off x="7635240" y="3867912"/>
            <a:ext cx="3968496" cy="1874519"/>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72983" y="4069080"/>
            <a:ext cx="1325880" cy="228600"/>
          </a:xfrm>
          <a:prstGeom prst="rect">
            <a:avLst/>
          </a:prstGeom>
          <a:noFill/>
        </p:spPr>
        <p:txBody>
          <a:bodyPr wrap="square" lIns="27432" rIns="27432" tIns="27432" bIns="27432" anchor="t">
            <a:spAutoFit/>
          </a:bodyPr>
          <a:lstStyle/>
          <a:p>
            <a:pPr algn="l">
              <a:spcAft>
                <a:spcPts val="0"/>
              </a:spcAft>
            </a:pPr>
            <a:r>
              <a:rPr sz="1050" b="1">
                <a:solidFill>
                  <a:srgbClr val="BFD7EA"/>
                </a:solidFill>
                <a:latin typeface="Aptos"/>
              </a:rPr>
              <a:t>PASS ONLY IF</a:t>
            </a:r>
          </a:p>
        </p:txBody>
      </p:sp>
      <p:sp>
        <p:nvSpPr>
          <p:cNvPr id="36" name="TextBox 35"/>
          <p:cNvSpPr txBox="1"/>
          <p:nvPr/>
        </p:nvSpPr>
        <p:spPr>
          <a:xfrm>
            <a:off x="7845552" y="4407408"/>
            <a:ext cx="182880" cy="292608"/>
          </a:xfrm>
          <a:prstGeom prst="rect">
            <a:avLst/>
          </a:prstGeom>
          <a:noFill/>
        </p:spPr>
        <p:txBody>
          <a:bodyPr wrap="square" lIns="27432" rIns="27432" tIns="27432" bIns="27432" anchor="t">
            <a:spAutoFit/>
          </a:bodyPr>
          <a:lstStyle/>
          <a:p>
            <a:pPr algn="l">
              <a:spcAft>
                <a:spcPts val="0"/>
              </a:spcAft>
            </a:pPr>
            <a:r>
              <a:rPr sz="1180" b="1">
                <a:solidFill>
                  <a:srgbClr val="008C82"/>
                </a:solidFill>
                <a:latin typeface="Aptos"/>
              </a:rPr>
              <a:t>•</a:t>
            </a:r>
          </a:p>
        </p:txBody>
      </p:sp>
      <p:sp>
        <p:nvSpPr>
          <p:cNvPr id="37" name="TextBox 36"/>
          <p:cNvSpPr txBox="1"/>
          <p:nvPr/>
        </p:nvSpPr>
        <p:spPr>
          <a:xfrm>
            <a:off x="8074152" y="4407408"/>
            <a:ext cx="3172968" cy="292608"/>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KV conversion/import is numerically exact</a:t>
            </a:r>
          </a:p>
        </p:txBody>
      </p:sp>
      <p:sp>
        <p:nvSpPr>
          <p:cNvPr id="38" name="TextBox 37"/>
          <p:cNvSpPr txBox="1"/>
          <p:nvPr/>
        </p:nvSpPr>
        <p:spPr>
          <a:xfrm>
            <a:off x="7845552" y="4700016"/>
            <a:ext cx="182880" cy="292608"/>
          </a:xfrm>
          <a:prstGeom prst="rect">
            <a:avLst/>
          </a:prstGeom>
          <a:noFill/>
        </p:spPr>
        <p:txBody>
          <a:bodyPr wrap="square" lIns="27432" rIns="27432" tIns="27432" bIns="27432" anchor="t">
            <a:spAutoFit/>
          </a:bodyPr>
          <a:lstStyle/>
          <a:p>
            <a:pPr algn="l">
              <a:spcAft>
                <a:spcPts val="0"/>
              </a:spcAft>
            </a:pPr>
            <a:r>
              <a:rPr sz="1180" b="1">
                <a:solidFill>
                  <a:srgbClr val="008C82"/>
                </a:solidFill>
                <a:latin typeface="Aptos"/>
              </a:rPr>
              <a:t>•</a:t>
            </a:r>
          </a:p>
        </p:txBody>
      </p:sp>
      <p:sp>
        <p:nvSpPr>
          <p:cNvPr id="39" name="TextBox 38"/>
          <p:cNvSpPr txBox="1"/>
          <p:nvPr/>
        </p:nvSpPr>
        <p:spPr>
          <a:xfrm>
            <a:off x="8074152" y="4700016"/>
            <a:ext cx="3172968" cy="292608"/>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Combined TTFT + TPOT improves the service</a:t>
            </a:r>
          </a:p>
        </p:txBody>
      </p:sp>
      <p:sp>
        <p:nvSpPr>
          <p:cNvPr id="40" name="TextBox 39"/>
          <p:cNvSpPr txBox="1"/>
          <p:nvPr/>
        </p:nvSpPr>
        <p:spPr>
          <a:xfrm>
            <a:off x="7845552" y="4992624"/>
            <a:ext cx="182880" cy="292608"/>
          </a:xfrm>
          <a:prstGeom prst="rect">
            <a:avLst/>
          </a:prstGeom>
          <a:noFill/>
        </p:spPr>
        <p:txBody>
          <a:bodyPr wrap="square" lIns="27432" rIns="27432" tIns="27432" bIns="27432" anchor="t">
            <a:spAutoFit/>
          </a:bodyPr>
          <a:lstStyle/>
          <a:p>
            <a:pPr algn="l">
              <a:spcAft>
                <a:spcPts val="0"/>
              </a:spcAft>
            </a:pPr>
            <a:r>
              <a:rPr sz="1180" b="1">
                <a:solidFill>
                  <a:srgbClr val="008C82"/>
                </a:solidFill>
                <a:latin typeface="Aptos"/>
              </a:rPr>
              <a:t>•</a:t>
            </a:r>
          </a:p>
        </p:txBody>
      </p:sp>
      <p:sp>
        <p:nvSpPr>
          <p:cNvPr id="41" name="TextBox 40"/>
          <p:cNvSpPr txBox="1"/>
          <p:nvPr/>
        </p:nvSpPr>
        <p:spPr>
          <a:xfrm>
            <a:off x="8074152" y="4992624"/>
            <a:ext cx="3172968" cy="292608"/>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Paired admission prevents decode backlog</a:t>
            </a:r>
          </a:p>
        </p:txBody>
      </p:sp>
      <p:sp>
        <p:nvSpPr>
          <p:cNvPr id="42" name="TextBox 41"/>
          <p:cNvSpPr txBox="1"/>
          <p:nvPr/>
        </p:nvSpPr>
        <p:spPr>
          <a:xfrm>
            <a:off x="7845552" y="5285232"/>
            <a:ext cx="182880" cy="292608"/>
          </a:xfrm>
          <a:prstGeom prst="rect">
            <a:avLst/>
          </a:prstGeom>
          <a:noFill/>
        </p:spPr>
        <p:txBody>
          <a:bodyPr wrap="square" lIns="27432" rIns="27432" tIns="27432" bIns="27432" anchor="t">
            <a:spAutoFit/>
          </a:bodyPr>
          <a:lstStyle/>
          <a:p>
            <a:pPr algn="l">
              <a:spcAft>
                <a:spcPts val="0"/>
              </a:spcAft>
            </a:pPr>
            <a:r>
              <a:rPr sz="1180" b="1">
                <a:solidFill>
                  <a:srgbClr val="008C82"/>
                </a:solidFill>
                <a:latin typeface="Aptos"/>
              </a:rPr>
              <a:t>•</a:t>
            </a:r>
          </a:p>
        </p:txBody>
      </p:sp>
      <p:sp>
        <p:nvSpPr>
          <p:cNvPr id="43" name="TextBox 42"/>
          <p:cNvSpPr txBox="1"/>
          <p:nvPr/>
        </p:nvSpPr>
        <p:spPr>
          <a:xfrm>
            <a:off x="8074152" y="5285232"/>
            <a:ext cx="3172968" cy="292608"/>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Reset/stale ownership is safe</a:t>
            </a:r>
          </a:p>
        </p:txBody>
      </p:sp>
      <p:sp>
        <p:nvSpPr>
          <p:cNvPr id="44" name="Rounded Rectangle 43"/>
          <p:cNvSpPr/>
          <p:nvPr/>
        </p:nvSpPr>
        <p:spPr>
          <a:xfrm>
            <a:off x="548640" y="5001768"/>
            <a:ext cx="6711696" cy="740664"/>
          </a:xfrm>
          <a:prstGeom prst="roundRect">
            <a:avLst/>
          </a:prstGeom>
          <a:solidFill>
            <a:srgbClr val="FBEDE1"/>
          </a:solidFill>
          <a:ln w="12700">
            <a:solidFill>
              <a:srgbClr val="E7C7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9808" y="5175504"/>
            <a:ext cx="6309360" cy="374904"/>
          </a:xfrm>
          <a:prstGeom prst="rect">
            <a:avLst/>
          </a:prstGeom>
          <a:noFill/>
        </p:spPr>
        <p:txBody>
          <a:bodyPr wrap="square" lIns="27432" rIns="27432" tIns="27432" bIns="27432" anchor="t">
            <a:spAutoFit/>
          </a:bodyPr>
          <a:lstStyle/>
          <a:p>
            <a:pPr algn="l">
              <a:spcAft>
                <a:spcPts val="0"/>
              </a:spcAft>
            </a:pPr>
            <a:r>
              <a:rPr sz="1120" b="1">
                <a:solidFill>
                  <a:srgbClr val="D9823B"/>
                </a:solidFill>
                <a:latin typeface="Aptos"/>
              </a:rPr>
              <a:t>Important  </a:t>
            </a:r>
            <a:r>
              <a:rPr sz="1120" b="0">
                <a:solidFill>
                  <a:srgbClr val="24384A"/>
                </a:solidFill>
                <a:latin typeface="Aptos"/>
              </a:rPr>
              <a:t>Disaggregated prefill separates TTFT and ITL tuning; it does not inherently improve throughput. B earns value only from the measured combined service.</a:t>
            </a:r>
          </a:p>
        </p:txBody>
      </p:sp>
      <p:cxnSp>
        <p:nvCxnSpPr>
          <p:cNvPr id="46" name="Connector 45"/>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48" name="TextBox 47"/>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B duplicates target weights and exposes a real state-transfer contract</a:t>
            </a:r>
          </a:p>
        </p:txBody>
      </p:sp>
      <p:sp>
        <p:nvSpPr>
          <p:cNvPr id="49" name="TextBox 48"/>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OFFERING C</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Speculative node: GPU drafts; ATMOS target verifies</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A distinct algorithmic offer with separate model state and a measurable acceptance break-even.</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07</a:t>
            </a:r>
          </a:p>
        </p:txBody>
      </p:sp>
      <p:sp>
        <p:nvSpPr>
          <p:cNvPr id="8" name="Rounded Rectangle 7"/>
          <p:cNvSpPr/>
          <p:nvPr/>
        </p:nvSpPr>
        <p:spPr>
          <a:xfrm>
            <a:off x="548640" y="1947672"/>
            <a:ext cx="2880360" cy="1389888"/>
          </a:xfrm>
          <a:prstGeom prst="roundRect">
            <a:avLst/>
          </a:prstGeom>
          <a:solidFill>
            <a:srgbClr val="E7F0F7"/>
          </a:solidFill>
          <a:ln w="190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47672"/>
            <a:ext cx="91440" cy="1389888"/>
          </a:xfrm>
          <a:prstGeom prst="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93976"/>
            <a:ext cx="253288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Small draft model / GPU</a:t>
            </a:r>
          </a:p>
        </p:txBody>
      </p:sp>
      <p:sp>
        <p:nvSpPr>
          <p:cNvPr id="11" name="TextBox 10"/>
          <p:cNvSpPr txBox="1"/>
          <p:nvPr/>
        </p:nvSpPr>
        <p:spPr>
          <a:xfrm>
            <a:off x="768096" y="2414015"/>
            <a:ext cx="2532888" cy="813816"/>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Fast candidate generation
Draft weights + draft KV
Proposes k tokens</a:t>
            </a:r>
          </a:p>
        </p:txBody>
      </p:sp>
      <p:cxnSp>
        <p:nvCxnSpPr>
          <p:cNvPr id="12" name="Connector 11"/>
          <p:cNvCxnSpPr/>
          <p:nvPr/>
        </p:nvCxnSpPr>
        <p:spPr>
          <a:xfrm>
            <a:off x="3429000" y="2642616"/>
            <a:ext cx="1170432" cy="0"/>
          </a:xfrm>
          <a:prstGeom prst="line">
            <a:avLst/>
          </a:prstGeom>
          <a:ln w="30480">
            <a:solidFill>
              <a:srgbClr val="D9823B"/>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456432" y="2843784"/>
            <a:ext cx="1097280" cy="566928"/>
          </a:xfrm>
          <a:prstGeom prst="rect">
            <a:avLst/>
          </a:prstGeom>
          <a:noFill/>
        </p:spPr>
        <p:txBody>
          <a:bodyPr wrap="square" lIns="27432" rIns="27432" tIns="27432" bIns="27432" anchor="t">
            <a:spAutoFit/>
          </a:bodyPr>
          <a:lstStyle/>
          <a:p>
            <a:pPr algn="ctr">
              <a:spcAft>
                <a:spcPts val="0"/>
              </a:spcAft>
            </a:pPr>
            <a:r>
              <a:rPr sz="940" b="0">
                <a:solidFill>
                  <a:srgbClr val="64748B"/>
                </a:solidFill>
                <a:latin typeface="Aptos"/>
              </a:rPr>
              <a:t>candidate IDs + required
probability/protocol metadata</a:t>
            </a:r>
          </a:p>
        </p:txBody>
      </p:sp>
      <p:sp>
        <p:nvSpPr>
          <p:cNvPr id="14" name="Rounded Rectangle 13"/>
          <p:cNvSpPr/>
          <p:nvPr/>
        </p:nvSpPr>
        <p:spPr>
          <a:xfrm>
            <a:off x="4645152" y="1947672"/>
            <a:ext cx="3108960" cy="1389888"/>
          </a:xfrm>
          <a:prstGeom prst="roundRect">
            <a:avLst/>
          </a:prstGeom>
          <a:solidFill>
            <a:srgbClr val="FBEDE1"/>
          </a:solidFill>
          <a:ln w="1905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45152" y="1947672"/>
            <a:ext cx="91440" cy="1389888"/>
          </a:xfrm>
          <a:prstGeom prst="rect">
            <a:avLst/>
          </a:prstGeom>
          <a:solidFill>
            <a:srgbClr val="D9823B"/>
          </a:solidFill>
          <a:ln w="1270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4608" y="2093976"/>
            <a:ext cx="2761488"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Large target MoE / ATMOS</a:t>
            </a:r>
          </a:p>
        </p:txBody>
      </p:sp>
      <p:sp>
        <p:nvSpPr>
          <p:cNvPr id="17" name="TextBox 16"/>
          <p:cNvSpPr txBox="1"/>
          <p:nvPr/>
        </p:nvSpPr>
        <p:spPr>
          <a:xfrm>
            <a:off x="4864608" y="2414015"/>
            <a:ext cx="2761488" cy="813816"/>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Target weights + target KV
Scores block in parallel
Accepts prefix or corrects</a:t>
            </a:r>
          </a:p>
        </p:txBody>
      </p:sp>
      <p:cxnSp>
        <p:nvCxnSpPr>
          <p:cNvPr id="18" name="Connector 17"/>
          <p:cNvCxnSpPr/>
          <p:nvPr/>
        </p:nvCxnSpPr>
        <p:spPr>
          <a:xfrm>
            <a:off x="7754112" y="2642616"/>
            <a:ext cx="1042416" cy="0"/>
          </a:xfrm>
          <a:prstGeom prst="line">
            <a:avLst/>
          </a:prstGeom>
          <a:ln w="30480">
            <a:solidFill>
              <a:srgbClr val="4D8B61"/>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842248" y="1947672"/>
            <a:ext cx="2761488" cy="1389888"/>
          </a:xfrm>
          <a:prstGeom prst="roundRect">
            <a:avLst/>
          </a:prstGeom>
          <a:solidFill>
            <a:srgbClr val="EAF4EC"/>
          </a:solidFill>
          <a:ln w="1905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42248" y="1947672"/>
            <a:ext cx="91440" cy="1389888"/>
          </a:xfrm>
          <a:prstGeom prst="rect">
            <a:avLst/>
          </a:prstGeom>
          <a:solidFill>
            <a:srgbClr val="4D8B61"/>
          </a:solidFill>
          <a:ln w="1270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1704" y="2093976"/>
            <a:ext cx="2414016" cy="274320"/>
          </a:xfrm>
          <a:prstGeom prst="rect">
            <a:avLst/>
          </a:prstGeom>
          <a:noFill/>
        </p:spPr>
        <p:txBody>
          <a:bodyPr wrap="square" lIns="27432" rIns="27432" tIns="27432" bIns="27432" anchor="t">
            <a:spAutoFit/>
          </a:bodyPr>
          <a:lstStyle/>
          <a:p>
            <a:pPr algn="l">
              <a:spcAft>
                <a:spcPts val="0"/>
              </a:spcAft>
            </a:pPr>
            <a:r>
              <a:rPr sz="1400" b="1">
                <a:solidFill>
                  <a:srgbClr val="102A43"/>
                </a:solidFill>
                <a:latin typeface="Aptos"/>
              </a:rPr>
              <a:t>Commit + resynchronize</a:t>
            </a:r>
          </a:p>
        </p:txBody>
      </p:sp>
      <p:sp>
        <p:nvSpPr>
          <p:cNvPr id="22" name="TextBox 21"/>
          <p:cNvSpPr txBox="1"/>
          <p:nvPr/>
        </p:nvSpPr>
        <p:spPr>
          <a:xfrm>
            <a:off x="9061704" y="2414015"/>
            <a:ext cx="2414016" cy="813816"/>
          </a:xfrm>
          <a:prstGeom prst="rect">
            <a:avLst/>
          </a:prstGeom>
          <a:noFill/>
        </p:spPr>
        <p:txBody>
          <a:bodyPr wrap="square" lIns="27432" rIns="27432" tIns="27432" bIns="27432" anchor="t">
            <a:spAutoFit/>
          </a:bodyPr>
          <a:lstStyle/>
          <a:p>
            <a:pPr algn="l">
              <a:spcAft>
                <a:spcPts val="0"/>
              </a:spcAft>
            </a:pPr>
            <a:r>
              <a:rPr sz="1130" b="0">
                <a:solidFill>
                  <a:srgbClr val="24384A"/>
                </a:solidFill>
                <a:latin typeface="Aptos"/>
              </a:rPr>
              <a:t>Publish target-approved tokens
Rollback rejected target state
Drafter follows committed prefix</a:t>
            </a:r>
          </a:p>
        </p:txBody>
      </p:sp>
      <p:sp>
        <p:nvSpPr>
          <p:cNvPr id="23" name="Rounded Rectangle 22"/>
          <p:cNvSpPr/>
          <p:nvPr/>
        </p:nvSpPr>
        <p:spPr>
          <a:xfrm>
            <a:off x="548640" y="3685032"/>
            <a:ext cx="6693408" cy="2121408"/>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3886200"/>
            <a:ext cx="1143000" cy="246888"/>
          </a:xfrm>
          <a:prstGeom prst="rect">
            <a:avLst/>
          </a:prstGeom>
          <a:noFill/>
        </p:spPr>
        <p:txBody>
          <a:bodyPr wrap="square" lIns="27432" rIns="27432" tIns="27432" bIns="27432" anchor="t">
            <a:spAutoFit/>
          </a:bodyPr>
          <a:lstStyle/>
          <a:p>
            <a:pPr algn="l">
              <a:spcAft>
                <a:spcPts val="0"/>
              </a:spcAft>
            </a:pPr>
            <a:r>
              <a:rPr sz="1100" b="1">
                <a:solidFill>
                  <a:srgbClr val="BFD7EA"/>
                </a:solidFill>
                <a:latin typeface="Aptos"/>
              </a:rPr>
              <a:t>BREAK-EVEN</a:t>
            </a:r>
          </a:p>
        </p:txBody>
      </p:sp>
      <p:sp>
        <p:nvSpPr>
          <p:cNvPr id="25" name="TextBox 24"/>
          <p:cNvSpPr txBox="1"/>
          <p:nvPr/>
        </p:nvSpPr>
        <p:spPr>
          <a:xfrm>
            <a:off x="786384" y="4288536"/>
            <a:ext cx="6080760" cy="393192"/>
          </a:xfrm>
          <a:prstGeom prst="rect">
            <a:avLst/>
          </a:prstGeom>
          <a:noFill/>
        </p:spPr>
        <p:txBody>
          <a:bodyPr wrap="square" lIns="27432" rIns="27432" tIns="27432" bIns="27432" anchor="t">
            <a:spAutoFit/>
          </a:bodyPr>
          <a:lstStyle/>
          <a:p>
            <a:pPr algn="l">
              <a:spcAft>
                <a:spcPts val="0"/>
              </a:spcAft>
            </a:pPr>
            <a:r>
              <a:rPr sz="1800" b="1">
                <a:solidFill>
                  <a:srgbClr val="FFFFFF"/>
                </a:solidFill>
                <a:latin typeface="Aptos Mono"/>
              </a:rPr>
              <a:t>effective ms / committed token  =  cycle time ÷ E[committed tokens]</a:t>
            </a:r>
          </a:p>
        </p:txBody>
      </p:sp>
      <p:sp>
        <p:nvSpPr>
          <p:cNvPr id="26" name="TextBox 25"/>
          <p:cNvSpPr txBox="1"/>
          <p:nvPr/>
        </p:nvSpPr>
        <p:spPr>
          <a:xfrm>
            <a:off x="786384" y="4791456"/>
            <a:ext cx="6053328" cy="384048"/>
          </a:xfrm>
          <a:prstGeom prst="rect">
            <a:avLst/>
          </a:prstGeom>
          <a:noFill/>
        </p:spPr>
        <p:txBody>
          <a:bodyPr wrap="square" lIns="27432" rIns="27432" tIns="27432" bIns="27432" anchor="t">
            <a:spAutoFit/>
          </a:bodyPr>
          <a:lstStyle/>
          <a:p>
            <a:pPr algn="l">
              <a:spcAft>
                <a:spcPts val="0"/>
              </a:spcAft>
            </a:pPr>
            <a:r>
              <a:rPr sz="1350" b="1">
                <a:solidFill>
                  <a:srgbClr val="C7D3DF"/>
                </a:solidFill>
                <a:latin typeface="Aptos"/>
              </a:rPr>
              <a:t>Win when  E[committed]  &gt;  speculative cycle time ÷ native target time/token</a:t>
            </a:r>
          </a:p>
        </p:txBody>
      </p:sp>
      <p:sp>
        <p:nvSpPr>
          <p:cNvPr id="27" name="Rounded Rectangle 26"/>
          <p:cNvSpPr/>
          <p:nvPr/>
        </p:nvSpPr>
        <p:spPr>
          <a:xfrm>
            <a:off x="786384" y="5294376"/>
            <a:ext cx="6016752" cy="320040"/>
          </a:xfrm>
          <a:prstGeom prst="roundRect">
            <a:avLst/>
          </a:prstGeom>
          <a:solidFill>
            <a:srgbClr val="2A3A50"/>
          </a:solidFill>
          <a:ln w="12700">
            <a:solidFill>
              <a:srgbClr val="2A3A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5321808"/>
            <a:ext cx="5705856" cy="256032"/>
          </a:xfrm>
          <a:prstGeom prst="rect">
            <a:avLst/>
          </a:prstGeom>
          <a:noFill/>
        </p:spPr>
        <p:txBody>
          <a:bodyPr wrap="square" lIns="27432" rIns="27432" tIns="27432" bIns="27432" anchor="t">
            <a:spAutoFit/>
          </a:bodyPr>
          <a:lstStyle/>
          <a:p>
            <a:pPr algn="l">
              <a:spcAft>
                <a:spcPts val="0"/>
              </a:spcAft>
            </a:pPr>
            <a:r>
              <a:rPr sz="1019" b="1">
                <a:solidFill>
                  <a:srgbClr val="D9823B"/>
                </a:solidFill>
                <a:latin typeface="Aptos"/>
              </a:rPr>
              <a:t>Illustration: </a:t>
            </a:r>
            <a:r>
              <a:rPr sz="1019" b="0">
                <a:solidFill>
                  <a:srgbClr val="FFFFFF"/>
                </a:solidFill>
                <a:latin typeface="Aptos"/>
              </a:rPr>
              <a:t>native = 80 ms/token; speculative cycle = 120 ms → threshold &gt;1.5 commits/cycle. 3 commits = 40 ms/token; 1 commit = 120 ms/token.</a:t>
            </a:r>
          </a:p>
        </p:txBody>
      </p:sp>
      <p:sp>
        <p:nvSpPr>
          <p:cNvPr id="29" name="Rounded Rectangle 28"/>
          <p:cNvSpPr/>
          <p:nvPr/>
        </p:nvSpPr>
        <p:spPr>
          <a:xfrm>
            <a:off x="7516368" y="3685032"/>
            <a:ext cx="4087368" cy="2121408"/>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54112" y="3886200"/>
            <a:ext cx="2057400" cy="246888"/>
          </a:xfrm>
          <a:prstGeom prst="rect">
            <a:avLst/>
          </a:prstGeom>
          <a:noFill/>
        </p:spPr>
        <p:txBody>
          <a:bodyPr wrap="square" lIns="27432" rIns="27432" tIns="27432" bIns="27432" anchor="t">
            <a:spAutoFit/>
          </a:bodyPr>
          <a:lstStyle/>
          <a:p>
            <a:pPr algn="l">
              <a:spcAft>
                <a:spcPts val="0"/>
              </a:spcAft>
            </a:pPr>
            <a:r>
              <a:rPr sz="1100" b="1">
                <a:solidFill>
                  <a:srgbClr val="D9823B"/>
                </a:solidFill>
                <a:latin typeface="Aptos"/>
              </a:rPr>
              <a:t>STATE + CORRECTNESS</a:t>
            </a:r>
          </a:p>
        </p:txBody>
      </p:sp>
      <p:sp>
        <p:nvSpPr>
          <p:cNvPr id="31" name="TextBox 30"/>
          <p:cNvSpPr txBox="1"/>
          <p:nvPr/>
        </p:nvSpPr>
        <p:spPr>
          <a:xfrm>
            <a:off x="7717536" y="4261104"/>
            <a:ext cx="182880" cy="265176"/>
          </a:xfrm>
          <a:prstGeom prst="rect">
            <a:avLst/>
          </a:prstGeom>
          <a:noFill/>
        </p:spPr>
        <p:txBody>
          <a:bodyPr wrap="square" lIns="27432" rIns="27432" tIns="27432" bIns="27432" anchor="t">
            <a:spAutoFit/>
          </a:bodyPr>
          <a:lstStyle/>
          <a:p>
            <a:pPr algn="l">
              <a:spcAft>
                <a:spcPts val="0"/>
              </a:spcAft>
            </a:pPr>
            <a:r>
              <a:rPr sz="1180" b="1">
                <a:solidFill>
                  <a:srgbClr val="D9823B"/>
                </a:solidFill>
                <a:latin typeface="Aptos"/>
              </a:rPr>
              <a:t>•</a:t>
            </a:r>
          </a:p>
        </p:txBody>
      </p:sp>
      <p:sp>
        <p:nvSpPr>
          <p:cNvPr id="32" name="TextBox 31"/>
          <p:cNvSpPr txBox="1"/>
          <p:nvPr/>
        </p:nvSpPr>
        <p:spPr>
          <a:xfrm>
            <a:off x="7946136" y="4261104"/>
            <a:ext cx="3227832" cy="26517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Draft KV and target KV remain separate</a:t>
            </a:r>
          </a:p>
        </p:txBody>
      </p:sp>
      <p:sp>
        <p:nvSpPr>
          <p:cNvPr id="33" name="TextBox 32"/>
          <p:cNvSpPr txBox="1"/>
          <p:nvPr/>
        </p:nvSpPr>
        <p:spPr>
          <a:xfrm>
            <a:off x="7717536" y="4526280"/>
            <a:ext cx="182880" cy="265176"/>
          </a:xfrm>
          <a:prstGeom prst="rect">
            <a:avLst/>
          </a:prstGeom>
          <a:noFill/>
        </p:spPr>
        <p:txBody>
          <a:bodyPr wrap="square" lIns="27432" rIns="27432" tIns="27432" bIns="27432" anchor="t">
            <a:spAutoFit/>
          </a:bodyPr>
          <a:lstStyle/>
          <a:p>
            <a:pPr algn="l">
              <a:spcAft>
                <a:spcPts val="0"/>
              </a:spcAft>
            </a:pPr>
            <a:r>
              <a:rPr sz="1180" b="1">
                <a:solidFill>
                  <a:srgbClr val="D9823B"/>
                </a:solidFill>
                <a:latin typeface="Aptos"/>
              </a:rPr>
              <a:t>•</a:t>
            </a:r>
          </a:p>
        </p:txBody>
      </p:sp>
      <p:sp>
        <p:nvSpPr>
          <p:cNvPr id="34" name="TextBox 33"/>
          <p:cNvSpPr txBox="1"/>
          <p:nvPr/>
        </p:nvSpPr>
        <p:spPr>
          <a:xfrm>
            <a:off x="7946136" y="4526280"/>
            <a:ext cx="3227832" cy="26517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Tokenizer and sampling protocol must align</a:t>
            </a:r>
          </a:p>
        </p:txBody>
      </p:sp>
      <p:sp>
        <p:nvSpPr>
          <p:cNvPr id="35" name="TextBox 34"/>
          <p:cNvSpPr txBox="1"/>
          <p:nvPr/>
        </p:nvSpPr>
        <p:spPr>
          <a:xfrm>
            <a:off x="7717536" y="4791456"/>
            <a:ext cx="182880" cy="265176"/>
          </a:xfrm>
          <a:prstGeom prst="rect">
            <a:avLst/>
          </a:prstGeom>
          <a:noFill/>
        </p:spPr>
        <p:txBody>
          <a:bodyPr wrap="square" lIns="27432" rIns="27432" tIns="27432" bIns="27432" anchor="t">
            <a:spAutoFit/>
          </a:bodyPr>
          <a:lstStyle/>
          <a:p>
            <a:pPr algn="l">
              <a:spcAft>
                <a:spcPts val="0"/>
              </a:spcAft>
            </a:pPr>
            <a:r>
              <a:rPr sz="1180" b="1">
                <a:solidFill>
                  <a:srgbClr val="D9823B"/>
                </a:solidFill>
                <a:latin typeface="Aptos"/>
              </a:rPr>
              <a:t>•</a:t>
            </a:r>
          </a:p>
        </p:txBody>
      </p:sp>
      <p:sp>
        <p:nvSpPr>
          <p:cNvPr id="36" name="TextBox 35"/>
          <p:cNvSpPr txBox="1"/>
          <p:nvPr/>
        </p:nvSpPr>
        <p:spPr>
          <a:xfrm>
            <a:off x="7946136" y="4791456"/>
            <a:ext cx="3227832" cy="26517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Target acceptance/correction preserves distribution</a:t>
            </a:r>
          </a:p>
        </p:txBody>
      </p:sp>
      <p:sp>
        <p:nvSpPr>
          <p:cNvPr id="37" name="TextBox 36"/>
          <p:cNvSpPr txBox="1"/>
          <p:nvPr/>
        </p:nvSpPr>
        <p:spPr>
          <a:xfrm>
            <a:off x="7717536" y="5056632"/>
            <a:ext cx="182880" cy="265176"/>
          </a:xfrm>
          <a:prstGeom prst="rect">
            <a:avLst/>
          </a:prstGeom>
          <a:noFill/>
        </p:spPr>
        <p:txBody>
          <a:bodyPr wrap="square" lIns="27432" rIns="27432" tIns="27432" bIns="27432" anchor="t">
            <a:spAutoFit/>
          </a:bodyPr>
          <a:lstStyle/>
          <a:p>
            <a:pPr algn="l">
              <a:spcAft>
                <a:spcPts val="0"/>
              </a:spcAft>
            </a:pPr>
            <a:r>
              <a:rPr sz="1180" b="1">
                <a:solidFill>
                  <a:srgbClr val="D9823B"/>
                </a:solidFill>
                <a:latin typeface="Aptos"/>
              </a:rPr>
              <a:t>•</a:t>
            </a:r>
          </a:p>
        </p:txBody>
      </p:sp>
      <p:sp>
        <p:nvSpPr>
          <p:cNvPr id="38" name="TextBox 37"/>
          <p:cNvSpPr txBox="1"/>
          <p:nvPr/>
        </p:nvSpPr>
        <p:spPr>
          <a:xfrm>
            <a:off x="7946136" y="5056632"/>
            <a:ext cx="3227832" cy="26517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Rejected state is reclaimed safely</a:t>
            </a:r>
          </a:p>
        </p:txBody>
      </p:sp>
      <p:sp>
        <p:nvSpPr>
          <p:cNvPr id="39" name="TextBox 38"/>
          <p:cNvSpPr txBox="1"/>
          <p:nvPr/>
        </p:nvSpPr>
        <p:spPr>
          <a:xfrm>
            <a:off x="7717536" y="5321808"/>
            <a:ext cx="182880" cy="265176"/>
          </a:xfrm>
          <a:prstGeom prst="rect">
            <a:avLst/>
          </a:prstGeom>
          <a:noFill/>
        </p:spPr>
        <p:txBody>
          <a:bodyPr wrap="square" lIns="27432" rIns="27432" tIns="27432" bIns="27432" anchor="t">
            <a:spAutoFit/>
          </a:bodyPr>
          <a:lstStyle/>
          <a:p>
            <a:pPr algn="l">
              <a:spcAft>
                <a:spcPts val="0"/>
              </a:spcAft>
            </a:pPr>
            <a:r>
              <a:rPr sz="1180" b="1">
                <a:solidFill>
                  <a:srgbClr val="D9823B"/>
                </a:solidFill>
                <a:latin typeface="Aptos"/>
              </a:rPr>
              <a:t>•</a:t>
            </a:r>
          </a:p>
        </p:txBody>
      </p:sp>
      <p:sp>
        <p:nvSpPr>
          <p:cNvPr id="40" name="TextBox 39"/>
          <p:cNvSpPr txBox="1"/>
          <p:nvPr/>
        </p:nvSpPr>
        <p:spPr>
          <a:xfrm>
            <a:off x="7946136" y="5321808"/>
            <a:ext cx="3227832" cy="265176"/>
          </a:xfrm>
          <a:prstGeom prst="rect">
            <a:avLst/>
          </a:prstGeom>
          <a:noFill/>
        </p:spPr>
        <p:txBody>
          <a:bodyPr wrap="square" lIns="27432" rIns="27432" tIns="27432" bIns="27432" anchor="t">
            <a:spAutoFit/>
          </a:bodyPr>
          <a:lstStyle/>
          <a:p>
            <a:pPr algn="l">
              <a:spcAft>
                <a:spcPts val="0"/>
              </a:spcAft>
            </a:pPr>
            <a:r>
              <a:rPr sz="1080" b="0">
                <a:solidFill>
                  <a:srgbClr val="24384A"/>
                </a:solidFill>
                <a:latin typeface="Aptos"/>
              </a:rPr>
              <a:t>Auto-disable below rolling break-even</a:t>
            </a:r>
          </a:p>
        </p:txBody>
      </p:sp>
      <p:cxnSp>
        <p:nvCxnSpPr>
          <p:cNvPr id="41" name="Connector 40"/>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43" name="TextBox 42"/>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C is a research option—not a default product promise</a:t>
            </a:r>
          </a:p>
        </p:txBody>
      </p:sp>
      <p:sp>
        <p:nvSpPr>
          <p:cNvPr id="44" name="TextBox 43"/>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COMMON PLATFORM</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One ATMOS cluster; three traffic and state contracts</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Do not assume E3.S capacity, a PCIe switch, or NVIDIA fabric membership automatically creates a serving system.</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08</a:t>
            </a:r>
          </a:p>
        </p:txBody>
      </p:sp>
      <p:sp>
        <p:nvSpPr>
          <p:cNvPr id="8" name="Rounded Rectangle 7"/>
          <p:cNvSpPr/>
          <p:nvPr/>
        </p:nvSpPr>
        <p:spPr>
          <a:xfrm>
            <a:off x="548640" y="1856231"/>
            <a:ext cx="4663440" cy="4279392"/>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66543"/>
            <a:ext cx="4160520" cy="274320"/>
          </a:xfrm>
          <a:prstGeom prst="rect">
            <a:avLst/>
          </a:prstGeom>
          <a:noFill/>
        </p:spPr>
        <p:txBody>
          <a:bodyPr wrap="square" lIns="27432" rIns="27432" tIns="27432" bIns="27432" anchor="t">
            <a:spAutoFit/>
          </a:bodyPr>
          <a:lstStyle/>
          <a:p>
            <a:pPr algn="l">
              <a:spcAft>
                <a:spcPts val="0"/>
              </a:spcAft>
            </a:pPr>
            <a:r>
              <a:rPr sz="1200" b="1">
                <a:solidFill>
                  <a:srgbClr val="BFD7EA"/>
                </a:solidFill>
                <a:latin typeface="Aptos"/>
              </a:rPr>
              <a:t>ATMOS EXECUTION CLUSTER — 8-DEVICE STUDY</a:t>
            </a:r>
          </a:p>
        </p:txBody>
      </p:sp>
      <p:sp>
        <p:nvSpPr>
          <p:cNvPr id="10" name="Rounded Rectangle 9"/>
          <p:cNvSpPr/>
          <p:nvPr/>
        </p:nvSpPr>
        <p:spPr>
          <a:xfrm>
            <a:off x="804672" y="263347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72491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A0</a:t>
            </a:r>
          </a:p>
        </p:txBody>
      </p:sp>
      <p:sp>
        <p:nvSpPr>
          <p:cNvPr id="12" name="TextBox 11"/>
          <p:cNvSpPr txBox="1"/>
          <p:nvPr/>
        </p:nvSpPr>
        <p:spPr>
          <a:xfrm>
            <a:off x="804672" y="298094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13" name="Rounded Rectangle 12"/>
          <p:cNvSpPr/>
          <p:nvPr/>
        </p:nvSpPr>
        <p:spPr>
          <a:xfrm>
            <a:off x="1792224" y="263347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92224" y="272491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A1</a:t>
            </a:r>
          </a:p>
        </p:txBody>
      </p:sp>
      <p:sp>
        <p:nvSpPr>
          <p:cNvPr id="15" name="TextBox 14"/>
          <p:cNvSpPr txBox="1"/>
          <p:nvPr/>
        </p:nvSpPr>
        <p:spPr>
          <a:xfrm>
            <a:off x="1792224" y="298094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16" name="Rounded Rectangle 15"/>
          <p:cNvSpPr/>
          <p:nvPr/>
        </p:nvSpPr>
        <p:spPr>
          <a:xfrm>
            <a:off x="2779776" y="263347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9776" y="272491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A2</a:t>
            </a:r>
          </a:p>
        </p:txBody>
      </p:sp>
      <p:sp>
        <p:nvSpPr>
          <p:cNvPr id="18" name="TextBox 17"/>
          <p:cNvSpPr txBox="1"/>
          <p:nvPr/>
        </p:nvSpPr>
        <p:spPr>
          <a:xfrm>
            <a:off x="2779776" y="298094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19" name="Rounded Rectangle 18"/>
          <p:cNvSpPr/>
          <p:nvPr/>
        </p:nvSpPr>
        <p:spPr>
          <a:xfrm>
            <a:off x="3767328" y="263347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67328" y="272491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A3</a:t>
            </a:r>
          </a:p>
        </p:txBody>
      </p:sp>
      <p:sp>
        <p:nvSpPr>
          <p:cNvPr id="21" name="TextBox 20"/>
          <p:cNvSpPr txBox="1"/>
          <p:nvPr/>
        </p:nvSpPr>
        <p:spPr>
          <a:xfrm>
            <a:off x="3767328" y="298094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22" name="Rounded Rectangle 21"/>
          <p:cNvSpPr/>
          <p:nvPr/>
        </p:nvSpPr>
        <p:spPr>
          <a:xfrm>
            <a:off x="804672" y="345643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54787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A4</a:t>
            </a:r>
          </a:p>
        </p:txBody>
      </p:sp>
      <p:sp>
        <p:nvSpPr>
          <p:cNvPr id="24" name="TextBox 23"/>
          <p:cNvSpPr txBox="1"/>
          <p:nvPr/>
        </p:nvSpPr>
        <p:spPr>
          <a:xfrm>
            <a:off x="804672" y="380390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25" name="Rounded Rectangle 24"/>
          <p:cNvSpPr/>
          <p:nvPr/>
        </p:nvSpPr>
        <p:spPr>
          <a:xfrm>
            <a:off x="1792224" y="345643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92224" y="354787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A5</a:t>
            </a:r>
          </a:p>
        </p:txBody>
      </p:sp>
      <p:sp>
        <p:nvSpPr>
          <p:cNvPr id="27" name="TextBox 26"/>
          <p:cNvSpPr txBox="1"/>
          <p:nvPr/>
        </p:nvSpPr>
        <p:spPr>
          <a:xfrm>
            <a:off x="1792224" y="380390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28" name="Rounded Rectangle 27"/>
          <p:cNvSpPr/>
          <p:nvPr/>
        </p:nvSpPr>
        <p:spPr>
          <a:xfrm>
            <a:off x="2779776" y="345643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354787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A6</a:t>
            </a:r>
          </a:p>
        </p:txBody>
      </p:sp>
      <p:sp>
        <p:nvSpPr>
          <p:cNvPr id="30" name="TextBox 29"/>
          <p:cNvSpPr txBox="1"/>
          <p:nvPr/>
        </p:nvSpPr>
        <p:spPr>
          <a:xfrm>
            <a:off x="2779776" y="380390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31" name="Rounded Rectangle 30"/>
          <p:cNvSpPr/>
          <p:nvPr/>
        </p:nvSpPr>
        <p:spPr>
          <a:xfrm>
            <a:off x="3767328" y="3456432"/>
            <a:ext cx="804672" cy="612648"/>
          </a:xfrm>
          <a:prstGeom prst="roundRect">
            <a:avLst/>
          </a:prstGeom>
          <a:solidFill>
            <a:srgbClr val="183B50"/>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7328" y="3547872"/>
            <a:ext cx="804672" cy="219456"/>
          </a:xfrm>
          <a:prstGeom prst="rect">
            <a:avLst/>
          </a:prstGeom>
          <a:noFill/>
        </p:spPr>
        <p:txBody>
          <a:bodyPr wrap="square" lIns="27432" rIns="27432" tIns="27432" bIns="27432" anchor="t">
            <a:spAutoFit/>
          </a:bodyPr>
          <a:lstStyle/>
          <a:p>
            <a:pPr algn="ctr">
              <a:spcAft>
                <a:spcPts val="0"/>
              </a:spcAft>
            </a:pPr>
            <a:r>
              <a:rPr sz="1300" b="1">
                <a:solidFill>
                  <a:srgbClr val="FFFFFF"/>
                </a:solidFill>
                <a:latin typeface="Aptos"/>
              </a:rPr>
              <a:t>A7</a:t>
            </a:r>
          </a:p>
        </p:txBody>
      </p:sp>
      <p:sp>
        <p:nvSpPr>
          <p:cNvPr id="33" name="TextBox 32"/>
          <p:cNvSpPr txBox="1"/>
          <p:nvPr/>
        </p:nvSpPr>
        <p:spPr>
          <a:xfrm>
            <a:off x="3767328" y="3803904"/>
            <a:ext cx="804672" cy="155448"/>
          </a:xfrm>
          <a:prstGeom prst="rect">
            <a:avLst/>
          </a:prstGeom>
          <a:noFill/>
        </p:spPr>
        <p:txBody>
          <a:bodyPr wrap="square" lIns="27432" rIns="27432" tIns="27432" bIns="27432" anchor="t">
            <a:spAutoFit/>
          </a:bodyPr>
          <a:lstStyle/>
          <a:p>
            <a:pPr algn="ctr">
              <a:spcAft>
                <a:spcPts val="0"/>
              </a:spcAft>
            </a:pPr>
            <a:r>
              <a:rPr sz="780" b="1">
                <a:solidFill>
                  <a:srgbClr val="BFD7EA"/>
                </a:solidFill>
                <a:latin typeface="Aptos"/>
              </a:rPr>
              <a:t>HBF + NPU</a:t>
            </a:r>
          </a:p>
        </p:txBody>
      </p:sp>
      <p:sp>
        <p:nvSpPr>
          <p:cNvPr id="34" name="TextBox 33"/>
          <p:cNvSpPr txBox="1"/>
          <p:nvPr/>
        </p:nvSpPr>
        <p:spPr>
          <a:xfrm>
            <a:off x="822960" y="4398264"/>
            <a:ext cx="566928" cy="219456"/>
          </a:xfrm>
          <a:prstGeom prst="rect">
            <a:avLst/>
          </a:prstGeom>
          <a:noFill/>
        </p:spPr>
        <p:txBody>
          <a:bodyPr wrap="square" lIns="27432" rIns="27432" tIns="27432" bIns="27432" anchor="t">
            <a:spAutoFit/>
          </a:bodyPr>
          <a:lstStyle/>
          <a:p>
            <a:pPr algn="l">
              <a:spcAft>
                <a:spcPts val="0"/>
              </a:spcAft>
            </a:pPr>
            <a:r>
              <a:rPr sz="1050" b="1">
                <a:solidFill>
                  <a:srgbClr val="008C82"/>
                </a:solidFill>
                <a:latin typeface="Aptos"/>
              </a:rPr>
              <a:t>HBF</a:t>
            </a:r>
          </a:p>
        </p:txBody>
      </p:sp>
      <p:sp>
        <p:nvSpPr>
          <p:cNvPr id="35" name="TextBox 34"/>
          <p:cNvSpPr txBox="1"/>
          <p:nvPr/>
        </p:nvSpPr>
        <p:spPr>
          <a:xfrm>
            <a:off x="1389888" y="4398264"/>
            <a:ext cx="3447288" cy="228600"/>
          </a:xfrm>
          <a:prstGeom prst="rect">
            <a:avLst/>
          </a:prstGeom>
          <a:noFill/>
        </p:spPr>
        <p:txBody>
          <a:bodyPr wrap="square" lIns="27432" rIns="27432" tIns="27432" bIns="27432" anchor="t">
            <a:spAutoFit/>
          </a:bodyPr>
          <a:lstStyle/>
          <a:p>
            <a:pPr algn="l">
              <a:spcAft>
                <a:spcPts val="0"/>
              </a:spcAft>
            </a:pPr>
            <a:r>
              <a:rPr sz="1040" b="0">
                <a:solidFill>
                  <a:srgbClr val="FFFFFF"/>
                </a:solidFill>
                <a:latin typeface="Aptos"/>
              </a:rPr>
              <a:t>1,024 GB nominal / 800 GB application study budget</a:t>
            </a:r>
          </a:p>
        </p:txBody>
      </p:sp>
      <p:sp>
        <p:nvSpPr>
          <p:cNvPr id="36" name="TextBox 35"/>
          <p:cNvSpPr txBox="1"/>
          <p:nvPr/>
        </p:nvSpPr>
        <p:spPr>
          <a:xfrm>
            <a:off x="822960" y="4764024"/>
            <a:ext cx="566928" cy="219456"/>
          </a:xfrm>
          <a:prstGeom prst="rect">
            <a:avLst/>
          </a:prstGeom>
          <a:noFill/>
        </p:spPr>
        <p:txBody>
          <a:bodyPr wrap="square" lIns="27432" rIns="27432" tIns="27432" bIns="27432" anchor="t">
            <a:spAutoFit/>
          </a:bodyPr>
          <a:lstStyle/>
          <a:p>
            <a:pPr algn="l">
              <a:spcAft>
                <a:spcPts val="0"/>
              </a:spcAft>
            </a:pPr>
            <a:r>
              <a:rPr sz="1050" b="1">
                <a:solidFill>
                  <a:srgbClr val="008C82"/>
                </a:solidFill>
                <a:latin typeface="Aptos"/>
              </a:rPr>
              <a:t>WORK</a:t>
            </a:r>
          </a:p>
        </p:txBody>
      </p:sp>
      <p:sp>
        <p:nvSpPr>
          <p:cNvPr id="37" name="TextBox 36"/>
          <p:cNvSpPr txBox="1"/>
          <p:nvPr/>
        </p:nvSpPr>
        <p:spPr>
          <a:xfrm>
            <a:off x="1389888" y="4764024"/>
            <a:ext cx="3447288" cy="228600"/>
          </a:xfrm>
          <a:prstGeom prst="rect">
            <a:avLst/>
          </a:prstGeom>
          <a:noFill/>
        </p:spPr>
        <p:txBody>
          <a:bodyPr wrap="square" lIns="27432" rIns="27432" tIns="27432" bIns="27432" anchor="t">
            <a:spAutoFit/>
          </a:bodyPr>
          <a:lstStyle/>
          <a:p>
            <a:pPr algn="l">
              <a:spcAft>
                <a:spcPts val="0"/>
              </a:spcAft>
            </a:pPr>
            <a:r>
              <a:rPr sz="1040" b="0">
                <a:solidFill>
                  <a:srgbClr val="FFFFFF"/>
                </a:solidFill>
                <a:latin typeface="Aptos"/>
              </a:rPr>
              <a:t>128 GB LPDDR nominal / 96 GB after provisional reserve</a:t>
            </a:r>
          </a:p>
        </p:txBody>
      </p:sp>
      <p:sp>
        <p:nvSpPr>
          <p:cNvPr id="38" name="TextBox 37"/>
          <p:cNvSpPr txBox="1"/>
          <p:nvPr/>
        </p:nvSpPr>
        <p:spPr>
          <a:xfrm>
            <a:off x="822960" y="5129784"/>
            <a:ext cx="566928" cy="219456"/>
          </a:xfrm>
          <a:prstGeom prst="rect">
            <a:avLst/>
          </a:prstGeom>
          <a:noFill/>
        </p:spPr>
        <p:txBody>
          <a:bodyPr wrap="square" lIns="27432" rIns="27432" tIns="27432" bIns="27432" anchor="t">
            <a:spAutoFit/>
          </a:bodyPr>
          <a:lstStyle/>
          <a:p>
            <a:pPr algn="l">
              <a:spcAft>
                <a:spcPts val="0"/>
              </a:spcAft>
            </a:pPr>
            <a:r>
              <a:rPr sz="1050" b="1">
                <a:solidFill>
                  <a:srgbClr val="008C82"/>
                </a:solidFill>
                <a:latin typeface="Aptos"/>
              </a:rPr>
              <a:t>FABRIC</a:t>
            </a:r>
          </a:p>
        </p:txBody>
      </p:sp>
      <p:sp>
        <p:nvSpPr>
          <p:cNvPr id="39" name="TextBox 38"/>
          <p:cNvSpPr txBox="1"/>
          <p:nvPr/>
        </p:nvSpPr>
        <p:spPr>
          <a:xfrm>
            <a:off x="1389888" y="5129784"/>
            <a:ext cx="3447288" cy="347472"/>
          </a:xfrm>
          <a:prstGeom prst="rect">
            <a:avLst/>
          </a:prstGeom>
          <a:noFill/>
        </p:spPr>
        <p:txBody>
          <a:bodyPr wrap="square" lIns="27432" rIns="27432" tIns="27432" bIns="27432" anchor="t">
            <a:spAutoFit/>
          </a:bodyPr>
          <a:lstStyle/>
          <a:p>
            <a:pPr algn="l">
              <a:spcAft>
                <a:spcPts val="0"/>
              </a:spcAft>
            </a:pPr>
            <a:r>
              <a:rPr sz="1040" b="0">
                <a:solidFill>
                  <a:srgbClr val="FFFFFF"/>
                </a:solidFill>
                <a:latin typeface="Aptos"/>
              </a:rPr>
              <a:t>Native NPU collectives + failure domains remain qualification gates</a:t>
            </a:r>
          </a:p>
        </p:txBody>
      </p:sp>
      <p:sp>
        <p:nvSpPr>
          <p:cNvPr id="40" name="TextBox 39"/>
          <p:cNvSpPr txBox="1"/>
          <p:nvPr/>
        </p:nvSpPr>
        <p:spPr>
          <a:xfrm>
            <a:off x="822960" y="5733288"/>
            <a:ext cx="3840480" cy="210312"/>
          </a:xfrm>
          <a:prstGeom prst="rect">
            <a:avLst/>
          </a:prstGeom>
          <a:noFill/>
        </p:spPr>
        <p:txBody>
          <a:bodyPr wrap="square" lIns="27432" rIns="27432" tIns="27432" bIns="27432" anchor="t">
            <a:spAutoFit/>
          </a:bodyPr>
          <a:lstStyle/>
          <a:p>
            <a:pPr algn="l">
              <a:spcAft>
                <a:spcPts val="0"/>
              </a:spcAft>
            </a:pPr>
            <a:r>
              <a:rPr sz="919" b="1">
                <a:solidFill>
                  <a:srgbClr val="9FB3C8"/>
                </a:solidFill>
                <a:latin typeface="Aptos"/>
              </a:rPr>
              <a:t>These are internal targets—not measured product specifications.</a:t>
            </a:r>
          </a:p>
        </p:txBody>
      </p:sp>
      <p:sp>
        <p:nvSpPr>
          <p:cNvPr id="41" name="Rounded Rectangle 40"/>
          <p:cNvSpPr/>
          <p:nvPr/>
        </p:nvSpPr>
        <p:spPr>
          <a:xfrm>
            <a:off x="5504688" y="1856231"/>
            <a:ext cx="6108192" cy="4279392"/>
          </a:xfrm>
          <a:prstGeom prst="roundRect">
            <a:avLst/>
          </a:prstGeom>
          <a:solidFill>
            <a:srgbClr val="FFFFFF"/>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742432" y="2066543"/>
            <a:ext cx="3291840" cy="256032"/>
          </a:xfrm>
          <a:prstGeom prst="rect">
            <a:avLst/>
          </a:prstGeom>
          <a:noFill/>
        </p:spPr>
        <p:txBody>
          <a:bodyPr wrap="square" lIns="27432" rIns="27432" tIns="27432" bIns="27432" anchor="t">
            <a:spAutoFit/>
          </a:bodyPr>
          <a:lstStyle/>
          <a:p>
            <a:pPr algn="l">
              <a:spcAft>
                <a:spcPts val="0"/>
              </a:spcAft>
            </a:pPr>
            <a:r>
              <a:rPr sz="1200" b="1">
                <a:solidFill>
                  <a:srgbClr val="E31837"/>
                </a:solidFill>
                <a:latin typeface="Aptos"/>
              </a:rPr>
              <a:t>NVIDIA INTEGRATION BY OFFERING</a:t>
            </a:r>
          </a:p>
        </p:txBody>
      </p:sp>
      <p:sp>
        <p:nvSpPr>
          <p:cNvPr id="43" name="TextBox 42"/>
          <p:cNvSpPr txBox="1"/>
          <p:nvPr/>
        </p:nvSpPr>
        <p:spPr>
          <a:xfrm>
            <a:off x="5760720" y="2578608"/>
            <a:ext cx="365760" cy="384048"/>
          </a:xfrm>
          <a:prstGeom prst="rect">
            <a:avLst/>
          </a:prstGeom>
          <a:noFill/>
        </p:spPr>
        <p:txBody>
          <a:bodyPr wrap="square" lIns="27432" rIns="27432" tIns="27432" bIns="27432" anchor="t">
            <a:spAutoFit/>
          </a:bodyPr>
          <a:lstStyle/>
          <a:p>
            <a:pPr algn="l">
              <a:spcAft>
                <a:spcPts val="0"/>
              </a:spcAft>
            </a:pPr>
            <a:r>
              <a:rPr sz="2400" b="1">
                <a:solidFill>
                  <a:srgbClr val="2E6F9E"/>
                </a:solidFill>
                <a:latin typeface="Aptos Display"/>
              </a:rPr>
              <a:t>A</a:t>
            </a:r>
          </a:p>
        </p:txBody>
      </p:sp>
      <p:sp>
        <p:nvSpPr>
          <p:cNvPr id="44" name="TextBox 43"/>
          <p:cNvSpPr txBox="1"/>
          <p:nvPr/>
        </p:nvSpPr>
        <p:spPr>
          <a:xfrm>
            <a:off x="6245352" y="2596896"/>
            <a:ext cx="2057400" cy="237744"/>
          </a:xfrm>
          <a:prstGeom prst="rect">
            <a:avLst/>
          </a:prstGeom>
          <a:noFill/>
        </p:spPr>
        <p:txBody>
          <a:bodyPr wrap="square" lIns="27432" rIns="27432" tIns="27432" bIns="27432" anchor="t">
            <a:spAutoFit/>
          </a:bodyPr>
          <a:lstStyle/>
          <a:p>
            <a:pPr algn="l">
              <a:spcAft>
                <a:spcPts val="0"/>
              </a:spcAft>
            </a:pPr>
            <a:r>
              <a:rPr sz="1220" b="1">
                <a:solidFill>
                  <a:srgbClr val="102A43"/>
                </a:solidFill>
                <a:latin typeface="Aptos"/>
              </a:rPr>
              <a:t>Network / service API</a:t>
            </a:r>
          </a:p>
        </p:txBody>
      </p:sp>
      <p:sp>
        <p:nvSpPr>
          <p:cNvPr id="45" name="TextBox 44"/>
          <p:cNvSpPr txBox="1"/>
          <p:nvPr/>
        </p:nvSpPr>
        <p:spPr>
          <a:xfrm>
            <a:off x="8412480" y="2596896"/>
            <a:ext cx="1207008" cy="219456"/>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Lowest coupling</a:t>
            </a:r>
          </a:p>
        </p:txBody>
      </p:sp>
      <p:sp>
        <p:nvSpPr>
          <p:cNvPr id="46" name="TextBox 45"/>
          <p:cNvSpPr txBox="1"/>
          <p:nvPr/>
        </p:nvSpPr>
        <p:spPr>
          <a:xfrm>
            <a:off x="6245352" y="2935224"/>
            <a:ext cx="2377440" cy="228600"/>
          </a:xfrm>
          <a:prstGeom prst="rect">
            <a:avLst/>
          </a:prstGeom>
          <a:noFill/>
        </p:spPr>
        <p:txBody>
          <a:bodyPr wrap="square" lIns="27432" rIns="27432" tIns="27432" bIns="27432" anchor="t">
            <a:spAutoFit/>
          </a:bodyPr>
          <a:lstStyle/>
          <a:p>
            <a:pPr algn="l">
              <a:spcAft>
                <a:spcPts val="0"/>
              </a:spcAft>
            </a:pPr>
            <a:r>
              <a:rPr sz="1070" b="0">
                <a:solidFill>
                  <a:srgbClr val="24384A"/>
                </a:solidFill>
                <a:latin typeface="Aptos"/>
              </a:rPr>
              <a:t>Request + response</a:t>
            </a:r>
          </a:p>
        </p:txBody>
      </p:sp>
      <p:sp>
        <p:nvSpPr>
          <p:cNvPr id="47" name="TextBox 46"/>
          <p:cNvSpPr txBox="1"/>
          <p:nvPr/>
        </p:nvSpPr>
        <p:spPr>
          <a:xfrm>
            <a:off x="8641080" y="2935224"/>
            <a:ext cx="2606040" cy="292608"/>
          </a:xfrm>
          <a:prstGeom prst="rect">
            <a:avLst/>
          </a:prstGeom>
          <a:noFill/>
        </p:spPr>
        <p:txBody>
          <a:bodyPr wrap="square" lIns="27432" rIns="27432" tIns="27432" bIns="27432" anchor="t">
            <a:spAutoFit/>
          </a:bodyPr>
          <a:lstStyle/>
          <a:p>
            <a:pPr algn="l">
              <a:spcAft>
                <a:spcPts val="0"/>
              </a:spcAft>
            </a:pPr>
            <a:r>
              <a:rPr sz="1030" b="1">
                <a:solidFill>
                  <a:srgbClr val="24384A"/>
                </a:solidFill>
                <a:latin typeface="Aptos"/>
              </a:rPr>
              <a:t>RTX PRO dev → H200 / GB300 control</a:t>
            </a:r>
          </a:p>
        </p:txBody>
      </p:sp>
      <p:cxnSp>
        <p:nvCxnSpPr>
          <p:cNvPr id="48" name="Connector 47"/>
          <p:cNvCxnSpPr/>
          <p:nvPr/>
        </p:nvCxnSpPr>
        <p:spPr>
          <a:xfrm>
            <a:off x="5742432" y="3401568"/>
            <a:ext cx="5550408" cy="0"/>
          </a:xfrm>
          <a:prstGeom prst="line">
            <a:avLst/>
          </a:prstGeom>
          <a:ln w="8890">
            <a:solidFill>
              <a:srgbClr val="D7E0E7"/>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760720" y="3584448"/>
            <a:ext cx="365760" cy="384048"/>
          </a:xfrm>
          <a:prstGeom prst="rect">
            <a:avLst/>
          </a:prstGeom>
          <a:noFill/>
        </p:spPr>
        <p:txBody>
          <a:bodyPr wrap="square" lIns="27432" rIns="27432" tIns="27432" bIns="27432" anchor="t">
            <a:spAutoFit/>
          </a:bodyPr>
          <a:lstStyle/>
          <a:p>
            <a:pPr algn="l">
              <a:spcAft>
                <a:spcPts val="0"/>
              </a:spcAft>
            </a:pPr>
            <a:r>
              <a:rPr sz="2400" b="1">
                <a:solidFill>
                  <a:srgbClr val="008C82"/>
                </a:solidFill>
                <a:latin typeface="Aptos Display"/>
              </a:rPr>
              <a:t>B</a:t>
            </a:r>
          </a:p>
        </p:txBody>
      </p:sp>
      <p:sp>
        <p:nvSpPr>
          <p:cNvPr id="50" name="TextBox 49"/>
          <p:cNvSpPr txBox="1"/>
          <p:nvPr/>
        </p:nvSpPr>
        <p:spPr>
          <a:xfrm>
            <a:off x="6245352" y="3602736"/>
            <a:ext cx="2057400" cy="237744"/>
          </a:xfrm>
          <a:prstGeom prst="rect">
            <a:avLst/>
          </a:prstGeom>
          <a:noFill/>
        </p:spPr>
        <p:txBody>
          <a:bodyPr wrap="square" lIns="27432" rIns="27432" tIns="27432" bIns="27432" anchor="t">
            <a:spAutoFit/>
          </a:bodyPr>
          <a:lstStyle/>
          <a:p>
            <a:pPr algn="l">
              <a:spcAft>
                <a:spcPts val="0"/>
              </a:spcAft>
            </a:pPr>
            <a:r>
              <a:rPr sz="1220" b="1">
                <a:solidFill>
                  <a:srgbClr val="102A43"/>
                </a:solidFill>
                <a:latin typeface="Aptos"/>
              </a:rPr>
              <a:t>KV connector / transport</a:t>
            </a:r>
          </a:p>
        </p:txBody>
      </p:sp>
      <p:sp>
        <p:nvSpPr>
          <p:cNvPr id="51" name="TextBox 50"/>
          <p:cNvSpPr txBox="1"/>
          <p:nvPr/>
        </p:nvSpPr>
        <p:spPr>
          <a:xfrm>
            <a:off x="8412480" y="3602736"/>
            <a:ext cx="1207008" cy="219456"/>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High state fidelity</a:t>
            </a:r>
          </a:p>
        </p:txBody>
      </p:sp>
      <p:sp>
        <p:nvSpPr>
          <p:cNvPr id="52" name="TextBox 51"/>
          <p:cNvSpPr txBox="1"/>
          <p:nvPr/>
        </p:nvSpPr>
        <p:spPr>
          <a:xfrm>
            <a:off x="6245352" y="3941063"/>
            <a:ext cx="2377440" cy="228600"/>
          </a:xfrm>
          <a:prstGeom prst="rect">
            <a:avLst/>
          </a:prstGeom>
          <a:noFill/>
        </p:spPr>
        <p:txBody>
          <a:bodyPr wrap="square" lIns="27432" rIns="27432" tIns="27432" bIns="27432" anchor="t">
            <a:spAutoFit/>
          </a:bodyPr>
          <a:lstStyle/>
          <a:p>
            <a:pPr algn="l">
              <a:spcAft>
                <a:spcPts val="0"/>
              </a:spcAft>
            </a:pPr>
            <a:r>
              <a:rPr sz="1070" b="0">
                <a:solidFill>
                  <a:srgbClr val="24384A"/>
                </a:solidFill>
                <a:latin typeface="Aptos"/>
              </a:rPr>
              <a:t>Target KV + continuation</a:t>
            </a:r>
          </a:p>
        </p:txBody>
      </p:sp>
      <p:sp>
        <p:nvSpPr>
          <p:cNvPr id="53" name="TextBox 52"/>
          <p:cNvSpPr txBox="1"/>
          <p:nvPr/>
        </p:nvSpPr>
        <p:spPr>
          <a:xfrm>
            <a:off x="8641080" y="3941063"/>
            <a:ext cx="2606040" cy="292608"/>
          </a:xfrm>
          <a:prstGeom prst="rect">
            <a:avLst/>
          </a:prstGeom>
          <a:noFill/>
        </p:spPr>
        <p:txBody>
          <a:bodyPr wrap="square" lIns="27432" rIns="27432" tIns="27432" bIns="27432" anchor="t">
            <a:spAutoFit/>
          </a:bodyPr>
          <a:lstStyle/>
          <a:p>
            <a:pPr algn="l">
              <a:spcAft>
                <a:spcPts val="0"/>
              </a:spcAft>
            </a:pPr>
            <a:r>
              <a:rPr sz="1030" b="1">
                <a:solidFill>
                  <a:srgbClr val="24384A"/>
                </a:solidFill>
                <a:latin typeface="Aptos"/>
              </a:rPr>
              <a:t>TTFT + handoff + TPOT must win</a:t>
            </a:r>
          </a:p>
        </p:txBody>
      </p:sp>
      <p:cxnSp>
        <p:nvCxnSpPr>
          <p:cNvPr id="54" name="Connector 53"/>
          <p:cNvCxnSpPr/>
          <p:nvPr/>
        </p:nvCxnSpPr>
        <p:spPr>
          <a:xfrm>
            <a:off x="5742432" y="4407408"/>
            <a:ext cx="5550408" cy="0"/>
          </a:xfrm>
          <a:prstGeom prst="line">
            <a:avLst/>
          </a:prstGeom>
          <a:ln w="8890">
            <a:solidFill>
              <a:srgbClr val="D7E0E7"/>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60720" y="4590288"/>
            <a:ext cx="365760" cy="384048"/>
          </a:xfrm>
          <a:prstGeom prst="rect">
            <a:avLst/>
          </a:prstGeom>
          <a:noFill/>
        </p:spPr>
        <p:txBody>
          <a:bodyPr wrap="square" lIns="27432" rIns="27432" tIns="27432" bIns="27432" anchor="t">
            <a:spAutoFit/>
          </a:bodyPr>
          <a:lstStyle/>
          <a:p>
            <a:pPr algn="l">
              <a:spcAft>
                <a:spcPts val="0"/>
              </a:spcAft>
            </a:pPr>
            <a:r>
              <a:rPr sz="2400" b="1">
                <a:solidFill>
                  <a:srgbClr val="D9823B"/>
                </a:solidFill>
                <a:latin typeface="Aptos Display"/>
              </a:rPr>
              <a:t>C</a:t>
            </a:r>
          </a:p>
        </p:txBody>
      </p:sp>
      <p:sp>
        <p:nvSpPr>
          <p:cNvPr id="56" name="TextBox 55"/>
          <p:cNvSpPr txBox="1"/>
          <p:nvPr/>
        </p:nvSpPr>
        <p:spPr>
          <a:xfrm>
            <a:off x="6245352" y="4608575"/>
            <a:ext cx="2057400" cy="237744"/>
          </a:xfrm>
          <a:prstGeom prst="rect">
            <a:avLst/>
          </a:prstGeom>
          <a:noFill/>
        </p:spPr>
        <p:txBody>
          <a:bodyPr wrap="square" lIns="27432" rIns="27432" tIns="27432" bIns="27432" anchor="t">
            <a:spAutoFit/>
          </a:bodyPr>
          <a:lstStyle/>
          <a:p>
            <a:pPr algn="l">
              <a:spcAft>
                <a:spcPts val="0"/>
              </a:spcAft>
            </a:pPr>
            <a:r>
              <a:rPr sz="1220" b="1">
                <a:solidFill>
                  <a:srgbClr val="102A43"/>
                </a:solidFill>
                <a:latin typeface="Aptos"/>
              </a:rPr>
              <a:t>Verification protocol</a:t>
            </a:r>
          </a:p>
        </p:txBody>
      </p:sp>
      <p:sp>
        <p:nvSpPr>
          <p:cNvPr id="57" name="TextBox 56"/>
          <p:cNvSpPr txBox="1"/>
          <p:nvPr/>
        </p:nvSpPr>
        <p:spPr>
          <a:xfrm>
            <a:off x="8412480" y="4608575"/>
            <a:ext cx="1207008" cy="219456"/>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Low bytes, frequent sync</a:t>
            </a:r>
          </a:p>
        </p:txBody>
      </p:sp>
      <p:sp>
        <p:nvSpPr>
          <p:cNvPr id="58" name="TextBox 57"/>
          <p:cNvSpPr txBox="1"/>
          <p:nvPr/>
        </p:nvSpPr>
        <p:spPr>
          <a:xfrm>
            <a:off x="6245352" y="4946903"/>
            <a:ext cx="2377440" cy="228600"/>
          </a:xfrm>
          <a:prstGeom prst="rect">
            <a:avLst/>
          </a:prstGeom>
          <a:noFill/>
        </p:spPr>
        <p:txBody>
          <a:bodyPr wrap="square" lIns="27432" rIns="27432" tIns="27432" bIns="27432" anchor="t">
            <a:spAutoFit/>
          </a:bodyPr>
          <a:lstStyle/>
          <a:p>
            <a:pPr algn="l">
              <a:spcAft>
                <a:spcPts val="0"/>
              </a:spcAft>
            </a:pPr>
            <a:r>
              <a:rPr sz="1070" b="0">
                <a:solidFill>
                  <a:srgbClr val="24384A"/>
                </a:solidFill>
                <a:latin typeface="Aptos"/>
              </a:rPr>
              <a:t>Candidate block + metadata</a:t>
            </a:r>
          </a:p>
        </p:txBody>
      </p:sp>
      <p:sp>
        <p:nvSpPr>
          <p:cNvPr id="59" name="TextBox 58"/>
          <p:cNvSpPr txBox="1"/>
          <p:nvPr/>
        </p:nvSpPr>
        <p:spPr>
          <a:xfrm>
            <a:off x="8641080" y="4946903"/>
            <a:ext cx="2606040" cy="292608"/>
          </a:xfrm>
          <a:prstGeom prst="rect">
            <a:avLst/>
          </a:prstGeom>
          <a:noFill/>
        </p:spPr>
        <p:txBody>
          <a:bodyPr wrap="square" lIns="27432" rIns="27432" tIns="27432" bIns="27432" anchor="t">
            <a:spAutoFit/>
          </a:bodyPr>
          <a:lstStyle/>
          <a:p>
            <a:pPr algn="l">
              <a:spcAft>
                <a:spcPts val="0"/>
              </a:spcAft>
            </a:pPr>
            <a:r>
              <a:rPr sz="1030" b="1">
                <a:solidFill>
                  <a:srgbClr val="24384A"/>
                </a:solidFill>
                <a:latin typeface="Aptos"/>
              </a:rPr>
              <a:t>Acceptance and verification latency decide</a:t>
            </a:r>
          </a:p>
        </p:txBody>
      </p:sp>
      <p:sp>
        <p:nvSpPr>
          <p:cNvPr id="60" name="Rounded Rectangle 59"/>
          <p:cNvSpPr/>
          <p:nvPr/>
        </p:nvSpPr>
        <p:spPr>
          <a:xfrm>
            <a:off x="5742432" y="5623560"/>
            <a:ext cx="5532120" cy="329184"/>
          </a:xfrm>
          <a:prstGeom prst="roundRect">
            <a:avLst/>
          </a:prstGeom>
          <a:solidFill>
            <a:srgbClr val="F7E7E7"/>
          </a:solidFill>
          <a:ln w="12700">
            <a:solidFill>
              <a:srgbClr val="F7E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888736" y="5660136"/>
            <a:ext cx="5230368" cy="237744"/>
          </a:xfrm>
          <a:prstGeom prst="rect">
            <a:avLst/>
          </a:prstGeom>
          <a:noFill/>
        </p:spPr>
        <p:txBody>
          <a:bodyPr wrap="square" lIns="27432" rIns="27432" tIns="27432" bIns="27432" anchor="t">
            <a:spAutoFit/>
          </a:bodyPr>
          <a:lstStyle/>
          <a:p>
            <a:pPr algn="l">
              <a:spcAft>
                <a:spcPts val="0"/>
              </a:spcAft>
            </a:pPr>
            <a:r>
              <a:rPr sz="1019" b="1">
                <a:solidFill>
                  <a:srgbClr val="E31837"/>
                </a:solidFill>
                <a:latin typeface="Aptos"/>
              </a:rPr>
              <a:t>Invariant  </a:t>
            </a:r>
            <a:r>
              <a:rPr sz="1019" b="0">
                <a:solidFill>
                  <a:srgbClr val="24384A"/>
                </a:solidFill>
                <a:latin typeface="Aptos"/>
              </a:rPr>
              <a:t>ATMOS does not become an NVLink / NVSwitch endpoint. Preserve stock CUDA, NCCL and NVIDIA firmware/driver boundaries.</a:t>
            </a:r>
          </a:p>
        </p:txBody>
      </p:sp>
      <p:cxnSp>
        <p:nvCxnSpPr>
          <p:cNvPr id="62" name="Connector 61"/>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64" name="TextBox 63"/>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physical topology and support are configuration-specific</a:t>
            </a:r>
          </a:p>
        </p:txBody>
      </p:sp>
      <p:sp>
        <p:nvSpPr>
          <p:cNvPr id="65" name="TextBox 64"/>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TECHNICAL SELECTION</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Choose the offering by the bottleneck—not novelty</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Cost is one output metric; the primary decision is whether the execution boundary improves the service.</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09</a:t>
            </a:r>
          </a:p>
        </p:txBody>
      </p:sp>
      <p:sp>
        <p:nvSpPr>
          <p:cNvPr id="8" name="Rectangle 7"/>
          <p:cNvSpPr/>
          <p:nvPr/>
        </p:nvSpPr>
        <p:spPr>
          <a:xfrm>
            <a:off x="530352" y="1865376"/>
            <a:ext cx="1901952" cy="475488"/>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93392"/>
            <a:ext cx="1719072" cy="201168"/>
          </a:xfrm>
          <a:prstGeom prst="rect">
            <a:avLst/>
          </a:prstGeom>
          <a:noFill/>
        </p:spPr>
        <p:txBody>
          <a:bodyPr wrap="square" lIns="27432" rIns="27432" tIns="27432" bIns="27432" anchor="t">
            <a:spAutoFit/>
          </a:bodyPr>
          <a:lstStyle/>
          <a:p>
            <a:pPr algn="ctr">
              <a:spcAft>
                <a:spcPts val="0"/>
              </a:spcAft>
            </a:pPr>
            <a:r>
              <a:rPr sz="950" b="1">
                <a:solidFill>
                  <a:srgbClr val="FFFFFF"/>
                </a:solidFill>
                <a:latin typeface="Aptos"/>
              </a:rPr>
              <a:t>OFFER</a:t>
            </a:r>
          </a:p>
        </p:txBody>
      </p:sp>
      <p:sp>
        <p:nvSpPr>
          <p:cNvPr id="10" name="Rectangle 9"/>
          <p:cNvSpPr/>
          <p:nvPr/>
        </p:nvSpPr>
        <p:spPr>
          <a:xfrm>
            <a:off x="2560320" y="1865376"/>
            <a:ext cx="2112264" cy="475488"/>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1993392"/>
            <a:ext cx="1929384" cy="201168"/>
          </a:xfrm>
          <a:prstGeom prst="rect">
            <a:avLst/>
          </a:prstGeom>
          <a:noFill/>
        </p:spPr>
        <p:txBody>
          <a:bodyPr wrap="square" lIns="27432" rIns="27432" tIns="27432" bIns="27432" anchor="t">
            <a:spAutoFit/>
          </a:bodyPr>
          <a:lstStyle/>
          <a:p>
            <a:pPr algn="ctr">
              <a:spcAft>
                <a:spcPts val="0"/>
              </a:spcAft>
            </a:pPr>
            <a:r>
              <a:rPr sz="950" b="1">
                <a:solidFill>
                  <a:srgbClr val="FFFFFF"/>
                </a:solidFill>
                <a:latin typeface="Aptos"/>
              </a:rPr>
              <a:t>WHEN IT FITS</a:t>
            </a:r>
          </a:p>
        </p:txBody>
      </p:sp>
      <p:sp>
        <p:nvSpPr>
          <p:cNvPr id="12" name="Rectangle 11"/>
          <p:cNvSpPr/>
          <p:nvPr/>
        </p:nvSpPr>
        <p:spPr>
          <a:xfrm>
            <a:off x="4800600" y="1865376"/>
            <a:ext cx="2112264" cy="475488"/>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92040" y="1993392"/>
            <a:ext cx="1929384" cy="201168"/>
          </a:xfrm>
          <a:prstGeom prst="rect">
            <a:avLst/>
          </a:prstGeom>
          <a:noFill/>
        </p:spPr>
        <p:txBody>
          <a:bodyPr wrap="square" lIns="27432" rIns="27432" tIns="27432" bIns="27432" anchor="t">
            <a:spAutoFit/>
          </a:bodyPr>
          <a:lstStyle/>
          <a:p>
            <a:pPr algn="ctr">
              <a:spcAft>
                <a:spcPts val="0"/>
              </a:spcAft>
            </a:pPr>
            <a:r>
              <a:rPr sz="950" b="1">
                <a:solidFill>
                  <a:srgbClr val="FFFFFF"/>
                </a:solidFill>
                <a:latin typeface="Aptos"/>
              </a:rPr>
              <a:t>STATE CROSSING</a:t>
            </a:r>
          </a:p>
        </p:txBody>
      </p:sp>
      <p:sp>
        <p:nvSpPr>
          <p:cNvPr id="14" name="Rectangle 13"/>
          <p:cNvSpPr/>
          <p:nvPr/>
        </p:nvSpPr>
        <p:spPr>
          <a:xfrm>
            <a:off x="7040880" y="1865376"/>
            <a:ext cx="2020824" cy="475488"/>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1993392"/>
            <a:ext cx="1837943" cy="201168"/>
          </a:xfrm>
          <a:prstGeom prst="rect">
            <a:avLst/>
          </a:prstGeom>
          <a:noFill/>
        </p:spPr>
        <p:txBody>
          <a:bodyPr wrap="square" lIns="27432" rIns="27432" tIns="27432" bIns="27432" anchor="t">
            <a:spAutoFit/>
          </a:bodyPr>
          <a:lstStyle/>
          <a:p>
            <a:pPr algn="ctr">
              <a:spcAft>
                <a:spcPts val="0"/>
              </a:spcAft>
            </a:pPr>
            <a:r>
              <a:rPr sz="950" b="1">
                <a:solidFill>
                  <a:srgbClr val="FFFFFF"/>
                </a:solidFill>
                <a:latin typeface="Aptos"/>
              </a:rPr>
              <a:t>ATMOS MUST PROVE</a:t>
            </a:r>
          </a:p>
        </p:txBody>
      </p:sp>
      <p:sp>
        <p:nvSpPr>
          <p:cNvPr id="16" name="Rectangle 15"/>
          <p:cNvSpPr/>
          <p:nvPr/>
        </p:nvSpPr>
        <p:spPr>
          <a:xfrm>
            <a:off x="9189720" y="1865376"/>
            <a:ext cx="2432304" cy="475488"/>
          </a:xfrm>
          <a:prstGeom prst="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993392"/>
            <a:ext cx="2249424" cy="201168"/>
          </a:xfrm>
          <a:prstGeom prst="rect">
            <a:avLst/>
          </a:prstGeom>
          <a:noFill/>
        </p:spPr>
        <p:txBody>
          <a:bodyPr wrap="square" lIns="27432" rIns="27432" tIns="27432" bIns="27432" anchor="t">
            <a:spAutoFit/>
          </a:bodyPr>
          <a:lstStyle/>
          <a:p>
            <a:pPr algn="ctr">
              <a:spcAft>
                <a:spcPts val="0"/>
              </a:spcAft>
            </a:pPr>
            <a:r>
              <a:rPr sz="950" b="1">
                <a:solidFill>
                  <a:srgbClr val="FFFFFF"/>
                </a:solidFill>
                <a:latin typeface="Aptos"/>
              </a:rPr>
              <a:t>GO / NO-GO KPI</a:t>
            </a:r>
          </a:p>
        </p:txBody>
      </p:sp>
      <p:sp>
        <p:nvSpPr>
          <p:cNvPr id="18" name="Rectangle 17"/>
          <p:cNvSpPr/>
          <p:nvPr/>
        </p:nvSpPr>
        <p:spPr>
          <a:xfrm>
            <a:off x="530352" y="2340864"/>
            <a:ext cx="1901952"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3" y="2542032"/>
            <a:ext cx="1755648" cy="566928"/>
          </a:xfrm>
          <a:prstGeom prst="rect">
            <a:avLst/>
          </a:prstGeom>
          <a:noFill/>
        </p:spPr>
        <p:txBody>
          <a:bodyPr wrap="square" lIns="27432" rIns="27432" tIns="27432" bIns="27432" anchor="ctr">
            <a:spAutoFit/>
          </a:bodyPr>
          <a:lstStyle/>
          <a:p>
            <a:pPr algn="ctr">
              <a:spcAft>
                <a:spcPts val="0"/>
              </a:spcAft>
            </a:pPr>
            <a:r>
              <a:rPr sz="1300" b="1">
                <a:solidFill>
                  <a:srgbClr val="2E6F9E"/>
                </a:solidFill>
                <a:latin typeface="Aptos Display"/>
              </a:rPr>
              <a:t>A
NATIVE</a:t>
            </a:r>
          </a:p>
        </p:txBody>
      </p:sp>
      <p:sp>
        <p:nvSpPr>
          <p:cNvPr id="20" name="Rectangle 19"/>
          <p:cNvSpPr/>
          <p:nvPr/>
        </p:nvSpPr>
        <p:spPr>
          <a:xfrm>
            <a:off x="2560320" y="2340864"/>
            <a:ext cx="211226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70048" y="250545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Bounded jobs can use a separate complete service</a:t>
            </a:r>
          </a:p>
        </p:txBody>
      </p:sp>
      <p:sp>
        <p:nvSpPr>
          <p:cNvPr id="22" name="Rectangle 21"/>
          <p:cNvSpPr/>
          <p:nvPr/>
        </p:nvSpPr>
        <p:spPr>
          <a:xfrm>
            <a:off x="4800600" y="2340864"/>
            <a:ext cx="211226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0328" y="250545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Request / response</a:t>
            </a:r>
          </a:p>
        </p:txBody>
      </p:sp>
      <p:sp>
        <p:nvSpPr>
          <p:cNvPr id="24" name="Rectangle 23"/>
          <p:cNvSpPr/>
          <p:nvPr/>
        </p:nvSpPr>
        <p:spPr>
          <a:xfrm>
            <a:off x="7040880" y="2340864"/>
            <a:ext cx="202082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0608" y="2505456"/>
            <a:ext cx="180136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Full model, KV, fabric, availability</a:t>
            </a:r>
          </a:p>
        </p:txBody>
      </p:sp>
      <p:sp>
        <p:nvSpPr>
          <p:cNvPr id="26" name="Rectangle 25"/>
          <p:cNvSpPr/>
          <p:nvPr/>
        </p:nvSpPr>
        <p:spPr>
          <a:xfrm>
            <a:off x="9189720" y="2340864"/>
            <a:ext cx="243230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9448" y="2505456"/>
            <a:ext cx="221284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Accepted jobs/hour at quality + deadline</a:t>
            </a:r>
          </a:p>
        </p:txBody>
      </p:sp>
      <p:sp>
        <p:nvSpPr>
          <p:cNvPr id="28" name="Rectangle 27"/>
          <p:cNvSpPr/>
          <p:nvPr/>
        </p:nvSpPr>
        <p:spPr>
          <a:xfrm>
            <a:off x="530352" y="3438144"/>
            <a:ext cx="1901952" cy="1097280"/>
          </a:xfrm>
          <a:prstGeom prst="rect">
            <a:avLst/>
          </a:prstGeom>
          <a:solidFill>
            <a:srgbClr val="EDF2F6"/>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3" y="3639312"/>
            <a:ext cx="1755648" cy="566928"/>
          </a:xfrm>
          <a:prstGeom prst="rect">
            <a:avLst/>
          </a:prstGeom>
          <a:noFill/>
        </p:spPr>
        <p:txBody>
          <a:bodyPr wrap="square" lIns="27432" rIns="27432" tIns="27432" bIns="27432" anchor="ctr">
            <a:spAutoFit/>
          </a:bodyPr>
          <a:lstStyle/>
          <a:p>
            <a:pPr algn="ctr">
              <a:spcAft>
                <a:spcPts val="0"/>
              </a:spcAft>
            </a:pPr>
            <a:r>
              <a:rPr sz="1300" b="1">
                <a:solidFill>
                  <a:srgbClr val="008C82"/>
                </a:solidFill>
                <a:latin typeface="Aptos Display"/>
              </a:rPr>
              <a:t>B
PREFILL / DECODE</a:t>
            </a:r>
          </a:p>
        </p:txBody>
      </p:sp>
      <p:sp>
        <p:nvSpPr>
          <p:cNvPr id="30" name="Rectangle 29"/>
          <p:cNvSpPr/>
          <p:nvPr/>
        </p:nvSpPr>
        <p:spPr>
          <a:xfrm>
            <a:off x="2560320" y="3438144"/>
            <a:ext cx="2112264" cy="1097280"/>
          </a:xfrm>
          <a:prstGeom prst="rect">
            <a:avLst/>
          </a:prstGeom>
          <a:solidFill>
            <a:srgbClr val="EDF2F6"/>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70048" y="360273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GPU prefill is valuable; decode is the remaining bottleneck</a:t>
            </a:r>
          </a:p>
        </p:txBody>
      </p:sp>
      <p:sp>
        <p:nvSpPr>
          <p:cNvPr id="32" name="Rectangle 31"/>
          <p:cNvSpPr/>
          <p:nvPr/>
        </p:nvSpPr>
        <p:spPr>
          <a:xfrm>
            <a:off x="4800600" y="3438144"/>
            <a:ext cx="2112264" cy="1097280"/>
          </a:xfrm>
          <a:prstGeom prst="rect">
            <a:avLst/>
          </a:prstGeom>
          <a:solidFill>
            <a:srgbClr val="EDF2F6"/>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10328" y="360273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Target KV + continuation once/request</a:t>
            </a:r>
          </a:p>
        </p:txBody>
      </p:sp>
      <p:sp>
        <p:nvSpPr>
          <p:cNvPr id="34" name="Rectangle 33"/>
          <p:cNvSpPr/>
          <p:nvPr/>
        </p:nvSpPr>
        <p:spPr>
          <a:xfrm>
            <a:off x="7040880" y="3438144"/>
            <a:ext cx="2020824" cy="1097280"/>
          </a:xfrm>
          <a:prstGeom prst="rect">
            <a:avLst/>
          </a:prstGeom>
          <a:solidFill>
            <a:srgbClr val="EDF2F6"/>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50608" y="3602736"/>
            <a:ext cx="180136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KV compatibility + full decoder + paired queues</a:t>
            </a:r>
          </a:p>
        </p:txBody>
      </p:sp>
      <p:sp>
        <p:nvSpPr>
          <p:cNvPr id="36" name="Rectangle 35"/>
          <p:cNvSpPr/>
          <p:nvPr/>
        </p:nvSpPr>
        <p:spPr>
          <a:xfrm>
            <a:off x="9189720" y="3438144"/>
            <a:ext cx="2432304" cy="1097280"/>
          </a:xfrm>
          <a:prstGeom prst="rect">
            <a:avLst/>
          </a:prstGeom>
          <a:solidFill>
            <a:srgbClr val="EDF2F6"/>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99448" y="3602736"/>
            <a:ext cx="221284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Combined TTFT + TPOT + accepted rate</a:t>
            </a:r>
          </a:p>
        </p:txBody>
      </p:sp>
      <p:sp>
        <p:nvSpPr>
          <p:cNvPr id="38" name="Rectangle 37"/>
          <p:cNvSpPr/>
          <p:nvPr/>
        </p:nvSpPr>
        <p:spPr>
          <a:xfrm>
            <a:off x="530352" y="4535424"/>
            <a:ext cx="1901952"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3" y="4736592"/>
            <a:ext cx="1755648" cy="566928"/>
          </a:xfrm>
          <a:prstGeom prst="rect">
            <a:avLst/>
          </a:prstGeom>
          <a:noFill/>
        </p:spPr>
        <p:txBody>
          <a:bodyPr wrap="square" lIns="27432" rIns="27432" tIns="27432" bIns="27432" anchor="ctr">
            <a:spAutoFit/>
          </a:bodyPr>
          <a:lstStyle/>
          <a:p>
            <a:pPr algn="ctr">
              <a:spcAft>
                <a:spcPts val="0"/>
              </a:spcAft>
            </a:pPr>
            <a:r>
              <a:rPr sz="1300" b="1">
                <a:solidFill>
                  <a:srgbClr val="D9823B"/>
                </a:solidFill>
                <a:latin typeface="Aptos Display"/>
              </a:rPr>
              <a:t>C
SPECULATIVE</a:t>
            </a:r>
          </a:p>
        </p:txBody>
      </p:sp>
      <p:sp>
        <p:nvSpPr>
          <p:cNvPr id="40" name="Rectangle 39"/>
          <p:cNvSpPr/>
          <p:nvPr/>
        </p:nvSpPr>
        <p:spPr>
          <a:xfrm>
            <a:off x="2560320" y="4535424"/>
            <a:ext cx="211226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70048" y="470001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Target decode is serial and draft acceptance stays high</a:t>
            </a:r>
          </a:p>
        </p:txBody>
      </p:sp>
      <p:sp>
        <p:nvSpPr>
          <p:cNvPr id="42" name="Rectangle 41"/>
          <p:cNvSpPr/>
          <p:nvPr/>
        </p:nvSpPr>
        <p:spPr>
          <a:xfrm>
            <a:off x="4800600" y="4535424"/>
            <a:ext cx="211226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0328" y="4700016"/>
            <a:ext cx="189280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Candidates + protocol metadata every cycle</a:t>
            </a:r>
          </a:p>
        </p:txBody>
      </p:sp>
      <p:sp>
        <p:nvSpPr>
          <p:cNvPr id="44" name="Rectangle 43"/>
          <p:cNvSpPr/>
          <p:nvPr/>
        </p:nvSpPr>
        <p:spPr>
          <a:xfrm>
            <a:off x="7040880" y="4535424"/>
            <a:ext cx="202082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50608" y="4700016"/>
            <a:ext cx="180136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Exact target verify + rollback + adaptive fallback</a:t>
            </a:r>
          </a:p>
        </p:txBody>
      </p:sp>
      <p:sp>
        <p:nvSpPr>
          <p:cNvPr id="46" name="Rectangle 45"/>
          <p:cNvSpPr/>
          <p:nvPr/>
        </p:nvSpPr>
        <p:spPr>
          <a:xfrm>
            <a:off x="9189720" y="4535424"/>
            <a:ext cx="2432304" cy="1097280"/>
          </a:xfrm>
          <a:prstGeom prst="rect">
            <a:avLst/>
          </a:prstGeom>
          <a:solidFill>
            <a:srgbClr val="F8FAFC"/>
          </a:solidFill>
          <a:ln w="12700">
            <a:solidFill>
              <a:srgbClr val="D7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99448" y="4700016"/>
            <a:ext cx="2212848" cy="731520"/>
          </a:xfrm>
          <a:prstGeom prst="rect">
            <a:avLst/>
          </a:prstGeom>
          <a:noFill/>
        </p:spPr>
        <p:txBody>
          <a:bodyPr wrap="square" lIns="27432" rIns="27432" tIns="27432" bIns="27432" anchor="ctr">
            <a:spAutoFit/>
          </a:bodyPr>
          <a:lstStyle/>
          <a:p>
            <a:pPr algn="ctr">
              <a:spcAft>
                <a:spcPts val="0"/>
              </a:spcAft>
            </a:pPr>
            <a:r>
              <a:rPr sz="1070" b="0">
                <a:solidFill>
                  <a:srgbClr val="24384A"/>
                </a:solidFill>
                <a:latin typeface="Aptos"/>
              </a:rPr>
              <a:t>Accepted tokens/s after all overhead</a:t>
            </a:r>
          </a:p>
        </p:txBody>
      </p:sp>
      <p:sp>
        <p:nvSpPr>
          <p:cNvPr id="48" name="Rounded Rectangle 47"/>
          <p:cNvSpPr/>
          <p:nvPr/>
        </p:nvSpPr>
        <p:spPr>
          <a:xfrm>
            <a:off x="530352" y="5833872"/>
            <a:ext cx="11091672" cy="411480"/>
          </a:xfrm>
          <a:prstGeom prst="roundRect">
            <a:avLst/>
          </a:prstGeom>
          <a:solidFill>
            <a:srgbClr val="FBEDE1"/>
          </a:solidFill>
          <a:ln w="12700">
            <a:solidFill>
              <a:srgbClr val="E7C7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3232" y="5907024"/>
            <a:ext cx="10716768" cy="265176"/>
          </a:xfrm>
          <a:prstGeom prst="rect">
            <a:avLst/>
          </a:prstGeom>
          <a:noFill/>
        </p:spPr>
        <p:txBody>
          <a:bodyPr wrap="square" lIns="27432" rIns="27432" tIns="27432" bIns="27432" anchor="t">
            <a:spAutoFit/>
          </a:bodyPr>
          <a:lstStyle/>
          <a:p>
            <a:pPr algn="l">
              <a:spcAft>
                <a:spcPts val="0"/>
              </a:spcAft>
            </a:pPr>
            <a:r>
              <a:rPr sz="1050" b="1">
                <a:solidFill>
                  <a:srgbClr val="D9823B"/>
                </a:solidFill>
                <a:latin typeface="Aptos"/>
              </a:rPr>
              <a:t>Bounded commercial test  </a:t>
            </a:r>
            <a:r>
              <a:rPr sz="1050" b="0">
                <a:solidFill>
                  <a:srgbClr val="24384A"/>
                </a:solidFill>
                <a:latin typeface="Aptos"/>
              </a:rPr>
              <a:t>Compare total delivered cost ÷ accepted work at matched quality, SLO and reserve. B includes duplicated target weights + KV transfer; C includes draft compute + rejected work. No fleet-savings forecast before measurement.</a:t>
            </a:r>
          </a:p>
        </p:txBody>
      </p:sp>
      <p:cxnSp>
        <p:nvCxnSpPr>
          <p:cNvPr id="50" name="Connector 49"/>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52" name="TextBox 51"/>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A first • B/C only after their specific technical gate</a:t>
            </a:r>
          </a:p>
        </p:txBody>
      </p:sp>
      <p:sp>
        <p:nvSpPr>
          <p:cNvPr id="53" name="TextBox 52"/>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02920" y="256032"/>
            <a:ext cx="1481328"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256032"/>
            <a:ext cx="3840480" cy="256032"/>
          </a:xfrm>
          <a:prstGeom prst="rect">
            <a:avLst/>
          </a:prstGeom>
          <a:noFill/>
        </p:spPr>
        <p:txBody>
          <a:bodyPr wrap="square" lIns="27432" rIns="27432" tIns="27432" bIns="27432" anchor="t">
            <a:spAutoFit/>
          </a:bodyPr>
          <a:lstStyle/>
          <a:p>
            <a:pPr algn="l">
              <a:spcAft>
                <a:spcPts val="0"/>
              </a:spcAft>
            </a:pPr>
            <a:r>
              <a:rPr sz="1000" b="1">
                <a:solidFill>
                  <a:srgbClr val="64748B"/>
                </a:solidFill>
                <a:latin typeface="Aptos"/>
              </a:rPr>
              <a:t>QUALIFICATION</a:t>
            </a:r>
          </a:p>
        </p:txBody>
      </p:sp>
      <p:sp>
        <p:nvSpPr>
          <p:cNvPr id="4" name="TextBox 3"/>
          <p:cNvSpPr txBox="1"/>
          <p:nvPr/>
        </p:nvSpPr>
        <p:spPr>
          <a:xfrm>
            <a:off x="502920" y="658368"/>
            <a:ext cx="11064240" cy="475488"/>
          </a:xfrm>
          <a:prstGeom prst="rect">
            <a:avLst/>
          </a:prstGeom>
          <a:noFill/>
        </p:spPr>
        <p:txBody>
          <a:bodyPr wrap="square" lIns="27432" rIns="27432" tIns="27432" bIns="27432" anchor="t">
            <a:spAutoFit/>
          </a:bodyPr>
          <a:lstStyle/>
          <a:p>
            <a:pPr algn="l">
              <a:spcAft>
                <a:spcPts val="0"/>
              </a:spcAft>
            </a:pPr>
            <a:r>
              <a:rPr sz="2700" b="1">
                <a:solidFill>
                  <a:srgbClr val="102A43"/>
                </a:solidFill>
                <a:latin typeface="Aptos Display"/>
              </a:rPr>
              <a:t>Four gates turn concepts into a supported offering</a:t>
            </a:r>
          </a:p>
        </p:txBody>
      </p:sp>
      <p:sp>
        <p:nvSpPr>
          <p:cNvPr id="5" name="TextBox 4"/>
          <p:cNvSpPr txBox="1"/>
          <p:nvPr/>
        </p:nvSpPr>
        <p:spPr>
          <a:xfrm>
            <a:off x="521207" y="1161288"/>
            <a:ext cx="10972800" cy="384048"/>
          </a:xfrm>
          <a:prstGeom prst="rect">
            <a:avLst/>
          </a:prstGeom>
          <a:noFill/>
        </p:spPr>
        <p:txBody>
          <a:bodyPr wrap="square" lIns="27432" rIns="27432" tIns="27432" bIns="27432" anchor="t">
            <a:spAutoFit/>
          </a:bodyPr>
          <a:lstStyle/>
          <a:p>
            <a:pPr algn="l">
              <a:spcAft>
                <a:spcPts val="0"/>
              </a:spcAft>
            </a:pPr>
            <a:r>
              <a:rPr sz="1350" b="0">
                <a:solidFill>
                  <a:srgbClr val="64748B"/>
                </a:solidFill>
                <a:latin typeface="Aptos"/>
              </a:rPr>
              <a:t>Simulator and emulator can overlap; only physical and named-platform evidence can earn product claims.</a:t>
            </a:r>
          </a:p>
        </p:txBody>
      </p:sp>
      <p:cxnSp>
        <p:nvCxnSpPr>
          <p:cNvPr id="6" name="Connector 5"/>
          <p:cNvCxnSpPr/>
          <p:nvPr/>
        </p:nvCxnSpPr>
        <p:spPr>
          <a:xfrm>
            <a:off x="502920" y="1600200"/>
            <a:ext cx="11183112" cy="0"/>
          </a:xfrm>
          <a:prstGeom prst="line">
            <a:avLst/>
          </a:prstGeom>
          <a:ln w="12700">
            <a:solidFill>
              <a:srgbClr val="D7E0E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256032"/>
            <a:ext cx="457200" cy="256032"/>
          </a:xfrm>
          <a:prstGeom prst="rect">
            <a:avLst/>
          </a:prstGeom>
          <a:noFill/>
        </p:spPr>
        <p:txBody>
          <a:bodyPr wrap="square" lIns="27432" rIns="27432" tIns="27432" bIns="27432" anchor="t">
            <a:spAutoFit/>
          </a:bodyPr>
          <a:lstStyle/>
          <a:p>
            <a:pPr algn="r">
              <a:spcAft>
                <a:spcPts val="0"/>
              </a:spcAft>
            </a:pPr>
            <a:r>
              <a:rPr sz="1000" b="1">
                <a:solidFill>
                  <a:srgbClr val="64748B"/>
                </a:solidFill>
                <a:latin typeface="Aptos"/>
              </a:rPr>
              <a:t>10</a:t>
            </a:r>
          </a:p>
        </p:txBody>
      </p:sp>
      <p:sp>
        <p:nvSpPr>
          <p:cNvPr id="8" name="Rounded Rectangle 7"/>
          <p:cNvSpPr/>
          <p:nvPr/>
        </p:nvSpPr>
        <p:spPr>
          <a:xfrm>
            <a:off x="566928" y="2011680"/>
            <a:ext cx="2331720" cy="3127248"/>
          </a:xfrm>
          <a:prstGeom prst="roundRect">
            <a:avLst/>
          </a:prstGeom>
          <a:solidFill>
            <a:srgbClr val="FFFFFF"/>
          </a:solidFill>
          <a:ln w="1905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39696"/>
            <a:ext cx="420624" cy="402336"/>
          </a:xfrm>
          <a:prstGeom prst="rect">
            <a:avLst/>
          </a:prstGeom>
          <a:noFill/>
        </p:spPr>
        <p:txBody>
          <a:bodyPr wrap="square" lIns="27432" rIns="27432" tIns="27432" bIns="27432" anchor="t">
            <a:spAutoFit/>
          </a:bodyPr>
          <a:lstStyle/>
          <a:p>
            <a:pPr algn="l">
              <a:spcAft>
                <a:spcPts val="0"/>
              </a:spcAft>
            </a:pPr>
            <a:r>
              <a:rPr sz="2500" b="1">
                <a:solidFill>
                  <a:srgbClr val="2E6F9E"/>
                </a:solidFill>
                <a:latin typeface="Aptos Display"/>
              </a:rPr>
              <a:t>1</a:t>
            </a:r>
          </a:p>
        </p:txBody>
      </p:sp>
      <p:sp>
        <p:nvSpPr>
          <p:cNvPr id="10" name="TextBox 9"/>
          <p:cNvSpPr txBox="1"/>
          <p:nvPr/>
        </p:nvSpPr>
        <p:spPr>
          <a:xfrm>
            <a:off x="1207007" y="2185416"/>
            <a:ext cx="1463040" cy="237744"/>
          </a:xfrm>
          <a:prstGeom prst="rect">
            <a:avLst/>
          </a:prstGeom>
          <a:noFill/>
        </p:spPr>
        <p:txBody>
          <a:bodyPr wrap="square" lIns="27432" rIns="27432" tIns="27432" bIns="27432" anchor="t">
            <a:spAutoFit/>
          </a:bodyPr>
          <a:lstStyle/>
          <a:p>
            <a:pPr algn="l">
              <a:spcAft>
                <a:spcPts val="0"/>
              </a:spcAft>
            </a:pPr>
            <a:r>
              <a:rPr sz="1100" b="1">
                <a:solidFill>
                  <a:srgbClr val="102A43"/>
                </a:solidFill>
                <a:latin typeface="Aptos"/>
              </a:rPr>
              <a:t>SIMULATE</a:t>
            </a:r>
          </a:p>
        </p:txBody>
      </p:sp>
      <p:sp>
        <p:nvSpPr>
          <p:cNvPr id="11" name="TextBox 10"/>
          <p:cNvSpPr txBox="1"/>
          <p:nvPr/>
        </p:nvSpPr>
        <p:spPr>
          <a:xfrm>
            <a:off x="749808" y="2798064"/>
            <a:ext cx="1965960" cy="310896"/>
          </a:xfrm>
          <a:prstGeom prst="rect">
            <a:avLst/>
          </a:prstGeom>
          <a:noFill/>
        </p:spPr>
        <p:txBody>
          <a:bodyPr wrap="square" lIns="27432" rIns="27432" tIns="27432" bIns="27432" anchor="t">
            <a:spAutoFit/>
          </a:bodyPr>
          <a:lstStyle/>
          <a:p>
            <a:pPr algn="ctr">
              <a:spcAft>
                <a:spcPts val="0"/>
              </a:spcAft>
            </a:pPr>
            <a:r>
              <a:rPr sz="1500" b="1">
                <a:solidFill>
                  <a:srgbClr val="2E6F9E"/>
                </a:solidFill>
                <a:latin typeface="Aptos"/>
              </a:rPr>
              <a:t>Full native model</a:t>
            </a:r>
          </a:p>
        </p:txBody>
      </p:sp>
      <p:sp>
        <p:nvSpPr>
          <p:cNvPr id="12" name="TextBox 11"/>
          <p:cNvSpPr txBox="1"/>
          <p:nvPr/>
        </p:nvSpPr>
        <p:spPr>
          <a:xfrm>
            <a:off x="795528" y="3291840"/>
            <a:ext cx="1874519" cy="804672"/>
          </a:xfrm>
          <a:prstGeom prst="rect">
            <a:avLst/>
          </a:prstGeom>
          <a:noFill/>
        </p:spPr>
        <p:txBody>
          <a:bodyPr wrap="square" lIns="27432" rIns="27432" tIns="27432" bIns="27432" anchor="t">
            <a:spAutoFit/>
          </a:bodyPr>
          <a:lstStyle/>
          <a:p>
            <a:pPr algn="ctr">
              <a:spcAft>
                <a:spcPts val="0"/>
              </a:spcAft>
            </a:pPr>
            <a:r>
              <a:rPr sz="1150" b="0">
                <a:solidFill>
                  <a:srgbClr val="24384A"/>
                </a:solidFill>
                <a:latin typeface="Aptos"/>
              </a:rPr>
              <a:t>Weights + active KV
NPU/fabric queues
Hopper/Blackwell controls</a:t>
            </a:r>
          </a:p>
        </p:txBody>
      </p:sp>
      <p:sp>
        <p:nvSpPr>
          <p:cNvPr id="13" name="Rounded Rectangle 12"/>
          <p:cNvSpPr/>
          <p:nvPr/>
        </p:nvSpPr>
        <p:spPr>
          <a:xfrm>
            <a:off x="795528" y="4379976"/>
            <a:ext cx="1874519" cy="438912"/>
          </a:xfrm>
          <a:prstGeom prst="roundRect">
            <a:avLst/>
          </a:prstGeom>
          <a:solidFill>
            <a:srgbClr val="2E6F9E"/>
          </a:solidFill>
          <a:ln w="12700">
            <a:solidFill>
              <a:srgbClr val="2E6F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4489704"/>
            <a:ext cx="1764792" cy="201168"/>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ptos"/>
              </a:rPr>
              <a:t>Architecture fit</a:t>
            </a:r>
          </a:p>
        </p:txBody>
      </p:sp>
      <p:cxnSp>
        <p:nvCxnSpPr>
          <p:cNvPr id="15" name="Connector 14"/>
          <p:cNvCxnSpPr/>
          <p:nvPr/>
        </p:nvCxnSpPr>
        <p:spPr>
          <a:xfrm>
            <a:off x="2898648" y="3566160"/>
            <a:ext cx="475488" cy="0"/>
          </a:xfrm>
          <a:prstGeom prst="line">
            <a:avLst/>
          </a:prstGeom>
          <a:ln w="2286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29000" y="2011680"/>
            <a:ext cx="2331720" cy="3127248"/>
          </a:xfrm>
          <a:prstGeom prst="roundRect">
            <a:avLst/>
          </a:prstGeom>
          <a:solidFill>
            <a:srgbClr val="FFFFFF"/>
          </a:solidFill>
          <a:ln w="1905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93592" y="2139696"/>
            <a:ext cx="420624" cy="402336"/>
          </a:xfrm>
          <a:prstGeom prst="rect">
            <a:avLst/>
          </a:prstGeom>
          <a:noFill/>
        </p:spPr>
        <p:txBody>
          <a:bodyPr wrap="square" lIns="27432" rIns="27432" tIns="27432" bIns="27432" anchor="t">
            <a:spAutoFit/>
          </a:bodyPr>
          <a:lstStyle/>
          <a:p>
            <a:pPr algn="l">
              <a:spcAft>
                <a:spcPts val="0"/>
              </a:spcAft>
            </a:pPr>
            <a:r>
              <a:rPr sz="2500" b="1">
                <a:solidFill>
                  <a:srgbClr val="008C82"/>
                </a:solidFill>
                <a:latin typeface="Aptos Display"/>
              </a:rPr>
              <a:t>2</a:t>
            </a:r>
          </a:p>
        </p:txBody>
      </p:sp>
      <p:sp>
        <p:nvSpPr>
          <p:cNvPr id="18" name="TextBox 17"/>
          <p:cNvSpPr txBox="1"/>
          <p:nvPr/>
        </p:nvSpPr>
        <p:spPr>
          <a:xfrm>
            <a:off x="4069080" y="2185416"/>
            <a:ext cx="1463040" cy="237744"/>
          </a:xfrm>
          <a:prstGeom prst="rect">
            <a:avLst/>
          </a:prstGeom>
          <a:noFill/>
        </p:spPr>
        <p:txBody>
          <a:bodyPr wrap="square" lIns="27432" rIns="27432" tIns="27432" bIns="27432" anchor="t">
            <a:spAutoFit/>
          </a:bodyPr>
          <a:lstStyle/>
          <a:p>
            <a:pPr algn="l">
              <a:spcAft>
                <a:spcPts val="0"/>
              </a:spcAft>
            </a:pPr>
            <a:r>
              <a:rPr sz="1100" b="1">
                <a:solidFill>
                  <a:srgbClr val="102A43"/>
                </a:solidFill>
                <a:latin typeface="Aptos"/>
              </a:rPr>
              <a:t>EMULATE</a:t>
            </a:r>
          </a:p>
        </p:txBody>
      </p:sp>
      <p:sp>
        <p:nvSpPr>
          <p:cNvPr id="19" name="TextBox 18"/>
          <p:cNvSpPr txBox="1"/>
          <p:nvPr/>
        </p:nvSpPr>
        <p:spPr>
          <a:xfrm>
            <a:off x="3611880" y="2798064"/>
            <a:ext cx="1965960" cy="310896"/>
          </a:xfrm>
          <a:prstGeom prst="rect">
            <a:avLst/>
          </a:prstGeom>
          <a:noFill/>
        </p:spPr>
        <p:txBody>
          <a:bodyPr wrap="square" lIns="27432" rIns="27432" tIns="27432" bIns="27432" anchor="t">
            <a:spAutoFit/>
          </a:bodyPr>
          <a:lstStyle/>
          <a:p>
            <a:pPr algn="ctr">
              <a:spcAft>
                <a:spcPts val="0"/>
              </a:spcAft>
            </a:pPr>
            <a:r>
              <a:rPr sz="1500" b="1">
                <a:solidFill>
                  <a:srgbClr val="008C82"/>
                </a:solidFill>
                <a:latin typeface="Aptos"/>
              </a:rPr>
              <a:t>Real interfaces</a:t>
            </a:r>
          </a:p>
        </p:txBody>
      </p:sp>
      <p:sp>
        <p:nvSpPr>
          <p:cNvPr id="20" name="TextBox 19"/>
          <p:cNvSpPr txBox="1"/>
          <p:nvPr/>
        </p:nvSpPr>
        <p:spPr>
          <a:xfrm>
            <a:off x="3657600" y="3291840"/>
            <a:ext cx="1874519" cy="804672"/>
          </a:xfrm>
          <a:prstGeom prst="rect">
            <a:avLst/>
          </a:prstGeom>
          <a:noFill/>
        </p:spPr>
        <p:txBody>
          <a:bodyPr wrap="square" lIns="27432" rIns="27432" tIns="27432" bIns="27432" anchor="t">
            <a:spAutoFit/>
          </a:bodyPr>
          <a:lstStyle/>
          <a:p>
            <a:pPr algn="ctr">
              <a:spcAft>
                <a:spcPts val="0"/>
              </a:spcAft>
            </a:pPr>
            <a:r>
              <a:rPr sz="1150" b="0">
                <a:solidFill>
                  <a:srgbClr val="24384A"/>
                </a:solidFill>
                <a:latin typeface="Aptos"/>
              </a:rPr>
              <a:t>Pack/loader + API
B: KV connector
C: verify/rollback</a:t>
            </a:r>
          </a:p>
        </p:txBody>
      </p:sp>
      <p:sp>
        <p:nvSpPr>
          <p:cNvPr id="21" name="Rounded Rectangle 20"/>
          <p:cNvSpPr/>
          <p:nvPr/>
        </p:nvSpPr>
        <p:spPr>
          <a:xfrm>
            <a:off x="3657600" y="4379976"/>
            <a:ext cx="1874519" cy="438912"/>
          </a:xfrm>
          <a:prstGeom prst="round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12463" y="4489704"/>
            <a:ext cx="1764792" cy="201168"/>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ptos"/>
              </a:rPr>
              <a:t>Correct contracts</a:t>
            </a:r>
          </a:p>
        </p:txBody>
      </p:sp>
      <p:cxnSp>
        <p:nvCxnSpPr>
          <p:cNvPr id="23" name="Connector 22"/>
          <p:cNvCxnSpPr/>
          <p:nvPr/>
        </p:nvCxnSpPr>
        <p:spPr>
          <a:xfrm>
            <a:off x="5760720" y="3566160"/>
            <a:ext cx="475488" cy="0"/>
          </a:xfrm>
          <a:prstGeom prst="line">
            <a:avLst/>
          </a:prstGeom>
          <a:ln w="2286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91072" y="2011680"/>
            <a:ext cx="2331720" cy="3127248"/>
          </a:xfrm>
          <a:prstGeom prst="roundRect">
            <a:avLst/>
          </a:prstGeom>
          <a:solidFill>
            <a:srgbClr val="FFFFFF"/>
          </a:solidFill>
          <a:ln w="1905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2139696"/>
            <a:ext cx="420624" cy="402336"/>
          </a:xfrm>
          <a:prstGeom prst="rect">
            <a:avLst/>
          </a:prstGeom>
          <a:noFill/>
        </p:spPr>
        <p:txBody>
          <a:bodyPr wrap="square" lIns="27432" rIns="27432" tIns="27432" bIns="27432" anchor="t">
            <a:spAutoFit/>
          </a:bodyPr>
          <a:lstStyle/>
          <a:p>
            <a:pPr algn="l">
              <a:spcAft>
                <a:spcPts val="0"/>
              </a:spcAft>
            </a:pPr>
            <a:r>
              <a:rPr sz="2500" b="1">
                <a:solidFill>
                  <a:srgbClr val="D9823B"/>
                </a:solidFill>
                <a:latin typeface="Aptos Display"/>
              </a:rPr>
              <a:t>3</a:t>
            </a:r>
          </a:p>
        </p:txBody>
      </p:sp>
      <p:sp>
        <p:nvSpPr>
          <p:cNvPr id="26" name="TextBox 25"/>
          <p:cNvSpPr txBox="1"/>
          <p:nvPr/>
        </p:nvSpPr>
        <p:spPr>
          <a:xfrm>
            <a:off x="6931152" y="2185416"/>
            <a:ext cx="1463040" cy="237744"/>
          </a:xfrm>
          <a:prstGeom prst="rect">
            <a:avLst/>
          </a:prstGeom>
          <a:noFill/>
        </p:spPr>
        <p:txBody>
          <a:bodyPr wrap="square" lIns="27432" rIns="27432" tIns="27432" bIns="27432" anchor="t">
            <a:spAutoFit/>
          </a:bodyPr>
          <a:lstStyle/>
          <a:p>
            <a:pPr algn="l">
              <a:spcAft>
                <a:spcPts val="0"/>
              </a:spcAft>
            </a:pPr>
            <a:r>
              <a:rPr sz="1100" b="1">
                <a:solidFill>
                  <a:srgbClr val="102A43"/>
                </a:solidFill>
                <a:latin typeface="Aptos"/>
              </a:rPr>
              <a:t>PHYSICAL NODE</a:t>
            </a:r>
          </a:p>
        </p:txBody>
      </p:sp>
      <p:sp>
        <p:nvSpPr>
          <p:cNvPr id="27" name="TextBox 26"/>
          <p:cNvSpPr txBox="1"/>
          <p:nvPr/>
        </p:nvSpPr>
        <p:spPr>
          <a:xfrm>
            <a:off x="6473952" y="2798064"/>
            <a:ext cx="1965960" cy="310896"/>
          </a:xfrm>
          <a:prstGeom prst="rect">
            <a:avLst/>
          </a:prstGeom>
          <a:noFill/>
        </p:spPr>
        <p:txBody>
          <a:bodyPr wrap="square" lIns="27432" rIns="27432" tIns="27432" bIns="27432" anchor="t">
            <a:spAutoFit/>
          </a:bodyPr>
          <a:lstStyle/>
          <a:p>
            <a:pPr algn="ctr">
              <a:spcAft>
                <a:spcPts val="0"/>
              </a:spcAft>
            </a:pPr>
            <a:r>
              <a:rPr sz="1500" b="1">
                <a:solidFill>
                  <a:srgbClr val="D9823B"/>
                </a:solidFill>
                <a:latin typeface="Aptos"/>
              </a:rPr>
              <a:t>Prove A first</a:t>
            </a:r>
          </a:p>
        </p:txBody>
      </p:sp>
      <p:sp>
        <p:nvSpPr>
          <p:cNvPr id="28" name="TextBox 27"/>
          <p:cNvSpPr txBox="1"/>
          <p:nvPr/>
        </p:nvSpPr>
        <p:spPr>
          <a:xfrm>
            <a:off x="6519672" y="3291840"/>
            <a:ext cx="1874519" cy="804672"/>
          </a:xfrm>
          <a:prstGeom prst="rect">
            <a:avLst/>
          </a:prstGeom>
          <a:noFill/>
        </p:spPr>
        <p:txBody>
          <a:bodyPr wrap="square" lIns="27432" rIns="27432" tIns="27432" bIns="27432" anchor="t">
            <a:spAutoFit/>
          </a:bodyPr>
          <a:lstStyle/>
          <a:p>
            <a:pPr algn="ctr">
              <a:spcAft>
                <a:spcPts val="0"/>
              </a:spcAft>
            </a:pPr>
            <a:r>
              <a:rPr sz="1150" b="0">
                <a:solidFill>
                  <a:srgbClr val="24384A"/>
                </a:solidFill>
                <a:latin typeface="Aptos"/>
              </a:rPr>
              <a:t>Quality + latency
Power/thermal/faults
Then B and C</a:t>
            </a:r>
          </a:p>
        </p:txBody>
      </p:sp>
      <p:sp>
        <p:nvSpPr>
          <p:cNvPr id="29" name="Rounded Rectangle 28"/>
          <p:cNvSpPr/>
          <p:nvPr/>
        </p:nvSpPr>
        <p:spPr>
          <a:xfrm>
            <a:off x="6519672" y="4379976"/>
            <a:ext cx="1874519" cy="438912"/>
          </a:xfrm>
          <a:prstGeom prst="roundRect">
            <a:avLst/>
          </a:prstGeom>
          <a:solidFill>
            <a:srgbClr val="D9823B"/>
          </a:solidFill>
          <a:ln w="1270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74536" y="4489704"/>
            <a:ext cx="1764792" cy="201168"/>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ptos"/>
              </a:rPr>
              <a:t>Silicon gate</a:t>
            </a:r>
          </a:p>
        </p:txBody>
      </p:sp>
      <p:cxnSp>
        <p:nvCxnSpPr>
          <p:cNvPr id="31" name="Connector 30"/>
          <p:cNvCxnSpPr/>
          <p:nvPr/>
        </p:nvCxnSpPr>
        <p:spPr>
          <a:xfrm>
            <a:off x="8622792" y="3566160"/>
            <a:ext cx="475488" cy="0"/>
          </a:xfrm>
          <a:prstGeom prst="line">
            <a:avLst/>
          </a:prstGeom>
          <a:ln w="2286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153144" y="2011680"/>
            <a:ext cx="2331720" cy="3127248"/>
          </a:xfrm>
          <a:prstGeom prst="roundRect">
            <a:avLst/>
          </a:prstGeom>
          <a:solidFill>
            <a:srgbClr val="FFFFFF"/>
          </a:solidFill>
          <a:ln w="19050">
            <a:solidFill>
              <a:srgbClr val="6B5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17736" y="2139696"/>
            <a:ext cx="420624" cy="402336"/>
          </a:xfrm>
          <a:prstGeom prst="rect">
            <a:avLst/>
          </a:prstGeom>
          <a:noFill/>
        </p:spPr>
        <p:txBody>
          <a:bodyPr wrap="square" lIns="27432" rIns="27432" tIns="27432" bIns="27432" anchor="t">
            <a:spAutoFit/>
          </a:bodyPr>
          <a:lstStyle/>
          <a:p>
            <a:pPr algn="l">
              <a:spcAft>
                <a:spcPts val="0"/>
              </a:spcAft>
            </a:pPr>
            <a:r>
              <a:rPr sz="2500" b="1">
                <a:solidFill>
                  <a:srgbClr val="6B5AA6"/>
                </a:solidFill>
                <a:latin typeface="Aptos Display"/>
              </a:rPr>
              <a:t>4</a:t>
            </a:r>
          </a:p>
        </p:txBody>
      </p:sp>
      <p:sp>
        <p:nvSpPr>
          <p:cNvPr id="34" name="TextBox 33"/>
          <p:cNvSpPr txBox="1"/>
          <p:nvPr/>
        </p:nvSpPr>
        <p:spPr>
          <a:xfrm>
            <a:off x="9793224" y="2185416"/>
            <a:ext cx="1463040" cy="237744"/>
          </a:xfrm>
          <a:prstGeom prst="rect">
            <a:avLst/>
          </a:prstGeom>
          <a:noFill/>
        </p:spPr>
        <p:txBody>
          <a:bodyPr wrap="square" lIns="27432" rIns="27432" tIns="27432" bIns="27432" anchor="t">
            <a:spAutoFit/>
          </a:bodyPr>
          <a:lstStyle/>
          <a:p>
            <a:pPr algn="l">
              <a:spcAft>
                <a:spcPts val="0"/>
              </a:spcAft>
            </a:pPr>
            <a:r>
              <a:rPr sz="1100" b="1">
                <a:solidFill>
                  <a:srgbClr val="102A43"/>
                </a:solidFill>
                <a:latin typeface="Aptos"/>
              </a:rPr>
              <a:t>NAMED PLATFORM</a:t>
            </a:r>
          </a:p>
        </p:txBody>
      </p:sp>
      <p:sp>
        <p:nvSpPr>
          <p:cNvPr id="35" name="TextBox 34"/>
          <p:cNvSpPr txBox="1"/>
          <p:nvPr/>
        </p:nvSpPr>
        <p:spPr>
          <a:xfrm>
            <a:off x="9336024" y="2798064"/>
            <a:ext cx="1965960" cy="310896"/>
          </a:xfrm>
          <a:prstGeom prst="rect">
            <a:avLst/>
          </a:prstGeom>
          <a:noFill/>
        </p:spPr>
        <p:txBody>
          <a:bodyPr wrap="square" lIns="27432" rIns="27432" tIns="27432" bIns="27432" anchor="t">
            <a:spAutoFit/>
          </a:bodyPr>
          <a:lstStyle/>
          <a:p>
            <a:pPr algn="ctr">
              <a:spcAft>
                <a:spcPts val="0"/>
              </a:spcAft>
            </a:pPr>
            <a:r>
              <a:rPr sz="1500" b="1">
                <a:solidFill>
                  <a:srgbClr val="6B5AA6"/>
                </a:solidFill>
                <a:latin typeface="Aptos"/>
              </a:rPr>
              <a:t>NVIDIA control</a:t>
            </a:r>
          </a:p>
        </p:txBody>
      </p:sp>
      <p:sp>
        <p:nvSpPr>
          <p:cNvPr id="36" name="TextBox 35"/>
          <p:cNvSpPr txBox="1"/>
          <p:nvPr/>
        </p:nvSpPr>
        <p:spPr>
          <a:xfrm>
            <a:off x="9381744" y="3291840"/>
            <a:ext cx="1874519" cy="804672"/>
          </a:xfrm>
          <a:prstGeom prst="rect">
            <a:avLst/>
          </a:prstGeom>
          <a:noFill/>
        </p:spPr>
        <p:txBody>
          <a:bodyPr wrap="square" lIns="27432" rIns="27432" tIns="27432" bIns="27432" anchor="t">
            <a:spAutoFit/>
          </a:bodyPr>
          <a:lstStyle/>
          <a:p>
            <a:pPr algn="ctr">
              <a:spcAft>
                <a:spcPts val="0"/>
              </a:spcAft>
            </a:pPr>
            <a:r>
              <a:rPr sz="1150" b="0">
                <a:solidFill>
                  <a:srgbClr val="24384A"/>
                </a:solidFill>
                <a:latin typeface="Aptos"/>
              </a:rPr>
              <a:t>RTX/H200/GB300
Support + lifecycle
Accepted-work result</a:t>
            </a:r>
          </a:p>
        </p:txBody>
      </p:sp>
      <p:sp>
        <p:nvSpPr>
          <p:cNvPr id="37" name="Rounded Rectangle 36"/>
          <p:cNvSpPr/>
          <p:nvPr/>
        </p:nvSpPr>
        <p:spPr>
          <a:xfrm>
            <a:off x="9381744" y="4379976"/>
            <a:ext cx="1874519" cy="438912"/>
          </a:xfrm>
          <a:prstGeom prst="roundRect">
            <a:avLst/>
          </a:prstGeom>
          <a:solidFill>
            <a:srgbClr val="6B5AA6"/>
          </a:solidFill>
          <a:ln w="12700">
            <a:solidFill>
              <a:srgbClr val="6B5A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36608" y="4489704"/>
            <a:ext cx="1764792" cy="201168"/>
          </a:xfrm>
          <a:prstGeom prst="rect">
            <a:avLst/>
          </a:prstGeom>
          <a:noFill/>
        </p:spPr>
        <p:txBody>
          <a:bodyPr wrap="square" lIns="27432" rIns="27432" tIns="27432" bIns="27432" anchor="t">
            <a:spAutoFit/>
          </a:bodyPr>
          <a:lstStyle/>
          <a:p>
            <a:pPr algn="ctr">
              <a:spcAft>
                <a:spcPts val="0"/>
              </a:spcAft>
            </a:pPr>
            <a:r>
              <a:rPr sz="1000" b="1">
                <a:solidFill>
                  <a:srgbClr val="FFFFFF"/>
                </a:solidFill>
                <a:latin typeface="Aptos"/>
              </a:rPr>
              <a:t>Product gate</a:t>
            </a:r>
          </a:p>
        </p:txBody>
      </p:sp>
      <p:sp>
        <p:nvSpPr>
          <p:cNvPr id="39" name="Rounded Rectangle 38"/>
          <p:cNvSpPr/>
          <p:nvPr/>
        </p:nvSpPr>
        <p:spPr>
          <a:xfrm>
            <a:off x="566928" y="5458968"/>
            <a:ext cx="10917936" cy="694944"/>
          </a:xfrm>
          <a:prstGeom prst="roundRect">
            <a:avLst/>
          </a:prstGeom>
          <a:solidFill>
            <a:srgbClr val="102A43"/>
          </a:solidFill>
          <a:ln w="12700">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04672" y="5623560"/>
            <a:ext cx="10442448" cy="356616"/>
          </a:xfrm>
          <a:prstGeom prst="rect">
            <a:avLst/>
          </a:prstGeom>
          <a:noFill/>
        </p:spPr>
        <p:txBody>
          <a:bodyPr wrap="square" lIns="27432" rIns="27432" tIns="27432" bIns="27432" anchor="t">
            <a:spAutoFit/>
          </a:bodyPr>
          <a:lstStyle/>
          <a:p>
            <a:pPr algn="l">
              <a:spcAft>
                <a:spcPts val="0"/>
              </a:spcAft>
            </a:pPr>
            <a:r>
              <a:rPr sz="1220" b="1">
                <a:solidFill>
                  <a:srgbClr val="E31837"/>
                </a:solidFill>
                <a:latin typeface="Aptos"/>
              </a:rPr>
              <a:t>DECISION SEQUENCE  </a:t>
            </a:r>
            <a:r>
              <a:rPr sz="1220" b="0">
                <a:solidFill>
                  <a:srgbClr val="FFFFFF"/>
                </a:solidFill>
                <a:latin typeface="Aptos"/>
              </a:rPr>
              <a:t>A native service must pass before B or C. B then proves target-KV ownership and combined TTFT/TPOT. C separately proves target-correct speculative acceptance, rollback and break-even fallback.</a:t>
            </a:r>
          </a:p>
        </p:txBody>
      </p:sp>
      <p:cxnSp>
        <p:nvCxnSpPr>
          <p:cNvPr id="41" name="Connector 40"/>
          <p:cNvCxnSpPr/>
          <p:nvPr/>
        </p:nvCxnSpPr>
        <p:spPr>
          <a:xfrm>
            <a:off x="502920" y="6510528"/>
            <a:ext cx="11183112" cy="0"/>
          </a:xfrm>
          <a:prstGeom prst="line">
            <a:avLst/>
          </a:prstGeom>
          <a:ln w="10160">
            <a:solidFill>
              <a:srgbClr val="D7E0E7"/>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2920" y="6565392"/>
            <a:ext cx="8138160" cy="164592"/>
          </a:xfrm>
          <a:prstGeom prst="rect">
            <a:avLst/>
          </a:prstGeom>
          <a:noFill/>
        </p:spPr>
        <p:txBody>
          <a:bodyPr wrap="square" lIns="27432" rIns="27432" tIns="27432" bIns="27432" anchor="t">
            <a:spAutoFit/>
          </a:bodyPr>
          <a:lstStyle/>
          <a:p>
            <a:pPr algn="l">
              <a:spcAft>
                <a:spcPts val="0"/>
              </a:spcAft>
            </a:pPr>
            <a:r>
              <a:rPr sz="750" b="1">
                <a:solidFill>
                  <a:srgbClr val="64748B"/>
                </a:solidFill>
                <a:latin typeface="Aptos"/>
              </a:rPr>
              <a:t>INTERNAL TECHNICAL PROPOSAL • 02 OCT 2026 • NO MEASURED ATMOS PERFORMANCE CLAIM</a:t>
            </a:r>
          </a:p>
        </p:txBody>
      </p:sp>
      <p:sp>
        <p:nvSpPr>
          <p:cNvPr id="43" name="TextBox 42"/>
          <p:cNvSpPr txBox="1"/>
          <p:nvPr/>
        </p:nvSpPr>
        <p:spPr>
          <a:xfrm>
            <a:off x="8887968" y="6565392"/>
            <a:ext cx="2221992" cy="164592"/>
          </a:xfrm>
          <a:prstGeom prst="rect">
            <a:avLst/>
          </a:prstGeom>
          <a:noFill/>
        </p:spPr>
        <p:txBody>
          <a:bodyPr wrap="square" lIns="27432" rIns="27432" tIns="27432" bIns="27432" anchor="t">
            <a:spAutoFit/>
          </a:bodyPr>
          <a:lstStyle/>
          <a:p>
            <a:pPr algn="r">
              <a:spcAft>
                <a:spcPts val="0"/>
              </a:spcAft>
            </a:pPr>
            <a:r>
              <a:rPr sz="730" b="0">
                <a:solidFill>
                  <a:srgbClr val="64748B"/>
                </a:solidFill>
                <a:latin typeface="Aptos"/>
              </a:rPr>
              <a:t>configuration-specific evidence • no transfer across GPU generations</a:t>
            </a:r>
          </a:p>
        </p:txBody>
      </p:sp>
      <p:sp>
        <p:nvSpPr>
          <p:cNvPr id="44" name="TextBox 43"/>
          <p:cNvSpPr txBox="1"/>
          <p:nvPr/>
        </p:nvSpPr>
        <p:spPr>
          <a:xfrm>
            <a:off x="11365992" y="6565392"/>
            <a:ext cx="320040" cy="164592"/>
          </a:xfrm>
          <a:prstGeom prst="rect">
            <a:avLst/>
          </a:prstGeom>
          <a:noFill/>
        </p:spPr>
        <p:txBody>
          <a:bodyPr wrap="square" lIns="27432" rIns="27432" tIns="27432" bIns="27432" anchor="t">
            <a:spAutoFit/>
          </a:bodyPr>
          <a:lstStyle/>
          <a:p>
            <a:pPr algn="r">
              <a:spcAft>
                <a:spcPts val="0"/>
              </a:spcAft>
            </a:pPr>
            <a:r>
              <a:rPr sz="750" b="1">
                <a:solidFill>
                  <a:srgbClr val="64748B"/>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566928" y="329184"/>
            <a:ext cx="1417320" cy="256032"/>
          </a:xfrm>
          <a:prstGeom prst="rect">
            <a:avLst/>
          </a:prstGeom>
          <a:noFill/>
        </p:spPr>
        <p:txBody>
          <a:bodyPr wrap="square" lIns="27432" rIns="27432" tIns="27432" bIns="27432" anchor="t">
            <a:spAutoFit/>
          </a:bodyPr>
          <a:lstStyle/>
          <a:p>
            <a:pPr algn="l">
              <a:spcAft>
                <a:spcPts val="0"/>
              </a:spcAft>
            </a:pPr>
            <a:r>
              <a:rPr sz="1000" b="1">
                <a:solidFill>
                  <a:srgbClr val="E31837"/>
                </a:solidFill>
                <a:latin typeface="Aptos"/>
              </a:rPr>
              <a:t>SANDISK / ATMOS</a:t>
            </a:r>
          </a:p>
        </p:txBody>
      </p:sp>
      <p:sp>
        <p:nvSpPr>
          <p:cNvPr id="3" name="TextBox 2"/>
          <p:cNvSpPr txBox="1"/>
          <p:nvPr/>
        </p:nvSpPr>
        <p:spPr>
          <a:xfrm>
            <a:off x="2148840" y="329184"/>
            <a:ext cx="2286000" cy="256032"/>
          </a:xfrm>
          <a:prstGeom prst="rect">
            <a:avLst/>
          </a:prstGeom>
          <a:noFill/>
        </p:spPr>
        <p:txBody>
          <a:bodyPr wrap="square" lIns="27432" rIns="27432" tIns="27432" bIns="27432" anchor="t">
            <a:spAutoFit/>
          </a:bodyPr>
          <a:lstStyle/>
          <a:p>
            <a:pPr algn="l">
              <a:spcAft>
                <a:spcPts val="0"/>
              </a:spcAft>
            </a:pPr>
            <a:r>
              <a:rPr sz="1000" b="1">
                <a:solidFill>
                  <a:srgbClr val="9FB3C8"/>
                </a:solidFill>
                <a:latin typeface="Aptos"/>
              </a:rPr>
              <a:t>RECOMMENDATION</a:t>
            </a:r>
          </a:p>
        </p:txBody>
      </p:sp>
      <p:sp>
        <p:nvSpPr>
          <p:cNvPr id="4" name="TextBox 3"/>
          <p:cNvSpPr txBox="1"/>
          <p:nvPr/>
        </p:nvSpPr>
        <p:spPr>
          <a:xfrm>
            <a:off x="566928" y="841248"/>
            <a:ext cx="10698480" cy="1024128"/>
          </a:xfrm>
          <a:prstGeom prst="rect">
            <a:avLst/>
          </a:prstGeom>
          <a:noFill/>
        </p:spPr>
        <p:txBody>
          <a:bodyPr wrap="square" lIns="27432" rIns="27432" tIns="27432" bIns="27432" anchor="t">
            <a:spAutoFit/>
          </a:bodyPr>
          <a:lstStyle/>
          <a:p>
            <a:pPr algn="l">
              <a:spcAft>
                <a:spcPts val="0"/>
              </a:spcAft>
            </a:pPr>
            <a:r>
              <a:rPr sz="3200" b="1">
                <a:solidFill>
                  <a:srgbClr val="FFFFFF"/>
                </a:solidFill>
                <a:latin typeface="Aptos Display"/>
              </a:rPr>
              <a:t>Lead with a complete native service.
Earn the other two boundaries.</a:t>
            </a:r>
          </a:p>
        </p:txBody>
      </p:sp>
      <p:sp>
        <p:nvSpPr>
          <p:cNvPr id="5" name="Rounded Rectangle 4"/>
          <p:cNvSpPr/>
          <p:nvPr/>
        </p:nvSpPr>
        <p:spPr>
          <a:xfrm>
            <a:off x="594360" y="2304288"/>
            <a:ext cx="3456432" cy="1444752"/>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58952" y="2468880"/>
            <a:ext cx="1005840" cy="274320"/>
          </a:xfrm>
          <a:prstGeom prst="roundRect">
            <a:avLst/>
          </a:prstGeom>
          <a:solidFill>
            <a:srgbClr val="4D8B61"/>
          </a:solidFill>
          <a:ln w="12700">
            <a:solidFill>
              <a:srgbClr val="4D8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2487168"/>
            <a:ext cx="932688"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APPROVE</a:t>
            </a:r>
          </a:p>
        </p:txBody>
      </p:sp>
      <p:sp>
        <p:nvSpPr>
          <p:cNvPr id="8" name="TextBox 7"/>
          <p:cNvSpPr txBox="1"/>
          <p:nvPr/>
        </p:nvSpPr>
        <p:spPr>
          <a:xfrm>
            <a:off x="758952" y="2871216"/>
            <a:ext cx="3017520" cy="274320"/>
          </a:xfrm>
          <a:prstGeom prst="rect">
            <a:avLst/>
          </a:prstGeom>
          <a:noFill/>
        </p:spPr>
        <p:txBody>
          <a:bodyPr wrap="square" lIns="27432" rIns="27432" tIns="27432" bIns="27432" anchor="t">
            <a:spAutoFit/>
          </a:bodyPr>
          <a:lstStyle/>
          <a:p>
            <a:pPr algn="l">
              <a:spcAft>
                <a:spcPts val="0"/>
              </a:spcAft>
            </a:pPr>
            <a:r>
              <a:rPr sz="1380" b="1">
                <a:solidFill>
                  <a:srgbClr val="FFFFFF"/>
                </a:solidFill>
                <a:latin typeface="Aptos"/>
              </a:rPr>
              <a:t>Offering A native backend</a:t>
            </a:r>
          </a:p>
        </p:txBody>
      </p:sp>
      <p:sp>
        <p:nvSpPr>
          <p:cNvPr id="9" name="TextBox 8"/>
          <p:cNvSpPr txBox="1"/>
          <p:nvPr/>
        </p:nvSpPr>
        <p:spPr>
          <a:xfrm>
            <a:off x="758952" y="3209544"/>
            <a:ext cx="3054096" cy="411480"/>
          </a:xfrm>
          <a:prstGeom prst="rect">
            <a:avLst/>
          </a:prstGeom>
          <a:noFill/>
        </p:spPr>
        <p:txBody>
          <a:bodyPr wrap="square" lIns="27432" rIns="27432" tIns="27432" bIns="27432" anchor="t">
            <a:spAutoFit/>
          </a:bodyPr>
          <a:lstStyle/>
          <a:p>
            <a:pPr algn="l">
              <a:spcAft>
                <a:spcPts val="0"/>
              </a:spcAft>
            </a:pPr>
            <a:r>
              <a:rPr sz="1019" b="0">
                <a:solidFill>
                  <a:srgbClr val="C7D3DF"/>
                </a:solidFill>
                <a:latin typeface="Aptos"/>
              </a:rPr>
              <a:t>One model, full attention/KV/MoE runtime, RTX PRO development control and OEM cluster study.</a:t>
            </a:r>
          </a:p>
        </p:txBody>
      </p:sp>
      <p:sp>
        <p:nvSpPr>
          <p:cNvPr id="10" name="Rounded Rectangle 9"/>
          <p:cNvSpPr/>
          <p:nvPr/>
        </p:nvSpPr>
        <p:spPr>
          <a:xfrm>
            <a:off x="4370832" y="2304288"/>
            <a:ext cx="3456432" cy="1444752"/>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35424" y="2468880"/>
            <a:ext cx="1005840" cy="274320"/>
          </a:xfrm>
          <a:prstGeom prst="roundRect">
            <a:avLst/>
          </a:prstGeom>
          <a:solidFill>
            <a:srgbClr val="008C82"/>
          </a:solidFill>
          <a:ln w="12700">
            <a:solidFill>
              <a:srgbClr val="008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487168"/>
            <a:ext cx="932688"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FEASIBILITY</a:t>
            </a:r>
          </a:p>
        </p:txBody>
      </p:sp>
      <p:sp>
        <p:nvSpPr>
          <p:cNvPr id="13" name="TextBox 12"/>
          <p:cNvSpPr txBox="1"/>
          <p:nvPr/>
        </p:nvSpPr>
        <p:spPr>
          <a:xfrm>
            <a:off x="4535424" y="2871216"/>
            <a:ext cx="3017520" cy="274320"/>
          </a:xfrm>
          <a:prstGeom prst="rect">
            <a:avLst/>
          </a:prstGeom>
          <a:noFill/>
        </p:spPr>
        <p:txBody>
          <a:bodyPr wrap="square" lIns="27432" rIns="27432" tIns="27432" bIns="27432" anchor="t">
            <a:spAutoFit/>
          </a:bodyPr>
          <a:lstStyle/>
          <a:p>
            <a:pPr algn="l">
              <a:spcAft>
                <a:spcPts val="0"/>
              </a:spcAft>
            </a:pPr>
            <a:r>
              <a:rPr sz="1380" b="1">
                <a:solidFill>
                  <a:srgbClr val="FFFFFF"/>
                </a:solidFill>
                <a:latin typeface="Aptos"/>
              </a:rPr>
              <a:t>Offering B KV bridge</a:t>
            </a:r>
          </a:p>
        </p:txBody>
      </p:sp>
      <p:sp>
        <p:nvSpPr>
          <p:cNvPr id="14" name="TextBox 13"/>
          <p:cNvSpPr txBox="1"/>
          <p:nvPr/>
        </p:nvSpPr>
        <p:spPr>
          <a:xfrm>
            <a:off x="4535424" y="3209544"/>
            <a:ext cx="3054096" cy="411480"/>
          </a:xfrm>
          <a:prstGeom prst="rect">
            <a:avLst/>
          </a:prstGeom>
          <a:noFill/>
        </p:spPr>
        <p:txBody>
          <a:bodyPr wrap="square" lIns="27432" rIns="27432" tIns="27432" bIns="27432" anchor="t">
            <a:spAutoFit/>
          </a:bodyPr>
          <a:lstStyle/>
          <a:p>
            <a:pPr algn="l">
              <a:spcAft>
                <a:spcPts val="0"/>
              </a:spcAft>
            </a:pPr>
            <a:r>
              <a:rPr sz="1019" b="0">
                <a:solidFill>
                  <a:srgbClr val="C7D3DF"/>
                </a:solidFill>
                <a:latin typeface="Aptos"/>
              </a:rPr>
              <a:t>Freeze exact Qwen target cache schema; prototype export/import; measure combined TTFT + TPOT.</a:t>
            </a:r>
          </a:p>
        </p:txBody>
      </p:sp>
      <p:sp>
        <p:nvSpPr>
          <p:cNvPr id="15" name="Rounded Rectangle 14"/>
          <p:cNvSpPr/>
          <p:nvPr/>
        </p:nvSpPr>
        <p:spPr>
          <a:xfrm>
            <a:off x="8147304" y="2304288"/>
            <a:ext cx="3456432" cy="1444752"/>
          </a:xfrm>
          <a:prstGeom prst="roundRect">
            <a:avLst/>
          </a:prstGeom>
          <a:solidFill>
            <a:srgbClr val="17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11896" y="2468880"/>
            <a:ext cx="1005840" cy="274320"/>
          </a:xfrm>
          <a:prstGeom prst="roundRect">
            <a:avLst/>
          </a:prstGeom>
          <a:solidFill>
            <a:srgbClr val="D9823B"/>
          </a:solidFill>
          <a:ln w="12700">
            <a:solidFill>
              <a:srgbClr val="D982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1" y="2487168"/>
            <a:ext cx="932688" cy="228600"/>
          </a:xfrm>
          <a:prstGeom prst="rect">
            <a:avLst/>
          </a:prstGeom>
          <a:noFill/>
        </p:spPr>
        <p:txBody>
          <a:bodyPr wrap="square" lIns="27432" rIns="27432" tIns="27432" bIns="27432" anchor="ctr">
            <a:spAutoFit/>
          </a:bodyPr>
          <a:lstStyle/>
          <a:p>
            <a:pPr algn="ctr">
              <a:spcAft>
                <a:spcPts val="0"/>
              </a:spcAft>
            </a:pPr>
            <a:r>
              <a:rPr sz="880" b="1">
                <a:solidFill>
                  <a:srgbClr val="FFFFFF"/>
                </a:solidFill>
                <a:latin typeface="Aptos"/>
              </a:rPr>
              <a:t>RESEARCH</a:t>
            </a:r>
          </a:p>
        </p:txBody>
      </p:sp>
      <p:sp>
        <p:nvSpPr>
          <p:cNvPr id="18" name="TextBox 17"/>
          <p:cNvSpPr txBox="1"/>
          <p:nvPr/>
        </p:nvSpPr>
        <p:spPr>
          <a:xfrm>
            <a:off x="8311896" y="2871216"/>
            <a:ext cx="3017520" cy="274320"/>
          </a:xfrm>
          <a:prstGeom prst="rect">
            <a:avLst/>
          </a:prstGeom>
          <a:noFill/>
        </p:spPr>
        <p:txBody>
          <a:bodyPr wrap="square" lIns="27432" rIns="27432" tIns="27432" bIns="27432" anchor="t">
            <a:spAutoFit/>
          </a:bodyPr>
          <a:lstStyle/>
          <a:p>
            <a:pPr algn="l">
              <a:spcAft>
                <a:spcPts val="0"/>
              </a:spcAft>
            </a:pPr>
            <a:r>
              <a:rPr sz="1380" b="1">
                <a:solidFill>
                  <a:srgbClr val="FFFFFF"/>
                </a:solidFill>
                <a:latin typeface="Aptos"/>
              </a:rPr>
              <a:t>Offering C speculative loop</a:t>
            </a:r>
          </a:p>
        </p:txBody>
      </p:sp>
      <p:sp>
        <p:nvSpPr>
          <p:cNvPr id="19" name="TextBox 18"/>
          <p:cNvSpPr txBox="1"/>
          <p:nvPr/>
        </p:nvSpPr>
        <p:spPr>
          <a:xfrm>
            <a:off x="8311896" y="3209544"/>
            <a:ext cx="3054096" cy="411480"/>
          </a:xfrm>
          <a:prstGeom prst="rect">
            <a:avLst/>
          </a:prstGeom>
          <a:noFill/>
        </p:spPr>
        <p:txBody>
          <a:bodyPr wrap="square" lIns="27432" rIns="27432" tIns="27432" bIns="27432" anchor="t">
            <a:spAutoFit/>
          </a:bodyPr>
          <a:lstStyle/>
          <a:p>
            <a:pPr algn="l">
              <a:spcAft>
                <a:spcPts val="0"/>
              </a:spcAft>
            </a:pPr>
            <a:r>
              <a:rPr sz="1019" b="0">
                <a:solidFill>
                  <a:srgbClr val="C7D3DF"/>
                </a:solidFill>
                <a:latin typeface="Aptos"/>
              </a:rPr>
              <a:t>Select draft pair; simulate acceptance; implement target-correct verify/rollback; retain auto fallback.</a:t>
            </a:r>
          </a:p>
        </p:txBody>
      </p:sp>
      <p:sp>
        <p:nvSpPr>
          <p:cNvPr id="20" name="TextBox 19"/>
          <p:cNvSpPr txBox="1"/>
          <p:nvPr/>
        </p:nvSpPr>
        <p:spPr>
          <a:xfrm>
            <a:off x="594360" y="4224528"/>
            <a:ext cx="1645920" cy="246888"/>
          </a:xfrm>
          <a:prstGeom prst="rect">
            <a:avLst/>
          </a:prstGeom>
          <a:noFill/>
        </p:spPr>
        <p:txBody>
          <a:bodyPr wrap="square" lIns="27432" rIns="27432" tIns="27432" bIns="27432" anchor="t">
            <a:spAutoFit/>
          </a:bodyPr>
          <a:lstStyle/>
          <a:p>
            <a:pPr algn="l">
              <a:spcAft>
                <a:spcPts val="0"/>
              </a:spcAft>
            </a:pPr>
            <a:r>
              <a:rPr sz="1100" b="1">
                <a:solidFill>
                  <a:srgbClr val="E31837"/>
                </a:solidFill>
                <a:latin typeface="Aptos"/>
              </a:rPr>
              <a:t>FIRST 90 DAYS</a:t>
            </a:r>
          </a:p>
        </p:txBody>
      </p:sp>
      <p:sp>
        <p:nvSpPr>
          <p:cNvPr id="21" name="TextBox 20"/>
          <p:cNvSpPr txBox="1"/>
          <p:nvPr/>
        </p:nvSpPr>
        <p:spPr>
          <a:xfrm>
            <a:off x="594360" y="4636008"/>
            <a:ext cx="658368" cy="292608"/>
          </a:xfrm>
          <a:prstGeom prst="rect">
            <a:avLst/>
          </a:prstGeom>
          <a:noFill/>
        </p:spPr>
        <p:txBody>
          <a:bodyPr wrap="square" lIns="27432" rIns="27432" tIns="27432" bIns="27432" anchor="t">
            <a:spAutoFit/>
          </a:bodyPr>
          <a:lstStyle/>
          <a:p>
            <a:pPr algn="l">
              <a:spcAft>
                <a:spcPts val="0"/>
              </a:spcAft>
            </a:pPr>
            <a:r>
              <a:rPr sz="1800" b="1">
                <a:solidFill>
                  <a:srgbClr val="E31837"/>
                </a:solidFill>
                <a:latin typeface="Aptos Display"/>
              </a:rPr>
              <a:t>0–30</a:t>
            </a:r>
          </a:p>
        </p:txBody>
      </p:sp>
      <p:sp>
        <p:nvSpPr>
          <p:cNvPr id="22" name="TextBox 21"/>
          <p:cNvSpPr txBox="1"/>
          <p:nvPr/>
        </p:nvSpPr>
        <p:spPr>
          <a:xfrm>
            <a:off x="1344168" y="4617720"/>
            <a:ext cx="2706624" cy="530352"/>
          </a:xfrm>
          <a:prstGeom prst="rect">
            <a:avLst/>
          </a:prstGeom>
          <a:noFill/>
        </p:spPr>
        <p:txBody>
          <a:bodyPr wrap="square" lIns="27432" rIns="27432" tIns="27432" bIns="27432" anchor="t">
            <a:spAutoFit/>
          </a:bodyPr>
          <a:lstStyle/>
          <a:p>
            <a:pPr algn="l">
              <a:spcAft>
                <a:spcPts val="0"/>
              </a:spcAft>
            </a:pPr>
            <a:r>
              <a:rPr sz="1120" b="1">
                <a:solidFill>
                  <a:srgbClr val="FFFFFF"/>
                </a:solidFill>
                <a:latin typeface="Aptos"/>
              </a:rPr>
              <a:t>Freeze Qwen profile, native model contract and NVIDIA controls</a:t>
            </a:r>
          </a:p>
        </p:txBody>
      </p:sp>
      <p:cxnSp>
        <p:nvCxnSpPr>
          <p:cNvPr id="23" name="Connector 22"/>
          <p:cNvCxnSpPr/>
          <p:nvPr/>
        </p:nvCxnSpPr>
        <p:spPr>
          <a:xfrm>
            <a:off x="4105656" y="4846320"/>
            <a:ext cx="192024" cy="0"/>
          </a:xfrm>
          <a:prstGeom prst="line">
            <a:avLst/>
          </a:prstGeom>
          <a:ln w="190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70832" y="4636008"/>
            <a:ext cx="658368" cy="292608"/>
          </a:xfrm>
          <a:prstGeom prst="rect">
            <a:avLst/>
          </a:prstGeom>
          <a:noFill/>
        </p:spPr>
        <p:txBody>
          <a:bodyPr wrap="square" lIns="27432" rIns="27432" tIns="27432" bIns="27432" anchor="t">
            <a:spAutoFit/>
          </a:bodyPr>
          <a:lstStyle/>
          <a:p>
            <a:pPr algn="l">
              <a:spcAft>
                <a:spcPts val="0"/>
              </a:spcAft>
            </a:pPr>
            <a:r>
              <a:rPr sz="1800" b="1">
                <a:solidFill>
                  <a:srgbClr val="E31837"/>
                </a:solidFill>
                <a:latin typeface="Aptos Display"/>
              </a:rPr>
              <a:t>31–60</a:t>
            </a:r>
          </a:p>
        </p:txBody>
      </p:sp>
      <p:sp>
        <p:nvSpPr>
          <p:cNvPr id="25" name="TextBox 24"/>
          <p:cNvSpPr txBox="1"/>
          <p:nvPr/>
        </p:nvSpPr>
        <p:spPr>
          <a:xfrm>
            <a:off x="5120640" y="4617720"/>
            <a:ext cx="2706624" cy="530352"/>
          </a:xfrm>
          <a:prstGeom prst="rect">
            <a:avLst/>
          </a:prstGeom>
          <a:noFill/>
        </p:spPr>
        <p:txBody>
          <a:bodyPr wrap="square" lIns="27432" rIns="27432" tIns="27432" bIns="27432" anchor="t">
            <a:spAutoFit/>
          </a:bodyPr>
          <a:lstStyle/>
          <a:p>
            <a:pPr algn="l">
              <a:spcAft>
                <a:spcPts val="0"/>
              </a:spcAft>
            </a:pPr>
            <a:r>
              <a:rPr sz="1120" b="1">
                <a:solidFill>
                  <a:srgbClr val="FFFFFF"/>
                </a:solidFill>
                <a:latin typeface="Aptos"/>
              </a:rPr>
              <a:t>Compile/load complete native pack; emulate A and KV/verify interfaces</a:t>
            </a:r>
          </a:p>
        </p:txBody>
      </p:sp>
      <p:cxnSp>
        <p:nvCxnSpPr>
          <p:cNvPr id="26" name="Connector 25"/>
          <p:cNvCxnSpPr/>
          <p:nvPr/>
        </p:nvCxnSpPr>
        <p:spPr>
          <a:xfrm>
            <a:off x="7882128" y="4846320"/>
            <a:ext cx="192024" cy="0"/>
          </a:xfrm>
          <a:prstGeom prst="line">
            <a:avLst/>
          </a:prstGeom>
          <a:ln w="19050">
            <a:solidFill>
              <a:srgbClr val="64748B"/>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47304" y="4636008"/>
            <a:ext cx="658368" cy="292608"/>
          </a:xfrm>
          <a:prstGeom prst="rect">
            <a:avLst/>
          </a:prstGeom>
          <a:noFill/>
        </p:spPr>
        <p:txBody>
          <a:bodyPr wrap="square" lIns="27432" rIns="27432" tIns="27432" bIns="27432" anchor="t">
            <a:spAutoFit/>
          </a:bodyPr>
          <a:lstStyle/>
          <a:p>
            <a:pPr algn="l">
              <a:spcAft>
                <a:spcPts val="0"/>
              </a:spcAft>
            </a:pPr>
            <a:r>
              <a:rPr sz="1800" b="1">
                <a:solidFill>
                  <a:srgbClr val="E31837"/>
                </a:solidFill>
                <a:latin typeface="Aptos Display"/>
              </a:rPr>
              <a:t>61–90</a:t>
            </a:r>
          </a:p>
        </p:txBody>
      </p:sp>
      <p:sp>
        <p:nvSpPr>
          <p:cNvPr id="28" name="TextBox 27"/>
          <p:cNvSpPr txBox="1"/>
          <p:nvPr/>
        </p:nvSpPr>
        <p:spPr>
          <a:xfrm>
            <a:off x="8897112" y="4617720"/>
            <a:ext cx="2706624" cy="530352"/>
          </a:xfrm>
          <a:prstGeom prst="rect">
            <a:avLst/>
          </a:prstGeom>
          <a:noFill/>
        </p:spPr>
        <p:txBody>
          <a:bodyPr wrap="square" lIns="27432" rIns="27432" tIns="27432" bIns="27432" anchor="t">
            <a:spAutoFit/>
          </a:bodyPr>
          <a:lstStyle/>
          <a:p>
            <a:pPr algn="l">
              <a:spcAft>
                <a:spcPts val="0"/>
              </a:spcAft>
            </a:pPr>
            <a:r>
              <a:rPr sz="1120" b="1">
                <a:solidFill>
                  <a:srgbClr val="FFFFFF"/>
                </a:solidFill>
                <a:latin typeface="Aptos"/>
              </a:rPr>
              <a:t>Run physical A primitive; return B/C go/no-go and OEM path</a:t>
            </a:r>
          </a:p>
        </p:txBody>
      </p:sp>
      <p:sp>
        <p:nvSpPr>
          <p:cNvPr id="29" name="Rounded Rectangle 28"/>
          <p:cNvSpPr/>
          <p:nvPr/>
        </p:nvSpPr>
        <p:spPr>
          <a:xfrm>
            <a:off x="594360" y="5596128"/>
            <a:ext cx="10972800" cy="502920"/>
          </a:xfrm>
          <a:prstGeom prst="roundRect">
            <a:avLst/>
          </a:prstGeom>
          <a:solidFill>
            <a:srgbClr val="2A1D25"/>
          </a:solidFill>
          <a:ln w="12700">
            <a:solidFill>
              <a:srgbClr val="5D27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724144"/>
            <a:ext cx="10515600" cy="256032"/>
          </a:xfrm>
          <a:prstGeom prst="rect">
            <a:avLst/>
          </a:prstGeom>
          <a:noFill/>
        </p:spPr>
        <p:txBody>
          <a:bodyPr wrap="square" lIns="27432" rIns="27432" tIns="27432" bIns="27432" anchor="t">
            <a:spAutoFit/>
          </a:bodyPr>
          <a:lstStyle/>
          <a:p>
            <a:pPr algn="l">
              <a:spcAft>
                <a:spcPts val="0"/>
              </a:spcAft>
            </a:pPr>
            <a:r>
              <a:rPr sz="1150" b="1">
                <a:solidFill>
                  <a:srgbClr val="E31837"/>
                </a:solidFill>
                <a:latin typeface="Aptos"/>
              </a:rPr>
              <a:t>HOLD  </a:t>
            </a:r>
            <a:r>
              <a:rPr sz="1150" b="0">
                <a:solidFill>
                  <a:srgbClr val="FFFFFF"/>
                </a:solidFill>
                <a:latin typeface="Aptos"/>
              </a:rPr>
              <a:t>Performance, product date, GPU reduction and TCO claims until a named configuration passes quality, service, failure, lifecycle and support gates.</a:t>
            </a:r>
          </a:p>
        </p:txBody>
      </p:sp>
      <p:sp>
        <p:nvSpPr>
          <p:cNvPr id="31" name="TextBox 30"/>
          <p:cNvSpPr txBox="1"/>
          <p:nvPr/>
        </p:nvSpPr>
        <p:spPr>
          <a:xfrm>
            <a:off x="594360" y="6473952"/>
            <a:ext cx="9601200" cy="164592"/>
          </a:xfrm>
          <a:prstGeom prst="rect">
            <a:avLst/>
          </a:prstGeom>
          <a:noFill/>
        </p:spPr>
        <p:txBody>
          <a:bodyPr wrap="square" lIns="27432" rIns="27432" tIns="27432" bIns="27432" anchor="t">
            <a:spAutoFit/>
          </a:bodyPr>
          <a:lstStyle/>
          <a:p>
            <a:pPr algn="l">
              <a:spcAft>
                <a:spcPts val="0"/>
              </a:spcAft>
            </a:pPr>
            <a:r>
              <a:rPr sz="750" b="1">
                <a:solidFill>
                  <a:srgbClr val="8294A8"/>
                </a:solidFill>
                <a:latin typeface="Aptos"/>
              </a:rPr>
              <a:t>INTERNAL • 02 OCT 2026 • SOURCES AND CALCULATIONS IN SPEAKER NOTES</a:t>
            </a:r>
          </a:p>
        </p:txBody>
      </p:sp>
      <p:sp>
        <p:nvSpPr>
          <p:cNvPr id="32" name="TextBox 31"/>
          <p:cNvSpPr txBox="1"/>
          <p:nvPr/>
        </p:nvSpPr>
        <p:spPr>
          <a:xfrm>
            <a:off x="11064240" y="6473952"/>
            <a:ext cx="384048" cy="164592"/>
          </a:xfrm>
          <a:prstGeom prst="rect">
            <a:avLst/>
          </a:prstGeom>
          <a:noFill/>
        </p:spPr>
        <p:txBody>
          <a:bodyPr wrap="square" lIns="27432" rIns="27432" tIns="27432" bIns="27432" anchor="t">
            <a:spAutoFit/>
          </a:bodyPr>
          <a:lstStyle/>
          <a:p>
            <a:pPr algn="r">
              <a:spcAft>
                <a:spcPts val="0"/>
              </a:spcAft>
            </a:pPr>
            <a:r>
              <a:rPr sz="750" b="1">
                <a:solidFill>
                  <a:srgbClr val="8294A8"/>
                </a:solidFill>
                <a:latin typeface="Apto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 Three Technical Offerings</dc:title>
  <dc:subject>ATMOS technical value against NVIDIA Hopper and Blackwell architectures</dc:subject>
  <dc:creator>SanDisk ATMOS Strategy</dc:creator>
  <cp:keywords/>
  <dc:description>Internal technical proposal; no measured ATMOS performance claims.</dc:description>
  <cp:lastModifiedBy>SanDisk ATMOS Strategy</cp:lastModifiedBy>
  <cp:revision>4</cp:revision>
  <dcterms:created xsi:type="dcterms:W3CDTF">2026-10-02T19:23:32Z</dcterms:created>
  <dcterms:modified xsi:type="dcterms:W3CDTF">2026-10-02T19:23:32Z</dcterms:modified>
  <cp:category/>
</cp:coreProperties>
</file>