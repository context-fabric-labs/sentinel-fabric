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product distinction: these are three enterprise service offerings, not three ways to patch a GPU expert layer. A is an independent native MoE service. B separates complete GPU prefill from complete ATMOS decode. C pairs a small GPU drafter with an ATMOS target verifier. Recommend A as the base product because its customer integration is at the request boundary. B and C are conditional capabilities, not established ATMOS features. The removed whole-layer pipeline is not part of this portfolio. Use slides 1–14 for the decision discussion and slides 15–18 as backup. All appliance specifications, native runtime support and performance claims still require qualification.</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Lloyds is the public enterprise-demand example, not a claimed ATMOS customer. The public release reports Athena used by 20,000 colleagues and a 66% reduction in average search time. It does not disclose the model, GPU inventory, token traffic or inference cost. The document-processing flow is a proposed pilot inspired by that deployment pattern. The pilot retains the source deck's 4,096-input-token / up-to-512-output-token profile, an 8K total-context cap and proposed p95 completion within 120 seconds. The deadline includes queueing, prefill and decode. Do not present it as a measured ATMOS SLA. Retrieval, document authorization and autonomous banking decisions remain outside the initial model-serving product.</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[S1] Lloyds Banking Group — AI-driven benefits, 29 Jan 2026</a:t>
            </a:r>
          </a:p>
          <a:p>
            <a:r>
              <a:t>https://www.lloydsbankinggroup.com/media/press-releases/2026/lloyds-banking-group/ai-driven-benefits-2026.html</a:t>
            </a:r>
          </a:p>
          <a:p>
            <a:r>
              <a:t>Athena used by 20,000 colleagues; reported average search-time reduction 66%. Not an ATMOS customer, disclosed GPU deployment, token trace or inference-cost comparison.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each offering in the same order: customer problem, what we deliver, execution boundary and benefit to prove. A sells independent inference capacity. B sells a coordinated two-phase service with a real cache handoff. C sells target-model acceleration through verified draft proposals. The native ATMOS runtime is shared, but the integration contracts are different. A needs endpoint registration and routing policy. B needs access to a compatible GPU prefill connector. C needs a new draft/target runtime and state protocol. None follows from simply applying labels to a Pod. Do not promise a universal throughput uplift or lower cost before testing the intended workload.</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one request. The gateway chooses one eligible complete service, not both. On the ATMOS side, the native runtime performs full prompt processing, creates its own active KV and then runs complete decode, including attention, routing, experts, combine and output. GPU-served requests retain their independent GPU cache. No GPU KV or per-layer target activation is sent to ATMOS for offering A. HBF is the proposed full-model weight store; NPU-addressable working memory must hold active KV and scratch. A large model may span several modules, in which case its native inter-device communication must be qualified. The public TT plugin is a packaging precedent, not an ATMOS compatibility certificate. A separate appliance protects the existing GPU deployment; a shared Kubernetes deployment still needs approved host and cluster changes.</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[S5] Tenstorrent — vLLM platform plugin</a:t>
            </a:r>
          </a:p>
          <a:p>
            <a:r>
              <a:t>https://github.com/tenstorrent/vllm-tt-plugin</a:t>
            </a:r>
          </a:p>
          <a:p>
            <a:r>
              <a:t>Public precedent for a native platform plugin with loading, worker execution and scheduling. Does not certify ATMOS silicon, HBF/LPDDR access, full-model support or service rates.</a:t>
            </a:r>
          </a:p>
          <a:p/>
          <a:p>
            <a:r>
              <a:t>[S10] Kubernetes — device plugins</a:t>
            </a:r>
          </a:p>
          <a:p>
            <a:r>
              <a:t>https://kubernetes.io/docs/concepts/extend-kubernetes/compute-storage-net/device-plugins/</a:t>
            </a:r>
          </a:p>
          <a:p>
            <a:r>
              <a:t>Resource discovery/advertisement and allocation. Labels do not allocate NPUs or establish model readiness. Proposed Sandisk whole-device allocation and lifecycle are new product work.</a:t>
            </a:r>
          </a:p>
          <a:p/>
          <a:p>
            <a:r>
              <a:t>[I1] Internal ATMOS planning envelope</a:t>
            </a:r>
          </a:p>
          <a:p/>
          <a:p>
            <a:r>
              <a:t>Source deck slides 5–6 and 12; supplied ATMOS proposal. Up to 128 GB HBF per E3.S, 100 GB application study budget, 8–16 GB LPDDR, 200 GB/s local-read target. Unqualified device targets: not production specification, native runtime support, price or throughput.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demand split is an illustration inherited from the source deck: 20,000 users × 40% daily activity × 6 calls gives 48,000 calls/day. A proposed 40% eligible share directs 19,200 jobs to ATMOS and leaves 28,800 calls on the GPU service. These are not Lloyds measurements. Under the original eight-hour service window and 3× peak assumption, ATMOS-eligible peak demand is 2 requests/s. Redirecting 40% of calls does not imply 40% less GPU capacity because request sizes, service time, utilization and reserve differ. The customer benefit is independently managed private capacity and reduced competition with interactive work. Savings are credited only when capacity is retired, usefully repurposed or not purchased. Compare ATMOS with a GPU allowed the same model, deadline and batching policy.</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[S1] Lloyds Banking Group — AI-driven benefits, 29 Jan 2026</a:t>
            </a:r>
          </a:p>
          <a:p>
            <a:r>
              <a:t>https://www.lloydsbankinggroup.com/media/press-releases/2026/lloyds-banking-group/ai-driven-benefits-2026.html</a:t>
            </a:r>
          </a:p>
          <a:p>
            <a:r>
              <a:t>Athena used by 20,000 colleagues; reported average search-time reduction 66%. Not an ATMOS customer, disclosed GPU deployment, token trace or inference-cost comparison.</a:t>
            </a:r>
          </a:p>
          <a:p/>
          <a:p>
            <a:r>
              <a:t>[S10] Kubernetes — device plugins</a:t>
            </a:r>
          </a:p>
          <a:p>
            <a:r>
              <a:t>https://kubernetes.io/docs/concepts/extend-kubernetes/compute-storage-net/device-plugins/</a:t>
            </a:r>
          </a:p>
          <a:p>
            <a:r>
              <a:t>Resource discovery/advertisement and allocation. Labels do not allocate NPUs or establish model readiness. Proposed Sandisk whole-device allocation and lifecycle are new product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GPU prefill runs the complete target model, including attention and FFNs. It therefore retains full compatible model weights. ATMOS also holds the target weights and implements the complete decoder. At the phase boundary, transfer KV blocks and continuation metadata. This may use blockwise or layerwise transfers; it does not mean one DMA command. The contract must define model identity, positions, dtype/scales, cache layout, head/shard ownership, fences and first-token handling. After a successful handoff, the prefill pool can accept other work. If the decoder backs up, that benefit is not guaranteed. Native ATMOS decode has no repeated return to the GPU at each model layer. Public Dynamo, vLLM and LMCache mechanisms do not supply a qualified ATMOS decoder or guarantee compatible cache formats.</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[S6] NVIDIA Dynamo — disaggregated serving</a:t>
            </a:r>
          </a:p>
          <a:p>
            <a:r>
              <a:t>https://docs.nvidia.com/dynamo/components/router/disaggregated-serving</a:t>
            </a:r>
          </a:p>
          <a:p>
            <a:r>
              <a:t>Separate prefill/decode worker pools and KV handoff are documented. A cross-GPU/ATMOS deployment, its backend and cache interoperability must be implemented and qualified separately.</a:t>
            </a:r>
          </a:p>
          <a:p/>
          <a:p>
            <a:r>
              <a:t>[S7] vLLM — disaggregated prefilling</a:t>
            </a:r>
          </a:p>
          <a:p>
            <a:r>
              <a:t>https://docs.vllm.ai/en/latest/features/disagg_prefill/</a:t>
            </a:r>
          </a:p>
          <a:p>
            <a:r>
              <a:t>Connector-based KV handoff; an ordinary chat API does not expose native cache state. Public framework capability does not imply an ATMOS decoder exists.</a:t>
            </a:r>
          </a:p>
          <a:p/>
          <a:p>
            <a:r>
              <a:t>[S8] LMCache — KV management layer</a:t>
            </a:r>
          </a:p>
          <a:p>
            <a:r>
              <a:t>https://docs.lmcache.ai/</a:t>
            </a:r>
          </a:p>
          <a:p>
            <a:r>
              <a:t>Public KV-management and transfer framework. It is not an attention kernel, full ATMOS model runtime or proof of a compatible device layout.</a:t>
            </a:r>
          </a:p>
          <a:p/>
          <a:p>
            <a:r>
              <a:t>[S2] Qwen3-235B-A22B — model configuration</a:t>
            </a:r>
          </a:p>
          <a:p>
            <a:r>
              <a:t>https://huggingface.co/Qwen/Qwen3-235B-A22B/blob/main/config.json</a:t>
            </a:r>
          </a:p>
          <a:p>
            <a:r>
              <a:t>94 layers, 4 KV heads, head dimension 128, 128 experts, top-8. KV calculations assume BF16 values and full logical cached context; exclude duplication, block rounding and workspace.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purpose-built paired service. It can use a newly provisioned GPU prefill pool rather than alter the customer's protected GPU service, but that new pool still needs connector integration. GPU and ATMOS group counts are determined by measured rates, input/output distributions and reserve policy. Do not prescribe an unmeasured 1:4 or 1:8 ratio. Qwen3-235B BF16 logical prompt KV is 2 × 94 × 4 × 128 × 2 × 4,096 = 788,529,152 bytes, or 0.734375 GiB. At 2 requests/s this is 1.46875 GiB/s, before layout duplication, staging and protocol costs. No prefix-reuse or compression benefit is assumed. TTFT includes the exposed prefill/handoff cost; ATMOS decode must separately meet TPOT. Full model weights are present in both phase pools, so do not inherit the old GPU weight-reclamation claim.</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[S2] Qwen3-235B-A22B — model configuration</a:t>
            </a:r>
          </a:p>
          <a:p>
            <a:r>
              <a:t>https://huggingface.co/Qwen/Qwen3-235B-A22B/blob/main/config.json</a:t>
            </a:r>
          </a:p>
          <a:p>
            <a:r>
              <a:t>94 layers, 4 KV heads, head dimension 128, 128 experts, top-8. KV calculations assume BF16 values and full logical cached context; exclude duplication, block rounding and workspace.</a:t>
            </a:r>
          </a:p>
          <a:p/>
          <a:p>
            <a:r>
              <a:t>[S6] NVIDIA Dynamo — disaggregated serving</a:t>
            </a:r>
          </a:p>
          <a:p>
            <a:r>
              <a:t>https://docs.nvidia.com/dynamo/components/router/disaggregated-serving</a:t>
            </a:r>
          </a:p>
          <a:p>
            <a:r>
              <a:t>Separate prefill/decode worker pools and KV handoff are documented. A cross-GPU/ATMOS deployment, its backend and cache interoperability must be implemented and qualified separately.</a:t>
            </a:r>
          </a:p>
          <a:p/>
          <a:p>
            <a:r>
              <a:t>[S7] vLLM — disaggregated prefilling</a:t>
            </a:r>
          </a:p>
          <a:p>
            <a:r>
              <a:t>https://docs.vllm.ai/en/latest/features/disagg_prefill/</a:t>
            </a:r>
          </a:p>
          <a:p>
            <a:r>
              <a:t>Connector-based KV handoff; an ordinary chat API does not expose native cache state. Public framework capability does not imply an ATMOS decoder exists.</a:t>
            </a:r>
          </a:p>
          <a:p/>
          <a:p>
            <a:r>
              <a:t>[S8] LMCache — KV management layer</a:t>
            </a:r>
          </a:p>
          <a:p>
            <a:r>
              <a:t>https://docs.lmcache.ai/</a:t>
            </a:r>
          </a:p>
          <a:p>
            <a:r>
              <a:t>Public KV-management and transfer framework. It is not an attention kernel, full ATMOS model runtime or proof of a compatible device layout.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drafter is a separate small model selected for speed, tokenizer compatibility and acceptance. The ATMOS target remains the approved large MoE. Each has its own KV cache, and each must initialize prompt state. This offering does not silently include GPU prefill of the target from offering B. Candidate tokens plus algorithm-required metadata are exchanged per verification cycle. Some exact protocols require draft probability information, so token IDs alone are not a universal wire contract. The target scores candidates, commits accepted output and applies the prescribed correction procedure. Rejected speculative cache state is safely reclaimed, and the draft follows the committed prefix. This is not voting or a quality-classifier shortcut. Distribution preservation is an algorithmic property under the specified procedure; the implementation still needs numerical and end-to-end validation.</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[S9] Leviathan et al. — Fast Inference from Transformers via Speculative Decoding</a:t>
            </a:r>
          </a:p>
          <a:p>
            <a:r>
              <a:t>https://proceedings.mlr.press/v202/leviathan23a.html</a:t>
            </a:r>
          </a:p>
          <a:p>
            <a:r>
              <a:t>ICML 2023 algorithmic precedent for draft proposals and target acceptance/correction. Distribution preservation requires the correct algorithm, not voting or a quality classifier. No ATMOS timing or acceptance rate is supplied.</a:t>
            </a:r>
          </a:p>
          <a:p/>
          <a:p>
            <a:r>
              <a:t>[S5] Tenstorrent — vLLM platform plugin</a:t>
            </a:r>
          </a:p>
          <a:p>
            <a:r>
              <a:t>https://github.com/tenstorrent/vllm-tt-plugin</a:t>
            </a:r>
          </a:p>
          <a:p>
            <a:r>
              <a:t>Public precedent for a native platform plugin with loading, worker execution and scheduling. Does not certify ATMOS silicon, HBF/LPDDR access, full-model support or service rates.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timings on this slide are new illustrative inputs. The ordinary target is assumed to take 80 ms per token. A speculative cycle, including drafting, target verification and protocol, is assumed to take 120 ms. If that cycle commits three output tokens on average, it takes 40 ms per committed token, or twice the ordinary rate. If only one token is committed, it is slower at 120 ms/token. Four candidate tokens is not the same as three committed tokens. Define accepted output consistently, including any corrected or bonus token produced by the chosen algorithm. Real verification can touch more experts and consume more cache or bandwidth, so block execution does not guarantee a gain. Qualify the complete draft/target pair and retain normal target decoding when speculation loses.</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[S9] Leviathan et al. — Fast Inference from Transformers via Speculative Decoding</a:t>
            </a:r>
          </a:p>
          <a:p>
            <a:r>
              <a:t>https://proceedings.mlr.press/v202/leviathan23a.html</a:t>
            </a:r>
          </a:p>
          <a:p>
            <a:r>
              <a:t>ICML 2023 algorithmic precedent for draft proposals and target acceptance/correction. Distribution preservation requires the correct algorithm, not voting or a quality classifier. No ATMOS timing or acceptance rate is supplied.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source deck's OEM study configuration, not a validated BOM. The EPYC 9355P is a public CPU reference. Host DDR5, mirrored NVMe, dual 100 GbE and chassis details are proposed selections. Host DRAM is not automatically NPU-addressable active KV memory. Eight modules give 1,024 GB nominal HBF; the study allocates 100 GB per device, or 800 GB. Select the 16 GB LPDDR target for this study; a provisional 4 GB/device reserve leaves 96 GB aggregate, not a unified pool. Two four-device branches with x16 uplinks consume 32 host lanes, so they do not save lanes relative to eight direct x4 links. Native inter-device collectives and failure domains require validation. B's prefill pool may be a separate supported GPU node. C's draft GPU is selected only after model fit and acceptance testing.</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[S4] AMD — EPYC 9355P specification</a:t>
            </a:r>
          </a:p>
          <a:p>
            <a:r>
              <a:t>https://www.amd.com/en/products/processors/server/epyc/9005-series/amd-epyc-9355p.html</a:t>
            </a:r>
          </a:p>
          <a:p>
            <a:r>
              <a:t>Public CPU reference: 32 cores, one socket, 128 PCIe Gen5 lanes and 12 DDR5 channels. All appliance population, cooling and network selections are proposed OEM study inputs, not certification.</a:t>
            </a:r>
          </a:p>
          <a:p/>
          <a:p>
            <a:r>
              <a:t>[I1] Internal ATMOS planning envelope</a:t>
            </a:r>
          </a:p>
          <a:p/>
          <a:p>
            <a:r>
              <a:t>Source deck slides 5–6 and 12; supplied ATMOS proposal. Up to 128 GB HBF per E3.S, 100 GB application study budget, 8–16 GB LPDDR, 200 GB/s local-read target. Unqualified device targets: not production specification, native runtime support, price or throughput.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customer impact from vendor firmware changes. A uses an additional endpoint and does not need changes to the existing GPU inference engine. B requires a compatible GPU prefill export interface. C requires draft/target serving integration. B or C may be delivered as new services alongside the untouched customer deployment. None is merely a gateway rule. The design prohibits private NVIDIA or AMD driver/firmware patches, but does not assume every public interface works on every platform. Kubernetes allocates hardware resources; the ATMOS runtime executes the model; readiness must represent complete model coverage. SanDisk owns service qualification and lifecycle, Tenstorrent supplies the committed native backend, and the OEM owns the supported physical configuration. Those assignments still need explicit partner commitments.</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[S5] Tenstorrent — vLLM platform plugin</a:t>
            </a:r>
          </a:p>
          <a:p>
            <a:r>
              <a:t>https://github.com/tenstorrent/vllm-tt-plugin</a:t>
            </a:r>
          </a:p>
          <a:p>
            <a:r>
              <a:t>Public precedent for a native platform plugin with loading, worker execution and scheduling. Does not certify ATMOS silicon, HBF/LPDDR access, full-model support or service rates.</a:t>
            </a:r>
          </a:p>
          <a:p/>
          <a:p>
            <a:r>
              <a:t>[S6] NVIDIA Dynamo — disaggregated serving</a:t>
            </a:r>
          </a:p>
          <a:p>
            <a:r>
              <a:t>https://docs.nvidia.com/dynamo/components/router/disaggregated-serving</a:t>
            </a:r>
          </a:p>
          <a:p>
            <a:r>
              <a:t>Separate prefill/decode worker pools and KV handoff are documented. A cross-GPU/ATMOS deployment, its backend and cache interoperability must be implemented and qualified separately.</a:t>
            </a:r>
          </a:p>
          <a:p/>
          <a:p>
            <a:r>
              <a:t>[S7] vLLM — disaggregated prefilling</a:t>
            </a:r>
          </a:p>
          <a:p>
            <a:r>
              <a:t>https://docs.vllm.ai/en/latest/features/disagg_prefill/</a:t>
            </a:r>
          </a:p>
          <a:p>
            <a:r>
              <a:t>Connector-based KV handoff; an ordinary chat API does not expose native cache state. Public framework capability does not imply an ATMOS decoder exists.</a:t>
            </a:r>
          </a:p>
          <a:p/>
          <a:p>
            <a:r>
              <a:t>[S8] LMCache — KV management layer</a:t>
            </a:r>
          </a:p>
          <a:p>
            <a:r>
              <a:t>https://docs.lmcache.ai/</a:t>
            </a:r>
          </a:p>
          <a:p>
            <a:r>
              <a:t>Public KV-management and transfer framework. It is not an attention kernel, full ATMOS model runtime or proof of a compatible device layout.</a:t>
            </a:r>
          </a:p>
          <a:p/>
          <a:p>
            <a:r>
              <a:t>[S9] Leviathan et al. — Fast Inference from Transformers via Speculative Decoding</a:t>
            </a:r>
          </a:p>
          <a:p>
            <a:r>
              <a:t>https://proceedings.mlr.press/v202/leviathan23a.html</a:t>
            </a:r>
          </a:p>
          <a:p>
            <a:r>
              <a:t>ICML 2023 algorithmic precedent for draft proposals and target acceptance/correction. Distribution preservation requires the correct algorithm, not voting or a quality classifier. No ATMOS timing or acceptance rate is supplied.</a:t>
            </a:r>
          </a:p>
          <a:p/>
          <a:p>
            <a:r>
              <a:t>[S10] Kubernetes — device plugins</a:t>
            </a:r>
          </a:p>
          <a:p>
            <a:r>
              <a:t>https://kubernetes.io/docs/concepts/extend-kubernetes/compute-storage-net/device-plugins/</a:t>
            </a:r>
          </a:p>
          <a:p>
            <a:r>
              <a:t>Resource discovery/advertisement and allocation. Labels do not allocate NPUs or establish model readiness. Proposed Sandisk whole-device allocation and lifecycle are new product 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Account for full model weights rather than only experts. The raw FP8/16-bit numbers and 100 GB/device capacity floors are inherited from the source deck. They exclude scales, mixed-precision tensors, alignment, replicas and runtime memory. A raw capacity floor is not a recommendation for device count or a statement of compiler support. Qwen3-235B with BF16 KV needs 1.46875 GiB per 8K sequence; 32 sequences need 47 GiB. At 32K total context, the same 32 sequences need 188 GiB, which exceeds eight 16 GB LPDDR devices before reserve. Per-device sharding, layout replication and scratch can tighten the budget further. DeepSeek's MLA needs its own cache calculation; do not apply the Qwen GQA formula. Different models also require separate quality acceptance.</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[S2] Qwen3-235B-A22B — model configuration</a:t>
            </a:r>
          </a:p>
          <a:p>
            <a:r>
              <a:t>https://huggingface.co/Qwen/Qwen3-235B-A22B/blob/main/config.json</a:t>
            </a:r>
          </a:p>
          <a:p>
            <a:r>
              <a:t>94 layers, 4 KV heads, head dimension 128, 128 experts, top-8. KV calculations assume BF16 values and full logical cached context; exclude duplication, block rounding and workspace.</a:t>
            </a:r>
          </a:p>
          <a:p/>
          <a:p>
            <a:r>
              <a:t>[S3] Qwen3-30B-A3B — model configuration</a:t>
            </a:r>
          </a:p>
          <a:p>
            <a:r>
              <a:t>https://huggingface.co/Qwen/Qwen3-30B-A3B/blob/main/config.json</a:t>
            </a:r>
          </a:p>
          <a:p>
            <a:r>
              <a:t>48 layers, 4 KV heads, head dimension 128; 128 experts and top-8. Source deck/publisher model card: about 30.5B total and 3.3B active parameters.</a:t>
            </a:r>
          </a:p>
          <a:p/>
          <a:p>
            <a:r>
              <a:t>[S11] DeepSeek-V3 — model configuration</a:t>
            </a:r>
          </a:p>
          <a:p>
            <a:r>
              <a:t>https://huggingface.co/deepseek-ai/DeepSeek-V3/blob/main/config.json</a:t>
            </a:r>
          </a:p>
          <a:p>
            <a:r>
              <a:t>Source deck retains publisher model geometry: approximately 671B total, 37B active, 256 routed plus shared expert, 58 MoE and 3 dense layers. MLA cache must be sized separately; Qwen GQA formula does not apply.</a:t>
            </a:r>
          </a:p>
          <a:p/>
          <a:p>
            <a:r>
              <a:t>[I1] Internal ATMOS planning envelope</a:t>
            </a:r>
          </a:p>
          <a:p/>
          <a:p>
            <a:r>
              <a:t>Source deck slides 5–6 and 12; supplied ATMOS proposal. Up to 128 GB HBF per E3.S, 100 GB application study budget, 8–16 GB LPDDR, 200 GB/s local-read target. Unqualified device targets: not production specification, native runtime support, price or throughput.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by the bottleneck, not by architectural novelty. A is the initial candidate for private document jobs where a native service meets the quality and deadline requirement. B is useful only if ATMOS decode is competitive and prompt processing is the remaining issue. C is useful only if target verification plus drafting produces more accepted output or lower latency. Each option must beat a same-workload control with matching precision, context, availability and operating hours. Reduced GPU utilization alone is not a saving. Pricing and power are measured or quoted later. Do not qualify B or C merely because A works; cache interoperability and speculative correctness are independent obligations.</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three offerings and four evidence gates. The simulator covers the complete native model, including attention, active KV and the device fabric. The emulator operates real software contracts and returns correct model results on surrogate compute, without claiming ATMOS silicon performance. Physical testing proves native offering A first and then exercises B's KV handoff and C's verification/rollback where justified. The customer pilot uses an authorized job trace and includes failure, upgrade, rollback and operating-cost evidence. Simulator and emulator work can overlap. Ask for one native runtime commitment, one OEM memory/fabric study and one named pilot owner. These gates do not imply a guaranteed six-month runtime delivery or product date.</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when asked what the actual adapter contains. A is a service API contract. B is a state-transfer contract. C is a verification-cycle contract. They are not interchangeable. B needs exact model/cache identities, positions, shard mapping and safe ownership; a pointer or a byte copy alone is insufficient. C needs the sampling protocol's required metadata and rejected-state cleanup, not just a list of guesses. All offerings rely on a full native ATMOS model backend, including attention, router, experts, combine and output. That is a broader deliverable than the earlier ExpertPack-only FFN compiler. Host-side control or sampling is acceptable only when declared, supported and included in the service cost.</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[S5] Tenstorrent — vLLM platform plugin</a:t>
            </a:r>
          </a:p>
          <a:p>
            <a:r>
              <a:t>https://github.com/tenstorrent/vllm-tt-plugin</a:t>
            </a:r>
          </a:p>
          <a:p>
            <a:r>
              <a:t>Public precedent for a native platform plugin with loading, worker execution and scheduling. Does not certify ATMOS silicon, HBF/LPDDR access, full-model support or service rates.</a:t>
            </a:r>
          </a:p>
          <a:p/>
          <a:p>
            <a:r>
              <a:t>[S6] NVIDIA Dynamo — disaggregated serving</a:t>
            </a:r>
          </a:p>
          <a:p>
            <a:r>
              <a:t>https://docs.nvidia.com/dynamo/components/router/disaggregated-serving</a:t>
            </a:r>
          </a:p>
          <a:p>
            <a:r>
              <a:t>Separate prefill/decode worker pools and KV handoff are documented. A cross-GPU/ATMOS deployment, its backend and cache interoperability must be implemented and qualified separately.</a:t>
            </a:r>
          </a:p>
          <a:p/>
          <a:p>
            <a:r>
              <a:t>[S7] vLLM — disaggregated prefilling</a:t>
            </a:r>
          </a:p>
          <a:p>
            <a:r>
              <a:t>https://docs.vllm.ai/en/latest/features/disagg_prefill/</a:t>
            </a:r>
          </a:p>
          <a:p>
            <a:r>
              <a:t>Connector-based KV handoff; an ordinary chat API does not expose native cache state. Public framework capability does not imply an ATMOS decoder exists.</a:t>
            </a:r>
          </a:p>
          <a:p/>
          <a:p>
            <a:r>
              <a:t>[S8] LMCache — KV management layer</a:t>
            </a:r>
          </a:p>
          <a:p>
            <a:r>
              <a:t>https://docs.lmcache.ai/</a:t>
            </a:r>
          </a:p>
          <a:p>
            <a:r>
              <a:t>Public KV-management and transfer framework. It is not an attention kernel, full ATMOS model runtime or proof of a compatible device layout.</a:t>
            </a:r>
          </a:p>
          <a:p/>
          <a:p>
            <a:r>
              <a:t>[S9] Leviathan et al. — Fast Inference from Transformers via Speculative Decoding</a:t>
            </a:r>
          </a:p>
          <a:p>
            <a:r>
              <a:t>https://proceedings.mlr.press/v202/leviathan23a.html</a:t>
            </a:r>
          </a:p>
          <a:p>
            <a:r>
              <a:t>ICML 2023 algorithmic precedent for draft proposals and target acceptance/correction. Distribution preservation requires the correct algorithm, not voting or a quality classifier. No ATMOS timing or acceptance rate is supplied.</a:t>
            </a:r>
          </a:p>
          <a:p/>
          <a:p>
            <a:r>
              <a:t>[S10] Kubernetes — device plugins</a:t>
            </a:r>
          </a:p>
          <a:p>
            <a:r>
              <a:t>https://kubernetes.io/docs/concepts/extend-kubernetes/compute-storage-net/device-plugins/</a:t>
            </a:r>
          </a:p>
          <a:p>
            <a:r>
              <a:t>Resource discovery/advertisement and allocation. Labels do not allocate NPUs or establish model readiness. Proposed Sandisk whole-device allocation and lifecycle are new product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Unrounded Qwen235 values: each cached token uses 192,512 bytes of logical BF16 KV. A 4,096-token prefix uses 788,529,152 bytes (0.734375 GiB); 8,192 tokens use 1,577,058,304 bytes (1.46875 GiB); 512 generated tokens add 98,566,144 bytes (94 MiB). Two 4K-prefix handoffs per second therefore carry 1.46875 GiB/s logically. Qwen30 uses 98,304 bytes per cached token, producing 0.375 GiB at 4K and 0.75 GiB at 8K. Total context includes prompt and generated tokens. FP8 weights do not change these BF16 KV assumptions. The nominal 128 GB and remaining 96 GB LPDDR amounts are decimal GB. Working-memory fit and communication must be evaluated per device. Neither HBF spill nor external host/CXL memory is counted as free active KV capacity.</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[S2] Qwen3-235B-A22B — model configuration</a:t>
            </a:r>
          </a:p>
          <a:p>
            <a:r>
              <a:t>https://huggingface.co/Qwen/Qwen3-235B-A22B/blob/main/config.json</a:t>
            </a:r>
          </a:p>
          <a:p>
            <a:r>
              <a:t>94 layers, 4 KV heads, head dimension 128, 128 experts, top-8. KV calculations assume BF16 values and full logical cached context; exclude duplication, block rounding and workspace.</a:t>
            </a:r>
          </a:p>
          <a:p/>
          <a:p>
            <a:r>
              <a:t>[S3] Qwen3-30B-A3B — model configuration</a:t>
            </a:r>
          </a:p>
          <a:p>
            <a:r>
              <a:t>https://huggingface.co/Qwen/Qwen3-30B-A3B/blob/main/config.json</a:t>
            </a:r>
          </a:p>
          <a:p>
            <a:r>
              <a:t>48 layers, 4 KV heads, head dimension 128; 128 experts and top-8. Source deck/publisher model card: about 30.5B total and 3.3B active parameters.</a:t>
            </a:r>
          </a:p>
          <a:p/>
          <a:p>
            <a:r>
              <a:t>[I1] Internal ATMOS planning envelope</a:t>
            </a:r>
          </a:p>
          <a:p/>
          <a:p>
            <a:r>
              <a:t>Source deck slides 5–6 and 12; supplied ATMOS proposal. Up to 128 GB HBF per E3.S, 100 GB application study budget, 8–16 GB LPDDR, 200 GB/s local-read target. Unqualified device targets: not production specification, native runtime support, price or throughput.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dollar figures are retained design-to-cost assumptions, not an updated quote. The source model is $80,000 capex + 3 × $12,000 support + 3 × $6,000 site/network/admin + 3 × (1.6 kW × 1.4 PUE × $0.12/kWh × 8,760 hours) = $141,064.064. The assumed 1.6 kW draw is not a hardware specification. Taxes, financing, product R&amp;D and customer migration are not included in that node allowance. Published cloud price tables and large fleet savings forecasts have been removed from the main story. Formal comparisons require current quotes, real operating hours, measured rates and matched reserve capacity. Offering B adds GPU prefill and KV transfer cost; C adds draft compute and rejected work. A slower cheaper node can still produce a more expensive fleet.</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supplied executive deck remains the basis. The revision retains the native, prefill/decode and speculative offerings, the OEM study envelope, model sizing and bounded bank pilot. It expands execution diagrams, deliverables and customer benefit explanations, while removing whole-layer pipelining and most financial detail. New timing and traffic examples are explicitly calculated or illustrative. Public framework sources establish available concepts and extension mechanisms only, not ATMOS certification. Private ATMOS specifications remain planning targets. All three customer benefits must be demonstrated on a named model, service envelope and physical configuration before a product claim.</a:t>
            </a:r>
          </a:p>
          <a:p/>
          <a:p>
            <a:r>
              <a:t>SOURCES / ASSUMPTIONS</a:t>
            </a:r>
          </a:p>
          <a:p>
            <a:r>
              <a:t>Published facts, internal targets, illustrative arithmetic and proposed implementation are distinct. No measured ATMOS results are asserted.</a:t>
            </a:r>
          </a:p>
          <a:p/>
          <a:p>
            <a:r>
              <a:t>[D1] Source deck — SanDisk ATMOS Enterprise Offerings Executive Proposal, 1 Oct 2026</a:t>
            </a:r>
          </a:p>
          <a:p/>
          <a:p>
            <a:r>
              <a:t>User-provided source. Original slides 3–7, 10–14 supply offering names, execution boundaries, OEM study, pilot assumptions and economic allowances. Revision retains A/B/C; whole-layer pipeline is removed at the user’s request. New diagrams and worked examples are proposed analysis.</a:t>
            </a:r>
          </a:p>
          <a:p/>
          <a:p>
            <a:r>
              <a:t>[S1] Lloyds Banking Group — AI-driven benefits, 29 Jan 2026</a:t>
            </a:r>
          </a:p>
          <a:p>
            <a:r>
              <a:t>https://www.lloydsbankinggroup.com/media/press-releases/2026/lloyds-banking-group/ai-driven-benefits-2026.html</a:t>
            </a:r>
          </a:p>
          <a:p>
            <a:r>
              <a:t>Athena used by 20,000 colleagues; reported average search-time reduction 66%. Not an ATMOS customer, disclosed GPU deployment, token trace or inference-cost comparison.</a:t>
            </a:r>
          </a:p>
          <a:p/>
          <a:p>
            <a:r>
              <a:t>[S2] Qwen3-235B-A22B — model configuration</a:t>
            </a:r>
          </a:p>
          <a:p>
            <a:r>
              <a:t>https://huggingface.co/Qwen/Qwen3-235B-A22B/blob/main/config.json</a:t>
            </a:r>
          </a:p>
          <a:p>
            <a:r>
              <a:t>94 layers, 4 KV heads, head dimension 128, 128 experts, top-8. KV calculations assume BF16 values and full logical cached context; exclude duplication, block rounding and workspace.</a:t>
            </a:r>
          </a:p>
          <a:p/>
          <a:p>
            <a:r>
              <a:t>[S3] Qwen3-30B-A3B — model configuration</a:t>
            </a:r>
          </a:p>
          <a:p>
            <a:r>
              <a:t>https://huggingface.co/Qwen/Qwen3-30B-A3B/blob/main/config.json</a:t>
            </a:r>
          </a:p>
          <a:p>
            <a:r>
              <a:t>48 layers, 4 KV heads, head dimension 128; 128 experts and top-8. Source deck/publisher model card: about 30.5B total and 3.3B active parameters.</a:t>
            </a:r>
          </a:p>
          <a:p/>
          <a:p>
            <a:r>
              <a:t>[S4] AMD — EPYC 9355P specification</a:t>
            </a:r>
          </a:p>
          <a:p>
            <a:r>
              <a:t>https://www.amd.com/en/products/processors/server/epyc/9005-series/amd-epyc-9355p.html</a:t>
            </a:r>
          </a:p>
          <a:p>
            <a:r>
              <a:t>Public CPU reference: 32 cores, one socket, 128 PCIe Gen5 lanes and 12 DDR5 channels. All appliance population, cooling and network selections are proposed OEM study inputs, not certification.</a:t>
            </a:r>
          </a:p>
          <a:p/>
          <a:p>
            <a:r>
              <a:t>[S5] Tenstorrent — vLLM platform plugin</a:t>
            </a:r>
          </a:p>
          <a:p>
            <a:r>
              <a:t>https://github.com/tenstorrent/vllm-tt-plugin</a:t>
            </a:r>
          </a:p>
          <a:p>
            <a:r>
              <a:t>Public precedent for a native platform plugin with loading, worker execution and scheduling. Does not certify ATMOS silicon, HBF/LPDDR access, full-model support or service rates.</a:t>
            </a:r>
          </a:p>
          <a:p/>
          <a:p>
            <a:r>
              <a:t>[S6] NVIDIA Dynamo — disaggregated serving</a:t>
            </a:r>
          </a:p>
          <a:p>
            <a:r>
              <a:t>https://docs.nvidia.com/dynamo/components/router/disaggregated-serving</a:t>
            </a:r>
          </a:p>
          <a:p>
            <a:r>
              <a:t>Separate prefill/decode worker pools and KV handoff are documented. A cross-GPU/ATMOS deployment, its backend and cache interoperability must be implemented and qualified separately.</a:t>
            </a:r>
          </a:p>
          <a:p/>
          <a:p>
            <a:r>
              <a:t>[S7] vLLM — disaggregated prefilling</a:t>
            </a:r>
          </a:p>
          <a:p>
            <a:r>
              <a:t>https://docs.vllm.ai/en/latest/features/disagg_prefill/</a:t>
            </a:r>
          </a:p>
          <a:p>
            <a:r>
              <a:t>Connector-based KV handoff; an ordinary chat API does not expose native cache state. Public framework capability does not imply an ATMOS decoder exists.</a:t>
            </a:r>
          </a:p>
          <a:p/>
          <a:p>
            <a:r>
              <a:t>[S8] LMCache — KV management layer</a:t>
            </a:r>
          </a:p>
          <a:p>
            <a:r>
              <a:t>https://docs.lmcache.ai/</a:t>
            </a:r>
          </a:p>
          <a:p>
            <a:r>
              <a:t>Public KV-management and transfer framework. It is not an attention kernel, full ATMOS model runtime or proof of a compatible device layout.</a:t>
            </a:r>
          </a:p>
          <a:p/>
          <a:p>
            <a:r>
              <a:t>[S9] Leviathan et al. — Fast Inference from Transformers via Speculative Decoding</a:t>
            </a:r>
          </a:p>
          <a:p>
            <a:r>
              <a:t>https://proceedings.mlr.press/v202/leviathan23a.html</a:t>
            </a:r>
          </a:p>
          <a:p>
            <a:r>
              <a:t>ICML 2023 algorithmic precedent for draft proposals and target acceptance/correction. Distribution preservation requires the correct algorithm, not voting or a quality classifier. No ATMOS timing or acceptance rate is supplied.</a:t>
            </a:r>
          </a:p>
          <a:p/>
          <a:p>
            <a:r>
              <a:t>[S10] Kubernetes — device plugins</a:t>
            </a:r>
          </a:p>
          <a:p>
            <a:r>
              <a:t>https://kubernetes.io/docs/concepts/extend-kubernetes/compute-storage-net/device-plugins/</a:t>
            </a:r>
          </a:p>
          <a:p>
            <a:r>
              <a:t>Resource discovery/advertisement and allocation. Labels do not allocate NPUs or establish model readiness. Proposed Sandisk whole-device allocation and lifecycle are new product work.</a:t>
            </a:r>
          </a:p>
          <a:p/>
          <a:p>
            <a:r>
              <a:t>[S11] DeepSeek-V3 — model configuration</a:t>
            </a:r>
          </a:p>
          <a:p>
            <a:r>
              <a:t>https://huggingface.co/deepseek-ai/DeepSeek-V3/blob/main/config.json</a:t>
            </a:r>
          </a:p>
          <a:p>
            <a:r>
              <a:t>Source deck retains publisher model geometry: approximately 671B total, 37B active, 256 routed plus shared expert, 58 MoE and 3 dense layers. MLA cache must be sized separately; Qwen GQA formula does not apply.</a:t>
            </a:r>
          </a:p>
          <a:p/>
          <a:p>
            <a:r>
              <a:t>[I1] Internal ATMOS planning envelope</a:t>
            </a:r>
          </a:p>
          <a:p/>
          <a:p>
            <a:r>
              <a:t>Source deck slides 5–6 and 12; supplied ATMOS proposal. Up to 128 GB HBF per E3.S, 100 GB application study budget, 8–16 GB LPDDR, 200 GB/s local-read target. Unqualified device targets: not production specification, native runtime support, price or throughput.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lloydsbankinggroup.com/media/press-releases/2026/lloyds-banking-group/ai-driven-benefits-2026.html" TargetMode="External"/><Relationship Id="rId2" Type="http://schemas.openxmlformats.org/officeDocument/2006/relationships/hyperlink" Target="https://huggingface.co/Qwen/Qwen3-235B-A22B/blob/main/config.json" TargetMode="External"/><Relationship Id="rId3" Type="http://schemas.openxmlformats.org/officeDocument/2006/relationships/hyperlink" Target="https://huggingface.co/Qwen/Qwen3-30B-A3B/blob/main/config.json" TargetMode="External"/><Relationship Id="rId4" Type="http://schemas.openxmlformats.org/officeDocument/2006/relationships/hyperlink" Target="https://www.amd.com/en/products/processors/server/epyc/9005-series/amd-epyc-9355p.html" TargetMode="External"/><Relationship Id="rId5" Type="http://schemas.openxmlformats.org/officeDocument/2006/relationships/hyperlink" Target="https://github.com/tenstorrent/vllm-tt-plugin" TargetMode="External"/><Relationship Id="rId6" Type="http://schemas.openxmlformats.org/officeDocument/2006/relationships/hyperlink" Target="https://docs.nvidia.com/dynamo/components/router/disaggregated-serving" TargetMode="External"/><Relationship Id="rId7" Type="http://schemas.openxmlformats.org/officeDocument/2006/relationships/hyperlink" Target="https://docs.vllm.ai/en/latest/features/disagg_prefill/" TargetMode="External"/><Relationship Id="rId8" Type="http://schemas.openxmlformats.org/officeDocument/2006/relationships/hyperlink" Target="https://docs.lmcache.ai/" TargetMode="External"/><Relationship Id="rId9" Type="http://schemas.openxmlformats.org/officeDocument/2006/relationships/hyperlink" Target="https://proceedings.mlr.press/v202/leviathan23a.html" TargetMode="External"/><Relationship Id="rId10" Type="http://schemas.openxmlformats.org/officeDocument/2006/relationships/hyperlink" Target="https://kubernetes.io/docs/concepts/extend-kubernetes/compute-storage-net/device-plugins/" TargetMode="External"/><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12B"/>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FFFFFF"/>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DDDBDE"/>
                </a:solidFill>
                <a:latin typeface="Noto Sans" pitchFamily="34" charset="0"/>
                <a:ea typeface="Noto Sans" pitchFamily="34" charset="-122"/>
                <a:cs typeface="Noto Sans" pitchFamily="34" charset="-120"/>
              </a:rPr>
              <a:t>ENTERPRISE OFFERINGS / DECISION PROPOSAL</a:t>
            </a:r>
            <a:endParaRPr lang="en-US" sz="900" dirty="0"/>
          </a:p>
        </p:txBody>
      </p:sp>
      <p:sp>
        <p:nvSpPr>
          <p:cNvPr id="4" name="Shape 2"/>
          <p:cNvSpPr/>
          <p:nvPr/>
        </p:nvSpPr>
        <p:spPr>
          <a:xfrm>
            <a:off x="438912" y="6455664"/>
            <a:ext cx="11311128" cy="0"/>
          </a:xfrm>
          <a:prstGeom prst="line">
            <a:avLst/>
          </a:prstGeom>
          <a:noFill/>
          <a:ln w="10160">
            <a:solidFill>
              <a:srgbClr val="64616A"/>
            </a:solidFill>
            <a:prstDash val="solid"/>
          </a:ln>
        </p:spPr>
      </p:sp>
      <p:sp>
        <p:nvSpPr>
          <p:cNvPr id="5" name="Text 3"/>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D7D4DA"/>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6" name="Text 4"/>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FFFFFF"/>
                </a:solidFill>
                <a:latin typeface="Noto Sans" pitchFamily="34" charset="0"/>
                <a:ea typeface="Noto Sans" pitchFamily="34" charset="-122"/>
                <a:cs typeface="Noto Sans" pitchFamily="34" charset="-120"/>
              </a:rPr>
              <a:t>01</a:t>
            </a:r>
            <a:endParaRPr lang="en-US" sz="1100" dirty="0"/>
          </a:p>
        </p:txBody>
      </p:sp>
      <p:sp>
        <p:nvSpPr>
          <p:cNvPr id="7" name="Text 5"/>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D7D4DA"/>
                </a:solidFill>
                <a:latin typeface="Noto Sans" pitchFamily="34" charset="0"/>
                <a:ea typeface="Noto Sans" pitchFamily="34" charset="-122"/>
                <a:cs typeface="Noto Sans" pitchFamily="34" charset="-120"/>
              </a:rPr>
              <a:t>Three proposed offerings. E3.S-based appliance portfolio; not AWS EC2 or a shipping product catalog.</a:t>
            </a:r>
            <a:endParaRPr lang="en-US" sz="810" dirty="0"/>
          </a:p>
        </p:txBody>
      </p:sp>
      <p:sp>
        <p:nvSpPr>
          <p:cNvPr id="8" name="Text 6"/>
          <p:cNvSpPr/>
          <p:nvPr/>
        </p:nvSpPr>
        <p:spPr>
          <a:xfrm>
            <a:off x="502920" y="1024128"/>
            <a:ext cx="7955280" cy="1536192"/>
          </a:xfrm>
          <a:prstGeom prst="rect">
            <a:avLst/>
          </a:prstGeom>
          <a:noFill/>
          <a:ln/>
        </p:spPr>
        <p:txBody>
          <a:bodyPr wrap="square" lIns="0" tIns="0" rIns="0" bIns="0" rtlCol="0" anchor="t"/>
          <a:lstStyle/>
          <a:p>
            <a:pPr indent="0" marL="0">
              <a:buNone/>
            </a:pPr>
            <a:r>
              <a:rPr lang="en-US" sz="4000" b="1" dirty="0">
                <a:solidFill>
                  <a:srgbClr val="FFFFFF"/>
                </a:solidFill>
                <a:latin typeface="Noto Sans" pitchFamily="34" charset="0"/>
                <a:ea typeface="Noto Sans" pitchFamily="34" charset="-122"/>
                <a:cs typeface="Noto Sans" pitchFamily="34" charset="-120"/>
              </a:rPr>
              <a:t>Three offerings.</a:t>
            </a:r>
            <a:endParaRPr lang="en-US" sz="4000" dirty="0"/>
          </a:p>
          <a:p>
            <a:pPr indent="0" marL="0">
              <a:buNone/>
            </a:pPr>
            <a:r>
              <a:rPr lang="en-US" sz="4000" b="1" dirty="0">
                <a:solidFill>
                  <a:srgbClr val="FFFFFF"/>
                </a:solidFill>
                <a:latin typeface="Noto Sans" pitchFamily="34" charset="0"/>
                <a:ea typeface="Noto Sans" pitchFamily="34" charset="-122"/>
                <a:cs typeface="Noto Sans" pitchFamily="34" charset="-120"/>
              </a:rPr>
              <a:t>One ATMOS platform.</a:t>
            </a:r>
            <a:endParaRPr lang="en-US" sz="4000" dirty="0"/>
          </a:p>
        </p:txBody>
      </p:sp>
      <p:sp>
        <p:nvSpPr>
          <p:cNvPr id="9" name="Text 7"/>
          <p:cNvSpPr/>
          <p:nvPr/>
        </p:nvSpPr>
        <p:spPr>
          <a:xfrm>
            <a:off x="530352" y="2743200"/>
            <a:ext cx="6675120" cy="850392"/>
          </a:xfrm>
          <a:prstGeom prst="rect">
            <a:avLst/>
          </a:prstGeom>
          <a:noFill/>
          <a:ln/>
        </p:spPr>
        <p:txBody>
          <a:bodyPr wrap="square" lIns="0" tIns="0" rIns="0" bIns="0" rtlCol="0" anchor="t"/>
          <a:lstStyle/>
          <a:p>
            <a:pPr indent="0" marL="0">
              <a:buNone/>
            </a:pPr>
            <a:r>
              <a:rPr lang="en-US" sz="2300" dirty="0">
                <a:solidFill>
                  <a:srgbClr val="E3DEE3"/>
                </a:solidFill>
                <a:latin typeface="Noto Sans" pitchFamily="34" charset="0"/>
                <a:ea typeface="Noto Sans" pitchFamily="34" charset="-122"/>
                <a:cs typeface="Noto Sans" pitchFamily="34" charset="-120"/>
              </a:rPr>
              <a:t>What we deliver, how it works,</a:t>
            </a:r>
            <a:endParaRPr lang="en-US" sz="2300" dirty="0"/>
          </a:p>
          <a:p>
            <a:pPr indent="0" marL="0">
              <a:buNone/>
            </a:pPr>
            <a:r>
              <a:rPr lang="en-US" sz="2300" dirty="0">
                <a:solidFill>
                  <a:srgbClr val="E3DEE3"/>
                </a:solidFill>
                <a:latin typeface="Noto Sans" pitchFamily="34" charset="0"/>
                <a:ea typeface="Noto Sans" pitchFamily="34" charset="-122"/>
                <a:cs typeface="Noto Sans" pitchFamily="34" charset="-120"/>
              </a:rPr>
              <a:t>and why an enterprise would adopt it.</a:t>
            </a:r>
            <a:endParaRPr lang="en-US" sz="2300" dirty="0"/>
          </a:p>
        </p:txBody>
      </p:sp>
      <p:sp>
        <p:nvSpPr>
          <p:cNvPr id="10" name="Shape 8"/>
          <p:cNvSpPr/>
          <p:nvPr/>
        </p:nvSpPr>
        <p:spPr>
          <a:xfrm>
            <a:off x="9820656" y="822960"/>
            <a:ext cx="1929384" cy="2596896"/>
          </a:xfrm>
          <a:prstGeom prst="rect">
            <a:avLst/>
          </a:prstGeom>
          <a:solidFill>
            <a:srgbClr val="E31837"/>
          </a:solidFill>
          <a:ln w="10160">
            <a:solidFill>
              <a:srgbClr val="E31837"/>
            </a:solidFill>
            <a:prstDash val="solid"/>
          </a:ln>
        </p:spPr>
      </p:sp>
      <p:sp>
        <p:nvSpPr>
          <p:cNvPr id="11" name="Text 9"/>
          <p:cNvSpPr/>
          <p:nvPr/>
        </p:nvSpPr>
        <p:spPr>
          <a:xfrm>
            <a:off x="10241280" y="996696"/>
            <a:ext cx="1097280" cy="2267712"/>
          </a:xfrm>
          <a:prstGeom prst="rect">
            <a:avLst/>
          </a:prstGeom>
          <a:noFill/>
          <a:ln/>
        </p:spPr>
        <p:txBody>
          <a:bodyPr wrap="square" lIns="0" tIns="0" rIns="0" bIns="0" rtlCol="0" anchor="t"/>
          <a:lstStyle/>
          <a:p>
            <a:pPr algn="ctr" indent="0" marL="0">
              <a:lnSpc>
                <a:spcPct val="110000"/>
              </a:lnSpc>
              <a:buNone/>
            </a:pPr>
            <a:r>
              <a:rPr lang="en-US" sz="4200" b="1" dirty="0">
                <a:solidFill>
                  <a:srgbClr val="FFFFFF"/>
                </a:solidFill>
                <a:latin typeface="Noto Sans" pitchFamily="34" charset="0"/>
                <a:ea typeface="Noto Sans" pitchFamily="34" charset="-122"/>
                <a:cs typeface="Noto Sans" pitchFamily="34" charset="-120"/>
              </a:rPr>
              <a:t>A</a:t>
            </a:r>
            <a:endParaRPr lang="en-US" sz="4200" dirty="0"/>
          </a:p>
          <a:p>
            <a:pPr algn="ctr" indent="0" marL="0">
              <a:lnSpc>
                <a:spcPct val="110000"/>
              </a:lnSpc>
              <a:buNone/>
            </a:pPr>
            <a:r>
              <a:rPr lang="en-US" sz="4200" b="1" dirty="0">
                <a:solidFill>
                  <a:srgbClr val="FFFFFF"/>
                </a:solidFill>
                <a:latin typeface="Noto Sans" pitchFamily="34" charset="0"/>
                <a:ea typeface="Noto Sans" pitchFamily="34" charset="-122"/>
                <a:cs typeface="Noto Sans" pitchFamily="34" charset="-120"/>
              </a:rPr>
              <a:t>B</a:t>
            </a:r>
            <a:endParaRPr lang="en-US" sz="4200" dirty="0"/>
          </a:p>
          <a:p>
            <a:pPr algn="ctr" indent="0" marL="0">
              <a:lnSpc>
                <a:spcPct val="110000"/>
              </a:lnSpc>
              <a:buNone/>
            </a:pPr>
            <a:r>
              <a:rPr lang="en-US" sz="4200" b="1" dirty="0">
                <a:solidFill>
                  <a:srgbClr val="FFFFFF"/>
                </a:solidFill>
                <a:latin typeface="Noto Sans" pitchFamily="34" charset="0"/>
                <a:ea typeface="Noto Sans" pitchFamily="34" charset="-122"/>
                <a:cs typeface="Noto Sans" pitchFamily="34" charset="-120"/>
              </a:rPr>
              <a:t>C</a:t>
            </a:r>
            <a:endParaRPr lang="en-US" sz="4200" dirty="0"/>
          </a:p>
        </p:txBody>
      </p:sp>
      <p:sp>
        <p:nvSpPr>
          <p:cNvPr id="12" name="Shape 10"/>
          <p:cNvSpPr/>
          <p:nvPr/>
        </p:nvSpPr>
        <p:spPr>
          <a:xfrm>
            <a:off x="502920" y="4178808"/>
            <a:ext cx="3630168" cy="932688"/>
          </a:xfrm>
          <a:prstGeom prst="rect">
            <a:avLst/>
          </a:prstGeom>
          <a:solidFill>
            <a:srgbClr val="E31837"/>
          </a:solidFill>
          <a:ln w="10160">
            <a:solidFill>
              <a:srgbClr val="E31837"/>
            </a:solidFill>
            <a:prstDash val="solid"/>
          </a:ln>
        </p:spPr>
      </p:sp>
      <p:sp>
        <p:nvSpPr>
          <p:cNvPr id="13" name="Text 11"/>
          <p:cNvSpPr/>
          <p:nvPr/>
        </p:nvSpPr>
        <p:spPr>
          <a:xfrm>
            <a:off x="667512" y="4334256"/>
            <a:ext cx="3291840" cy="219456"/>
          </a:xfrm>
          <a:prstGeom prst="rect">
            <a:avLst/>
          </a:prstGeom>
          <a:noFill/>
          <a:ln/>
        </p:spPr>
        <p:txBody>
          <a:bodyPr wrap="square" lIns="0" tIns="0" rIns="0" bIns="0" rtlCol="0" anchor="t"/>
          <a:lstStyle/>
          <a:p>
            <a:pPr indent="0" marL="0">
              <a:buNone/>
            </a:pPr>
            <a:r>
              <a:rPr lang="en-US" sz="1300" b="1" dirty="0">
                <a:solidFill>
                  <a:srgbClr val="FFFFFF"/>
                </a:solidFill>
                <a:latin typeface="Noto Sans" pitchFamily="34" charset="0"/>
                <a:ea typeface="Noto Sans" pitchFamily="34" charset="-122"/>
                <a:cs typeface="Noto Sans" pitchFamily="34" charset="-120"/>
              </a:rPr>
              <a:t>A  NATIVE SERVICE</a:t>
            </a:r>
            <a:endParaRPr lang="en-US" sz="1300" dirty="0"/>
          </a:p>
        </p:txBody>
      </p:sp>
      <p:sp>
        <p:nvSpPr>
          <p:cNvPr id="14" name="Text 12"/>
          <p:cNvSpPr/>
          <p:nvPr/>
        </p:nvSpPr>
        <p:spPr>
          <a:xfrm>
            <a:off x="667512" y="4663440"/>
            <a:ext cx="3291840" cy="256032"/>
          </a:xfrm>
          <a:prstGeom prst="rect">
            <a:avLst/>
          </a:prstGeom>
          <a:noFill/>
          <a:ln/>
        </p:spPr>
        <p:txBody>
          <a:bodyPr wrap="square" lIns="0" tIns="0" rIns="0" bIns="0" rtlCol="0" anchor="t"/>
          <a:lstStyle/>
          <a:p>
            <a:pPr indent="0" marL="0">
              <a:buNone/>
            </a:pPr>
            <a:r>
              <a:rPr lang="en-US" sz="1400" dirty="0">
                <a:solidFill>
                  <a:srgbClr val="FFFFFF"/>
                </a:solidFill>
                <a:latin typeface="Noto Sans" pitchFamily="34" charset="0"/>
                <a:ea typeface="Noto Sans" pitchFamily="34" charset="-122"/>
                <a:cs typeface="Noto Sans" pitchFamily="34" charset="-120"/>
              </a:rPr>
              <a:t>Independent MoE capacity</a:t>
            </a:r>
            <a:endParaRPr lang="en-US" sz="1400" dirty="0"/>
          </a:p>
        </p:txBody>
      </p:sp>
      <p:sp>
        <p:nvSpPr>
          <p:cNvPr id="15" name="Shape 13"/>
          <p:cNvSpPr/>
          <p:nvPr/>
        </p:nvSpPr>
        <p:spPr>
          <a:xfrm>
            <a:off x="4297680" y="4178808"/>
            <a:ext cx="3630168" cy="932688"/>
          </a:xfrm>
          <a:prstGeom prst="rect">
            <a:avLst/>
          </a:prstGeom>
          <a:solidFill>
            <a:srgbClr val="393842"/>
          </a:solidFill>
          <a:ln w="10160">
            <a:solidFill>
              <a:srgbClr val="393842"/>
            </a:solidFill>
            <a:prstDash val="solid"/>
          </a:ln>
        </p:spPr>
      </p:sp>
      <p:sp>
        <p:nvSpPr>
          <p:cNvPr id="16" name="Text 14"/>
          <p:cNvSpPr/>
          <p:nvPr/>
        </p:nvSpPr>
        <p:spPr>
          <a:xfrm>
            <a:off x="4462272" y="4334256"/>
            <a:ext cx="3291840" cy="219456"/>
          </a:xfrm>
          <a:prstGeom prst="rect">
            <a:avLst/>
          </a:prstGeom>
          <a:noFill/>
          <a:ln/>
        </p:spPr>
        <p:txBody>
          <a:bodyPr wrap="square" lIns="0" tIns="0" rIns="0" bIns="0" rtlCol="0" anchor="t"/>
          <a:lstStyle/>
          <a:p>
            <a:pPr indent="0" marL="0">
              <a:buNone/>
            </a:pPr>
            <a:r>
              <a:rPr lang="en-US" sz="1300" b="1" dirty="0">
                <a:solidFill>
                  <a:srgbClr val="FFFFFF"/>
                </a:solidFill>
                <a:latin typeface="Noto Sans" pitchFamily="34" charset="0"/>
                <a:ea typeface="Noto Sans" pitchFamily="34" charset="-122"/>
                <a:cs typeface="Noto Sans" pitchFamily="34" charset="-120"/>
              </a:rPr>
              <a:t>B  PREFILL / DECODE</a:t>
            </a:r>
            <a:endParaRPr lang="en-US" sz="1300" dirty="0"/>
          </a:p>
        </p:txBody>
      </p:sp>
      <p:sp>
        <p:nvSpPr>
          <p:cNvPr id="17" name="Text 15"/>
          <p:cNvSpPr/>
          <p:nvPr/>
        </p:nvSpPr>
        <p:spPr>
          <a:xfrm>
            <a:off x="4462272" y="4663440"/>
            <a:ext cx="3291840" cy="256032"/>
          </a:xfrm>
          <a:prstGeom prst="rect">
            <a:avLst/>
          </a:prstGeom>
          <a:noFill/>
          <a:ln/>
        </p:spPr>
        <p:txBody>
          <a:bodyPr wrap="square" lIns="0" tIns="0" rIns="0" bIns="0" rtlCol="0" anchor="t"/>
          <a:lstStyle/>
          <a:p>
            <a:pPr indent="0" marL="0">
              <a:buNone/>
            </a:pPr>
            <a:r>
              <a:rPr lang="en-US" sz="1400" dirty="0">
                <a:solidFill>
                  <a:srgbClr val="FFFFFF"/>
                </a:solidFill>
                <a:latin typeface="Noto Sans" pitchFamily="34" charset="0"/>
                <a:ea typeface="Noto Sans" pitchFamily="34" charset="-122"/>
                <a:cs typeface="Noto Sans" pitchFamily="34" charset="-120"/>
              </a:rPr>
              <a:t>GPU prompts; ATMOS generation</a:t>
            </a:r>
            <a:endParaRPr lang="en-US" sz="1400" dirty="0"/>
          </a:p>
        </p:txBody>
      </p:sp>
      <p:sp>
        <p:nvSpPr>
          <p:cNvPr id="18" name="Shape 16"/>
          <p:cNvSpPr/>
          <p:nvPr/>
        </p:nvSpPr>
        <p:spPr>
          <a:xfrm>
            <a:off x="8092440" y="4178808"/>
            <a:ext cx="3630168" cy="932688"/>
          </a:xfrm>
          <a:prstGeom prst="rect">
            <a:avLst/>
          </a:prstGeom>
          <a:solidFill>
            <a:srgbClr val="393842"/>
          </a:solidFill>
          <a:ln w="10160">
            <a:solidFill>
              <a:srgbClr val="393842"/>
            </a:solidFill>
            <a:prstDash val="solid"/>
          </a:ln>
        </p:spPr>
      </p:sp>
      <p:sp>
        <p:nvSpPr>
          <p:cNvPr id="19" name="Text 17"/>
          <p:cNvSpPr/>
          <p:nvPr/>
        </p:nvSpPr>
        <p:spPr>
          <a:xfrm>
            <a:off x="8257032" y="4334256"/>
            <a:ext cx="3291840" cy="219456"/>
          </a:xfrm>
          <a:prstGeom prst="rect">
            <a:avLst/>
          </a:prstGeom>
          <a:noFill/>
          <a:ln/>
        </p:spPr>
        <p:txBody>
          <a:bodyPr wrap="square" lIns="0" tIns="0" rIns="0" bIns="0" rtlCol="0" anchor="t"/>
          <a:lstStyle/>
          <a:p>
            <a:pPr indent="0" marL="0">
              <a:buNone/>
            </a:pPr>
            <a:r>
              <a:rPr lang="en-US" sz="1300" b="1" dirty="0">
                <a:solidFill>
                  <a:srgbClr val="FFFFFF"/>
                </a:solidFill>
                <a:latin typeface="Noto Sans" pitchFamily="34" charset="0"/>
                <a:ea typeface="Noto Sans" pitchFamily="34" charset="-122"/>
                <a:cs typeface="Noto Sans" pitchFamily="34" charset="-120"/>
              </a:rPr>
              <a:t>C  SPECULATIVE</a:t>
            </a:r>
            <a:endParaRPr lang="en-US" sz="1300" dirty="0"/>
          </a:p>
        </p:txBody>
      </p:sp>
      <p:sp>
        <p:nvSpPr>
          <p:cNvPr id="20" name="Text 18"/>
          <p:cNvSpPr/>
          <p:nvPr/>
        </p:nvSpPr>
        <p:spPr>
          <a:xfrm>
            <a:off x="8257032" y="4663440"/>
            <a:ext cx="3291840" cy="256032"/>
          </a:xfrm>
          <a:prstGeom prst="rect">
            <a:avLst/>
          </a:prstGeom>
          <a:noFill/>
          <a:ln/>
        </p:spPr>
        <p:txBody>
          <a:bodyPr wrap="square" lIns="0" tIns="0" rIns="0" bIns="0" rtlCol="0" anchor="t"/>
          <a:lstStyle/>
          <a:p>
            <a:pPr indent="0" marL="0">
              <a:buNone/>
            </a:pPr>
            <a:r>
              <a:rPr lang="en-US" sz="1400" dirty="0">
                <a:solidFill>
                  <a:srgbClr val="FFFFFF"/>
                </a:solidFill>
                <a:latin typeface="Noto Sans" pitchFamily="34" charset="0"/>
                <a:ea typeface="Noto Sans" pitchFamily="34" charset="-122"/>
                <a:cs typeface="Noto Sans" pitchFamily="34" charset="-120"/>
              </a:rPr>
              <a:t>Small drafter; large target verifier</a:t>
            </a:r>
            <a:endParaRPr lang="en-US" sz="1400" dirty="0"/>
          </a:p>
        </p:txBody>
      </p:sp>
      <p:sp>
        <p:nvSpPr>
          <p:cNvPr id="21" name="Text 19"/>
          <p:cNvSpPr/>
          <p:nvPr/>
        </p:nvSpPr>
        <p:spPr>
          <a:xfrm>
            <a:off x="539496" y="5605272"/>
            <a:ext cx="10835640" cy="393192"/>
          </a:xfrm>
          <a:prstGeom prst="rect">
            <a:avLst/>
          </a:prstGeom>
          <a:noFill/>
          <a:ln/>
        </p:spPr>
        <p:txBody>
          <a:bodyPr wrap="square" lIns="0" tIns="0" rIns="0" bIns="0" rtlCol="0" anchor="t"/>
          <a:lstStyle/>
          <a:p>
            <a:pPr indent="0" marL="0">
              <a:buNone/>
            </a:pPr>
            <a:r>
              <a:rPr lang="en-US" sz="1800" b="1" dirty="0">
                <a:solidFill>
                  <a:srgbClr val="FFFFFF"/>
                </a:solidFill>
                <a:latin typeface="Noto Sans" pitchFamily="34" charset="0"/>
                <a:ea typeface="Noto Sans" pitchFamily="34" charset="-122"/>
                <a:cs typeface="Noto Sans" pitchFamily="34" charset="-120"/>
              </a:rPr>
              <a:t>Recommend A first. Qualify B and C only when their specific benefit is measured.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ENTERPRISE DEMAND</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A banking example—and a bounded entry point.</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Public adoption proves the workflow exists. It does not prove ATMOS performance or savings.</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02</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[S1] Lloyds Banking Group, 29 Jan 2026. Pilot quantities and service limits are proposed inputs, not Lloyds disclosures.</a:t>
            </a:r>
            <a:endParaRPr lang="en-US" sz="810" dirty="0"/>
          </a:p>
        </p:txBody>
      </p:sp>
      <p:sp>
        <p:nvSpPr>
          <p:cNvPr id="10" name="Text 8"/>
          <p:cNvSpPr/>
          <p:nvPr/>
        </p:nvSpPr>
        <p:spPr>
          <a:xfrm>
            <a:off x="457200" y="2066544"/>
            <a:ext cx="484632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PUBLISHED: LLOYDS / ATHENA</a:t>
            </a:r>
            <a:endParaRPr lang="en-US" sz="1000" dirty="0"/>
          </a:p>
        </p:txBody>
      </p:sp>
      <p:sp>
        <p:nvSpPr>
          <p:cNvPr id="11" name="Shape 9"/>
          <p:cNvSpPr/>
          <p:nvPr/>
        </p:nvSpPr>
        <p:spPr>
          <a:xfrm>
            <a:off x="448056" y="2468880"/>
            <a:ext cx="3547872" cy="1124712"/>
          </a:xfrm>
          <a:prstGeom prst="rect">
            <a:avLst/>
          </a:prstGeom>
          <a:solidFill>
            <a:srgbClr val="FFFFFF"/>
          </a:solidFill>
          <a:ln w="10160">
            <a:solidFill>
              <a:srgbClr val="FFFFFF"/>
            </a:solidFill>
            <a:prstDash val="solid"/>
          </a:ln>
        </p:spPr>
      </p:sp>
      <p:sp>
        <p:nvSpPr>
          <p:cNvPr id="12" name="Text 10"/>
          <p:cNvSpPr/>
          <p:nvPr/>
        </p:nvSpPr>
        <p:spPr>
          <a:xfrm>
            <a:off x="594360" y="2542032"/>
            <a:ext cx="3255264" cy="530352"/>
          </a:xfrm>
          <a:prstGeom prst="rect">
            <a:avLst/>
          </a:prstGeom>
          <a:noFill/>
          <a:ln/>
        </p:spPr>
        <p:txBody>
          <a:bodyPr wrap="square" lIns="0" tIns="0" rIns="0" bIns="0" rtlCol="0" anchor="t"/>
          <a:lstStyle/>
          <a:p>
            <a:pPr indent="0" marL="0">
              <a:buNone/>
            </a:pPr>
            <a:r>
              <a:rPr lang="en-US" sz="3400" b="1" dirty="0">
                <a:solidFill>
                  <a:srgbClr val="E31837"/>
                </a:solidFill>
                <a:latin typeface="Noto Sans" pitchFamily="34" charset="0"/>
                <a:ea typeface="Noto Sans" pitchFamily="34" charset="-122"/>
                <a:cs typeface="Noto Sans" pitchFamily="34" charset="-120"/>
              </a:rPr>
              <a:t>20,000</a:t>
            </a:r>
            <a:endParaRPr lang="en-US" sz="3400" dirty="0"/>
          </a:p>
        </p:txBody>
      </p:sp>
      <p:sp>
        <p:nvSpPr>
          <p:cNvPr id="13" name="Text 11"/>
          <p:cNvSpPr/>
          <p:nvPr/>
        </p:nvSpPr>
        <p:spPr>
          <a:xfrm>
            <a:off x="594360" y="3154680"/>
            <a:ext cx="3255264"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colleagues using the knowledge assistant</a:t>
            </a:r>
            <a:endParaRPr lang="en-US" sz="1250" dirty="0"/>
          </a:p>
        </p:txBody>
      </p:sp>
      <p:sp>
        <p:nvSpPr>
          <p:cNvPr id="14" name="Shape 12"/>
          <p:cNvSpPr/>
          <p:nvPr/>
        </p:nvSpPr>
        <p:spPr>
          <a:xfrm>
            <a:off x="4160520" y="2468880"/>
            <a:ext cx="3566160" cy="1124712"/>
          </a:xfrm>
          <a:prstGeom prst="rect">
            <a:avLst/>
          </a:prstGeom>
          <a:solidFill>
            <a:srgbClr val="FFFFFF"/>
          </a:solidFill>
          <a:ln w="10160">
            <a:solidFill>
              <a:srgbClr val="FFFFFF"/>
            </a:solidFill>
            <a:prstDash val="solid"/>
          </a:ln>
        </p:spPr>
      </p:sp>
      <p:sp>
        <p:nvSpPr>
          <p:cNvPr id="15" name="Text 13"/>
          <p:cNvSpPr/>
          <p:nvPr/>
        </p:nvSpPr>
        <p:spPr>
          <a:xfrm>
            <a:off x="4306824" y="2542032"/>
            <a:ext cx="3273552" cy="530352"/>
          </a:xfrm>
          <a:prstGeom prst="rect">
            <a:avLst/>
          </a:prstGeom>
          <a:noFill/>
          <a:ln/>
        </p:spPr>
        <p:txBody>
          <a:bodyPr wrap="square" lIns="0" tIns="0" rIns="0" bIns="0" rtlCol="0" anchor="t"/>
          <a:lstStyle/>
          <a:p>
            <a:pPr indent="0" marL="0">
              <a:buNone/>
            </a:pPr>
            <a:r>
              <a:rPr lang="en-US" sz="3400" b="1" dirty="0">
                <a:solidFill>
                  <a:srgbClr val="E31837"/>
                </a:solidFill>
                <a:latin typeface="Noto Sans" pitchFamily="34" charset="0"/>
                <a:ea typeface="Noto Sans" pitchFamily="34" charset="-122"/>
                <a:cs typeface="Noto Sans" pitchFamily="34" charset="-120"/>
              </a:rPr>
              <a:t>66%</a:t>
            </a:r>
            <a:endParaRPr lang="en-US" sz="3400" dirty="0"/>
          </a:p>
        </p:txBody>
      </p:sp>
      <p:sp>
        <p:nvSpPr>
          <p:cNvPr id="16" name="Text 14"/>
          <p:cNvSpPr/>
          <p:nvPr/>
        </p:nvSpPr>
        <p:spPr>
          <a:xfrm>
            <a:off x="4306824" y="3154680"/>
            <a:ext cx="3273552"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reported average search-time reduction</a:t>
            </a:r>
            <a:endParaRPr lang="en-US" sz="1250" dirty="0"/>
          </a:p>
        </p:txBody>
      </p:sp>
      <p:sp>
        <p:nvSpPr>
          <p:cNvPr id="17" name="Shape 15"/>
          <p:cNvSpPr/>
          <p:nvPr/>
        </p:nvSpPr>
        <p:spPr>
          <a:xfrm>
            <a:off x="7918704" y="2450592"/>
            <a:ext cx="3822192" cy="1152144"/>
          </a:xfrm>
          <a:prstGeom prst="rect">
            <a:avLst/>
          </a:prstGeom>
          <a:solidFill>
            <a:srgbClr val="FFFFFF"/>
          </a:solidFill>
          <a:ln w="10160">
            <a:solidFill>
              <a:srgbClr val="D8D8DE"/>
            </a:solidFill>
            <a:prstDash val="solid"/>
          </a:ln>
        </p:spPr>
      </p:sp>
      <p:sp>
        <p:nvSpPr>
          <p:cNvPr id="18" name="Shape 16"/>
          <p:cNvSpPr/>
          <p:nvPr/>
        </p:nvSpPr>
        <p:spPr>
          <a:xfrm>
            <a:off x="7918704" y="2450592"/>
            <a:ext cx="41148" cy="1152144"/>
          </a:xfrm>
          <a:prstGeom prst="rect">
            <a:avLst/>
          </a:prstGeom>
          <a:solidFill>
            <a:srgbClr val="E31837"/>
          </a:solidFill>
          <a:ln w="10160">
            <a:solidFill>
              <a:srgbClr val="E31837"/>
            </a:solidFill>
            <a:prstDash val="solid"/>
          </a:ln>
        </p:spPr>
      </p:sp>
      <p:sp>
        <p:nvSpPr>
          <p:cNvPr id="19" name="Text 17"/>
          <p:cNvSpPr/>
          <p:nvPr/>
        </p:nvSpPr>
        <p:spPr>
          <a:xfrm>
            <a:off x="8101584" y="2551176"/>
            <a:ext cx="3456432" cy="301752"/>
          </a:xfrm>
          <a:prstGeom prst="rect">
            <a:avLst/>
          </a:prstGeom>
          <a:noFill/>
          <a:ln/>
        </p:spPr>
        <p:txBody>
          <a:bodyPr wrap="square" lIns="0" tIns="0" rIns="0" bIns="0" rtlCol="0" anchor="t"/>
          <a:lstStyle/>
          <a:p>
            <a:pPr indent="0" marL="0">
              <a:buNone/>
            </a:pPr>
            <a:r>
              <a:rPr lang="en-US" sz="1500" b="1" dirty="0">
                <a:solidFill>
                  <a:srgbClr val="22212B"/>
                </a:solidFill>
                <a:latin typeface="Noto Sans" pitchFamily="34" charset="0"/>
                <a:ea typeface="Noto Sans" pitchFamily="34" charset="-122"/>
                <a:cs typeface="Noto Sans" pitchFamily="34" charset="-120"/>
              </a:rPr>
              <a:t>What is not public</a:t>
            </a:r>
            <a:endParaRPr lang="en-US" sz="1500" dirty="0"/>
          </a:p>
        </p:txBody>
      </p:sp>
      <p:sp>
        <p:nvSpPr>
          <p:cNvPr id="20" name="Text 18"/>
          <p:cNvSpPr/>
          <p:nvPr/>
        </p:nvSpPr>
        <p:spPr>
          <a:xfrm>
            <a:off x="8101584" y="2898648"/>
            <a:ext cx="3456432" cy="612648"/>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GPU inventory, token traffic, serving cost and the underlying MoE model.</a:t>
            </a:r>
            <a:endParaRPr lang="en-US" sz="1300" dirty="0"/>
          </a:p>
        </p:txBody>
      </p:sp>
      <p:sp>
        <p:nvSpPr>
          <p:cNvPr id="21" name="Text 19"/>
          <p:cNvSpPr/>
          <p:nvPr/>
        </p:nvSpPr>
        <p:spPr>
          <a:xfrm>
            <a:off x="457200" y="3858768"/>
            <a:ext cx="10515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PROPOSED ATMOS PILOT — NOT A CLAIMED LLOYDS DEPLOYMENT</a:t>
            </a:r>
            <a:endParaRPr lang="en-US" sz="1000" dirty="0"/>
          </a:p>
        </p:txBody>
      </p:sp>
      <p:sp>
        <p:nvSpPr>
          <p:cNvPr id="22" name="Shape 20"/>
          <p:cNvSpPr/>
          <p:nvPr/>
        </p:nvSpPr>
        <p:spPr>
          <a:xfrm>
            <a:off x="457200" y="4233672"/>
            <a:ext cx="2487168" cy="1005840"/>
          </a:xfrm>
          <a:prstGeom prst="rect">
            <a:avLst/>
          </a:prstGeom>
          <a:solidFill>
            <a:srgbClr val="22212B"/>
          </a:solidFill>
          <a:ln w="10160">
            <a:solidFill>
              <a:srgbClr val="22212B"/>
            </a:solidFill>
            <a:prstDash val="solid"/>
          </a:ln>
        </p:spPr>
      </p:sp>
      <p:sp>
        <p:nvSpPr>
          <p:cNvPr id="23" name="Text 21"/>
          <p:cNvSpPr/>
          <p:nvPr/>
        </p:nvSpPr>
        <p:spPr>
          <a:xfrm>
            <a:off x="603504" y="4343400"/>
            <a:ext cx="2194560" cy="301752"/>
          </a:xfrm>
          <a:prstGeom prst="rect">
            <a:avLst/>
          </a:prstGeom>
          <a:noFill/>
          <a:ln/>
        </p:spPr>
        <p:txBody>
          <a:bodyPr wrap="square" lIns="0" tIns="0" rIns="0" bIns="0" rtlCol="0" anchor="t"/>
          <a:lstStyle/>
          <a:p>
            <a:pPr algn="ctr" indent="0" marL="0">
              <a:buNone/>
            </a:pPr>
            <a:r>
              <a:rPr lang="en-US" sz="1600" b="1" dirty="0">
                <a:solidFill>
                  <a:srgbClr val="FFFFFF"/>
                </a:solidFill>
                <a:latin typeface="Noto Sans" pitchFamily="34" charset="0"/>
                <a:ea typeface="Noto Sans" pitchFamily="34" charset="-122"/>
                <a:cs typeface="Noto Sans" pitchFamily="34" charset="-120"/>
              </a:rPr>
              <a:t>Documents</a:t>
            </a:r>
            <a:endParaRPr lang="en-US" sz="1600" dirty="0"/>
          </a:p>
        </p:txBody>
      </p:sp>
      <p:sp>
        <p:nvSpPr>
          <p:cNvPr id="24" name="Text 22"/>
          <p:cNvSpPr/>
          <p:nvPr/>
        </p:nvSpPr>
        <p:spPr>
          <a:xfrm>
            <a:off x="640080" y="4709160"/>
            <a:ext cx="2121408" cy="475488"/>
          </a:xfrm>
          <a:prstGeom prst="rect">
            <a:avLst/>
          </a:prstGeom>
          <a:noFill/>
          <a:ln/>
        </p:spPr>
        <p:txBody>
          <a:bodyPr wrap="square" lIns="0" tIns="0" rIns="0" bIns="0" rtlCol="0" anchor="t"/>
          <a:lstStyle/>
          <a:p>
            <a:pPr algn="ctr" indent="0" marL="0">
              <a:buNone/>
            </a:pPr>
            <a:r>
              <a:rPr lang="en-US" sz="1200" dirty="0">
                <a:solidFill>
                  <a:srgbClr val="FFFFFF"/>
                </a:solidFill>
                <a:latin typeface="Noto Sans" pitchFamily="34" charset="0"/>
                <a:ea typeface="Noto Sans" pitchFamily="34" charset="-122"/>
                <a:cs typeface="Noto Sans" pitchFamily="34" charset="-120"/>
              </a:rPr>
              <a:t>Approved summaries / extraction</a:t>
            </a:r>
            <a:endParaRPr lang="en-US" sz="1200" dirty="0"/>
          </a:p>
        </p:txBody>
      </p:sp>
      <p:sp>
        <p:nvSpPr>
          <p:cNvPr id="25" name="Shape 23"/>
          <p:cNvSpPr/>
          <p:nvPr/>
        </p:nvSpPr>
        <p:spPr>
          <a:xfrm>
            <a:off x="2971800" y="4718304"/>
            <a:ext cx="338328" cy="0"/>
          </a:xfrm>
          <a:prstGeom prst="line">
            <a:avLst/>
          </a:prstGeom>
          <a:noFill/>
          <a:ln w="19050">
            <a:solidFill>
              <a:srgbClr val="E31837"/>
            </a:solidFill>
            <a:prstDash val="solid"/>
            <a:tailEnd type="triangle"/>
          </a:ln>
        </p:spPr>
      </p:sp>
      <p:sp>
        <p:nvSpPr>
          <p:cNvPr id="26" name="Shape 24"/>
          <p:cNvSpPr/>
          <p:nvPr/>
        </p:nvSpPr>
        <p:spPr>
          <a:xfrm>
            <a:off x="3383280" y="4233672"/>
            <a:ext cx="2487168" cy="1005840"/>
          </a:xfrm>
          <a:prstGeom prst="rect">
            <a:avLst/>
          </a:prstGeom>
          <a:solidFill>
            <a:srgbClr val="22212B"/>
          </a:solidFill>
          <a:ln w="10160">
            <a:solidFill>
              <a:srgbClr val="22212B"/>
            </a:solidFill>
            <a:prstDash val="solid"/>
          </a:ln>
        </p:spPr>
      </p:sp>
      <p:sp>
        <p:nvSpPr>
          <p:cNvPr id="27" name="Text 25"/>
          <p:cNvSpPr/>
          <p:nvPr/>
        </p:nvSpPr>
        <p:spPr>
          <a:xfrm>
            <a:off x="3529584" y="4343400"/>
            <a:ext cx="2194560" cy="301752"/>
          </a:xfrm>
          <a:prstGeom prst="rect">
            <a:avLst/>
          </a:prstGeom>
          <a:noFill/>
          <a:ln/>
        </p:spPr>
        <p:txBody>
          <a:bodyPr wrap="square" lIns="0" tIns="0" rIns="0" bIns="0" rtlCol="0" anchor="t"/>
          <a:lstStyle/>
          <a:p>
            <a:pPr algn="ctr" indent="0" marL="0">
              <a:buNone/>
            </a:pPr>
            <a:r>
              <a:rPr lang="en-US" sz="1600" b="1" dirty="0">
                <a:solidFill>
                  <a:srgbClr val="FFFFFF"/>
                </a:solidFill>
                <a:latin typeface="Noto Sans" pitchFamily="34" charset="0"/>
                <a:ea typeface="Noto Sans" pitchFamily="34" charset="-122"/>
                <a:cs typeface="Noto Sans" pitchFamily="34" charset="-120"/>
              </a:rPr>
              <a:t>Eligibility policy</a:t>
            </a:r>
            <a:endParaRPr lang="en-US" sz="1600" dirty="0"/>
          </a:p>
        </p:txBody>
      </p:sp>
      <p:sp>
        <p:nvSpPr>
          <p:cNvPr id="28" name="Text 26"/>
          <p:cNvSpPr/>
          <p:nvPr/>
        </p:nvSpPr>
        <p:spPr>
          <a:xfrm>
            <a:off x="3566160" y="4709160"/>
            <a:ext cx="2121408" cy="475488"/>
          </a:xfrm>
          <a:prstGeom prst="rect">
            <a:avLst/>
          </a:prstGeom>
          <a:noFill/>
          <a:ln/>
        </p:spPr>
        <p:txBody>
          <a:bodyPr wrap="square" lIns="0" tIns="0" rIns="0" bIns="0" rtlCol="0" anchor="t"/>
          <a:lstStyle/>
          <a:p>
            <a:pPr algn="ctr" indent="0" marL="0">
              <a:buNone/>
            </a:pPr>
            <a:r>
              <a:rPr lang="en-US" sz="1200" dirty="0">
                <a:solidFill>
                  <a:srgbClr val="FFFFFF"/>
                </a:solidFill>
                <a:latin typeface="Noto Sans" pitchFamily="34" charset="0"/>
                <a:ea typeface="Noto Sans" pitchFamily="34" charset="-122"/>
                <a:cs typeface="Noto Sans" pitchFamily="34" charset="-120"/>
              </a:rPr>
              <a:t>Model + context + deadline</a:t>
            </a:r>
            <a:endParaRPr lang="en-US" sz="1200" dirty="0"/>
          </a:p>
        </p:txBody>
      </p:sp>
      <p:sp>
        <p:nvSpPr>
          <p:cNvPr id="29" name="Shape 27"/>
          <p:cNvSpPr/>
          <p:nvPr/>
        </p:nvSpPr>
        <p:spPr>
          <a:xfrm>
            <a:off x="5897880" y="4718304"/>
            <a:ext cx="338328" cy="0"/>
          </a:xfrm>
          <a:prstGeom prst="line">
            <a:avLst/>
          </a:prstGeom>
          <a:noFill/>
          <a:ln w="19050">
            <a:solidFill>
              <a:srgbClr val="E31837"/>
            </a:solidFill>
            <a:prstDash val="solid"/>
            <a:tailEnd type="triangle"/>
          </a:ln>
        </p:spPr>
      </p:sp>
      <p:sp>
        <p:nvSpPr>
          <p:cNvPr id="30" name="Shape 28"/>
          <p:cNvSpPr/>
          <p:nvPr/>
        </p:nvSpPr>
        <p:spPr>
          <a:xfrm>
            <a:off x="6309360" y="4233672"/>
            <a:ext cx="2487168" cy="1005840"/>
          </a:xfrm>
          <a:prstGeom prst="rect">
            <a:avLst/>
          </a:prstGeom>
          <a:solidFill>
            <a:srgbClr val="E31837"/>
          </a:solidFill>
          <a:ln w="10160">
            <a:solidFill>
              <a:srgbClr val="E31837"/>
            </a:solidFill>
            <a:prstDash val="solid"/>
          </a:ln>
        </p:spPr>
      </p:sp>
      <p:sp>
        <p:nvSpPr>
          <p:cNvPr id="31" name="Text 29"/>
          <p:cNvSpPr/>
          <p:nvPr/>
        </p:nvSpPr>
        <p:spPr>
          <a:xfrm>
            <a:off x="6455664" y="4343400"/>
            <a:ext cx="2194560" cy="301752"/>
          </a:xfrm>
          <a:prstGeom prst="rect">
            <a:avLst/>
          </a:prstGeom>
          <a:noFill/>
          <a:ln/>
        </p:spPr>
        <p:txBody>
          <a:bodyPr wrap="square" lIns="0" tIns="0" rIns="0" bIns="0" rtlCol="0" anchor="t"/>
          <a:lstStyle/>
          <a:p>
            <a:pPr algn="ctr" indent="0" marL="0">
              <a:buNone/>
            </a:pPr>
            <a:r>
              <a:rPr lang="en-US" sz="1600" b="1" dirty="0">
                <a:solidFill>
                  <a:srgbClr val="FFFFFF"/>
                </a:solidFill>
                <a:latin typeface="Noto Sans" pitchFamily="34" charset="0"/>
                <a:ea typeface="Noto Sans" pitchFamily="34" charset="-122"/>
                <a:cs typeface="Noto Sans" pitchFamily="34" charset="-120"/>
              </a:rPr>
              <a:t>ATMOS service</a:t>
            </a:r>
            <a:endParaRPr lang="en-US" sz="1600" dirty="0"/>
          </a:p>
        </p:txBody>
      </p:sp>
      <p:sp>
        <p:nvSpPr>
          <p:cNvPr id="32" name="Text 30"/>
          <p:cNvSpPr/>
          <p:nvPr/>
        </p:nvSpPr>
        <p:spPr>
          <a:xfrm>
            <a:off x="6492240" y="4709160"/>
            <a:ext cx="2121408" cy="475488"/>
          </a:xfrm>
          <a:prstGeom prst="rect">
            <a:avLst/>
          </a:prstGeom>
          <a:noFill/>
          <a:ln/>
        </p:spPr>
        <p:txBody>
          <a:bodyPr wrap="square" lIns="0" tIns="0" rIns="0" bIns="0" rtlCol="0" anchor="t"/>
          <a:lstStyle/>
          <a:p>
            <a:pPr algn="ctr" indent="0" marL="0">
              <a:buNone/>
            </a:pPr>
            <a:r>
              <a:rPr lang="en-US" sz="1200" dirty="0">
                <a:solidFill>
                  <a:srgbClr val="FFFFFF"/>
                </a:solidFill>
                <a:latin typeface="Noto Sans" pitchFamily="34" charset="0"/>
                <a:ea typeface="Noto Sans" pitchFamily="34" charset="-122"/>
                <a:cs typeface="Noto Sans" pitchFamily="34" charset="-120"/>
              </a:rPr>
              <a:t>Complete native MoE request</a:t>
            </a:r>
            <a:endParaRPr lang="en-US" sz="1200" dirty="0"/>
          </a:p>
        </p:txBody>
      </p:sp>
      <p:sp>
        <p:nvSpPr>
          <p:cNvPr id="33" name="Shape 31"/>
          <p:cNvSpPr/>
          <p:nvPr/>
        </p:nvSpPr>
        <p:spPr>
          <a:xfrm>
            <a:off x="8823960" y="4718304"/>
            <a:ext cx="320040" cy="0"/>
          </a:xfrm>
          <a:prstGeom prst="line">
            <a:avLst/>
          </a:prstGeom>
          <a:noFill/>
          <a:ln w="19050">
            <a:solidFill>
              <a:srgbClr val="E31837"/>
            </a:solidFill>
            <a:prstDash val="solid"/>
            <a:tailEnd type="triangle"/>
          </a:ln>
        </p:spPr>
      </p:sp>
      <p:sp>
        <p:nvSpPr>
          <p:cNvPr id="34" name="Shape 32"/>
          <p:cNvSpPr/>
          <p:nvPr/>
        </p:nvSpPr>
        <p:spPr>
          <a:xfrm>
            <a:off x="9217152" y="4233672"/>
            <a:ext cx="2487168" cy="1005840"/>
          </a:xfrm>
          <a:prstGeom prst="rect">
            <a:avLst/>
          </a:prstGeom>
          <a:solidFill>
            <a:srgbClr val="22212B"/>
          </a:solidFill>
          <a:ln w="10160">
            <a:solidFill>
              <a:srgbClr val="22212B"/>
            </a:solidFill>
            <a:prstDash val="solid"/>
          </a:ln>
        </p:spPr>
      </p:sp>
      <p:sp>
        <p:nvSpPr>
          <p:cNvPr id="35" name="Text 33"/>
          <p:cNvSpPr/>
          <p:nvPr/>
        </p:nvSpPr>
        <p:spPr>
          <a:xfrm>
            <a:off x="9363456" y="4343400"/>
            <a:ext cx="2194560" cy="301752"/>
          </a:xfrm>
          <a:prstGeom prst="rect">
            <a:avLst/>
          </a:prstGeom>
          <a:noFill/>
          <a:ln/>
        </p:spPr>
        <p:txBody>
          <a:bodyPr wrap="square" lIns="0" tIns="0" rIns="0" bIns="0" rtlCol="0" anchor="t"/>
          <a:lstStyle/>
          <a:p>
            <a:pPr algn="ctr" indent="0" marL="0">
              <a:buNone/>
            </a:pPr>
            <a:r>
              <a:rPr lang="en-US" sz="1600" b="1" dirty="0">
                <a:solidFill>
                  <a:srgbClr val="FFFFFF"/>
                </a:solidFill>
                <a:latin typeface="Noto Sans" pitchFamily="34" charset="0"/>
                <a:ea typeface="Noto Sans" pitchFamily="34" charset="-122"/>
                <a:cs typeface="Noto Sans" pitchFamily="34" charset="-120"/>
              </a:rPr>
              <a:t>Business review</a:t>
            </a:r>
            <a:endParaRPr lang="en-US" sz="1600" dirty="0"/>
          </a:p>
        </p:txBody>
      </p:sp>
      <p:sp>
        <p:nvSpPr>
          <p:cNvPr id="36" name="Text 34"/>
          <p:cNvSpPr/>
          <p:nvPr/>
        </p:nvSpPr>
        <p:spPr>
          <a:xfrm>
            <a:off x="9400032" y="4709160"/>
            <a:ext cx="2121408" cy="475488"/>
          </a:xfrm>
          <a:prstGeom prst="rect">
            <a:avLst/>
          </a:prstGeom>
          <a:noFill/>
          <a:ln/>
        </p:spPr>
        <p:txBody>
          <a:bodyPr wrap="square" lIns="0" tIns="0" rIns="0" bIns="0" rtlCol="0" anchor="t"/>
          <a:lstStyle/>
          <a:p>
            <a:pPr algn="ctr" indent="0" marL="0">
              <a:buNone/>
            </a:pPr>
            <a:r>
              <a:rPr lang="en-US" sz="1200" dirty="0">
                <a:solidFill>
                  <a:srgbClr val="FFFFFF"/>
                </a:solidFill>
                <a:latin typeface="Noto Sans" pitchFamily="34" charset="0"/>
                <a:ea typeface="Noto Sans" pitchFamily="34" charset="-122"/>
                <a:cs typeface="Noto Sans" pitchFamily="34" charset="-120"/>
              </a:rPr>
              <a:t>Human accountability retained</a:t>
            </a:r>
            <a:endParaRPr lang="en-US" sz="1200" dirty="0"/>
          </a:p>
        </p:txBody>
      </p:sp>
      <p:sp>
        <p:nvSpPr>
          <p:cNvPr id="37" name="Shape 35"/>
          <p:cNvSpPr/>
          <p:nvPr/>
        </p:nvSpPr>
        <p:spPr>
          <a:xfrm>
            <a:off x="438912" y="5705856"/>
            <a:ext cx="11311128" cy="512064"/>
          </a:xfrm>
          <a:prstGeom prst="rect">
            <a:avLst/>
          </a:prstGeom>
          <a:solidFill>
            <a:srgbClr val="FBE9ED"/>
          </a:solidFill>
          <a:ln w="10160">
            <a:solidFill>
              <a:srgbClr val="FBE9ED"/>
            </a:solidFill>
            <a:prstDash val="solid"/>
          </a:ln>
        </p:spPr>
      </p:sp>
      <p:sp>
        <p:nvSpPr>
          <p:cNvPr id="38" name="Text 36"/>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FIRST SERVICE PROFILE</a:t>
            </a:r>
            <a:endParaRPr lang="en-US" sz="1300" dirty="0"/>
          </a:p>
        </p:txBody>
      </p:sp>
      <p:sp>
        <p:nvSpPr>
          <p:cNvPr id="39" name="Text 37"/>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4,096 input / ≤512 output tokens • 8K total cap • proposed p95 completion ≤120 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PORTFOLIO</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Three offerings solve three different constraints.</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Each is a complete customer offer—not a feature hidden inside an existing GPU expert layer.</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03</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Proposed product definitions, expanded from source deck A/B/C. Full native ATMOS model support is a common delivery gate.</a:t>
            </a:r>
            <a:endParaRPr lang="en-US" sz="810" dirty="0"/>
          </a:p>
        </p:txBody>
      </p:sp>
      <p:sp>
        <p:nvSpPr>
          <p:cNvPr id="10" name="Shape 8"/>
          <p:cNvSpPr/>
          <p:nvPr/>
        </p:nvSpPr>
        <p:spPr>
          <a:xfrm>
            <a:off x="457200" y="2121408"/>
            <a:ext cx="3639312" cy="3931920"/>
          </a:xfrm>
          <a:prstGeom prst="rect">
            <a:avLst/>
          </a:prstGeom>
          <a:solidFill>
            <a:srgbClr val="FFFFFF"/>
          </a:solidFill>
          <a:ln w="10160">
            <a:solidFill>
              <a:srgbClr val="D8D8DE"/>
            </a:solidFill>
            <a:prstDash val="solid"/>
          </a:ln>
        </p:spPr>
      </p:sp>
      <p:sp>
        <p:nvSpPr>
          <p:cNvPr id="11" name="Shape 9"/>
          <p:cNvSpPr/>
          <p:nvPr/>
        </p:nvSpPr>
        <p:spPr>
          <a:xfrm>
            <a:off x="457200" y="2121408"/>
            <a:ext cx="548640" cy="603504"/>
          </a:xfrm>
          <a:prstGeom prst="rect">
            <a:avLst/>
          </a:prstGeom>
          <a:solidFill>
            <a:srgbClr val="E31837"/>
          </a:solidFill>
          <a:ln w="10160">
            <a:solidFill>
              <a:srgbClr val="E31837"/>
            </a:solidFill>
            <a:prstDash val="solid"/>
          </a:ln>
        </p:spPr>
      </p:sp>
      <p:sp>
        <p:nvSpPr>
          <p:cNvPr id="12" name="Text 10"/>
          <p:cNvSpPr/>
          <p:nvPr/>
        </p:nvSpPr>
        <p:spPr>
          <a:xfrm>
            <a:off x="612648" y="2203704"/>
            <a:ext cx="274320" cy="393192"/>
          </a:xfrm>
          <a:prstGeom prst="rect">
            <a:avLst/>
          </a:prstGeom>
          <a:noFill/>
          <a:ln/>
        </p:spPr>
        <p:txBody>
          <a:bodyPr wrap="square" lIns="0" tIns="0" rIns="0" bIns="0" rtlCol="0" anchor="t"/>
          <a:lstStyle/>
          <a:p>
            <a:pPr indent="0" marL="0">
              <a:buNone/>
            </a:pPr>
            <a:r>
              <a:rPr lang="en-US" sz="2600" b="1" dirty="0">
                <a:solidFill>
                  <a:srgbClr val="FFFFFF"/>
                </a:solidFill>
                <a:latin typeface="Noto Sans" pitchFamily="34" charset="0"/>
                <a:ea typeface="Noto Sans" pitchFamily="34" charset="-122"/>
                <a:cs typeface="Noto Sans" pitchFamily="34" charset="-120"/>
              </a:rPr>
              <a:t>A</a:t>
            </a:r>
            <a:endParaRPr lang="en-US" sz="2600" dirty="0"/>
          </a:p>
        </p:txBody>
      </p:sp>
      <p:sp>
        <p:nvSpPr>
          <p:cNvPr id="13" name="Text 11"/>
          <p:cNvSpPr/>
          <p:nvPr/>
        </p:nvSpPr>
        <p:spPr>
          <a:xfrm>
            <a:off x="1188720" y="2267712"/>
            <a:ext cx="2734056" cy="658368"/>
          </a:xfrm>
          <a:prstGeom prst="rect">
            <a:avLst/>
          </a:prstGeom>
          <a:noFill/>
          <a:ln/>
        </p:spPr>
        <p:txBody>
          <a:bodyPr wrap="square" lIns="0" tIns="0" rIns="0" bIns="0" rtlCol="0" anchor="t"/>
          <a:lstStyle/>
          <a:p>
            <a:pPr indent="0" marL="0">
              <a:buNone/>
            </a:pPr>
            <a:r>
              <a:rPr lang="en-US" sz="2000" b="1" dirty="0">
                <a:solidFill>
                  <a:srgbClr val="22212B"/>
                </a:solidFill>
                <a:latin typeface="Noto Sans" pitchFamily="34" charset="0"/>
                <a:ea typeface="Noto Sans" pitchFamily="34" charset="-122"/>
                <a:cs typeface="Noto Sans" pitchFamily="34" charset="-120"/>
              </a:rPr>
              <a:t>ATMOS-native</a:t>
            </a:r>
            <a:endParaRPr lang="en-US" sz="2000" dirty="0"/>
          </a:p>
          <a:p>
            <a:pPr indent="0" marL="0">
              <a:buNone/>
            </a:pPr>
            <a:r>
              <a:rPr lang="en-US" sz="2000" b="1" dirty="0">
                <a:solidFill>
                  <a:srgbClr val="22212B"/>
                </a:solidFill>
                <a:latin typeface="Noto Sans" pitchFamily="34" charset="0"/>
                <a:ea typeface="Noto Sans" pitchFamily="34" charset="-122"/>
                <a:cs typeface="Noto Sans" pitchFamily="34" charset="-120"/>
              </a:rPr>
              <a:t>MoE appliance</a:t>
            </a:r>
            <a:endParaRPr lang="en-US" sz="2000" dirty="0"/>
          </a:p>
        </p:txBody>
      </p:sp>
      <p:sp>
        <p:nvSpPr>
          <p:cNvPr id="14" name="Text 12"/>
          <p:cNvSpPr/>
          <p:nvPr/>
        </p:nvSpPr>
        <p:spPr>
          <a:xfrm>
            <a:off x="640080" y="3099816"/>
            <a:ext cx="3273552"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CUSTOMER PROBLEM</a:t>
            </a:r>
            <a:endParaRPr lang="en-US" sz="1000" dirty="0"/>
          </a:p>
        </p:txBody>
      </p:sp>
      <p:sp>
        <p:nvSpPr>
          <p:cNvPr id="15" name="Text 13"/>
          <p:cNvSpPr/>
          <p:nvPr/>
        </p:nvSpPr>
        <p:spPr>
          <a:xfrm>
            <a:off x="640080" y="3383280"/>
            <a:ext cx="3255264" cy="603504"/>
          </a:xfrm>
          <a:prstGeom prst="rect">
            <a:avLst/>
          </a:prstGeom>
          <a:noFill/>
          <a:ln/>
        </p:spPr>
        <p:txBody>
          <a:bodyPr wrap="square" lIns="0" tIns="0" rIns="0" bIns="0" rtlCol="0" anchor="t"/>
          <a:lstStyle/>
          <a:p>
            <a:pPr indent="0" marL="0">
              <a:buNone/>
            </a:pPr>
            <a:r>
              <a:rPr lang="en-US" sz="1400" dirty="0">
                <a:solidFill>
                  <a:srgbClr val="22212B"/>
                </a:solidFill>
                <a:latin typeface="Noto Sans" pitchFamily="34" charset="0"/>
                <a:ea typeface="Noto Sans" pitchFamily="34" charset="-122"/>
                <a:cs typeface="Noto Sans" pitchFamily="34" charset="-120"/>
              </a:rPr>
              <a:t>Need more private inference capacity without altering the GPU engine.</a:t>
            </a:r>
            <a:endParaRPr lang="en-US" sz="1400" dirty="0"/>
          </a:p>
        </p:txBody>
      </p:sp>
      <p:sp>
        <p:nvSpPr>
          <p:cNvPr id="16" name="Text 14"/>
          <p:cNvSpPr/>
          <p:nvPr/>
        </p:nvSpPr>
        <p:spPr>
          <a:xfrm>
            <a:off x="640080" y="4151376"/>
            <a:ext cx="3264408"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WHAT SANDISK OFFERS</a:t>
            </a:r>
            <a:endParaRPr lang="en-US" sz="1000" dirty="0"/>
          </a:p>
        </p:txBody>
      </p:sp>
      <p:sp>
        <p:nvSpPr>
          <p:cNvPr id="17" name="Text 15"/>
          <p:cNvSpPr/>
          <p:nvPr/>
        </p:nvSpPr>
        <p:spPr>
          <a:xfrm>
            <a:off x="640080" y="4434840"/>
            <a:ext cx="3264408" cy="576072"/>
          </a:xfrm>
          <a:prstGeom prst="rect">
            <a:avLst/>
          </a:prstGeom>
          <a:noFill/>
          <a:ln/>
        </p:spPr>
        <p:txBody>
          <a:bodyPr wrap="square" lIns="0" tIns="0" rIns="0" bIns="0" rtlCol="0" anchor="t"/>
          <a:lstStyle/>
          <a:p>
            <a:pPr indent="0" marL="0">
              <a:buNone/>
            </a:pPr>
            <a:r>
              <a:rPr lang="en-US" sz="1400" dirty="0">
                <a:solidFill>
                  <a:srgbClr val="22212B"/>
                </a:solidFill>
                <a:latin typeface="Noto Sans" pitchFamily="34" charset="0"/>
                <a:ea typeface="Noto Sans" pitchFamily="34" charset="-122"/>
                <a:cs typeface="Noto Sans" pitchFamily="34" charset="-120"/>
              </a:rPr>
              <a:t>An independent endpoint: complete prefill + decode on ATMOS.</a:t>
            </a:r>
            <a:endParaRPr lang="en-US" sz="1400" dirty="0"/>
          </a:p>
        </p:txBody>
      </p:sp>
      <p:sp>
        <p:nvSpPr>
          <p:cNvPr id="18" name="Text 16"/>
          <p:cNvSpPr/>
          <p:nvPr/>
        </p:nvSpPr>
        <p:spPr>
          <a:xfrm>
            <a:off x="640080" y="5157216"/>
            <a:ext cx="3264408" cy="502920"/>
          </a:xfrm>
          <a:prstGeom prst="rect">
            <a:avLst/>
          </a:prstGeom>
          <a:noFill/>
          <a:ln/>
        </p:spPr>
        <p:txBody>
          <a:bodyPr wrap="square" lIns="0" tIns="0" rIns="0" bIns="0" rtlCol="0" anchor="t"/>
          <a:lstStyle/>
          <a:p>
            <a:pPr indent="0" marL="0">
              <a:buNone/>
            </a:pPr>
            <a:r>
              <a:rPr lang="en-US" sz="1350" dirty="0">
                <a:solidFill>
                  <a:srgbClr val="62636E"/>
                </a:solidFill>
                <a:latin typeface="Noto Sans" pitchFamily="34" charset="0"/>
                <a:ea typeface="Noto Sans" pitchFamily="34" charset="-122"/>
                <a:cs typeface="Noto Sans" pitchFamily="34" charset="-120"/>
              </a:rPr>
              <a:t>Eligible requests leave the GPU queue; service groups scale independently.</a:t>
            </a:r>
            <a:endParaRPr lang="en-US" sz="1350" dirty="0"/>
          </a:p>
        </p:txBody>
      </p:sp>
      <p:sp>
        <p:nvSpPr>
          <p:cNvPr id="19" name="Shape 17"/>
          <p:cNvSpPr/>
          <p:nvPr/>
        </p:nvSpPr>
        <p:spPr>
          <a:xfrm>
            <a:off x="612648" y="5696712"/>
            <a:ext cx="3328416" cy="292608"/>
          </a:xfrm>
          <a:prstGeom prst="rect">
            <a:avLst/>
          </a:prstGeom>
          <a:solidFill>
            <a:srgbClr val="FBE9ED"/>
          </a:solidFill>
          <a:ln w="10160">
            <a:solidFill>
              <a:srgbClr val="FBE9ED"/>
            </a:solidFill>
            <a:prstDash val="solid"/>
          </a:ln>
        </p:spPr>
      </p:sp>
      <p:sp>
        <p:nvSpPr>
          <p:cNvPr id="20" name="Text 18"/>
          <p:cNvSpPr/>
          <p:nvPr/>
        </p:nvSpPr>
        <p:spPr>
          <a:xfrm>
            <a:off x="704088" y="5737860"/>
            <a:ext cx="3145536"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LEAD • request boundary</a:t>
            </a:r>
            <a:endParaRPr lang="en-US" sz="1000" dirty="0"/>
          </a:p>
        </p:txBody>
      </p:sp>
      <p:sp>
        <p:nvSpPr>
          <p:cNvPr id="21" name="Shape 19"/>
          <p:cNvSpPr/>
          <p:nvPr/>
        </p:nvSpPr>
        <p:spPr>
          <a:xfrm>
            <a:off x="4279392" y="2121408"/>
            <a:ext cx="3639312" cy="3931920"/>
          </a:xfrm>
          <a:prstGeom prst="rect">
            <a:avLst/>
          </a:prstGeom>
          <a:solidFill>
            <a:srgbClr val="FFFFFF"/>
          </a:solidFill>
          <a:ln w="10160">
            <a:solidFill>
              <a:srgbClr val="D8D8DE"/>
            </a:solidFill>
            <a:prstDash val="solid"/>
          </a:ln>
        </p:spPr>
      </p:sp>
      <p:sp>
        <p:nvSpPr>
          <p:cNvPr id="22" name="Shape 20"/>
          <p:cNvSpPr/>
          <p:nvPr/>
        </p:nvSpPr>
        <p:spPr>
          <a:xfrm>
            <a:off x="4279392" y="2121408"/>
            <a:ext cx="548640" cy="603504"/>
          </a:xfrm>
          <a:prstGeom prst="rect">
            <a:avLst/>
          </a:prstGeom>
          <a:solidFill>
            <a:srgbClr val="22212B"/>
          </a:solidFill>
          <a:ln w="10160">
            <a:solidFill>
              <a:srgbClr val="22212B"/>
            </a:solidFill>
            <a:prstDash val="solid"/>
          </a:ln>
        </p:spPr>
      </p:sp>
      <p:sp>
        <p:nvSpPr>
          <p:cNvPr id="23" name="Text 21"/>
          <p:cNvSpPr/>
          <p:nvPr/>
        </p:nvSpPr>
        <p:spPr>
          <a:xfrm>
            <a:off x="4434840" y="2203704"/>
            <a:ext cx="274320" cy="393192"/>
          </a:xfrm>
          <a:prstGeom prst="rect">
            <a:avLst/>
          </a:prstGeom>
          <a:noFill/>
          <a:ln/>
        </p:spPr>
        <p:txBody>
          <a:bodyPr wrap="square" lIns="0" tIns="0" rIns="0" bIns="0" rtlCol="0" anchor="t"/>
          <a:lstStyle/>
          <a:p>
            <a:pPr indent="0" marL="0">
              <a:buNone/>
            </a:pPr>
            <a:r>
              <a:rPr lang="en-US" sz="2600" b="1" dirty="0">
                <a:solidFill>
                  <a:srgbClr val="FFFFFF"/>
                </a:solidFill>
                <a:latin typeface="Noto Sans" pitchFamily="34" charset="0"/>
                <a:ea typeface="Noto Sans" pitchFamily="34" charset="-122"/>
                <a:cs typeface="Noto Sans" pitchFamily="34" charset="-120"/>
              </a:rPr>
              <a:t>B</a:t>
            </a:r>
            <a:endParaRPr lang="en-US" sz="2600" dirty="0"/>
          </a:p>
        </p:txBody>
      </p:sp>
      <p:sp>
        <p:nvSpPr>
          <p:cNvPr id="24" name="Text 22"/>
          <p:cNvSpPr/>
          <p:nvPr/>
        </p:nvSpPr>
        <p:spPr>
          <a:xfrm>
            <a:off x="5010912" y="2267712"/>
            <a:ext cx="2734056" cy="658368"/>
          </a:xfrm>
          <a:prstGeom prst="rect">
            <a:avLst/>
          </a:prstGeom>
          <a:noFill/>
          <a:ln/>
        </p:spPr>
        <p:txBody>
          <a:bodyPr wrap="square" lIns="0" tIns="0" rIns="0" bIns="0" rtlCol="0" anchor="t"/>
          <a:lstStyle/>
          <a:p>
            <a:pPr indent="0" marL="0">
              <a:buNone/>
            </a:pPr>
            <a:r>
              <a:rPr lang="en-US" sz="2000" b="1" dirty="0">
                <a:solidFill>
                  <a:srgbClr val="22212B"/>
                </a:solidFill>
                <a:latin typeface="Noto Sans" pitchFamily="34" charset="0"/>
                <a:ea typeface="Noto Sans" pitchFamily="34" charset="-122"/>
                <a:cs typeface="Noto Sans" pitchFamily="34" charset="-120"/>
              </a:rPr>
              <a:t>GPU prefill →</a:t>
            </a:r>
            <a:endParaRPr lang="en-US" sz="2000" dirty="0"/>
          </a:p>
          <a:p>
            <a:pPr indent="0" marL="0">
              <a:buNone/>
            </a:pPr>
            <a:r>
              <a:rPr lang="en-US" sz="2000" b="1" dirty="0">
                <a:solidFill>
                  <a:srgbClr val="22212B"/>
                </a:solidFill>
                <a:latin typeface="Noto Sans" pitchFamily="34" charset="0"/>
                <a:ea typeface="Noto Sans" pitchFamily="34" charset="-122"/>
                <a:cs typeface="Noto Sans" pitchFamily="34" charset="-120"/>
              </a:rPr>
              <a:t>ATMOS decode</a:t>
            </a:r>
            <a:endParaRPr lang="en-US" sz="2000" dirty="0"/>
          </a:p>
        </p:txBody>
      </p:sp>
      <p:sp>
        <p:nvSpPr>
          <p:cNvPr id="25" name="Text 23"/>
          <p:cNvSpPr/>
          <p:nvPr/>
        </p:nvSpPr>
        <p:spPr>
          <a:xfrm>
            <a:off x="4462272" y="3099816"/>
            <a:ext cx="3273552"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CUSTOMER PROBLEM</a:t>
            </a:r>
            <a:endParaRPr lang="en-US" sz="1000" dirty="0"/>
          </a:p>
        </p:txBody>
      </p:sp>
      <p:sp>
        <p:nvSpPr>
          <p:cNvPr id="26" name="Text 24"/>
          <p:cNvSpPr/>
          <p:nvPr/>
        </p:nvSpPr>
        <p:spPr>
          <a:xfrm>
            <a:off x="4462272" y="3383280"/>
            <a:ext cx="3255264" cy="603504"/>
          </a:xfrm>
          <a:prstGeom prst="rect">
            <a:avLst/>
          </a:prstGeom>
          <a:noFill/>
          <a:ln/>
        </p:spPr>
        <p:txBody>
          <a:bodyPr wrap="square" lIns="0" tIns="0" rIns="0" bIns="0" rtlCol="0" anchor="t"/>
          <a:lstStyle/>
          <a:p>
            <a:pPr indent="0" marL="0">
              <a:buNone/>
            </a:pPr>
            <a:r>
              <a:rPr lang="en-US" sz="1400" dirty="0">
                <a:solidFill>
                  <a:srgbClr val="22212B"/>
                </a:solidFill>
                <a:latin typeface="Noto Sans" pitchFamily="34" charset="0"/>
                <a:ea typeface="Noto Sans" pitchFamily="34" charset="-122"/>
                <a:cs typeface="Noto Sans" pitchFamily="34" charset="-120"/>
              </a:rPr>
              <a:t>Need fast prompt processing, but output generation occupies the GPU pool.</a:t>
            </a:r>
            <a:endParaRPr lang="en-US" sz="1400" dirty="0"/>
          </a:p>
        </p:txBody>
      </p:sp>
      <p:sp>
        <p:nvSpPr>
          <p:cNvPr id="27" name="Text 25"/>
          <p:cNvSpPr/>
          <p:nvPr/>
        </p:nvSpPr>
        <p:spPr>
          <a:xfrm>
            <a:off x="4462272" y="4151376"/>
            <a:ext cx="3264408"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WHAT SANDISK OFFERS</a:t>
            </a:r>
            <a:endParaRPr lang="en-US" sz="1000" dirty="0"/>
          </a:p>
        </p:txBody>
      </p:sp>
      <p:sp>
        <p:nvSpPr>
          <p:cNvPr id="28" name="Text 26"/>
          <p:cNvSpPr/>
          <p:nvPr/>
        </p:nvSpPr>
        <p:spPr>
          <a:xfrm>
            <a:off x="4462272" y="4434840"/>
            <a:ext cx="3264408" cy="576072"/>
          </a:xfrm>
          <a:prstGeom prst="rect">
            <a:avLst/>
          </a:prstGeom>
          <a:noFill/>
          <a:ln/>
        </p:spPr>
        <p:txBody>
          <a:bodyPr wrap="square" lIns="0" tIns="0" rIns="0" bIns="0" rtlCol="0" anchor="t"/>
          <a:lstStyle/>
          <a:p>
            <a:pPr indent="0" marL="0">
              <a:buNone/>
            </a:pPr>
            <a:r>
              <a:rPr lang="en-US" sz="1400" dirty="0">
                <a:solidFill>
                  <a:srgbClr val="22212B"/>
                </a:solidFill>
                <a:latin typeface="Noto Sans" pitchFamily="34" charset="0"/>
                <a:ea typeface="Noto Sans" pitchFamily="34" charset="-122"/>
                <a:cs typeface="Noto Sans" pitchFamily="34" charset="-120"/>
              </a:rPr>
              <a:t>A paired service: complete GPU prefill + native ATMOS decoder + KV bridge.</a:t>
            </a:r>
            <a:endParaRPr lang="en-US" sz="1400" dirty="0"/>
          </a:p>
        </p:txBody>
      </p:sp>
      <p:sp>
        <p:nvSpPr>
          <p:cNvPr id="29" name="Text 27"/>
          <p:cNvSpPr/>
          <p:nvPr/>
        </p:nvSpPr>
        <p:spPr>
          <a:xfrm>
            <a:off x="4462272" y="5157216"/>
            <a:ext cx="3264408" cy="502920"/>
          </a:xfrm>
          <a:prstGeom prst="rect">
            <a:avLst/>
          </a:prstGeom>
          <a:noFill/>
          <a:ln/>
        </p:spPr>
        <p:txBody>
          <a:bodyPr wrap="square" lIns="0" tIns="0" rIns="0" bIns="0" rtlCol="0" anchor="t"/>
          <a:lstStyle/>
          <a:p>
            <a:pPr indent="0" marL="0">
              <a:buNone/>
            </a:pPr>
            <a:r>
              <a:rPr lang="en-US" sz="1350" dirty="0">
                <a:solidFill>
                  <a:srgbClr val="62636E"/>
                </a:solidFill>
                <a:latin typeface="Noto Sans" pitchFamily="34" charset="0"/>
                <a:ea typeface="Noto Sans" pitchFamily="34" charset="-122"/>
                <a:cs typeface="Noto Sans" pitchFamily="34" charset="-120"/>
              </a:rPr>
              <a:t>GPU prefill and ATMOS decode can be sized separately.</a:t>
            </a:r>
            <a:endParaRPr lang="en-US" sz="1350" dirty="0"/>
          </a:p>
        </p:txBody>
      </p:sp>
      <p:sp>
        <p:nvSpPr>
          <p:cNvPr id="30" name="Shape 28"/>
          <p:cNvSpPr/>
          <p:nvPr/>
        </p:nvSpPr>
        <p:spPr>
          <a:xfrm>
            <a:off x="4434840" y="5696712"/>
            <a:ext cx="3328416" cy="292608"/>
          </a:xfrm>
          <a:prstGeom prst="rect">
            <a:avLst/>
          </a:prstGeom>
          <a:solidFill>
            <a:srgbClr val="FBE9ED"/>
          </a:solidFill>
          <a:ln w="10160">
            <a:solidFill>
              <a:srgbClr val="FBE9ED"/>
            </a:solidFill>
            <a:prstDash val="solid"/>
          </a:ln>
        </p:spPr>
      </p:sp>
      <p:sp>
        <p:nvSpPr>
          <p:cNvPr id="31" name="Text 29"/>
          <p:cNvSpPr/>
          <p:nvPr/>
        </p:nvSpPr>
        <p:spPr>
          <a:xfrm>
            <a:off x="4526280" y="5737860"/>
            <a:ext cx="3145536"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CONDITIONAL • KV boundary</a:t>
            </a:r>
            <a:endParaRPr lang="en-US" sz="1000" dirty="0"/>
          </a:p>
        </p:txBody>
      </p:sp>
      <p:sp>
        <p:nvSpPr>
          <p:cNvPr id="32" name="Shape 30"/>
          <p:cNvSpPr/>
          <p:nvPr/>
        </p:nvSpPr>
        <p:spPr>
          <a:xfrm>
            <a:off x="8101584" y="2121408"/>
            <a:ext cx="3639312" cy="3931920"/>
          </a:xfrm>
          <a:prstGeom prst="rect">
            <a:avLst/>
          </a:prstGeom>
          <a:solidFill>
            <a:srgbClr val="FFFFFF"/>
          </a:solidFill>
          <a:ln w="10160">
            <a:solidFill>
              <a:srgbClr val="D8D8DE"/>
            </a:solidFill>
            <a:prstDash val="solid"/>
          </a:ln>
        </p:spPr>
      </p:sp>
      <p:sp>
        <p:nvSpPr>
          <p:cNvPr id="33" name="Shape 31"/>
          <p:cNvSpPr/>
          <p:nvPr/>
        </p:nvSpPr>
        <p:spPr>
          <a:xfrm>
            <a:off x="8101584" y="2121408"/>
            <a:ext cx="548640" cy="603504"/>
          </a:xfrm>
          <a:prstGeom prst="rect">
            <a:avLst/>
          </a:prstGeom>
          <a:solidFill>
            <a:srgbClr val="22212B"/>
          </a:solidFill>
          <a:ln w="10160">
            <a:solidFill>
              <a:srgbClr val="22212B"/>
            </a:solidFill>
            <a:prstDash val="solid"/>
          </a:ln>
        </p:spPr>
      </p:sp>
      <p:sp>
        <p:nvSpPr>
          <p:cNvPr id="34" name="Text 32"/>
          <p:cNvSpPr/>
          <p:nvPr/>
        </p:nvSpPr>
        <p:spPr>
          <a:xfrm>
            <a:off x="8257032" y="2203704"/>
            <a:ext cx="274320" cy="393192"/>
          </a:xfrm>
          <a:prstGeom prst="rect">
            <a:avLst/>
          </a:prstGeom>
          <a:noFill/>
          <a:ln/>
        </p:spPr>
        <p:txBody>
          <a:bodyPr wrap="square" lIns="0" tIns="0" rIns="0" bIns="0" rtlCol="0" anchor="t"/>
          <a:lstStyle/>
          <a:p>
            <a:pPr indent="0" marL="0">
              <a:buNone/>
            </a:pPr>
            <a:r>
              <a:rPr lang="en-US" sz="2600" b="1" dirty="0">
                <a:solidFill>
                  <a:srgbClr val="FFFFFF"/>
                </a:solidFill>
                <a:latin typeface="Noto Sans" pitchFamily="34" charset="0"/>
                <a:ea typeface="Noto Sans" pitchFamily="34" charset="-122"/>
                <a:cs typeface="Noto Sans" pitchFamily="34" charset="-120"/>
              </a:rPr>
              <a:t>C</a:t>
            </a:r>
            <a:endParaRPr lang="en-US" sz="2600" dirty="0"/>
          </a:p>
        </p:txBody>
      </p:sp>
      <p:sp>
        <p:nvSpPr>
          <p:cNvPr id="35" name="Text 33"/>
          <p:cNvSpPr/>
          <p:nvPr/>
        </p:nvSpPr>
        <p:spPr>
          <a:xfrm>
            <a:off x="8833104" y="2267712"/>
            <a:ext cx="2734056" cy="658368"/>
          </a:xfrm>
          <a:prstGeom prst="rect">
            <a:avLst/>
          </a:prstGeom>
          <a:noFill/>
          <a:ln/>
        </p:spPr>
        <p:txBody>
          <a:bodyPr wrap="square" lIns="0" tIns="0" rIns="0" bIns="0" rtlCol="0" anchor="t"/>
          <a:lstStyle/>
          <a:p>
            <a:pPr indent="0" marL="0">
              <a:buNone/>
            </a:pPr>
            <a:r>
              <a:rPr lang="en-US" sz="2000" b="1" dirty="0">
                <a:solidFill>
                  <a:srgbClr val="22212B"/>
                </a:solidFill>
                <a:latin typeface="Noto Sans" pitchFamily="34" charset="0"/>
                <a:ea typeface="Noto Sans" pitchFamily="34" charset="-122"/>
                <a:cs typeface="Noto Sans" pitchFamily="34" charset="-120"/>
              </a:rPr>
              <a:t>Speculative</a:t>
            </a:r>
            <a:endParaRPr lang="en-US" sz="2000" dirty="0"/>
          </a:p>
          <a:p>
            <a:pPr indent="0" marL="0">
              <a:buNone/>
            </a:pPr>
            <a:r>
              <a:rPr lang="en-US" sz="2000" b="1" dirty="0">
                <a:solidFill>
                  <a:srgbClr val="22212B"/>
                </a:solidFill>
                <a:latin typeface="Noto Sans" pitchFamily="34" charset="0"/>
                <a:ea typeface="Noto Sans" pitchFamily="34" charset="-122"/>
                <a:cs typeface="Noto Sans" pitchFamily="34" charset="-120"/>
              </a:rPr>
              <a:t>inference node</a:t>
            </a:r>
            <a:endParaRPr lang="en-US" sz="2000" dirty="0"/>
          </a:p>
        </p:txBody>
      </p:sp>
      <p:sp>
        <p:nvSpPr>
          <p:cNvPr id="36" name="Text 34"/>
          <p:cNvSpPr/>
          <p:nvPr/>
        </p:nvSpPr>
        <p:spPr>
          <a:xfrm>
            <a:off x="8284464" y="3099816"/>
            <a:ext cx="3273552"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CUSTOMER PROBLEM</a:t>
            </a:r>
            <a:endParaRPr lang="en-US" sz="1000" dirty="0"/>
          </a:p>
        </p:txBody>
      </p:sp>
      <p:sp>
        <p:nvSpPr>
          <p:cNvPr id="37" name="Text 35"/>
          <p:cNvSpPr/>
          <p:nvPr/>
        </p:nvSpPr>
        <p:spPr>
          <a:xfrm>
            <a:off x="8284464" y="3383280"/>
            <a:ext cx="3255264" cy="603504"/>
          </a:xfrm>
          <a:prstGeom prst="rect">
            <a:avLst/>
          </a:prstGeom>
          <a:noFill/>
          <a:ln/>
        </p:spPr>
        <p:txBody>
          <a:bodyPr wrap="square" lIns="0" tIns="0" rIns="0" bIns="0" rtlCol="0" anchor="t"/>
          <a:lstStyle/>
          <a:p>
            <a:pPr indent="0" marL="0">
              <a:buNone/>
            </a:pPr>
            <a:r>
              <a:rPr lang="en-US" sz="1400" dirty="0">
                <a:solidFill>
                  <a:srgbClr val="22212B"/>
                </a:solidFill>
                <a:latin typeface="Noto Sans" pitchFamily="34" charset="0"/>
                <a:ea typeface="Noto Sans" pitchFamily="34" charset="-122"/>
                <a:cs typeface="Noto Sans" pitchFamily="34" charset="-120"/>
              </a:rPr>
              <a:t>Native target decoding spends too much time per committed token.</a:t>
            </a:r>
            <a:endParaRPr lang="en-US" sz="1400" dirty="0"/>
          </a:p>
        </p:txBody>
      </p:sp>
      <p:sp>
        <p:nvSpPr>
          <p:cNvPr id="38" name="Text 36"/>
          <p:cNvSpPr/>
          <p:nvPr/>
        </p:nvSpPr>
        <p:spPr>
          <a:xfrm>
            <a:off x="8284464" y="4151376"/>
            <a:ext cx="3264408"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WHAT SANDISK OFFERS</a:t>
            </a:r>
            <a:endParaRPr lang="en-US" sz="1000" dirty="0"/>
          </a:p>
        </p:txBody>
      </p:sp>
      <p:sp>
        <p:nvSpPr>
          <p:cNvPr id="39" name="Text 37"/>
          <p:cNvSpPr/>
          <p:nvPr/>
        </p:nvSpPr>
        <p:spPr>
          <a:xfrm>
            <a:off x="8284464" y="4434840"/>
            <a:ext cx="3264408" cy="576072"/>
          </a:xfrm>
          <a:prstGeom prst="rect">
            <a:avLst/>
          </a:prstGeom>
          <a:noFill/>
          <a:ln/>
        </p:spPr>
        <p:txBody>
          <a:bodyPr wrap="square" lIns="0" tIns="0" rIns="0" bIns="0" rtlCol="0" anchor="t"/>
          <a:lstStyle/>
          <a:p>
            <a:pPr indent="0" marL="0">
              <a:buNone/>
            </a:pPr>
            <a:r>
              <a:rPr lang="en-US" sz="1400" dirty="0">
                <a:solidFill>
                  <a:srgbClr val="22212B"/>
                </a:solidFill>
                <a:latin typeface="Noto Sans" pitchFamily="34" charset="0"/>
                <a:ea typeface="Noto Sans" pitchFamily="34" charset="-122"/>
                <a:cs typeface="Noto Sans" pitchFamily="34" charset="-120"/>
              </a:rPr>
              <a:t>A small GPU draft model + ATMOS target MoE + verification scheduler.</a:t>
            </a:r>
            <a:endParaRPr lang="en-US" sz="1400" dirty="0"/>
          </a:p>
        </p:txBody>
      </p:sp>
      <p:sp>
        <p:nvSpPr>
          <p:cNvPr id="40" name="Text 38"/>
          <p:cNvSpPr/>
          <p:nvPr/>
        </p:nvSpPr>
        <p:spPr>
          <a:xfrm>
            <a:off x="8284464" y="5157216"/>
            <a:ext cx="3264408" cy="502920"/>
          </a:xfrm>
          <a:prstGeom prst="rect">
            <a:avLst/>
          </a:prstGeom>
          <a:noFill/>
          <a:ln/>
        </p:spPr>
        <p:txBody>
          <a:bodyPr wrap="square" lIns="0" tIns="0" rIns="0" bIns="0" rtlCol="0" anchor="t"/>
          <a:lstStyle/>
          <a:p>
            <a:pPr indent="0" marL="0">
              <a:buNone/>
            </a:pPr>
            <a:r>
              <a:rPr lang="en-US" sz="1350" dirty="0">
                <a:solidFill>
                  <a:srgbClr val="62636E"/>
                </a:solidFill>
                <a:latin typeface="Noto Sans" pitchFamily="34" charset="0"/>
                <a:ea typeface="Noto Sans" pitchFamily="34" charset="-122"/>
                <a:cs typeface="Noto Sans" pitchFamily="34" charset="-120"/>
              </a:rPr>
              <a:t>Several target-approved tokens may be produced per target cycle.</a:t>
            </a:r>
            <a:endParaRPr lang="en-US" sz="1350" dirty="0"/>
          </a:p>
        </p:txBody>
      </p:sp>
      <p:sp>
        <p:nvSpPr>
          <p:cNvPr id="41" name="Shape 39"/>
          <p:cNvSpPr/>
          <p:nvPr/>
        </p:nvSpPr>
        <p:spPr>
          <a:xfrm>
            <a:off x="8257032" y="5696712"/>
            <a:ext cx="3328416" cy="292608"/>
          </a:xfrm>
          <a:prstGeom prst="rect">
            <a:avLst/>
          </a:prstGeom>
          <a:solidFill>
            <a:srgbClr val="FBE9ED"/>
          </a:solidFill>
          <a:ln w="10160">
            <a:solidFill>
              <a:srgbClr val="FBE9ED"/>
            </a:solidFill>
            <a:prstDash val="solid"/>
          </a:ln>
        </p:spPr>
      </p:sp>
      <p:sp>
        <p:nvSpPr>
          <p:cNvPr id="42" name="Text 40"/>
          <p:cNvSpPr/>
          <p:nvPr/>
        </p:nvSpPr>
        <p:spPr>
          <a:xfrm>
            <a:off x="8348472" y="5737860"/>
            <a:ext cx="3145536"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RESEARCH • token-block boundary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A / EXECUTION ARCHITECTURE</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A | A complete model service, separate from GPUs.</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The customer sends each request to one eligible endpoint. ATMOS is not a GPU weight cache.</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04</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[S5] Native-platform plugin precedent. [S10] Device allocation. ATMOS implementation and memory/fabric behavior remain proposed.</a:t>
            </a:r>
            <a:endParaRPr lang="en-US" sz="810" dirty="0"/>
          </a:p>
        </p:txBody>
      </p:sp>
      <p:sp>
        <p:nvSpPr>
          <p:cNvPr id="10" name="Shape 8"/>
          <p:cNvSpPr/>
          <p:nvPr/>
        </p:nvSpPr>
        <p:spPr>
          <a:xfrm>
            <a:off x="3410712" y="2048256"/>
            <a:ext cx="5358384" cy="795528"/>
          </a:xfrm>
          <a:prstGeom prst="rect">
            <a:avLst/>
          </a:prstGeom>
          <a:solidFill>
            <a:srgbClr val="22212B"/>
          </a:solidFill>
          <a:ln w="10160">
            <a:solidFill>
              <a:srgbClr val="22212B"/>
            </a:solidFill>
            <a:prstDash val="solid"/>
          </a:ln>
        </p:spPr>
      </p:sp>
      <p:sp>
        <p:nvSpPr>
          <p:cNvPr id="11" name="Text 9"/>
          <p:cNvSpPr/>
          <p:nvPr/>
        </p:nvSpPr>
        <p:spPr>
          <a:xfrm>
            <a:off x="3557016" y="2157984"/>
            <a:ext cx="5065776" cy="301752"/>
          </a:xfrm>
          <a:prstGeom prst="rect">
            <a:avLst/>
          </a:prstGeom>
          <a:noFill/>
          <a:ln/>
        </p:spPr>
        <p:txBody>
          <a:bodyPr wrap="square" lIns="0" tIns="0" rIns="0" bIns="0" rtlCol="0" anchor="t"/>
          <a:lstStyle/>
          <a:p>
            <a:pPr algn="ctr" indent="0" marL="0">
              <a:buNone/>
            </a:pPr>
            <a:r>
              <a:rPr lang="en-US" sz="1800" b="1" dirty="0">
                <a:solidFill>
                  <a:srgbClr val="FFFFFF"/>
                </a:solidFill>
                <a:latin typeface="Noto Sans" pitchFamily="34" charset="0"/>
                <a:ea typeface="Noto Sans" pitchFamily="34" charset="-122"/>
                <a:cs typeface="Noto Sans" pitchFamily="34" charset="-120"/>
              </a:rPr>
              <a:t>Customer gateway / job policy</a:t>
            </a:r>
            <a:endParaRPr lang="en-US" sz="1800" dirty="0"/>
          </a:p>
        </p:txBody>
      </p:sp>
      <p:sp>
        <p:nvSpPr>
          <p:cNvPr id="12" name="Text 10"/>
          <p:cNvSpPr/>
          <p:nvPr/>
        </p:nvSpPr>
        <p:spPr>
          <a:xfrm>
            <a:off x="3593592" y="2523744"/>
            <a:ext cx="4992624" cy="265176"/>
          </a:xfrm>
          <a:prstGeom prst="rect">
            <a:avLst/>
          </a:prstGeom>
          <a:noFill/>
          <a:ln/>
        </p:spPr>
        <p:txBody>
          <a:bodyPr wrap="square" lIns="0" tIns="0" rIns="0" bIns="0" rtlCol="0" anchor="t"/>
          <a:lstStyle/>
          <a:p>
            <a:pPr algn="ctr" indent="0" marL="0">
              <a:buNone/>
            </a:pPr>
            <a:r>
              <a:rPr lang="en-US" sz="1200" dirty="0">
                <a:solidFill>
                  <a:srgbClr val="FFFFFF"/>
                </a:solidFill>
                <a:latin typeface="Noto Sans" pitchFamily="34" charset="0"/>
                <a:ea typeface="Noto Sans" pitchFamily="34" charset="-122"/>
                <a:cs typeface="Noto Sans" pitchFamily="34" charset="-120"/>
              </a:rPr>
              <a:t>Choose by approved model, context, queue and deadline</a:t>
            </a:r>
            <a:endParaRPr lang="en-US" sz="1200" dirty="0"/>
          </a:p>
        </p:txBody>
      </p:sp>
      <p:sp>
        <p:nvSpPr>
          <p:cNvPr id="13" name="Shape 11"/>
          <p:cNvSpPr/>
          <p:nvPr/>
        </p:nvSpPr>
        <p:spPr>
          <a:xfrm>
            <a:off x="3858768" y="2862072"/>
            <a:ext cx="-1527048" cy="502920"/>
          </a:xfrm>
          <a:prstGeom prst="line">
            <a:avLst/>
          </a:prstGeom>
          <a:noFill/>
          <a:ln w="20320">
            <a:solidFill>
              <a:srgbClr val="62636E"/>
            </a:solidFill>
            <a:prstDash val="solid"/>
            <a:tailEnd type="triangle"/>
          </a:ln>
        </p:spPr>
      </p:sp>
      <p:sp>
        <p:nvSpPr>
          <p:cNvPr id="14" name="Shape 12"/>
          <p:cNvSpPr/>
          <p:nvPr/>
        </p:nvSpPr>
        <p:spPr>
          <a:xfrm>
            <a:off x="8293608" y="2862072"/>
            <a:ext cx="9144" cy="502920"/>
          </a:xfrm>
          <a:prstGeom prst="line">
            <a:avLst/>
          </a:prstGeom>
          <a:noFill/>
          <a:ln w="22860">
            <a:solidFill>
              <a:srgbClr val="E31837"/>
            </a:solidFill>
            <a:prstDash val="solid"/>
            <a:tailEnd type="triangle"/>
          </a:ln>
        </p:spPr>
      </p:sp>
      <p:sp>
        <p:nvSpPr>
          <p:cNvPr id="15" name="Text 13"/>
          <p:cNvSpPr/>
          <p:nvPr/>
        </p:nvSpPr>
        <p:spPr>
          <a:xfrm>
            <a:off x="649224" y="3145536"/>
            <a:ext cx="4297680" cy="219456"/>
          </a:xfrm>
          <a:prstGeom prst="rect">
            <a:avLst/>
          </a:prstGeom>
          <a:noFill/>
          <a:ln/>
        </p:spPr>
        <p:txBody>
          <a:bodyPr wrap="square" lIns="0" tIns="0" rIns="0" bIns="0" rtlCol="0" anchor="t"/>
          <a:lstStyle/>
          <a:p>
            <a:pPr indent="0" marL="0">
              <a:buNone/>
            </a:pPr>
            <a:r>
              <a:rPr lang="en-US" sz="1000" b="1" spc="100" kern="0" dirty="0">
                <a:solidFill>
                  <a:srgbClr val="62636E"/>
                </a:solidFill>
                <a:latin typeface="Noto Sans" pitchFamily="34" charset="0"/>
                <a:ea typeface="Noto Sans" pitchFamily="34" charset="-122"/>
                <a:cs typeface="Noto Sans" pitchFamily="34" charset="-120"/>
              </a:rPr>
              <a:t>EXISTING SERVICE</a:t>
            </a:r>
            <a:endParaRPr lang="en-US" sz="1000" dirty="0"/>
          </a:p>
        </p:txBody>
      </p:sp>
      <p:sp>
        <p:nvSpPr>
          <p:cNvPr id="16" name="Text 14"/>
          <p:cNvSpPr/>
          <p:nvPr/>
        </p:nvSpPr>
        <p:spPr>
          <a:xfrm>
            <a:off x="5513832" y="3145536"/>
            <a:ext cx="585216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NEW ATMOS-NATIVE SERVICE GROUP</a:t>
            </a:r>
            <a:endParaRPr lang="en-US" sz="1000" dirty="0"/>
          </a:p>
        </p:txBody>
      </p:sp>
      <p:sp>
        <p:nvSpPr>
          <p:cNvPr id="17" name="Shape 15"/>
          <p:cNvSpPr/>
          <p:nvPr/>
        </p:nvSpPr>
        <p:spPr>
          <a:xfrm>
            <a:off x="475488" y="3493008"/>
            <a:ext cx="4187952" cy="1947672"/>
          </a:xfrm>
          <a:prstGeom prst="rect">
            <a:avLst/>
          </a:prstGeom>
          <a:solidFill>
            <a:srgbClr val="F0F0F3"/>
          </a:solidFill>
          <a:ln w="10160">
            <a:solidFill>
              <a:srgbClr val="D8D8DE"/>
            </a:solidFill>
            <a:prstDash val="solid"/>
          </a:ln>
        </p:spPr>
      </p:sp>
      <p:sp>
        <p:nvSpPr>
          <p:cNvPr id="18" name="Text 16"/>
          <p:cNvSpPr/>
          <p:nvPr/>
        </p:nvSpPr>
        <p:spPr>
          <a:xfrm>
            <a:off x="667512" y="3694176"/>
            <a:ext cx="3758184" cy="347472"/>
          </a:xfrm>
          <a:prstGeom prst="rect">
            <a:avLst/>
          </a:prstGeom>
          <a:noFill/>
          <a:ln/>
        </p:spPr>
        <p:txBody>
          <a:bodyPr wrap="square" lIns="0" tIns="0" rIns="0" bIns="0" rtlCol="0" anchor="t"/>
          <a:lstStyle/>
          <a:p>
            <a:pPr indent="0" marL="0">
              <a:buNone/>
            </a:pPr>
            <a:r>
              <a:rPr lang="en-US" sz="2000" b="1" dirty="0">
                <a:solidFill>
                  <a:srgbClr val="22212B"/>
                </a:solidFill>
                <a:latin typeface="Noto Sans" pitchFamily="34" charset="0"/>
                <a:ea typeface="Noto Sans" pitchFamily="34" charset="-122"/>
                <a:cs typeface="Noto Sans" pitchFamily="34" charset="-120"/>
              </a:rPr>
              <a:t>NVIDIA / AMD GPU pool</a:t>
            </a:r>
            <a:endParaRPr lang="en-US" sz="2000" dirty="0"/>
          </a:p>
        </p:txBody>
      </p:sp>
      <p:sp>
        <p:nvSpPr>
          <p:cNvPr id="19" name="Text 17"/>
          <p:cNvSpPr/>
          <p:nvPr/>
        </p:nvSpPr>
        <p:spPr>
          <a:xfrm>
            <a:off x="685800" y="4242816"/>
            <a:ext cx="3657600" cy="850392"/>
          </a:xfrm>
          <a:prstGeom prst="rect">
            <a:avLst/>
          </a:prstGeom>
          <a:noFill/>
          <a:ln/>
        </p:spPr>
        <p:txBody>
          <a:bodyPr wrap="square" lIns="0" tIns="0" rIns="0" bIns="0" rtlCol="0" anchor="t"/>
          <a:lstStyle/>
          <a:p>
            <a:pPr indent="0" marL="0">
              <a:buNone/>
            </a:pPr>
            <a:r>
              <a:rPr lang="en-US" sz="1600" dirty="0">
                <a:solidFill>
                  <a:srgbClr val="62636E"/>
                </a:solidFill>
                <a:latin typeface="Noto Sans" pitchFamily="34" charset="0"/>
                <a:ea typeface="Noto Sans" pitchFamily="34" charset="-122"/>
                <a:cs typeface="Noto Sans" pitchFamily="34" charset="-120"/>
              </a:rPr>
              <a:t>Existing runtime + model</a:t>
            </a:r>
            <a:endParaRPr lang="en-US" sz="1600" dirty="0"/>
          </a:p>
          <a:p>
            <a:pPr indent="0" marL="0">
              <a:buNone/>
            </a:pPr>
            <a:r>
              <a:rPr lang="en-US" sz="1600" dirty="0">
                <a:solidFill>
                  <a:srgbClr val="62636E"/>
                </a:solidFill>
                <a:latin typeface="Noto Sans" pitchFamily="34" charset="0"/>
                <a:ea typeface="Noto Sans" pitchFamily="34" charset="-122"/>
                <a:cs typeface="Noto Sans" pitchFamily="34" charset="-120"/>
              </a:rPr>
              <a:t>Prefill, decode and GPU KV</a:t>
            </a:r>
            <a:endParaRPr lang="en-US" sz="1600" dirty="0"/>
          </a:p>
          <a:p>
            <a:pPr indent="0" marL="0">
              <a:buNone/>
            </a:pPr>
            <a:r>
              <a:rPr lang="en-US" sz="1600" dirty="0">
                <a:solidFill>
                  <a:srgbClr val="62636E"/>
                </a:solidFill>
                <a:latin typeface="Noto Sans" pitchFamily="34" charset="0"/>
                <a:ea typeface="Noto Sans" pitchFamily="34" charset="-122"/>
                <a:cs typeface="Noto Sans" pitchFamily="34" charset="-120"/>
              </a:rPr>
              <a:t>Interactive / unqualified requests</a:t>
            </a:r>
            <a:endParaRPr lang="en-US" sz="1600" dirty="0"/>
          </a:p>
        </p:txBody>
      </p:sp>
      <p:sp>
        <p:nvSpPr>
          <p:cNvPr id="20" name="Shape 18"/>
          <p:cNvSpPr/>
          <p:nvPr/>
        </p:nvSpPr>
        <p:spPr>
          <a:xfrm>
            <a:off x="5193792" y="3493008"/>
            <a:ext cx="6519672" cy="1947672"/>
          </a:xfrm>
          <a:prstGeom prst="rect">
            <a:avLst/>
          </a:prstGeom>
          <a:solidFill>
            <a:srgbClr val="FFFFFF"/>
          </a:solidFill>
          <a:ln w="10160">
            <a:solidFill>
              <a:srgbClr val="E31837"/>
            </a:solidFill>
            <a:prstDash val="solid"/>
          </a:ln>
        </p:spPr>
      </p:sp>
      <p:sp>
        <p:nvSpPr>
          <p:cNvPr id="21" name="Text 19"/>
          <p:cNvSpPr/>
          <p:nvPr/>
        </p:nvSpPr>
        <p:spPr>
          <a:xfrm>
            <a:off x="5404104" y="3657600"/>
            <a:ext cx="6126480" cy="338328"/>
          </a:xfrm>
          <a:prstGeom prst="rect">
            <a:avLst/>
          </a:prstGeom>
          <a:noFill/>
          <a:ln/>
        </p:spPr>
        <p:txBody>
          <a:bodyPr wrap="square" lIns="0" tIns="0" rIns="0" bIns="0" rtlCol="0" anchor="t"/>
          <a:lstStyle/>
          <a:p>
            <a:pPr indent="0" marL="0">
              <a:buNone/>
            </a:pPr>
            <a:r>
              <a:rPr lang="en-US" sz="2000" b="1" dirty="0">
                <a:solidFill>
                  <a:srgbClr val="E31837"/>
                </a:solidFill>
                <a:latin typeface="Noto Sans" pitchFamily="34" charset="0"/>
                <a:ea typeface="Noto Sans" pitchFamily="34" charset="-122"/>
                <a:cs typeface="Noto Sans" pitchFamily="34" charset="-120"/>
              </a:rPr>
              <a:t>Native runtime: prefill + decode</a:t>
            </a:r>
            <a:endParaRPr lang="en-US" sz="2000" dirty="0"/>
          </a:p>
        </p:txBody>
      </p:sp>
      <p:sp>
        <p:nvSpPr>
          <p:cNvPr id="22" name="Text 20"/>
          <p:cNvSpPr/>
          <p:nvPr/>
        </p:nvSpPr>
        <p:spPr>
          <a:xfrm>
            <a:off x="5422392" y="4142232"/>
            <a:ext cx="5943600" cy="301752"/>
          </a:xfrm>
          <a:prstGeom prst="rect">
            <a:avLst/>
          </a:prstGeom>
          <a:noFill/>
          <a:ln/>
        </p:spPr>
        <p:txBody>
          <a:bodyPr wrap="square" lIns="0" tIns="0" rIns="0" bIns="0" rtlCol="0" anchor="t"/>
          <a:lstStyle/>
          <a:p>
            <a:pPr indent="0" marL="0">
              <a:buNone/>
            </a:pPr>
            <a:r>
              <a:rPr lang="en-US" sz="1500" b="1" dirty="0">
                <a:solidFill>
                  <a:srgbClr val="22212B"/>
                </a:solidFill>
                <a:latin typeface="Noto Sans" pitchFamily="34" charset="0"/>
                <a:ea typeface="Noto Sans" pitchFamily="34" charset="-122"/>
                <a:cs typeface="Noto Sans" pitchFamily="34" charset="-120"/>
              </a:rPr>
              <a:t>Attention → router → experts → combine → output</a:t>
            </a:r>
            <a:endParaRPr lang="en-US" sz="1500" dirty="0"/>
          </a:p>
        </p:txBody>
      </p:sp>
      <p:sp>
        <p:nvSpPr>
          <p:cNvPr id="23" name="Shape 21"/>
          <p:cNvSpPr/>
          <p:nvPr/>
        </p:nvSpPr>
        <p:spPr>
          <a:xfrm>
            <a:off x="5422392" y="4654296"/>
            <a:ext cx="2788920" cy="292608"/>
          </a:xfrm>
          <a:prstGeom prst="rect">
            <a:avLst/>
          </a:prstGeom>
          <a:solidFill>
            <a:srgbClr val="FBE9ED"/>
          </a:solidFill>
          <a:ln w="10160">
            <a:solidFill>
              <a:srgbClr val="FBE9ED"/>
            </a:solidFill>
            <a:prstDash val="solid"/>
          </a:ln>
        </p:spPr>
      </p:sp>
      <p:sp>
        <p:nvSpPr>
          <p:cNvPr id="24" name="Text 22"/>
          <p:cNvSpPr/>
          <p:nvPr/>
        </p:nvSpPr>
        <p:spPr>
          <a:xfrm>
            <a:off x="5513832" y="4695444"/>
            <a:ext cx="2606040"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HBF: full-model weights</a:t>
            </a:r>
            <a:endParaRPr lang="en-US" sz="1000" dirty="0"/>
          </a:p>
        </p:txBody>
      </p:sp>
      <p:sp>
        <p:nvSpPr>
          <p:cNvPr id="25" name="Shape 23"/>
          <p:cNvSpPr/>
          <p:nvPr/>
        </p:nvSpPr>
        <p:spPr>
          <a:xfrm>
            <a:off x="8375904" y="4654296"/>
            <a:ext cx="3099816" cy="292608"/>
          </a:xfrm>
          <a:prstGeom prst="rect">
            <a:avLst/>
          </a:prstGeom>
          <a:solidFill>
            <a:srgbClr val="F0F0F3"/>
          </a:solidFill>
          <a:ln w="10160">
            <a:solidFill>
              <a:srgbClr val="F0F0F3"/>
            </a:solidFill>
            <a:prstDash val="solid"/>
          </a:ln>
        </p:spPr>
      </p:sp>
      <p:sp>
        <p:nvSpPr>
          <p:cNvPr id="26" name="Text 24"/>
          <p:cNvSpPr/>
          <p:nvPr/>
        </p:nvSpPr>
        <p:spPr>
          <a:xfrm>
            <a:off x="8467344" y="4695444"/>
            <a:ext cx="2916936" cy="210312"/>
          </a:xfrm>
          <a:prstGeom prst="rect">
            <a:avLst/>
          </a:prstGeom>
          <a:noFill/>
          <a:ln/>
        </p:spPr>
        <p:txBody>
          <a:bodyPr wrap="square" lIns="0" tIns="0" rIns="0" bIns="0" rtlCol="0" anchor="t"/>
          <a:lstStyle/>
          <a:p>
            <a:pPr indent="0" marL="0">
              <a:buNone/>
            </a:pPr>
            <a:r>
              <a:rPr lang="en-US" sz="1000" b="1" dirty="0">
                <a:solidFill>
                  <a:srgbClr val="22212B"/>
                </a:solidFill>
                <a:latin typeface="Noto Sans" pitchFamily="34" charset="0"/>
                <a:ea typeface="Noto Sans" pitchFamily="34" charset="-122"/>
                <a:cs typeface="Noto Sans" pitchFamily="34" charset="-120"/>
              </a:rPr>
              <a:t>LPDDR/SRAM: active KV + work</a:t>
            </a:r>
            <a:endParaRPr lang="en-US" sz="1000" dirty="0"/>
          </a:p>
        </p:txBody>
      </p:sp>
      <p:sp>
        <p:nvSpPr>
          <p:cNvPr id="27" name="Text 25"/>
          <p:cNvSpPr/>
          <p:nvPr/>
        </p:nvSpPr>
        <p:spPr>
          <a:xfrm>
            <a:off x="5440680" y="5111496"/>
            <a:ext cx="5852160" cy="192024"/>
          </a:xfrm>
          <a:prstGeom prst="rect">
            <a:avLst/>
          </a:prstGeom>
          <a:noFill/>
          <a:ln/>
        </p:spPr>
        <p:txBody>
          <a:bodyPr wrap="square" lIns="0" tIns="0" rIns="0" bIns="0" rtlCol="0" anchor="t"/>
          <a:lstStyle/>
          <a:p>
            <a:pPr indent="0" marL="0">
              <a:buNone/>
            </a:pPr>
            <a:r>
              <a:rPr lang="en-US" sz="1150" dirty="0">
                <a:solidFill>
                  <a:srgbClr val="62636E"/>
                </a:solidFill>
                <a:latin typeface="Noto Sans" pitchFamily="34" charset="0"/>
                <a:ea typeface="Noto Sans" pitchFamily="34" charset="-122"/>
                <a:cs typeface="Noto Sans" pitchFamily="34" charset="-120"/>
              </a:rPr>
              <a:t>One complete serving group may span several E3.S devices.</a:t>
            </a:r>
            <a:endParaRPr lang="en-US" sz="1150" dirty="0"/>
          </a:p>
        </p:txBody>
      </p:sp>
      <p:sp>
        <p:nvSpPr>
          <p:cNvPr id="28" name="Shape 26"/>
          <p:cNvSpPr/>
          <p:nvPr/>
        </p:nvSpPr>
        <p:spPr>
          <a:xfrm>
            <a:off x="438912" y="5705856"/>
            <a:ext cx="11311128" cy="512064"/>
          </a:xfrm>
          <a:prstGeom prst="rect">
            <a:avLst/>
          </a:prstGeom>
          <a:solidFill>
            <a:srgbClr val="FBE9ED"/>
          </a:solidFill>
          <a:ln w="10160">
            <a:solidFill>
              <a:srgbClr val="FBE9ED"/>
            </a:solidFill>
            <a:prstDash val="solid"/>
          </a:ln>
        </p:spPr>
      </p:sp>
      <p:sp>
        <p:nvSpPr>
          <p:cNvPr id="29" name="Text 27"/>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DATA AT THE BOUNDARY</a:t>
            </a:r>
            <a:endParaRPr lang="en-US" sz="1300" dirty="0"/>
          </a:p>
        </p:txBody>
      </p:sp>
      <p:sp>
        <p:nvSpPr>
          <p:cNvPr id="30" name="Text 28"/>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Requests and responses only. No GPU KV handoff or per-layer hidden-state exchange.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A / CUSTOMER OFFER AND VALUE</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A | Move eligible requests off the GPU service.</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A private inference endpoint with an explicit model, context, deadline and support contract.</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05</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All traffic quantities below are retained source-deck pilot assumptions. No measured capacity, node reduction or SLA is implied.</a:t>
            </a:r>
            <a:endParaRPr lang="en-US" sz="810" dirty="0"/>
          </a:p>
        </p:txBody>
      </p:sp>
      <p:sp>
        <p:nvSpPr>
          <p:cNvPr id="10" name="Text 8"/>
          <p:cNvSpPr/>
          <p:nvPr/>
        </p:nvSpPr>
        <p:spPr>
          <a:xfrm>
            <a:off x="457200" y="2075688"/>
            <a:ext cx="470916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THE CUSTOMER RECEIVES</a:t>
            </a:r>
            <a:endParaRPr lang="en-US" sz="1000" dirty="0"/>
          </a:p>
        </p:txBody>
      </p:sp>
      <p:sp>
        <p:nvSpPr>
          <p:cNvPr id="11" name="Shape 9"/>
          <p:cNvSpPr/>
          <p:nvPr/>
        </p:nvSpPr>
        <p:spPr>
          <a:xfrm>
            <a:off x="457200" y="2432304"/>
            <a:ext cx="4599432" cy="941832"/>
          </a:xfrm>
          <a:prstGeom prst="rect">
            <a:avLst/>
          </a:prstGeom>
          <a:solidFill>
            <a:srgbClr val="FFFFFF"/>
          </a:solidFill>
          <a:ln w="10160">
            <a:solidFill>
              <a:srgbClr val="D8D8DE"/>
            </a:solidFill>
            <a:prstDash val="solid"/>
          </a:ln>
        </p:spPr>
      </p:sp>
      <p:sp>
        <p:nvSpPr>
          <p:cNvPr id="12" name="Shape 10"/>
          <p:cNvSpPr/>
          <p:nvPr/>
        </p:nvSpPr>
        <p:spPr>
          <a:xfrm>
            <a:off x="457200" y="2432304"/>
            <a:ext cx="41148" cy="941832"/>
          </a:xfrm>
          <a:prstGeom prst="rect">
            <a:avLst/>
          </a:prstGeom>
          <a:solidFill>
            <a:srgbClr val="E31837"/>
          </a:solidFill>
          <a:ln w="10160">
            <a:solidFill>
              <a:srgbClr val="E31837"/>
            </a:solidFill>
            <a:prstDash val="solid"/>
          </a:ln>
        </p:spPr>
      </p:sp>
      <p:sp>
        <p:nvSpPr>
          <p:cNvPr id="13" name="Text 11"/>
          <p:cNvSpPr/>
          <p:nvPr/>
        </p:nvSpPr>
        <p:spPr>
          <a:xfrm>
            <a:off x="640080" y="2532888"/>
            <a:ext cx="4233672" cy="301752"/>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Qualified appliance</a:t>
            </a:r>
            <a:endParaRPr lang="en-US" sz="1600" dirty="0"/>
          </a:p>
        </p:txBody>
      </p:sp>
      <p:sp>
        <p:nvSpPr>
          <p:cNvPr id="14" name="Text 12"/>
          <p:cNvSpPr/>
          <p:nvPr/>
        </p:nvSpPr>
        <p:spPr>
          <a:xfrm>
            <a:off x="640080" y="2880360"/>
            <a:ext cx="4233672" cy="402336"/>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CPU host, ATMOS modules, working memory and tested fabric.</a:t>
            </a:r>
            <a:endParaRPr lang="en-US" sz="1300" dirty="0"/>
          </a:p>
        </p:txBody>
      </p:sp>
      <p:sp>
        <p:nvSpPr>
          <p:cNvPr id="15" name="Shape 13"/>
          <p:cNvSpPr/>
          <p:nvPr/>
        </p:nvSpPr>
        <p:spPr>
          <a:xfrm>
            <a:off x="457200" y="3493008"/>
            <a:ext cx="4599432" cy="941832"/>
          </a:xfrm>
          <a:prstGeom prst="rect">
            <a:avLst/>
          </a:prstGeom>
          <a:solidFill>
            <a:srgbClr val="FFFFFF"/>
          </a:solidFill>
          <a:ln w="10160">
            <a:solidFill>
              <a:srgbClr val="D8D8DE"/>
            </a:solidFill>
            <a:prstDash val="solid"/>
          </a:ln>
        </p:spPr>
      </p:sp>
      <p:sp>
        <p:nvSpPr>
          <p:cNvPr id="16" name="Shape 14"/>
          <p:cNvSpPr/>
          <p:nvPr/>
        </p:nvSpPr>
        <p:spPr>
          <a:xfrm>
            <a:off x="457200" y="3493008"/>
            <a:ext cx="41148" cy="941832"/>
          </a:xfrm>
          <a:prstGeom prst="rect">
            <a:avLst/>
          </a:prstGeom>
          <a:solidFill>
            <a:srgbClr val="E31837"/>
          </a:solidFill>
          <a:ln w="10160">
            <a:solidFill>
              <a:srgbClr val="E31837"/>
            </a:solidFill>
            <a:prstDash val="solid"/>
          </a:ln>
        </p:spPr>
      </p:sp>
      <p:sp>
        <p:nvSpPr>
          <p:cNvPr id="17" name="Text 15"/>
          <p:cNvSpPr/>
          <p:nvPr/>
        </p:nvSpPr>
        <p:spPr>
          <a:xfrm>
            <a:off x="640080" y="3593592"/>
            <a:ext cx="4233672" cy="301752"/>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Supported model service</a:t>
            </a:r>
            <a:endParaRPr lang="en-US" sz="1600" dirty="0"/>
          </a:p>
        </p:txBody>
      </p:sp>
      <p:sp>
        <p:nvSpPr>
          <p:cNvPr id="18" name="Text 16"/>
          <p:cNvSpPr/>
          <p:nvPr/>
        </p:nvSpPr>
        <p:spPr>
          <a:xfrm>
            <a:off x="640080" y="3941064"/>
            <a:ext cx="4233672" cy="402336"/>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Native runtime, versioned full-model pack and API contract.</a:t>
            </a:r>
            <a:endParaRPr lang="en-US" sz="1300" dirty="0"/>
          </a:p>
        </p:txBody>
      </p:sp>
      <p:sp>
        <p:nvSpPr>
          <p:cNvPr id="19" name="Shape 17"/>
          <p:cNvSpPr/>
          <p:nvPr/>
        </p:nvSpPr>
        <p:spPr>
          <a:xfrm>
            <a:off x="457200" y="4553712"/>
            <a:ext cx="4599432" cy="941832"/>
          </a:xfrm>
          <a:prstGeom prst="rect">
            <a:avLst/>
          </a:prstGeom>
          <a:solidFill>
            <a:srgbClr val="FFFFFF"/>
          </a:solidFill>
          <a:ln w="10160">
            <a:solidFill>
              <a:srgbClr val="D8D8DE"/>
            </a:solidFill>
            <a:prstDash val="solid"/>
          </a:ln>
        </p:spPr>
      </p:sp>
      <p:sp>
        <p:nvSpPr>
          <p:cNvPr id="20" name="Shape 18"/>
          <p:cNvSpPr/>
          <p:nvPr/>
        </p:nvSpPr>
        <p:spPr>
          <a:xfrm>
            <a:off x="457200" y="4553712"/>
            <a:ext cx="41148" cy="941832"/>
          </a:xfrm>
          <a:prstGeom prst="rect">
            <a:avLst/>
          </a:prstGeom>
          <a:solidFill>
            <a:srgbClr val="E31837"/>
          </a:solidFill>
          <a:ln w="10160">
            <a:solidFill>
              <a:srgbClr val="E31837"/>
            </a:solidFill>
            <a:prstDash val="solid"/>
          </a:ln>
        </p:spPr>
      </p:sp>
      <p:sp>
        <p:nvSpPr>
          <p:cNvPr id="21" name="Text 19"/>
          <p:cNvSpPr/>
          <p:nvPr/>
        </p:nvSpPr>
        <p:spPr>
          <a:xfrm>
            <a:off x="640080" y="4654296"/>
            <a:ext cx="4233672" cy="301752"/>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Operations package</a:t>
            </a:r>
            <a:endParaRPr lang="en-US" sz="1600" dirty="0"/>
          </a:p>
        </p:txBody>
      </p:sp>
      <p:sp>
        <p:nvSpPr>
          <p:cNvPr id="22" name="Text 20"/>
          <p:cNvSpPr/>
          <p:nvPr/>
        </p:nvSpPr>
        <p:spPr>
          <a:xfrm>
            <a:off x="640080" y="5001768"/>
            <a:ext cx="4233672" cy="402336"/>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Admission, readiness, tenant isolation, updates and recovery.</a:t>
            </a:r>
            <a:endParaRPr lang="en-US" sz="1300" dirty="0"/>
          </a:p>
        </p:txBody>
      </p:sp>
      <p:sp>
        <p:nvSpPr>
          <p:cNvPr id="23" name="Text 21"/>
          <p:cNvSpPr/>
          <p:nvPr/>
        </p:nvSpPr>
        <p:spPr>
          <a:xfrm>
            <a:off x="5367528" y="2075688"/>
            <a:ext cx="585216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ILLUSTRATIVE DEMAND ALLOCATION</a:t>
            </a:r>
            <a:endParaRPr lang="en-US" sz="1000" dirty="0"/>
          </a:p>
        </p:txBody>
      </p:sp>
      <p:sp>
        <p:nvSpPr>
          <p:cNvPr id="24" name="Shape 22"/>
          <p:cNvSpPr/>
          <p:nvPr/>
        </p:nvSpPr>
        <p:spPr>
          <a:xfrm>
            <a:off x="5376672" y="2450592"/>
            <a:ext cx="6355080" cy="1124712"/>
          </a:xfrm>
          <a:prstGeom prst="rect">
            <a:avLst/>
          </a:prstGeom>
          <a:solidFill>
            <a:srgbClr val="F0F0F3"/>
          </a:solidFill>
          <a:ln w="10160">
            <a:solidFill>
              <a:srgbClr val="F0F0F3"/>
            </a:solidFill>
            <a:prstDash val="solid"/>
          </a:ln>
        </p:spPr>
      </p:sp>
      <p:sp>
        <p:nvSpPr>
          <p:cNvPr id="25" name="Text 23"/>
          <p:cNvSpPr/>
          <p:nvPr/>
        </p:nvSpPr>
        <p:spPr>
          <a:xfrm>
            <a:off x="5522976" y="2523744"/>
            <a:ext cx="6062472" cy="530352"/>
          </a:xfrm>
          <a:prstGeom prst="rect">
            <a:avLst/>
          </a:prstGeom>
          <a:noFill/>
          <a:ln/>
        </p:spPr>
        <p:txBody>
          <a:bodyPr wrap="square" lIns="0" tIns="0" rIns="0" bIns="0" rtlCol="0" anchor="t"/>
          <a:lstStyle/>
          <a:p>
            <a:pPr indent="0" marL="0">
              <a:buNone/>
            </a:pPr>
            <a:r>
              <a:rPr lang="en-US" sz="3200" b="1" dirty="0">
                <a:solidFill>
                  <a:srgbClr val="E31837"/>
                </a:solidFill>
                <a:latin typeface="Noto Sans" pitchFamily="34" charset="0"/>
                <a:ea typeface="Noto Sans" pitchFamily="34" charset="-122"/>
                <a:cs typeface="Noto Sans" pitchFamily="34" charset="-120"/>
              </a:rPr>
              <a:t>48,000</a:t>
            </a:r>
            <a:endParaRPr lang="en-US" sz="3200" dirty="0"/>
          </a:p>
        </p:txBody>
      </p:sp>
      <p:sp>
        <p:nvSpPr>
          <p:cNvPr id="26" name="Text 24"/>
          <p:cNvSpPr/>
          <p:nvPr/>
        </p:nvSpPr>
        <p:spPr>
          <a:xfrm>
            <a:off x="5522976" y="3136392"/>
            <a:ext cx="6062472"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model calls/day before the proposed split</a:t>
            </a:r>
            <a:endParaRPr lang="en-US" sz="1250" dirty="0"/>
          </a:p>
        </p:txBody>
      </p:sp>
      <p:sp>
        <p:nvSpPr>
          <p:cNvPr id="27" name="Shape 25"/>
          <p:cNvSpPr/>
          <p:nvPr/>
        </p:nvSpPr>
        <p:spPr>
          <a:xfrm>
            <a:off x="8540496" y="3621024"/>
            <a:ext cx="0" cy="219456"/>
          </a:xfrm>
          <a:prstGeom prst="line">
            <a:avLst/>
          </a:prstGeom>
          <a:noFill/>
          <a:ln w="19050">
            <a:solidFill>
              <a:srgbClr val="E31837"/>
            </a:solidFill>
            <a:prstDash val="solid"/>
            <a:tailEnd type="triangle"/>
          </a:ln>
        </p:spPr>
      </p:sp>
      <p:sp>
        <p:nvSpPr>
          <p:cNvPr id="28" name="Shape 26"/>
          <p:cNvSpPr/>
          <p:nvPr/>
        </p:nvSpPr>
        <p:spPr>
          <a:xfrm>
            <a:off x="5376672" y="3931920"/>
            <a:ext cx="3118104" cy="1124712"/>
          </a:xfrm>
          <a:prstGeom prst="rect">
            <a:avLst/>
          </a:prstGeom>
          <a:solidFill>
            <a:srgbClr val="FFFFFF"/>
          </a:solidFill>
          <a:ln w="10160">
            <a:solidFill>
              <a:srgbClr val="FFFFFF"/>
            </a:solidFill>
            <a:prstDash val="solid"/>
          </a:ln>
        </p:spPr>
      </p:sp>
      <p:sp>
        <p:nvSpPr>
          <p:cNvPr id="29" name="Text 27"/>
          <p:cNvSpPr/>
          <p:nvPr/>
        </p:nvSpPr>
        <p:spPr>
          <a:xfrm>
            <a:off x="5522976" y="4005072"/>
            <a:ext cx="2825496" cy="530352"/>
          </a:xfrm>
          <a:prstGeom prst="rect">
            <a:avLst/>
          </a:prstGeom>
          <a:noFill/>
          <a:ln/>
        </p:spPr>
        <p:txBody>
          <a:bodyPr wrap="square" lIns="0" tIns="0" rIns="0" bIns="0" rtlCol="0" anchor="t"/>
          <a:lstStyle/>
          <a:p>
            <a:pPr indent="0" marL="0">
              <a:buNone/>
            </a:pPr>
            <a:r>
              <a:rPr lang="en-US" sz="2900" b="1" dirty="0">
                <a:solidFill>
                  <a:srgbClr val="E31837"/>
                </a:solidFill>
                <a:latin typeface="Noto Sans" pitchFamily="34" charset="0"/>
                <a:ea typeface="Noto Sans" pitchFamily="34" charset="-122"/>
                <a:cs typeface="Noto Sans" pitchFamily="34" charset="-120"/>
              </a:rPr>
              <a:t>28,800</a:t>
            </a:r>
            <a:endParaRPr lang="en-US" sz="2900" dirty="0"/>
          </a:p>
        </p:txBody>
      </p:sp>
      <p:sp>
        <p:nvSpPr>
          <p:cNvPr id="30" name="Text 28"/>
          <p:cNvSpPr/>
          <p:nvPr/>
        </p:nvSpPr>
        <p:spPr>
          <a:xfrm>
            <a:off x="5522976" y="4617720"/>
            <a:ext cx="2825496"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calls/day retained on GPU service</a:t>
            </a:r>
            <a:endParaRPr lang="en-US" sz="1250" dirty="0"/>
          </a:p>
        </p:txBody>
      </p:sp>
      <p:sp>
        <p:nvSpPr>
          <p:cNvPr id="31" name="Shape 29"/>
          <p:cNvSpPr/>
          <p:nvPr/>
        </p:nvSpPr>
        <p:spPr>
          <a:xfrm>
            <a:off x="8659368" y="3931920"/>
            <a:ext cx="3063240" cy="1124712"/>
          </a:xfrm>
          <a:prstGeom prst="rect">
            <a:avLst/>
          </a:prstGeom>
          <a:solidFill>
            <a:srgbClr val="FBE9ED"/>
          </a:solidFill>
          <a:ln w="10160">
            <a:solidFill>
              <a:srgbClr val="FBE9ED"/>
            </a:solidFill>
            <a:prstDash val="solid"/>
          </a:ln>
        </p:spPr>
      </p:sp>
      <p:sp>
        <p:nvSpPr>
          <p:cNvPr id="32" name="Text 30"/>
          <p:cNvSpPr/>
          <p:nvPr/>
        </p:nvSpPr>
        <p:spPr>
          <a:xfrm>
            <a:off x="8805672" y="4005072"/>
            <a:ext cx="2770632" cy="530352"/>
          </a:xfrm>
          <a:prstGeom prst="rect">
            <a:avLst/>
          </a:prstGeom>
          <a:noFill/>
          <a:ln/>
        </p:spPr>
        <p:txBody>
          <a:bodyPr wrap="square" lIns="0" tIns="0" rIns="0" bIns="0" rtlCol="0" anchor="t"/>
          <a:lstStyle/>
          <a:p>
            <a:pPr indent="0" marL="0">
              <a:buNone/>
            </a:pPr>
            <a:r>
              <a:rPr lang="en-US" sz="2900" b="1" dirty="0">
                <a:solidFill>
                  <a:srgbClr val="E31837"/>
                </a:solidFill>
                <a:latin typeface="Noto Sans" pitchFamily="34" charset="0"/>
                <a:ea typeface="Noto Sans" pitchFamily="34" charset="-122"/>
                <a:cs typeface="Noto Sans" pitchFamily="34" charset="-120"/>
              </a:rPr>
              <a:t>19,200</a:t>
            </a:r>
            <a:endParaRPr lang="en-US" sz="2900" dirty="0"/>
          </a:p>
        </p:txBody>
      </p:sp>
      <p:sp>
        <p:nvSpPr>
          <p:cNvPr id="33" name="Text 31"/>
          <p:cNvSpPr/>
          <p:nvPr/>
        </p:nvSpPr>
        <p:spPr>
          <a:xfrm>
            <a:off x="8805672" y="4617720"/>
            <a:ext cx="2770632"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eligible jobs/day assigned to ATMOS</a:t>
            </a:r>
            <a:endParaRPr lang="en-US" sz="1250" dirty="0"/>
          </a:p>
        </p:txBody>
      </p:sp>
      <p:sp>
        <p:nvSpPr>
          <p:cNvPr id="34" name="Text 32"/>
          <p:cNvSpPr/>
          <p:nvPr/>
        </p:nvSpPr>
        <p:spPr>
          <a:xfrm>
            <a:off x="5413248" y="5230368"/>
            <a:ext cx="6153912" cy="484632"/>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40% of calls redirected ≠ 40% fewer GPUs.</a:t>
            </a:r>
            <a:endParaRPr lang="en-US" sz="1400" dirty="0"/>
          </a:p>
          <a:p>
            <a:pPr indent="0" marL="0">
              <a:buNone/>
            </a:pPr>
            <a:r>
              <a:rPr lang="en-US" sz="1400" b="1" dirty="0">
                <a:solidFill>
                  <a:srgbClr val="22212B"/>
                </a:solidFill>
                <a:latin typeface="Noto Sans" pitchFamily="34" charset="0"/>
                <a:ea typeface="Noto Sans" pitchFamily="34" charset="-122"/>
                <a:cs typeface="Noto Sans" pitchFamily="34" charset="-120"/>
              </a:rPr>
              <a:t>Savings require an actual reduction in required GPU capacity.</a:t>
            </a:r>
            <a:endParaRPr lang="en-US" sz="1400" dirty="0"/>
          </a:p>
        </p:txBody>
      </p:sp>
      <p:sp>
        <p:nvSpPr>
          <p:cNvPr id="35" name="Shape 33"/>
          <p:cNvSpPr/>
          <p:nvPr/>
        </p:nvSpPr>
        <p:spPr>
          <a:xfrm>
            <a:off x="438912" y="5705856"/>
            <a:ext cx="11311128" cy="512064"/>
          </a:xfrm>
          <a:prstGeom prst="rect">
            <a:avLst/>
          </a:prstGeom>
          <a:solidFill>
            <a:srgbClr val="FBE9ED"/>
          </a:solidFill>
          <a:ln w="10160">
            <a:solidFill>
              <a:srgbClr val="FBE9ED"/>
            </a:solidFill>
            <a:prstDash val="solid"/>
          </a:ln>
        </p:spPr>
      </p:sp>
      <p:sp>
        <p:nvSpPr>
          <p:cNvPr id="36" name="Text 34"/>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BENEFIT TO PROVE</a:t>
            </a:r>
            <a:endParaRPr lang="en-US" sz="1300" dirty="0"/>
          </a:p>
        </p:txBody>
      </p:sp>
      <p:sp>
        <p:nvSpPr>
          <p:cNvPr id="37" name="Text 35"/>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Protect interactive capacity; add a separate private job pool at lower cost per accepted job.</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B / EXECUTION ARCHITECTURE</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B | GPU prefill feeds an ATMOS-native decoder.</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Split once at the serving-phase boundary—not repeatedly at each MoE expert layer.</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06</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[S6–S8] Disaggregated-serving / cache-transport precedents. A GPU–ATMOS KV bridge and native decoder are new qualification work.</a:t>
            </a:r>
            <a:endParaRPr lang="en-US" sz="810" dirty="0"/>
          </a:p>
        </p:txBody>
      </p:sp>
      <p:sp>
        <p:nvSpPr>
          <p:cNvPr id="10" name="Shape 8"/>
          <p:cNvSpPr/>
          <p:nvPr/>
        </p:nvSpPr>
        <p:spPr>
          <a:xfrm>
            <a:off x="2240280" y="2011680"/>
            <a:ext cx="7717536" cy="786384"/>
          </a:xfrm>
          <a:prstGeom prst="rect">
            <a:avLst/>
          </a:prstGeom>
          <a:solidFill>
            <a:srgbClr val="22212B"/>
          </a:solidFill>
          <a:ln w="10160">
            <a:solidFill>
              <a:srgbClr val="22212B"/>
            </a:solidFill>
            <a:prstDash val="solid"/>
          </a:ln>
        </p:spPr>
      </p:sp>
      <p:sp>
        <p:nvSpPr>
          <p:cNvPr id="11" name="Text 9"/>
          <p:cNvSpPr/>
          <p:nvPr/>
        </p:nvSpPr>
        <p:spPr>
          <a:xfrm>
            <a:off x="2386584" y="2121408"/>
            <a:ext cx="7424928" cy="301752"/>
          </a:xfrm>
          <a:prstGeom prst="rect">
            <a:avLst/>
          </a:prstGeom>
          <a:noFill/>
          <a:ln/>
        </p:spPr>
        <p:txBody>
          <a:bodyPr wrap="square" lIns="0" tIns="0" rIns="0" bIns="0" rtlCol="0" anchor="t"/>
          <a:lstStyle/>
          <a:p>
            <a:pPr algn="ctr" indent="0" marL="0">
              <a:buNone/>
            </a:pPr>
            <a:r>
              <a:rPr lang="en-US" sz="1800" b="1" dirty="0">
                <a:solidFill>
                  <a:srgbClr val="FFFFFF"/>
                </a:solidFill>
                <a:latin typeface="Noto Sans" pitchFamily="34" charset="0"/>
                <a:ea typeface="Noto Sans" pitchFamily="34" charset="-122"/>
                <a:cs typeface="Noto Sans" pitchFamily="34" charset="-120"/>
              </a:rPr>
              <a:t>One coordinated service endpoint</a:t>
            </a:r>
            <a:endParaRPr lang="en-US" sz="1800" dirty="0"/>
          </a:p>
        </p:txBody>
      </p:sp>
      <p:sp>
        <p:nvSpPr>
          <p:cNvPr id="12" name="Text 10"/>
          <p:cNvSpPr/>
          <p:nvPr/>
        </p:nvSpPr>
        <p:spPr>
          <a:xfrm>
            <a:off x="2423160" y="2487168"/>
            <a:ext cx="7351776" cy="256032"/>
          </a:xfrm>
          <a:prstGeom prst="rect">
            <a:avLst/>
          </a:prstGeom>
          <a:noFill/>
          <a:ln/>
        </p:spPr>
        <p:txBody>
          <a:bodyPr wrap="square" lIns="0" tIns="0" rIns="0" bIns="0" rtlCol="0" anchor="t"/>
          <a:lstStyle/>
          <a:p>
            <a:pPr algn="ctr" indent="0" marL="0">
              <a:buNone/>
            </a:pPr>
            <a:r>
              <a:rPr lang="en-US" sz="1200" dirty="0">
                <a:solidFill>
                  <a:srgbClr val="FFFFFF"/>
                </a:solidFill>
                <a:latin typeface="Noto Sans" pitchFamily="34" charset="0"/>
                <a:ea typeface="Noto Sans" pitchFamily="34" charset="-122"/>
                <a:cs typeface="Noto Sans" pitchFamily="34" charset="-120"/>
              </a:rPr>
              <a:t>Admit a request only when both phases can meet its service contract</a:t>
            </a:r>
            <a:endParaRPr lang="en-US" sz="1200" dirty="0"/>
          </a:p>
        </p:txBody>
      </p:sp>
      <p:sp>
        <p:nvSpPr>
          <p:cNvPr id="13" name="Shape 11"/>
          <p:cNvSpPr/>
          <p:nvPr/>
        </p:nvSpPr>
        <p:spPr>
          <a:xfrm>
            <a:off x="3831336" y="2825496"/>
            <a:ext cx="-969264" cy="402336"/>
          </a:xfrm>
          <a:prstGeom prst="line">
            <a:avLst/>
          </a:prstGeom>
          <a:noFill/>
          <a:ln w="20320">
            <a:solidFill>
              <a:srgbClr val="62636E"/>
            </a:solidFill>
            <a:prstDash val="solid"/>
            <a:tailEnd type="triangle"/>
          </a:ln>
        </p:spPr>
      </p:sp>
      <p:sp>
        <p:nvSpPr>
          <p:cNvPr id="14" name="Shape 12"/>
          <p:cNvSpPr/>
          <p:nvPr/>
        </p:nvSpPr>
        <p:spPr>
          <a:xfrm>
            <a:off x="457200" y="3364992"/>
            <a:ext cx="4462272" cy="1911096"/>
          </a:xfrm>
          <a:prstGeom prst="rect">
            <a:avLst/>
          </a:prstGeom>
          <a:solidFill>
            <a:srgbClr val="FFFFFF"/>
          </a:solidFill>
          <a:ln w="10160">
            <a:solidFill>
              <a:srgbClr val="D8D8DE"/>
            </a:solidFill>
            <a:prstDash val="solid"/>
          </a:ln>
        </p:spPr>
      </p:sp>
      <p:sp>
        <p:nvSpPr>
          <p:cNvPr id="15" name="Text 13"/>
          <p:cNvSpPr/>
          <p:nvPr/>
        </p:nvSpPr>
        <p:spPr>
          <a:xfrm>
            <a:off x="667512" y="3575304"/>
            <a:ext cx="393192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GPU PREFILL GROUP</a:t>
            </a:r>
            <a:endParaRPr lang="en-US" sz="1000" dirty="0"/>
          </a:p>
        </p:txBody>
      </p:sp>
      <p:sp>
        <p:nvSpPr>
          <p:cNvPr id="16" name="Text 14"/>
          <p:cNvSpPr/>
          <p:nvPr/>
        </p:nvSpPr>
        <p:spPr>
          <a:xfrm>
            <a:off x="667512" y="3913632"/>
            <a:ext cx="3931920" cy="365760"/>
          </a:xfrm>
          <a:prstGeom prst="rect">
            <a:avLst/>
          </a:prstGeom>
          <a:noFill/>
          <a:ln/>
        </p:spPr>
        <p:txBody>
          <a:bodyPr wrap="square" lIns="0" tIns="0" rIns="0" bIns="0" rtlCol="0" anchor="t"/>
          <a:lstStyle/>
          <a:p>
            <a:pPr indent="0" marL="0">
              <a:buNone/>
            </a:pPr>
            <a:r>
              <a:rPr lang="en-US" sz="2000" b="1" dirty="0">
                <a:solidFill>
                  <a:srgbClr val="22212B"/>
                </a:solidFill>
                <a:latin typeface="Noto Sans" pitchFamily="34" charset="0"/>
                <a:ea typeface="Noto Sans" pitchFamily="34" charset="-122"/>
                <a:cs typeface="Noto Sans" pitchFamily="34" charset="-120"/>
              </a:rPr>
              <a:t>Complete prompt computation</a:t>
            </a:r>
            <a:endParaRPr lang="en-US" sz="2000" dirty="0"/>
          </a:p>
        </p:txBody>
      </p:sp>
      <p:sp>
        <p:nvSpPr>
          <p:cNvPr id="17" name="Text 15"/>
          <p:cNvSpPr/>
          <p:nvPr/>
        </p:nvSpPr>
        <p:spPr>
          <a:xfrm>
            <a:off x="694944" y="4507992"/>
            <a:ext cx="3904488" cy="713232"/>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Full compatible model weights</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Attention + experts on GPU</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Prompt KV created in GPU memory</a:t>
            </a:r>
            <a:endParaRPr lang="en-US" sz="1400" dirty="0"/>
          </a:p>
        </p:txBody>
      </p:sp>
      <p:sp>
        <p:nvSpPr>
          <p:cNvPr id="18" name="Shape 16"/>
          <p:cNvSpPr/>
          <p:nvPr/>
        </p:nvSpPr>
        <p:spPr>
          <a:xfrm>
            <a:off x="7050024" y="3364992"/>
            <a:ext cx="4690872" cy="1911096"/>
          </a:xfrm>
          <a:prstGeom prst="rect">
            <a:avLst/>
          </a:prstGeom>
          <a:solidFill>
            <a:srgbClr val="FFFFFF"/>
          </a:solidFill>
          <a:ln w="10160">
            <a:solidFill>
              <a:srgbClr val="E31837"/>
            </a:solidFill>
            <a:prstDash val="solid"/>
          </a:ln>
        </p:spPr>
      </p:sp>
      <p:sp>
        <p:nvSpPr>
          <p:cNvPr id="19" name="Text 17"/>
          <p:cNvSpPr/>
          <p:nvPr/>
        </p:nvSpPr>
        <p:spPr>
          <a:xfrm>
            <a:off x="7269480" y="3575304"/>
            <a:ext cx="420624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ATMOS DECODE GROUP</a:t>
            </a:r>
            <a:endParaRPr lang="en-US" sz="1000" dirty="0"/>
          </a:p>
        </p:txBody>
      </p:sp>
      <p:sp>
        <p:nvSpPr>
          <p:cNvPr id="20" name="Text 18"/>
          <p:cNvSpPr/>
          <p:nvPr/>
        </p:nvSpPr>
        <p:spPr>
          <a:xfrm>
            <a:off x="7269480" y="3913632"/>
            <a:ext cx="4160520" cy="365760"/>
          </a:xfrm>
          <a:prstGeom prst="rect">
            <a:avLst/>
          </a:prstGeom>
          <a:noFill/>
          <a:ln/>
        </p:spPr>
        <p:txBody>
          <a:bodyPr wrap="square" lIns="0" tIns="0" rIns="0" bIns="0" rtlCol="0" anchor="t"/>
          <a:lstStyle/>
          <a:p>
            <a:pPr indent="0" marL="0">
              <a:buNone/>
            </a:pPr>
            <a:r>
              <a:rPr lang="en-US" sz="2000" b="1" dirty="0">
                <a:solidFill>
                  <a:srgbClr val="E31837"/>
                </a:solidFill>
                <a:latin typeface="Noto Sans" pitchFamily="34" charset="0"/>
                <a:ea typeface="Noto Sans" pitchFamily="34" charset="-122"/>
                <a:cs typeface="Noto Sans" pitchFamily="34" charset="-120"/>
              </a:rPr>
              <a:t>Complete token generation</a:t>
            </a:r>
            <a:endParaRPr lang="en-US" sz="2000" dirty="0"/>
          </a:p>
        </p:txBody>
      </p:sp>
      <p:sp>
        <p:nvSpPr>
          <p:cNvPr id="21" name="Text 19"/>
          <p:cNvSpPr/>
          <p:nvPr/>
        </p:nvSpPr>
        <p:spPr>
          <a:xfrm>
            <a:off x="7296912" y="4507992"/>
            <a:ext cx="4069080" cy="713232"/>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Same target model weights in HBF</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Imported active KV in working memory</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Attention + experts + next-token loop</a:t>
            </a:r>
            <a:endParaRPr lang="en-US" sz="1400" dirty="0"/>
          </a:p>
        </p:txBody>
      </p:sp>
      <p:sp>
        <p:nvSpPr>
          <p:cNvPr id="22" name="Shape 20"/>
          <p:cNvSpPr/>
          <p:nvPr/>
        </p:nvSpPr>
        <p:spPr>
          <a:xfrm>
            <a:off x="4937760" y="4370832"/>
            <a:ext cx="2066544" cy="0"/>
          </a:xfrm>
          <a:prstGeom prst="line">
            <a:avLst/>
          </a:prstGeom>
          <a:noFill/>
          <a:ln w="29210">
            <a:solidFill>
              <a:srgbClr val="E31837"/>
            </a:solidFill>
            <a:prstDash val="solid"/>
            <a:tailEnd type="triangle"/>
          </a:ln>
        </p:spPr>
      </p:sp>
      <p:sp>
        <p:nvSpPr>
          <p:cNvPr id="23" name="Text 21"/>
          <p:cNvSpPr/>
          <p:nvPr/>
        </p:nvSpPr>
        <p:spPr>
          <a:xfrm>
            <a:off x="5020056" y="3675888"/>
            <a:ext cx="1892808" cy="585216"/>
          </a:xfrm>
          <a:prstGeom prst="rect">
            <a:avLst/>
          </a:prstGeom>
          <a:noFill/>
          <a:ln/>
        </p:spPr>
        <p:txBody>
          <a:bodyPr wrap="square" lIns="0" tIns="0" rIns="0" bIns="0" rtlCol="0" anchor="t"/>
          <a:lstStyle/>
          <a:p>
            <a:pPr algn="ctr" indent="0" marL="0">
              <a:buNone/>
            </a:pPr>
            <a:r>
              <a:rPr lang="en-US" sz="1400" b="1" dirty="0">
                <a:solidFill>
                  <a:srgbClr val="E31837"/>
                </a:solidFill>
                <a:latin typeface="Noto Sans" pitchFamily="34" charset="0"/>
                <a:ea typeface="Noto Sans" pitchFamily="34" charset="-122"/>
                <a:cs typeface="Noto Sans" pitchFamily="34" charset="-120"/>
              </a:rPr>
              <a:t>KV blocks +</a:t>
            </a:r>
            <a:endParaRPr lang="en-US" sz="1400" dirty="0"/>
          </a:p>
          <a:p>
            <a:pPr algn="ctr" indent="0" marL="0">
              <a:buNone/>
            </a:pPr>
            <a:r>
              <a:rPr lang="en-US" sz="1400" b="1" dirty="0">
                <a:solidFill>
                  <a:srgbClr val="E31837"/>
                </a:solidFill>
                <a:latin typeface="Noto Sans" pitchFamily="34" charset="0"/>
                <a:ea typeface="Noto Sans" pitchFamily="34" charset="-122"/>
                <a:cs typeface="Noto Sans" pitchFamily="34" charset="-120"/>
              </a:rPr>
              <a:t>continuation state</a:t>
            </a:r>
            <a:endParaRPr lang="en-US" sz="1400" dirty="0"/>
          </a:p>
        </p:txBody>
      </p:sp>
      <p:sp>
        <p:nvSpPr>
          <p:cNvPr id="24" name="Text 22"/>
          <p:cNvSpPr/>
          <p:nvPr/>
        </p:nvSpPr>
        <p:spPr>
          <a:xfrm>
            <a:off x="5001768" y="4599432"/>
            <a:ext cx="1920240" cy="512064"/>
          </a:xfrm>
          <a:prstGeom prst="rect">
            <a:avLst/>
          </a:prstGeom>
          <a:noFill/>
          <a:ln/>
        </p:spPr>
        <p:txBody>
          <a:bodyPr wrap="square" lIns="0" tIns="0" rIns="0" bIns="0" rtlCol="0" anchor="t"/>
          <a:lstStyle/>
          <a:p>
            <a:pPr algn="ctr" indent="0" marL="0">
              <a:buNone/>
            </a:pPr>
            <a:r>
              <a:rPr lang="en-US" sz="1200" dirty="0">
                <a:solidFill>
                  <a:srgbClr val="62636E"/>
                </a:solidFill>
                <a:latin typeface="Noto Sans" pitchFamily="34" charset="0"/>
                <a:ea typeface="Noto Sans" pitchFamily="34" charset="-122"/>
                <a:cs typeface="Noto Sans" pitchFamily="34" charset="-120"/>
              </a:rPr>
              <a:t>Qualified copy /</a:t>
            </a:r>
            <a:endParaRPr lang="en-US" sz="1200" dirty="0"/>
          </a:p>
          <a:p>
            <a:pPr algn="ctr" indent="0" marL="0">
              <a:buNone/>
            </a:pPr>
            <a:r>
              <a:rPr lang="en-US" sz="1200" dirty="0">
                <a:solidFill>
                  <a:srgbClr val="62636E"/>
                </a:solidFill>
                <a:latin typeface="Noto Sans" pitchFamily="34" charset="0"/>
                <a:ea typeface="Noto Sans" pitchFamily="34" charset="-122"/>
                <a:cs typeface="Noto Sans" pitchFamily="34" charset="-120"/>
              </a:rPr>
              <a:t>layout conversion</a:t>
            </a:r>
            <a:endParaRPr lang="en-US" sz="1200" dirty="0"/>
          </a:p>
        </p:txBody>
      </p:sp>
      <p:sp>
        <p:nvSpPr>
          <p:cNvPr id="25" name="Shape 23"/>
          <p:cNvSpPr/>
          <p:nvPr/>
        </p:nvSpPr>
        <p:spPr>
          <a:xfrm>
            <a:off x="438912" y="5705856"/>
            <a:ext cx="11311128" cy="512064"/>
          </a:xfrm>
          <a:prstGeom prst="rect">
            <a:avLst/>
          </a:prstGeom>
          <a:solidFill>
            <a:srgbClr val="FBE9ED"/>
          </a:solidFill>
          <a:ln w="10160">
            <a:solidFill>
              <a:srgbClr val="FBE9ED"/>
            </a:solidFill>
            <a:prstDash val="solid"/>
          </a:ln>
        </p:spPr>
      </p:sp>
      <p:sp>
        <p:nvSpPr>
          <p:cNvPr id="26" name="Text 24"/>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AFTER HANDOFF</a:t>
            </a:r>
            <a:endParaRPr lang="en-US" sz="1300" dirty="0"/>
          </a:p>
        </p:txBody>
      </p:sp>
      <p:sp>
        <p:nvSpPr>
          <p:cNvPr id="27" name="Text 25"/>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GPU prefill accepts other prompts. ATMOS finishes decode without a per-layer GPU return.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B / CUSTOMER OFFER AND VALUE</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B | Share fast prefill; scale output capacity separately.</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Useful when prompt processing benefits from GPU compute and a qualified ATMOS decoder is competitive.</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07</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Calculated Qwen3-235B BF16 logical KV from [S2]. Workload is a proposed study profile; no target latency is predicted.</a:t>
            </a:r>
            <a:endParaRPr lang="en-US" sz="810" dirty="0"/>
          </a:p>
        </p:txBody>
      </p:sp>
      <p:sp>
        <p:nvSpPr>
          <p:cNvPr id="10" name="Shape 8"/>
          <p:cNvSpPr/>
          <p:nvPr/>
        </p:nvSpPr>
        <p:spPr>
          <a:xfrm>
            <a:off x="457200" y="2103120"/>
            <a:ext cx="5193792" cy="1554480"/>
          </a:xfrm>
          <a:prstGeom prst="rect">
            <a:avLst/>
          </a:prstGeom>
          <a:solidFill>
            <a:srgbClr val="FFFFFF"/>
          </a:solidFill>
          <a:ln w="10160">
            <a:solidFill>
              <a:srgbClr val="D8D8DE"/>
            </a:solidFill>
            <a:prstDash val="solid"/>
          </a:ln>
        </p:spPr>
      </p:sp>
      <p:sp>
        <p:nvSpPr>
          <p:cNvPr id="11" name="Shape 9"/>
          <p:cNvSpPr/>
          <p:nvPr/>
        </p:nvSpPr>
        <p:spPr>
          <a:xfrm>
            <a:off x="457200" y="2103120"/>
            <a:ext cx="41148" cy="1554480"/>
          </a:xfrm>
          <a:prstGeom prst="rect">
            <a:avLst/>
          </a:prstGeom>
          <a:solidFill>
            <a:srgbClr val="E31837"/>
          </a:solidFill>
          <a:ln w="10160">
            <a:solidFill>
              <a:srgbClr val="E31837"/>
            </a:solidFill>
            <a:prstDash val="solid"/>
          </a:ln>
        </p:spPr>
      </p:sp>
      <p:sp>
        <p:nvSpPr>
          <p:cNvPr id="12" name="Text 10"/>
          <p:cNvSpPr/>
          <p:nvPr/>
        </p:nvSpPr>
        <p:spPr>
          <a:xfrm>
            <a:off x="640080" y="2249424"/>
            <a:ext cx="4828032" cy="438912"/>
          </a:xfrm>
          <a:prstGeom prst="rect">
            <a:avLst/>
          </a:prstGeom>
          <a:noFill/>
          <a:ln/>
        </p:spPr>
        <p:txBody>
          <a:bodyPr wrap="square" lIns="0" tIns="0" rIns="0" bIns="0" rtlCol="0" anchor="t"/>
          <a:lstStyle/>
          <a:p>
            <a:pPr indent="0" marL="0">
              <a:buNone/>
            </a:pPr>
            <a:r>
              <a:rPr lang="en-US" sz="2000" b="1" dirty="0">
                <a:solidFill>
                  <a:srgbClr val="22212B"/>
                </a:solidFill>
                <a:latin typeface="Noto Sans" pitchFamily="34" charset="0"/>
                <a:ea typeface="Noto Sans" pitchFamily="34" charset="-122"/>
                <a:cs typeface="Noto Sans" pitchFamily="34" charset="-120"/>
              </a:rPr>
              <a:t>What we sell</a:t>
            </a:r>
            <a:endParaRPr lang="en-US" sz="2000" dirty="0"/>
          </a:p>
        </p:txBody>
      </p:sp>
      <p:sp>
        <p:nvSpPr>
          <p:cNvPr id="13" name="Text 11"/>
          <p:cNvSpPr/>
          <p:nvPr/>
        </p:nvSpPr>
        <p:spPr>
          <a:xfrm>
            <a:off x="640080" y="2761488"/>
            <a:ext cx="4828032" cy="786384"/>
          </a:xfrm>
          <a:prstGeom prst="rect">
            <a:avLst/>
          </a:prstGeom>
          <a:noFill/>
          <a:ln/>
        </p:spPr>
        <p:txBody>
          <a:bodyPr wrap="square" lIns="0" tIns="0" rIns="0" bIns="0" rtlCol="0" anchor="t"/>
          <a:lstStyle/>
          <a:p>
            <a:pPr indent="0" marL="0">
              <a:buNone/>
            </a:pPr>
            <a:r>
              <a:rPr lang="en-US" sz="1600" dirty="0">
                <a:solidFill>
                  <a:srgbClr val="62636E"/>
                </a:solidFill>
                <a:latin typeface="Noto Sans" pitchFamily="34" charset="0"/>
                <a:ea typeface="Noto Sans" pitchFamily="34" charset="-122"/>
                <a:cs typeface="Noto Sans" pitchFamily="34" charset="-120"/>
              </a:rPr>
              <a:t>A qualified paired service: GPU prefill configuration + ATMOS decode appliance + KV bridge + joint admission and lifecycle.</a:t>
            </a:r>
            <a:endParaRPr lang="en-US" sz="1600" dirty="0"/>
          </a:p>
        </p:txBody>
      </p:sp>
      <p:sp>
        <p:nvSpPr>
          <p:cNvPr id="14" name="Shape 12"/>
          <p:cNvSpPr/>
          <p:nvPr/>
        </p:nvSpPr>
        <p:spPr>
          <a:xfrm>
            <a:off x="457200" y="3858768"/>
            <a:ext cx="5193792" cy="1600200"/>
          </a:xfrm>
          <a:prstGeom prst="rect">
            <a:avLst/>
          </a:prstGeom>
          <a:solidFill>
            <a:srgbClr val="FFFFFF"/>
          </a:solidFill>
          <a:ln w="10160">
            <a:solidFill>
              <a:srgbClr val="D8D8DE"/>
            </a:solidFill>
            <a:prstDash val="solid"/>
          </a:ln>
        </p:spPr>
      </p:sp>
      <p:sp>
        <p:nvSpPr>
          <p:cNvPr id="15" name="Shape 13"/>
          <p:cNvSpPr/>
          <p:nvPr/>
        </p:nvSpPr>
        <p:spPr>
          <a:xfrm>
            <a:off x="457200" y="3858768"/>
            <a:ext cx="41148" cy="1600200"/>
          </a:xfrm>
          <a:prstGeom prst="rect">
            <a:avLst/>
          </a:prstGeom>
          <a:solidFill>
            <a:srgbClr val="E31837"/>
          </a:solidFill>
          <a:ln w="10160">
            <a:solidFill>
              <a:srgbClr val="E31837"/>
            </a:solidFill>
            <a:prstDash val="solid"/>
          </a:ln>
        </p:spPr>
      </p:sp>
      <p:sp>
        <p:nvSpPr>
          <p:cNvPr id="16" name="Text 14"/>
          <p:cNvSpPr/>
          <p:nvPr/>
        </p:nvSpPr>
        <p:spPr>
          <a:xfrm>
            <a:off x="640080" y="4005072"/>
            <a:ext cx="4828032" cy="438912"/>
          </a:xfrm>
          <a:prstGeom prst="rect">
            <a:avLst/>
          </a:prstGeom>
          <a:noFill/>
          <a:ln/>
        </p:spPr>
        <p:txBody>
          <a:bodyPr wrap="square" lIns="0" tIns="0" rIns="0" bIns="0" rtlCol="0" anchor="t"/>
          <a:lstStyle/>
          <a:p>
            <a:pPr indent="0" marL="0">
              <a:buNone/>
            </a:pPr>
            <a:r>
              <a:rPr lang="en-US" sz="2000" b="1" dirty="0">
                <a:solidFill>
                  <a:srgbClr val="22212B"/>
                </a:solidFill>
                <a:latin typeface="Noto Sans" pitchFamily="34" charset="0"/>
                <a:ea typeface="Noto Sans" pitchFamily="34" charset="-122"/>
                <a:cs typeface="Noto Sans" pitchFamily="34" charset="-120"/>
              </a:rPr>
              <a:t>Why the customer cares</a:t>
            </a:r>
            <a:endParaRPr lang="en-US" sz="2000" dirty="0"/>
          </a:p>
        </p:txBody>
      </p:sp>
      <p:sp>
        <p:nvSpPr>
          <p:cNvPr id="17" name="Text 15"/>
          <p:cNvSpPr/>
          <p:nvPr/>
        </p:nvSpPr>
        <p:spPr>
          <a:xfrm>
            <a:off x="640080" y="4517136"/>
            <a:ext cx="4828032" cy="832104"/>
          </a:xfrm>
          <a:prstGeom prst="rect">
            <a:avLst/>
          </a:prstGeom>
          <a:noFill/>
          <a:ln/>
        </p:spPr>
        <p:txBody>
          <a:bodyPr wrap="square" lIns="0" tIns="0" rIns="0" bIns="0" rtlCol="0" anchor="t"/>
          <a:lstStyle/>
          <a:p>
            <a:pPr indent="0" marL="0">
              <a:buNone/>
            </a:pPr>
            <a:r>
              <a:rPr lang="en-US" sz="1600" dirty="0">
                <a:solidFill>
                  <a:srgbClr val="62636E"/>
                </a:solidFill>
                <a:latin typeface="Noto Sans" pitchFamily="34" charset="0"/>
                <a:ea typeface="Noto Sans" pitchFamily="34" charset="-122"/>
                <a:cs typeface="Noto Sans" pitchFamily="34" charset="-120"/>
              </a:rPr>
              <a:t>Keep GPU capacity focused on prompt processing. Add decode groups without buying a complete GPU serving replica for every group.</a:t>
            </a:r>
            <a:endParaRPr lang="en-US" sz="1600" dirty="0"/>
          </a:p>
        </p:txBody>
      </p:sp>
      <p:sp>
        <p:nvSpPr>
          <p:cNvPr id="18" name="Text 16"/>
          <p:cNvSpPr/>
          <p:nvPr/>
        </p:nvSpPr>
        <p:spPr>
          <a:xfrm>
            <a:off x="6016752" y="2112264"/>
            <a:ext cx="539496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THE HANDOFF IS REAL WORK</a:t>
            </a:r>
            <a:endParaRPr lang="en-US" sz="1000" dirty="0"/>
          </a:p>
        </p:txBody>
      </p:sp>
      <p:sp>
        <p:nvSpPr>
          <p:cNvPr id="19" name="Shape 17"/>
          <p:cNvSpPr/>
          <p:nvPr/>
        </p:nvSpPr>
        <p:spPr>
          <a:xfrm>
            <a:off x="5989320" y="2505456"/>
            <a:ext cx="5742432" cy="1124712"/>
          </a:xfrm>
          <a:prstGeom prst="rect">
            <a:avLst/>
          </a:prstGeom>
          <a:solidFill>
            <a:srgbClr val="FBE9ED"/>
          </a:solidFill>
          <a:ln w="10160">
            <a:solidFill>
              <a:srgbClr val="FBE9ED"/>
            </a:solidFill>
            <a:prstDash val="solid"/>
          </a:ln>
        </p:spPr>
      </p:sp>
      <p:sp>
        <p:nvSpPr>
          <p:cNvPr id="20" name="Text 18"/>
          <p:cNvSpPr/>
          <p:nvPr/>
        </p:nvSpPr>
        <p:spPr>
          <a:xfrm>
            <a:off x="6135624" y="2578608"/>
            <a:ext cx="5449824" cy="530352"/>
          </a:xfrm>
          <a:prstGeom prst="rect">
            <a:avLst/>
          </a:prstGeom>
          <a:noFill/>
          <a:ln/>
        </p:spPr>
        <p:txBody>
          <a:bodyPr wrap="square" lIns="0" tIns="0" rIns="0" bIns="0" rtlCol="0" anchor="t"/>
          <a:lstStyle/>
          <a:p>
            <a:pPr indent="0" marL="0">
              <a:buNone/>
            </a:pPr>
            <a:r>
              <a:rPr lang="en-US" sz="3300" b="1" dirty="0">
                <a:solidFill>
                  <a:srgbClr val="E31837"/>
                </a:solidFill>
                <a:latin typeface="Noto Sans" pitchFamily="34" charset="0"/>
                <a:ea typeface="Noto Sans" pitchFamily="34" charset="-122"/>
                <a:cs typeface="Noto Sans" pitchFamily="34" charset="-120"/>
              </a:rPr>
              <a:t>0.73 GiB</a:t>
            </a:r>
            <a:endParaRPr lang="en-US" sz="3300" dirty="0"/>
          </a:p>
        </p:txBody>
      </p:sp>
      <p:sp>
        <p:nvSpPr>
          <p:cNvPr id="21" name="Text 19"/>
          <p:cNvSpPr/>
          <p:nvPr/>
        </p:nvSpPr>
        <p:spPr>
          <a:xfrm>
            <a:off x="6135624" y="3191256"/>
            <a:ext cx="5449824"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logical KV per 4,096-token prompt</a:t>
            </a:r>
            <a:endParaRPr lang="en-US" sz="1250" dirty="0"/>
          </a:p>
        </p:txBody>
      </p:sp>
      <p:sp>
        <p:nvSpPr>
          <p:cNvPr id="22" name="Shape 20"/>
          <p:cNvSpPr/>
          <p:nvPr/>
        </p:nvSpPr>
        <p:spPr>
          <a:xfrm>
            <a:off x="5989320" y="3794760"/>
            <a:ext cx="5742432" cy="1124712"/>
          </a:xfrm>
          <a:prstGeom prst="rect">
            <a:avLst/>
          </a:prstGeom>
          <a:solidFill>
            <a:srgbClr val="FFFFFF"/>
          </a:solidFill>
          <a:ln w="10160">
            <a:solidFill>
              <a:srgbClr val="FFFFFF"/>
            </a:solidFill>
            <a:prstDash val="solid"/>
          </a:ln>
        </p:spPr>
      </p:sp>
      <p:sp>
        <p:nvSpPr>
          <p:cNvPr id="23" name="Text 21"/>
          <p:cNvSpPr/>
          <p:nvPr/>
        </p:nvSpPr>
        <p:spPr>
          <a:xfrm>
            <a:off x="6135624" y="3867912"/>
            <a:ext cx="5449824" cy="530352"/>
          </a:xfrm>
          <a:prstGeom prst="rect">
            <a:avLst/>
          </a:prstGeom>
          <a:noFill/>
          <a:ln/>
        </p:spPr>
        <p:txBody>
          <a:bodyPr wrap="square" lIns="0" tIns="0" rIns="0" bIns="0" rtlCol="0" anchor="t"/>
          <a:lstStyle/>
          <a:p>
            <a:pPr indent="0" marL="0">
              <a:buNone/>
            </a:pPr>
            <a:r>
              <a:rPr lang="en-US" sz="3000" b="1" dirty="0">
                <a:solidFill>
                  <a:srgbClr val="E31837"/>
                </a:solidFill>
                <a:latin typeface="Noto Sans" pitchFamily="34" charset="0"/>
                <a:ea typeface="Noto Sans" pitchFamily="34" charset="-122"/>
                <a:cs typeface="Noto Sans" pitchFamily="34" charset="-120"/>
              </a:rPr>
              <a:t>1.47 GiB/s</a:t>
            </a:r>
            <a:endParaRPr lang="en-US" sz="3000" dirty="0"/>
          </a:p>
        </p:txBody>
      </p:sp>
      <p:sp>
        <p:nvSpPr>
          <p:cNvPr id="24" name="Text 22"/>
          <p:cNvSpPr/>
          <p:nvPr/>
        </p:nvSpPr>
        <p:spPr>
          <a:xfrm>
            <a:off x="6135624" y="4480560"/>
            <a:ext cx="5449824"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at the proposed 2-request/s handoff rate</a:t>
            </a:r>
            <a:endParaRPr lang="en-US" sz="1250" dirty="0"/>
          </a:p>
        </p:txBody>
      </p:sp>
      <p:sp>
        <p:nvSpPr>
          <p:cNvPr id="25" name="Text 23"/>
          <p:cNvSpPr/>
          <p:nvPr/>
        </p:nvSpPr>
        <p:spPr>
          <a:xfrm>
            <a:off x="6126480" y="5148072"/>
            <a:ext cx="5385816" cy="438912"/>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Before layout duplication, staging, protocol and burst headroom.</a:t>
            </a:r>
            <a:endParaRPr lang="en-US" sz="1250" dirty="0"/>
          </a:p>
          <a:p>
            <a:pPr indent="0" marL="0">
              <a:buNone/>
            </a:pPr>
            <a:r>
              <a:rPr lang="en-US" sz="1250" dirty="0">
                <a:solidFill>
                  <a:srgbClr val="62636E"/>
                </a:solidFill>
                <a:latin typeface="Noto Sans" pitchFamily="34" charset="0"/>
                <a:ea typeface="Noto Sans" pitchFamily="34" charset="-122"/>
                <a:cs typeface="Noto Sans" pitchFamily="34" charset="-120"/>
              </a:rPr>
              <a:t>Size GPU:ATMOS counts from measured prefill/decode rates.</a:t>
            </a:r>
            <a:endParaRPr lang="en-US" sz="1250" dirty="0"/>
          </a:p>
        </p:txBody>
      </p:sp>
      <p:sp>
        <p:nvSpPr>
          <p:cNvPr id="26" name="Shape 24"/>
          <p:cNvSpPr/>
          <p:nvPr/>
        </p:nvSpPr>
        <p:spPr>
          <a:xfrm>
            <a:off x="438912" y="5705856"/>
            <a:ext cx="11311128" cy="512064"/>
          </a:xfrm>
          <a:prstGeom prst="rect">
            <a:avLst/>
          </a:prstGeom>
          <a:solidFill>
            <a:srgbClr val="FBE9ED"/>
          </a:solidFill>
          <a:ln w="10160">
            <a:solidFill>
              <a:srgbClr val="FBE9ED"/>
            </a:solidFill>
            <a:prstDash val="solid"/>
          </a:ln>
        </p:spPr>
      </p:sp>
      <p:sp>
        <p:nvSpPr>
          <p:cNvPr id="27" name="Text 25"/>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CUSTOMER CHANGE</a:t>
            </a:r>
            <a:endParaRPr lang="en-US" sz="1300" dirty="0"/>
          </a:p>
        </p:txBody>
      </p:sp>
      <p:sp>
        <p:nvSpPr>
          <p:cNvPr id="28" name="Text 26"/>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GPU KV-export connector is required. A chat endpoint alone cannot enable this offering.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C / EXECUTION ARCHITECTURE</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C | Small GPU drafts; ATMOS verifies the target.</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The large MoE stays on ATMOS. The GPU proposes tokens—it does not execute target-model layers.</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08</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[S9] Speculative-decoding algorithm. The cross-device implementation, acceptance rate and speedup are proposed—not measured.</a:t>
            </a:r>
            <a:endParaRPr lang="en-US" sz="810" dirty="0"/>
          </a:p>
        </p:txBody>
      </p:sp>
      <p:sp>
        <p:nvSpPr>
          <p:cNvPr id="10" name="Shape 8"/>
          <p:cNvSpPr/>
          <p:nvPr/>
        </p:nvSpPr>
        <p:spPr>
          <a:xfrm>
            <a:off x="1965960" y="2039112"/>
            <a:ext cx="8284464" cy="804672"/>
          </a:xfrm>
          <a:prstGeom prst="rect">
            <a:avLst/>
          </a:prstGeom>
          <a:solidFill>
            <a:srgbClr val="22212B"/>
          </a:solidFill>
          <a:ln w="10160">
            <a:solidFill>
              <a:srgbClr val="22212B"/>
            </a:solidFill>
            <a:prstDash val="solid"/>
          </a:ln>
        </p:spPr>
      </p:sp>
      <p:sp>
        <p:nvSpPr>
          <p:cNvPr id="11" name="Text 9"/>
          <p:cNvSpPr/>
          <p:nvPr/>
        </p:nvSpPr>
        <p:spPr>
          <a:xfrm>
            <a:off x="2112264" y="2148840"/>
            <a:ext cx="7991856" cy="301752"/>
          </a:xfrm>
          <a:prstGeom prst="rect">
            <a:avLst/>
          </a:prstGeom>
          <a:noFill/>
          <a:ln/>
        </p:spPr>
        <p:txBody>
          <a:bodyPr wrap="square" lIns="0" tIns="0" rIns="0" bIns="0" rtlCol="0" anchor="t"/>
          <a:lstStyle/>
          <a:p>
            <a:pPr algn="ctr" indent="0" marL="0">
              <a:buNone/>
            </a:pPr>
            <a:r>
              <a:rPr lang="en-US" sz="1900" b="1" dirty="0">
                <a:solidFill>
                  <a:srgbClr val="FFFFFF"/>
                </a:solidFill>
                <a:latin typeface="Noto Sans" pitchFamily="34" charset="0"/>
                <a:ea typeface="Noto Sans" pitchFamily="34" charset="-122"/>
                <a:cs typeface="Noto Sans" pitchFamily="34" charset="-120"/>
              </a:rPr>
              <a:t>Speculative serving scheduler</a:t>
            </a:r>
            <a:endParaRPr lang="en-US" sz="1900" dirty="0"/>
          </a:p>
        </p:txBody>
      </p:sp>
      <p:sp>
        <p:nvSpPr>
          <p:cNvPr id="12" name="Text 10"/>
          <p:cNvSpPr/>
          <p:nvPr/>
        </p:nvSpPr>
        <p:spPr>
          <a:xfrm>
            <a:off x="2148840" y="2514600"/>
            <a:ext cx="7918704" cy="274320"/>
          </a:xfrm>
          <a:prstGeom prst="rect">
            <a:avLst/>
          </a:prstGeom>
          <a:noFill/>
          <a:ln/>
        </p:spPr>
        <p:txBody>
          <a:bodyPr wrap="square" lIns="0" tIns="0" rIns="0" bIns="0" rtlCol="0" anchor="t"/>
          <a:lstStyle/>
          <a:p>
            <a:pPr algn="ctr" indent="0" marL="0">
              <a:buNone/>
            </a:pPr>
            <a:r>
              <a:rPr lang="en-US" sz="1200" dirty="0">
                <a:solidFill>
                  <a:srgbClr val="FFFFFF"/>
                </a:solidFill>
                <a:latin typeface="Noto Sans" pitchFamily="34" charset="0"/>
                <a:ea typeface="Noto Sans" pitchFamily="34" charset="-122"/>
                <a:cs typeface="Noto Sans" pitchFamily="34" charset="-120"/>
              </a:rPr>
              <a:t>One user request • two models • one target-approved response</a:t>
            </a:r>
            <a:endParaRPr lang="en-US" sz="1200" dirty="0"/>
          </a:p>
        </p:txBody>
      </p:sp>
      <p:sp>
        <p:nvSpPr>
          <p:cNvPr id="13" name="Shape 11"/>
          <p:cNvSpPr/>
          <p:nvPr/>
        </p:nvSpPr>
        <p:spPr>
          <a:xfrm>
            <a:off x="466344" y="3209544"/>
            <a:ext cx="4334256" cy="2075688"/>
          </a:xfrm>
          <a:prstGeom prst="rect">
            <a:avLst/>
          </a:prstGeom>
          <a:solidFill>
            <a:srgbClr val="FFFFFF"/>
          </a:solidFill>
          <a:ln w="10160">
            <a:solidFill>
              <a:srgbClr val="D8D8DE"/>
            </a:solidFill>
            <a:prstDash val="solid"/>
          </a:ln>
        </p:spPr>
      </p:sp>
      <p:sp>
        <p:nvSpPr>
          <p:cNvPr id="14" name="Text 12"/>
          <p:cNvSpPr/>
          <p:nvPr/>
        </p:nvSpPr>
        <p:spPr>
          <a:xfrm>
            <a:off x="667512" y="3438144"/>
            <a:ext cx="379476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SMALL DRAFT MODEL / GPU</a:t>
            </a:r>
            <a:endParaRPr lang="en-US" sz="1000" dirty="0"/>
          </a:p>
        </p:txBody>
      </p:sp>
      <p:sp>
        <p:nvSpPr>
          <p:cNvPr id="15" name="Text 13"/>
          <p:cNvSpPr/>
          <p:nvPr/>
        </p:nvSpPr>
        <p:spPr>
          <a:xfrm>
            <a:off x="667512" y="3785616"/>
            <a:ext cx="3840480" cy="393192"/>
          </a:xfrm>
          <a:prstGeom prst="rect">
            <a:avLst/>
          </a:prstGeom>
          <a:noFill/>
          <a:ln/>
        </p:spPr>
        <p:txBody>
          <a:bodyPr wrap="square" lIns="0" tIns="0" rIns="0" bIns="0" rtlCol="0" anchor="t"/>
          <a:lstStyle/>
          <a:p>
            <a:pPr indent="0" marL="0">
              <a:buNone/>
            </a:pPr>
            <a:r>
              <a:rPr lang="en-US" sz="2000" b="1" dirty="0">
                <a:solidFill>
                  <a:srgbClr val="22212B"/>
                </a:solidFill>
                <a:latin typeface="Noto Sans" pitchFamily="34" charset="0"/>
                <a:ea typeface="Noto Sans" pitchFamily="34" charset="-122"/>
                <a:cs typeface="Noto Sans" pitchFamily="34" charset="-120"/>
              </a:rPr>
              <a:t>Propose a token block</a:t>
            </a:r>
            <a:endParaRPr lang="en-US" sz="2000" dirty="0"/>
          </a:p>
        </p:txBody>
      </p:sp>
      <p:sp>
        <p:nvSpPr>
          <p:cNvPr id="16" name="Text 14"/>
          <p:cNvSpPr/>
          <p:nvPr/>
        </p:nvSpPr>
        <p:spPr>
          <a:xfrm>
            <a:off x="704088" y="4361688"/>
            <a:ext cx="3794760" cy="749808"/>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Draft weights + its own KV</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Small supported GPU configuration</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Candidate block length is tunable</a:t>
            </a:r>
            <a:endParaRPr lang="en-US" sz="1400" dirty="0"/>
          </a:p>
        </p:txBody>
      </p:sp>
      <p:sp>
        <p:nvSpPr>
          <p:cNvPr id="17" name="Shape 15"/>
          <p:cNvSpPr/>
          <p:nvPr/>
        </p:nvSpPr>
        <p:spPr>
          <a:xfrm>
            <a:off x="7022592" y="3209544"/>
            <a:ext cx="4709160" cy="2075688"/>
          </a:xfrm>
          <a:prstGeom prst="rect">
            <a:avLst/>
          </a:prstGeom>
          <a:solidFill>
            <a:srgbClr val="FFFFFF"/>
          </a:solidFill>
          <a:ln w="10160">
            <a:solidFill>
              <a:srgbClr val="E31837"/>
            </a:solidFill>
            <a:prstDash val="solid"/>
          </a:ln>
        </p:spPr>
      </p:sp>
      <p:sp>
        <p:nvSpPr>
          <p:cNvPr id="18" name="Text 16"/>
          <p:cNvSpPr/>
          <p:nvPr/>
        </p:nvSpPr>
        <p:spPr>
          <a:xfrm>
            <a:off x="7232904" y="3438144"/>
            <a:ext cx="4261104"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LARGE TARGET MOE / ATMOS</a:t>
            </a:r>
            <a:endParaRPr lang="en-US" sz="1000" dirty="0"/>
          </a:p>
        </p:txBody>
      </p:sp>
      <p:sp>
        <p:nvSpPr>
          <p:cNvPr id="19" name="Text 17"/>
          <p:cNvSpPr/>
          <p:nvPr/>
        </p:nvSpPr>
        <p:spPr>
          <a:xfrm>
            <a:off x="7232904" y="3785616"/>
            <a:ext cx="4270248" cy="393192"/>
          </a:xfrm>
          <a:prstGeom prst="rect">
            <a:avLst/>
          </a:prstGeom>
          <a:noFill/>
          <a:ln/>
        </p:spPr>
        <p:txBody>
          <a:bodyPr wrap="square" lIns="0" tIns="0" rIns="0" bIns="0" rtlCol="0" anchor="t"/>
          <a:lstStyle/>
          <a:p>
            <a:pPr indent="0" marL="0">
              <a:buNone/>
            </a:pPr>
            <a:r>
              <a:rPr lang="en-US" sz="2000" b="1" dirty="0">
                <a:solidFill>
                  <a:srgbClr val="E31837"/>
                </a:solidFill>
                <a:latin typeface="Noto Sans" pitchFamily="34" charset="0"/>
                <a:ea typeface="Noto Sans" pitchFamily="34" charset="-122"/>
                <a:cs typeface="Noto Sans" pitchFamily="34" charset="-120"/>
              </a:rPr>
              <a:t>Score, accept or correct</a:t>
            </a:r>
            <a:endParaRPr lang="en-US" sz="2000" dirty="0"/>
          </a:p>
        </p:txBody>
      </p:sp>
      <p:sp>
        <p:nvSpPr>
          <p:cNvPr id="20" name="Text 18"/>
          <p:cNvSpPr/>
          <p:nvPr/>
        </p:nvSpPr>
        <p:spPr>
          <a:xfrm>
            <a:off x="7278624" y="4361688"/>
            <a:ext cx="4105656" cy="749808"/>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Target weights + target KV</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Attention and expert execution</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Reclaim rejected speculative state</a:t>
            </a:r>
            <a:endParaRPr lang="en-US" sz="1400" dirty="0"/>
          </a:p>
        </p:txBody>
      </p:sp>
      <p:sp>
        <p:nvSpPr>
          <p:cNvPr id="21" name="Shape 19"/>
          <p:cNvSpPr/>
          <p:nvPr/>
        </p:nvSpPr>
        <p:spPr>
          <a:xfrm>
            <a:off x="4837176" y="4096512"/>
            <a:ext cx="2148840" cy="0"/>
          </a:xfrm>
          <a:prstGeom prst="line">
            <a:avLst/>
          </a:prstGeom>
          <a:noFill/>
          <a:ln w="25400">
            <a:solidFill>
              <a:srgbClr val="E31837"/>
            </a:solidFill>
            <a:prstDash val="solid"/>
            <a:tailEnd type="triangle"/>
          </a:ln>
        </p:spPr>
      </p:sp>
      <p:sp>
        <p:nvSpPr>
          <p:cNvPr id="22" name="Text 20"/>
          <p:cNvSpPr/>
          <p:nvPr/>
        </p:nvSpPr>
        <p:spPr>
          <a:xfrm>
            <a:off x="4901184" y="3374136"/>
            <a:ext cx="2029968" cy="521208"/>
          </a:xfrm>
          <a:prstGeom prst="rect">
            <a:avLst/>
          </a:prstGeom>
          <a:noFill/>
          <a:ln/>
        </p:spPr>
        <p:txBody>
          <a:bodyPr wrap="square" lIns="0" tIns="0" rIns="0" bIns="0" rtlCol="0" anchor="t"/>
          <a:lstStyle/>
          <a:p>
            <a:pPr algn="ctr" indent="0" marL="0">
              <a:buNone/>
            </a:pPr>
            <a:r>
              <a:rPr lang="en-US" sz="1280" b="1" dirty="0">
                <a:solidFill>
                  <a:srgbClr val="E31837"/>
                </a:solidFill>
                <a:latin typeface="Noto Sans" pitchFamily="34" charset="0"/>
                <a:ea typeface="Noto Sans" pitchFamily="34" charset="-122"/>
                <a:cs typeface="Noto Sans" pitchFamily="34" charset="-120"/>
              </a:rPr>
              <a:t>Candidate tokens +</a:t>
            </a:r>
            <a:endParaRPr lang="en-US" sz="1280" dirty="0"/>
          </a:p>
          <a:p>
            <a:pPr algn="ctr" indent="0" marL="0">
              <a:buNone/>
            </a:pPr>
            <a:r>
              <a:rPr lang="en-US" sz="1280" b="1" dirty="0">
                <a:solidFill>
                  <a:srgbClr val="E31837"/>
                </a:solidFill>
                <a:latin typeface="Noto Sans" pitchFamily="34" charset="0"/>
                <a:ea typeface="Noto Sans" pitchFamily="34" charset="-122"/>
                <a:cs typeface="Noto Sans" pitchFamily="34" charset="-120"/>
              </a:rPr>
              <a:t>verification metadata</a:t>
            </a:r>
            <a:endParaRPr lang="en-US" sz="1280" dirty="0"/>
          </a:p>
        </p:txBody>
      </p:sp>
      <p:sp>
        <p:nvSpPr>
          <p:cNvPr id="23" name="Shape 21"/>
          <p:cNvSpPr/>
          <p:nvPr/>
        </p:nvSpPr>
        <p:spPr>
          <a:xfrm>
            <a:off x="6986016" y="4919472"/>
            <a:ext cx="-2148840" cy="0"/>
          </a:xfrm>
          <a:prstGeom prst="line">
            <a:avLst/>
          </a:prstGeom>
          <a:noFill/>
          <a:ln w="19050">
            <a:solidFill>
              <a:srgbClr val="62636E"/>
            </a:solidFill>
            <a:prstDash val="solid"/>
            <a:tailEnd type="triangle"/>
          </a:ln>
        </p:spPr>
      </p:sp>
      <p:sp>
        <p:nvSpPr>
          <p:cNvPr id="24" name="Text 22"/>
          <p:cNvSpPr/>
          <p:nvPr/>
        </p:nvSpPr>
        <p:spPr>
          <a:xfrm>
            <a:off x="4937760" y="5084064"/>
            <a:ext cx="2011680" cy="393192"/>
          </a:xfrm>
          <a:prstGeom prst="rect">
            <a:avLst/>
          </a:prstGeom>
          <a:noFill/>
          <a:ln/>
        </p:spPr>
        <p:txBody>
          <a:bodyPr wrap="square" lIns="0" tIns="0" rIns="0" bIns="0" rtlCol="0" anchor="t"/>
          <a:lstStyle/>
          <a:p>
            <a:pPr algn="ctr" indent="0" marL="0">
              <a:buNone/>
            </a:pPr>
            <a:r>
              <a:rPr lang="en-US" sz="1150" dirty="0">
                <a:solidFill>
                  <a:srgbClr val="62636E"/>
                </a:solidFill>
                <a:latin typeface="Noto Sans" pitchFamily="34" charset="0"/>
                <a:ea typeface="Noto Sans" pitchFamily="34" charset="-122"/>
                <a:cs typeface="Noto Sans" pitchFamily="34" charset="-120"/>
              </a:rPr>
              <a:t>Committed prefix /</a:t>
            </a:r>
            <a:endParaRPr lang="en-US" sz="1150" dirty="0"/>
          </a:p>
          <a:p>
            <a:pPr algn="ctr" indent="0" marL="0">
              <a:buNone/>
            </a:pPr>
            <a:r>
              <a:rPr lang="en-US" sz="1150" dirty="0">
                <a:solidFill>
                  <a:srgbClr val="62636E"/>
                </a:solidFill>
                <a:latin typeface="Noto Sans" pitchFamily="34" charset="0"/>
                <a:ea typeface="Noto Sans" pitchFamily="34" charset="-122"/>
                <a:cs typeface="Noto Sans" pitchFamily="34" charset="-120"/>
              </a:rPr>
              <a:t>correction to drafter</a:t>
            </a:r>
            <a:endParaRPr lang="en-US" sz="1150" dirty="0"/>
          </a:p>
        </p:txBody>
      </p:sp>
      <p:sp>
        <p:nvSpPr>
          <p:cNvPr id="25" name="Shape 23"/>
          <p:cNvSpPr/>
          <p:nvPr/>
        </p:nvSpPr>
        <p:spPr>
          <a:xfrm>
            <a:off x="438912" y="5705856"/>
            <a:ext cx="11311128" cy="512064"/>
          </a:xfrm>
          <a:prstGeom prst="rect">
            <a:avLst/>
          </a:prstGeom>
          <a:solidFill>
            <a:srgbClr val="FBE9ED"/>
          </a:solidFill>
          <a:ln w="10160">
            <a:solidFill>
              <a:srgbClr val="FBE9ED"/>
            </a:solidFill>
            <a:prstDash val="solid"/>
          </a:ln>
        </p:spPr>
      </p:sp>
      <p:sp>
        <p:nvSpPr>
          <p:cNvPr id="26" name="Text 24"/>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STATE OWNERSHIP</a:t>
            </a:r>
            <a:endParaRPr lang="en-US" sz="1300" dirty="0"/>
          </a:p>
        </p:txBody>
      </p:sp>
      <p:sp>
        <p:nvSpPr>
          <p:cNvPr id="27" name="Text 25"/>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Draft and target KV are separate. No transfer of the draft KV into the ATMOS target.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C / CUSTOMER OFFER AND VALUE</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C | More committed tokens per target cycle is the prize.</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A small draft GPU is worthwhile only when accepted target output pays for drafting and verification.</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09</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New arithmetic illustration, not an ATMOS benchmark or predicted gain. [S9] supplies the algorithm—not these timings.</a:t>
            </a:r>
            <a:endParaRPr lang="en-US" sz="810" dirty="0"/>
          </a:p>
        </p:txBody>
      </p:sp>
      <p:sp>
        <p:nvSpPr>
          <p:cNvPr id="10" name="Text 8"/>
          <p:cNvSpPr/>
          <p:nvPr/>
        </p:nvSpPr>
        <p:spPr>
          <a:xfrm>
            <a:off x="475488" y="2112264"/>
            <a:ext cx="5888736"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ILLUSTRATIVE CYCLE — 4 CANDIDATES</a:t>
            </a:r>
            <a:endParaRPr lang="en-US" sz="1000" dirty="0"/>
          </a:p>
        </p:txBody>
      </p:sp>
      <p:sp>
        <p:nvSpPr>
          <p:cNvPr id="11" name="Shape 9"/>
          <p:cNvSpPr/>
          <p:nvPr/>
        </p:nvSpPr>
        <p:spPr>
          <a:xfrm>
            <a:off x="457200" y="2532888"/>
            <a:ext cx="5961888" cy="438912"/>
          </a:xfrm>
          <a:prstGeom prst="rect">
            <a:avLst/>
          </a:prstGeom>
          <a:solidFill>
            <a:srgbClr val="22212B"/>
          </a:solidFill>
          <a:ln w="10160">
            <a:solidFill>
              <a:srgbClr val="22212B"/>
            </a:solidFill>
            <a:prstDash val="solid"/>
          </a:ln>
        </p:spPr>
      </p:sp>
      <p:sp>
        <p:nvSpPr>
          <p:cNvPr id="12" name="Text 10"/>
          <p:cNvSpPr/>
          <p:nvPr/>
        </p:nvSpPr>
        <p:spPr>
          <a:xfrm>
            <a:off x="576072" y="2615184"/>
            <a:ext cx="1700784"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Case</a:t>
            </a:r>
            <a:endParaRPr lang="en-US" sz="1200" dirty="0"/>
          </a:p>
        </p:txBody>
      </p:sp>
      <p:sp>
        <p:nvSpPr>
          <p:cNvPr id="13" name="Text 11"/>
          <p:cNvSpPr/>
          <p:nvPr/>
        </p:nvSpPr>
        <p:spPr>
          <a:xfrm>
            <a:off x="2505456" y="2615184"/>
            <a:ext cx="978408"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Time / cycle</a:t>
            </a:r>
            <a:endParaRPr lang="en-US" sz="1200" dirty="0"/>
          </a:p>
        </p:txBody>
      </p:sp>
      <p:sp>
        <p:nvSpPr>
          <p:cNvPr id="14" name="Text 12"/>
          <p:cNvSpPr/>
          <p:nvPr/>
        </p:nvSpPr>
        <p:spPr>
          <a:xfrm>
            <a:off x="3712464" y="2615184"/>
            <a:ext cx="1069848"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Committed</a:t>
            </a:r>
            <a:endParaRPr lang="en-US" sz="1200" dirty="0"/>
          </a:p>
        </p:txBody>
      </p:sp>
      <p:sp>
        <p:nvSpPr>
          <p:cNvPr id="15" name="Text 13"/>
          <p:cNvSpPr/>
          <p:nvPr/>
        </p:nvSpPr>
        <p:spPr>
          <a:xfrm>
            <a:off x="5010912" y="2615184"/>
            <a:ext cx="1298448"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Effective</a:t>
            </a:r>
            <a:endParaRPr lang="en-US" sz="1200" dirty="0"/>
          </a:p>
        </p:txBody>
      </p:sp>
      <p:sp>
        <p:nvSpPr>
          <p:cNvPr id="16" name="Shape 14"/>
          <p:cNvSpPr/>
          <p:nvPr/>
        </p:nvSpPr>
        <p:spPr>
          <a:xfrm>
            <a:off x="457200" y="2971800"/>
            <a:ext cx="5961888" cy="640080"/>
          </a:xfrm>
          <a:prstGeom prst="rect">
            <a:avLst/>
          </a:prstGeom>
          <a:solidFill>
            <a:srgbClr val="F0F0F3"/>
          </a:solidFill>
          <a:ln w="10160">
            <a:solidFill>
              <a:srgbClr val="F0F0F3"/>
            </a:solidFill>
            <a:prstDash val="solid"/>
          </a:ln>
        </p:spPr>
      </p:sp>
      <p:sp>
        <p:nvSpPr>
          <p:cNvPr id="17" name="Text 15"/>
          <p:cNvSpPr/>
          <p:nvPr/>
        </p:nvSpPr>
        <p:spPr>
          <a:xfrm>
            <a:off x="576072" y="3090672"/>
            <a:ext cx="1691640" cy="438912"/>
          </a:xfrm>
          <a:prstGeom prst="rect">
            <a:avLst/>
          </a:prstGeom>
          <a:noFill/>
          <a:ln/>
        </p:spPr>
        <p:txBody>
          <a:bodyPr wrap="square" lIns="0" tIns="0" rIns="0" bIns="0" rtlCol="0" anchor="t"/>
          <a:lstStyle/>
          <a:p>
            <a:pPr indent="0" marL="0">
              <a:buNone/>
            </a:pPr>
            <a:r>
              <a:rPr lang="en-US" sz="1300" b="1" dirty="0">
                <a:solidFill>
                  <a:srgbClr val="22212B"/>
                </a:solidFill>
                <a:latin typeface="Noto Sans" pitchFamily="34" charset="0"/>
                <a:ea typeface="Noto Sans" pitchFamily="34" charset="-122"/>
                <a:cs typeface="Noto Sans" pitchFamily="34" charset="-120"/>
              </a:rPr>
              <a:t>Native target</a:t>
            </a:r>
            <a:endParaRPr lang="en-US" sz="1300" dirty="0"/>
          </a:p>
        </p:txBody>
      </p:sp>
      <p:sp>
        <p:nvSpPr>
          <p:cNvPr id="18" name="Text 16"/>
          <p:cNvSpPr/>
          <p:nvPr/>
        </p:nvSpPr>
        <p:spPr>
          <a:xfrm>
            <a:off x="2505456" y="3090672"/>
            <a:ext cx="969264" cy="438912"/>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80 ms</a:t>
            </a:r>
            <a:endParaRPr lang="en-US" sz="1300" dirty="0"/>
          </a:p>
        </p:txBody>
      </p:sp>
      <p:sp>
        <p:nvSpPr>
          <p:cNvPr id="19" name="Text 17"/>
          <p:cNvSpPr/>
          <p:nvPr/>
        </p:nvSpPr>
        <p:spPr>
          <a:xfrm>
            <a:off x="3712464" y="3090672"/>
            <a:ext cx="1060704" cy="438912"/>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1 token</a:t>
            </a:r>
            <a:endParaRPr lang="en-US" sz="1300" dirty="0"/>
          </a:p>
        </p:txBody>
      </p:sp>
      <p:sp>
        <p:nvSpPr>
          <p:cNvPr id="20" name="Text 18"/>
          <p:cNvSpPr/>
          <p:nvPr/>
        </p:nvSpPr>
        <p:spPr>
          <a:xfrm>
            <a:off x="5010912" y="3090672"/>
            <a:ext cx="1289304" cy="438912"/>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80 ms/token</a:t>
            </a:r>
            <a:endParaRPr lang="en-US" sz="1300" dirty="0"/>
          </a:p>
        </p:txBody>
      </p:sp>
      <p:sp>
        <p:nvSpPr>
          <p:cNvPr id="21" name="Shape 19"/>
          <p:cNvSpPr/>
          <p:nvPr/>
        </p:nvSpPr>
        <p:spPr>
          <a:xfrm>
            <a:off x="457200" y="3611880"/>
            <a:ext cx="5961888" cy="0"/>
          </a:xfrm>
          <a:prstGeom prst="line">
            <a:avLst/>
          </a:prstGeom>
          <a:noFill/>
          <a:ln w="8255">
            <a:solidFill>
              <a:srgbClr val="D8D8DE"/>
            </a:solidFill>
            <a:prstDash val="solid"/>
          </a:ln>
        </p:spPr>
      </p:sp>
      <p:sp>
        <p:nvSpPr>
          <p:cNvPr id="22" name="Shape 20"/>
          <p:cNvSpPr/>
          <p:nvPr/>
        </p:nvSpPr>
        <p:spPr>
          <a:xfrm>
            <a:off x="457200" y="3611880"/>
            <a:ext cx="5961888" cy="640080"/>
          </a:xfrm>
          <a:prstGeom prst="rect">
            <a:avLst/>
          </a:prstGeom>
          <a:solidFill>
            <a:srgbClr val="FFFFFF"/>
          </a:solidFill>
          <a:ln w="10160">
            <a:solidFill>
              <a:srgbClr val="FFFFFF"/>
            </a:solidFill>
            <a:prstDash val="solid"/>
          </a:ln>
        </p:spPr>
      </p:sp>
      <p:sp>
        <p:nvSpPr>
          <p:cNvPr id="23" name="Text 21"/>
          <p:cNvSpPr/>
          <p:nvPr/>
        </p:nvSpPr>
        <p:spPr>
          <a:xfrm>
            <a:off x="576072" y="3730752"/>
            <a:ext cx="1691640" cy="438912"/>
          </a:xfrm>
          <a:prstGeom prst="rect">
            <a:avLst/>
          </a:prstGeom>
          <a:noFill/>
          <a:ln/>
        </p:spPr>
        <p:txBody>
          <a:bodyPr wrap="square" lIns="0" tIns="0" rIns="0" bIns="0" rtlCol="0" anchor="t"/>
          <a:lstStyle/>
          <a:p>
            <a:pPr indent="0" marL="0">
              <a:buNone/>
            </a:pPr>
            <a:r>
              <a:rPr lang="en-US" sz="1300" b="1" dirty="0">
                <a:solidFill>
                  <a:srgbClr val="22212B"/>
                </a:solidFill>
                <a:latin typeface="Noto Sans" pitchFamily="34" charset="0"/>
                <a:ea typeface="Noto Sans" pitchFamily="34" charset="-122"/>
                <a:cs typeface="Noto Sans" pitchFamily="34" charset="-120"/>
              </a:rPr>
              <a:t>Useful speculation</a:t>
            </a:r>
            <a:endParaRPr lang="en-US" sz="1300" dirty="0"/>
          </a:p>
        </p:txBody>
      </p:sp>
      <p:sp>
        <p:nvSpPr>
          <p:cNvPr id="24" name="Text 22"/>
          <p:cNvSpPr/>
          <p:nvPr/>
        </p:nvSpPr>
        <p:spPr>
          <a:xfrm>
            <a:off x="2505456" y="3730752"/>
            <a:ext cx="969264" cy="438912"/>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120 ms</a:t>
            </a:r>
            <a:endParaRPr lang="en-US" sz="1300" dirty="0"/>
          </a:p>
        </p:txBody>
      </p:sp>
      <p:sp>
        <p:nvSpPr>
          <p:cNvPr id="25" name="Text 23"/>
          <p:cNvSpPr/>
          <p:nvPr/>
        </p:nvSpPr>
        <p:spPr>
          <a:xfrm>
            <a:off x="3712464" y="3730752"/>
            <a:ext cx="1060704" cy="438912"/>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3 tokens</a:t>
            </a:r>
            <a:endParaRPr lang="en-US" sz="1300" dirty="0"/>
          </a:p>
        </p:txBody>
      </p:sp>
      <p:sp>
        <p:nvSpPr>
          <p:cNvPr id="26" name="Text 24"/>
          <p:cNvSpPr/>
          <p:nvPr/>
        </p:nvSpPr>
        <p:spPr>
          <a:xfrm>
            <a:off x="5010912" y="3730752"/>
            <a:ext cx="1289304" cy="438912"/>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40 ms/token</a:t>
            </a:r>
            <a:endParaRPr lang="en-US" sz="1300" dirty="0"/>
          </a:p>
        </p:txBody>
      </p:sp>
      <p:sp>
        <p:nvSpPr>
          <p:cNvPr id="27" name="Shape 25"/>
          <p:cNvSpPr/>
          <p:nvPr/>
        </p:nvSpPr>
        <p:spPr>
          <a:xfrm>
            <a:off x="457200" y="4251960"/>
            <a:ext cx="5961888" cy="0"/>
          </a:xfrm>
          <a:prstGeom prst="line">
            <a:avLst/>
          </a:prstGeom>
          <a:noFill/>
          <a:ln w="8255">
            <a:solidFill>
              <a:srgbClr val="D8D8DE"/>
            </a:solidFill>
            <a:prstDash val="solid"/>
          </a:ln>
        </p:spPr>
      </p:sp>
      <p:sp>
        <p:nvSpPr>
          <p:cNvPr id="28" name="Shape 26"/>
          <p:cNvSpPr/>
          <p:nvPr/>
        </p:nvSpPr>
        <p:spPr>
          <a:xfrm>
            <a:off x="457200" y="4251960"/>
            <a:ext cx="5961888" cy="640080"/>
          </a:xfrm>
          <a:prstGeom prst="rect">
            <a:avLst/>
          </a:prstGeom>
          <a:solidFill>
            <a:srgbClr val="F0F0F3"/>
          </a:solidFill>
          <a:ln w="10160">
            <a:solidFill>
              <a:srgbClr val="F0F0F3"/>
            </a:solidFill>
            <a:prstDash val="solid"/>
          </a:ln>
        </p:spPr>
      </p:sp>
      <p:sp>
        <p:nvSpPr>
          <p:cNvPr id="29" name="Text 27"/>
          <p:cNvSpPr/>
          <p:nvPr/>
        </p:nvSpPr>
        <p:spPr>
          <a:xfrm>
            <a:off x="576072" y="4370832"/>
            <a:ext cx="1691640" cy="438912"/>
          </a:xfrm>
          <a:prstGeom prst="rect">
            <a:avLst/>
          </a:prstGeom>
          <a:noFill/>
          <a:ln/>
        </p:spPr>
        <p:txBody>
          <a:bodyPr wrap="square" lIns="0" tIns="0" rIns="0" bIns="0" rtlCol="0" anchor="t"/>
          <a:lstStyle/>
          <a:p>
            <a:pPr indent="0" marL="0">
              <a:buNone/>
            </a:pPr>
            <a:r>
              <a:rPr lang="en-US" sz="1300" b="1" dirty="0">
                <a:solidFill>
                  <a:srgbClr val="22212B"/>
                </a:solidFill>
                <a:latin typeface="Noto Sans" pitchFamily="34" charset="0"/>
                <a:ea typeface="Noto Sans" pitchFamily="34" charset="-122"/>
                <a:cs typeface="Noto Sans" pitchFamily="34" charset="-120"/>
              </a:rPr>
              <a:t>Low acceptance</a:t>
            </a:r>
            <a:endParaRPr lang="en-US" sz="1300" dirty="0"/>
          </a:p>
        </p:txBody>
      </p:sp>
      <p:sp>
        <p:nvSpPr>
          <p:cNvPr id="30" name="Text 28"/>
          <p:cNvSpPr/>
          <p:nvPr/>
        </p:nvSpPr>
        <p:spPr>
          <a:xfrm>
            <a:off x="2505456" y="4370832"/>
            <a:ext cx="969264" cy="438912"/>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120 ms</a:t>
            </a:r>
            <a:endParaRPr lang="en-US" sz="1300" dirty="0"/>
          </a:p>
        </p:txBody>
      </p:sp>
      <p:sp>
        <p:nvSpPr>
          <p:cNvPr id="31" name="Text 29"/>
          <p:cNvSpPr/>
          <p:nvPr/>
        </p:nvSpPr>
        <p:spPr>
          <a:xfrm>
            <a:off x="3712464" y="4370832"/>
            <a:ext cx="1060704" cy="438912"/>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1 token</a:t>
            </a:r>
            <a:endParaRPr lang="en-US" sz="1300" dirty="0"/>
          </a:p>
        </p:txBody>
      </p:sp>
      <p:sp>
        <p:nvSpPr>
          <p:cNvPr id="32" name="Text 30"/>
          <p:cNvSpPr/>
          <p:nvPr/>
        </p:nvSpPr>
        <p:spPr>
          <a:xfrm>
            <a:off x="5010912" y="4370832"/>
            <a:ext cx="1289304" cy="438912"/>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120 ms/token</a:t>
            </a:r>
            <a:endParaRPr lang="en-US" sz="1300" dirty="0"/>
          </a:p>
        </p:txBody>
      </p:sp>
      <p:sp>
        <p:nvSpPr>
          <p:cNvPr id="33" name="Shape 31"/>
          <p:cNvSpPr/>
          <p:nvPr/>
        </p:nvSpPr>
        <p:spPr>
          <a:xfrm>
            <a:off x="457200" y="4892040"/>
            <a:ext cx="5961888" cy="0"/>
          </a:xfrm>
          <a:prstGeom prst="line">
            <a:avLst/>
          </a:prstGeom>
          <a:noFill/>
          <a:ln w="8255">
            <a:solidFill>
              <a:srgbClr val="D8D8DE"/>
            </a:solidFill>
            <a:prstDash val="solid"/>
          </a:ln>
        </p:spPr>
      </p:sp>
      <p:sp>
        <p:nvSpPr>
          <p:cNvPr id="34" name="Shape 32"/>
          <p:cNvSpPr/>
          <p:nvPr/>
        </p:nvSpPr>
        <p:spPr>
          <a:xfrm>
            <a:off x="484632" y="5074920"/>
            <a:ext cx="5907024" cy="292608"/>
          </a:xfrm>
          <a:prstGeom prst="rect">
            <a:avLst/>
          </a:prstGeom>
          <a:solidFill>
            <a:srgbClr val="FBE9ED"/>
          </a:solidFill>
          <a:ln w="10160">
            <a:solidFill>
              <a:srgbClr val="FBE9ED"/>
            </a:solidFill>
            <a:prstDash val="solid"/>
          </a:ln>
        </p:spPr>
      </p:sp>
      <p:sp>
        <p:nvSpPr>
          <p:cNvPr id="35" name="Text 33"/>
          <p:cNvSpPr/>
          <p:nvPr/>
        </p:nvSpPr>
        <p:spPr>
          <a:xfrm>
            <a:off x="576072" y="5116068"/>
            <a:ext cx="5724144" cy="210312"/>
          </a:xfrm>
          <a:prstGeom prst="rect">
            <a:avLst/>
          </a:prstGeom>
          <a:noFill/>
          <a:ln/>
        </p:spPr>
        <p:txBody>
          <a:bodyPr wrap="square" lIns="0" tIns="0" rIns="0" bIns="0" rtlCol="0" anchor="t"/>
          <a:lstStyle/>
          <a:p>
            <a:pPr indent="0" marL="0">
              <a:buNone/>
            </a:pPr>
            <a:r>
              <a:rPr lang="en-US" sz="1000" b="1" dirty="0">
                <a:solidFill>
                  <a:srgbClr val="B90C2A"/>
                </a:solidFill>
                <a:latin typeface="Noto Sans" pitchFamily="34" charset="0"/>
                <a:ea typeface="Noto Sans" pitchFamily="34" charset="-122"/>
                <a:cs typeface="Noto Sans" pitchFamily="34" charset="-120"/>
              </a:rPr>
              <a:t>2× in the useful example; slower when acceptance is poor.</a:t>
            </a:r>
            <a:endParaRPr lang="en-US" sz="1000" dirty="0"/>
          </a:p>
        </p:txBody>
      </p:sp>
      <p:sp>
        <p:nvSpPr>
          <p:cNvPr id="36" name="Shape 34"/>
          <p:cNvSpPr/>
          <p:nvPr/>
        </p:nvSpPr>
        <p:spPr>
          <a:xfrm>
            <a:off x="6757416" y="2496312"/>
            <a:ext cx="4974336" cy="1572768"/>
          </a:xfrm>
          <a:prstGeom prst="rect">
            <a:avLst/>
          </a:prstGeom>
          <a:solidFill>
            <a:srgbClr val="FFFFFF"/>
          </a:solidFill>
          <a:ln w="10160">
            <a:solidFill>
              <a:srgbClr val="D8D8DE"/>
            </a:solidFill>
            <a:prstDash val="solid"/>
          </a:ln>
        </p:spPr>
      </p:sp>
      <p:sp>
        <p:nvSpPr>
          <p:cNvPr id="37" name="Shape 35"/>
          <p:cNvSpPr/>
          <p:nvPr/>
        </p:nvSpPr>
        <p:spPr>
          <a:xfrm>
            <a:off x="6757416" y="2496312"/>
            <a:ext cx="41148" cy="1572768"/>
          </a:xfrm>
          <a:prstGeom prst="rect">
            <a:avLst/>
          </a:prstGeom>
          <a:solidFill>
            <a:srgbClr val="E31837"/>
          </a:solidFill>
          <a:ln w="10160">
            <a:solidFill>
              <a:srgbClr val="E31837"/>
            </a:solidFill>
            <a:prstDash val="solid"/>
          </a:ln>
        </p:spPr>
      </p:sp>
      <p:sp>
        <p:nvSpPr>
          <p:cNvPr id="38" name="Text 36"/>
          <p:cNvSpPr/>
          <p:nvPr/>
        </p:nvSpPr>
        <p:spPr>
          <a:xfrm>
            <a:off x="6940296" y="2642616"/>
            <a:ext cx="4608576" cy="438912"/>
          </a:xfrm>
          <a:prstGeom prst="rect">
            <a:avLst/>
          </a:prstGeom>
          <a:noFill/>
          <a:ln/>
        </p:spPr>
        <p:txBody>
          <a:bodyPr wrap="square" lIns="0" tIns="0" rIns="0" bIns="0" rtlCol="0" anchor="t"/>
          <a:lstStyle/>
          <a:p>
            <a:pPr indent="0" marL="0">
              <a:buNone/>
            </a:pPr>
            <a:r>
              <a:rPr lang="en-US" sz="2000" b="1" dirty="0">
                <a:solidFill>
                  <a:srgbClr val="22212B"/>
                </a:solidFill>
                <a:latin typeface="Noto Sans" pitchFamily="34" charset="0"/>
                <a:ea typeface="Noto Sans" pitchFamily="34" charset="-122"/>
                <a:cs typeface="Noto Sans" pitchFamily="34" charset="-120"/>
              </a:rPr>
              <a:t>What we sell</a:t>
            </a:r>
            <a:endParaRPr lang="en-US" sz="2000" dirty="0"/>
          </a:p>
        </p:txBody>
      </p:sp>
      <p:sp>
        <p:nvSpPr>
          <p:cNvPr id="39" name="Text 37"/>
          <p:cNvSpPr/>
          <p:nvPr/>
        </p:nvSpPr>
        <p:spPr>
          <a:xfrm>
            <a:off x="6940296" y="3154680"/>
            <a:ext cx="4608576" cy="804672"/>
          </a:xfrm>
          <a:prstGeom prst="rect">
            <a:avLst/>
          </a:prstGeom>
          <a:noFill/>
          <a:ln/>
        </p:spPr>
        <p:txBody>
          <a:bodyPr wrap="square" lIns="0" tIns="0" rIns="0" bIns="0" rtlCol="0" anchor="t"/>
          <a:lstStyle/>
          <a:p>
            <a:pPr indent="0" marL="0">
              <a:buNone/>
            </a:pPr>
            <a:r>
              <a:rPr lang="en-US" sz="1500" dirty="0">
                <a:solidFill>
                  <a:srgbClr val="62636E"/>
                </a:solidFill>
                <a:latin typeface="Noto Sans" pitchFamily="34" charset="0"/>
                <a:ea typeface="Noto Sans" pitchFamily="34" charset="-122"/>
                <a:cs typeface="Noto Sans" pitchFamily="34" charset="-120"/>
              </a:rPr>
              <a:t>A qualified draft/target pair, block-verification scheduler, target-correct sampling, cache rollback and per-workload tuning.</a:t>
            </a:r>
            <a:endParaRPr lang="en-US" sz="1500" dirty="0"/>
          </a:p>
        </p:txBody>
      </p:sp>
      <p:sp>
        <p:nvSpPr>
          <p:cNvPr id="40" name="Shape 38"/>
          <p:cNvSpPr/>
          <p:nvPr/>
        </p:nvSpPr>
        <p:spPr>
          <a:xfrm>
            <a:off x="6757416" y="4251960"/>
            <a:ext cx="4974336" cy="1325880"/>
          </a:xfrm>
          <a:prstGeom prst="rect">
            <a:avLst/>
          </a:prstGeom>
          <a:solidFill>
            <a:srgbClr val="FFFFFF"/>
          </a:solidFill>
          <a:ln w="10160">
            <a:solidFill>
              <a:srgbClr val="D8D8DE"/>
            </a:solidFill>
            <a:prstDash val="solid"/>
          </a:ln>
        </p:spPr>
      </p:sp>
      <p:sp>
        <p:nvSpPr>
          <p:cNvPr id="41" name="Shape 39"/>
          <p:cNvSpPr/>
          <p:nvPr/>
        </p:nvSpPr>
        <p:spPr>
          <a:xfrm>
            <a:off x="6757416" y="4251960"/>
            <a:ext cx="41148" cy="1325880"/>
          </a:xfrm>
          <a:prstGeom prst="rect">
            <a:avLst/>
          </a:prstGeom>
          <a:solidFill>
            <a:srgbClr val="E31837"/>
          </a:solidFill>
          <a:ln w="10160">
            <a:solidFill>
              <a:srgbClr val="E31837"/>
            </a:solidFill>
            <a:prstDash val="solid"/>
          </a:ln>
        </p:spPr>
      </p:sp>
      <p:sp>
        <p:nvSpPr>
          <p:cNvPr id="42" name="Text 40"/>
          <p:cNvSpPr/>
          <p:nvPr/>
        </p:nvSpPr>
        <p:spPr>
          <a:xfrm>
            <a:off x="6940296" y="4398264"/>
            <a:ext cx="4608576" cy="438912"/>
          </a:xfrm>
          <a:prstGeom prst="rect">
            <a:avLst/>
          </a:prstGeom>
          <a:noFill/>
          <a:ln/>
        </p:spPr>
        <p:txBody>
          <a:bodyPr wrap="square" lIns="0" tIns="0" rIns="0" bIns="0" rtlCol="0" anchor="t"/>
          <a:lstStyle/>
          <a:p>
            <a:pPr indent="0" marL="0">
              <a:buNone/>
            </a:pPr>
            <a:r>
              <a:rPr lang="en-US" sz="1900" b="1" dirty="0">
                <a:solidFill>
                  <a:srgbClr val="22212B"/>
                </a:solidFill>
                <a:latin typeface="Noto Sans" pitchFamily="34" charset="0"/>
                <a:ea typeface="Noto Sans" pitchFamily="34" charset="-122"/>
                <a:cs typeface="Noto Sans" pitchFamily="34" charset="-120"/>
              </a:rPr>
              <a:t>Customer benefit to earn</a:t>
            </a:r>
            <a:endParaRPr lang="en-US" sz="1900" dirty="0"/>
          </a:p>
        </p:txBody>
      </p:sp>
      <p:sp>
        <p:nvSpPr>
          <p:cNvPr id="43" name="Text 41"/>
          <p:cNvSpPr/>
          <p:nvPr/>
        </p:nvSpPr>
        <p:spPr>
          <a:xfrm>
            <a:off x="6940296" y="4910328"/>
            <a:ext cx="4608576" cy="557784"/>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Faster long answers or more accepted output from the same ATMOS target group—without replacing its approved target model.</a:t>
            </a:r>
            <a:endParaRPr lang="en-US" sz="1450" dirty="0"/>
          </a:p>
        </p:txBody>
      </p:sp>
      <p:sp>
        <p:nvSpPr>
          <p:cNvPr id="44" name="Shape 42"/>
          <p:cNvSpPr/>
          <p:nvPr/>
        </p:nvSpPr>
        <p:spPr>
          <a:xfrm>
            <a:off x="438912" y="5705856"/>
            <a:ext cx="11311128" cy="512064"/>
          </a:xfrm>
          <a:prstGeom prst="rect">
            <a:avLst/>
          </a:prstGeom>
          <a:solidFill>
            <a:srgbClr val="FBE9ED"/>
          </a:solidFill>
          <a:ln w="10160">
            <a:solidFill>
              <a:srgbClr val="FBE9ED"/>
            </a:solidFill>
            <a:prstDash val="solid"/>
          </a:ln>
        </p:spPr>
      </p:sp>
      <p:sp>
        <p:nvSpPr>
          <p:cNvPr id="45" name="Text 43"/>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ADOPTION GATE</a:t>
            </a:r>
            <a:endParaRPr lang="en-US" sz="1300" dirty="0"/>
          </a:p>
        </p:txBody>
      </p:sp>
      <p:sp>
        <p:nvSpPr>
          <p:cNvPr id="46" name="Text 44"/>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Measure accepted tokens/s and latency after draft cost. Disable speculation when it loses.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COMMON APPLIANCE PLATFORM</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One ATMOS-first node—with optional GPU roles.</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Reference engineering study, not a validated BOM. Device-group size follows model and service needs.</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10</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[S4] EPYC CPU facts. [I1] Internal ATMOS targets. Host population, topology and working-memory reserve are proposed.</a:t>
            </a:r>
            <a:endParaRPr lang="en-US" sz="810" dirty="0"/>
          </a:p>
        </p:txBody>
      </p:sp>
      <p:sp>
        <p:nvSpPr>
          <p:cNvPr id="10" name="Shape 8"/>
          <p:cNvSpPr/>
          <p:nvPr/>
        </p:nvSpPr>
        <p:spPr>
          <a:xfrm>
            <a:off x="457200" y="2103120"/>
            <a:ext cx="4937760" cy="3136392"/>
          </a:xfrm>
          <a:prstGeom prst="rect">
            <a:avLst/>
          </a:prstGeom>
          <a:solidFill>
            <a:srgbClr val="FFFFFF"/>
          </a:solidFill>
          <a:ln w="10160">
            <a:solidFill>
              <a:srgbClr val="D8D8DE"/>
            </a:solidFill>
            <a:prstDash val="solid"/>
          </a:ln>
        </p:spPr>
      </p:sp>
      <p:sp>
        <p:nvSpPr>
          <p:cNvPr id="11" name="Shape 9"/>
          <p:cNvSpPr/>
          <p:nvPr/>
        </p:nvSpPr>
        <p:spPr>
          <a:xfrm>
            <a:off x="457200" y="2103120"/>
            <a:ext cx="41148" cy="3136392"/>
          </a:xfrm>
          <a:prstGeom prst="rect">
            <a:avLst/>
          </a:prstGeom>
          <a:solidFill>
            <a:srgbClr val="E31837"/>
          </a:solidFill>
          <a:ln w="10160">
            <a:solidFill>
              <a:srgbClr val="E31837"/>
            </a:solidFill>
            <a:prstDash val="solid"/>
          </a:ln>
        </p:spPr>
      </p:sp>
      <p:sp>
        <p:nvSpPr>
          <p:cNvPr id="12" name="Text 10"/>
          <p:cNvSpPr/>
          <p:nvPr/>
        </p:nvSpPr>
        <p:spPr>
          <a:xfrm>
            <a:off x="640080" y="2249424"/>
            <a:ext cx="4572000" cy="438912"/>
          </a:xfrm>
          <a:prstGeom prst="rect">
            <a:avLst/>
          </a:prstGeom>
          <a:noFill/>
          <a:ln/>
        </p:spPr>
        <p:txBody>
          <a:bodyPr wrap="square" lIns="0" tIns="0" rIns="0" bIns="0" rtlCol="0" anchor="t"/>
          <a:lstStyle/>
          <a:p>
            <a:pPr indent="0" marL="0">
              <a:buNone/>
            </a:pPr>
            <a:r>
              <a:rPr lang="en-US" sz="1900" b="1" dirty="0">
                <a:solidFill>
                  <a:srgbClr val="22212B"/>
                </a:solidFill>
                <a:latin typeface="Noto Sans" pitchFamily="34" charset="0"/>
                <a:ea typeface="Noto Sans" pitchFamily="34" charset="-122"/>
                <a:cs typeface="Noto Sans" pitchFamily="34" charset="-120"/>
              </a:rPr>
              <a:t>HOST / CONTROL PLANE</a:t>
            </a:r>
            <a:endParaRPr lang="en-US" sz="1900" dirty="0"/>
          </a:p>
        </p:txBody>
      </p:sp>
      <p:sp>
        <p:nvSpPr>
          <p:cNvPr id="13" name="Text 11"/>
          <p:cNvSpPr/>
          <p:nvPr/>
        </p:nvSpPr>
        <p:spPr>
          <a:xfrm>
            <a:off x="640080" y="2761488"/>
            <a:ext cx="4572000" cy="2368296"/>
          </a:xfrm>
          <a:prstGeom prst="rect">
            <a:avLst/>
          </a:prstGeom>
          <a:noFill/>
          <a:ln/>
        </p:spPr>
        <p:txBody>
          <a:bodyPr wrap="square" lIns="0" tIns="0" rIns="0" bIns="0" rtlCol="0" anchor="t"/>
          <a:lstStyle/>
          <a:p>
            <a:pPr indent="0" marL="0">
              <a:buNone/>
            </a:pPr>
            <a:r>
              <a:rPr lang="en-US" sz="1500" dirty="0">
                <a:solidFill>
                  <a:srgbClr val="62636E"/>
                </a:solidFill>
                <a:latin typeface="Noto Sans" pitchFamily="34" charset="0"/>
                <a:ea typeface="Noto Sans" pitchFamily="34" charset="-122"/>
                <a:cs typeface="Noto Sans" pitchFamily="34" charset="-120"/>
              </a:rPr>
              <a:t>EPYC 9355P reference: 32 cores</a:t>
            </a:r>
            <a:endParaRPr lang="en-US" sz="1500" dirty="0"/>
          </a:p>
          <a:p>
            <a:pPr indent="0" marL="0">
              <a:buNone/>
            </a:pPr>
            <a:r>
              <a:rPr lang="en-US" sz="1500" dirty="0">
                <a:solidFill>
                  <a:srgbClr val="62636E"/>
                </a:solidFill>
                <a:latin typeface="Noto Sans" pitchFamily="34" charset="0"/>
                <a:ea typeface="Noto Sans" pitchFamily="34" charset="-122"/>
                <a:cs typeface="Noto Sans" pitchFamily="34" charset="-120"/>
              </a:rPr>
              <a:t>128 PCIe Gen5 lanes • 12 DDR5 channels</a:t>
            </a:r>
            <a:endParaRPr lang="en-US" sz="1500" dirty="0"/>
          </a:p>
          <a:p>
            <a:pPr indent="0" marL="0">
              <a:buNone/>
            </a:pPr>
            <a:endParaRPr lang="en-US" sz="1500" dirty="0"/>
          </a:p>
          <a:p>
            <a:pPr indent="0" marL="0">
              <a:buNone/>
            </a:pPr>
            <a:r>
              <a:rPr lang="en-US" sz="1500" dirty="0">
                <a:solidFill>
                  <a:srgbClr val="62636E"/>
                </a:solidFill>
                <a:latin typeface="Noto Sans" pitchFamily="34" charset="0"/>
                <a:ea typeface="Noto Sans" pitchFamily="34" charset="-122"/>
                <a:cs typeface="Noto Sans" pitchFamily="34" charset="-120"/>
              </a:rPr>
              <a:t>Proposed: 384 GB DDR5</a:t>
            </a:r>
            <a:endParaRPr lang="en-US" sz="1500" dirty="0"/>
          </a:p>
          <a:p>
            <a:pPr indent="0" marL="0">
              <a:buNone/>
            </a:pPr>
            <a:r>
              <a:rPr lang="en-US" sz="1500" dirty="0">
                <a:solidFill>
                  <a:srgbClr val="62636E"/>
                </a:solidFill>
                <a:latin typeface="Noto Sans" pitchFamily="34" charset="0"/>
                <a:ea typeface="Noto Sans" pitchFamily="34" charset="-122"/>
                <a:cs typeface="Noto Sans" pitchFamily="34" charset="-120"/>
              </a:rPr>
              <a:t>2 × 3.84 TB mirrored NVMe</a:t>
            </a:r>
            <a:endParaRPr lang="en-US" sz="1500" dirty="0"/>
          </a:p>
          <a:p>
            <a:pPr indent="0" marL="0">
              <a:buNone/>
            </a:pPr>
            <a:r>
              <a:rPr lang="en-US" sz="1500" dirty="0">
                <a:solidFill>
                  <a:srgbClr val="62636E"/>
                </a:solidFill>
                <a:latin typeface="Noto Sans" pitchFamily="34" charset="0"/>
                <a:ea typeface="Noto Sans" pitchFamily="34" charset="-122"/>
                <a:cs typeface="Noto Sans" pitchFamily="34" charset="-120"/>
              </a:rPr>
              <a:t>Dual 100 GbE • BMC • redundant power</a:t>
            </a:r>
            <a:endParaRPr lang="en-US" sz="1500" dirty="0"/>
          </a:p>
        </p:txBody>
      </p:sp>
      <p:sp>
        <p:nvSpPr>
          <p:cNvPr id="14" name="Shape 12"/>
          <p:cNvSpPr/>
          <p:nvPr/>
        </p:nvSpPr>
        <p:spPr>
          <a:xfrm>
            <a:off x="5632704" y="2103120"/>
            <a:ext cx="6099048" cy="3136392"/>
          </a:xfrm>
          <a:prstGeom prst="rect">
            <a:avLst/>
          </a:prstGeom>
          <a:solidFill>
            <a:srgbClr val="FFFFFF"/>
          </a:solidFill>
          <a:ln w="10160">
            <a:solidFill>
              <a:srgbClr val="D8D8DE"/>
            </a:solidFill>
            <a:prstDash val="solid"/>
          </a:ln>
        </p:spPr>
      </p:sp>
      <p:sp>
        <p:nvSpPr>
          <p:cNvPr id="15" name="Text 13"/>
          <p:cNvSpPr/>
          <p:nvPr/>
        </p:nvSpPr>
        <p:spPr>
          <a:xfrm>
            <a:off x="5833872" y="2313432"/>
            <a:ext cx="557784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ATMOS EXECUTION PLANE — 8-DEVICE STUDY</a:t>
            </a:r>
            <a:endParaRPr lang="en-US" sz="1000" dirty="0"/>
          </a:p>
        </p:txBody>
      </p:sp>
      <p:sp>
        <p:nvSpPr>
          <p:cNvPr id="16" name="Shape 14"/>
          <p:cNvSpPr/>
          <p:nvPr/>
        </p:nvSpPr>
        <p:spPr>
          <a:xfrm>
            <a:off x="5861304" y="2788920"/>
            <a:ext cx="548640" cy="585216"/>
          </a:xfrm>
          <a:prstGeom prst="rect">
            <a:avLst/>
          </a:prstGeom>
          <a:solidFill>
            <a:srgbClr val="E31837"/>
          </a:solidFill>
          <a:ln w="10160">
            <a:solidFill>
              <a:srgbClr val="E31837"/>
            </a:solidFill>
            <a:prstDash val="solid"/>
          </a:ln>
        </p:spPr>
      </p:sp>
      <p:sp>
        <p:nvSpPr>
          <p:cNvPr id="17" name="Text 15"/>
          <p:cNvSpPr/>
          <p:nvPr/>
        </p:nvSpPr>
        <p:spPr>
          <a:xfrm>
            <a:off x="5861304" y="2962656"/>
            <a:ext cx="548640" cy="219456"/>
          </a:xfrm>
          <a:prstGeom prst="rect">
            <a:avLst/>
          </a:prstGeom>
          <a:noFill/>
          <a:ln/>
        </p:spPr>
        <p:txBody>
          <a:bodyPr wrap="square" lIns="0" tIns="0" rIns="0" bIns="0" rtlCol="0" anchor="t"/>
          <a:lstStyle/>
          <a:p>
            <a:pPr algn="ctr" indent="0" marL="0">
              <a:buNone/>
            </a:pPr>
            <a:r>
              <a:rPr lang="en-US" sz="1400" b="1" dirty="0">
                <a:solidFill>
                  <a:srgbClr val="FFFFFF"/>
                </a:solidFill>
                <a:latin typeface="Noto Sans" pitchFamily="34" charset="0"/>
                <a:ea typeface="Noto Sans" pitchFamily="34" charset="-122"/>
                <a:cs typeface="Noto Sans" pitchFamily="34" charset="-120"/>
              </a:rPr>
              <a:t>A0</a:t>
            </a:r>
            <a:endParaRPr lang="en-US" sz="1400" dirty="0"/>
          </a:p>
        </p:txBody>
      </p:sp>
      <p:sp>
        <p:nvSpPr>
          <p:cNvPr id="18" name="Shape 16"/>
          <p:cNvSpPr/>
          <p:nvPr/>
        </p:nvSpPr>
        <p:spPr>
          <a:xfrm>
            <a:off x="6547104" y="2788920"/>
            <a:ext cx="548640" cy="585216"/>
          </a:xfrm>
          <a:prstGeom prst="rect">
            <a:avLst/>
          </a:prstGeom>
          <a:solidFill>
            <a:srgbClr val="E31837"/>
          </a:solidFill>
          <a:ln w="10160">
            <a:solidFill>
              <a:srgbClr val="E31837"/>
            </a:solidFill>
            <a:prstDash val="solid"/>
          </a:ln>
        </p:spPr>
      </p:sp>
      <p:sp>
        <p:nvSpPr>
          <p:cNvPr id="19" name="Text 17"/>
          <p:cNvSpPr/>
          <p:nvPr/>
        </p:nvSpPr>
        <p:spPr>
          <a:xfrm>
            <a:off x="6547104" y="2962656"/>
            <a:ext cx="548640" cy="219456"/>
          </a:xfrm>
          <a:prstGeom prst="rect">
            <a:avLst/>
          </a:prstGeom>
          <a:noFill/>
          <a:ln/>
        </p:spPr>
        <p:txBody>
          <a:bodyPr wrap="square" lIns="0" tIns="0" rIns="0" bIns="0" rtlCol="0" anchor="t"/>
          <a:lstStyle/>
          <a:p>
            <a:pPr algn="ctr" indent="0" marL="0">
              <a:buNone/>
            </a:pPr>
            <a:r>
              <a:rPr lang="en-US" sz="1400" b="1" dirty="0">
                <a:solidFill>
                  <a:srgbClr val="FFFFFF"/>
                </a:solidFill>
                <a:latin typeface="Noto Sans" pitchFamily="34" charset="0"/>
                <a:ea typeface="Noto Sans" pitchFamily="34" charset="-122"/>
                <a:cs typeface="Noto Sans" pitchFamily="34" charset="-120"/>
              </a:rPr>
              <a:t>A1</a:t>
            </a:r>
            <a:endParaRPr lang="en-US" sz="1400" dirty="0"/>
          </a:p>
        </p:txBody>
      </p:sp>
      <p:sp>
        <p:nvSpPr>
          <p:cNvPr id="20" name="Shape 18"/>
          <p:cNvSpPr/>
          <p:nvPr/>
        </p:nvSpPr>
        <p:spPr>
          <a:xfrm>
            <a:off x="7232904" y="2788920"/>
            <a:ext cx="548640" cy="585216"/>
          </a:xfrm>
          <a:prstGeom prst="rect">
            <a:avLst/>
          </a:prstGeom>
          <a:solidFill>
            <a:srgbClr val="E31837"/>
          </a:solidFill>
          <a:ln w="10160">
            <a:solidFill>
              <a:srgbClr val="E31837"/>
            </a:solidFill>
            <a:prstDash val="solid"/>
          </a:ln>
        </p:spPr>
      </p:sp>
      <p:sp>
        <p:nvSpPr>
          <p:cNvPr id="21" name="Text 19"/>
          <p:cNvSpPr/>
          <p:nvPr/>
        </p:nvSpPr>
        <p:spPr>
          <a:xfrm>
            <a:off x="7232904" y="2962656"/>
            <a:ext cx="548640" cy="219456"/>
          </a:xfrm>
          <a:prstGeom prst="rect">
            <a:avLst/>
          </a:prstGeom>
          <a:noFill/>
          <a:ln/>
        </p:spPr>
        <p:txBody>
          <a:bodyPr wrap="square" lIns="0" tIns="0" rIns="0" bIns="0" rtlCol="0" anchor="t"/>
          <a:lstStyle/>
          <a:p>
            <a:pPr algn="ctr" indent="0" marL="0">
              <a:buNone/>
            </a:pPr>
            <a:r>
              <a:rPr lang="en-US" sz="1400" b="1" dirty="0">
                <a:solidFill>
                  <a:srgbClr val="FFFFFF"/>
                </a:solidFill>
                <a:latin typeface="Noto Sans" pitchFamily="34" charset="0"/>
                <a:ea typeface="Noto Sans" pitchFamily="34" charset="-122"/>
                <a:cs typeface="Noto Sans" pitchFamily="34" charset="-120"/>
              </a:rPr>
              <a:t>A2</a:t>
            </a:r>
            <a:endParaRPr lang="en-US" sz="1400" dirty="0"/>
          </a:p>
        </p:txBody>
      </p:sp>
      <p:sp>
        <p:nvSpPr>
          <p:cNvPr id="22" name="Shape 20"/>
          <p:cNvSpPr/>
          <p:nvPr/>
        </p:nvSpPr>
        <p:spPr>
          <a:xfrm>
            <a:off x="7918704" y="2788920"/>
            <a:ext cx="548640" cy="585216"/>
          </a:xfrm>
          <a:prstGeom prst="rect">
            <a:avLst/>
          </a:prstGeom>
          <a:solidFill>
            <a:srgbClr val="E31837"/>
          </a:solidFill>
          <a:ln w="10160">
            <a:solidFill>
              <a:srgbClr val="E31837"/>
            </a:solidFill>
            <a:prstDash val="solid"/>
          </a:ln>
        </p:spPr>
      </p:sp>
      <p:sp>
        <p:nvSpPr>
          <p:cNvPr id="23" name="Text 21"/>
          <p:cNvSpPr/>
          <p:nvPr/>
        </p:nvSpPr>
        <p:spPr>
          <a:xfrm>
            <a:off x="7918704" y="2962656"/>
            <a:ext cx="548640" cy="219456"/>
          </a:xfrm>
          <a:prstGeom prst="rect">
            <a:avLst/>
          </a:prstGeom>
          <a:noFill/>
          <a:ln/>
        </p:spPr>
        <p:txBody>
          <a:bodyPr wrap="square" lIns="0" tIns="0" rIns="0" bIns="0" rtlCol="0" anchor="t"/>
          <a:lstStyle/>
          <a:p>
            <a:pPr algn="ctr" indent="0" marL="0">
              <a:buNone/>
            </a:pPr>
            <a:r>
              <a:rPr lang="en-US" sz="1400" b="1" dirty="0">
                <a:solidFill>
                  <a:srgbClr val="FFFFFF"/>
                </a:solidFill>
                <a:latin typeface="Noto Sans" pitchFamily="34" charset="0"/>
                <a:ea typeface="Noto Sans" pitchFamily="34" charset="-122"/>
                <a:cs typeface="Noto Sans" pitchFamily="34" charset="-120"/>
              </a:rPr>
              <a:t>A3</a:t>
            </a:r>
            <a:endParaRPr lang="en-US" sz="1400" dirty="0"/>
          </a:p>
        </p:txBody>
      </p:sp>
      <p:sp>
        <p:nvSpPr>
          <p:cNvPr id="24" name="Shape 22"/>
          <p:cNvSpPr/>
          <p:nvPr/>
        </p:nvSpPr>
        <p:spPr>
          <a:xfrm>
            <a:off x="8604504" y="2788920"/>
            <a:ext cx="548640" cy="585216"/>
          </a:xfrm>
          <a:prstGeom prst="rect">
            <a:avLst/>
          </a:prstGeom>
          <a:solidFill>
            <a:srgbClr val="E31837"/>
          </a:solidFill>
          <a:ln w="10160">
            <a:solidFill>
              <a:srgbClr val="E31837"/>
            </a:solidFill>
            <a:prstDash val="solid"/>
          </a:ln>
        </p:spPr>
      </p:sp>
      <p:sp>
        <p:nvSpPr>
          <p:cNvPr id="25" name="Text 23"/>
          <p:cNvSpPr/>
          <p:nvPr/>
        </p:nvSpPr>
        <p:spPr>
          <a:xfrm>
            <a:off x="8604504" y="2962656"/>
            <a:ext cx="548640" cy="219456"/>
          </a:xfrm>
          <a:prstGeom prst="rect">
            <a:avLst/>
          </a:prstGeom>
          <a:noFill/>
          <a:ln/>
        </p:spPr>
        <p:txBody>
          <a:bodyPr wrap="square" lIns="0" tIns="0" rIns="0" bIns="0" rtlCol="0" anchor="t"/>
          <a:lstStyle/>
          <a:p>
            <a:pPr algn="ctr" indent="0" marL="0">
              <a:buNone/>
            </a:pPr>
            <a:r>
              <a:rPr lang="en-US" sz="1400" b="1" dirty="0">
                <a:solidFill>
                  <a:srgbClr val="FFFFFF"/>
                </a:solidFill>
                <a:latin typeface="Noto Sans" pitchFamily="34" charset="0"/>
                <a:ea typeface="Noto Sans" pitchFamily="34" charset="-122"/>
                <a:cs typeface="Noto Sans" pitchFamily="34" charset="-120"/>
              </a:rPr>
              <a:t>A4</a:t>
            </a:r>
            <a:endParaRPr lang="en-US" sz="1400" dirty="0"/>
          </a:p>
        </p:txBody>
      </p:sp>
      <p:sp>
        <p:nvSpPr>
          <p:cNvPr id="26" name="Shape 24"/>
          <p:cNvSpPr/>
          <p:nvPr/>
        </p:nvSpPr>
        <p:spPr>
          <a:xfrm>
            <a:off x="9290304" y="2788920"/>
            <a:ext cx="548640" cy="585216"/>
          </a:xfrm>
          <a:prstGeom prst="rect">
            <a:avLst/>
          </a:prstGeom>
          <a:solidFill>
            <a:srgbClr val="E31837"/>
          </a:solidFill>
          <a:ln w="10160">
            <a:solidFill>
              <a:srgbClr val="E31837"/>
            </a:solidFill>
            <a:prstDash val="solid"/>
          </a:ln>
        </p:spPr>
      </p:sp>
      <p:sp>
        <p:nvSpPr>
          <p:cNvPr id="27" name="Text 25"/>
          <p:cNvSpPr/>
          <p:nvPr/>
        </p:nvSpPr>
        <p:spPr>
          <a:xfrm>
            <a:off x="9290304" y="2962656"/>
            <a:ext cx="548640" cy="219456"/>
          </a:xfrm>
          <a:prstGeom prst="rect">
            <a:avLst/>
          </a:prstGeom>
          <a:noFill/>
          <a:ln/>
        </p:spPr>
        <p:txBody>
          <a:bodyPr wrap="square" lIns="0" tIns="0" rIns="0" bIns="0" rtlCol="0" anchor="t"/>
          <a:lstStyle/>
          <a:p>
            <a:pPr algn="ctr" indent="0" marL="0">
              <a:buNone/>
            </a:pPr>
            <a:r>
              <a:rPr lang="en-US" sz="1400" b="1" dirty="0">
                <a:solidFill>
                  <a:srgbClr val="FFFFFF"/>
                </a:solidFill>
                <a:latin typeface="Noto Sans" pitchFamily="34" charset="0"/>
                <a:ea typeface="Noto Sans" pitchFamily="34" charset="-122"/>
                <a:cs typeface="Noto Sans" pitchFamily="34" charset="-120"/>
              </a:rPr>
              <a:t>A5</a:t>
            </a:r>
            <a:endParaRPr lang="en-US" sz="1400" dirty="0"/>
          </a:p>
        </p:txBody>
      </p:sp>
      <p:sp>
        <p:nvSpPr>
          <p:cNvPr id="28" name="Shape 26"/>
          <p:cNvSpPr/>
          <p:nvPr/>
        </p:nvSpPr>
        <p:spPr>
          <a:xfrm>
            <a:off x="9976104" y="2788920"/>
            <a:ext cx="548640" cy="585216"/>
          </a:xfrm>
          <a:prstGeom prst="rect">
            <a:avLst/>
          </a:prstGeom>
          <a:solidFill>
            <a:srgbClr val="E31837"/>
          </a:solidFill>
          <a:ln w="10160">
            <a:solidFill>
              <a:srgbClr val="E31837"/>
            </a:solidFill>
            <a:prstDash val="solid"/>
          </a:ln>
        </p:spPr>
      </p:sp>
      <p:sp>
        <p:nvSpPr>
          <p:cNvPr id="29" name="Text 27"/>
          <p:cNvSpPr/>
          <p:nvPr/>
        </p:nvSpPr>
        <p:spPr>
          <a:xfrm>
            <a:off x="9976104" y="2962656"/>
            <a:ext cx="548640" cy="219456"/>
          </a:xfrm>
          <a:prstGeom prst="rect">
            <a:avLst/>
          </a:prstGeom>
          <a:noFill/>
          <a:ln/>
        </p:spPr>
        <p:txBody>
          <a:bodyPr wrap="square" lIns="0" tIns="0" rIns="0" bIns="0" rtlCol="0" anchor="t"/>
          <a:lstStyle/>
          <a:p>
            <a:pPr algn="ctr" indent="0" marL="0">
              <a:buNone/>
            </a:pPr>
            <a:r>
              <a:rPr lang="en-US" sz="1400" b="1" dirty="0">
                <a:solidFill>
                  <a:srgbClr val="FFFFFF"/>
                </a:solidFill>
                <a:latin typeface="Noto Sans" pitchFamily="34" charset="0"/>
                <a:ea typeface="Noto Sans" pitchFamily="34" charset="-122"/>
                <a:cs typeface="Noto Sans" pitchFamily="34" charset="-120"/>
              </a:rPr>
              <a:t>A6</a:t>
            </a:r>
            <a:endParaRPr lang="en-US" sz="1400" dirty="0"/>
          </a:p>
        </p:txBody>
      </p:sp>
      <p:sp>
        <p:nvSpPr>
          <p:cNvPr id="30" name="Shape 28"/>
          <p:cNvSpPr/>
          <p:nvPr/>
        </p:nvSpPr>
        <p:spPr>
          <a:xfrm>
            <a:off x="10661904" y="2788920"/>
            <a:ext cx="548640" cy="585216"/>
          </a:xfrm>
          <a:prstGeom prst="rect">
            <a:avLst/>
          </a:prstGeom>
          <a:solidFill>
            <a:srgbClr val="E31837"/>
          </a:solidFill>
          <a:ln w="10160">
            <a:solidFill>
              <a:srgbClr val="E31837"/>
            </a:solidFill>
            <a:prstDash val="solid"/>
          </a:ln>
        </p:spPr>
      </p:sp>
      <p:sp>
        <p:nvSpPr>
          <p:cNvPr id="31" name="Text 29"/>
          <p:cNvSpPr/>
          <p:nvPr/>
        </p:nvSpPr>
        <p:spPr>
          <a:xfrm>
            <a:off x="10661904" y="2962656"/>
            <a:ext cx="548640" cy="219456"/>
          </a:xfrm>
          <a:prstGeom prst="rect">
            <a:avLst/>
          </a:prstGeom>
          <a:noFill/>
          <a:ln/>
        </p:spPr>
        <p:txBody>
          <a:bodyPr wrap="square" lIns="0" tIns="0" rIns="0" bIns="0" rtlCol="0" anchor="t"/>
          <a:lstStyle/>
          <a:p>
            <a:pPr algn="ctr" indent="0" marL="0">
              <a:buNone/>
            </a:pPr>
            <a:r>
              <a:rPr lang="en-US" sz="1400" b="1" dirty="0">
                <a:solidFill>
                  <a:srgbClr val="FFFFFF"/>
                </a:solidFill>
                <a:latin typeface="Noto Sans" pitchFamily="34" charset="0"/>
                <a:ea typeface="Noto Sans" pitchFamily="34" charset="-122"/>
                <a:cs typeface="Noto Sans" pitchFamily="34" charset="-120"/>
              </a:rPr>
              <a:t>A7</a:t>
            </a:r>
            <a:endParaRPr lang="en-US" sz="1400" dirty="0"/>
          </a:p>
        </p:txBody>
      </p:sp>
      <p:sp>
        <p:nvSpPr>
          <p:cNvPr id="32" name="Text 30"/>
          <p:cNvSpPr/>
          <p:nvPr/>
        </p:nvSpPr>
        <p:spPr>
          <a:xfrm>
            <a:off x="5852160" y="3639312"/>
            <a:ext cx="5614416" cy="1033272"/>
          </a:xfrm>
          <a:prstGeom prst="rect">
            <a:avLst/>
          </a:prstGeom>
          <a:noFill/>
          <a:ln/>
        </p:spPr>
        <p:txBody>
          <a:bodyPr wrap="square" lIns="0" tIns="0" rIns="0" bIns="0" rtlCol="0" anchor="t"/>
          <a:lstStyle/>
          <a:p>
            <a:pPr indent="0" marL="0">
              <a:buNone/>
            </a:pPr>
            <a:r>
              <a:rPr lang="en-US" sz="1500" b="1" dirty="0">
                <a:solidFill>
                  <a:srgbClr val="22212B"/>
                </a:solidFill>
                <a:latin typeface="Noto Sans" pitchFamily="34" charset="0"/>
                <a:ea typeface="Noto Sans" pitchFamily="34" charset="-122"/>
                <a:cs typeface="Noto Sans" pitchFamily="34" charset="-120"/>
              </a:rPr>
              <a:t>1,024 GB nominal HBF / 800 GB study budget</a:t>
            </a:r>
            <a:endParaRPr lang="en-US" sz="1500" dirty="0"/>
          </a:p>
          <a:p>
            <a:pPr indent="0" marL="0">
              <a:buNone/>
            </a:pPr>
            <a:r>
              <a:rPr lang="en-US" sz="1500" b="1" dirty="0">
                <a:solidFill>
                  <a:srgbClr val="22212B"/>
                </a:solidFill>
                <a:latin typeface="Noto Sans" pitchFamily="34" charset="0"/>
                <a:ea typeface="Noto Sans" pitchFamily="34" charset="-122"/>
                <a:cs typeface="Noto Sans" pitchFamily="34" charset="-120"/>
              </a:rPr>
              <a:t>128 GB LPDDR at the 16 GB/module target</a:t>
            </a:r>
            <a:endParaRPr lang="en-US" sz="1500" dirty="0"/>
          </a:p>
          <a:p>
            <a:pPr indent="0" marL="0">
              <a:buNone/>
            </a:pPr>
            <a:r>
              <a:rPr lang="en-US" sz="1500" b="1" dirty="0">
                <a:solidFill>
                  <a:srgbClr val="22212B"/>
                </a:solidFill>
                <a:latin typeface="Noto Sans" pitchFamily="34" charset="0"/>
                <a:ea typeface="Noto Sans" pitchFamily="34" charset="-122"/>
                <a:cs typeface="Noto Sans" pitchFamily="34" charset="-120"/>
              </a:rPr>
              <a:t>96 GB after a provisional 4 GB/device reserve</a:t>
            </a:r>
            <a:endParaRPr lang="en-US" sz="1500" dirty="0"/>
          </a:p>
        </p:txBody>
      </p:sp>
      <p:sp>
        <p:nvSpPr>
          <p:cNvPr id="33" name="Text 31"/>
          <p:cNvSpPr/>
          <p:nvPr/>
        </p:nvSpPr>
        <p:spPr>
          <a:xfrm>
            <a:off x="5861304" y="4654296"/>
            <a:ext cx="5596128" cy="429768"/>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2 × (Gen5 x16 → 4 × Gen5 x4) study branches.</a:t>
            </a:r>
            <a:endParaRPr lang="en-US" sz="1250" dirty="0"/>
          </a:p>
          <a:p>
            <a:pPr indent="0" marL="0">
              <a:buNone/>
            </a:pPr>
            <a:r>
              <a:rPr lang="en-US" sz="1250" dirty="0">
                <a:solidFill>
                  <a:srgbClr val="62636E"/>
                </a:solidFill>
                <a:latin typeface="Noto Sans" pitchFamily="34" charset="0"/>
                <a:ea typeface="Noto Sans" pitchFamily="34" charset="-122"/>
                <a:cs typeface="Noto Sans" pitchFamily="34" charset="-120"/>
              </a:rPr>
              <a:t>Native device fabric and per-device KV fit remain open gates.</a:t>
            </a:r>
            <a:endParaRPr lang="en-US" sz="1250" dirty="0"/>
          </a:p>
        </p:txBody>
      </p:sp>
      <p:sp>
        <p:nvSpPr>
          <p:cNvPr id="34" name="Shape 32"/>
          <p:cNvSpPr/>
          <p:nvPr/>
        </p:nvSpPr>
        <p:spPr>
          <a:xfrm>
            <a:off x="457200" y="5522976"/>
            <a:ext cx="3639312" cy="292608"/>
          </a:xfrm>
          <a:prstGeom prst="rect">
            <a:avLst/>
          </a:prstGeom>
          <a:solidFill>
            <a:srgbClr val="FBE9ED"/>
          </a:solidFill>
          <a:ln w="10160">
            <a:solidFill>
              <a:srgbClr val="FBE9ED"/>
            </a:solidFill>
            <a:prstDash val="solid"/>
          </a:ln>
        </p:spPr>
      </p:sp>
      <p:sp>
        <p:nvSpPr>
          <p:cNvPr id="35" name="Text 33"/>
          <p:cNvSpPr/>
          <p:nvPr/>
        </p:nvSpPr>
        <p:spPr>
          <a:xfrm>
            <a:off x="548640" y="5564124"/>
            <a:ext cx="3456432"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A  No GPU required</a:t>
            </a:r>
            <a:endParaRPr lang="en-US" sz="1000" dirty="0"/>
          </a:p>
        </p:txBody>
      </p:sp>
      <p:sp>
        <p:nvSpPr>
          <p:cNvPr id="36" name="Shape 34"/>
          <p:cNvSpPr/>
          <p:nvPr/>
        </p:nvSpPr>
        <p:spPr>
          <a:xfrm>
            <a:off x="4279392" y="5522976"/>
            <a:ext cx="3639312" cy="292608"/>
          </a:xfrm>
          <a:prstGeom prst="rect">
            <a:avLst/>
          </a:prstGeom>
          <a:solidFill>
            <a:srgbClr val="F0F0F3"/>
          </a:solidFill>
          <a:ln w="10160">
            <a:solidFill>
              <a:srgbClr val="F0F0F3"/>
            </a:solidFill>
            <a:prstDash val="solid"/>
          </a:ln>
        </p:spPr>
      </p:sp>
      <p:sp>
        <p:nvSpPr>
          <p:cNvPr id="37" name="Text 35"/>
          <p:cNvSpPr/>
          <p:nvPr/>
        </p:nvSpPr>
        <p:spPr>
          <a:xfrm>
            <a:off x="4370832" y="5564124"/>
            <a:ext cx="3456432" cy="210312"/>
          </a:xfrm>
          <a:prstGeom prst="rect">
            <a:avLst/>
          </a:prstGeom>
          <a:noFill/>
          <a:ln/>
        </p:spPr>
        <p:txBody>
          <a:bodyPr wrap="square" lIns="0" tIns="0" rIns="0" bIns="0" rtlCol="0" anchor="t"/>
          <a:lstStyle/>
          <a:p>
            <a:pPr indent="0" marL="0">
              <a:buNone/>
            </a:pPr>
            <a:r>
              <a:rPr lang="en-US" sz="1000" b="1" dirty="0">
                <a:solidFill>
                  <a:srgbClr val="22212B"/>
                </a:solidFill>
                <a:latin typeface="Noto Sans" pitchFamily="34" charset="0"/>
                <a:ea typeface="Noto Sans" pitchFamily="34" charset="-122"/>
                <a:cs typeface="Noto Sans" pitchFamily="34" charset="-120"/>
              </a:rPr>
              <a:t>B  Qualified GPU prefill pool</a:t>
            </a:r>
            <a:endParaRPr lang="en-US" sz="1000" dirty="0"/>
          </a:p>
        </p:txBody>
      </p:sp>
      <p:sp>
        <p:nvSpPr>
          <p:cNvPr id="38" name="Shape 36"/>
          <p:cNvSpPr/>
          <p:nvPr/>
        </p:nvSpPr>
        <p:spPr>
          <a:xfrm>
            <a:off x="8101584" y="5522976"/>
            <a:ext cx="3639312" cy="292608"/>
          </a:xfrm>
          <a:prstGeom prst="rect">
            <a:avLst/>
          </a:prstGeom>
          <a:solidFill>
            <a:srgbClr val="F0F0F3"/>
          </a:solidFill>
          <a:ln w="10160">
            <a:solidFill>
              <a:srgbClr val="F0F0F3"/>
            </a:solidFill>
            <a:prstDash val="solid"/>
          </a:ln>
        </p:spPr>
      </p:sp>
      <p:sp>
        <p:nvSpPr>
          <p:cNvPr id="39" name="Text 37"/>
          <p:cNvSpPr/>
          <p:nvPr/>
        </p:nvSpPr>
        <p:spPr>
          <a:xfrm>
            <a:off x="8193024" y="5564124"/>
            <a:ext cx="3456432" cy="210312"/>
          </a:xfrm>
          <a:prstGeom prst="rect">
            <a:avLst/>
          </a:prstGeom>
          <a:noFill/>
          <a:ln/>
        </p:spPr>
        <p:txBody>
          <a:bodyPr wrap="square" lIns="0" tIns="0" rIns="0" bIns="0" rtlCol="0" anchor="t"/>
          <a:lstStyle/>
          <a:p>
            <a:pPr indent="0" marL="0">
              <a:buNone/>
            </a:pPr>
            <a:r>
              <a:rPr lang="en-US" sz="1000" b="1" dirty="0">
                <a:solidFill>
                  <a:srgbClr val="22212B"/>
                </a:solidFill>
                <a:latin typeface="Noto Sans" pitchFamily="34" charset="0"/>
                <a:ea typeface="Noto Sans" pitchFamily="34" charset="-122"/>
                <a:cs typeface="Noto Sans" pitchFamily="34" charset="-120"/>
              </a:rPr>
              <a:t>C  Small GPU drafter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CUSTOMER INTEGRATION / PRODUCT OBLIGATIONS</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A integrates at the API. B and C require runtime integration.</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One common native ATMOS stack; B and C add different runtime contracts—not just gateway rules.</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11</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[S5–S10] Public mechanisms; ATMOS-specific backends, connectors, verification and release support are proposed deliverables.</a:t>
            </a:r>
            <a:endParaRPr lang="en-US" sz="810" dirty="0"/>
          </a:p>
        </p:txBody>
      </p:sp>
      <p:sp>
        <p:nvSpPr>
          <p:cNvPr id="10" name="Shape 8"/>
          <p:cNvSpPr/>
          <p:nvPr/>
        </p:nvSpPr>
        <p:spPr>
          <a:xfrm>
            <a:off x="457200" y="2112264"/>
            <a:ext cx="11311128" cy="438912"/>
          </a:xfrm>
          <a:prstGeom prst="rect">
            <a:avLst/>
          </a:prstGeom>
          <a:solidFill>
            <a:srgbClr val="22212B"/>
          </a:solidFill>
          <a:ln w="10160">
            <a:solidFill>
              <a:srgbClr val="22212B"/>
            </a:solidFill>
            <a:prstDash val="solid"/>
          </a:ln>
        </p:spPr>
      </p:sp>
      <p:sp>
        <p:nvSpPr>
          <p:cNvPr id="11" name="Text 9"/>
          <p:cNvSpPr/>
          <p:nvPr/>
        </p:nvSpPr>
        <p:spPr>
          <a:xfrm>
            <a:off x="576072" y="2194560"/>
            <a:ext cx="1618488"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Boundary</a:t>
            </a:r>
            <a:endParaRPr lang="en-US" sz="1200" dirty="0"/>
          </a:p>
        </p:txBody>
      </p:sp>
      <p:sp>
        <p:nvSpPr>
          <p:cNvPr id="12" name="Text 10"/>
          <p:cNvSpPr/>
          <p:nvPr/>
        </p:nvSpPr>
        <p:spPr>
          <a:xfrm>
            <a:off x="2423160" y="2194560"/>
            <a:ext cx="292608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A  Native service</a:t>
            </a:r>
            <a:endParaRPr lang="en-US" sz="1200" dirty="0"/>
          </a:p>
        </p:txBody>
      </p:sp>
      <p:sp>
        <p:nvSpPr>
          <p:cNvPr id="13" name="Text 11"/>
          <p:cNvSpPr/>
          <p:nvPr/>
        </p:nvSpPr>
        <p:spPr>
          <a:xfrm>
            <a:off x="5577840" y="2194560"/>
            <a:ext cx="292608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B  Prefill → decode</a:t>
            </a:r>
            <a:endParaRPr lang="en-US" sz="1200" dirty="0"/>
          </a:p>
        </p:txBody>
      </p:sp>
      <p:sp>
        <p:nvSpPr>
          <p:cNvPr id="14" name="Text 12"/>
          <p:cNvSpPr/>
          <p:nvPr/>
        </p:nvSpPr>
        <p:spPr>
          <a:xfrm>
            <a:off x="8732520" y="2194560"/>
            <a:ext cx="292608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C  Speculative</a:t>
            </a:r>
            <a:endParaRPr lang="en-US" sz="1200" dirty="0"/>
          </a:p>
        </p:txBody>
      </p:sp>
      <p:sp>
        <p:nvSpPr>
          <p:cNvPr id="15" name="Shape 13"/>
          <p:cNvSpPr/>
          <p:nvPr/>
        </p:nvSpPr>
        <p:spPr>
          <a:xfrm>
            <a:off x="457200" y="2551176"/>
            <a:ext cx="11311128" cy="768096"/>
          </a:xfrm>
          <a:prstGeom prst="rect">
            <a:avLst/>
          </a:prstGeom>
          <a:solidFill>
            <a:srgbClr val="F0F0F3"/>
          </a:solidFill>
          <a:ln w="10160">
            <a:solidFill>
              <a:srgbClr val="F0F0F3"/>
            </a:solidFill>
            <a:prstDash val="solid"/>
          </a:ln>
        </p:spPr>
      </p:sp>
      <p:sp>
        <p:nvSpPr>
          <p:cNvPr id="16" name="Text 14"/>
          <p:cNvSpPr/>
          <p:nvPr/>
        </p:nvSpPr>
        <p:spPr>
          <a:xfrm>
            <a:off x="576072" y="2670048"/>
            <a:ext cx="1609344" cy="566928"/>
          </a:xfrm>
          <a:prstGeom prst="rect">
            <a:avLst/>
          </a:prstGeom>
          <a:noFill/>
          <a:ln/>
        </p:spPr>
        <p:txBody>
          <a:bodyPr wrap="square" lIns="0" tIns="0" rIns="0" bIns="0" rtlCol="0" anchor="t"/>
          <a:lstStyle/>
          <a:p>
            <a:pPr indent="0" marL="0">
              <a:buNone/>
            </a:pPr>
            <a:r>
              <a:rPr lang="en-US" sz="1320" b="1" dirty="0">
                <a:solidFill>
                  <a:srgbClr val="22212B"/>
                </a:solidFill>
                <a:latin typeface="Noto Sans" pitchFamily="34" charset="0"/>
                <a:ea typeface="Noto Sans" pitchFamily="34" charset="-122"/>
                <a:cs typeface="Noto Sans" pitchFamily="34" charset="-120"/>
              </a:rPr>
              <a:t>Customer integration</a:t>
            </a:r>
            <a:endParaRPr lang="en-US" sz="1320" dirty="0"/>
          </a:p>
        </p:txBody>
      </p:sp>
      <p:sp>
        <p:nvSpPr>
          <p:cNvPr id="17" name="Text 15"/>
          <p:cNvSpPr/>
          <p:nvPr/>
        </p:nvSpPr>
        <p:spPr>
          <a:xfrm>
            <a:off x="2423160" y="2670048"/>
            <a:ext cx="2916936" cy="566928"/>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Endpoint + policy; separate appliance or dedicated K8s nodes.</a:t>
            </a:r>
            <a:endParaRPr lang="en-US" sz="1320" dirty="0"/>
          </a:p>
        </p:txBody>
      </p:sp>
      <p:sp>
        <p:nvSpPr>
          <p:cNvPr id="18" name="Text 16"/>
          <p:cNvSpPr/>
          <p:nvPr/>
        </p:nvSpPr>
        <p:spPr>
          <a:xfrm>
            <a:off x="5577840" y="2670048"/>
            <a:ext cx="2916936" cy="566928"/>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GPU prefill connector + paired-service configuration.</a:t>
            </a:r>
            <a:endParaRPr lang="en-US" sz="1320" dirty="0"/>
          </a:p>
        </p:txBody>
      </p:sp>
      <p:sp>
        <p:nvSpPr>
          <p:cNvPr id="19" name="Text 17"/>
          <p:cNvSpPr/>
          <p:nvPr/>
        </p:nvSpPr>
        <p:spPr>
          <a:xfrm>
            <a:off x="8732520" y="2670048"/>
            <a:ext cx="2916936" cy="566928"/>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Paired draft/target runtime + speculative scheduler.</a:t>
            </a:r>
            <a:endParaRPr lang="en-US" sz="1320" dirty="0"/>
          </a:p>
        </p:txBody>
      </p:sp>
      <p:sp>
        <p:nvSpPr>
          <p:cNvPr id="20" name="Shape 18"/>
          <p:cNvSpPr/>
          <p:nvPr/>
        </p:nvSpPr>
        <p:spPr>
          <a:xfrm>
            <a:off x="457200" y="3319272"/>
            <a:ext cx="11311128" cy="0"/>
          </a:xfrm>
          <a:prstGeom prst="line">
            <a:avLst/>
          </a:prstGeom>
          <a:noFill/>
          <a:ln w="8255">
            <a:solidFill>
              <a:srgbClr val="D8D8DE"/>
            </a:solidFill>
            <a:prstDash val="solid"/>
          </a:ln>
        </p:spPr>
      </p:sp>
      <p:sp>
        <p:nvSpPr>
          <p:cNvPr id="21" name="Shape 19"/>
          <p:cNvSpPr/>
          <p:nvPr/>
        </p:nvSpPr>
        <p:spPr>
          <a:xfrm>
            <a:off x="457200" y="3319272"/>
            <a:ext cx="11311128" cy="777240"/>
          </a:xfrm>
          <a:prstGeom prst="rect">
            <a:avLst/>
          </a:prstGeom>
          <a:solidFill>
            <a:srgbClr val="FFFFFF"/>
          </a:solidFill>
          <a:ln w="10160">
            <a:solidFill>
              <a:srgbClr val="FFFFFF"/>
            </a:solidFill>
            <a:prstDash val="solid"/>
          </a:ln>
        </p:spPr>
      </p:sp>
      <p:sp>
        <p:nvSpPr>
          <p:cNvPr id="22" name="Text 20"/>
          <p:cNvSpPr/>
          <p:nvPr/>
        </p:nvSpPr>
        <p:spPr>
          <a:xfrm>
            <a:off x="576072" y="3438144"/>
            <a:ext cx="1609344" cy="576072"/>
          </a:xfrm>
          <a:prstGeom prst="rect">
            <a:avLst/>
          </a:prstGeom>
          <a:noFill/>
          <a:ln/>
        </p:spPr>
        <p:txBody>
          <a:bodyPr wrap="square" lIns="0" tIns="0" rIns="0" bIns="0" rtlCol="0" anchor="t"/>
          <a:lstStyle/>
          <a:p>
            <a:pPr indent="0" marL="0">
              <a:buNone/>
            </a:pPr>
            <a:r>
              <a:rPr lang="en-US" sz="1320" b="1" dirty="0">
                <a:solidFill>
                  <a:srgbClr val="22212B"/>
                </a:solidFill>
                <a:latin typeface="Noto Sans" pitchFamily="34" charset="0"/>
                <a:ea typeface="Noto Sans" pitchFamily="34" charset="-122"/>
                <a:cs typeface="Noto Sans" pitchFamily="34" charset="-120"/>
              </a:rPr>
              <a:t>New ATMOS work</a:t>
            </a:r>
            <a:endParaRPr lang="en-US" sz="1320" dirty="0"/>
          </a:p>
        </p:txBody>
      </p:sp>
      <p:sp>
        <p:nvSpPr>
          <p:cNvPr id="23" name="Text 21"/>
          <p:cNvSpPr/>
          <p:nvPr/>
        </p:nvSpPr>
        <p:spPr>
          <a:xfrm>
            <a:off x="2423160" y="3438144"/>
            <a:ext cx="2916936" cy="576072"/>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Full prefill/decode, attention, KV, experts and sampling path.</a:t>
            </a:r>
            <a:endParaRPr lang="en-US" sz="1320" dirty="0"/>
          </a:p>
        </p:txBody>
      </p:sp>
      <p:sp>
        <p:nvSpPr>
          <p:cNvPr id="24" name="Text 22"/>
          <p:cNvSpPr/>
          <p:nvPr/>
        </p:nvSpPr>
        <p:spPr>
          <a:xfrm>
            <a:off x="5577840" y="3438144"/>
            <a:ext cx="2916936" cy="576072"/>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Full decoder + KV import/conversion + continuation.</a:t>
            </a:r>
            <a:endParaRPr lang="en-US" sz="1320" dirty="0"/>
          </a:p>
        </p:txBody>
      </p:sp>
      <p:sp>
        <p:nvSpPr>
          <p:cNvPr id="25" name="Text 23"/>
          <p:cNvSpPr/>
          <p:nvPr/>
        </p:nvSpPr>
        <p:spPr>
          <a:xfrm>
            <a:off x="8732520" y="3438144"/>
            <a:ext cx="2916936" cy="576072"/>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Full target + block verification + safe KV rollback.</a:t>
            </a:r>
            <a:endParaRPr lang="en-US" sz="1320" dirty="0"/>
          </a:p>
        </p:txBody>
      </p:sp>
      <p:sp>
        <p:nvSpPr>
          <p:cNvPr id="26" name="Shape 24"/>
          <p:cNvSpPr/>
          <p:nvPr/>
        </p:nvSpPr>
        <p:spPr>
          <a:xfrm>
            <a:off x="457200" y="4096512"/>
            <a:ext cx="11311128" cy="0"/>
          </a:xfrm>
          <a:prstGeom prst="line">
            <a:avLst/>
          </a:prstGeom>
          <a:noFill/>
          <a:ln w="8255">
            <a:solidFill>
              <a:srgbClr val="D8D8DE"/>
            </a:solidFill>
            <a:prstDash val="solid"/>
          </a:ln>
        </p:spPr>
      </p:sp>
      <p:sp>
        <p:nvSpPr>
          <p:cNvPr id="27" name="Shape 25"/>
          <p:cNvSpPr/>
          <p:nvPr/>
        </p:nvSpPr>
        <p:spPr>
          <a:xfrm>
            <a:off x="457200" y="4096512"/>
            <a:ext cx="11311128" cy="832104"/>
          </a:xfrm>
          <a:prstGeom prst="rect">
            <a:avLst/>
          </a:prstGeom>
          <a:solidFill>
            <a:srgbClr val="F0F0F3"/>
          </a:solidFill>
          <a:ln w="10160">
            <a:solidFill>
              <a:srgbClr val="F0F0F3"/>
            </a:solidFill>
            <a:prstDash val="solid"/>
          </a:ln>
        </p:spPr>
      </p:sp>
      <p:sp>
        <p:nvSpPr>
          <p:cNvPr id="28" name="Text 26"/>
          <p:cNvSpPr/>
          <p:nvPr/>
        </p:nvSpPr>
        <p:spPr>
          <a:xfrm>
            <a:off x="576072" y="4215384"/>
            <a:ext cx="1609344" cy="630936"/>
          </a:xfrm>
          <a:prstGeom prst="rect">
            <a:avLst/>
          </a:prstGeom>
          <a:noFill/>
          <a:ln/>
        </p:spPr>
        <p:txBody>
          <a:bodyPr wrap="square" lIns="0" tIns="0" rIns="0" bIns="0" rtlCol="0" anchor="t"/>
          <a:lstStyle/>
          <a:p>
            <a:pPr indent="0" marL="0">
              <a:buNone/>
            </a:pPr>
            <a:r>
              <a:rPr lang="en-US" sz="1320" b="1" dirty="0">
                <a:solidFill>
                  <a:srgbClr val="22212B"/>
                </a:solidFill>
                <a:latin typeface="Noto Sans" pitchFamily="34" charset="0"/>
                <a:ea typeface="Noto Sans" pitchFamily="34" charset="-122"/>
                <a:cs typeface="Noto Sans" pitchFamily="34" charset="-120"/>
              </a:rPr>
              <a:t>GPU role / state</a:t>
            </a:r>
            <a:endParaRPr lang="en-US" sz="1320" dirty="0"/>
          </a:p>
        </p:txBody>
      </p:sp>
      <p:sp>
        <p:nvSpPr>
          <p:cNvPr id="29" name="Text 27"/>
          <p:cNvSpPr/>
          <p:nvPr/>
        </p:nvSpPr>
        <p:spPr>
          <a:xfrm>
            <a:off x="2423160" y="4215384"/>
            <a:ext cx="2916936" cy="630936"/>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No GPU needed for assigned request. GPU service retains its own KV.</a:t>
            </a:r>
            <a:endParaRPr lang="en-US" sz="1320" dirty="0"/>
          </a:p>
        </p:txBody>
      </p:sp>
      <p:sp>
        <p:nvSpPr>
          <p:cNvPr id="30" name="Text 28"/>
          <p:cNvSpPr/>
          <p:nvPr/>
        </p:nvSpPr>
        <p:spPr>
          <a:xfrm>
            <a:off x="5577840" y="4215384"/>
            <a:ext cx="2916936" cy="630936"/>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Full-model prefill; exports target KV. Weights also reside on ATMOS.</a:t>
            </a:r>
            <a:endParaRPr lang="en-US" sz="1320" dirty="0"/>
          </a:p>
        </p:txBody>
      </p:sp>
      <p:sp>
        <p:nvSpPr>
          <p:cNvPr id="31" name="Text 29"/>
          <p:cNvSpPr/>
          <p:nvPr/>
        </p:nvSpPr>
        <p:spPr>
          <a:xfrm>
            <a:off x="8732520" y="4215384"/>
            <a:ext cx="2916936" cy="630936"/>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Small draft model with separate KV; no target-KV export.</a:t>
            </a:r>
            <a:endParaRPr lang="en-US" sz="1320" dirty="0"/>
          </a:p>
        </p:txBody>
      </p:sp>
      <p:sp>
        <p:nvSpPr>
          <p:cNvPr id="32" name="Shape 30"/>
          <p:cNvSpPr/>
          <p:nvPr/>
        </p:nvSpPr>
        <p:spPr>
          <a:xfrm>
            <a:off x="457200" y="4928616"/>
            <a:ext cx="11311128" cy="0"/>
          </a:xfrm>
          <a:prstGeom prst="line">
            <a:avLst/>
          </a:prstGeom>
          <a:noFill/>
          <a:ln w="8255">
            <a:solidFill>
              <a:srgbClr val="D8D8DE"/>
            </a:solidFill>
            <a:prstDash val="solid"/>
          </a:ln>
        </p:spPr>
      </p:sp>
      <p:sp>
        <p:nvSpPr>
          <p:cNvPr id="33" name="Shape 31"/>
          <p:cNvSpPr/>
          <p:nvPr/>
        </p:nvSpPr>
        <p:spPr>
          <a:xfrm>
            <a:off x="457200" y="4928616"/>
            <a:ext cx="11311128" cy="941832"/>
          </a:xfrm>
          <a:prstGeom prst="rect">
            <a:avLst/>
          </a:prstGeom>
          <a:solidFill>
            <a:srgbClr val="FFFFFF"/>
          </a:solidFill>
          <a:ln w="10160">
            <a:solidFill>
              <a:srgbClr val="FFFFFF"/>
            </a:solidFill>
            <a:prstDash val="solid"/>
          </a:ln>
        </p:spPr>
      </p:sp>
      <p:sp>
        <p:nvSpPr>
          <p:cNvPr id="34" name="Text 32"/>
          <p:cNvSpPr/>
          <p:nvPr/>
        </p:nvSpPr>
        <p:spPr>
          <a:xfrm>
            <a:off x="576072" y="5047488"/>
            <a:ext cx="1609344" cy="740664"/>
          </a:xfrm>
          <a:prstGeom prst="rect">
            <a:avLst/>
          </a:prstGeom>
          <a:noFill/>
          <a:ln/>
        </p:spPr>
        <p:txBody>
          <a:bodyPr wrap="square" lIns="0" tIns="0" rIns="0" bIns="0" rtlCol="0" anchor="t"/>
          <a:lstStyle/>
          <a:p>
            <a:pPr indent="0" marL="0">
              <a:buNone/>
            </a:pPr>
            <a:r>
              <a:rPr lang="en-US" sz="1320" b="1" dirty="0">
                <a:solidFill>
                  <a:srgbClr val="22212B"/>
                </a:solidFill>
                <a:latin typeface="Noto Sans" pitchFamily="34" charset="0"/>
                <a:ea typeface="Noto Sans" pitchFamily="34" charset="-122"/>
                <a:cs typeface="Noto Sans" pitchFamily="34" charset="-120"/>
              </a:rPr>
              <a:t>Enterprise operation</a:t>
            </a:r>
            <a:endParaRPr lang="en-US" sz="1320" dirty="0"/>
          </a:p>
        </p:txBody>
      </p:sp>
      <p:sp>
        <p:nvSpPr>
          <p:cNvPr id="35" name="Text 33"/>
          <p:cNvSpPr/>
          <p:nvPr/>
        </p:nvSpPr>
        <p:spPr>
          <a:xfrm>
            <a:off x="2423160" y="5047488"/>
            <a:ext cx="2916936" cy="740664"/>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Allocation, readiness, admission, tenant isolation, telemetry, update and recovery.</a:t>
            </a:r>
            <a:endParaRPr lang="en-US" sz="1320" dirty="0"/>
          </a:p>
        </p:txBody>
      </p:sp>
      <p:sp>
        <p:nvSpPr>
          <p:cNvPr id="36" name="Text 34"/>
          <p:cNvSpPr/>
          <p:nvPr/>
        </p:nvSpPr>
        <p:spPr>
          <a:xfrm>
            <a:off x="5577840" y="5047488"/>
            <a:ext cx="2916936" cy="740664"/>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Same common package + handoff ownership, cancellation and failure recovery.</a:t>
            </a:r>
            <a:endParaRPr lang="en-US" sz="1320" dirty="0"/>
          </a:p>
        </p:txBody>
      </p:sp>
      <p:sp>
        <p:nvSpPr>
          <p:cNvPr id="37" name="Text 35"/>
          <p:cNvSpPr/>
          <p:nvPr/>
        </p:nvSpPr>
        <p:spPr>
          <a:xfrm>
            <a:off x="8732520" y="5047488"/>
            <a:ext cx="2916936" cy="740664"/>
          </a:xfrm>
          <a:prstGeom prst="rect">
            <a:avLst/>
          </a:prstGeom>
          <a:noFill/>
          <a:ln/>
        </p:spPr>
        <p:txBody>
          <a:bodyPr wrap="square" lIns="0" tIns="0" rIns="0" bIns="0" rtlCol="0" anchor="t"/>
          <a:lstStyle/>
          <a:p>
            <a:pPr indent="0" marL="0">
              <a:buNone/>
            </a:pPr>
            <a:r>
              <a:rPr lang="en-US" sz="1320" dirty="0">
                <a:solidFill>
                  <a:srgbClr val="62636E"/>
                </a:solidFill>
                <a:latin typeface="Noto Sans" pitchFamily="34" charset="0"/>
                <a:ea typeface="Noto Sans" pitchFamily="34" charset="-122"/>
                <a:cs typeface="Noto Sans" pitchFamily="34" charset="-120"/>
              </a:rPr>
              <a:t>Same common package + model-pair lifecycle and verification telemetry.</a:t>
            </a:r>
            <a:endParaRPr lang="en-US" sz="1320" dirty="0"/>
          </a:p>
        </p:txBody>
      </p:sp>
      <p:sp>
        <p:nvSpPr>
          <p:cNvPr id="38" name="Shape 36"/>
          <p:cNvSpPr/>
          <p:nvPr/>
        </p:nvSpPr>
        <p:spPr>
          <a:xfrm>
            <a:off x="457200" y="5870448"/>
            <a:ext cx="11311128" cy="0"/>
          </a:xfrm>
          <a:prstGeom prst="line">
            <a:avLst/>
          </a:prstGeom>
          <a:noFill/>
          <a:ln w="8255">
            <a:solidFill>
              <a:srgbClr val="D8D8DE"/>
            </a:solidFill>
            <a:prstDash val="solid"/>
          </a:ln>
        </p:spPr>
      </p:sp>
      <p:sp>
        <p:nvSpPr>
          <p:cNvPr id="39" name="Text 37"/>
          <p:cNvSpPr/>
          <p:nvPr/>
        </p:nvSpPr>
        <p:spPr>
          <a:xfrm>
            <a:off x="484632" y="6035040"/>
            <a:ext cx="11146536" cy="201168"/>
          </a:xfrm>
          <a:prstGeom prst="rect">
            <a:avLst/>
          </a:prstGeom>
          <a:noFill/>
          <a:ln/>
        </p:spPr>
        <p:txBody>
          <a:bodyPr wrap="square" lIns="0" tIns="0" rIns="0" bIns="0" rtlCol="0" anchor="t"/>
          <a:lstStyle/>
          <a:p>
            <a:pPr indent="0" marL="0">
              <a:buNone/>
            </a:pPr>
            <a:r>
              <a:rPr lang="en-US" sz="1200" b="1" dirty="0">
                <a:solidFill>
                  <a:srgbClr val="B90C2A"/>
                </a:solidFill>
                <a:latin typeface="Noto Sans" pitchFamily="34" charset="0"/>
                <a:ea typeface="Noto Sans" pitchFamily="34" charset="-122"/>
                <a:cs typeface="Noto Sans" pitchFamily="34" charset="-120"/>
              </a:rPr>
              <a:t>OWNERS: SanDisk — service/release   |   Tenstorrent — native backend   |   OEM — hardware/fabric/lifecycle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TECHNICAL SCOPE / SERVICE ENVELOPE</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Working memory sets the usable service envelope.</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Weight residency is only one test. Every offering also needs native attention, KV and a qualified device fabric.</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12</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[S2–S3, S11] Model geometry; [I1] internal 100 GB/device HBF study budget. Raw-byte floors are not supported device counts.</a:t>
            </a:r>
            <a:endParaRPr lang="en-US" sz="810" dirty="0"/>
          </a:p>
        </p:txBody>
      </p:sp>
      <p:sp>
        <p:nvSpPr>
          <p:cNvPr id="10" name="Shape 8"/>
          <p:cNvSpPr/>
          <p:nvPr/>
        </p:nvSpPr>
        <p:spPr>
          <a:xfrm>
            <a:off x="457200" y="2084832"/>
            <a:ext cx="11311128" cy="438912"/>
          </a:xfrm>
          <a:prstGeom prst="rect">
            <a:avLst/>
          </a:prstGeom>
          <a:solidFill>
            <a:srgbClr val="22212B"/>
          </a:solidFill>
          <a:ln w="10160">
            <a:solidFill>
              <a:srgbClr val="22212B"/>
            </a:solidFill>
            <a:prstDash val="solid"/>
          </a:ln>
        </p:spPr>
      </p:sp>
      <p:sp>
        <p:nvSpPr>
          <p:cNvPr id="11" name="Text 9"/>
          <p:cNvSpPr/>
          <p:nvPr/>
        </p:nvSpPr>
        <p:spPr>
          <a:xfrm>
            <a:off x="576072" y="2167128"/>
            <a:ext cx="4050792"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Model / study role</a:t>
            </a:r>
            <a:endParaRPr lang="en-US" sz="1200" dirty="0"/>
          </a:p>
        </p:txBody>
      </p:sp>
      <p:sp>
        <p:nvSpPr>
          <p:cNvPr id="12" name="Text 10"/>
          <p:cNvSpPr/>
          <p:nvPr/>
        </p:nvSpPr>
        <p:spPr>
          <a:xfrm>
            <a:off x="4855464" y="2167128"/>
            <a:ext cx="374904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Full weights: FP8 / 16-bit</a:t>
            </a:r>
            <a:endParaRPr lang="en-US" sz="1200" dirty="0"/>
          </a:p>
        </p:txBody>
      </p:sp>
      <p:sp>
        <p:nvSpPr>
          <p:cNvPr id="13" name="Text 11"/>
          <p:cNvSpPr/>
          <p:nvPr/>
        </p:nvSpPr>
        <p:spPr>
          <a:xfrm>
            <a:off x="8833104" y="2167128"/>
            <a:ext cx="2825496"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100-GB HBF raw floor</a:t>
            </a:r>
            <a:endParaRPr lang="en-US" sz="1200" dirty="0"/>
          </a:p>
        </p:txBody>
      </p:sp>
      <p:sp>
        <p:nvSpPr>
          <p:cNvPr id="14" name="Shape 12"/>
          <p:cNvSpPr/>
          <p:nvPr/>
        </p:nvSpPr>
        <p:spPr>
          <a:xfrm>
            <a:off x="457200" y="2523744"/>
            <a:ext cx="11311128" cy="530352"/>
          </a:xfrm>
          <a:prstGeom prst="rect">
            <a:avLst/>
          </a:prstGeom>
          <a:solidFill>
            <a:srgbClr val="F0F0F3"/>
          </a:solidFill>
          <a:ln w="10160">
            <a:solidFill>
              <a:srgbClr val="F0F0F3"/>
            </a:solidFill>
            <a:prstDash val="solid"/>
          </a:ln>
        </p:spPr>
      </p:sp>
      <p:sp>
        <p:nvSpPr>
          <p:cNvPr id="15" name="Text 13"/>
          <p:cNvSpPr/>
          <p:nvPr/>
        </p:nvSpPr>
        <p:spPr>
          <a:xfrm>
            <a:off x="576072" y="2642616"/>
            <a:ext cx="4041648" cy="329184"/>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Qwen3-30B-A3B • bring-up</a:t>
            </a:r>
            <a:endParaRPr lang="en-US" sz="1400" dirty="0"/>
          </a:p>
        </p:txBody>
      </p:sp>
      <p:sp>
        <p:nvSpPr>
          <p:cNvPr id="16" name="Text 14"/>
          <p:cNvSpPr/>
          <p:nvPr/>
        </p:nvSpPr>
        <p:spPr>
          <a:xfrm>
            <a:off x="4855464" y="2642616"/>
            <a:ext cx="3739896" cy="32918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30.5 / 61 GB</a:t>
            </a:r>
            <a:endParaRPr lang="en-US" sz="1400" dirty="0"/>
          </a:p>
        </p:txBody>
      </p:sp>
      <p:sp>
        <p:nvSpPr>
          <p:cNvPr id="17" name="Text 15"/>
          <p:cNvSpPr/>
          <p:nvPr/>
        </p:nvSpPr>
        <p:spPr>
          <a:xfrm>
            <a:off x="8833104" y="2642616"/>
            <a:ext cx="2816352" cy="32918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1 / 1 modules</a:t>
            </a:r>
            <a:endParaRPr lang="en-US" sz="1400" dirty="0"/>
          </a:p>
        </p:txBody>
      </p:sp>
      <p:sp>
        <p:nvSpPr>
          <p:cNvPr id="18" name="Shape 16"/>
          <p:cNvSpPr/>
          <p:nvPr/>
        </p:nvSpPr>
        <p:spPr>
          <a:xfrm>
            <a:off x="457200" y="3054096"/>
            <a:ext cx="11311128" cy="0"/>
          </a:xfrm>
          <a:prstGeom prst="line">
            <a:avLst/>
          </a:prstGeom>
          <a:noFill/>
          <a:ln w="8255">
            <a:solidFill>
              <a:srgbClr val="D8D8DE"/>
            </a:solidFill>
            <a:prstDash val="solid"/>
          </a:ln>
        </p:spPr>
      </p:sp>
      <p:sp>
        <p:nvSpPr>
          <p:cNvPr id="19" name="Shape 17"/>
          <p:cNvSpPr/>
          <p:nvPr/>
        </p:nvSpPr>
        <p:spPr>
          <a:xfrm>
            <a:off x="457200" y="3054096"/>
            <a:ext cx="11311128" cy="530352"/>
          </a:xfrm>
          <a:prstGeom prst="rect">
            <a:avLst/>
          </a:prstGeom>
          <a:solidFill>
            <a:srgbClr val="FFFFFF"/>
          </a:solidFill>
          <a:ln w="10160">
            <a:solidFill>
              <a:srgbClr val="FFFFFF"/>
            </a:solidFill>
            <a:prstDash val="solid"/>
          </a:ln>
        </p:spPr>
      </p:sp>
      <p:sp>
        <p:nvSpPr>
          <p:cNvPr id="20" name="Text 18"/>
          <p:cNvSpPr/>
          <p:nvPr/>
        </p:nvSpPr>
        <p:spPr>
          <a:xfrm>
            <a:off x="576072" y="3172968"/>
            <a:ext cx="4041648" cy="329184"/>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Qwen3-235B-A22B • primary study</a:t>
            </a:r>
            <a:endParaRPr lang="en-US" sz="1400" dirty="0"/>
          </a:p>
        </p:txBody>
      </p:sp>
      <p:sp>
        <p:nvSpPr>
          <p:cNvPr id="21" name="Text 19"/>
          <p:cNvSpPr/>
          <p:nvPr/>
        </p:nvSpPr>
        <p:spPr>
          <a:xfrm>
            <a:off x="4855464" y="3172968"/>
            <a:ext cx="3739896" cy="32918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235 / 470 GB</a:t>
            </a:r>
            <a:endParaRPr lang="en-US" sz="1400" dirty="0"/>
          </a:p>
        </p:txBody>
      </p:sp>
      <p:sp>
        <p:nvSpPr>
          <p:cNvPr id="22" name="Text 20"/>
          <p:cNvSpPr/>
          <p:nvPr/>
        </p:nvSpPr>
        <p:spPr>
          <a:xfrm>
            <a:off x="8833104" y="3172968"/>
            <a:ext cx="2816352" cy="32918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3 / 5 modules</a:t>
            </a:r>
            <a:endParaRPr lang="en-US" sz="1400" dirty="0"/>
          </a:p>
        </p:txBody>
      </p:sp>
      <p:sp>
        <p:nvSpPr>
          <p:cNvPr id="23" name="Shape 21"/>
          <p:cNvSpPr/>
          <p:nvPr/>
        </p:nvSpPr>
        <p:spPr>
          <a:xfrm>
            <a:off x="457200" y="3584448"/>
            <a:ext cx="11311128" cy="0"/>
          </a:xfrm>
          <a:prstGeom prst="line">
            <a:avLst/>
          </a:prstGeom>
          <a:noFill/>
          <a:ln w="8255">
            <a:solidFill>
              <a:srgbClr val="D8D8DE"/>
            </a:solidFill>
            <a:prstDash val="solid"/>
          </a:ln>
        </p:spPr>
      </p:sp>
      <p:sp>
        <p:nvSpPr>
          <p:cNvPr id="24" name="Shape 22"/>
          <p:cNvSpPr/>
          <p:nvPr/>
        </p:nvSpPr>
        <p:spPr>
          <a:xfrm>
            <a:off x="457200" y="3584448"/>
            <a:ext cx="11311128" cy="530352"/>
          </a:xfrm>
          <a:prstGeom prst="rect">
            <a:avLst/>
          </a:prstGeom>
          <a:solidFill>
            <a:srgbClr val="F0F0F3"/>
          </a:solidFill>
          <a:ln w="10160">
            <a:solidFill>
              <a:srgbClr val="F0F0F3"/>
            </a:solidFill>
            <a:prstDash val="solid"/>
          </a:ln>
        </p:spPr>
      </p:sp>
      <p:sp>
        <p:nvSpPr>
          <p:cNvPr id="25" name="Text 23"/>
          <p:cNvSpPr/>
          <p:nvPr/>
        </p:nvSpPr>
        <p:spPr>
          <a:xfrm>
            <a:off x="576072" y="3703320"/>
            <a:ext cx="4041648" cy="329184"/>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DeepSeek-V3 • later expansion</a:t>
            </a:r>
            <a:endParaRPr lang="en-US" sz="1400" dirty="0"/>
          </a:p>
        </p:txBody>
      </p:sp>
      <p:sp>
        <p:nvSpPr>
          <p:cNvPr id="26" name="Text 24"/>
          <p:cNvSpPr/>
          <p:nvPr/>
        </p:nvSpPr>
        <p:spPr>
          <a:xfrm>
            <a:off x="4855464" y="3703320"/>
            <a:ext cx="3739896" cy="32918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671 / 1,342 GB</a:t>
            </a:r>
            <a:endParaRPr lang="en-US" sz="1400" dirty="0"/>
          </a:p>
        </p:txBody>
      </p:sp>
      <p:sp>
        <p:nvSpPr>
          <p:cNvPr id="27" name="Text 25"/>
          <p:cNvSpPr/>
          <p:nvPr/>
        </p:nvSpPr>
        <p:spPr>
          <a:xfrm>
            <a:off x="8833104" y="3703320"/>
            <a:ext cx="2816352" cy="32918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7 / 14 modules</a:t>
            </a:r>
            <a:endParaRPr lang="en-US" sz="1400" dirty="0"/>
          </a:p>
        </p:txBody>
      </p:sp>
      <p:sp>
        <p:nvSpPr>
          <p:cNvPr id="28" name="Shape 26"/>
          <p:cNvSpPr/>
          <p:nvPr/>
        </p:nvSpPr>
        <p:spPr>
          <a:xfrm>
            <a:off x="457200" y="4114800"/>
            <a:ext cx="11311128" cy="0"/>
          </a:xfrm>
          <a:prstGeom prst="line">
            <a:avLst/>
          </a:prstGeom>
          <a:noFill/>
          <a:ln w="8255">
            <a:solidFill>
              <a:srgbClr val="D8D8DE"/>
            </a:solidFill>
            <a:prstDash val="solid"/>
          </a:ln>
        </p:spPr>
      </p:sp>
      <p:sp>
        <p:nvSpPr>
          <p:cNvPr id="29" name="Text 27"/>
          <p:cNvSpPr/>
          <p:nvPr/>
        </p:nvSpPr>
        <p:spPr>
          <a:xfrm>
            <a:off x="475488" y="4389120"/>
            <a:ext cx="10515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QWEN 235B: SAME MODEL, DIFFERENT ACTIVE-STATE REQUIREMENT</a:t>
            </a:r>
            <a:endParaRPr lang="en-US" sz="1000" dirty="0"/>
          </a:p>
        </p:txBody>
      </p:sp>
      <p:sp>
        <p:nvSpPr>
          <p:cNvPr id="30" name="Shape 28"/>
          <p:cNvSpPr/>
          <p:nvPr/>
        </p:nvSpPr>
        <p:spPr>
          <a:xfrm>
            <a:off x="466344" y="4718304"/>
            <a:ext cx="5394960" cy="1124712"/>
          </a:xfrm>
          <a:prstGeom prst="rect">
            <a:avLst/>
          </a:prstGeom>
          <a:solidFill>
            <a:srgbClr val="FBE9ED"/>
          </a:solidFill>
          <a:ln w="10160">
            <a:solidFill>
              <a:srgbClr val="FBE9ED"/>
            </a:solidFill>
            <a:prstDash val="solid"/>
          </a:ln>
        </p:spPr>
      </p:sp>
      <p:sp>
        <p:nvSpPr>
          <p:cNvPr id="31" name="Text 29"/>
          <p:cNvSpPr/>
          <p:nvPr/>
        </p:nvSpPr>
        <p:spPr>
          <a:xfrm>
            <a:off x="612648" y="4791456"/>
            <a:ext cx="5102352" cy="530352"/>
          </a:xfrm>
          <a:prstGeom prst="rect">
            <a:avLst/>
          </a:prstGeom>
          <a:noFill/>
          <a:ln/>
        </p:spPr>
        <p:txBody>
          <a:bodyPr wrap="square" lIns="0" tIns="0" rIns="0" bIns="0" rtlCol="0" anchor="t"/>
          <a:lstStyle/>
          <a:p>
            <a:pPr indent="0" marL="0">
              <a:buNone/>
            </a:pPr>
            <a:r>
              <a:rPr lang="en-US" sz="3200" b="1" dirty="0">
                <a:solidFill>
                  <a:srgbClr val="E31837"/>
                </a:solidFill>
                <a:latin typeface="Noto Sans" pitchFamily="34" charset="0"/>
                <a:ea typeface="Noto Sans" pitchFamily="34" charset="-122"/>
                <a:cs typeface="Noto Sans" pitchFamily="34" charset="-120"/>
              </a:rPr>
              <a:t>47 GiB</a:t>
            </a:r>
            <a:endParaRPr lang="en-US" sz="3200" dirty="0"/>
          </a:p>
        </p:txBody>
      </p:sp>
      <p:sp>
        <p:nvSpPr>
          <p:cNvPr id="32" name="Text 30"/>
          <p:cNvSpPr/>
          <p:nvPr/>
        </p:nvSpPr>
        <p:spPr>
          <a:xfrm>
            <a:off x="612648" y="5404104"/>
            <a:ext cx="5102352"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32 sequences × 8K total context; BF16 KV</a:t>
            </a:r>
            <a:endParaRPr lang="en-US" sz="1250" dirty="0"/>
          </a:p>
        </p:txBody>
      </p:sp>
      <p:sp>
        <p:nvSpPr>
          <p:cNvPr id="33" name="Shape 31"/>
          <p:cNvSpPr/>
          <p:nvPr/>
        </p:nvSpPr>
        <p:spPr>
          <a:xfrm>
            <a:off x="6062472" y="4718304"/>
            <a:ext cx="5669280" cy="1124712"/>
          </a:xfrm>
          <a:prstGeom prst="rect">
            <a:avLst/>
          </a:prstGeom>
          <a:solidFill>
            <a:srgbClr val="FFFFFF"/>
          </a:solidFill>
          <a:ln w="10160">
            <a:solidFill>
              <a:srgbClr val="FFFFFF"/>
            </a:solidFill>
            <a:prstDash val="solid"/>
          </a:ln>
        </p:spPr>
      </p:sp>
      <p:sp>
        <p:nvSpPr>
          <p:cNvPr id="34" name="Text 32"/>
          <p:cNvSpPr/>
          <p:nvPr/>
        </p:nvSpPr>
        <p:spPr>
          <a:xfrm>
            <a:off x="6208776" y="4791456"/>
            <a:ext cx="5376672" cy="530352"/>
          </a:xfrm>
          <a:prstGeom prst="rect">
            <a:avLst/>
          </a:prstGeom>
          <a:noFill/>
          <a:ln/>
        </p:spPr>
        <p:txBody>
          <a:bodyPr wrap="square" lIns="0" tIns="0" rIns="0" bIns="0" rtlCol="0" anchor="t"/>
          <a:lstStyle/>
          <a:p>
            <a:pPr indent="0" marL="0">
              <a:buNone/>
            </a:pPr>
            <a:r>
              <a:rPr lang="en-US" sz="3200" b="1" dirty="0">
                <a:solidFill>
                  <a:srgbClr val="E31837"/>
                </a:solidFill>
                <a:latin typeface="Noto Sans" pitchFamily="34" charset="0"/>
                <a:ea typeface="Noto Sans" pitchFamily="34" charset="-122"/>
                <a:cs typeface="Noto Sans" pitchFamily="34" charset="-120"/>
              </a:rPr>
              <a:t>188 GiB</a:t>
            </a:r>
            <a:endParaRPr lang="en-US" sz="3200" dirty="0"/>
          </a:p>
        </p:txBody>
      </p:sp>
      <p:sp>
        <p:nvSpPr>
          <p:cNvPr id="35" name="Text 33"/>
          <p:cNvSpPr/>
          <p:nvPr/>
        </p:nvSpPr>
        <p:spPr>
          <a:xfrm>
            <a:off x="6208776" y="5404104"/>
            <a:ext cx="5376672"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32 sequences × 32K: exceeds 128 GB nominal LPDDR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SELECTION / CUSTOMER VALUE</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Lead with A. Add B or C for a measured bottleneck.</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Success means more useful completed work under the same quality and service contract—not simply more memory.</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13</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Proposed prioritization. Each option is tested against an optimized same-workload control, including GPU batch serving.</a:t>
            </a:r>
            <a:endParaRPr lang="en-US" sz="810" dirty="0"/>
          </a:p>
        </p:txBody>
      </p:sp>
      <p:sp>
        <p:nvSpPr>
          <p:cNvPr id="10" name="Shape 8"/>
          <p:cNvSpPr/>
          <p:nvPr/>
        </p:nvSpPr>
        <p:spPr>
          <a:xfrm>
            <a:off x="457200" y="2139696"/>
            <a:ext cx="11311128" cy="438912"/>
          </a:xfrm>
          <a:prstGeom prst="rect">
            <a:avLst/>
          </a:prstGeom>
          <a:solidFill>
            <a:srgbClr val="22212B"/>
          </a:solidFill>
          <a:ln w="10160">
            <a:solidFill>
              <a:srgbClr val="22212B"/>
            </a:solidFill>
            <a:prstDash val="solid"/>
          </a:ln>
        </p:spPr>
      </p:sp>
      <p:sp>
        <p:nvSpPr>
          <p:cNvPr id="11" name="Text 9"/>
          <p:cNvSpPr/>
          <p:nvPr/>
        </p:nvSpPr>
        <p:spPr>
          <a:xfrm>
            <a:off x="576072" y="2221992"/>
            <a:ext cx="132588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Offer</a:t>
            </a:r>
            <a:endParaRPr lang="en-US" sz="1200" dirty="0"/>
          </a:p>
        </p:txBody>
      </p:sp>
      <p:sp>
        <p:nvSpPr>
          <p:cNvPr id="12" name="Text 10"/>
          <p:cNvSpPr/>
          <p:nvPr/>
        </p:nvSpPr>
        <p:spPr>
          <a:xfrm>
            <a:off x="2130552" y="2221992"/>
            <a:ext cx="2907792"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Best customer situation</a:t>
            </a:r>
            <a:endParaRPr lang="en-US" sz="1200" dirty="0"/>
          </a:p>
        </p:txBody>
      </p:sp>
      <p:sp>
        <p:nvSpPr>
          <p:cNvPr id="13" name="Text 11"/>
          <p:cNvSpPr/>
          <p:nvPr/>
        </p:nvSpPr>
        <p:spPr>
          <a:xfrm>
            <a:off x="5266944" y="2221992"/>
            <a:ext cx="306324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Benefit to demonstrate</a:t>
            </a:r>
            <a:endParaRPr lang="en-US" sz="1200" dirty="0"/>
          </a:p>
        </p:txBody>
      </p:sp>
      <p:sp>
        <p:nvSpPr>
          <p:cNvPr id="14" name="Text 12"/>
          <p:cNvSpPr/>
          <p:nvPr/>
        </p:nvSpPr>
        <p:spPr>
          <a:xfrm>
            <a:off x="8558784" y="2221992"/>
            <a:ext cx="3099816"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Go / no-go evidence</a:t>
            </a:r>
            <a:endParaRPr lang="en-US" sz="1200" dirty="0"/>
          </a:p>
        </p:txBody>
      </p:sp>
      <p:sp>
        <p:nvSpPr>
          <p:cNvPr id="15" name="Shape 13"/>
          <p:cNvSpPr/>
          <p:nvPr/>
        </p:nvSpPr>
        <p:spPr>
          <a:xfrm>
            <a:off x="457200" y="2578608"/>
            <a:ext cx="11311128" cy="1024128"/>
          </a:xfrm>
          <a:prstGeom prst="rect">
            <a:avLst/>
          </a:prstGeom>
          <a:solidFill>
            <a:srgbClr val="F0F0F3"/>
          </a:solidFill>
          <a:ln w="10160">
            <a:solidFill>
              <a:srgbClr val="F0F0F3"/>
            </a:solidFill>
            <a:prstDash val="solid"/>
          </a:ln>
        </p:spPr>
      </p:sp>
      <p:sp>
        <p:nvSpPr>
          <p:cNvPr id="16" name="Text 14"/>
          <p:cNvSpPr/>
          <p:nvPr/>
        </p:nvSpPr>
        <p:spPr>
          <a:xfrm>
            <a:off x="576072" y="2697480"/>
            <a:ext cx="1316736" cy="822960"/>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A  Native appliance</a:t>
            </a:r>
            <a:endParaRPr lang="en-US" sz="1400" dirty="0"/>
          </a:p>
        </p:txBody>
      </p:sp>
      <p:sp>
        <p:nvSpPr>
          <p:cNvPr id="17" name="Text 15"/>
          <p:cNvSpPr/>
          <p:nvPr/>
        </p:nvSpPr>
        <p:spPr>
          <a:xfrm>
            <a:off x="2130552" y="2697480"/>
            <a:ext cx="2898648" cy="822960"/>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Private document jobs with an approved completion deadline.</a:t>
            </a:r>
            <a:endParaRPr lang="en-US" sz="1400" dirty="0"/>
          </a:p>
        </p:txBody>
      </p:sp>
      <p:sp>
        <p:nvSpPr>
          <p:cNvPr id="18" name="Text 16"/>
          <p:cNvSpPr/>
          <p:nvPr/>
        </p:nvSpPr>
        <p:spPr>
          <a:xfrm>
            <a:off x="5266944" y="2697480"/>
            <a:ext cx="3054096" cy="822960"/>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Separate eligible work from GPU demand; independently managed capacity.</a:t>
            </a:r>
            <a:endParaRPr lang="en-US" sz="1400" dirty="0"/>
          </a:p>
        </p:txBody>
      </p:sp>
      <p:sp>
        <p:nvSpPr>
          <p:cNvPr id="19" name="Text 17"/>
          <p:cNvSpPr/>
          <p:nvPr/>
        </p:nvSpPr>
        <p:spPr>
          <a:xfrm>
            <a:off x="8558784" y="2697480"/>
            <a:ext cx="3090672" cy="822960"/>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Native full-model quality, jobs/hour, completion deadline and operational cost.</a:t>
            </a:r>
            <a:endParaRPr lang="en-US" sz="1400" dirty="0"/>
          </a:p>
        </p:txBody>
      </p:sp>
      <p:sp>
        <p:nvSpPr>
          <p:cNvPr id="20" name="Shape 18"/>
          <p:cNvSpPr/>
          <p:nvPr/>
        </p:nvSpPr>
        <p:spPr>
          <a:xfrm>
            <a:off x="457200" y="3602736"/>
            <a:ext cx="11311128" cy="0"/>
          </a:xfrm>
          <a:prstGeom prst="line">
            <a:avLst/>
          </a:prstGeom>
          <a:noFill/>
          <a:ln w="8255">
            <a:solidFill>
              <a:srgbClr val="D8D8DE"/>
            </a:solidFill>
            <a:prstDash val="solid"/>
          </a:ln>
        </p:spPr>
      </p:sp>
      <p:sp>
        <p:nvSpPr>
          <p:cNvPr id="21" name="Shape 19"/>
          <p:cNvSpPr/>
          <p:nvPr/>
        </p:nvSpPr>
        <p:spPr>
          <a:xfrm>
            <a:off x="457200" y="3602736"/>
            <a:ext cx="11311128" cy="1024128"/>
          </a:xfrm>
          <a:prstGeom prst="rect">
            <a:avLst/>
          </a:prstGeom>
          <a:solidFill>
            <a:srgbClr val="FFFFFF"/>
          </a:solidFill>
          <a:ln w="10160">
            <a:solidFill>
              <a:srgbClr val="FFFFFF"/>
            </a:solidFill>
            <a:prstDash val="solid"/>
          </a:ln>
        </p:spPr>
      </p:sp>
      <p:sp>
        <p:nvSpPr>
          <p:cNvPr id="22" name="Text 20"/>
          <p:cNvSpPr/>
          <p:nvPr/>
        </p:nvSpPr>
        <p:spPr>
          <a:xfrm>
            <a:off x="576072" y="3721608"/>
            <a:ext cx="1316736" cy="822960"/>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B  Prefill / decode</a:t>
            </a:r>
            <a:endParaRPr lang="en-US" sz="1400" dirty="0"/>
          </a:p>
        </p:txBody>
      </p:sp>
      <p:sp>
        <p:nvSpPr>
          <p:cNvPr id="23" name="Text 21"/>
          <p:cNvSpPr/>
          <p:nvPr/>
        </p:nvSpPr>
        <p:spPr>
          <a:xfrm>
            <a:off x="2130552" y="3721608"/>
            <a:ext cx="2898648" cy="822960"/>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Native ATMOS decode is useful, but prompt processing is limiting.</a:t>
            </a:r>
            <a:endParaRPr lang="en-US" sz="1400" dirty="0"/>
          </a:p>
        </p:txBody>
      </p:sp>
      <p:sp>
        <p:nvSpPr>
          <p:cNvPr id="24" name="Text 22"/>
          <p:cNvSpPr/>
          <p:nvPr/>
        </p:nvSpPr>
        <p:spPr>
          <a:xfrm>
            <a:off x="5266944" y="3721608"/>
            <a:ext cx="3054096" cy="822960"/>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Share prompt-processing GPUs; independently expand generation capacity.</a:t>
            </a:r>
            <a:endParaRPr lang="en-US" sz="1400" dirty="0"/>
          </a:p>
        </p:txBody>
      </p:sp>
      <p:sp>
        <p:nvSpPr>
          <p:cNvPr id="25" name="Text 23"/>
          <p:cNvSpPr/>
          <p:nvPr/>
        </p:nvSpPr>
        <p:spPr>
          <a:xfrm>
            <a:off x="8558784" y="3721608"/>
            <a:ext cx="3090672" cy="822960"/>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Combined TTFT/TPOT improves the service after KV transfer and duplicated models.</a:t>
            </a:r>
            <a:endParaRPr lang="en-US" sz="1400" dirty="0"/>
          </a:p>
        </p:txBody>
      </p:sp>
      <p:sp>
        <p:nvSpPr>
          <p:cNvPr id="26" name="Shape 24"/>
          <p:cNvSpPr/>
          <p:nvPr/>
        </p:nvSpPr>
        <p:spPr>
          <a:xfrm>
            <a:off x="457200" y="4626864"/>
            <a:ext cx="11311128" cy="0"/>
          </a:xfrm>
          <a:prstGeom prst="line">
            <a:avLst/>
          </a:prstGeom>
          <a:noFill/>
          <a:ln w="8255">
            <a:solidFill>
              <a:srgbClr val="D8D8DE"/>
            </a:solidFill>
            <a:prstDash val="solid"/>
          </a:ln>
        </p:spPr>
      </p:sp>
      <p:sp>
        <p:nvSpPr>
          <p:cNvPr id="27" name="Shape 25"/>
          <p:cNvSpPr/>
          <p:nvPr/>
        </p:nvSpPr>
        <p:spPr>
          <a:xfrm>
            <a:off x="457200" y="4626864"/>
            <a:ext cx="11311128" cy="1024128"/>
          </a:xfrm>
          <a:prstGeom prst="rect">
            <a:avLst/>
          </a:prstGeom>
          <a:solidFill>
            <a:srgbClr val="F0F0F3"/>
          </a:solidFill>
          <a:ln w="10160">
            <a:solidFill>
              <a:srgbClr val="F0F0F3"/>
            </a:solidFill>
            <a:prstDash val="solid"/>
          </a:ln>
        </p:spPr>
      </p:sp>
      <p:sp>
        <p:nvSpPr>
          <p:cNvPr id="28" name="Text 26"/>
          <p:cNvSpPr/>
          <p:nvPr/>
        </p:nvSpPr>
        <p:spPr>
          <a:xfrm>
            <a:off x="576072" y="4745736"/>
            <a:ext cx="1316736" cy="822960"/>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C  Speculative node</a:t>
            </a:r>
            <a:endParaRPr lang="en-US" sz="1400" dirty="0"/>
          </a:p>
        </p:txBody>
      </p:sp>
      <p:sp>
        <p:nvSpPr>
          <p:cNvPr id="29" name="Text 27"/>
          <p:cNvSpPr/>
          <p:nvPr/>
        </p:nvSpPr>
        <p:spPr>
          <a:xfrm>
            <a:off x="2130552" y="4745736"/>
            <a:ext cx="2898648" cy="822960"/>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Target decoding is limiting and draft acceptance is high.</a:t>
            </a:r>
            <a:endParaRPr lang="en-US" sz="1400" dirty="0"/>
          </a:p>
        </p:txBody>
      </p:sp>
      <p:sp>
        <p:nvSpPr>
          <p:cNvPr id="30" name="Text 28"/>
          <p:cNvSpPr/>
          <p:nvPr/>
        </p:nvSpPr>
        <p:spPr>
          <a:xfrm>
            <a:off x="5266944" y="4745736"/>
            <a:ext cx="3054096" cy="822960"/>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More target-approved output or faster long answers from the same target group.</a:t>
            </a:r>
            <a:endParaRPr lang="en-US" sz="1400" dirty="0"/>
          </a:p>
        </p:txBody>
      </p:sp>
      <p:sp>
        <p:nvSpPr>
          <p:cNvPr id="31" name="Text 29"/>
          <p:cNvSpPr/>
          <p:nvPr/>
        </p:nvSpPr>
        <p:spPr>
          <a:xfrm>
            <a:off x="8558784" y="4745736"/>
            <a:ext cx="3090672" cy="822960"/>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Accepted tokens/s and latency win after drafting, rollback and protocol overhead.</a:t>
            </a:r>
            <a:endParaRPr lang="en-US" sz="1400" dirty="0"/>
          </a:p>
        </p:txBody>
      </p:sp>
      <p:sp>
        <p:nvSpPr>
          <p:cNvPr id="32" name="Shape 30"/>
          <p:cNvSpPr/>
          <p:nvPr/>
        </p:nvSpPr>
        <p:spPr>
          <a:xfrm>
            <a:off x="457200" y="5650992"/>
            <a:ext cx="11311128" cy="0"/>
          </a:xfrm>
          <a:prstGeom prst="line">
            <a:avLst/>
          </a:prstGeom>
          <a:noFill/>
          <a:ln w="8255">
            <a:solidFill>
              <a:srgbClr val="D8D8DE"/>
            </a:solidFill>
            <a:prstDash val="solid"/>
          </a:ln>
        </p:spPr>
      </p:sp>
      <p:sp>
        <p:nvSpPr>
          <p:cNvPr id="33" name="Shape 31"/>
          <p:cNvSpPr/>
          <p:nvPr/>
        </p:nvSpPr>
        <p:spPr>
          <a:xfrm>
            <a:off x="438912" y="5705856"/>
            <a:ext cx="11311128" cy="512064"/>
          </a:xfrm>
          <a:prstGeom prst="rect">
            <a:avLst/>
          </a:prstGeom>
          <a:solidFill>
            <a:srgbClr val="FBE9ED"/>
          </a:solidFill>
          <a:ln w="10160">
            <a:solidFill>
              <a:srgbClr val="FBE9ED"/>
            </a:solidFill>
            <a:prstDash val="solid"/>
          </a:ln>
        </p:spPr>
      </p:sp>
      <p:sp>
        <p:nvSpPr>
          <p:cNvPr id="34" name="Text 32"/>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THE CUSTOMER PROMISE</a:t>
            </a:r>
            <a:endParaRPr lang="en-US" sz="1300" dirty="0"/>
          </a:p>
        </p:txBody>
      </p:sp>
      <p:sp>
        <p:nvSpPr>
          <p:cNvPr id="35" name="Text 33"/>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A named model service with a known envelope, clear ownership and a reproducible benefit.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DELIVERY PLAN / DECISION</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Four gates turn the portfolio into a supported product.</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Build the native platform once. B and C are specific capability gates on top—not separate full stacks.</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14</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Simulator/emulator work can overlap. Surrogate timing is not measured ATMOS performance. Candidate owners are not partner commitments.</a:t>
            </a:r>
            <a:endParaRPr lang="en-US" sz="810" dirty="0"/>
          </a:p>
        </p:txBody>
      </p:sp>
      <p:sp>
        <p:nvSpPr>
          <p:cNvPr id="10" name="Shape 8"/>
          <p:cNvSpPr/>
          <p:nvPr/>
        </p:nvSpPr>
        <p:spPr>
          <a:xfrm>
            <a:off x="457200" y="2286000"/>
            <a:ext cx="2688336" cy="3236976"/>
          </a:xfrm>
          <a:prstGeom prst="rect">
            <a:avLst/>
          </a:prstGeom>
          <a:solidFill>
            <a:srgbClr val="FFFFFF"/>
          </a:solidFill>
          <a:ln w="10160">
            <a:solidFill>
              <a:srgbClr val="D8D8DE"/>
            </a:solidFill>
            <a:prstDash val="solid"/>
          </a:ln>
        </p:spPr>
      </p:sp>
      <p:sp>
        <p:nvSpPr>
          <p:cNvPr id="11" name="Shape 9"/>
          <p:cNvSpPr/>
          <p:nvPr/>
        </p:nvSpPr>
        <p:spPr>
          <a:xfrm>
            <a:off x="457200" y="2286000"/>
            <a:ext cx="2688336" cy="557784"/>
          </a:xfrm>
          <a:prstGeom prst="rect">
            <a:avLst/>
          </a:prstGeom>
          <a:solidFill>
            <a:srgbClr val="22212B"/>
          </a:solidFill>
          <a:ln w="10160">
            <a:solidFill>
              <a:srgbClr val="22212B"/>
            </a:solidFill>
            <a:prstDash val="solid"/>
          </a:ln>
        </p:spPr>
      </p:sp>
      <p:sp>
        <p:nvSpPr>
          <p:cNvPr id="12" name="Text 10"/>
          <p:cNvSpPr/>
          <p:nvPr/>
        </p:nvSpPr>
        <p:spPr>
          <a:xfrm>
            <a:off x="594360" y="2414016"/>
            <a:ext cx="2423160" cy="237744"/>
          </a:xfrm>
          <a:prstGeom prst="rect">
            <a:avLst/>
          </a:prstGeom>
          <a:noFill/>
          <a:ln/>
        </p:spPr>
        <p:txBody>
          <a:bodyPr wrap="square" lIns="0" tIns="0" rIns="0" bIns="0" rtlCol="0" anchor="t"/>
          <a:lstStyle/>
          <a:p>
            <a:pPr indent="0" marL="0">
              <a:buNone/>
            </a:pPr>
            <a:r>
              <a:rPr lang="en-US" sz="1400" b="1" dirty="0">
                <a:solidFill>
                  <a:srgbClr val="FFFFFF"/>
                </a:solidFill>
                <a:latin typeface="Noto Sans" pitchFamily="34" charset="0"/>
                <a:ea typeface="Noto Sans" pitchFamily="34" charset="-122"/>
                <a:cs typeface="Noto Sans" pitchFamily="34" charset="-120"/>
              </a:rPr>
              <a:t>1  SIMULATOR</a:t>
            </a:r>
            <a:endParaRPr lang="en-US" sz="1400" dirty="0"/>
          </a:p>
        </p:txBody>
      </p:sp>
      <p:sp>
        <p:nvSpPr>
          <p:cNvPr id="13" name="Text 11"/>
          <p:cNvSpPr/>
          <p:nvPr/>
        </p:nvSpPr>
        <p:spPr>
          <a:xfrm>
            <a:off x="621792" y="3072384"/>
            <a:ext cx="2368296" cy="548640"/>
          </a:xfrm>
          <a:prstGeom prst="rect">
            <a:avLst/>
          </a:prstGeom>
          <a:noFill/>
          <a:ln/>
        </p:spPr>
        <p:txBody>
          <a:bodyPr wrap="square" lIns="0" tIns="0" rIns="0" bIns="0" rtlCol="0" anchor="t"/>
          <a:lstStyle/>
          <a:p>
            <a:pPr indent="0" marL="0">
              <a:buNone/>
            </a:pPr>
            <a:r>
              <a:rPr lang="en-US" sz="1900" b="1" dirty="0">
                <a:solidFill>
                  <a:srgbClr val="22212B"/>
                </a:solidFill>
                <a:latin typeface="Noto Sans" pitchFamily="34" charset="0"/>
                <a:ea typeface="Noto Sans" pitchFamily="34" charset="-122"/>
                <a:cs typeface="Noto Sans" pitchFamily="34" charset="-120"/>
              </a:rPr>
              <a:t>Size the full native model</a:t>
            </a:r>
            <a:endParaRPr lang="en-US" sz="1900" dirty="0"/>
          </a:p>
        </p:txBody>
      </p:sp>
      <p:sp>
        <p:nvSpPr>
          <p:cNvPr id="14" name="Text 12"/>
          <p:cNvSpPr/>
          <p:nvPr/>
        </p:nvSpPr>
        <p:spPr>
          <a:xfrm>
            <a:off x="621792" y="3877056"/>
            <a:ext cx="2350008" cy="87782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Attention/KV + HBF/NPU</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Device-fabric contention</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Required service envelope</a:t>
            </a:r>
            <a:endParaRPr lang="en-US" sz="1400" dirty="0"/>
          </a:p>
        </p:txBody>
      </p:sp>
      <p:sp>
        <p:nvSpPr>
          <p:cNvPr id="15" name="Shape 13"/>
          <p:cNvSpPr/>
          <p:nvPr/>
        </p:nvSpPr>
        <p:spPr>
          <a:xfrm>
            <a:off x="621792" y="5056632"/>
            <a:ext cx="2331720" cy="292608"/>
          </a:xfrm>
          <a:prstGeom prst="rect">
            <a:avLst/>
          </a:prstGeom>
          <a:solidFill>
            <a:srgbClr val="FBE9ED"/>
          </a:solidFill>
          <a:ln w="10160">
            <a:solidFill>
              <a:srgbClr val="FBE9ED"/>
            </a:solidFill>
            <a:prstDash val="solid"/>
          </a:ln>
        </p:spPr>
      </p:sp>
      <p:sp>
        <p:nvSpPr>
          <p:cNvPr id="16" name="Text 14"/>
          <p:cNvSpPr/>
          <p:nvPr/>
        </p:nvSpPr>
        <p:spPr>
          <a:xfrm>
            <a:off x="713232" y="5097780"/>
            <a:ext cx="2148840"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PRE-SILICON</a:t>
            </a:r>
            <a:endParaRPr lang="en-US" sz="1000" dirty="0"/>
          </a:p>
        </p:txBody>
      </p:sp>
      <p:sp>
        <p:nvSpPr>
          <p:cNvPr id="17" name="Shape 15"/>
          <p:cNvSpPr/>
          <p:nvPr/>
        </p:nvSpPr>
        <p:spPr>
          <a:xfrm>
            <a:off x="3163824" y="3685032"/>
            <a:ext cx="137160" cy="0"/>
          </a:xfrm>
          <a:prstGeom prst="line">
            <a:avLst/>
          </a:prstGeom>
          <a:noFill/>
          <a:ln w="13970">
            <a:solidFill>
              <a:srgbClr val="E31837"/>
            </a:solidFill>
            <a:prstDash val="solid"/>
            <a:tailEnd type="triangle"/>
          </a:ln>
        </p:spPr>
      </p:sp>
      <p:sp>
        <p:nvSpPr>
          <p:cNvPr id="18" name="Shape 16"/>
          <p:cNvSpPr/>
          <p:nvPr/>
        </p:nvSpPr>
        <p:spPr>
          <a:xfrm>
            <a:off x="3328416" y="2286000"/>
            <a:ext cx="2688336" cy="3236976"/>
          </a:xfrm>
          <a:prstGeom prst="rect">
            <a:avLst/>
          </a:prstGeom>
          <a:solidFill>
            <a:srgbClr val="FFFFFF"/>
          </a:solidFill>
          <a:ln w="10160">
            <a:solidFill>
              <a:srgbClr val="D8D8DE"/>
            </a:solidFill>
            <a:prstDash val="solid"/>
          </a:ln>
        </p:spPr>
      </p:sp>
      <p:sp>
        <p:nvSpPr>
          <p:cNvPr id="19" name="Shape 17"/>
          <p:cNvSpPr/>
          <p:nvPr/>
        </p:nvSpPr>
        <p:spPr>
          <a:xfrm>
            <a:off x="3328416" y="2286000"/>
            <a:ext cx="2688336" cy="557784"/>
          </a:xfrm>
          <a:prstGeom prst="rect">
            <a:avLst/>
          </a:prstGeom>
          <a:solidFill>
            <a:srgbClr val="22212B"/>
          </a:solidFill>
          <a:ln w="10160">
            <a:solidFill>
              <a:srgbClr val="22212B"/>
            </a:solidFill>
            <a:prstDash val="solid"/>
          </a:ln>
        </p:spPr>
      </p:sp>
      <p:sp>
        <p:nvSpPr>
          <p:cNvPr id="20" name="Text 18"/>
          <p:cNvSpPr/>
          <p:nvPr/>
        </p:nvSpPr>
        <p:spPr>
          <a:xfrm>
            <a:off x="3465576" y="2414016"/>
            <a:ext cx="2423160" cy="237744"/>
          </a:xfrm>
          <a:prstGeom prst="rect">
            <a:avLst/>
          </a:prstGeom>
          <a:noFill/>
          <a:ln/>
        </p:spPr>
        <p:txBody>
          <a:bodyPr wrap="square" lIns="0" tIns="0" rIns="0" bIns="0" rtlCol="0" anchor="t"/>
          <a:lstStyle/>
          <a:p>
            <a:pPr indent="0" marL="0">
              <a:buNone/>
            </a:pPr>
            <a:r>
              <a:rPr lang="en-US" sz="1400" b="1" dirty="0">
                <a:solidFill>
                  <a:srgbClr val="FFFFFF"/>
                </a:solidFill>
                <a:latin typeface="Noto Sans" pitchFamily="34" charset="0"/>
                <a:ea typeface="Noto Sans" pitchFamily="34" charset="-122"/>
                <a:cs typeface="Noto Sans" pitchFamily="34" charset="-120"/>
              </a:rPr>
              <a:t>2  EMULATOR</a:t>
            </a:r>
            <a:endParaRPr lang="en-US" sz="1400" dirty="0"/>
          </a:p>
        </p:txBody>
      </p:sp>
      <p:sp>
        <p:nvSpPr>
          <p:cNvPr id="21" name="Text 19"/>
          <p:cNvSpPr/>
          <p:nvPr/>
        </p:nvSpPr>
        <p:spPr>
          <a:xfrm>
            <a:off x="3493008" y="3072384"/>
            <a:ext cx="2368296" cy="548640"/>
          </a:xfrm>
          <a:prstGeom prst="rect">
            <a:avLst/>
          </a:prstGeom>
          <a:noFill/>
          <a:ln/>
        </p:spPr>
        <p:txBody>
          <a:bodyPr wrap="square" lIns="0" tIns="0" rIns="0" bIns="0" rtlCol="0" anchor="t"/>
          <a:lstStyle/>
          <a:p>
            <a:pPr indent="0" marL="0">
              <a:buNone/>
            </a:pPr>
            <a:r>
              <a:rPr lang="en-US" sz="1900" b="1" dirty="0">
                <a:solidFill>
                  <a:srgbClr val="22212B"/>
                </a:solidFill>
                <a:latin typeface="Noto Sans" pitchFamily="34" charset="0"/>
                <a:ea typeface="Noto Sans" pitchFamily="34" charset="-122"/>
                <a:cs typeface="Noto Sans" pitchFamily="34" charset="-120"/>
              </a:rPr>
              <a:t>Operate the real interfaces</a:t>
            </a:r>
            <a:endParaRPr lang="en-US" sz="1900" dirty="0"/>
          </a:p>
        </p:txBody>
      </p:sp>
      <p:sp>
        <p:nvSpPr>
          <p:cNvPr id="22" name="Text 20"/>
          <p:cNvSpPr/>
          <p:nvPr/>
        </p:nvSpPr>
        <p:spPr>
          <a:xfrm>
            <a:off x="3493008" y="3877056"/>
            <a:ext cx="2350008" cy="87782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Complete request/response</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Pack, queue, failure contracts</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Correct reference execution</a:t>
            </a:r>
            <a:endParaRPr lang="en-US" sz="1400" dirty="0"/>
          </a:p>
        </p:txBody>
      </p:sp>
      <p:sp>
        <p:nvSpPr>
          <p:cNvPr id="23" name="Shape 21"/>
          <p:cNvSpPr/>
          <p:nvPr/>
        </p:nvSpPr>
        <p:spPr>
          <a:xfrm>
            <a:off x="3493008" y="5056632"/>
            <a:ext cx="2331720" cy="292608"/>
          </a:xfrm>
          <a:prstGeom prst="rect">
            <a:avLst/>
          </a:prstGeom>
          <a:solidFill>
            <a:srgbClr val="FBE9ED"/>
          </a:solidFill>
          <a:ln w="10160">
            <a:solidFill>
              <a:srgbClr val="FBE9ED"/>
            </a:solidFill>
            <a:prstDash val="solid"/>
          </a:ln>
        </p:spPr>
      </p:sp>
      <p:sp>
        <p:nvSpPr>
          <p:cNvPr id="24" name="Text 22"/>
          <p:cNvSpPr/>
          <p:nvPr/>
        </p:nvSpPr>
        <p:spPr>
          <a:xfrm>
            <a:off x="3584448" y="5097780"/>
            <a:ext cx="2148840"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PRE-SILICON</a:t>
            </a:r>
            <a:endParaRPr lang="en-US" sz="1000" dirty="0"/>
          </a:p>
        </p:txBody>
      </p:sp>
      <p:sp>
        <p:nvSpPr>
          <p:cNvPr id="25" name="Shape 23"/>
          <p:cNvSpPr/>
          <p:nvPr/>
        </p:nvSpPr>
        <p:spPr>
          <a:xfrm>
            <a:off x="6035040" y="3685032"/>
            <a:ext cx="137160" cy="0"/>
          </a:xfrm>
          <a:prstGeom prst="line">
            <a:avLst/>
          </a:prstGeom>
          <a:noFill/>
          <a:ln w="13970">
            <a:solidFill>
              <a:srgbClr val="E31837"/>
            </a:solidFill>
            <a:prstDash val="solid"/>
            <a:tailEnd type="triangle"/>
          </a:ln>
        </p:spPr>
      </p:sp>
      <p:sp>
        <p:nvSpPr>
          <p:cNvPr id="26" name="Shape 24"/>
          <p:cNvSpPr/>
          <p:nvPr/>
        </p:nvSpPr>
        <p:spPr>
          <a:xfrm>
            <a:off x="6199632" y="2286000"/>
            <a:ext cx="2688336" cy="3236976"/>
          </a:xfrm>
          <a:prstGeom prst="rect">
            <a:avLst/>
          </a:prstGeom>
          <a:solidFill>
            <a:srgbClr val="FFFFFF"/>
          </a:solidFill>
          <a:ln w="10160">
            <a:solidFill>
              <a:srgbClr val="D8D8DE"/>
            </a:solidFill>
            <a:prstDash val="solid"/>
          </a:ln>
        </p:spPr>
      </p:sp>
      <p:sp>
        <p:nvSpPr>
          <p:cNvPr id="27" name="Shape 25"/>
          <p:cNvSpPr/>
          <p:nvPr/>
        </p:nvSpPr>
        <p:spPr>
          <a:xfrm>
            <a:off x="6199632" y="2286000"/>
            <a:ext cx="2688336" cy="557784"/>
          </a:xfrm>
          <a:prstGeom prst="rect">
            <a:avLst/>
          </a:prstGeom>
          <a:solidFill>
            <a:srgbClr val="E31837"/>
          </a:solidFill>
          <a:ln w="10160">
            <a:solidFill>
              <a:srgbClr val="E31837"/>
            </a:solidFill>
            <a:prstDash val="solid"/>
          </a:ln>
        </p:spPr>
      </p:sp>
      <p:sp>
        <p:nvSpPr>
          <p:cNvPr id="28" name="Text 26"/>
          <p:cNvSpPr/>
          <p:nvPr/>
        </p:nvSpPr>
        <p:spPr>
          <a:xfrm>
            <a:off x="6336792" y="2414016"/>
            <a:ext cx="2423160" cy="237744"/>
          </a:xfrm>
          <a:prstGeom prst="rect">
            <a:avLst/>
          </a:prstGeom>
          <a:noFill/>
          <a:ln/>
        </p:spPr>
        <p:txBody>
          <a:bodyPr wrap="square" lIns="0" tIns="0" rIns="0" bIns="0" rtlCol="0" anchor="t"/>
          <a:lstStyle/>
          <a:p>
            <a:pPr indent="0" marL="0">
              <a:buNone/>
            </a:pPr>
            <a:r>
              <a:rPr lang="en-US" sz="1400" b="1" dirty="0">
                <a:solidFill>
                  <a:srgbClr val="FFFFFF"/>
                </a:solidFill>
                <a:latin typeface="Noto Sans" pitchFamily="34" charset="0"/>
                <a:ea typeface="Noto Sans" pitchFamily="34" charset="-122"/>
                <a:cs typeface="Noto Sans" pitchFamily="34" charset="-120"/>
              </a:rPr>
              <a:t>3  PHYSICAL NODE</a:t>
            </a:r>
            <a:endParaRPr lang="en-US" sz="1400" dirty="0"/>
          </a:p>
        </p:txBody>
      </p:sp>
      <p:sp>
        <p:nvSpPr>
          <p:cNvPr id="29" name="Text 27"/>
          <p:cNvSpPr/>
          <p:nvPr/>
        </p:nvSpPr>
        <p:spPr>
          <a:xfrm>
            <a:off x="6364224" y="3072384"/>
            <a:ext cx="2368296" cy="548640"/>
          </a:xfrm>
          <a:prstGeom prst="rect">
            <a:avLst/>
          </a:prstGeom>
          <a:noFill/>
          <a:ln/>
        </p:spPr>
        <p:txBody>
          <a:bodyPr wrap="square" lIns="0" tIns="0" rIns="0" bIns="0" rtlCol="0" anchor="t"/>
          <a:lstStyle/>
          <a:p>
            <a:pPr indent="0" marL="0">
              <a:buNone/>
            </a:pPr>
            <a:r>
              <a:rPr lang="en-US" sz="1900" b="1" dirty="0">
                <a:solidFill>
                  <a:srgbClr val="22212B"/>
                </a:solidFill>
                <a:latin typeface="Noto Sans" pitchFamily="34" charset="0"/>
                <a:ea typeface="Noto Sans" pitchFamily="34" charset="-122"/>
                <a:cs typeface="Noto Sans" pitchFamily="34" charset="-120"/>
              </a:rPr>
              <a:t>Prove native A first</a:t>
            </a:r>
            <a:endParaRPr lang="en-US" sz="1900" dirty="0"/>
          </a:p>
        </p:txBody>
      </p:sp>
      <p:sp>
        <p:nvSpPr>
          <p:cNvPr id="30" name="Text 28"/>
          <p:cNvSpPr/>
          <p:nvPr/>
        </p:nvSpPr>
        <p:spPr>
          <a:xfrm>
            <a:off x="6364224" y="3877056"/>
            <a:ext cx="2350008" cy="87782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Actual quality + latency</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Working-memory/fabric fit</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Then test B handoff / C verify</a:t>
            </a:r>
            <a:endParaRPr lang="en-US" sz="1400" dirty="0"/>
          </a:p>
        </p:txBody>
      </p:sp>
      <p:sp>
        <p:nvSpPr>
          <p:cNvPr id="31" name="Shape 29"/>
          <p:cNvSpPr/>
          <p:nvPr/>
        </p:nvSpPr>
        <p:spPr>
          <a:xfrm>
            <a:off x="6364224" y="5056632"/>
            <a:ext cx="2331720" cy="292608"/>
          </a:xfrm>
          <a:prstGeom prst="rect">
            <a:avLst/>
          </a:prstGeom>
          <a:solidFill>
            <a:srgbClr val="FBE9ED"/>
          </a:solidFill>
          <a:ln w="10160">
            <a:solidFill>
              <a:srgbClr val="FBE9ED"/>
            </a:solidFill>
            <a:prstDash val="solid"/>
          </a:ln>
        </p:spPr>
      </p:sp>
      <p:sp>
        <p:nvSpPr>
          <p:cNvPr id="32" name="Text 30"/>
          <p:cNvSpPr/>
          <p:nvPr/>
        </p:nvSpPr>
        <p:spPr>
          <a:xfrm>
            <a:off x="6455664" y="5097780"/>
            <a:ext cx="2148840"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SILICON GATE</a:t>
            </a:r>
            <a:endParaRPr lang="en-US" sz="1000" dirty="0"/>
          </a:p>
        </p:txBody>
      </p:sp>
      <p:sp>
        <p:nvSpPr>
          <p:cNvPr id="33" name="Shape 31"/>
          <p:cNvSpPr/>
          <p:nvPr/>
        </p:nvSpPr>
        <p:spPr>
          <a:xfrm>
            <a:off x="8906256" y="3685032"/>
            <a:ext cx="137160" cy="0"/>
          </a:xfrm>
          <a:prstGeom prst="line">
            <a:avLst/>
          </a:prstGeom>
          <a:noFill/>
          <a:ln w="13970">
            <a:solidFill>
              <a:srgbClr val="E31837"/>
            </a:solidFill>
            <a:prstDash val="solid"/>
            <a:tailEnd type="triangle"/>
          </a:ln>
        </p:spPr>
      </p:sp>
      <p:sp>
        <p:nvSpPr>
          <p:cNvPr id="34" name="Shape 32"/>
          <p:cNvSpPr/>
          <p:nvPr/>
        </p:nvSpPr>
        <p:spPr>
          <a:xfrm>
            <a:off x="9070848" y="2286000"/>
            <a:ext cx="2688336" cy="3236976"/>
          </a:xfrm>
          <a:prstGeom prst="rect">
            <a:avLst/>
          </a:prstGeom>
          <a:solidFill>
            <a:srgbClr val="FFFFFF"/>
          </a:solidFill>
          <a:ln w="10160">
            <a:solidFill>
              <a:srgbClr val="D8D8DE"/>
            </a:solidFill>
            <a:prstDash val="solid"/>
          </a:ln>
        </p:spPr>
      </p:sp>
      <p:sp>
        <p:nvSpPr>
          <p:cNvPr id="35" name="Shape 33"/>
          <p:cNvSpPr/>
          <p:nvPr/>
        </p:nvSpPr>
        <p:spPr>
          <a:xfrm>
            <a:off x="9070848" y="2286000"/>
            <a:ext cx="2688336" cy="557784"/>
          </a:xfrm>
          <a:prstGeom prst="rect">
            <a:avLst/>
          </a:prstGeom>
          <a:solidFill>
            <a:srgbClr val="22212B"/>
          </a:solidFill>
          <a:ln w="10160">
            <a:solidFill>
              <a:srgbClr val="22212B"/>
            </a:solidFill>
            <a:prstDash val="solid"/>
          </a:ln>
        </p:spPr>
      </p:sp>
      <p:sp>
        <p:nvSpPr>
          <p:cNvPr id="36" name="Text 34"/>
          <p:cNvSpPr/>
          <p:nvPr/>
        </p:nvSpPr>
        <p:spPr>
          <a:xfrm>
            <a:off x="9208008" y="2414016"/>
            <a:ext cx="2423160" cy="237744"/>
          </a:xfrm>
          <a:prstGeom prst="rect">
            <a:avLst/>
          </a:prstGeom>
          <a:noFill/>
          <a:ln/>
        </p:spPr>
        <p:txBody>
          <a:bodyPr wrap="square" lIns="0" tIns="0" rIns="0" bIns="0" rtlCol="0" anchor="t"/>
          <a:lstStyle/>
          <a:p>
            <a:pPr indent="0" marL="0">
              <a:buNone/>
            </a:pPr>
            <a:r>
              <a:rPr lang="en-US" sz="1400" b="1" dirty="0">
                <a:solidFill>
                  <a:srgbClr val="FFFFFF"/>
                </a:solidFill>
                <a:latin typeface="Noto Sans" pitchFamily="34" charset="0"/>
                <a:ea typeface="Noto Sans" pitchFamily="34" charset="-122"/>
                <a:cs typeface="Noto Sans" pitchFamily="34" charset="-120"/>
              </a:rPr>
              <a:t>4  CUSTOMER PILOT</a:t>
            </a:r>
            <a:endParaRPr lang="en-US" sz="1400" dirty="0"/>
          </a:p>
        </p:txBody>
      </p:sp>
      <p:sp>
        <p:nvSpPr>
          <p:cNvPr id="37" name="Text 35"/>
          <p:cNvSpPr/>
          <p:nvPr/>
        </p:nvSpPr>
        <p:spPr>
          <a:xfrm>
            <a:off x="9235440" y="3072384"/>
            <a:ext cx="2368296" cy="548640"/>
          </a:xfrm>
          <a:prstGeom prst="rect">
            <a:avLst/>
          </a:prstGeom>
          <a:noFill/>
          <a:ln/>
        </p:spPr>
        <p:txBody>
          <a:bodyPr wrap="square" lIns="0" tIns="0" rIns="0" bIns="0" rtlCol="0" anchor="t"/>
          <a:lstStyle/>
          <a:p>
            <a:pPr indent="0" marL="0">
              <a:buNone/>
            </a:pPr>
            <a:r>
              <a:rPr lang="en-US" sz="1900" b="1" dirty="0">
                <a:solidFill>
                  <a:srgbClr val="22212B"/>
                </a:solidFill>
                <a:latin typeface="Noto Sans" pitchFamily="34" charset="0"/>
                <a:ea typeface="Noto Sans" pitchFamily="34" charset="-122"/>
                <a:cs typeface="Noto Sans" pitchFamily="34" charset="-120"/>
              </a:rPr>
              <a:t>Demonstrate useful work</a:t>
            </a:r>
            <a:endParaRPr lang="en-US" sz="1900" dirty="0"/>
          </a:p>
        </p:txBody>
      </p:sp>
      <p:sp>
        <p:nvSpPr>
          <p:cNvPr id="38" name="Text 36"/>
          <p:cNvSpPr/>
          <p:nvPr/>
        </p:nvSpPr>
        <p:spPr>
          <a:xfrm>
            <a:off x="9235440" y="3877056"/>
            <a:ext cx="2350008" cy="877824"/>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Approved bank job trace</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Failover, update and recovery</a:t>
            </a:r>
            <a:endParaRPr lang="en-US" sz="1400" dirty="0"/>
          </a:p>
          <a:p>
            <a:pPr indent="0" marL="0">
              <a:buNone/>
            </a:pPr>
            <a:r>
              <a:rPr lang="en-US" sz="1400" dirty="0">
                <a:solidFill>
                  <a:srgbClr val="62636E"/>
                </a:solidFill>
                <a:latin typeface="Noto Sans" pitchFamily="34" charset="0"/>
                <a:ea typeface="Noto Sans" pitchFamily="34" charset="-122"/>
                <a:cs typeface="Noto Sans" pitchFamily="34" charset="-120"/>
              </a:rPr>
              <a:t>Measured business benefit</a:t>
            </a:r>
            <a:endParaRPr lang="en-US" sz="1400" dirty="0"/>
          </a:p>
        </p:txBody>
      </p:sp>
      <p:sp>
        <p:nvSpPr>
          <p:cNvPr id="39" name="Shape 37"/>
          <p:cNvSpPr/>
          <p:nvPr/>
        </p:nvSpPr>
        <p:spPr>
          <a:xfrm>
            <a:off x="9235440" y="5056632"/>
            <a:ext cx="2331720" cy="292608"/>
          </a:xfrm>
          <a:prstGeom prst="rect">
            <a:avLst/>
          </a:prstGeom>
          <a:solidFill>
            <a:srgbClr val="FBE9ED"/>
          </a:solidFill>
          <a:ln w="10160">
            <a:solidFill>
              <a:srgbClr val="FBE9ED"/>
            </a:solidFill>
            <a:prstDash val="solid"/>
          </a:ln>
        </p:spPr>
      </p:sp>
      <p:sp>
        <p:nvSpPr>
          <p:cNvPr id="40" name="Text 38"/>
          <p:cNvSpPr/>
          <p:nvPr/>
        </p:nvSpPr>
        <p:spPr>
          <a:xfrm>
            <a:off x="9326880" y="5097780"/>
            <a:ext cx="2148840"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RELEASE GATE</a:t>
            </a:r>
            <a:endParaRPr lang="en-US" sz="1000" dirty="0"/>
          </a:p>
        </p:txBody>
      </p:sp>
      <p:sp>
        <p:nvSpPr>
          <p:cNvPr id="41" name="Shape 39"/>
          <p:cNvSpPr/>
          <p:nvPr/>
        </p:nvSpPr>
        <p:spPr>
          <a:xfrm>
            <a:off x="438912" y="5705856"/>
            <a:ext cx="11311128" cy="512064"/>
          </a:xfrm>
          <a:prstGeom prst="rect">
            <a:avLst/>
          </a:prstGeom>
          <a:solidFill>
            <a:srgbClr val="FBE9ED"/>
          </a:solidFill>
          <a:ln w="10160">
            <a:solidFill>
              <a:srgbClr val="FBE9ED"/>
            </a:solidFill>
            <a:prstDash val="solid"/>
          </a:ln>
        </p:spPr>
      </p:sp>
      <p:sp>
        <p:nvSpPr>
          <p:cNvPr id="42" name="Text 40"/>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APPROVE NOW</a:t>
            </a:r>
            <a:endParaRPr lang="en-US" sz="1300" dirty="0"/>
          </a:p>
        </p:txBody>
      </p:sp>
      <p:sp>
        <p:nvSpPr>
          <p:cNvPr id="43" name="Text 41"/>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One model/workload • a TT native-runtime scope • an OEM memory/fabric study • one pilot owner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BACKUP / INTERFACE CONTRACTS</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Three contracts—not one generic “ATMOS adapter.”</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The integration boundary determines engineering work and what may cross it.</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15</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Expanded engineering detail derived from A/B/C boundaries. [S5–S10] provide framework/algorithm precedents only.</a:t>
            </a:r>
            <a:endParaRPr lang="en-US" sz="810" dirty="0"/>
          </a:p>
        </p:txBody>
      </p:sp>
      <p:sp>
        <p:nvSpPr>
          <p:cNvPr id="10" name="Shape 8"/>
          <p:cNvSpPr/>
          <p:nvPr/>
        </p:nvSpPr>
        <p:spPr>
          <a:xfrm>
            <a:off x="457200" y="2103120"/>
            <a:ext cx="11311128" cy="438912"/>
          </a:xfrm>
          <a:prstGeom prst="rect">
            <a:avLst/>
          </a:prstGeom>
          <a:solidFill>
            <a:srgbClr val="22212B"/>
          </a:solidFill>
          <a:ln w="10160">
            <a:solidFill>
              <a:srgbClr val="22212B"/>
            </a:solidFill>
            <a:prstDash val="solid"/>
          </a:ln>
        </p:spPr>
      </p:sp>
      <p:sp>
        <p:nvSpPr>
          <p:cNvPr id="11" name="Text 9"/>
          <p:cNvSpPr/>
          <p:nvPr/>
        </p:nvSpPr>
        <p:spPr>
          <a:xfrm>
            <a:off x="576072" y="2185416"/>
            <a:ext cx="169164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Contract</a:t>
            </a:r>
            <a:endParaRPr lang="en-US" sz="1200" dirty="0"/>
          </a:p>
        </p:txBody>
      </p:sp>
      <p:sp>
        <p:nvSpPr>
          <p:cNvPr id="12" name="Text 10"/>
          <p:cNvSpPr/>
          <p:nvPr/>
        </p:nvSpPr>
        <p:spPr>
          <a:xfrm>
            <a:off x="2496312" y="2185416"/>
            <a:ext cx="3849624"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What crosses</a:t>
            </a:r>
            <a:endParaRPr lang="en-US" sz="1200" dirty="0"/>
          </a:p>
        </p:txBody>
      </p:sp>
      <p:sp>
        <p:nvSpPr>
          <p:cNvPr id="13" name="Text 11"/>
          <p:cNvSpPr/>
          <p:nvPr/>
        </p:nvSpPr>
        <p:spPr>
          <a:xfrm>
            <a:off x="6574536" y="2185416"/>
            <a:ext cx="5084064"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What we must implement / verify</a:t>
            </a:r>
            <a:endParaRPr lang="en-US" sz="1200" dirty="0"/>
          </a:p>
        </p:txBody>
      </p:sp>
      <p:sp>
        <p:nvSpPr>
          <p:cNvPr id="14" name="Shape 12"/>
          <p:cNvSpPr/>
          <p:nvPr/>
        </p:nvSpPr>
        <p:spPr>
          <a:xfrm>
            <a:off x="457200" y="2542032"/>
            <a:ext cx="11311128" cy="960120"/>
          </a:xfrm>
          <a:prstGeom prst="rect">
            <a:avLst/>
          </a:prstGeom>
          <a:solidFill>
            <a:srgbClr val="F0F0F3"/>
          </a:solidFill>
          <a:ln w="10160">
            <a:solidFill>
              <a:srgbClr val="F0F0F3"/>
            </a:solidFill>
            <a:prstDash val="solid"/>
          </a:ln>
        </p:spPr>
      </p:sp>
      <p:sp>
        <p:nvSpPr>
          <p:cNvPr id="15" name="Text 13"/>
          <p:cNvSpPr/>
          <p:nvPr/>
        </p:nvSpPr>
        <p:spPr>
          <a:xfrm>
            <a:off x="576072" y="2660904"/>
            <a:ext cx="1682496" cy="758952"/>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A  Request API</a:t>
            </a:r>
            <a:endParaRPr lang="en-US" sz="1400" dirty="0"/>
          </a:p>
        </p:txBody>
      </p:sp>
      <p:sp>
        <p:nvSpPr>
          <p:cNvPr id="16" name="Text 14"/>
          <p:cNvSpPr/>
          <p:nvPr/>
        </p:nvSpPr>
        <p:spPr>
          <a:xfrm>
            <a:off x="2496312" y="2660904"/>
            <a:ext cx="3840480" cy="758952"/>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Prompt / token input, model/version, generation limits, tenant identity; response or job result.</a:t>
            </a:r>
            <a:endParaRPr lang="en-US" sz="1400" dirty="0"/>
          </a:p>
        </p:txBody>
      </p:sp>
      <p:sp>
        <p:nvSpPr>
          <p:cNvPr id="17" name="Text 15"/>
          <p:cNvSpPr/>
          <p:nvPr/>
        </p:nvSpPr>
        <p:spPr>
          <a:xfrm>
            <a:off x="6574536" y="2660904"/>
            <a:ext cx="5074920" cy="758952"/>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Tokenizer and API parity; model readiness; queue/deadline admission; isolation; cancellation and complete-group failure behavior.</a:t>
            </a:r>
            <a:endParaRPr lang="en-US" sz="1400" dirty="0"/>
          </a:p>
        </p:txBody>
      </p:sp>
      <p:sp>
        <p:nvSpPr>
          <p:cNvPr id="18" name="Shape 16"/>
          <p:cNvSpPr/>
          <p:nvPr/>
        </p:nvSpPr>
        <p:spPr>
          <a:xfrm>
            <a:off x="457200" y="3502152"/>
            <a:ext cx="11311128" cy="0"/>
          </a:xfrm>
          <a:prstGeom prst="line">
            <a:avLst/>
          </a:prstGeom>
          <a:noFill/>
          <a:ln w="8255">
            <a:solidFill>
              <a:srgbClr val="D8D8DE"/>
            </a:solidFill>
            <a:prstDash val="solid"/>
          </a:ln>
        </p:spPr>
      </p:sp>
      <p:sp>
        <p:nvSpPr>
          <p:cNvPr id="19" name="Shape 17"/>
          <p:cNvSpPr/>
          <p:nvPr/>
        </p:nvSpPr>
        <p:spPr>
          <a:xfrm>
            <a:off x="457200" y="3502152"/>
            <a:ext cx="11311128" cy="1051560"/>
          </a:xfrm>
          <a:prstGeom prst="rect">
            <a:avLst/>
          </a:prstGeom>
          <a:solidFill>
            <a:srgbClr val="FFFFFF"/>
          </a:solidFill>
          <a:ln w="10160">
            <a:solidFill>
              <a:srgbClr val="FFFFFF"/>
            </a:solidFill>
            <a:prstDash val="solid"/>
          </a:ln>
        </p:spPr>
      </p:sp>
      <p:sp>
        <p:nvSpPr>
          <p:cNvPr id="20" name="Text 18"/>
          <p:cNvSpPr/>
          <p:nvPr/>
        </p:nvSpPr>
        <p:spPr>
          <a:xfrm>
            <a:off x="576072" y="3621024"/>
            <a:ext cx="1682496" cy="850392"/>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B  KV handoff</a:t>
            </a:r>
            <a:endParaRPr lang="en-US" sz="1400" dirty="0"/>
          </a:p>
        </p:txBody>
      </p:sp>
      <p:sp>
        <p:nvSpPr>
          <p:cNvPr id="21" name="Text 19"/>
          <p:cNvSpPr/>
          <p:nvPr/>
        </p:nvSpPr>
        <p:spPr>
          <a:xfrm>
            <a:off x="2496312" y="3621024"/>
            <a:ext cx="3840480" cy="850392"/>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Target KV blocks, model hash, positions, head/shard map, dtype/scales, block layout, transfer fences and continuation state.</a:t>
            </a:r>
            <a:endParaRPr lang="en-US" sz="1400" dirty="0"/>
          </a:p>
        </p:txBody>
      </p:sp>
      <p:sp>
        <p:nvSpPr>
          <p:cNvPr id="22" name="Text 20"/>
          <p:cNvSpPr/>
          <p:nvPr/>
        </p:nvSpPr>
        <p:spPr>
          <a:xfrm>
            <a:off x="6574536" y="3621024"/>
            <a:ext cx="5074920" cy="850392"/>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Correct KV conversion/import; ownership transfer; first-token contract; stale/reset handling; no duplicated/missing state; measured handoff.</a:t>
            </a:r>
            <a:endParaRPr lang="en-US" sz="1400" dirty="0"/>
          </a:p>
        </p:txBody>
      </p:sp>
      <p:sp>
        <p:nvSpPr>
          <p:cNvPr id="23" name="Shape 21"/>
          <p:cNvSpPr/>
          <p:nvPr/>
        </p:nvSpPr>
        <p:spPr>
          <a:xfrm>
            <a:off x="457200" y="4553712"/>
            <a:ext cx="11311128" cy="0"/>
          </a:xfrm>
          <a:prstGeom prst="line">
            <a:avLst/>
          </a:prstGeom>
          <a:noFill/>
          <a:ln w="8255">
            <a:solidFill>
              <a:srgbClr val="D8D8DE"/>
            </a:solidFill>
            <a:prstDash val="solid"/>
          </a:ln>
        </p:spPr>
      </p:sp>
      <p:sp>
        <p:nvSpPr>
          <p:cNvPr id="24" name="Shape 22"/>
          <p:cNvSpPr/>
          <p:nvPr/>
        </p:nvSpPr>
        <p:spPr>
          <a:xfrm>
            <a:off x="457200" y="4553712"/>
            <a:ext cx="11311128" cy="1051560"/>
          </a:xfrm>
          <a:prstGeom prst="rect">
            <a:avLst/>
          </a:prstGeom>
          <a:solidFill>
            <a:srgbClr val="F0F0F3"/>
          </a:solidFill>
          <a:ln w="10160">
            <a:solidFill>
              <a:srgbClr val="F0F0F3"/>
            </a:solidFill>
            <a:prstDash val="solid"/>
          </a:ln>
        </p:spPr>
      </p:sp>
      <p:sp>
        <p:nvSpPr>
          <p:cNvPr id="25" name="Text 23"/>
          <p:cNvSpPr/>
          <p:nvPr/>
        </p:nvSpPr>
        <p:spPr>
          <a:xfrm>
            <a:off x="576072" y="4672584"/>
            <a:ext cx="1682496" cy="850392"/>
          </a:xfrm>
          <a:prstGeom prst="rect">
            <a:avLst/>
          </a:prstGeom>
          <a:noFill/>
          <a:ln/>
        </p:spPr>
        <p:txBody>
          <a:bodyPr wrap="square" lIns="0" tIns="0" rIns="0" bIns="0" rtlCol="0" anchor="t"/>
          <a:lstStyle/>
          <a:p>
            <a:pPr indent="0" marL="0">
              <a:buNone/>
            </a:pPr>
            <a:r>
              <a:rPr lang="en-US" sz="1400" b="1" dirty="0">
                <a:solidFill>
                  <a:srgbClr val="22212B"/>
                </a:solidFill>
                <a:latin typeface="Noto Sans" pitchFamily="34" charset="0"/>
                <a:ea typeface="Noto Sans" pitchFamily="34" charset="-122"/>
                <a:cs typeface="Noto Sans" pitchFamily="34" charset="-120"/>
              </a:rPr>
              <a:t>C  Verification cycle</a:t>
            </a:r>
            <a:endParaRPr lang="en-US" sz="1400" dirty="0"/>
          </a:p>
        </p:txBody>
      </p:sp>
      <p:sp>
        <p:nvSpPr>
          <p:cNvPr id="26" name="Text 24"/>
          <p:cNvSpPr/>
          <p:nvPr/>
        </p:nvSpPr>
        <p:spPr>
          <a:xfrm>
            <a:off x="2496312" y="4672584"/>
            <a:ext cx="3840480" cy="850392"/>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Draft candidates + required probability / protocol metadata; committed tokens and corrections back.</a:t>
            </a:r>
            <a:endParaRPr lang="en-US" sz="1400" dirty="0"/>
          </a:p>
        </p:txBody>
      </p:sp>
      <p:sp>
        <p:nvSpPr>
          <p:cNvPr id="27" name="Text 25"/>
          <p:cNvSpPr/>
          <p:nvPr/>
        </p:nvSpPr>
        <p:spPr>
          <a:xfrm>
            <a:off x="6574536" y="4672584"/>
            <a:ext cx="5074920" cy="850392"/>
          </a:xfrm>
          <a:prstGeom prst="rect">
            <a:avLst/>
          </a:prstGeom>
          <a:noFill/>
          <a:ln/>
        </p:spPr>
        <p:txBody>
          <a:bodyPr wrap="square" lIns="0" tIns="0" rIns="0" bIns="0" rtlCol="0" anchor="t"/>
          <a:lstStyle/>
          <a:p>
            <a:pPr indent="0" marL="0">
              <a:buNone/>
            </a:pPr>
            <a:r>
              <a:rPr lang="en-US" sz="1400" dirty="0">
                <a:solidFill>
                  <a:srgbClr val="62636E"/>
                </a:solidFill>
                <a:latin typeface="Noto Sans" pitchFamily="34" charset="0"/>
                <a:ea typeface="Noto Sans" pitchFamily="34" charset="-122"/>
                <a:cs typeface="Noto Sans" pitchFamily="34" charset="-120"/>
              </a:rPr>
              <a:t>Correct target scoring/masks; acceptance/correction; speculative KV commit/rollback; tokenizer alignment; drafter resynchronization.</a:t>
            </a:r>
            <a:endParaRPr lang="en-US" sz="1400" dirty="0"/>
          </a:p>
        </p:txBody>
      </p:sp>
      <p:sp>
        <p:nvSpPr>
          <p:cNvPr id="28" name="Shape 26"/>
          <p:cNvSpPr/>
          <p:nvPr/>
        </p:nvSpPr>
        <p:spPr>
          <a:xfrm>
            <a:off x="457200" y="5605272"/>
            <a:ext cx="11311128" cy="0"/>
          </a:xfrm>
          <a:prstGeom prst="line">
            <a:avLst/>
          </a:prstGeom>
          <a:noFill/>
          <a:ln w="8255">
            <a:solidFill>
              <a:srgbClr val="D8D8DE"/>
            </a:solidFill>
            <a:prstDash val="solid"/>
          </a:ln>
        </p:spPr>
      </p:sp>
      <p:sp>
        <p:nvSpPr>
          <p:cNvPr id="29" name="Shape 27"/>
          <p:cNvSpPr/>
          <p:nvPr/>
        </p:nvSpPr>
        <p:spPr>
          <a:xfrm>
            <a:off x="438912" y="5705856"/>
            <a:ext cx="11311128" cy="512064"/>
          </a:xfrm>
          <a:prstGeom prst="rect">
            <a:avLst/>
          </a:prstGeom>
          <a:solidFill>
            <a:srgbClr val="FBE9ED"/>
          </a:solidFill>
          <a:ln w="10160">
            <a:solidFill>
              <a:srgbClr val="FBE9ED"/>
            </a:solidFill>
            <a:prstDash val="solid"/>
          </a:ln>
        </p:spPr>
      </p:sp>
      <p:sp>
        <p:nvSpPr>
          <p:cNvPr id="30" name="Text 28"/>
          <p:cNvSpPr/>
          <p:nvPr/>
        </p:nvSpPr>
        <p:spPr>
          <a:xfrm>
            <a:off x="603504" y="5801868"/>
            <a:ext cx="2743200" cy="292608"/>
          </a:xfrm>
          <a:prstGeom prst="rect">
            <a:avLst/>
          </a:prstGeom>
          <a:noFill/>
          <a:ln/>
        </p:spPr>
        <p:txBody>
          <a:bodyPr wrap="square" lIns="0" tIns="0" rIns="0" bIns="0" rtlCol="0" anchor="t"/>
          <a:lstStyle/>
          <a:p>
            <a:pPr indent="0" marL="0">
              <a:buNone/>
            </a:pPr>
            <a:r>
              <a:rPr lang="en-US" sz="1300" b="1" dirty="0">
                <a:solidFill>
                  <a:srgbClr val="B90C2A"/>
                </a:solidFill>
                <a:latin typeface="Noto Sans" pitchFamily="34" charset="0"/>
                <a:ea typeface="Noto Sans" pitchFamily="34" charset="-122"/>
                <a:cs typeface="Noto Sans" pitchFamily="34" charset="-120"/>
              </a:rPr>
              <a:t>COMMON BACKEND</a:t>
            </a:r>
            <a:endParaRPr lang="en-US" sz="1300" dirty="0"/>
          </a:p>
        </p:txBody>
      </p:sp>
      <p:sp>
        <p:nvSpPr>
          <p:cNvPr id="31" name="Text 29"/>
          <p:cNvSpPr/>
          <p:nvPr/>
        </p:nvSpPr>
        <p:spPr>
          <a:xfrm>
            <a:off x="3154680" y="5801868"/>
            <a:ext cx="8339328" cy="292608"/>
          </a:xfrm>
          <a:prstGeom prst="rect">
            <a:avLst/>
          </a:prstGeom>
          <a:noFill/>
          <a:ln/>
        </p:spPr>
        <p:txBody>
          <a:bodyPr wrap="square" lIns="0" tIns="0" rIns="0" bIns="0" rtlCol="0" anchor="t"/>
          <a:lstStyle/>
          <a:p>
            <a:pPr indent="0" marL="0">
              <a:buNone/>
            </a:pPr>
            <a:r>
              <a:rPr lang="en-US" sz="1300" dirty="0">
                <a:solidFill>
                  <a:srgbClr val="22212B"/>
                </a:solidFill>
                <a:latin typeface="Noto Sans" pitchFamily="34" charset="0"/>
                <a:ea typeface="Noto Sans" pitchFamily="34" charset="-122"/>
                <a:cs typeface="Noto Sans" pitchFamily="34" charset="-120"/>
              </a:rPr>
              <a:t>Full-model compiler/loader + attention/KV + MoE runtime + device fabric; not an FFN-only pack.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BACKUP / MEMORY ARITHMETIC</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Size prompt transfer and active state separately.</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Qwen GQA example: FP8 model weights do not imply FP8 KV. The table assumes BF16 KV throughout.</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16</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Calculated from [S2–S3]. Logical bytes only: add block rounding, replication, converter/staging buffers and native workspace.</a:t>
            </a:r>
            <a:endParaRPr lang="en-US" sz="810" dirty="0"/>
          </a:p>
        </p:txBody>
      </p:sp>
      <p:sp>
        <p:nvSpPr>
          <p:cNvPr id="10" name="Shape 8"/>
          <p:cNvSpPr/>
          <p:nvPr/>
        </p:nvSpPr>
        <p:spPr>
          <a:xfrm>
            <a:off x="457200" y="2066544"/>
            <a:ext cx="11283696" cy="694944"/>
          </a:xfrm>
          <a:prstGeom prst="rect">
            <a:avLst/>
          </a:prstGeom>
          <a:solidFill>
            <a:srgbClr val="22212B"/>
          </a:solidFill>
          <a:ln w="10160">
            <a:solidFill>
              <a:srgbClr val="22212B"/>
            </a:solidFill>
            <a:prstDash val="solid"/>
          </a:ln>
        </p:spPr>
      </p:sp>
      <p:sp>
        <p:nvSpPr>
          <p:cNvPr id="11" name="Text 9"/>
          <p:cNvSpPr/>
          <p:nvPr/>
        </p:nvSpPr>
        <p:spPr>
          <a:xfrm>
            <a:off x="667512" y="2258568"/>
            <a:ext cx="10890504" cy="301752"/>
          </a:xfrm>
          <a:prstGeom prst="rect">
            <a:avLst/>
          </a:prstGeom>
          <a:noFill/>
          <a:ln/>
        </p:spPr>
        <p:txBody>
          <a:bodyPr wrap="square" lIns="0" tIns="0" rIns="0" bIns="0" rtlCol="0" anchor="t"/>
          <a:lstStyle/>
          <a:p>
            <a:pPr indent="0" marL="0">
              <a:buNone/>
            </a:pPr>
            <a:r>
              <a:rPr lang="en-US" sz="1800" b="1" dirty="0">
                <a:solidFill>
                  <a:srgbClr val="FFFFFF"/>
                </a:solidFill>
                <a:latin typeface="Noto Sans" pitchFamily="34" charset="0"/>
                <a:ea typeface="Noto Sans" pitchFamily="34" charset="-122"/>
                <a:cs typeface="Noto Sans" pitchFamily="34" charset="-120"/>
              </a:rPr>
              <a:t>KV bytes = 2 × layers × KV heads × head width × bytes/value × cached tokens</a:t>
            </a:r>
            <a:endParaRPr lang="en-US" sz="1800" dirty="0"/>
          </a:p>
        </p:txBody>
      </p:sp>
      <p:sp>
        <p:nvSpPr>
          <p:cNvPr id="12" name="Shape 10"/>
          <p:cNvSpPr/>
          <p:nvPr/>
        </p:nvSpPr>
        <p:spPr>
          <a:xfrm>
            <a:off x="457200" y="3090672"/>
            <a:ext cx="11311128" cy="438912"/>
          </a:xfrm>
          <a:prstGeom prst="rect">
            <a:avLst/>
          </a:prstGeom>
          <a:solidFill>
            <a:srgbClr val="22212B"/>
          </a:solidFill>
          <a:ln w="10160">
            <a:solidFill>
              <a:srgbClr val="22212B"/>
            </a:solidFill>
            <a:prstDash val="solid"/>
          </a:ln>
        </p:spPr>
      </p:sp>
      <p:sp>
        <p:nvSpPr>
          <p:cNvPr id="13" name="Text 11"/>
          <p:cNvSpPr/>
          <p:nvPr/>
        </p:nvSpPr>
        <p:spPr>
          <a:xfrm>
            <a:off x="576072" y="3172968"/>
            <a:ext cx="361188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Model</a:t>
            </a:r>
            <a:endParaRPr lang="en-US" sz="1200" dirty="0"/>
          </a:p>
        </p:txBody>
      </p:sp>
      <p:sp>
        <p:nvSpPr>
          <p:cNvPr id="14" name="Text 12"/>
          <p:cNvSpPr/>
          <p:nvPr/>
        </p:nvSpPr>
        <p:spPr>
          <a:xfrm>
            <a:off x="4416552" y="3172968"/>
            <a:ext cx="228600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4K prompt KV</a:t>
            </a:r>
            <a:endParaRPr lang="en-US" sz="1200" dirty="0"/>
          </a:p>
        </p:txBody>
      </p:sp>
      <p:sp>
        <p:nvSpPr>
          <p:cNvPr id="15" name="Text 13"/>
          <p:cNvSpPr/>
          <p:nvPr/>
        </p:nvSpPr>
        <p:spPr>
          <a:xfrm>
            <a:off x="6931152" y="3172968"/>
            <a:ext cx="2286000"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8K total KV</a:t>
            </a:r>
            <a:endParaRPr lang="en-US" sz="1200" dirty="0"/>
          </a:p>
        </p:txBody>
      </p:sp>
      <p:sp>
        <p:nvSpPr>
          <p:cNvPr id="16" name="Text 14"/>
          <p:cNvSpPr/>
          <p:nvPr/>
        </p:nvSpPr>
        <p:spPr>
          <a:xfrm>
            <a:off x="9445752" y="3172968"/>
            <a:ext cx="2212848" cy="274320"/>
          </a:xfrm>
          <a:prstGeom prst="rect">
            <a:avLst/>
          </a:prstGeom>
          <a:noFill/>
          <a:ln/>
        </p:spPr>
        <p:txBody>
          <a:bodyPr wrap="square" lIns="0" tIns="0" rIns="0" bIns="0" rtlCol="0" anchor="t"/>
          <a:lstStyle/>
          <a:p>
            <a:pPr indent="0" marL="0">
              <a:buNone/>
            </a:pPr>
            <a:r>
              <a:rPr lang="en-US" sz="1200" b="1" dirty="0">
                <a:solidFill>
                  <a:srgbClr val="FFFFFF"/>
                </a:solidFill>
                <a:latin typeface="Noto Sans" pitchFamily="34" charset="0"/>
                <a:ea typeface="Noto Sans" pitchFamily="34" charset="-122"/>
                <a:cs typeface="Noto Sans" pitchFamily="34" charset="-120"/>
              </a:rPr>
              <a:t>32 × 8K</a:t>
            </a:r>
            <a:endParaRPr lang="en-US" sz="1200" dirty="0"/>
          </a:p>
        </p:txBody>
      </p:sp>
      <p:sp>
        <p:nvSpPr>
          <p:cNvPr id="17" name="Shape 15"/>
          <p:cNvSpPr/>
          <p:nvPr/>
        </p:nvSpPr>
        <p:spPr>
          <a:xfrm>
            <a:off x="457200" y="3529584"/>
            <a:ext cx="11311128" cy="585216"/>
          </a:xfrm>
          <a:prstGeom prst="rect">
            <a:avLst/>
          </a:prstGeom>
          <a:solidFill>
            <a:srgbClr val="F0F0F3"/>
          </a:solidFill>
          <a:ln w="10160">
            <a:solidFill>
              <a:srgbClr val="F0F0F3"/>
            </a:solidFill>
            <a:prstDash val="solid"/>
          </a:ln>
        </p:spPr>
      </p:sp>
      <p:sp>
        <p:nvSpPr>
          <p:cNvPr id="18" name="Text 16"/>
          <p:cNvSpPr/>
          <p:nvPr/>
        </p:nvSpPr>
        <p:spPr>
          <a:xfrm>
            <a:off x="576072" y="3648456"/>
            <a:ext cx="3602736" cy="384048"/>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Qwen3-30B (48 layers)</a:t>
            </a:r>
            <a:endParaRPr lang="en-US" sz="1600" dirty="0"/>
          </a:p>
        </p:txBody>
      </p:sp>
      <p:sp>
        <p:nvSpPr>
          <p:cNvPr id="19" name="Text 17"/>
          <p:cNvSpPr/>
          <p:nvPr/>
        </p:nvSpPr>
        <p:spPr>
          <a:xfrm>
            <a:off x="4416552" y="3648456"/>
            <a:ext cx="2276856" cy="384048"/>
          </a:xfrm>
          <a:prstGeom prst="rect">
            <a:avLst/>
          </a:prstGeom>
          <a:noFill/>
          <a:ln/>
        </p:spPr>
        <p:txBody>
          <a:bodyPr wrap="square" lIns="0" tIns="0" rIns="0" bIns="0" rtlCol="0" anchor="t"/>
          <a:lstStyle/>
          <a:p>
            <a:pPr indent="0" marL="0">
              <a:buNone/>
            </a:pPr>
            <a:r>
              <a:rPr lang="en-US" sz="1600" dirty="0">
                <a:solidFill>
                  <a:srgbClr val="62636E"/>
                </a:solidFill>
                <a:latin typeface="Noto Sans" pitchFamily="34" charset="0"/>
                <a:ea typeface="Noto Sans" pitchFamily="34" charset="-122"/>
                <a:cs typeface="Noto Sans" pitchFamily="34" charset="-120"/>
              </a:rPr>
              <a:t>0.375 GiB</a:t>
            </a:r>
            <a:endParaRPr lang="en-US" sz="1600" dirty="0"/>
          </a:p>
        </p:txBody>
      </p:sp>
      <p:sp>
        <p:nvSpPr>
          <p:cNvPr id="20" name="Text 18"/>
          <p:cNvSpPr/>
          <p:nvPr/>
        </p:nvSpPr>
        <p:spPr>
          <a:xfrm>
            <a:off x="6931152" y="3648456"/>
            <a:ext cx="2276856" cy="384048"/>
          </a:xfrm>
          <a:prstGeom prst="rect">
            <a:avLst/>
          </a:prstGeom>
          <a:noFill/>
          <a:ln/>
        </p:spPr>
        <p:txBody>
          <a:bodyPr wrap="square" lIns="0" tIns="0" rIns="0" bIns="0" rtlCol="0" anchor="t"/>
          <a:lstStyle/>
          <a:p>
            <a:pPr indent="0" marL="0">
              <a:buNone/>
            </a:pPr>
            <a:r>
              <a:rPr lang="en-US" sz="1600" dirty="0">
                <a:solidFill>
                  <a:srgbClr val="62636E"/>
                </a:solidFill>
                <a:latin typeface="Noto Sans" pitchFamily="34" charset="0"/>
                <a:ea typeface="Noto Sans" pitchFamily="34" charset="-122"/>
                <a:cs typeface="Noto Sans" pitchFamily="34" charset="-120"/>
              </a:rPr>
              <a:t>0.750 GiB</a:t>
            </a:r>
            <a:endParaRPr lang="en-US" sz="1600" dirty="0"/>
          </a:p>
        </p:txBody>
      </p:sp>
      <p:sp>
        <p:nvSpPr>
          <p:cNvPr id="21" name="Text 19"/>
          <p:cNvSpPr/>
          <p:nvPr/>
        </p:nvSpPr>
        <p:spPr>
          <a:xfrm>
            <a:off x="9445752" y="3648456"/>
            <a:ext cx="2203704" cy="384048"/>
          </a:xfrm>
          <a:prstGeom prst="rect">
            <a:avLst/>
          </a:prstGeom>
          <a:noFill/>
          <a:ln/>
        </p:spPr>
        <p:txBody>
          <a:bodyPr wrap="square" lIns="0" tIns="0" rIns="0" bIns="0" rtlCol="0" anchor="t"/>
          <a:lstStyle/>
          <a:p>
            <a:pPr indent="0" marL="0">
              <a:buNone/>
            </a:pPr>
            <a:r>
              <a:rPr lang="en-US" sz="1600" dirty="0">
                <a:solidFill>
                  <a:srgbClr val="62636E"/>
                </a:solidFill>
                <a:latin typeface="Noto Sans" pitchFamily="34" charset="0"/>
                <a:ea typeface="Noto Sans" pitchFamily="34" charset="-122"/>
                <a:cs typeface="Noto Sans" pitchFamily="34" charset="-120"/>
              </a:rPr>
              <a:t>24.0 GiB</a:t>
            </a:r>
            <a:endParaRPr lang="en-US" sz="1600" dirty="0"/>
          </a:p>
        </p:txBody>
      </p:sp>
      <p:sp>
        <p:nvSpPr>
          <p:cNvPr id="22" name="Shape 20"/>
          <p:cNvSpPr/>
          <p:nvPr/>
        </p:nvSpPr>
        <p:spPr>
          <a:xfrm>
            <a:off x="457200" y="4114800"/>
            <a:ext cx="11311128" cy="0"/>
          </a:xfrm>
          <a:prstGeom prst="line">
            <a:avLst/>
          </a:prstGeom>
          <a:noFill/>
          <a:ln w="8255">
            <a:solidFill>
              <a:srgbClr val="D8D8DE"/>
            </a:solidFill>
            <a:prstDash val="solid"/>
          </a:ln>
        </p:spPr>
      </p:sp>
      <p:sp>
        <p:nvSpPr>
          <p:cNvPr id="23" name="Shape 21"/>
          <p:cNvSpPr/>
          <p:nvPr/>
        </p:nvSpPr>
        <p:spPr>
          <a:xfrm>
            <a:off x="457200" y="4114800"/>
            <a:ext cx="11311128" cy="585216"/>
          </a:xfrm>
          <a:prstGeom prst="rect">
            <a:avLst/>
          </a:prstGeom>
          <a:solidFill>
            <a:srgbClr val="FFFFFF"/>
          </a:solidFill>
          <a:ln w="10160">
            <a:solidFill>
              <a:srgbClr val="FFFFFF"/>
            </a:solidFill>
            <a:prstDash val="solid"/>
          </a:ln>
        </p:spPr>
      </p:sp>
      <p:sp>
        <p:nvSpPr>
          <p:cNvPr id="24" name="Text 22"/>
          <p:cNvSpPr/>
          <p:nvPr/>
        </p:nvSpPr>
        <p:spPr>
          <a:xfrm>
            <a:off x="576072" y="4233672"/>
            <a:ext cx="3602736" cy="384048"/>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Qwen3-235B (94 layers)</a:t>
            </a:r>
            <a:endParaRPr lang="en-US" sz="1600" dirty="0"/>
          </a:p>
        </p:txBody>
      </p:sp>
      <p:sp>
        <p:nvSpPr>
          <p:cNvPr id="25" name="Text 23"/>
          <p:cNvSpPr/>
          <p:nvPr/>
        </p:nvSpPr>
        <p:spPr>
          <a:xfrm>
            <a:off x="4416552" y="4233672"/>
            <a:ext cx="2276856" cy="384048"/>
          </a:xfrm>
          <a:prstGeom prst="rect">
            <a:avLst/>
          </a:prstGeom>
          <a:noFill/>
          <a:ln/>
        </p:spPr>
        <p:txBody>
          <a:bodyPr wrap="square" lIns="0" tIns="0" rIns="0" bIns="0" rtlCol="0" anchor="t"/>
          <a:lstStyle/>
          <a:p>
            <a:pPr indent="0" marL="0">
              <a:buNone/>
            </a:pPr>
            <a:r>
              <a:rPr lang="en-US" sz="1600" dirty="0">
                <a:solidFill>
                  <a:srgbClr val="62636E"/>
                </a:solidFill>
                <a:latin typeface="Noto Sans" pitchFamily="34" charset="0"/>
                <a:ea typeface="Noto Sans" pitchFamily="34" charset="-122"/>
                <a:cs typeface="Noto Sans" pitchFamily="34" charset="-120"/>
              </a:rPr>
              <a:t>0.734 GiB</a:t>
            </a:r>
            <a:endParaRPr lang="en-US" sz="1600" dirty="0"/>
          </a:p>
        </p:txBody>
      </p:sp>
      <p:sp>
        <p:nvSpPr>
          <p:cNvPr id="26" name="Text 24"/>
          <p:cNvSpPr/>
          <p:nvPr/>
        </p:nvSpPr>
        <p:spPr>
          <a:xfrm>
            <a:off x="6931152" y="4233672"/>
            <a:ext cx="2276856" cy="384048"/>
          </a:xfrm>
          <a:prstGeom prst="rect">
            <a:avLst/>
          </a:prstGeom>
          <a:noFill/>
          <a:ln/>
        </p:spPr>
        <p:txBody>
          <a:bodyPr wrap="square" lIns="0" tIns="0" rIns="0" bIns="0" rtlCol="0" anchor="t"/>
          <a:lstStyle/>
          <a:p>
            <a:pPr indent="0" marL="0">
              <a:buNone/>
            </a:pPr>
            <a:r>
              <a:rPr lang="en-US" sz="1600" dirty="0">
                <a:solidFill>
                  <a:srgbClr val="62636E"/>
                </a:solidFill>
                <a:latin typeface="Noto Sans" pitchFamily="34" charset="0"/>
                <a:ea typeface="Noto Sans" pitchFamily="34" charset="-122"/>
                <a:cs typeface="Noto Sans" pitchFamily="34" charset="-120"/>
              </a:rPr>
              <a:t>1.469 GiB</a:t>
            </a:r>
            <a:endParaRPr lang="en-US" sz="1600" dirty="0"/>
          </a:p>
        </p:txBody>
      </p:sp>
      <p:sp>
        <p:nvSpPr>
          <p:cNvPr id="27" name="Text 25"/>
          <p:cNvSpPr/>
          <p:nvPr/>
        </p:nvSpPr>
        <p:spPr>
          <a:xfrm>
            <a:off x="9445752" y="4233672"/>
            <a:ext cx="2203704" cy="384048"/>
          </a:xfrm>
          <a:prstGeom prst="rect">
            <a:avLst/>
          </a:prstGeom>
          <a:noFill/>
          <a:ln/>
        </p:spPr>
        <p:txBody>
          <a:bodyPr wrap="square" lIns="0" tIns="0" rIns="0" bIns="0" rtlCol="0" anchor="t"/>
          <a:lstStyle/>
          <a:p>
            <a:pPr indent="0" marL="0">
              <a:buNone/>
            </a:pPr>
            <a:r>
              <a:rPr lang="en-US" sz="1600" dirty="0">
                <a:solidFill>
                  <a:srgbClr val="62636E"/>
                </a:solidFill>
                <a:latin typeface="Noto Sans" pitchFamily="34" charset="0"/>
                <a:ea typeface="Noto Sans" pitchFamily="34" charset="-122"/>
                <a:cs typeface="Noto Sans" pitchFamily="34" charset="-120"/>
              </a:rPr>
              <a:t>47.0 GiB</a:t>
            </a:r>
            <a:endParaRPr lang="en-US" sz="1600" dirty="0"/>
          </a:p>
        </p:txBody>
      </p:sp>
      <p:sp>
        <p:nvSpPr>
          <p:cNvPr id="28" name="Shape 26"/>
          <p:cNvSpPr/>
          <p:nvPr/>
        </p:nvSpPr>
        <p:spPr>
          <a:xfrm>
            <a:off x="457200" y="4700016"/>
            <a:ext cx="11311128" cy="0"/>
          </a:xfrm>
          <a:prstGeom prst="line">
            <a:avLst/>
          </a:prstGeom>
          <a:noFill/>
          <a:ln w="8255">
            <a:solidFill>
              <a:srgbClr val="D8D8DE"/>
            </a:solidFill>
            <a:prstDash val="solid"/>
          </a:ln>
        </p:spPr>
      </p:sp>
      <p:sp>
        <p:nvSpPr>
          <p:cNvPr id="29" name="Shape 27"/>
          <p:cNvSpPr/>
          <p:nvPr/>
        </p:nvSpPr>
        <p:spPr>
          <a:xfrm>
            <a:off x="457200" y="4919472"/>
            <a:ext cx="5440680" cy="1115568"/>
          </a:xfrm>
          <a:prstGeom prst="rect">
            <a:avLst/>
          </a:prstGeom>
          <a:solidFill>
            <a:srgbClr val="FFFFFF"/>
          </a:solidFill>
          <a:ln w="10160">
            <a:solidFill>
              <a:srgbClr val="D8D8DE"/>
            </a:solidFill>
            <a:prstDash val="solid"/>
          </a:ln>
        </p:spPr>
      </p:sp>
      <p:sp>
        <p:nvSpPr>
          <p:cNvPr id="30" name="Shape 28"/>
          <p:cNvSpPr/>
          <p:nvPr/>
        </p:nvSpPr>
        <p:spPr>
          <a:xfrm>
            <a:off x="457200" y="4919472"/>
            <a:ext cx="41148" cy="1115568"/>
          </a:xfrm>
          <a:prstGeom prst="rect">
            <a:avLst/>
          </a:prstGeom>
          <a:solidFill>
            <a:srgbClr val="E31837"/>
          </a:solidFill>
          <a:ln w="10160">
            <a:solidFill>
              <a:srgbClr val="E31837"/>
            </a:solidFill>
            <a:prstDash val="solid"/>
          </a:ln>
        </p:spPr>
      </p:sp>
      <p:sp>
        <p:nvSpPr>
          <p:cNvPr id="31" name="Text 29"/>
          <p:cNvSpPr/>
          <p:nvPr/>
        </p:nvSpPr>
        <p:spPr>
          <a:xfrm>
            <a:off x="640080" y="5020056"/>
            <a:ext cx="5074920" cy="301752"/>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Offering B transfer</a:t>
            </a:r>
            <a:endParaRPr lang="en-US" sz="1600" dirty="0"/>
          </a:p>
        </p:txBody>
      </p:sp>
      <p:sp>
        <p:nvSpPr>
          <p:cNvPr id="32" name="Text 30"/>
          <p:cNvSpPr/>
          <p:nvPr/>
        </p:nvSpPr>
        <p:spPr>
          <a:xfrm>
            <a:off x="640080" y="5367528"/>
            <a:ext cx="5074920" cy="576072"/>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4K prompt: 0.734 GiB/request.</a:t>
            </a:r>
            <a:endParaRPr lang="en-US" sz="1250" dirty="0"/>
          </a:p>
          <a:p>
            <a:pPr indent="0" marL="0">
              <a:buNone/>
            </a:pPr>
            <a:r>
              <a:rPr lang="en-US" sz="1250" dirty="0">
                <a:solidFill>
                  <a:srgbClr val="62636E"/>
                </a:solidFill>
                <a:latin typeface="Noto Sans" pitchFamily="34" charset="0"/>
                <a:ea typeface="Noto Sans" pitchFamily="34" charset="-122"/>
                <a:cs typeface="Noto Sans" pitchFamily="34" charset="-120"/>
              </a:rPr>
              <a:t>512 more tokens add ~94 MiB of KV.</a:t>
            </a:r>
            <a:endParaRPr lang="en-US" sz="1250" dirty="0"/>
          </a:p>
          <a:p>
            <a:pPr indent="0" marL="0">
              <a:buNone/>
            </a:pPr>
            <a:r>
              <a:rPr lang="en-US" sz="1250" dirty="0">
                <a:solidFill>
                  <a:srgbClr val="62636E"/>
                </a:solidFill>
                <a:latin typeface="Noto Sans" pitchFamily="34" charset="0"/>
                <a:ea typeface="Noto Sans" pitchFamily="34" charset="-122"/>
                <a:cs typeface="Noto Sans" pitchFamily="34" charset="-120"/>
              </a:rPr>
              <a:t>2 RPS transfers 1.469 GiB/s logically.</a:t>
            </a:r>
            <a:endParaRPr lang="en-US" sz="1250" dirty="0"/>
          </a:p>
        </p:txBody>
      </p:sp>
      <p:sp>
        <p:nvSpPr>
          <p:cNvPr id="33" name="Shape 31"/>
          <p:cNvSpPr/>
          <p:nvPr/>
        </p:nvSpPr>
        <p:spPr>
          <a:xfrm>
            <a:off x="6099048" y="4919472"/>
            <a:ext cx="5632704" cy="1115568"/>
          </a:xfrm>
          <a:prstGeom prst="rect">
            <a:avLst/>
          </a:prstGeom>
          <a:solidFill>
            <a:srgbClr val="FFFFFF"/>
          </a:solidFill>
          <a:ln w="10160">
            <a:solidFill>
              <a:srgbClr val="D8D8DE"/>
            </a:solidFill>
            <a:prstDash val="solid"/>
          </a:ln>
        </p:spPr>
      </p:sp>
      <p:sp>
        <p:nvSpPr>
          <p:cNvPr id="34" name="Shape 32"/>
          <p:cNvSpPr/>
          <p:nvPr/>
        </p:nvSpPr>
        <p:spPr>
          <a:xfrm>
            <a:off x="6099048" y="4919472"/>
            <a:ext cx="41148" cy="1115568"/>
          </a:xfrm>
          <a:prstGeom prst="rect">
            <a:avLst/>
          </a:prstGeom>
          <a:solidFill>
            <a:srgbClr val="E31837"/>
          </a:solidFill>
          <a:ln w="10160">
            <a:solidFill>
              <a:srgbClr val="E31837"/>
            </a:solidFill>
            <a:prstDash val="solid"/>
          </a:ln>
        </p:spPr>
      </p:sp>
      <p:sp>
        <p:nvSpPr>
          <p:cNvPr id="35" name="Text 33"/>
          <p:cNvSpPr/>
          <p:nvPr/>
        </p:nvSpPr>
        <p:spPr>
          <a:xfrm>
            <a:off x="6281928" y="5020056"/>
            <a:ext cx="5266944" cy="301752"/>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Native working-memory limit</a:t>
            </a:r>
            <a:endParaRPr lang="en-US" sz="1600" dirty="0"/>
          </a:p>
        </p:txBody>
      </p:sp>
      <p:sp>
        <p:nvSpPr>
          <p:cNvPr id="36" name="Text 34"/>
          <p:cNvSpPr/>
          <p:nvPr/>
        </p:nvSpPr>
        <p:spPr>
          <a:xfrm>
            <a:off x="6281928" y="5367528"/>
            <a:ext cx="5266944" cy="576072"/>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Eight ×16 GB =128 GB nominal LPDDR.</a:t>
            </a:r>
            <a:endParaRPr lang="en-US" sz="1250" dirty="0"/>
          </a:p>
          <a:p>
            <a:pPr indent="0" marL="0">
              <a:buNone/>
            </a:pPr>
            <a:r>
              <a:rPr lang="en-US" sz="1250" dirty="0">
                <a:solidFill>
                  <a:srgbClr val="62636E"/>
                </a:solidFill>
                <a:latin typeface="Noto Sans" pitchFamily="34" charset="0"/>
                <a:ea typeface="Noto Sans" pitchFamily="34" charset="-122"/>
                <a:cs typeface="Noto Sans" pitchFamily="34" charset="-120"/>
              </a:rPr>
              <a:t>A 4 GB/device reserve leaves96 GB aggregate.</a:t>
            </a:r>
            <a:endParaRPr lang="en-US" sz="1250" dirty="0"/>
          </a:p>
          <a:p>
            <a:pPr indent="0" marL="0">
              <a:buNone/>
            </a:pPr>
            <a:r>
              <a:rPr lang="en-US" sz="1250" dirty="0">
                <a:solidFill>
                  <a:srgbClr val="62636E"/>
                </a:solidFill>
                <a:latin typeface="Noto Sans" pitchFamily="34" charset="0"/>
                <a:ea typeface="Noto Sans" pitchFamily="34" charset="-122"/>
                <a:cs typeface="Noto Sans" pitchFamily="34" charset="-120"/>
              </a:rPr>
              <a:t>Per-device fit—not aggregate arithmetic—decides.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BACKUP / COMMERCIAL VALIDATION</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Keep one cost test—not a page of savings forecasts.</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The customer buys accepted work. HBF capacity, low GPU utilization and nominal device counts are not savings.</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17</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Retained source-deck design-to-cost assumptions only. No ATMOS quote, measured throughput or guaranteed TCO is available.</a:t>
            </a:r>
            <a:endParaRPr lang="en-US" sz="810" dirty="0"/>
          </a:p>
        </p:txBody>
      </p:sp>
      <p:sp>
        <p:nvSpPr>
          <p:cNvPr id="10" name="Shape 8"/>
          <p:cNvSpPr/>
          <p:nvPr/>
        </p:nvSpPr>
        <p:spPr>
          <a:xfrm>
            <a:off x="466344" y="2148840"/>
            <a:ext cx="3602736" cy="1124712"/>
          </a:xfrm>
          <a:prstGeom prst="rect">
            <a:avLst/>
          </a:prstGeom>
          <a:solidFill>
            <a:srgbClr val="FBE9ED"/>
          </a:solidFill>
          <a:ln w="10160">
            <a:solidFill>
              <a:srgbClr val="FBE9ED"/>
            </a:solidFill>
            <a:prstDash val="solid"/>
          </a:ln>
        </p:spPr>
      </p:sp>
      <p:sp>
        <p:nvSpPr>
          <p:cNvPr id="11" name="Text 9"/>
          <p:cNvSpPr/>
          <p:nvPr/>
        </p:nvSpPr>
        <p:spPr>
          <a:xfrm>
            <a:off x="612648" y="2221992"/>
            <a:ext cx="3310128" cy="530352"/>
          </a:xfrm>
          <a:prstGeom prst="rect">
            <a:avLst/>
          </a:prstGeom>
          <a:noFill/>
          <a:ln/>
        </p:spPr>
        <p:txBody>
          <a:bodyPr wrap="square" lIns="0" tIns="0" rIns="0" bIns="0" rtlCol="0" anchor="t"/>
          <a:lstStyle/>
          <a:p>
            <a:pPr indent="0" marL="0">
              <a:buNone/>
            </a:pPr>
            <a:r>
              <a:rPr lang="en-US" sz="3300" b="1" dirty="0">
                <a:solidFill>
                  <a:srgbClr val="E31837"/>
                </a:solidFill>
                <a:latin typeface="Noto Sans" pitchFamily="34" charset="0"/>
                <a:ea typeface="Noto Sans" pitchFamily="34" charset="-122"/>
                <a:cs typeface="Noto Sans" pitchFamily="34" charset="-120"/>
              </a:rPr>
              <a:t>$80k</a:t>
            </a:r>
            <a:endParaRPr lang="en-US" sz="3300" dirty="0"/>
          </a:p>
        </p:txBody>
      </p:sp>
      <p:sp>
        <p:nvSpPr>
          <p:cNvPr id="12" name="Text 10"/>
          <p:cNvSpPr/>
          <p:nvPr/>
        </p:nvSpPr>
        <p:spPr>
          <a:xfrm>
            <a:off x="612648" y="2834640"/>
            <a:ext cx="3310128"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inherited appliance purchase allowance</a:t>
            </a:r>
            <a:endParaRPr lang="en-US" sz="1250" dirty="0"/>
          </a:p>
        </p:txBody>
      </p:sp>
      <p:sp>
        <p:nvSpPr>
          <p:cNvPr id="13" name="Shape 11"/>
          <p:cNvSpPr/>
          <p:nvPr/>
        </p:nvSpPr>
        <p:spPr>
          <a:xfrm>
            <a:off x="4297680" y="2148840"/>
            <a:ext cx="3602736" cy="1124712"/>
          </a:xfrm>
          <a:prstGeom prst="rect">
            <a:avLst/>
          </a:prstGeom>
          <a:solidFill>
            <a:srgbClr val="FFFFFF"/>
          </a:solidFill>
          <a:ln w="10160">
            <a:solidFill>
              <a:srgbClr val="FFFFFF"/>
            </a:solidFill>
            <a:prstDash val="solid"/>
          </a:ln>
        </p:spPr>
      </p:sp>
      <p:sp>
        <p:nvSpPr>
          <p:cNvPr id="14" name="Text 12"/>
          <p:cNvSpPr/>
          <p:nvPr/>
        </p:nvSpPr>
        <p:spPr>
          <a:xfrm>
            <a:off x="4443984" y="2221992"/>
            <a:ext cx="3310128" cy="530352"/>
          </a:xfrm>
          <a:prstGeom prst="rect">
            <a:avLst/>
          </a:prstGeom>
          <a:noFill/>
          <a:ln/>
        </p:spPr>
        <p:txBody>
          <a:bodyPr wrap="square" lIns="0" tIns="0" rIns="0" bIns="0" rtlCol="0" anchor="t"/>
          <a:lstStyle/>
          <a:p>
            <a:pPr indent="0" marL="0">
              <a:buNone/>
            </a:pPr>
            <a:r>
              <a:rPr lang="en-US" sz="3300" b="1" dirty="0">
                <a:solidFill>
                  <a:srgbClr val="E31837"/>
                </a:solidFill>
                <a:latin typeface="Noto Sans" pitchFamily="34" charset="0"/>
                <a:ea typeface="Noto Sans" pitchFamily="34" charset="-122"/>
                <a:cs typeface="Noto Sans" pitchFamily="34" charset="-120"/>
              </a:rPr>
              <a:t>~$141k</a:t>
            </a:r>
            <a:endParaRPr lang="en-US" sz="3300" dirty="0"/>
          </a:p>
        </p:txBody>
      </p:sp>
      <p:sp>
        <p:nvSpPr>
          <p:cNvPr id="15" name="Text 13"/>
          <p:cNvSpPr/>
          <p:nvPr/>
        </p:nvSpPr>
        <p:spPr>
          <a:xfrm>
            <a:off x="4443984" y="2834640"/>
            <a:ext cx="3310128"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inherited three-year modeled node cost</a:t>
            </a:r>
            <a:endParaRPr lang="en-US" sz="1250" dirty="0"/>
          </a:p>
        </p:txBody>
      </p:sp>
      <p:sp>
        <p:nvSpPr>
          <p:cNvPr id="16" name="Shape 14"/>
          <p:cNvSpPr/>
          <p:nvPr/>
        </p:nvSpPr>
        <p:spPr>
          <a:xfrm>
            <a:off x="8129016" y="2148840"/>
            <a:ext cx="3602736" cy="1124712"/>
          </a:xfrm>
          <a:prstGeom prst="rect">
            <a:avLst/>
          </a:prstGeom>
          <a:solidFill>
            <a:srgbClr val="F0F0F3"/>
          </a:solidFill>
          <a:ln w="10160">
            <a:solidFill>
              <a:srgbClr val="F0F0F3"/>
            </a:solidFill>
            <a:prstDash val="solid"/>
          </a:ln>
        </p:spPr>
      </p:sp>
      <p:sp>
        <p:nvSpPr>
          <p:cNvPr id="17" name="Text 15"/>
          <p:cNvSpPr/>
          <p:nvPr/>
        </p:nvSpPr>
        <p:spPr>
          <a:xfrm>
            <a:off x="8275320" y="2221992"/>
            <a:ext cx="3310128" cy="530352"/>
          </a:xfrm>
          <a:prstGeom prst="rect">
            <a:avLst/>
          </a:prstGeom>
          <a:noFill/>
          <a:ln/>
        </p:spPr>
        <p:txBody>
          <a:bodyPr wrap="square" lIns="0" tIns="0" rIns="0" bIns="0" rtlCol="0" anchor="t"/>
          <a:lstStyle/>
          <a:p>
            <a:pPr indent="0" marL="0">
              <a:buNone/>
            </a:pPr>
            <a:r>
              <a:rPr lang="en-US" sz="2700" b="1" dirty="0">
                <a:solidFill>
                  <a:srgbClr val="E31837"/>
                </a:solidFill>
                <a:latin typeface="Noto Sans" pitchFamily="34" charset="0"/>
                <a:ea typeface="Noto Sans" pitchFamily="34" charset="-122"/>
                <a:cs typeface="Noto Sans" pitchFamily="34" charset="-120"/>
              </a:rPr>
              <a:t>Not a quote</a:t>
            </a:r>
            <a:endParaRPr lang="en-US" sz="2700" dirty="0"/>
          </a:p>
        </p:txBody>
      </p:sp>
      <p:sp>
        <p:nvSpPr>
          <p:cNvPr id="18" name="Text 16"/>
          <p:cNvSpPr/>
          <p:nvPr/>
        </p:nvSpPr>
        <p:spPr>
          <a:xfrm>
            <a:off x="8275320" y="2834640"/>
            <a:ext cx="3310128" cy="329184"/>
          </a:xfrm>
          <a:prstGeom prst="rect">
            <a:avLst/>
          </a:prstGeom>
          <a:noFill/>
          <a:ln/>
        </p:spPr>
        <p:txBody>
          <a:bodyPr wrap="square" lIns="0" tIns="0" rIns="0" bIns="0" rtlCol="0" anchor="t"/>
          <a:lstStyle/>
          <a:p>
            <a:pPr indent="0" marL="0">
              <a:buNone/>
            </a:pPr>
            <a:r>
              <a:rPr lang="en-US" sz="1250" dirty="0">
                <a:solidFill>
                  <a:srgbClr val="62636E"/>
                </a:solidFill>
                <a:latin typeface="Noto Sans" pitchFamily="34" charset="0"/>
                <a:ea typeface="Noto Sans" pitchFamily="34" charset="-122"/>
                <a:cs typeface="Noto Sans" pitchFamily="34" charset="-120"/>
              </a:rPr>
              <a:t>Replace with OEM / SanDisk pricing</a:t>
            </a:r>
            <a:endParaRPr lang="en-US" sz="1250" dirty="0"/>
          </a:p>
        </p:txBody>
      </p:sp>
      <p:sp>
        <p:nvSpPr>
          <p:cNvPr id="19" name="Shape 17"/>
          <p:cNvSpPr/>
          <p:nvPr/>
        </p:nvSpPr>
        <p:spPr>
          <a:xfrm>
            <a:off x="457200" y="3675888"/>
            <a:ext cx="11283696" cy="795528"/>
          </a:xfrm>
          <a:prstGeom prst="rect">
            <a:avLst/>
          </a:prstGeom>
          <a:solidFill>
            <a:srgbClr val="22212B"/>
          </a:solidFill>
          <a:ln w="10160">
            <a:solidFill>
              <a:srgbClr val="22212B"/>
            </a:solidFill>
            <a:prstDash val="solid"/>
          </a:ln>
        </p:spPr>
      </p:sp>
      <p:sp>
        <p:nvSpPr>
          <p:cNvPr id="20" name="Text 18"/>
          <p:cNvSpPr/>
          <p:nvPr/>
        </p:nvSpPr>
        <p:spPr>
          <a:xfrm>
            <a:off x="694944" y="3886200"/>
            <a:ext cx="10853928" cy="329184"/>
          </a:xfrm>
          <a:prstGeom prst="rect">
            <a:avLst/>
          </a:prstGeom>
          <a:noFill/>
          <a:ln/>
        </p:spPr>
        <p:txBody>
          <a:bodyPr wrap="square" lIns="0" tIns="0" rIns="0" bIns="0" rtlCol="0" anchor="t"/>
          <a:lstStyle/>
          <a:p>
            <a:pPr indent="0" marL="0">
              <a:buNone/>
            </a:pPr>
            <a:r>
              <a:rPr lang="en-US" sz="2200" b="1" dirty="0">
                <a:solidFill>
                  <a:srgbClr val="FFFFFF"/>
                </a:solidFill>
                <a:latin typeface="Noto Sans" pitchFamily="34" charset="0"/>
                <a:ea typeface="Noto Sans" pitchFamily="34" charset="-122"/>
                <a:cs typeface="Noto Sans" pitchFamily="34" charset="-120"/>
              </a:rPr>
              <a:t>Compare: total delivered cost ÷ work completed within quality + deadline</a:t>
            </a:r>
            <a:endParaRPr lang="en-US" sz="2200" dirty="0"/>
          </a:p>
        </p:txBody>
      </p:sp>
      <p:sp>
        <p:nvSpPr>
          <p:cNvPr id="21" name="Shape 19"/>
          <p:cNvSpPr/>
          <p:nvPr/>
        </p:nvSpPr>
        <p:spPr>
          <a:xfrm>
            <a:off x="457200" y="4791456"/>
            <a:ext cx="3621024" cy="1234440"/>
          </a:xfrm>
          <a:prstGeom prst="rect">
            <a:avLst/>
          </a:prstGeom>
          <a:solidFill>
            <a:srgbClr val="FFFFFF"/>
          </a:solidFill>
          <a:ln w="10160">
            <a:solidFill>
              <a:srgbClr val="D8D8DE"/>
            </a:solidFill>
            <a:prstDash val="solid"/>
          </a:ln>
        </p:spPr>
      </p:sp>
      <p:sp>
        <p:nvSpPr>
          <p:cNvPr id="22" name="Shape 20"/>
          <p:cNvSpPr/>
          <p:nvPr/>
        </p:nvSpPr>
        <p:spPr>
          <a:xfrm>
            <a:off x="457200" y="4791456"/>
            <a:ext cx="41148" cy="1234440"/>
          </a:xfrm>
          <a:prstGeom prst="rect">
            <a:avLst/>
          </a:prstGeom>
          <a:solidFill>
            <a:srgbClr val="E31837"/>
          </a:solidFill>
          <a:ln w="10160">
            <a:solidFill>
              <a:srgbClr val="E31837"/>
            </a:solidFill>
            <a:prstDash val="solid"/>
          </a:ln>
        </p:spPr>
      </p:sp>
      <p:sp>
        <p:nvSpPr>
          <p:cNvPr id="23" name="Text 21"/>
          <p:cNvSpPr/>
          <p:nvPr/>
        </p:nvSpPr>
        <p:spPr>
          <a:xfrm>
            <a:off x="640080" y="4892040"/>
            <a:ext cx="3255264" cy="301752"/>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A  Cost boundary</a:t>
            </a:r>
            <a:endParaRPr lang="en-US" sz="1600" dirty="0"/>
          </a:p>
        </p:txBody>
      </p:sp>
      <p:sp>
        <p:nvSpPr>
          <p:cNvPr id="24" name="Text 22"/>
          <p:cNvSpPr/>
          <p:nvPr/>
        </p:nvSpPr>
        <p:spPr>
          <a:xfrm>
            <a:off x="640080" y="5239512"/>
            <a:ext cx="3255264" cy="694944"/>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Credit GPU capacity only if it is retired, repurposed with value or not purchased.</a:t>
            </a:r>
            <a:endParaRPr lang="en-US" sz="1300" dirty="0"/>
          </a:p>
        </p:txBody>
      </p:sp>
      <p:sp>
        <p:nvSpPr>
          <p:cNvPr id="25" name="Shape 23"/>
          <p:cNvSpPr/>
          <p:nvPr/>
        </p:nvSpPr>
        <p:spPr>
          <a:xfrm>
            <a:off x="4279392" y="4791456"/>
            <a:ext cx="3621024" cy="1234440"/>
          </a:xfrm>
          <a:prstGeom prst="rect">
            <a:avLst/>
          </a:prstGeom>
          <a:solidFill>
            <a:srgbClr val="FFFFFF"/>
          </a:solidFill>
          <a:ln w="10160">
            <a:solidFill>
              <a:srgbClr val="D8D8DE"/>
            </a:solidFill>
            <a:prstDash val="solid"/>
          </a:ln>
        </p:spPr>
      </p:sp>
      <p:sp>
        <p:nvSpPr>
          <p:cNvPr id="26" name="Shape 24"/>
          <p:cNvSpPr/>
          <p:nvPr/>
        </p:nvSpPr>
        <p:spPr>
          <a:xfrm>
            <a:off x="4279392" y="4791456"/>
            <a:ext cx="41148" cy="1234440"/>
          </a:xfrm>
          <a:prstGeom prst="rect">
            <a:avLst/>
          </a:prstGeom>
          <a:solidFill>
            <a:srgbClr val="E31837"/>
          </a:solidFill>
          <a:ln w="10160">
            <a:solidFill>
              <a:srgbClr val="E31837"/>
            </a:solidFill>
            <a:prstDash val="solid"/>
          </a:ln>
        </p:spPr>
      </p:sp>
      <p:sp>
        <p:nvSpPr>
          <p:cNvPr id="27" name="Text 25"/>
          <p:cNvSpPr/>
          <p:nvPr/>
        </p:nvSpPr>
        <p:spPr>
          <a:xfrm>
            <a:off x="4462272" y="4892040"/>
            <a:ext cx="3255264" cy="301752"/>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B  Cost boundary</a:t>
            </a:r>
            <a:endParaRPr lang="en-US" sz="1600" dirty="0"/>
          </a:p>
        </p:txBody>
      </p:sp>
      <p:sp>
        <p:nvSpPr>
          <p:cNvPr id="28" name="Text 26"/>
          <p:cNvSpPr/>
          <p:nvPr/>
        </p:nvSpPr>
        <p:spPr>
          <a:xfrm>
            <a:off x="4462272" y="5239512"/>
            <a:ext cx="3255264" cy="694944"/>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Include GPU prefill, duplicate weights, KV transfer and decode reserve.</a:t>
            </a:r>
            <a:endParaRPr lang="en-US" sz="1300" dirty="0"/>
          </a:p>
        </p:txBody>
      </p:sp>
      <p:sp>
        <p:nvSpPr>
          <p:cNvPr id="29" name="Shape 27"/>
          <p:cNvSpPr/>
          <p:nvPr/>
        </p:nvSpPr>
        <p:spPr>
          <a:xfrm>
            <a:off x="8110728" y="4791456"/>
            <a:ext cx="3621024" cy="1234440"/>
          </a:xfrm>
          <a:prstGeom prst="rect">
            <a:avLst/>
          </a:prstGeom>
          <a:solidFill>
            <a:srgbClr val="FFFFFF"/>
          </a:solidFill>
          <a:ln w="10160">
            <a:solidFill>
              <a:srgbClr val="D8D8DE"/>
            </a:solidFill>
            <a:prstDash val="solid"/>
          </a:ln>
        </p:spPr>
      </p:sp>
      <p:sp>
        <p:nvSpPr>
          <p:cNvPr id="30" name="Shape 28"/>
          <p:cNvSpPr/>
          <p:nvPr/>
        </p:nvSpPr>
        <p:spPr>
          <a:xfrm>
            <a:off x="8110728" y="4791456"/>
            <a:ext cx="41148" cy="1234440"/>
          </a:xfrm>
          <a:prstGeom prst="rect">
            <a:avLst/>
          </a:prstGeom>
          <a:solidFill>
            <a:srgbClr val="E31837"/>
          </a:solidFill>
          <a:ln w="10160">
            <a:solidFill>
              <a:srgbClr val="E31837"/>
            </a:solidFill>
            <a:prstDash val="solid"/>
          </a:ln>
        </p:spPr>
      </p:sp>
      <p:sp>
        <p:nvSpPr>
          <p:cNvPr id="31" name="Text 29"/>
          <p:cNvSpPr/>
          <p:nvPr/>
        </p:nvSpPr>
        <p:spPr>
          <a:xfrm>
            <a:off x="8293608" y="4892040"/>
            <a:ext cx="3255264" cy="301752"/>
          </a:xfrm>
          <a:prstGeom prst="rect">
            <a:avLst/>
          </a:prstGeom>
          <a:noFill/>
          <a:ln/>
        </p:spPr>
        <p:txBody>
          <a:bodyPr wrap="square" lIns="0" tIns="0" rIns="0" bIns="0" rtlCol="0" anchor="t"/>
          <a:lstStyle/>
          <a:p>
            <a:pPr indent="0" marL="0">
              <a:buNone/>
            </a:pPr>
            <a:r>
              <a:rPr lang="en-US" sz="1600" b="1" dirty="0">
                <a:solidFill>
                  <a:srgbClr val="22212B"/>
                </a:solidFill>
                <a:latin typeface="Noto Sans" pitchFamily="34" charset="0"/>
                <a:ea typeface="Noto Sans" pitchFamily="34" charset="-122"/>
                <a:cs typeface="Noto Sans" pitchFamily="34" charset="-120"/>
              </a:rPr>
              <a:t>C  Cost boundary</a:t>
            </a:r>
            <a:endParaRPr lang="en-US" sz="1600" dirty="0"/>
          </a:p>
        </p:txBody>
      </p:sp>
      <p:sp>
        <p:nvSpPr>
          <p:cNvPr id="32" name="Text 30"/>
          <p:cNvSpPr/>
          <p:nvPr/>
        </p:nvSpPr>
        <p:spPr>
          <a:xfrm>
            <a:off x="8293608" y="5239512"/>
            <a:ext cx="3255264" cy="694944"/>
          </a:xfrm>
          <a:prstGeom prst="rect">
            <a:avLst/>
          </a:prstGeom>
          <a:noFill/>
          <a:ln/>
        </p:spPr>
        <p:txBody>
          <a:bodyPr wrap="square" lIns="0" tIns="0" rIns="0" bIns="0" rtlCol="0" anchor="t"/>
          <a:lstStyle/>
          <a:p>
            <a:pPr indent="0" marL="0">
              <a:buNone/>
            </a:pPr>
            <a:r>
              <a:rPr lang="en-US" sz="1300" dirty="0">
                <a:solidFill>
                  <a:srgbClr val="62636E"/>
                </a:solidFill>
                <a:latin typeface="Noto Sans" pitchFamily="34" charset="0"/>
                <a:ea typeface="Noto Sans" pitchFamily="34" charset="-122"/>
                <a:cs typeface="Noto Sans" pitchFamily="34" charset="-120"/>
              </a:rPr>
              <a:t>Include draft GPU, rejected work and verification overhead.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438912" y="274320"/>
            <a:ext cx="3657600" cy="219456"/>
          </a:xfrm>
          <a:prstGeom prst="rect">
            <a:avLst/>
          </a:prstGeom>
          <a:noFill/>
          <a:ln/>
        </p:spPr>
        <p:txBody>
          <a:bodyPr wrap="square" lIns="0" tIns="0" rIns="0" bIns="0" rtlCol="0" anchor="t"/>
          <a:lstStyle/>
          <a:p>
            <a:pPr indent="0" marL="0">
              <a:buNone/>
            </a:pPr>
            <a:r>
              <a:rPr lang="en-US" sz="1000" b="1" spc="100" kern="0" dirty="0">
                <a:solidFill>
                  <a:srgbClr val="E31837"/>
                </a:solidFill>
                <a:latin typeface="Noto Sans" pitchFamily="34" charset="0"/>
                <a:ea typeface="Noto Sans" pitchFamily="34" charset="-122"/>
                <a:cs typeface="Noto Sans" pitchFamily="34" charset="-120"/>
              </a:rPr>
              <a:t>SANDISK / ATMOS</a:t>
            </a:r>
            <a:endParaRPr lang="en-US" sz="1000" dirty="0"/>
          </a:p>
        </p:txBody>
      </p:sp>
      <p:sp>
        <p:nvSpPr>
          <p:cNvPr id="3" name="Text 1"/>
          <p:cNvSpPr/>
          <p:nvPr/>
        </p:nvSpPr>
        <p:spPr>
          <a:xfrm>
            <a:off x="8138160" y="292608"/>
            <a:ext cx="3593592" cy="201168"/>
          </a:xfrm>
          <a:prstGeom prst="rect">
            <a:avLst/>
          </a:prstGeom>
          <a:noFill/>
          <a:ln/>
        </p:spPr>
        <p:txBody>
          <a:bodyPr wrap="square" lIns="0" tIns="0" rIns="0" bIns="0" rtlCol="0" anchor="t"/>
          <a:lstStyle/>
          <a:p>
            <a:pPr algn="r" indent="0" marL="0">
              <a:buNone/>
            </a:pPr>
            <a:r>
              <a:rPr lang="en-US" sz="900" spc="70" kern="0" dirty="0">
                <a:solidFill>
                  <a:srgbClr val="62636E"/>
                </a:solidFill>
                <a:latin typeface="Noto Sans" pitchFamily="34" charset="0"/>
                <a:ea typeface="Noto Sans" pitchFamily="34" charset="-122"/>
                <a:cs typeface="Noto Sans" pitchFamily="34" charset="-120"/>
              </a:rPr>
              <a:t>BACKUP / EVIDENCE REGISTER</a:t>
            </a:r>
            <a:endParaRPr lang="en-US" sz="900" dirty="0"/>
          </a:p>
        </p:txBody>
      </p:sp>
      <p:sp>
        <p:nvSpPr>
          <p:cNvPr id="4" name="Text 2"/>
          <p:cNvSpPr/>
          <p:nvPr/>
        </p:nvSpPr>
        <p:spPr>
          <a:xfrm>
            <a:off x="438912" y="804672"/>
            <a:ext cx="11311128" cy="640080"/>
          </a:xfrm>
          <a:prstGeom prst="rect">
            <a:avLst/>
          </a:prstGeom>
          <a:noFill/>
          <a:ln/>
        </p:spPr>
        <p:txBody>
          <a:bodyPr wrap="square" lIns="0" tIns="0" rIns="0" bIns="0" rtlCol="0" anchor="t"/>
          <a:lstStyle/>
          <a:p>
            <a:pPr indent="0" marL="0">
              <a:buNone/>
            </a:pPr>
            <a:r>
              <a:rPr lang="en-US" sz="2900" b="1" dirty="0">
                <a:solidFill>
                  <a:srgbClr val="22212B"/>
                </a:solidFill>
                <a:latin typeface="Noto Sans" pitchFamily="34" charset="0"/>
                <a:ea typeface="Noto Sans" pitchFamily="34" charset="-122"/>
                <a:cs typeface="Noto Sans" pitchFamily="34" charset="-120"/>
              </a:rPr>
              <a:t>Evidence behind the design—and what remains proposed.</a:t>
            </a:r>
            <a:endParaRPr lang="en-US" sz="2900" dirty="0"/>
          </a:p>
        </p:txBody>
      </p:sp>
      <p:sp>
        <p:nvSpPr>
          <p:cNvPr id="5" name="Text 3"/>
          <p:cNvSpPr/>
          <p:nvPr/>
        </p:nvSpPr>
        <p:spPr>
          <a:xfrm>
            <a:off x="448056" y="1508760"/>
            <a:ext cx="11109960" cy="438912"/>
          </a:xfrm>
          <a:prstGeom prst="rect">
            <a:avLst/>
          </a:prstGeom>
          <a:noFill/>
          <a:ln/>
        </p:spPr>
        <p:txBody>
          <a:bodyPr wrap="square" lIns="0" tIns="0" rIns="0" bIns="0" rtlCol="0" anchor="t"/>
          <a:lstStyle/>
          <a:p>
            <a:pPr indent="0" marL="0">
              <a:buNone/>
            </a:pPr>
            <a:r>
              <a:rPr lang="en-US" sz="1450" dirty="0">
                <a:solidFill>
                  <a:srgbClr val="62636E"/>
                </a:solidFill>
                <a:latin typeface="Noto Sans" pitchFamily="34" charset="0"/>
                <a:ea typeface="Noto Sans" pitchFamily="34" charset="-122"/>
                <a:cs typeface="Noto Sans" pitchFamily="34" charset="-120"/>
              </a:rPr>
              <a:t>Clickable public sources; detailed scope and assumptions are also in speaker notes.</a:t>
            </a:r>
            <a:endParaRPr lang="en-US" sz="1450" dirty="0"/>
          </a:p>
        </p:txBody>
      </p:sp>
      <p:sp>
        <p:nvSpPr>
          <p:cNvPr id="6" name="Shape 4"/>
          <p:cNvSpPr/>
          <p:nvPr/>
        </p:nvSpPr>
        <p:spPr>
          <a:xfrm>
            <a:off x="438912" y="6455664"/>
            <a:ext cx="11311128" cy="0"/>
          </a:xfrm>
          <a:prstGeom prst="line">
            <a:avLst/>
          </a:prstGeom>
          <a:noFill/>
          <a:ln w="10160">
            <a:solidFill>
              <a:srgbClr val="D8D8DE"/>
            </a:solidFill>
            <a:prstDash val="solid"/>
          </a:ln>
        </p:spPr>
      </p:sp>
      <p:sp>
        <p:nvSpPr>
          <p:cNvPr id="7" name="Text 5"/>
          <p:cNvSpPr/>
          <p:nvPr/>
        </p:nvSpPr>
        <p:spPr>
          <a:xfrm>
            <a:off x="448056" y="6601968"/>
            <a:ext cx="10607040" cy="118872"/>
          </a:xfrm>
          <a:prstGeom prst="rect">
            <a:avLst/>
          </a:prstGeom>
          <a:noFill/>
          <a:ln/>
        </p:spPr>
        <p:txBody>
          <a:bodyPr wrap="square" lIns="0" tIns="0" rIns="0" bIns="0" rtlCol="0" anchor="t"/>
          <a:lstStyle/>
          <a:p>
            <a:pPr indent="0" marL="0">
              <a:buNone/>
            </a:pPr>
            <a:r>
              <a:rPr lang="en-US" sz="740" dirty="0">
                <a:solidFill>
                  <a:srgbClr val="62636E"/>
                </a:solidFill>
                <a:latin typeface="Noto Sans" pitchFamily="34" charset="0"/>
                <a:ea typeface="Noto Sans" pitchFamily="34" charset="-122"/>
                <a:cs typeface="Noto Sans" pitchFamily="34" charset="-120"/>
              </a:rPr>
              <a:t>INTERNAL PROPOSAL • 01 OCT 2026 • ATMOS RESULTS / PRODUCT SUPPORT NOT YET QUALIFIED</a:t>
            </a:r>
            <a:endParaRPr lang="en-US" sz="740" dirty="0"/>
          </a:p>
        </p:txBody>
      </p:sp>
      <p:sp>
        <p:nvSpPr>
          <p:cNvPr id="8" name="Text 6"/>
          <p:cNvSpPr/>
          <p:nvPr/>
        </p:nvSpPr>
        <p:spPr>
          <a:xfrm>
            <a:off x="11247120" y="6556248"/>
            <a:ext cx="475488" cy="228600"/>
          </a:xfrm>
          <a:prstGeom prst="rect">
            <a:avLst/>
          </a:prstGeom>
          <a:noFill/>
          <a:ln/>
        </p:spPr>
        <p:txBody>
          <a:bodyPr wrap="square" lIns="0" tIns="0" rIns="0" bIns="0" rtlCol="0" anchor="t"/>
          <a:lstStyle/>
          <a:p>
            <a:pPr algn="r" indent="0" marL="0">
              <a:buNone/>
            </a:pPr>
            <a:r>
              <a:rPr lang="en-US" sz="1100" b="1" dirty="0">
                <a:solidFill>
                  <a:srgbClr val="E31837"/>
                </a:solidFill>
                <a:latin typeface="Noto Sans" pitchFamily="34" charset="0"/>
                <a:ea typeface="Noto Sans" pitchFamily="34" charset="-122"/>
                <a:cs typeface="Noto Sans" pitchFamily="34" charset="-120"/>
              </a:rPr>
              <a:t>18</a:t>
            </a:r>
            <a:endParaRPr lang="en-US" sz="1100" dirty="0"/>
          </a:p>
        </p:txBody>
      </p:sp>
      <p:sp>
        <p:nvSpPr>
          <p:cNvPr id="9" name="Text 7"/>
          <p:cNvSpPr/>
          <p:nvPr/>
        </p:nvSpPr>
        <p:spPr>
          <a:xfrm>
            <a:off x="448056" y="6281928"/>
            <a:ext cx="11064240" cy="137160"/>
          </a:xfrm>
          <a:prstGeom prst="rect">
            <a:avLst/>
          </a:prstGeom>
          <a:noFill/>
          <a:ln/>
        </p:spPr>
        <p:txBody>
          <a:bodyPr wrap="square" lIns="0" tIns="0" rIns="0" bIns="0" rtlCol="0" anchor="t"/>
          <a:lstStyle/>
          <a:p>
            <a:pPr indent="0" marL="0">
              <a:buNone/>
            </a:pPr>
            <a:r>
              <a:rPr lang="en-US" sz="810" dirty="0">
                <a:solidFill>
                  <a:srgbClr val="62636E"/>
                </a:solidFill>
                <a:latin typeface="Noto Sans" pitchFamily="34" charset="0"/>
                <a:ea typeface="Noto Sans" pitchFamily="34" charset="-122"/>
                <a:cs typeface="Noto Sans" pitchFamily="34" charset="-120"/>
              </a:rPr>
              <a:t>Source basis: supplied executive deck. Public technical references revisited 1 October 2026.</a:t>
            </a:r>
            <a:endParaRPr lang="en-US" sz="810" dirty="0"/>
          </a:p>
        </p:txBody>
      </p:sp>
      <p:sp>
        <p:nvSpPr>
          <p:cNvPr id="10" name="Shape 8"/>
          <p:cNvSpPr/>
          <p:nvPr/>
        </p:nvSpPr>
        <p:spPr>
          <a:xfrm>
            <a:off x="457200" y="2084832"/>
            <a:ext cx="466344" cy="292608"/>
          </a:xfrm>
          <a:prstGeom prst="rect">
            <a:avLst/>
          </a:prstGeom>
          <a:solidFill>
            <a:srgbClr val="FBE9ED"/>
          </a:solidFill>
          <a:ln w="10160">
            <a:solidFill>
              <a:srgbClr val="FBE9ED"/>
            </a:solidFill>
            <a:prstDash val="solid"/>
          </a:ln>
        </p:spPr>
      </p:sp>
      <p:sp>
        <p:nvSpPr>
          <p:cNvPr id="11" name="Text 9"/>
          <p:cNvSpPr/>
          <p:nvPr/>
        </p:nvSpPr>
        <p:spPr>
          <a:xfrm>
            <a:off x="548640" y="2125980"/>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S1</a:t>
            </a:r>
            <a:endParaRPr lang="en-US" sz="1000" dirty="0"/>
          </a:p>
        </p:txBody>
      </p:sp>
      <p:sp>
        <p:nvSpPr>
          <p:cNvPr id="12" name="Text 10">
            <a:hlinkClick r:id="rId1" tooltip=""/>
          </p:cNvPr>
          <p:cNvSpPr/>
          <p:nvPr/>
        </p:nvSpPr>
        <p:spPr>
          <a:xfrm>
            <a:off x="1078992" y="2075688"/>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Lloyds / Athena</a:t>
            </a:r>
            <a:endParaRPr lang="en-US" sz="1500" dirty="0"/>
          </a:p>
        </p:txBody>
      </p:sp>
      <p:sp>
        <p:nvSpPr>
          <p:cNvPr id="13" name="Text 11"/>
          <p:cNvSpPr/>
          <p:nvPr/>
        </p:nvSpPr>
        <p:spPr>
          <a:xfrm>
            <a:off x="1078992" y="2395728"/>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Public adoption and search-time result.</a:t>
            </a:r>
            <a:endParaRPr lang="en-US" sz="1140" dirty="0"/>
          </a:p>
        </p:txBody>
      </p:sp>
      <p:sp>
        <p:nvSpPr>
          <p:cNvPr id="14" name="Shape 12"/>
          <p:cNvSpPr/>
          <p:nvPr/>
        </p:nvSpPr>
        <p:spPr>
          <a:xfrm>
            <a:off x="457200" y="2743200"/>
            <a:ext cx="466344" cy="292608"/>
          </a:xfrm>
          <a:prstGeom prst="rect">
            <a:avLst/>
          </a:prstGeom>
          <a:solidFill>
            <a:srgbClr val="FBE9ED"/>
          </a:solidFill>
          <a:ln w="10160">
            <a:solidFill>
              <a:srgbClr val="FBE9ED"/>
            </a:solidFill>
            <a:prstDash val="solid"/>
          </a:ln>
        </p:spPr>
      </p:sp>
      <p:sp>
        <p:nvSpPr>
          <p:cNvPr id="15" name="Text 13"/>
          <p:cNvSpPr/>
          <p:nvPr/>
        </p:nvSpPr>
        <p:spPr>
          <a:xfrm>
            <a:off x="548640" y="2784348"/>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S2</a:t>
            </a:r>
            <a:endParaRPr lang="en-US" sz="1000" dirty="0"/>
          </a:p>
        </p:txBody>
      </p:sp>
      <p:sp>
        <p:nvSpPr>
          <p:cNvPr id="16" name="Text 14">
            <a:hlinkClick r:id="rId2" tooltip=""/>
          </p:cNvPr>
          <p:cNvSpPr/>
          <p:nvPr/>
        </p:nvSpPr>
        <p:spPr>
          <a:xfrm>
            <a:off x="1078992" y="2734056"/>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Qwen3-235B configuration</a:t>
            </a:r>
            <a:endParaRPr lang="en-US" sz="1500" dirty="0"/>
          </a:p>
        </p:txBody>
      </p:sp>
      <p:sp>
        <p:nvSpPr>
          <p:cNvPr id="17" name="Text 15"/>
          <p:cNvSpPr/>
          <p:nvPr/>
        </p:nvSpPr>
        <p:spPr>
          <a:xfrm>
            <a:off x="1078992" y="3054096"/>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Layer/head geometry and cache arithmetic.</a:t>
            </a:r>
            <a:endParaRPr lang="en-US" sz="1140" dirty="0"/>
          </a:p>
        </p:txBody>
      </p:sp>
      <p:sp>
        <p:nvSpPr>
          <p:cNvPr id="18" name="Shape 16"/>
          <p:cNvSpPr/>
          <p:nvPr/>
        </p:nvSpPr>
        <p:spPr>
          <a:xfrm>
            <a:off x="457200" y="3401568"/>
            <a:ext cx="466344" cy="292608"/>
          </a:xfrm>
          <a:prstGeom prst="rect">
            <a:avLst/>
          </a:prstGeom>
          <a:solidFill>
            <a:srgbClr val="FBE9ED"/>
          </a:solidFill>
          <a:ln w="10160">
            <a:solidFill>
              <a:srgbClr val="FBE9ED"/>
            </a:solidFill>
            <a:prstDash val="solid"/>
          </a:ln>
        </p:spPr>
      </p:sp>
      <p:sp>
        <p:nvSpPr>
          <p:cNvPr id="19" name="Text 17"/>
          <p:cNvSpPr/>
          <p:nvPr/>
        </p:nvSpPr>
        <p:spPr>
          <a:xfrm>
            <a:off x="548640" y="3442716"/>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S3</a:t>
            </a:r>
            <a:endParaRPr lang="en-US" sz="1000" dirty="0"/>
          </a:p>
        </p:txBody>
      </p:sp>
      <p:sp>
        <p:nvSpPr>
          <p:cNvPr id="20" name="Text 18">
            <a:hlinkClick r:id="rId3" tooltip=""/>
          </p:cNvPr>
          <p:cNvSpPr/>
          <p:nvPr/>
        </p:nvSpPr>
        <p:spPr>
          <a:xfrm>
            <a:off x="1078992" y="3392424"/>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Qwen3-30B configuration</a:t>
            </a:r>
            <a:endParaRPr lang="en-US" sz="1500" dirty="0"/>
          </a:p>
        </p:txBody>
      </p:sp>
      <p:sp>
        <p:nvSpPr>
          <p:cNvPr id="21" name="Text 19"/>
          <p:cNvSpPr/>
          <p:nvPr/>
        </p:nvSpPr>
        <p:spPr>
          <a:xfrm>
            <a:off x="1078992" y="3712464"/>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Smaller-model geometry.</a:t>
            </a:r>
            <a:endParaRPr lang="en-US" sz="1140" dirty="0"/>
          </a:p>
        </p:txBody>
      </p:sp>
      <p:sp>
        <p:nvSpPr>
          <p:cNvPr id="22" name="Shape 20"/>
          <p:cNvSpPr/>
          <p:nvPr/>
        </p:nvSpPr>
        <p:spPr>
          <a:xfrm>
            <a:off x="457200" y="4059936"/>
            <a:ext cx="466344" cy="292608"/>
          </a:xfrm>
          <a:prstGeom prst="rect">
            <a:avLst/>
          </a:prstGeom>
          <a:solidFill>
            <a:srgbClr val="FBE9ED"/>
          </a:solidFill>
          <a:ln w="10160">
            <a:solidFill>
              <a:srgbClr val="FBE9ED"/>
            </a:solidFill>
            <a:prstDash val="solid"/>
          </a:ln>
        </p:spPr>
      </p:sp>
      <p:sp>
        <p:nvSpPr>
          <p:cNvPr id="23" name="Text 21"/>
          <p:cNvSpPr/>
          <p:nvPr/>
        </p:nvSpPr>
        <p:spPr>
          <a:xfrm>
            <a:off x="548640" y="4101084"/>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S4</a:t>
            </a:r>
            <a:endParaRPr lang="en-US" sz="1000" dirty="0"/>
          </a:p>
        </p:txBody>
      </p:sp>
      <p:sp>
        <p:nvSpPr>
          <p:cNvPr id="24" name="Text 22">
            <a:hlinkClick r:id="rId4" tooltip=""/>
          </p:cNvPr>
          <p:cNvSpPr/>
          <p:nvPr/>
        </p:nvSpPr>
        <p:spPr>
          <a:xfrm>
            <a:off x="1078992" y="4050792"/>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AMD EPYC 9355P</a:t>
            </a:r>
            <a:endParaRPr lang="en-US" sz="1500" dirty="0"/>
          </a:p>
        </p:txBody>
      </p:sp>
      <p:sp>
        <p:nvSpPr>
          <p:cNvPr id="25" name="Text 23"/>
          <p:cNvSpPr/>
          <p:nvPr/>
        </p:nvSpPr>
        <p:spPr>
          <a:xfrm>
            <a:off x="1078992" y="4370832"/>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CPU reference; not an ATMOS-certified node.</a:t>
            </a:r>
            <a:endParaRPr lang="en-US" sz="1140" dirty="0"/>
          </a:p>
        </p:txBody>
      </p:sp>
      <p:sp>
        <p:nvSpPr>
          <p:cNvPr id="26" name="Shape 24"/>
          <p:cNvSpPr/>
          <p:nvPr/>
        </p:nvSpPr>
        <p:spPr>
          <a:xfrm>
            <a:off x="457200" y="4718304"/>
            <a:ext cx="466344" cy="292608"/>
          </a:xfrm>
          <a:prstGeom prst="rect">
            <a:avLst/>
          </a:prstGeom>
          <a:solidFill>
            <a:srgbClr val="FBE9ED"/>
          </a:solidFill>
          <a:ln w="10160">
            <a:solidFill>
              <a:srgbClr val="FBE9ED"/>
            </a:solidFill>
            <a:prstDash val="solid"/>
          </a:ln>
        </p:spPr>
      </p:sp>
      <p:sp>
        <p:nvSpPr>
          <p:cNvPr id="27" name="Text 25"/>
          <p:cNvSpPr/>
          <p:nvPr/>
        </p:nvSpPr>
        <p:spPr>
          <a:xfrm>
            <a:off x="548640" y="4759452"/>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S5</a:t>
            </a:r>
            <a:endParaRPr lang="en-US" sz="1000" dirty="0"/>
          </a:p>
        </p:txBody>
      </p:sp>
      <p:sp>
        <p:nvSpPr>
          <p:cNvPr id="28" name="Text 26">
            <a:hlinkClick r:id="rId5" tooltip=""/>
          </p:cNvPr>
          <p:cNvSpPr/>
          <p:nvPr/>
        </p:nvSpPr>
        <p:spPr>
          <a:xfrm>
            <a:off x="1078992" y="4709160"/>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Tenstorrent vLLM plugin</a:t>
            </a:r>
            <a:endParaRPr lang="en-US" sz="1500" dirty="0"/>
          </a:p>
        </p:txBody>
      </p:sp>
      <p:sp>
        <p:nvSpPr>
          <p:cNvPr id="29" name="Text 27"/>
          <p:cNvSpPr/>
          <p:nvPr/>
        </p:nvSpPr>
        <p:spPr>
          <a:xfrm>
            <a:off x="1078992" y="5029200"/>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Native-runtime packaging precedent.</a:t>
            </a:r>
            <a:endParaRPr lang="en-US" sz="1140" dirty="0"/>
          </a:p>
        </p:txBody>
      </p:sp>
      <p:sp>
        <p:nvSpPr>
          <p:cNvPr id="30" name="Shape 28"/>
          <p:cNvSpPr/>
          <p:nvPr/>
        </p:nvSpPr>
        <p:spPr>
          <a:xfrm>
            <a:off x="6281928" y="2084832"/>
            <a:ext cx="466344" cy="292608"/>
          </a:xfrm>
          <a:prstGeom prst="rect">
            <a:avLst/>
          </a:prstGeom>
          <a:solidFill>
            <a:srgbClr val="FBE9ED"/>
          </a:solidFill>
          <a:ln w="10160">
            <a:solidFill>
              <a:srgbClr val="FBE9ED"/>
            </a:solidFill>
            <a:prstDash val="solid"/>
          </a:ln>
        </p:spPr>
      </p:sp>
      <p:sp>
        <p:nvSpPr>
          <p:cNvPr id="31" name="Text 29"/>
          <p:cNvSpPr/>
          <p:nvPr/>
        </p:nvSpPr>
        <p:spPr>
          <a:xfrm>
            <a:off x="6373368" y="2125980"/>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S6</a:t>
            </a:r>
            <a:endParaRPr lang="en-US" sz="1000" dirty="0"/>
          </a:p>
        </p:txBody>
      </p:sp>
      <p:sp>
        <p:nvSpPr>
          <p:cNvPr id="32" name="Text 30">
            <a:hlinkClick r:id="rId6" tooltip=""/>
          </p:cNvPr>
          <p:cNvSpPr/>
          <p:nvPr/>
        </p:nvSpPr>
        <p:spPr>
          <a:xfrm>
            <a:off x="6903720" y="2075688"/>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Dynamo disaggregated serving</a:t>
            </a:r>
            <a:endParaRPr lang="en-US" sz="1500" dirty="0"/>
          </a:p>
        </p:txBody>
      </p:sp>
      <p:sp>
        <p:nvSpPr>
          <p:cNvPr id="33" name="Text 31"/>
          <p:cNvSpPr/>
          <p:nvPr/>
        </p:nvSpPr>
        <p:spPr>
          <a:xfrm>
            <a:off x="6903720" y="2395728"/>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Prefill/decode orchestration precedent.</a:t>
            </a:r>
            <a:endParaRPr lang="en-US" sz="1140" dirty="0"/>
          </a:p>
        </p:txBody>
      </p:sp>
      <p:sp>
        <p:nvSpPr>
          <p:cNvPr id="34" name="Shape 32"/>
          <p:cNvSpPr/>
          <p:nvPr/>
        </p:nvSpPr>
        <p:spPr>
          <a:xfrm>
            <a:off x="6281928" y="2743200"/>
            <a:ext cx="466344" cy="292608"/>
          </a:xfrm>
          <a:prstGeom prst="rect">
            <a:avLst/>
          </a:prstGeom>
          <a:solidFill>
            <a:srgbClr val="FBE9ED"/>
          </a:solidFill>
          <a:ln w="10160">
            <a:solidFill>
              <a:srgbClr val="FBE9ED"/>
            </a:solidFill>
            <a:prstDash val="solid"/>
          </a:ln>
        </p:spPr>
      </p:sp>
      <p:sp>
        <p:nvSpPr>
          <p:cNvPr id="35" name="Text 33"/>
          <p:cNvSpPr/>
          <p:nvPr/>
        </p:nvSpPr>
        <p:spPr>
          <a:xfrm>
            <a:off x="6373368" y="2784348"/>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S7</a:t>
            </a:r>
            <a:endParaRPr lang="en-US" sz="1000" dirty="0"/>
          </a:p>
        </p:txBody>
      </p:sp>
      <p:sp>
        <p:nvSpPr>
          <p:cNvPr id="36" name="Text 34">
            <a:hlinkClick r:id="rId7" tooltip=""/>
          </p:cNvPr>
          <p:cNvSpPr/>
          <p:nvPr/>
        </p:nvSpPr>
        <p:spPr>
          <a:xfrm>
            <a:off x="6903720" y="2734056"/>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vLLM disaggregated prefilling</a:t>
            </a:r>
            <a:endParaRPr lang="en-US" sz="1500" dirty="0"/>
          </a:p>
        </p:txBody>
      </p:sp>
      <p:sp>
        <p:nvSpPr>
          <p:cNvPr id="37" name="Text 35"/>
          <p:cNvSpPr/>
          <p:nvPr/>
        </p:nvSpPr>
        <p:spPr>
          <a:xfrm>
            <a:off x="6903720" y="3054096"/>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Connector boundary and integration scope.</a:t>
            </a:r>
            <a:endParaRPr lang="en-US" sz="1140" dirty="0"/>
          </a:p>
        </p:txBody>
      </p:sp>
      <p:sp>
        <p:nvSpPr>
          <p:cNvPr id="38" name="Shape 36"/>
          <p:cNvSpPr/>
          <p:nvPr/>
        </p:nvSpPr>
        <p:spPr>
          <a:xfrm>
            <a:off x="6281928" y="3401568"/>
            <a:ext cx="466344" cy="292608"/>
          </a:xfrm>
          <a:prstGeom prst="rect">
            <a:avLst/>
          </a:prstGeom>
          <a:solidFill>
            <a:srgbClr val="FBE9ED"/>
          </a:solidFill>
          <a:ln w="10160">
            <a:solidFill>
              <a:srgbClr val="FBE9ED"/>
            </a:solidFill>
            <a:prstDash val="solid"/>
          </a:ln>
        </p:spPr>
      </p:sp>
      <p:sp>
        <p:nvSpPr>
          <p:cNvPr id="39" name="Text 37"/>
          <p:cNvSpPr/>
          <p:nvPr/>
        </p:nvSpPr>
        <p:spPr>
          <a:xfrm>
            <a:off x="6373368" y="3442716"/>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S8</a:t>
            </a:r>
            <a:endParaRPr lang="en-US" sz="1000" dirty="0"/>
          </a:p>
        </p:txBody>
      </p:sp>
      <p:sp>
        <p:nvSpPr>
          <p:cNvPr id="40" name="Text 38">
            <a:hlinkClick r:id="rId8" tooltip=""/>
          </p:cNvPr>
          <p:cNvSpPr/>
          <p:nvPr/>
        </p:nvSpPr>
        <p:spPr>
          <a:xfrm>
            <a:off x="6903720" y="3392424"/>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LMCache</a:t>
            </a:r>
            <a:endParaRPr lang="en-US" sz="1500" dirty="0"/>
          </a:p>
        </p:txBody>
      </p:sp>
      <p:sp>
        <p:nvSpPr>
          <p:cNvPr id="41" name="Text 39"/>
          <p:cNvSpPr/>
          <p:nvPr/>
        </p:nvSpPr>
        <p:spPr>
          <a:xfrm>
            <a:off x="6903720" y="3712464"/>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KV management / transport, not an NPU runtime.</a:t>
            </a:r>
            <a:endParaRPr lang="en-US" sz="1140" dirty="0"/>
          </a:p>
        </p:txBody>
      </p:sp>
      <p:sp>
        <p:nvSpPr>
          <p:cNvPr id="42" name="Shape 40"/>
          <p:cNvSpPr/>
          <p:nvPr/>
        </p:nvSpPr>
        <p:spPr>
          <a:xfrm>
            <a:off x="6281928" y="4059936"/>
            <a:ext cx="466344" cy="292608"/>
          </a:xfrm>
          <a:prstGeom prst="rect">
            <a:avLst/>
          </a:prstGeom>
          <a:solidFill>
            <a:srgbClr val="FBE9ED"/>
          </a:solidFill>
          <a:ln w="10160">
            <a:solidFill>
              <a:srgbClr val="FBE9ED"/>
            </a:solidFill>
            <a:prstDash val="solid"/>
          </a:ln>
        </p:spPr>
      </p:sp>
      <p:sp>
        <p:nvSpPr>
          <p:cNvPr id="43" name="Text 41"/>
          <p:cNvSpPr/>
          <p:nvPr/>
        </p:nvSpPr>
        <p:spPr>
          <a:xfrm>
            <a:off x="6373368" y="4101084"/>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S9</a:t>
            </a:r>
            <a:endParaRPr lang="en-US" sz="1000" dirty="0"/>
          </a:p>
        </p:txBody>
      </p:sp>
      <p:sp>
        <p:nvSpPr>
          <p:cNvPr id="44" name="Text 42">
            <a:hlinkClick r:id="rId9" tooltip=""/>
          </p:cNvPr>
          <p:cNvSpPr/>
          <p:nvPr/>
        </p:nvSpPr>
        <p:spPr>
          <a:xfrm>
            <a:off x="6903720" y="4050792"/>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Speculative decoding / ICML 2023</a:t>
            </a:r>
            <a:endParaRPr lang="en-US" sz="1500" dirty="0"/>
          </a:p>
        </p:txBody>
      </p:sp>
      <p:sp>
        <p:nvSpPr>
          <p:cNvPr id="45" name="Text 43"/>
          <p:cNvSpPr/>
          <p:nvPr/>
        </p:nvSpPr>
        <p:spPr>
          <a:xfrm>
            <a:off x="6903720" y="4370832"/>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Correct acceptance/correction algorithm.</a:t>
            </a:r>
            <a:endParaRPr lang="en-US" sz="1140" dirty="0"/>
          </a:p>
        </p:txBody>
      </p:sp>
      <p:sp>
        <p:nvSpPr>
          <p:cNvPr id="46" name="Shape 44"/>
          <p:cNvSpPr/>
          <p:nvPr/>
        </p:nvSpPr>
        <p:spPr>
          <a:xfrm>
            <a:off x="6281928" y="4718304"/>
            <a:ext cx="466344" cy="292608"/>
          </a:xfrm>
          <a:prstGeom prst="rect">
            <a:avLst/>
          </a:prstGeom>
          <a:solidFill>
            <a:srgbClr val="FBE9ED"/>
          </a:solidFill>
          <a:ln w="10160">
            <a:solidFill>
              <a:srgbClr val="FBE9ED"/>
            </a:solidFill>
            <a:prstDash val="solid"/>
          </a:ln>
        </p:spPr>
      </p:sp>
      <p:sp>
        <p:nvSpPr>
          <p:cNvPr id="47" name="Text 45"/>
          <p:cNvSpPr/>
          <p:nvPr/>
        </p:nvSpPr>
        <p:spPr>
          <a:xfrm>
            <a:off x="6373368" y="4759452"/>
            <a:ext cx="283464" cy="210312"/>
          </a:xfrm>
          <a:prstGeom prst="rect">
            <a:avLst/>
          </a:prstGeom>
          <a:noFill/>
          <a:ln/>
        </p:spPr>
        <p:txBody>
          <a:bodyPr wrap="square" lIns="0" tIns="0" rIns="0" bIns="0" rtlCol="0" anchor="t"/>
          <a:lstStyle/>
          <a:p>
            <a:pPr indent="0" marL="0">
              <a:buNone/>
            </a:pPr>
            <a:r>
              <a:rPr lang="en-US" sz="1000" b="1" dirty="0">
                <a:solidFill>
                  <a:srgbClr val="E31837"/>
                </a:solidFill>
                <a:latin typeface="Noto Sans" pitchFamily="34" charset="0"/>
                <a:ea typeface="Noto Sans" pitchFamily="34" charset="-122"/>
                <a:cs typeface="Noto Sans" pitchFamily="34" charset="-120"/>
              </a:rPr>
              <a:t>S10</a:t>
            </a:r>
            <a:endParaRPr lang="en-US" sz="1000" dirty="0"/>
          </a:p>
        </p:txBody>
      </p:sp>
      <p:sp>
        <p:nvSpPr>
          <p:cNvPr id="48" name="Text 46">
            <a:hlinkClick r:id="rId10" tooltip=""/>
          </p:cNvPr>
          <p:cNvSpPr/>
          <p:nvPr/>
        </p:nvSpPr>
        <p:spPr>
          <a:xfrm>
            <a:off x="6903720" y="4709160"/>
            <a:ext cx="4818888" cy="274320"/>
          </a:xfrm>
          <a:prstGeom prst="rect">
            <a:avLst/>
          </a:prstGeom>
          <a:noFill/>
          <a:ln/>
        </p:spPr>
        <p:txBody>
          <a:bodyPr wrap="square" lIns="0" tIns="0" rIns="0" bIns="0" rtlCol="0" anchor="t"/>
          <a:lstStyle/>
          <a:p>
            <a:pPr indent="0" marL="0">
              <a:buNone/>
            </a:pPr>
            <a:r>
              <a:rPr lang="en-US" sz="1500" b="1" u="sng" dirty="0">
                <a:solidFill>
                  <a:srgbClr val="22212B"/>
                </a:solidFill>
                <a:latin typeface="Noto Sans" pitchFamily="34" charset="0"/>
                <a:ea typeface="Noto Sans" pitchFamily="34" charset="-122"/>
                <a:cs typeface="Noto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Kubernetes device plugins</a:t>
            </a:r>
            <a:endParaRPr lang="en-US" sz="1500" dirty="0"/>
          </a:p>
        </p:txBody>
      </p:sp>
      <p:sp>
        <p:nvSpPr>
          <p:cNvPr id="49" name="Text 47"/>
          <p:cNvSpPr/>
          <p:nvPr/>
        </p:nvSpPr>
        <p:spPr>
          <a:xfrm>
            <a:off x="6903720" y="5029200"/>
            <a:ext cx="4773168" cy="237744"/>
          </a:xfrm>
          <a:prstGeom prst="rect">
            <a:avLst/>
          </a:prstGeom>
          <a:noFill/>
          <a:ln/>
        </p:spPr>
        <p:txBody>
          <a:bodyPr wrap="square" lIns="0" tIns="0" rIns="0" bIns="0" rtlCol="0" anchor="t"/>
          <a:lstStyle/>
          <a:p>
            <a:pPr indent="0" marL="0">
              <a:buNone/>
            </a:pPr>
            <a:r>
              <a:rPr lang="en-US" sz="1140" dirty="0">
                <a:solidFill>
                  <a:srgbClr val="62636E"/>
                </a:solidFill>
                <a:latin typeface="Noto Sans" pitchFamily="34" charset="0"/>
                <a:ea typeface="Noto Sans" pitchFamily="34" charset="-122"/>
                <a:cs typeface="Noto Sans" pitchFamily="34" charset="-120"/>
              </a:rPr>
              <a:t>Hardware resource advertisement and allocation.</a:t>
            </a:r>
            <a:endParaRPr lang="en-US" sz="1140" dirty="0"/>
          </a:p>
        </p:txBody>
      </p:sp>
      <p:sp>
        <p:nvSpPr>
          <p:cNvPr id="50" name="Shape 48"/>
          <p:cNvSpPr/>
          <p:nvPr/>
        </p:nvSpPr>
        <p:spPr>
          <a:xfrm>
            <a:off x="457200" y="5614416"/>
            <a:ext cx="11283696" cy="521208"/>
          </a:xfrm>
          <a:prstGeom prst="rect">
            <a:avLst/>
          </a:prstGeom>
          <a:solidFill>
            <a:srgbClr val="FBE9ED"/>
          </a:solidFill>
          <a:ln w="10160">
            <a:solidFill>
              <a:srgbClr val="FBE9ED"/>
            </a:solidFill>
            <a:prstDash val="solid"/>
          </a:ln>
        </p:spPr>
      </p:sp>
      <p:sp>
        <p:nvSpPr>
          <p:cNvPr id="51" name="Text 49"/>
          <p:cNvSpPr/>
          <p:nvPr/>
        </p:nvSpPr>
        <p:spPr>
          <a:xfrm>
            <a:off x="630936" y="5733288"/>
            <a:ext cx="10908792" cy="228600"/>
          </a:xfrm>
          <a:prstGeom prst="rect">
            <a:avLst/>
          </a:prstGeom>
          <a:noFill/>
          <a:ln/>
        </p:spPr>
        <p:txBody>
          <a:bodyPr wrap="square" lIns="0" tIns="0" rIns="0" bIns="0" rtlCol="0" anchor="t"/>
          <a:lstStyle/>
          <a:p>
            <a:pPr indent="0" marL="0">
              <a:buNone/>
            </a:pPr>
            <a:r>
              <a:rPr lang="en-US" sz="1220" b="1" dirty="0">
                <a:solidFill>
                  <a:srgbClr val="B90C2A"/>
                </a:solidFill>
                <a:latin typeface="Noto Sans" pitchFamily="34" charset="0"/>
                <a:ea typeface="Noto Sans" pitchFamily="34" charset="-122"/>
                <a:cs typeface="Noto Sans" pitchFamily="34" charset="-120"/>
              </a:rPr>
              <a:t>PROPOSED: ATMOS-native support, service rates, GPU–ATMOS KV compatibility, speculative gains, OEM BOM and prices.</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SanDisk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SanDisk ATMOS — Three Enterprise Offerings</dc:title>
  <dc:subject>Three enterprise MoE offerings: architecture, customer deliverables and qualification</dc:subject>
  <dc:creator>SanDisk ATMOS Strategy</dc:creator>
  <cp:lastModifiedBy>SanDisk ATMOS Strategy</cp:lastModifiedBy>
  <cp:revision>1</cp:revision>
  <dcterms:created xsi:type="dcterms:W3CDTF">2026-10-02T05:19:54Z</dcterms:created>
  <dcterms:modified xsi:type="dcterms:W3CDTF">2026-10-02T05:19:54Z</dcterms:modified>
</cp:coreProperties>
</file>