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12" r:id="rId4"/>
    <p:sldMasterId id="2147485010" r:id="rId5"/>
  </p:sldMasterIdLst>
  <p:notesMasterIdLst>
    <p:notesMasterId r:id="rId24"/>
  </p:notesMasterIdLst>
  <p:sldIdLst>
    <p:sldId id="256" r:id="rId6"/>
    <p:sldId id="2147483469" r:id="rId7"/>
    <p:sldId id="281" r:id="rId8"/>
    <p:sldId id="278" r:id="rId9"/>
    <p:sldId id="2147483627" r:id="rId10"/>
    <p:sldId id="286" r:id="rId11"/>
    <p:sldId id="276" r:id="rId12"/>
    <p:sldId id="288" r:id="rId13"/>
    <p:sldId id="289" r:id="rId14"/>
    <p:sldId id="284" r:id="rId15"/>
    <p:sldId id="290" r:id="rId16"/>
    <p:sldId id="2147483626" r:id="rId17"/>
    <p:sldId id="2147483427" r:id="rId18"/>
    <p:sldId id="287" r:id="rId19"/>
    <p:sldId id="262" r:id="rId20"/>
    <p:sldId id="2147483448" r:id="rId21"/>
    <p:sldId id="268" r:id="rId22"/>
    <p:sldId id="2147483457" r:id="rId23"/>
  </p:sldIdLst>
  <p:sldSz cx="12192000" cy="6858000"/>
  <p:notesSz cx="6858000" cy="9144000"/>
  <p:defaultTextStyle>
    <a:defPPr>
      <a:defRPr lang="en-US"/>
    </a:defPPr>
    <a:lvl1pPr marL="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1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8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3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9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4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F88A"/>
    <a:srgbClr val="ADF800"/>
    <a:srgbClr val="A1F87C"/>
    <a:srgbClr val="A2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2"/>
    <p:restoredTop sz="91691"/>
  </p:normalViewPr>
  <p:slideViewPr>
    <p:cSldViewPr snapToGrid="0">
      <p:cViewPr varScale="1">
        <p:scale>
          <a:sx n="111" d="100"/>
          <a:sy n="11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731A88-2B47-4CCF-9D9F-CA4C604E79CA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7C25605-CBAD-4727-8DA5-726C9EA5ABDD}">
      <dgm:prSet/>
      <dgm:spPr/>
      <dgm:t>
        <a:bodyPr/>
        <a:lstStyle/>
        <a:p>
          <a:r>
            <a:rPr lang="en-US" b="1" dirty="0"/>
            <a:t>Sizing </a:t>
          </a:r>
          <a:endParaRPr lang="en-US" dirty="0"/>
        </a:p>
      </dgm:t>
    </dgm:pt>
    <dgm:pt modelId="{96666BB1-099E-47E8-9B8A-EBA1927F24BC}" type="parTrans" cxnId="{2FCBE158-8D97-4449-8286-2CB3101E0E40}">
      <dgm:prSet/>
      <dgm:spPr/>
      <dgm:t>
        <a:bodyPr/>
        <a:lstStyle/>
        <a:p>
          <a:endParaRPr lang="en-US"/>
        </a:p>
      </dgm:t>
    </dgm:pt>
    <dgm:pt modelId="{C435C3AA-FED2-4E7B-BF83-6F126CDB635C}" type="sibTrans" cxnId="{2FCBE158-8D97-4449-8286-2CB3101E0E40}">
      <dgm:prSet/>
      <dgm:spPr/>
      <dgm:t>
        <a:bodyPr/>
        <a:lstStyle/>
        <a:p>
          <a:endParaRPr lang="en-US"/>
        </a:p>
      </dgm:t>
    </dgm:pt>
    <dgm:pt modelId="{79059ECD-7C19-4676-8FFE-537BCE5A2A03}">
      <dgm:prSet/>
      <dgm:spPr/>
      <dgm:t>
        <a:bodyPr/>
        <a:lstStyle/>
        <a:p>
          <a:r>
            <a:rPr lang="en-US"/>
            <a:t>Number of users and the TPS (&amp; TTFT)required for each user (if the AI application is user facing)</a:t>
          </a:r>
        </a:p>
      </dgm:t>
    </dgm:pt>
    <dgm:pt modelId="{22110FB6-EFA1-46D0-9D71-5A462433F710}" type="parTrans" cxnId="{1F5EE8DC-E6FD-4B2C-8055-9A2445D13497}">
      <dgm:prSet/>
      <dgm:spPr/>
      <dgm:t>
        <a:bodyPr/>
        <a:lstStyle/>
        <a:p>
          <a:endParaRPr lang="en-US"/>
        </a:p>
      </dgm:t>
    </dgm:pt>
    <dgm:pt modelId="{D017D869-3A00-4616-AA15-D0170F83758F}" type="sibTrans" cxnId="{1F5EE8DC-E6FD-4B2C-8055-9A2445D13497}">
      <dgm:prSet/>
      <dgm:spPr/>
      <dgm:t>
        <a:bodyPr/>
        <a:lstStyle/>
        <a:p>
          <a:endParaRPr lang="en-US"/>
        </a:p>
      </dgm:t>
    </dgm:pt>
    <dgm:pt modelId="{28D5D928-317C-4BFD-A45B-7FEF8ECA9484}">
      <dgm:prSet/>
      <dgm:spPr/>
      <dgm:t>
        <a:bodyPr/>
        <a:lstStyle/>
        <a:p>
          <a:r>
            <a:rPr lang="en-US"/>
            <a:t>What is the ”context length” (size for max ?) for each user</a:t>
          </a:r>
        </a:p>
      </dgm:t>
    </dgm:pt>
    <dgm:pt modelId="{62DBFD5E-1016-4635-A820-450617351B8D}" type="parTrans" cxnId="{28403FE3-13EB-431A-BDB0-F477B359E3F6}">
      <dgm:prSet/>
      <dgm:spPr/>
      <dgm:t>
        <a:bodyPr/>
        <a:lstStyle/>
        <a:p>
          <a:endParaRPr lang="en-US"/>
        </a:p>
      </dgm:t>
    </dgm:pt>
    <dgm:pt modelId="{6BFDA48A-72FB-45C6-A7B8-5015BCFCDF12}" type="sibTrans" cxnId="{28403FE3-13EB-431A-BDB0-F477B359E3F6}">
      <dgm:prSet/>
      <dgm:spPr/>
      <dgm:t>
        <a:bodyPr/>
        <a:lstStyle/>
        <a:p>
          <a:endParaRPr lang="en-US"/>
        </a:p>
      </dgm:t>
    </dgm:pt>
    <dgm:pt modelId="{020F1154-3BDD-4AF4-8E9C-9C25B2CF4224}">
      <dgm:prSet/>
      <dgm:spPr/>
      <dgm:t>
        <a:bodyPr/>
        <a:lstStyle/>
        <a:p>
          <a:r>
            <a:rPr lang="en-US"/>
            <a:t>Then size the minimum xPUs needed and the most optimal way to deploy the LLM (Tensor or Pipeline or Data Parallelism; for MoE models perhaps Expert Parallelism)</a:t>
          </a:r>
        </a:p>
      </dgm:t>
    </dgm:pt>
    <dgm:pt modelId="{E9788B9B-9A4D-4024-9B22-492B854D2938}" type="parTrans" cxnId="{A874707B-A267-4CE3-AD78-2CF50FB50D3F}">
      <dgm:prSet/>
      <dgm:spPr/>
      <dgm:t>
        <a:bodyPr/>
        <a:lstStyle/>
        <a:p>
          <a:endParaRPr lang="en-US"/>
        </a:p>
      </dgm:t>
    </dgm:pt>
    <dgm:pt modelId="{4FED1D8F-C7F6-4FD5-8F00-4052E92FEE39}" type="sibTrans" cxnId="{A874707B-A267-4CE3-AD78-2CF50FB50D3F}">
      <dgm:prSet/>
      <dgm:spPr/>
      <dgm:t>
        <a:bodyPr/>
        <a:lstStyle/>
        <a:p>
          <a:endParaRPr lang="en-US"/>
        </a:p>
      </dgm:t>
    </dgm:pt>
    <dgm:pt modelId="{B8140186-54B8-4B17-9EE4-E2DFD9BD65E5}">
      <dgm:prSet/>
      <dgm:spPr/>
      <dgm:t>
        <a:bodyPr/>
        <a:lstStyle/>
        <a:p>
          <a:r>
            <a:rPr lang="en-US" dirty="0"/>
            <a:t>﻿﻿</a:t>
          </a:r>
          <a:r>
            <a:rPr lang="en-US" b="1" dirty="0"/>
            <a:t>Scaling </a:t>
          </a:r>
          <a:endParaRPr lang="en-US" dirty="0"/>
        </a:p>
      </dgm:t>
    </dgm:pt>
    <dgm:pt modelId="{6B657E2C-8E03-4EB1-AB09-22525E94906E}" type="parTrans" cxnId="{829C8520-2BEA-4A71-B905-FC6F8F353F5A}">
      <dgm:prSet/>
      <dgm:spPr/>
      <dgm:t>
        <a:bodyPr/>
        <a:lstStyle/>
        <a:p>
          <a:endParaRPr lang="en-US"/>
        </a:p>
      </dgm:t>
    </dgm:pt>
    <dgm:pt modelId="{E1383CF4-7CCC-4F8D-B0F6-956B92AFCBF3}" type="sibTrans" cxnId="{829C8520-2BEA-4A71-B905-FC6F8F353F5A}">
      <dgm:prSet/>
      <dgm:spPr/>
      <dgm:t>
        <a:bodyPr/>
        <a:lstStyle/>
        <a:p>
          <a:endParaRPr lang="en-US"/>
        </a:p>
      </dgm:t>
    </dgm:pt>
    <dgm:pt modelId="{55BF39A9-3D8F-4283-A021-38D57C5E0BBE}">
      <dgm:prSet/>
      <dgm:spPr/>
      <dgm:t>
        <a:bodyPr/>
        <a:lstStyle/>
        <a:p>
          <a:r>
            <a:rPr lang="en-US"/>
            <a:t>Addition users once the AI application is deployed (move from node level to rack scale ?)</a:t>
          </a:r>
        </a:p>
      </dgm:t>
    </dgm:pt>
    <dgm:pt modelId="{F2A6B023-C8F1-4FE8-8791-9B17749FD978}" type="parTrans" cxnId="{80A929B6-1E88-4F27-81F8-CC902E34D9DA}">
      <dgm:prSet/>
      <dgm:spPr/>
      <dgm:t>
        <a:bodyPr/>
        <a:lstStyle/>
        <a:p>
          <a:endParaRPr lang="en-US"/>
        </a:p>
      </dgm:t>
    </dgm:pt>
    <dgm:pt modelId="{B72890C8-E1E4-4260-AB0E-2ABE5B7061F0}" type="sibTrans" cxnId="{80A929B6-1E88-4F27-81F8-CC902E34D9DA}">
      <dgm:prSet/>
      <dgm:spPr/>
      <dgm:t>
        <a:bodyPr/>
        <a:lstStyle/>
        <a:p>
          <a:endParaRPr lang="en-US"/>
        </a:p>
      </dgm:t>
    </dgm:pt>
    <dgm:pt modelId="{AFD5B73E-87A9-4B3F-AAD9-6EB9A12314AE}">
      <dgm:prSet/>
      <dgm:spPr/>
      <dgm:t>
        <a:bodyPr/>
        <a:lstStyle/>
        <a:p>
          <a:r>
            <a:rPr lang="en-US" dirty="0"/>
            <a:t>Will adding more nodes (with </a:t>
          </a:r>
          <a:r>
            <a:rPr lang="en-US" dirty="0" err="1"/>
            <a:t>xPUs</a:t>
          </a:r>
          <a:r>
            <a:rPr lang="en-US" dirty="0"/>
            <a:t>) scale linearly or need to re-shard the model ? </a:t>
          </a:r>
        </a:p>
      </dgm:t>
    </dgm:pt>
    <dgm:pt modelId="{9901607F-B175-481D-95B6-D1219DB84E8E}" type="parTrans" cxnId="{987A3093-42D5-4D6F-BE45-06D5628E3E12}">
      <dgm:prSet/>
      <dgm:spPr/>
      <dgm:t>
        <a:bodyPr/>
        <a:lstStyle/>
        <a:p>
          <a:endParaRPr lang="en-US"/>
        </a:p>
      </dgm:t>
    </dgm:pt>
    <dgm:pt modelId="{4A2C8B82-5DC5-4FD5-9AF4-24EE722AE2B7}" type="sibTrans" cxnId="{987A3093-42D5-4D6F-BE45-06D5628E3E12}">
      <dgm:prSet/>
      <dgm:spPr/>
      <dgm:t>
        <a:bodyPr/>
        <a:lstStyle/>
        <a:p>
          <a:endParaRPr lang="en-US"/>
        </a:p>
      </dgm:t>
    </dgm:pt>
    <dgm:pt modelId="{595E9F26-B4B8-4B75-A557-02A8B6766D03}">
      <dgm:prSet/>
      <dgm:spPr/>
      <dgm:t>
        <a:bodyPr/>
        <a:lstStyle/>
        <a:p>
          <a:r>
            <a:rPr lang="en-US"/>
            <a:t>The AI Application is a “batch processing app” (longer TTFT acceptable), is there a better way to scale ?</a:t>
          </a:r>
        </a:p>
      </dgm:t>
    </dgm:pt>
    <dgm:pt modelId="{178DD2AA-E200-4840-8882-1DCD0883145B}" type="parTrans" cxnId="{E3EECC54-74DC-4465-B40B-EED53945CA0D}">
      <dgm:prSet/>
      <dgm:spPr/>
      <dgm:t>
        <a:bodyPr/>
        <a:lstStyle/>
        <a:p>
          <a:endParaRPr lang="en-US"/>
        </a:p>
      </dgm:t>
    </dgm:pt>
    <dgm:pt modelId="{0B2A0911-D3FB-4F54-8B7C-0DC9961CDBB0}" type="sibTrans" cxnId="{E3EECC54-74DC-4465-B40B-EED53945CA0D}">
      <dgm:prSet/>
      <dgm:spPr/>
      <dgm:t>
        <a:bodyPr/>
        <a:lstStyle/>
        <a:p>
          <a:endParaRPr lang="en-US"/>
        </a:p>
      </dgm:t>
    </dgm:pt>
    <dgm:pt modelId="{1CBFF061-DFD0-C54F-B541-18E2ABDA9D1B}" type="pres">
      <dgm:prSet presAssocID="{70731A88-2B47-4CCF-9D9F-CA4C604E79CA}" presName="Name0" presStyleCnt="0">
        <dgm:presLayoutVars>
          <dgm:dir/>
          <dgm:animLvl val="lvl"/>
          <dgm:resizeHandles val="exact"/>
        </dgm:presLayoutVars>
      </dgm:prSet>
      <dgm:spPr/>
    </dgm:pt>
    <dgm:pt modelId="{798AFFEF-8871-4047-B8D0-1F5474B172E0}" type="pres">
      <dgm:prSet presAssocID="{37C25605-CBAD-4727-8DA5-726C9EA5ABDD}" presName="composite" presStyleCnt="0"/>
      <dgm:spPr/>
    </dgm:pt>
    <dgm:pt modelId="{DA1AD644-EADE-E14D-8BE0-5D4F324C782F}" type="pres">
      <dgm:prSet presAssocID="{37C25605-CBAD-4727-8DA5-726C9EA5ABD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4E87B26-AE85-6C48-977C-D5966792513C}" type="pres">
      <dgm:prSet presAssocID="{37C25605-CBAD-4727-8DA5-726C9EA5ABDD}" presName="desTx" presStyleLbl="alignAccFollowNode1" presStyleIdx="0" presStyleCnt="2">
        <dgm:presLayoutVars>
          <dgm:bulletEnabled val="1"/>
        </dgm:presLayoutVars>
      </dgm:prSet>
      <dgm:spPr/>
    </dgm:pt>
    <dgm:pt modelId="{F165709A-5D2E-7448-A4CE-AEE75F6CE815}" type="pres">
      <dgm:prSet presAssocID="{C435C3AA-FED2-4E7B-BF83-6F126CDB635C}" presName="space" presStyleCnt="0"/>
      <dgm:spPr/>
    </dgm:pt>
    <dgm:pt modelId="{F936D456-56A6-0340-A533-5245948E9A1F}" type="pres">
      <dgm:prSet presAssocID="{B8140186-54B8-4B17-9EE4-E2DFD9BD65E5}" presName="composite" presStyleCnt="0"/>
      <dgm:spPr/>
    </dgm:pt>
    <dgm:pt modelId="{22CF07E3-7963-2040-B50E-BA344D84168C}" type="pres">
      <dgm:prSet presAssocID="{B8140186-54B8-4B17-9EE4-E2DFD9BD65E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2E172C3-41BF-B64B-909C-FC8512DB19EB}" type="pres">
      <dgm:prSet presAssocID="{B8140186-54B8-4B17-9EE4-E2DFD9BD65E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8BBAB05-8351-954D-A82D-8B93FD9E0445}" type="presOf" srcId="{79059ECD-7C19-4676-8FFE-537BCE5A2A03}" destId="{94E87B26-AE85-6C48-977C-D5966792513C}" srcOrd="0" destOrd="0" presId="urn:microsoft.com/office/officeart/2005/8/layout/hList1"/>
    <dgm:cxn modelId="{3335C107-998E-DB4A-9FAA-834147D2E543}" type="presOf" srcId="{AFD5B73E-87A9-4B3F-AAD9-6EB9A12314AE}" destId="{92E172C3-41BF-B64B-909C-FC8512DB19EB}" srcOrd="0" destOrd="1" presId="urn:microsoft.com/office/officeart/2005/8/layout/hList1"/>
    <dgm:cxn modelId="{4CCEE818-A693-4C41-8366-C700F9D03EEF}" type="presOf" srcId="{70731A88-2B47-4CCF-9D9F-CA4C604E79CA}" destId="{1CBFF061-DFD0-C54F-B541-18E2ABDA9D1B}" srcOrd="0" destOrd="0" presId="urn:microsoft.com/office/officeart/2005/8/layout/hList1"/>
    <dgm:cxn modelId="{829C8520-2BEA-4A71-B905-FC6F8F353F5A}" srcId="{70731A88-2B47-4CCF-9D9F-CA4C604E79CA}" destId="{B8140186-54B8-4B17-9EE4-E2DFD9BD65E5}" srcOrd="1" destOrd="0" parTransId="{6B657E2C-8E03-4EB1-AB09-22525E94906E}" sibTransId="{E1383CF4-7CCC-4F8D-B0F6-956B92AFCBF3}"/>
    <dgm:cxn modelId="{40A7C448-9D22-894F-BFDC-ADF1008DBCA4}" type="presOf" srcId="{28D5D928-317C-4BFD-A45B-7FEF8ECA9484}" destId="{94E87B26-AE85-6C48-977C-D5966792513C}" srcOrd="0" destOrd="1" presId="urn:microsoft.com/office/officeart/2005/8/layout/hList1"/>
    <dgm:cxn modelId="{BA3A6449-B311-EF4C-9D42-932CC95DF09D}" type="presOf" srcId="{595E9F26-B4B8-4B75-A557-02A8B6766D03}" destId="{92E172C3-41BF-B64B-909C-FC8512DB19EB}" srcOrd="0" destOrd="2" presId="urn:microsoft.com/office/officeart/2005/8/layout/hList1"/>
    <dgm:cxn modelId="{0BBC5F4A-5E04-ED40-BB0B-9461030FFFBB}" type="presOf" srcId="{B8140186-54B8-4B17-9EE4-E2DFD9BD65E5}" destId="{22CF07E3-7963-2040-B50E-BA344D84168C}" srcOrd="0" destOrd="0" presId="urn:microsoft.com/office/officeart/2005/8/layout/hList1"/>
    <dgm:cxn modelId="{E3EECC54-74DC-4465-B40B-EED53945CA0D}" srcId="{B8140186-54B8-4B17-9EE4-E2DFD9BD65E5}" destId="{595E9F26-B4B8-4B75-A557-02A8B6766D03}" srcOrd="2" destOrd="0" parTransId="{178DD2AA-E200-4840-8882-1DCD0883145B}" sibTransId="{0B2A0911-D3FB-4F54-8B7C-0DC9961CDBB0}"/>
    <dgm:cxn modelId="{2FCBE158-8D97-4449-8286-2CB3101E0E40}" srcId="{70731A88-2B47-4CCF-9D9F-CA4C604E79CA}" destId="{37C25605-CBAD-4727-8DA5-726C9EA5ABDD}" srcOrd="0" destOrd="0" parTransId="{96666BB1-099E-47E8-9B8A-EBA1927F24BC}" sibTransId="{C435C3AA-FED2-4E7B-BF83-6F126CDB635C}"/>
    <dgm:cxn modelId="{1DCC6669-D063-8F48-A782-C787664BE13B}" type="presOf" srcId="{020F1154-3BDD-4AF4-8E9C-9C25B2CF4224}" destId="{94E87B26-AE85-6C48-977C-D5966792513C}" srcOrd="0" destOrd="2" presId="urn:microsoft.com/office/officeart/2005/8/layout/hList1"/>
    <dgm:cxn modelId="{A874707B-A267-4CE3-AD78-2CF50FB50D3F}" srcId="{37C25605-CBAD-4727-8DA5-726C9EA5ABDD}" destId="{020F1154-3BDD-4AF4-8E9C-9C25B2CF4224}" srcOrd="2" destOrd="0" parTransId="{E9788B9B-9A4D-4024-9B22-492B854D2938}" sibTransId="{4FED1D8F-C7F6-4FD5-8F00-4052E92FEE39}"/>
    <dgm:cxn modelId="{987A3093-42D5-4D6F-BE45-06D5628E3E12}" srcId="{B8140186-54B8-4B17-9EE4-E2DFD9BD65E5}" destId="{AFD5B73E-87A9-4B3F-AAD9-6EB9A12314AE}" srcOrd="1" destOrd="0" parTransId="{9901607F-B175-481D-95B6-D1219DB84E8E}" sibTransId="{4A2C8B82-5DC5-4FD5-9AF4-24EE722AE2B7}"/>
    <dgm:cxn modelId="{0DC356B1-AE53-6442-B9D0-BD4D52C284D8}" type="presOf" srcId="{55BF39A9-3D8F-4283-A021-38D57C5E0BBE}" destId="{92E172C3-41BF-B64B-909C-FC8512DB19EB}" srcOrd="0" destOrd="0" presId="urn:microsoft.com/office/officeart/2005/8/layout/hList1"/>
    <dgm:cxn modelId="{80A929B6-1E88-4F27-81F8-CC902E34D9DA}" srcId="{B8140186-54B8-4B17-9EE4-E2DFD9BD65E5}" destId="{55BF39A9-3D8F-4283-A021-38D57C5E0BBE}" srcOrd="0" destOrd="0" parTransId="{F2A6B023-C8F1-4FE8-8791-9B17749FD978}" sibTransId="{B72890C8-E1E4-4260-AB0E-2ABE5B7061F0}"/>
    <dgm:cxn modelId="{1F5EE8DC-E6FD-4B2C-8055-9A2445D13497}" srcId="{37C25605-CBAD-4727-8DA5-726C9EA5ABDD}" destId="{79059ECD-7C19-4676-8FFE-537BCE5A2A03}" srcOrd="0" destOrd="0" parTransId="{22110FB6-EFA1-46D0-9D71-5A462433F710}" sibTransId="{D017D869-3A00-4616-AA15-D0170F83758F}"/>
    <dgm:cxn modelId="{51A5AEE1-034C-9D46-AED2-488636E827B6}" type="presOf" srcId="{37C25605-CBAD-4727-8DA5-726C9EA5ABDD}" destId="{DA1AD644-EADE-E14D-8BE0-5D4F324C782F}" srcOrd="0" destOrd="0" presId="urn:microsoft.com/office/officeart/2005/8/layout/hList1"/>
    <dgm:cxn modelId="{28403FE3-13EB-431A-BDB0-F477B359E3F6}" srcId="{37C25605-CBAD-4727-8DA5-726C9EA5ABDD}" destId="{28D5D928-317C-4BFD-A45B-7FEF8ECA9484}" srcOrd="1" destOrd="0" parTransId="{62DBFD5E-1016-4635-A820-450617351B8D}" sibTransId="{6BFDA48A-72FB-45C6-A7B8-5015BCFCDF12}"/>
    <dgm:cxn modelId="{ED195204-A8C3-124D-9667-FED096C8ED6B}" type="presParOf" srcId="{1CBFF061-DFD0-C54F-B541-18E2ABDA9D1B}" destId="{798AFFEF-8871-4047-B8D0-1F5474B172E0}" srcOrd="0" destOrd="0" presId="urn:microsoft.com/office/officeart/2005/8/layout/hList1"/>
    <dgm:cxn modelId="{E96BCEE3-D606-474A-9E54-AD5538F5C85D}" type="presParOf" srcId="{798AFFEF-8871-4047-B8D0-1F5474B172E0}" destId="{DA1AD644-EADE-E14D-8BE0-5D4F324C782F}" srcOrd="0" destOrd="0" presId="urn:microsoft.com/office/officeart/2005/8/layout/hList1"/>
    <dgm:cxn modelId="{E2078A8A-53DD-5540-95E7-B399AA0F49FA}" type="presParOf" srcId="{798AFFEF-8871-4047-B8D0-1F5474B172E0}" destId="{94E87B26-AE85-6C48-977C-D5966792513C}" srcOrd="1" destOrd="0" presId="urn:microsoft.com/office/officeart/2005/8/layout/hList1"/>
    <dgm:cxn modelId="{BA9CC411-78CF-3F4D-8A99-C9342D8670E3}" type="presParOf" srcId="{1CBFF061-DFD0-C54F-B541-18E2ABDA9D1B}" destId="{F165709A-5D2E-7448-A4CE-AEE75F6CE815}" srcOrd="1" destOrd="0" presId="urn:microsoft.com/office/officeart/2005/8/layout/hList1"/>
    <dgm:cxn modelId="{8DC241EE-0986-8045-BDD2-B7926874F638}" type="presParOf" srcId="{1CBFF061-DFD0-C54F-B541-18E2ABDA9D1B}" destId="{F936D456-56A6-0340-A533-5245948E9A1F}" srcOrd="2" destOrd="0" presId="urn:microsoft.com/office/officeart/2005/8/layout/hList1"/>
    <dgm:cxn modelId="{906E811B-5611-2E4B-AAE0-4091EDCB658F}" type="presParOf" srcId="{F936D456-56A6-0340-A533-5245948E9A1F}" destId="{22CF07E3-7963-2040-B50E-BA344D84168C}" srcOrd="0" destOrd="0" presId="urn:microsoft.com/office/officeart/2005/8/layout/hList1"/>
    <dgm:cxn modelId="{445499FD-DBD8-BD41-B1B3-DCE60157F642}" type="presParOf" srcId="{F936D456-56A6-0340-A533-5245948E9A1F}" destId="{92E172C3-41BF-B64B-909C-FC8512DB19E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AD644-EADE-E14D-8BE0-5D4F324C782F}">
      <dsp:nvSpPr>
        <dsp:cNvPr id="0" name=""/>
        <dsp:cNvSpPr/>
      </dsp:nvSpPr>
      <dsp:spPr>
        <a:xfrm>
          <a:off x="56" y="55235"/>
          <a:ext cx="5424153" cy="60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Sizing </a:t>
          </a:r>
          <a:endParaRPr lang="en-US" sz="2100" kern="1200" dirty="0"/>
        </a:p>
      </dsp:txBody>
      <dsp:txXfrm>
        <a:off x="56" y="55235"/>
        <a:ext cx="5424153" cy="604800"/>
      </dsp:txXfrm>
    </dsp:sp>
    <dsp:sp modelId="{94E87B26-AE85-6C48-977C-D5966792513C}">
      <dsp:nvSpPr>
        <dsp:cNvPr id="0" name=""/>
        <dsp:cNvSpPr/>
      </dsp:nvSpPr>
      <dsp:spPr>
        <a:xfrm>
          <a:off x="56" y="660035"/>
          <a:ext cx="5424153" cy="3170474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Number of users and the TPS (&amp; TTFT)required for each user (if the AI application is user facing)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What is the ”context length” (size for max ?) for each user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Then size the minimum xPUs needed and the most optimal way to deploy the LLM (Tensor or Pipeline or Data Parallelism; for MoE models perhaps Expert Parallelism)</a:t>
          </a:r>
        </a:p>
      </dsp:txBody>
      <dsp:txXfrm>
        <a:off x="56" y="660035"/>
        <a:ext cx="5424153" cy="3170474"/>
      </dsp:txXfrm>
    </dsp:sp>
    <dsp:sp modelId="{22CF07E3-7963-2040-B50E-BA344D84168C}">
      <dsp:nvSpPr>
        <dsp:cNvPr id="0" name=""/>
        <dsp:cNvSpPr/>
      </dsp:nvSpPr>
      <dsp:spPr>
        <a:xfrm>
          <a:off x="6183591" y="55235"/>
          <a:ext cx="5424153" cy="60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﻿﻿</a:t>
          </a:r>
          <a:r>
            <a:rPr lang="en-US" sz="2100" b="1" kern="1200" dirty="0"/>
            <a:t>Scaling </a:t>
          </a:r>
          <a:endParaRPr lang="en-US" sz="2100" kern="1200" dirty="0"/>
        </a:p>
      </dsp:txBody>
      <dsp:txXfrm>
        <a:off x="6183591" y="55235"/>
        <a:ext cx="5424153" cy="604800"/>
      </dsp:txXfrm>
    </dsp:sp>
    <dsp:sp modelId="{92E172C3-41BF-B64B-909C-FC8512DB19EB}">
      <dsp:nvSpPr>
        <dsp:cNvPr id="0" name=""/>
        <dsp:cNvSpPr/>
      </dsp:nvSpPr>
      <dsp:spPr>
        <a:xfrm>
          <a:off x="6183591" y="660035"/>
          <a:ext cx="5424153" cy="3170474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Addition users once the AI application is deployed (move from node level to rack scale ?)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Will adding more nodes (with </a:t>
          </a:r>
          <a:r>
            <a:rPr lang="en-US" sz="2100" kern="1200" dirty="0" err="1"/>
            <a:t>xPUs</a:t>
          </a:r>
          <a:r>
            <a:rPr lang="en-US" sz="2100" kern="1200" dirty="0"/>
            <a:t>) scale linearly or need to re-shard the model ?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 AI Application is a “batch processing app” (longer TTFT acceptable), is there a better way to scale ?</a:t>
          </a:r>
        </a:p>
      </dsp:txBody>
      <dsp:txXfrm>
        <a:off x="6183591" y="660035"/>
        <a:ext cx="5424153" cy="3170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32D31-3FC5-9648-95B8-BD2187FB6E3A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16D2-43BF-1348-88B2-93FE7C030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7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16D2-43BF-1348-88B2-93FE7C0303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8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0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3262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t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4" name="name_2024 sandisk or its affiliates All rights reserved">
            <a:extLst>
              <a:ext uri="{FF2B5EF4-FFF2-40B4-BE49-F238E27FC236}">
                <a16:creationId xmlns:a16="http://schemas.microsoft.com/office/drawing/2014/main" id="{6D8CD1FC-8805-8BD2-8CBE-E0CCBB790C5D}"/>
              </a:ext>
            </a:extLst>
          </p:cNvPr>
          <p:cNvSpPr txBox="1"/>
          <p:nvPr/>
        </p:nvSpPr>
        <p:spPr>
          <a:xfrm>
            <a:off x="301625" y="5014684"/>
            <a:ext cx="1447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NB Architekt Pro Neue" panose="02010509020201040001" pitchFamily="49" charset="77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659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68CE0-26CF-02FD-7ADE-CE8EE6F27D0E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64B26F-BE41-ACE2-CA93-AAF45AD7C8A8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9C89F2-06E1-5AAF-3773-78E6E0D321E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D40853-56E5-F107-0819-EB5328356B1A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00836D-3118-CA60-E5B9-EE45B08AAA44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758703C-0681-AFE6-0AC2-669C53AFC18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FA7605-CC98-D2F3-7109-BE1FF08EF86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D9CFF1-FEBC-3C0B-7462-B62B483AE2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294F85E-C762-5200-8253-138354CA222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061EB08-6C5B-A9C7-B0AF-3729FB4DCE0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0016F-0CB3-7080-3BC4-4C1F78F36CB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9664395-59B4-F182-99D7-707F30DA657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4C3101-8FD3-E028-3D78-74D6B16FCDBF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0" name="name_2024 sandisk or its affiliates All rights reserved">
            <a:extLst>
              <a:ext uri="{FF2B5EF4-FFF2-40B4-BE49-F238E27FC236}">
                <a16:creationId xmlns:a16="http://schemas.microsoft.com/office/drawing/2014/main" id="{EB03C76D-E757-381A-B49E-0D13A9F3066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9801926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339ACF-C1D7-28B4-AB2C-71D8975E22B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CFEF2E-507D-D3DC-160D-3A0004BDD9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E958F26-D8CA-C561-3E02-72F9F366178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936B439-5B9F-172C-B0E8-CD8D597518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2479D3-25E0-5AEE-CCAD-0FE77C96951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84C24E5-9D24-77E4-470C-A8CFC1013706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284EDC3-E6EC-3368-9C47-9E30223C82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B111A04-15A3-B682-ADFE-0C53B36118C6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7E07BE-77E9-2244-8A13-8522EF1181B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687D2AD-D031-8A4E-8C0D-3636C9361A41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F47B21F-1FD0-7FB1-D233-9530D4DD84B1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77A5AB2-2E52-B877-44E0-838E8B17B5B1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9" name="name_2024 sandisk or its affiliates All rights reserved">
            <a:extLst>
              <a:ext uri="{FF2B5EF4-FFF2-40B4-BE49-F238E27FC236}">
                <a16:creationId xmlns:a16="http://schemas.microsoft.com/office/drawing/2014/main" id="{01F63028-2AAA-E3B3-F9D5-53E45AC79227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1248022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0" name="name_2024 sandisk or its affiliates All rights reserved">
            <a:extLst>
              <a:ext uri="{FF2B5EF4-FFF2-40B4-BE49-F238E27FC236}">
                <a16:creationId xmlns:a16="http://schemas.microsoft.com/office/drawing/2014/main" id="{8D1C0E07-2F4E-EA81-8A81-D9EB71265DB8}"/>
              </a:ext>
            </a:extLst>
          </p:cNvPr>
          <p:cNvSpPr txBox="1"/>
          <p:nvPr/>
        </p:nvSpPr>
        <p:spPr>
          <a:xfrm>
            <a:off x="292100" y="3207243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A2ECAB-A990-05E8-7F90-AD5E628FE43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458CD1-1083-C311-61DC-B73B5981CCBE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5CA5DB-3336-4F40-8ACB-4C84732848B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404315-CE56-3B06-7393-E82FC9BDACF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5A253D-D6E9-ADF9-C515-492F2434252F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844107C-6004-B1CD-1490-B62B260EAD4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AECDA4C-9789-07FE-1F48-5AF47F22AA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CFC7229-36AE-4655-EEFF-89D440E38679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C0B2E28-AA20-5B6C-AE72-2D6BB558CFE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233A51-48A4-B89C-5C6F-DFDF556F580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4F9271-3631-6865-D2F7-E351D3F925F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33B5A73-7298-BCB6-4FC2-B66FC2889B5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9" name="name_2024 sandisk or its affiliates All rights reserved">
            <a:extLst>
              <a:ext uri="{FF2B5EF4-FFF2-40B4-BE49-F238E27FC236}">
                <a16:creationId xmlns:a16="http://schemas.microsoft.com/office/drawing/2014/main" id="{C55FD18D-6EF3-EFC4-7808-616EB60CDA44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2330295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ame_2024 sandisk or its affiliates All rights reserved">
            <a:extLst>
              <a:ext uri="{FF2B5EF4-FFF2-40B4-BE49-F238E27FC236}">
                <a16:creationId xmlns:a16="http://schemas.microsoft.com/office/drawing/2014/main" id="{F1C30B8C-09B7-CB1F-882E-B241F15B0D76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C5504-A4FE-358D-16CC-2AB47CBBF1A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76A3CD95-5E94-5493-1AC6-2262A0D82CF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F44B77-C5A1-C494-9BFB-EB17CDA4CCC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CC996D1-71B7-72A7-6032-4AA0A32FC3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4C1E13-DBE3-A4BC-F252-4465BF7F2AED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AC372B-7725-9E31-9B0D-6433A96793D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FF67A0-AE2F-990E-27F7-E9C81F2B3C0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F628014-89E0-F9A4-662F-C8354423B06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C86CD2-4F4D-C6A9-7142-E1C777C90A35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E0AD7FA-45FE-1405-0EB6-406C8414558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CB2B4A3-8B6C-7475-644B-7A5E557BF3F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C099F52-DF08-E095-4332-B4644235F9D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17E2A5E-8FD6-2E82-E9A2-9A001192DD48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4323E2E-A29C-F82F-F092-D2FFEAEB4C4E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7A36997-65DD-9532-1913-1D7219A56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4579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A7A04BEA-0593-482E-F83E-0FEAA84F8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1E7D2844-81DB-3E5D-8F3C-06C6583FE6EA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648040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DB8322-B918-681E-793A-AFE314021B4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7A9D8A-AA87-3F82-C668-CC6CDC26607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77187A-6C75-2A23-8318-05DE9913EE2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00691B-025E-E1DC-3E99-C7EAD36953D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F84499-EFC6-C957-CB2C-D8CFEF93ABD3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A6A83C5-405D-825A-1897-EFD4E58829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FDF2FC7-F404-8F1B-AFDF-28D31437447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4BA22C-356C-E626-557E-8CBC050A792E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6B502A8-6E11-321A-0F10-40F980E9C9BE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103140-5C44-612B-7CD8-63C114C33515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403B555-C522-5078-27B1-10160B3345C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022858-FA76-60FE-6FBE-30E403926B7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3A72C64C-E798-2E76-8937-2877A8053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442939"/>
            <a:ext cx="1160729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29C00BF-5540-0DB7-CDD1-F2D046742D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0C30DF5A-D960-5BD0-14CE-BCA47A83BA6B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7" name="name_2024 sandisk or its affiliates All rights reserved">
            <a:extLst>
              <a:ext uri="{FF2B5EF4-FFF2-40B4-BE49-F238E27FC236}">
                <a16:creationId xmlns:a16="http://schemas.microsoft.com/office/drawing/2014/main" id="{C94F3B7A-5EF9-24F0-EAE4-DDD05E4E3D0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ysClr val="windowText" lastClr="000000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1936D5-702E-682A-9AEA-0B0940E9A4F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05675490-9492-7CD1-95DD-1A7C2174542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12742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581B636-B459-2929-A363-54D06D37B58B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0FF31-B07D-ED98-3D60-0E8842F49DED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F799128-7B9C-8255-5D51-5DD9CC646DCA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791B30-3B60-6B1D-EE7B-B10138035EF2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9E6ACB-6570-1A4C-D6D0-D4880E84942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F0DBE7-1AA3-1D77-818E-655707A7A4D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773F0CB-E558-2654-48D4-37A6121FAB7D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788DC7D-D83D-D150-FA94-C3825AB73878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A1B8FEB-5047-C266-DED9-9C7C249A117A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A28410E-E52B-0205-2DB2-1186795728CC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0DF4B3-93D1-2890-10D6-A3012E68575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460BAFC-E4E4-EAA6-70B5-71D6F786DA0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44CEE59-9DC5-3F05-311A-36DA10537F80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C4DFF970-9E2C-FEF7-38ED-FDDBF80175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1817AE3-6D4F-1951-DB2F-C9FD0AB604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C0349B19-74A8-2BA4-C454-99E1B90E52D7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7" name="name_2024 sandisk or its affiliates All rights reserved">
            <a:extLst>
              <a:ext uri="{FF2B5EF4-FFF2-40B4-BE49-F238E27FC236}">
                <a16:creationId xmlns:a16="http://schemas.microsoft.com/office/drawing/2014/main" id="{C201CB10-31EE-857F-EB82-9121DFC97799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3DDDCE-1011-E237-1B5F-5219B04D750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70F7847F-B361-D8CC-63C3-57A37D82554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6001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647B2-3595-A741-1EC4-A09E9488BC2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EB56B84-5BE3-3D3F-7401-04188DADEF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CCA0356-9320-B942-6773-B921AB68839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A595F84-C51D-066F-E065-0F6520E2092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CE45755-1412-2737-07F6-C06A364D54D6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60D7546-48E6-2469-1BA2-B844BBF9D95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D57CB0E-899C-746E-611B-3D1A00857EE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CDE551A-6BA3-015B-3833-6BCA6118054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D82E78D-3819-1F1A-D966-BC3B3F9B337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EFE6622-74C6-53C0-15F3-CD6A14815A22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525B237-3E5C-7EC5-C2F0-E646787E2F3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E3006BC-623B-0218-1B09-75D08880AA35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name_2024 sandisk or its affiliates All rights reserved">
            <a:extLst>
              <a:ext uri="{FF2B5EF4-FFF2-40B4-BE49-F238E27FC236}">
                <a16:creationId xmlns:a16="http://schemas.microsoft.com/office/drawing/2014/main" id="{646CA856-70AA-D85B-625B-97C1AEB1CED6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6" name="name_2024 sandisk or its affiliates All rights reserved">
            <a:extLst>
              <a:ext uri="{FF2B5EF4-FFF2-40B4-BE49-F238E27FC236}">
                <a16:creationId xmlns:a16="http://schemas.microsoft.com/office/drawing/2014/main" id="{14A74770-E2CD-E746-760E-E7B7AB9D9959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BE3BE6-2545-620F-5B54-B70AD5AF750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Content Placeholder 8">
            <a:extLst>
              <a:ext uri="{FF2B5EF4-FFF2-40B4-BE49-F238E27FC236}">
                <a16:creationId xmlns:a16="http://schemas.microsoft.com/office/drawing/2014/main" id="{402A282F-C080-4B95-9D93-6C0221C2F46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168290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97292F-CF1E-3CD4-CD5B-27D17B02060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5F0CA2-4CC9-ADEF-4F8F-87D8057851F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0C4E8B-F76F-C544-D198-0A70045B8783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F149E-6873-D283-0DA0-18010F05859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0F40659-20B1-F441-4897-5A556619185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F41CF2C-C479-03FD-A940-AD524158EA4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4A86CF7-AB7B-BE2F-18D8-B07905D4601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477B0D6-C4D1-A790-B6A0-964722CE8C6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050C485-7816-EC75-A8F0-1E989B63068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41CEAD-6437-E895-E401-B754FBC2BAE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6744FFA-4E92-F613-7AA5-92C01C3B9D6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439DC5-B658-774B-2032-D21C7FEAA4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2F8658A-7DDF-1A0E-9043-BDEC07FAFDB0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CBE807D9-F695-A0B4-A653-328CF15F3DD2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C35AE-61A7-BB1B-B1A0-A6A5B41E1E6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98395796-33AA-51E3-CE74-B5F0900243A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473133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EFFFC07D-0CF9-FFD6-F0CD-D4D74A7F1D2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09DECB-5936-5428-8883-81380D69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43665-ADE7-01E8-0170-7FE3F702A28E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97CA37-B9D0-BF99-9E1D-F0FE058DA195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F59A5B-6547-4923-2DCD-3DEE1DBF56E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622E23-4806-0482-605D-D57F800107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7F6BAB7-1CE0-3383-B22D-2451C12477C0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69B75A-4312-079A-DB76-312B5FF8A04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3CCD0F-6B57-E374-3261-B843A2B9E98C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2B70F33-1D4C-8DC0-1F38-B911C8D81BE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9FBC49B-A162-7935-10EF-6FBAF8003975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2D42B-2AF8-6787-0226-B1B0C75ED8F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8349935-8A31-53C3-F92C-EADE4984278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FC1670-0286-A12F-DF8D-7F0B38C1257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B158CA7-6BD7-4A79-CA3C-EFD2F50C9790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5" name="name_2024 sandisk or its affiliates All rights reserved">
            <a:extLst>
              <a:ext uri="{FF2B5EF4-FFF2-40B4-BE49-F238E27FC236}">
                <a16:creationId xmlns:a16="http://schemas.microsoft.com/office/drawing/2014/main" id="{50D7B5B4-45F6-C52A-103A-232CD5411C0A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E45B96-414A-F378-EB73-6FCEEED0CE78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E1D4FC08-8E31-A604-4A57-3FF232DD4F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2284930"/>
            <a:ext cx="11607801" cy="3885745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52786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4579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EE3D5D-5564-276A-F946-9C889AE6DC05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8A85A7E-F460-1F7E-16E3-2759A2BCF211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E2AAA60-E5A9-2903-6149-D4823B3D04D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1679E5-E8BE-FC00-512F-C377F77A70D0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08F59A-B699-AB3E-CF97-5EF299ECC0A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9954F61-7834-C29E-6112-788A0F461E59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CB30C72-CD21-56E2-7058-306294D997F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A0F8160-C1DB-CC8A-E39C-FE00E705DBF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695381-7278-5305-A523-B7EAE6B9582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303C80-5A5C-92C6-4960-E066E5DA9F6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F1929CF-D5C2-9070-55B0-3C7531FDD46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2FF1998-5937-9DFC-DA03-C6C69328722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FFB30446-98ED-E20A-5D61-9A227D4A47B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73062082-7507-CB6E-07EA-9A09200BDCE0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2CBE4-3356-D233-C1C6-57028888BA46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9539045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831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B2361C-1FF1-AEB6-6713-E0281B36B06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9EE28EB-F6F1-36C1-2B7E-8D95ED05FB1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B4C1E28-F21E-4009-364A-DE62868FCC6C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07B6AB7-06DE-2432-5F21-63EE86265FC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44C2123-F401-DA5E-2E1B-BC06F75AF32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A91731-E5A9-3219-EC9D-A11740DE7B2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F72D44-45C2-4750-6FAC-C96D3374618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F18C05A-E7A3-39BB-6B14-7375C0AB406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25E9975-A4AD-1ED7-ED3A-27B284DF66E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740024-9CAF-9332-202F-21692E9002CC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43AB835-9015-A043-665E-B4CB3DCA012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99A9EB5-C5F9-B01B-DB12-5EB22029389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6CC8F73B-3287-7018-969A-E477DF85FCD3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7F30C189-812E-A59B-A8ED-2B9F5383F40D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CF90C0-B53F-05D6-27F6-03EEBAF2E63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9270845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EF2E9E0C-E8BF-E64B-88D1-09D94508D838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442939"/>
            <a:ext cx="11607801" cy="96012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407519"/>
            <a:ext cx="11607801" cy="496143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3E99B66-6085-AF23-EFBE-ECBF95F2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A640EA-9B40-3BEC-FE96-3C5E85AFA20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33CE88C-9F15-6B6E-D642-E88B5A5FA73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1EF5B5C-ED2F-6102-6EB7-CEEE9D03EEE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5DA8C4-BD9E-7093-4D00-C226C34B9A15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3A35920-5BE9-0EEB-2932-7B8A60BF23F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DCC467F-79EF-99F0-0BA6-99DF0BF0CED0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12588D-3E04-0183-9916-AC7A460A87E4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02A2C69-23CD-0B4F-1282-5B5C05F9B7B1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2F7100C-ED57-D482-2C29-3A73DD5516B2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A1A0846-AB2E-5352-6E4A-CDB4C066020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2BDD6B2-45C9-1C85-564A-1A1E07443A4D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7D8272-799E-EECA-29EC-2F2D61E6D10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C6D3E968-6B55-F788-09CE-3B20B871322A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80576D53-058E-8C70-D884-0222E72AFFC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6667A2-32FE-537D-7753-A0E6BFCABFF9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4104952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4F35CF-6B39-916F-A9C2-CDB74BB1B77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11C25-D090-D0B2-F12F-22B74FC7BF4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3FFAF4C-85A9-20F2-2147-D51823291C6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F1428A7-2EFE-9248-2527-67C887F1A14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0A0A5F-B898-7474-4E1B-F982699C6B65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C08D48-6ADF-0478-4FD8-285B14571158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516320-324E-D2BF-4324-B5C57EC5247D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A04773-863C-996F-24B6-DDA959717712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9647E-A7E5-5FEA-1387-7BDE955235D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06CDCC5-8E11-E5AF-1221-1142F287EFC6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CEBA78-6D0C-2B8B-290A-9082FB900EA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678A48-94C4-0442-B88E-F437670FBFD8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22280101-B852-305A-1BD3-59B6B361FC3C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E095BAF6-CB05-FD2B-88EE-80784301AA7B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2E12A4-8161-676E-B0BC-CD336BCD436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4240409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76FBDE-17D0-4DA3-A8FB-9D9B252458B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CE6E5F-2549-F335-1306-68261507B18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5212BCC-AD18-02BB-8B33-B2194EA20DA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43817C-95E5-D4D0-D54C-6AE3A82850D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300BA43-134C-DBA1-5272-99BAB06FF14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BD5B91B-0CE6-0C22-DF37-D38902F5BE82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D10FAD8-C83B-8723-1D36-1C855F85F30B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F43D845-BFD3-5105-A206-71E806A63698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35DCF02-48D8-2DC2-CB99-DE8C34C9143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E8843F8-5643-AA25-1221-68D57811732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1427FBE-6FF2-E92A-973F-0A76280150DA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9A3582-36D4-3DB2-7408-DEC6123118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643D72E0-7B3C-64A0-D80E-D1E987BA52CD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8E94B2FB-FB6B-7F08-A9EC-FB4F25889317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21EAF7-0FA9-C747-FADE-EB9909F140A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9711931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_2024 sandisk or its affiliates All rights reserved">
            <a:extLst>
              <a:ext uri="{FF2B5EF4-FFF2-40B4-BE49-F238E27FC236}">
                <a16:creationId xmlns:a16="http://schemas.microsoft.com/office/drawing/2014/main" id="{642738AB-3A39-2252-D671-A3F2FA22F79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439244"/>
            <a:ext cx="11607800" cy="1425347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AF6968-53B8-DA7A-894B-17605E587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0406A0-E371-CCA0-0E3C-011931EE09E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4245B2-0CB5-7B8B-CC15-AE5BA4296F27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FF7457D-84BE-C4EA-EC45-E88013B6E66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08D193-7FD6-1CBA-BC5D-3B74B7BCBF1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EB08EFB-08ED-E974-2DAA-2DEC28F0E39B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ED1BC95-58DF-138C-CDA1-26DFC53D4DC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BDCFD7-3FBF-9E3E-E741-AA04969010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FA7BB8-3B27-1071-F195-CFD17D44308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AE674E-096B-E0A5-B7C3-120F887949E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02645B4-5800-7AAB-AC5A-09ED8D6FF05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C99294D-BF32-6EAD-73D3-0606521CE43C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214E987-5A69-8703-F571-5E68DF37A9D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B1951E7E-D22B-360E-A694-AD8930F2BDE4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2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3" name="name_2024 sandisk or its affiliates All rights reserved">
            <a:extLst>
              <a:ext uri="{FF2B5EF4-FFF2-40B4-BE49-F238E27FC236}">
                <a16:creationId xmlns:a16="http://schemas.microsoft.com/office/drawing/2014/main" id="{480C0E7B-FC10-7560-47C4-23ED64BAFA41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F71922-37DB-D48B-0C10-D21700C2ED8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9731952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2106" y="6455472"/>
            <a:ext cx="857165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1DE8E8-DED1-1D29-3F20-99D6DF25CAF6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E56DC0-31DB-A07E-9417-7BD33DD9F4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5685BBB-0254-E69E-5D07-AD1621E30874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F020F4D-A232-EAB3-613A-D6528C5D6DB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835825-62DB-79DC-84B5-AF013BCBBA82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EBDEF4D-90B4-ECF7-E20C-B40CD532D70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F9463C2-B66A-BDEE-7F76-534FFA69D13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FDF4D4A-BBD5-D4D0-4D13-878A7CC6772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CFF5657-4BE2-F62A-7761-118F0B7C39F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191E492-027A-F9BF-82DA-B57CDDE7381E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E572BC9-4326-44EB-5022-A00E8D09A17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442AC51-7D65-93EB-6DF0-9ECAE1EDAEF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A171EF2A-6057-D328-301B-4C75E036D718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922692D1-6778-C74C-7CEA-3EEA509C843D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5FAC2B-9831-FC3C-95E2-F09B96BD811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43558964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D006E4-331A-0157-CE42-E8ACDAEB4FCB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4DA491E-AD65-B9A0-CD50-F8528A6520C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9F07DA-F249-64FB-3CF8-93864734AAC8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8F3FBA1-35AC-726D-6399-D908CB19A52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C263DFF-B678-4483-215A-364A853D122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321DD9C-27B2-F842-273D-04B417B33B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30CB79-03B3-FA26-2774-39F0E305112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3E833F1-00BE-A879-3571-9D72200A00F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C0B124E-9DD4-E41C-FA9F-B3884179147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839A85B-EE68-41D2-0824-DE62976A2DA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625E85A-99B8-5418-4AF2-4F9622A2121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6B1124B-77F5-46A8-F91E-C5D44DF136D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1" name="name_2024 sandisk or its affiliates All rights reserved">
            <a:extLst>
              <a:ext uri="{FF2B5EF4-FFF2-40B4-BE49-F238E27FC236}">
                <a16:creationId xmlns:a16="http://schemas.microsoft.com/office/drawing/2014/main" id="{93273B7A-B931-7762-6EBA-C54C6875922C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32" name="name_2024 sandisk or its affiliates All rights reserved">
            <a:extLst>
              <a:ext uri="{FF2B5EF4-FFF2-40B4-BE49-F238E27FC236}">
                <a16:creationId xmlns:a16="http://schemas.microsoft.com/office/drawing/2014/main" id="{AF5801BC-EEF9-D247-6632-C588D2B5D216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13D9AC-744A-467B-F85A-B6559BF714F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8554845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me_2024 sandisk or its affiliates All rights reserved">
            <a:extLst>
              <a:ext uri="{FF2B5EF4-FFF2-40B4-BE49-F238E27FC236}">
                <a16:creationId xmlns:a16="http://schemas.microsoft.com/office/drawing/2014/main" id="{C2EB78CC-5952-6B45-686A-74177B116777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32E9088-7CE0-031E-34ED-0A51A9E0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9D2557-6FDA-6735-D425-659ED0A5AF9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96512B5-8467-2E68-7FDB-AF04DD02FCB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1E5AAF1-EF2B-9739-5D9B-B645FE80D89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B551F8-CC41-C192-AEEB-E8BC63C57202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AA28DA-2E95-0179-9970-C56E7335AC4C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AA860D-F792-6B31-70CC-2D382B0233C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A5B842-F4B2-1BAC-DA6D-5748A51E4ED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41F635-5BCA-8F26-4CE2-A0E3F4DDC294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4A019A-92A5-B540-24B7-2BC0669BBBB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CEC976-08A0-D21B-DE3A-969A1A77E8E8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9BAF7E9-12F6-020E-6463-855F7F35842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B646BB-FA6B-5EC9-84E1-110EB9F849E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7" name="name_2024 sandisk or its affiliates All rights reserved">
            <a:extLst>
              <a:ext uri="{FF2B5EF4-FFF2-40B4-BE49-F238E27FC236}">
                <a16:creationId xmlns:a16="http://schemas.microsoft.com/office/drawing/2014/main" id="{7277941F-042A-DDD9-FFC0-3FF7341DA41D}"/>
              </a:ext>
            </a:extLst>
          </p:cNvPr>
          <p:cNvSpPr txBox="1"/>
          <p:nvPr/>
        </p:nvSpPr>
        <p:spPr>
          <a:xfrm>
            <a:off x="6096000" y="643797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©2025 SANDISK CORPORATION OR ITS AFFILIATES ALL RIGHTS RESERVED</a:t>
            </a:r>
          </a:p>
        </p:txBody>
      </p:sp>
      <p:sp>
        <p:nvSpPr>
          <p:cNvPr id="18" name="name_2024 sandisk or its affiliates All rights reserved">
            <a:extLst>
              <a:ext uri="{FF2B5EF4-FFF2-40B4-BE49-F238E27FC236}">
                <a16:creationId xmlns:a16="http://schemas.microsoft.com/office/drawing/2014/main" id="{1F268A33-A3A9-A99D-27EE-263433500A18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9F53C3-7697-A35C-210D-0F5FD6FA0ACB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5144450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8273A-8B55-6612-D34D-DD21B5B2F644}"/>
                </a:ext>
              </a:extLst>
            </p:cNvPr>
            <p:cNvSpPr/>
            <p:nvPr/>
          </p:nvSpPr>
          <p:spPr>
            <a:xfrm>
              <a:off x="284163" y="2698150"/>
              <a:ext cx="3767328" cy="9052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solidFill>
              <a:srgbClr val="000000"/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name_2024 sandisk or its affiliates All rights reserved">
            <a:extLst>
              <a:ext uri="{FF2B5EF4-FFF2-40B4-BE49-F238E27FC236}">
                <a16:creationId xmlns:a16="http://schemas.microsoft.com/office/drawing/2014/main" id="{41D57C59-E5E7-D579-7041-32BB79C964E3}"/>
              </a:ext>
            </a:extLst>
          </p:cNvPr>
          <p:cNvSpPr txBox="1"/>
          <p:nvPr/>
        </p:nvSpPr>
        <p:spPr>
          <a:xfrm>
            <a:off x="292100" y="267518"/>
            <a:ext cx="132397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[Confidential]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1" name="name_2024 sandisk or its affiliates All rights reserved">
            <a:extLst>
              <a:ext uri="{FF2B5EF4-FFF2-40B4-BE49-F238E27FC236}">
                <a16:creationId xmlns:a16="http://schemas.microsoft.com/office/drawing/2014/main" id="{343BD00A-FBA8-EC0F-13C8-8F67F77FBC2E}"/>
              </a:ext>
            </a:extLst>
          </p:cNvPr>
          <p:cNvSpPr txBox="1"/>
          <p:nvPr/>
        </p:nvSpPr>
        <p:spPr>
          <a:xfrm>
            <a:off x="8997951" y="267518"/>
            <a:ext cx="224227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l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NB Architekt Pro Neue" panose="02010509020201040001" pitchFamily="49" charset="77"/>
                <a:cs typeface="Consolas" panose="020B0609020204030204" pitchFamily="49" charset="0"/>
              </a:rPr>
              <a:t>“START” “REPEAT” “1988/2025”</a:t>
            </a:r>
          </a:p>
        </p:txBody>
      </p:sp>
    </p:spTree>
    <p:extLst>
      <p:ext uri="{BB962C8B-B14F-4D97-AF65-F5344CB8AC3E}">
        <p14:creationId xmlns:p14="http://schemas.microsoft.com/office/powerpoint/2010/main" val="237070794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5149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977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933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86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590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294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68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870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3350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9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159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1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8200"/>
            <a:ext cx="11607799" cy="142639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2084388"/>
            <a:ext cx="11595101" cy="40358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19443" marR="0" lvl="0" indent="-219443" algn="l" defTabSz="9143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Click to add text</a:t>
            </a:r>
          </a:p>
          <a:p>
            <a:pPr marL="438887" marR="0" lvl="1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Second level</a:t>
            </a:r>
          </a:p>
          <a:p>
            <a:pPr marL="658330" marR="0" lvl="2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Third level</a:t>
            </a:r>
          </a:p>
          <a:p>
            <a:pPr marL="877772" marR="0" lvl="3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Fourth level</a:t>
            </a:r>
          </a:p>
          <a:p>
            <a:pPr marL="1097216" marR="0" lvl="4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  <a:sym typeface="Wingdings" pitchFamily="2" charset="2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8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94" r:id="rId2"/>
    <p:sldLayoutId id="2147484995" r:id="rId3"/>
    <p:sldLayoutId id="2147484941" r:id="rId4"/>
    <p:sldLayoutId id="2147484996" r:id="rId5"/>
    <p:sldLayoutId id="2147484997" r:id="rId6"/>
    <p:sldLayoutId id="2147484964" r:id="rId7"/>
    <p:sldLayoutId id="2147484998" r:id="rId8"/>
    <p:sldLayoutId id="2147484999" r:id="rId9"/>
    <p:sldLayoutId id="2147484989" r:id="rId10"/>
    <p:sldLayoutId id="2147485000" r:id="rId11"/>
    <p:sldLayoutId id="2147485001" r:id="rId12"/>
    <p:sldLayoutId id="2147484990" r:id="rId13"/>
    <p:sldLayoutId id="2147485002" r:id="rId14"/>
    <p:sldLayoutId id="2147485003" r:id="rId15"/>
    <p:sldLayoutId id="2147484992" r:id="rId16"/>
    <p:sldLayoutId id="2147485004" r:id="rId17"/>
    <p:sldLayoutId id="2147485005" r:id="rId18"/>
    <p:sldLayoutId id="2147484991" r:id="rId19"/>
    <p:sldLayoutId id="2147485006" r:id="rId20"/>
    <p:sldLayoutId id="2147485007" r:id="rId21"/>
    <p:sldLayoutId id="2147484993" r:id="rId22"/>
    <p:sldLayoutId id="2147485022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46" rtl="0" eaLnBrk="1" latinLnBrk="0" hangingPunct="1">
        <a:lnSpc>
          <a:spcPct val="100000"/>
        </a:lnSpc>
        <a:spcBef>
          <a:spcPct val="0"/>
        </a:spcBef>
        <a:buNone/>
        <a:defRPr sz="3000" b="0" i="0" kern="1200" spc="0" baseline="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Pilat Regular" panose="020B0604020202020204" pitchFamily="34" charset="0"/>
        </a:defRPr>
      </a:lvl1pPr>
    </p:titleStyle>
    <p:bodyStyle>
      <a:lvl1pPr marL="274320" indent="-274320" algn="l" defTabSz="914346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  <a:sym typeface="Wingdings" pitchFamily="2" charset="2"/>
        </a:defRPr>
      </a:lvl5pPr>
      <a:lvl6pPr marL="251445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9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4">
          <p15:clr>
            <a:srgbClr val="C35EA4"/>
          </p15:clr>
        </p15:guide>
        <p15:guide id="13" pos="7496">
          <p15:clr>
            <a:srgbClr val="C35EA4"/>
          </p15:clr>
        </p15:guide>
        <p15:guide id="18" orient="horz" pos="185">
          <p15:clr>
            <a:srgbClr val="C35EA4"/>
          </p15:clr>
        </p15:guide>
        <p15:guide id="22" orient="horz" pos="4133">
          <p15:clr>
            <a:srgbClr val="C35EA4"/>
          </p15:clr>
        </p15:guide>
        <p15:guide id="55" pos="2012">
          <p15:clr>
            <a:srgbClr val="5ACBF0"/>
          </p15:clr>
        </p15:guide>
        <p15:guide id="61" pos="5668">
          <p15:clr>
            <a:srgbClr val="5ACBF0"/>
          </p15:clr>
        </p15:guide>
        <p15:guide id="85" pos="3840">
          <p15:clr>
            <a:srgbClr val="5ACBF0"/>
          </p15:clr>
        </p15:guide>
        <p15:guide id="88" pos="5059">
          <p15:clr>
            <a:srgbClr val="9FCC3B"/>
          </p15:clr>
        </p15:guide>
        <p15:guide id="89" pos="2620">
          <p15:clr>
            <a:srgbClr val="9FCC3B"/>
          </p15:clr>
        </p15:guide>
        <p15:guide id="90" pos="1099">
          <p15:clr>
            <a:srgbClr val="5ACBF0"/>
          </p15:clr>
        </p15:guide>
        <p15:guide id="91" pos="2926">
          <p15:clr>
            <a:srgbClr val="5ACBF0"/>
          </p15:clr>
        </p15:guide>
        <p15:guide id="92" pos="4754">
          <p15:clr>
            <a:srgbClr val="5ACBF0"/>
          </p15:clr>
        </p15:guide>
        <p15:guide id="93" pos="658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11" r:id="rId1"/>
    <p:sldLayoutId id="2147485012" r:id="rId2"/>
    <p:sldLayoutId id="2147485013" r:id="rId3"/>
    <p:sldLayoutId id="2147485014" r:id="rId4"/>
    <p:sldLayoutId id="2147485015" r:id="rId5"/>
    <p:sldLayoutId id="2147485016" r:id="rId6"/>
    <p:sldLayoutId id="2147485017" r:id="rId7"/>
    <p:sldLayoutId id="2147485018" r:id="rId8"/>
    <p:sldLayoutId id="2147485019" r:id="rId9"/>
    <p:sldLayoutId id="2147485020" r:id="rId10"/>
    <p:sldLayoutId id="21474850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060A5E-B19C-6B72-3167-220A4B92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57" y="1572546"/>
            <a:ext cx="10871200" cy="898590"/>
          </a:xfrm>
        </p:spPr>
        <p:txBody>
          <a:bodyPr/>
          <a:lstStyle/>
          <a:p>
            <a:r>
              <a:rPr lang="en-US" sz="6000" dirty="0"/>
              <a:t>ATMOS </a:t>
            </a:r>
            <a:r>
              <a:rPr lang="en-US" sz="3200" dirty="0"/>
              <a:t>Product Introduction …</a:t>
            </a: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endParaRPr lang="en-US" sz="6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21E522-2A5B-EF54-B690-DBB84C6C1E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914559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B983-4949-1CAA-58AF-46B39928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9245"/>
            <a:ext cx="11607800" cy="598724"/>
          </a:xfrm>
        </p:spPr>
        <p:txBody>
          <a:bodyPr/>
          <a:lstStyle/>
          <a:p>
            <a:r>
              <a:rPr lang="en-US" dirty="0"/>
              <a:t>Background – HBF as a </a:t>
            </a:r>
            <a:r>
              <a:rPr lang="en-US" dirty="0" err="1"/>
              <a:t>xPU</a:t>
            </a:r>
            <a:r>
              <a:rPr lang="en-US" dirty="0"/>
              <a:t> Memory Tier !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B85F21-A67A-84D3-8F27-A211F955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4BCE0-DE38-127E-F48E-ABA77EADE6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100" y="1342272"/>
            <a:ext cx="6606411" cy="51132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﻿﻿</a:t>
            </a:r>
            <a:r>
              <a:rPr lang="en-US" sz="1600" dirty="0"/>
              <a:t>LLMs are getting larger (in terms of parameters &amp; size), leading to an explosion in “memory size”</a:t>
            </a:r>
          </a:p>
          <a:p>
            <a:r>
              <a:rPr lang="en-US" sz="1600" dirty="0"/>
              <a:t>﻿﻿</a:t>
            </a:r>
            <a:r>
              <a:rPr lang="en-US" sz="1600" b="1" dirty="0"/>
              <a:t>HBF: (High Bandwidth Flash, based on SLC NAND)</a:t>
            </a:r>
          </a:p>
          <a:p>
            <a:pPr lvl="1"/>
            <a:r>
              <a:rPr lang="en-US" sz="1600" dirty="0"/>
              <a:t>HBF can scale to match HBM Bandwidth, </a:t>
            </a:r>
            <a:r>
              <a:rPr lang="en-US" sz="1600" b="1" dirty="0"/>
              <a:t>and 8x capacity</a:t>
            </a:r>
          </a:p>
          <a:p>
            <a:pPr lvl="1"/>
            <a:r>
              <a:rPr lang="en-US" sz="1600" dirty="0"/>
              <a:t>Latency is in “</a:t>
            </a:r>
            <a:r>
              <a:rPr lang="en-US" sz="1600" b="1" dirty="0"/>
              <a:t>us”</a:t>
            </a:r>
            <a:r>
              <a:rPr lang="en-US" sz="1600" dirty="0"/>
              <a:t> as compared to ”</a:t>
            </a:r>
            <a:r>
              <a:rPr lang="en-US" sz="1600" b="1" dirty="0"/>
              <a:t>ns”</a:t>
            </a:r>
            <a:r>
              <a:rPr lang="en-US" sz="1600" dirty="0"/>
              <a:t> for DDR</a:t>
            </a:r>
          </a:p>
          <a:p>
            <a:pPr lvl="1"/>
            <a:r>
              <a:rPr lang="en-US" sz="1600" dirty="0"/>
              <a:t>HBF to augment LPDDR, GDDR, HBM etc.</a:t>
            </a:r>
          </a:p>
          <a:p>
            <a:pPr lvl="2"/>
            <a:r>
              <a:rPr lang="en-US" sz="1600" dirty="0"/>
              <a:t>For storing static LLM model weights</a:t>
            </a:r>
          </a:p>
          <a:p>
            <a:r>
              <a:rPr lang="en-US" sz="1600" b="1" dirty="0"/>
              <a:t>Inference is 2 workloads, namely Prefill and Decode: </a:t>
            </a:r>
          </a:p>
          <a:p>
            <a:pPr lvl="1"/>
            <a:r>
              <a:rPr lang="en-US" sz="1600" dirty="0"/>
              <a:t>Prefill is compute bound aka TOPS</a:t>
            </a:r>
          </a:p>
          <a:p>
            <a:pPr lvl="1"/>
            <a:r>
              <a:rPr lang="en-US" sz="1600" dirty="0"/>
              <a:t>Decode is memory bandwidth bound (need to read in all ACTIVE Weights) to generate the next token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09304B-7737-E685-205F-2E14F5B0A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511" y="1690565"/>
            <a:ext cx="4951482" cy="3837399"/>
          </a:xfrm>
          <a:prstGeom prst="rect">
            <a:avLst/>
          </a:prstGeom>
        </p:spPr>
      </p:pic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7FA46CAE-3C09-4A63-3A4E-BF6757274FAD}"/>
              </a:ext>
            </a:extLst>
          </p:cNvPr>
          <p:cNvSpPr/>
          <p:nvPr/>
        </p:nvSpPr>
        <p:spPr>
          <a:xfrm>
            <a:off x="7650865" y="2703684"/>
            <a:ext cx="914400" cy="91440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93091-8D77-2B77-C701-F1EFCDAE126C}"/>
              </a:ext>
            </a:extLst>
          </p:cNvPr>
          <p:cNvSpPr txBox="1"/>
          <p:nvPr/>
        </p:nvSpPr>
        <p:spPr>
          <a:xfrm>
            <a:off x="7033732" y="2334352"/>
            <a:ext cx="1176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HBF Tier</a:t>
            </a:r>
          </a:p>
          <a:p>
            <a:r>
              <a:rPr lang="en-US" dirty="0">
                <a:highlight>
                  <a:srgbClr val="FF0000"/>
                </a:highlight>
              </a:rPr>
              <a:t>(capacity)</a:t>
            </a:r>
          </a:p>
        </p:txBody>
      </p:sp>
    </p:spTree>
    <p:extLst>
      <p:ext uri="{BB962C8B-B14F-4D97-AF65-F5344CB8AC3E}">
        <p14:creationId xmlns:p14="http://schemas.microsoft.com/office/powerpoint/2010/main" val="17303606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23AC-8EFC-B2A7-5E63-CC98A5B0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A432-95B2-900B-9205-E3AB9300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9245"/>
            <a:ext cx="11607800" cy="59872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9ABD8-D5C4-E8BD-7E7A-E2822EB05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E3C71-DD23-1736-200B-FE164FE00B8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101" y="1037969"/>
            <a:ext cx="11607800" cy="49179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﻿﻿</a:t>
            </a:r>
            <a:r>
              <a:rPr lang="en-US" sz="1600" b="1" dirty="0"/>
              <a:t>SanDisk is contemplating building a discreet  </a:t>
            </a:r>
            <a:r>
              <a:rPr lang="en-US" sz="1600" b="1" dirty="0" err="1"/>
              <a:t>xPU</a:t>
            </a:r>
            <a:r>
              <a:rPr lang="en-US" sz="1600" b="1" dirty="0"/>
              <a:t> solution based on HBF</a:t>
            </a:r>
          </a:p>
          <a:p>
            <a:pPr lvl="1"/>
            <a:r>
              <a:rPr lang="en-US" sz="1600" dirty="0"/>
              <a:t>This is a PCI-e based card and supports x16 connectivity to the host.</a:t>
            </a:r>
          </a:p>
          <a:p>
            <a:pPr lvl="1"/>
            <a:r>
              <a:rPr lang="en-US" sz="1600" dirty="0"/>
              <a:t>The </a:t>
            </a:r>
            <a:r>
              <a:rPr lang="en-US" sz="1600" b="1" dirty="0"/>
              <a:t>“focus” </a:t>
            </a:r>
            <a:r>
              <a:rPr lang="en-US" sz="1600" dirty="0"/>
              <a:t>of this product is for primarily LLM </a:t>
            </a:r>
            <a:r>
              <a:rPr lang="en-US" sz="1600" b="1" dirty="0"/>
              <a:t>inferencing</a:t>
            </a:r>
            <a:r>
              <a:rPr lang="en-US" sz="1600" dirty="0"/>
              <a:t> workloads. </a:t>
            </a:r>
          </a:p>
          <a:p>
            <a:r>
              <a:rPr lang="en-US" sz="1600" b="1" dirty="0"/>
              <a:t>ALL major OEM/ODM have a server (4-8 RU based), which can house 8-10 such cards</a:t>
            </a:r>
          </a:p>
          <a:p>
            <a:pPr lvl="1"/>
            <a:r>
              <a:rPr lang="en-US" sz="1600" dirty="0"/>
              <a:t>The server/node has a PCI-e Switch(no </a:t>
            </a:r>
            <a:r>
              <a:rPr lang="en-US" sz="1600" dirty="0" err="1"/>
              <a:t>NVLink</a:t>
            </a:r>
            <a:r>
              <a:rPr lang="en-US" sz="1600" dirty="0"/>
              <a:t> required) which is used for inter-card communication.</a:t>
            </a:r>
            <a:endParaRPr lang="en-US" sz="1600" b="1" dirty="0"/>
          </a:p>
          <a:p>
            <a:r>
              <a:rPr lang="en-US" sz="1600" dirty="0"/>
              <a:t>The server/node is the “</a:t>
            </a:r>
            <a:r>
              <a:rPr lang="en-US" sz="1600" b="1" dirty="0"/>
              <a:t>building block</a:t>
            </a:r>
            <a:r>
              <a:rPr lang="en-US" sz="1600" dirty="0"/>
              <a:t>” for sizing, scaling and deploying LLMs </a:t>
            </a:r>
          </a:p>
          <a:p>
            <a:pPr lvl="1"/>
            <a:r>
              <a:rPr lang="en-US" sz="1600" dirty="0"/>
              <a:t>If the LLM exceeds the limit for a “building block” i.e. server, then RACK Scale becomes the next “building block”.</a:t>
            </a:r>
          </a:p>
          <a:p>
            <a:pPr lvl="1"/>
            <a:r>
              <a:rPr lang="en-US" sz="1600" dirty="0"/>
              <a:t>SanDisk solution with 1TB HBF capacity can significantly extend the scaling of a server (for certain workloads).</a:t>
            </a:r>
          </a:p>
          <a:p>
            <a:r>
              <a:rPr lang="en-US" sz="1600" dirty="0"/>
              <a:t>We demonstrate the value of “above” and use the industry leader discreet GPU card (RTX 6000 Pro Blackwell) as a comparison</a:t>
            </a:r>
          </a:p>
          <a:p>
            <a:pPr lvl="1"/>
            <a:r>
              <a:rPr lang="en-US" sz="1600" b="1" dirty="0"/>
              <a:t>Since this would be a future (estimated 2028 introduction), we estimated the next generation RTX-NG capability:</a:t>
            </a:r>
          </a:p>
          <a:p>
            <a:pPr lvl="2"/>
            <a:r>
              <a:rPr lang="en-US" sz="1600" dirty="0"/>
              <a:t>144 GB of GDDR8, 2000 TOPS (compute capability), and 2.2TB/s of GDDR8 Bandwidth (600W).</a:t>
            </a:r>
          </a:p>
          <a:p>
            <a:pPr lvl="2"/>
            <a:r>
              <a:rPr lang="en-US" sz="1600" dirty="0"/>
              <a:t>For SanDisk ATMOS card, 128GB of LPDDR @ 400GB/s and 1TB HBF @ 1.6TB/s (200W).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171715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C792-DD7F-573E-BC71-98D0CB64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C67E0-BB58-B78C-C6DC-42B268A5A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5472"/>
            <a:ext cx="855221" cy="118872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/>
              <a:t>00.0</a:t>
            </a:r>
            <a:fld id="{4571BA12-316B-0A40-BB3D-1A8CDD33E9E5}" type="slidenum">
              <a:rPr lang="en-US" sz="8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4F681-6E19-522B-12A7-12208A63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99" y="442939"/>
            <a:ext cx="11607801" cy="960120"/>
          </a:xfrm>
        </p:spPr>
        <p:txBody>
          <a:bodyPr vert="horz" wrap="square" lIns="0" tIns="0" rIns="0" bIns="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spc="0" baseline="0" dirty="0">
                <a:ln w="19050">
                  <a:noFill/>
                  <a:miter lim="800000"/>
                </a:ln>
                <a:latin typeface="+mj-lt"/>
                <a:ea typeface="+mj-ea"/>
                <a:cs typeface="Pilat Regular" panose="020B0604020202020204" pitchFamily="34" charset="0"/>
              </a:rPr>
              <a:t>Challenges in deploying enterprise LLMs on premises</a:t>
            </a:r>
            <a:br>
              <a:rPr lang="en-US" sz="2300" b="0" i="0" kern="1200" spc="0" baseline="0" dirty="0">
                <a:ln w="19050">
                  <a:noFill/>
                  <a:miter lim="800000"/>
                </a:ln>
                <a:latin typeface="+mj-lt"/>
                <a:ea typeface="+mj-ea"/>
                <a:cs typeface="Pilat Regular" panose="020B0604020202020204" pitchFamily="34" charset="0"/>
              </a:rPr>
            </a:br>
            <a:r>
              <a:rPr lang="en-US" sz="1600" b="0" i="0" kern="1200" spc="0" baseline="0" dirty="0">
                <a:ln w="19050">
                  <a:noFill/>
                  <a:miter lim="800000"/>
                </a:ln>
                <a:latin typeface="+mj-lt"/>
                <a:ea typeface="+mj-ea"/>
                <a:cs typeface="Pilat Regular" panose="020B0604020202020204" pitchFamily="34" charset="0"/>
              </a:rPr>
              <a:t>LLMs continue to  get larger (in terms of parameters &amp; size), and no longer FIT into a single GPU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9046A-AA8A-345A-E675-C0C458C76655}"/>
              </a:ext>
            </a:extLst>
          </p:cNvPr>
          <p:cNvSpPr txBox="1"/>
          <p:nvPr/>
        </p:nvSpPr>
        <p:spPr>
          <a:xfrm>
            <a:off x="835017" y="5642592"/>
            <a:ext cx="10858220" cy="635986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defTabSz="914346">
              <a:spcAft>
                <a:spcPts val="600"/>
              </a:spcAft>
              <a:buSzPct val="100000"/>
            </a:pPr>
            <a:r>
              <a:rPr lang="en-US" sz="3000" b="0" i="0" kern="1200" spc="0" baseline="0" dirty="0">
                <a:solidFill>
                  <a:schemeClr val="accent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And the TCO ($/Million Tokens)  &amp;  the Software for Deployment !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BE37C1C-1849-1DB3-4CAC-9E4B62106A9A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386969691"/>
              </p:ext>
            </p:extLst>
          </p:nvPr>
        </p:nvGraphicFramePr>
        <p:xfrm>
          <a:off x="292099" y="1579953"/>
          <a:ext cx="11607801" cy="3885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5370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55480A4-5AC9-D4A5-8A03-1406954CA839}"/>
              </a:ext>
            </a:extLst>
          </p:cNvPr>
          <p:cNvSpPr/>
          <p:nvPr/>
        </p:nvSpPr>
        <p:spPr>
          <a:xfrm>
            <a:off x="7814395" y="2940951"/>
            <a:ext cx="2488178" cy="2709873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CEC196-F8BA-51BA-C91B-8FA0F22338BF}"/>
              </a:ext>
            </a:extLst>
          </p:cNvPr>
          <p:cNvSpPr/>
          <p:nvPr/>
        </p:nvSpPr>
        <p:spPr>
          <a:xfrm>
            <a:off x="2997362" y="1638023"/>
            <a:ext cx="3707271" cy="1902664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F6568-329C-7D7F-36BC-6AF5062081D0}"/>
              </a:ext>
            </a:extLst>
          </p:cNvPr>
          <p:cNvSpPr txBox="1"/>
          <p:nvPr/>
        </p:nvSpPr>
        <p:spPr>
          <a:xfrm>
            <a:off x="181931" y="302808"/>
            <a:ext cx="11739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n w="19050">
                  <a:noFill/>
                  <a:miter lim="800000"/>
                </a:ln>
                <a:latin typeface="+mj-lt"/>
                <a:ea typeface="+mj-ea"/>
              </a:rPr>
              <a:t>LLM Inference Workloads: </a:t>
            </a:r>
            <a:r>
              <a:rPr lang="en-US" sz="2800" i="1" dirty="0">
                <a:ln w="19050">
                  <a:noFill/>
                  <a:miter lim="800000"/>
                </a:ln>
                <a:latin typeface="+mj-lt"/>
                <a:ea typeface="+mj-ea"/>
              </a:rPr>
              <a:t>Latency-Sensitive</a:t>
            </a:r>
            <a:r>
              <a:rPr lang="en-US" sz="2800" dirty="0">
                <a:ln w="19050">
                  <a:noFill/>
                  <a:miter lim="800000"/>
                </a:ln>
                <a:latin typeface="+mj-lt"/>
                <a:ea typeface="+mj-ea"/>
              </a:rPr>
              <a:t> vs </a:t>
            </a:r>
            <a:r>
              <a:rPr lang="en-US" sz="2800" i="1" dirty="0">
                <a:ln w="19050">
                  <a:noFill/>
                  <a:miter lim="800000"/>
                </a:ln>
                <a:latin typeface="+mj-lt"/>
                <a:ea typeface="+mj-ea"/>
              </a:rPr>
              <a:t>Latency-Tolerant</a:t>
            </a:r>
            <a:r>
              <a:rPr lang="en-US" sz="2800" dirty="0">
                <a:ln w="19050">
                  <a:noFill/>
                  <a:miter lim="800000"/>
                </a:ln>
                <a:latin typeface="+mj-lt"/>
                <a:ea typeface="+mj-ea"/>
              </a:rPr>
              <a:t>( Batch)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4467B-98B5-23FF-94B9-E2AF06010DBB}"/>
              </a:ext>
            </a:extLst>
          </p:cNvPr>
          <p:cNvSpPr txBox="1"/>
          <p:nvPr/>
        </p:nvSpPr>
        <p:spPr>
          <a:xfrm>
            <a:off x="1479580" y="1817507"/>
            <a:ext cx="1464152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Extreme Throughput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(Max VRAM Saturation)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C328E-A4EB-5087-BE0D-89DEEC49B80B}"/>
              </a:ext>
            </a:extLst>
          </p:cNvPr>
          <p:cNvSpPr txBox="1"/>
          <p:nvPr/>
        </p:nvSpPr>
        <p:spPr>
          <a:xfrm>
            <a:off x="1410043" y="3344476"/>
            <a:ext cx="1533689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TPS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(High multi-user/queue)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F4E69-9D73-44B8-8EA3-9DC8F2177687}"/>
              </a:ext>
            </a:extLst>
          </p:cNvPr>
          <p:cNvSpPr txBox="1"/>
          <p:nvPr/>
        </p:nvSpPr>
        <p:spPr>
          <a:xfrm>
            <a:off x="1432407" y="4871445"/>
            <a:ext cx="1511323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Low/Moderate TPS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(Deep or single-stream)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97D953-B3AA-D0C2-45B0-BA81A6F2C6CB}"/>
              </a:ext>
            </a:extLst>
          </p:cNvPr>
          <p:cNvCxnSpPr>
            <a:cxnSpLocks/>
          </p:cNvCxnSpPr>
          <p:nvPr/>
        </p:nvCxnSpPr>
        <p:spPr>
          <a:xfrm flipV="1">
            <a:off x="2987787" y="1359724"/>
            <a:ext cx="0" cy="4605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6E28CC-ED98-3363-5185-52AEA86F999B}"/>
              </a:ext>
            </a:extLst>
          </p:cNvPr>
          <p:cNvCxnSpPr>
            <a:cxnSpLocks/>
          </p:cNvCxnSpPr>
          <p:nvPr/>
        </p:nvCxnSpPr>
        <p:spPr>
          <a:xfrm>
            <a:off x="2608824" y="5650824"/>
            <a:ext cx="8826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6ED2E9F-AFCC-F87B-AE72-8E2E7B81160A}"/>
              </a:ext>
            </a:extLst>
          </p:cNvPr>
          <p:cNvSpPr/>
          <p:nvPr/>
        </p:nvSpPr>
        <p:spPr>
          <a:xfrm>
            <a:off x="3700783" y="2131209"/>
            <a:ext cx="182880" cy="18288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9775C7-8A56-03BF-20C1-7FB3423BE5D0}"/>
              </a:ext>
            </a:extLst>
          </p:cNvPr>
          <p:cNvSpPr txBox="1"/>
          <p:nvPr/>
        </p:nvSpPr>
        <p:spPr>
          <a:xfrm>
            <a:off x="3639904" y="5765824"/>
            <a:ext cx="1378078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Small / Short Context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8B / 8K)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2DA89-1278-C0D7-E250-E509BB702234}"/>
              </a:ext>
            </a:extLst>
          </p:cNvPr>
          <p:cNvSpPr txBox="1"/>
          <p:nvPr/>
        </p:nvSpPr>
        <p:spPr>
          <a:xfrm>
            <a:off x="5994762" y="5767275"/>
            <a:ext cx="1423862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Medium / Mid Context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70B / 32K)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48120C-F466-7118-B506-A775519F1867}"/>
              </a:ext>
            </a:extLst>
          </p:cNvPr>
          <p:cNvSpPr txBox="1"/>
          <p:nvPr/>
        </p:nvSpPr>
        <p:spPr>
          <a:xfrm>
            <a:off x="8395406" y="5777421"/>
            <a:ext cx="1335068" cy="399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 / Long Context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405B / 128K+)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3D55A-FA87-05F9-D891-DBB40317B17A}"/>
              </a:ext>
            </a:extLst>
          </p:cNvPr>
          <p:cNvSpPr txBox="1"/>
          <p:nvPr/>
        </p:nvSpPr>
        <p:spPr>
          <a:xfrm>
            <a:off x="4565653" y="6331798"/>
            <a:ext cx="4291509" cy="266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Scale Complexity (Increasing Model Size &amp; Context Length)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CC0C86-F16B-3B24-BCDF-1C118B8EDE43}"/>
              </a:ext>
            </a:extLst>
          </p:cNvPr>
          <p:cNvSpPr txBox="1"/>
          <p:nvPr/>
        </p:nvSpPr>
        <p:spPr>
          <a:xfrm rot="16200000">
            <a:off x="-127805" y="3626229"/>
            <a:ext cx="2498876" cy="266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Require System Throughput (TPS)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69B8538-3F8F-2EAE-9F3A-9D6C1E476B5C}"/>
              </a:ext>
            </a:extLst>
          </p:cNvPr>
          <p:cNvCxnSpPr/>
          <p:nvPr/>
        </p:nvCxnSpPr>
        <p:spPr>
          <a:xfrm flipV="1">
            <a:off x="6704633" y="1517317"/>
            <a:ext cx="0" cy="4133507"/>
          </a:xfrm>
          <a:prstGeom prst="line">
            <a:avLst/>
          </a:prstGeom>
          <a:ln>
            <a:solidFill>
              <a:srgbClr val="000000">
                <a:alpha val="20000"/>
              </a:srgb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EA9832-E58A-C883-BD4D-61167848F3E9}"/>
              </a:ext>
            </a:extLst>
          </p:cNvPr>
          <p:cNvCxnSpPr>
            <a:cxnSpLocks/>
          </p:cNvCxnSpPr>
          <p:nvPr/>
        </p:nvCxnSpPr>
        <p:spPr>
          <a:xfrm flipV="1">
            <a:off x="2978518" y="2017293"/>
            <a:ext cx="7349269" cy="1"/>
          </a:xfrm>
          <a:prstGeom prst="line">
            <a:avLst/>
          </a:prstGeom>
          <a:ln>
            <a:solidFill>
              <a:srgbClr val="000000">
                <a:alpha val="20000"/>
              </a:srgb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E2B635-BF2B-84FF-26F1-7938E3858CAF}"/>
              </a:ext>
            </a:extLst>
          </p:cNvPr>
          <p:cNvCxnSpPr>
            <a:cxnSpLocks/>
          </p:cNvCxnSpPr>
          <p:nvPr/>
        </p:nvCxnSpPr>
        <p:spPr>
          <a:xfrm flipV="1">
            <a:off x="2997362" y="3540687"/>
            <a:ext cx="7349269" cy="1"/>
          </a:xfrm>
          <a:prstGeom prst="line">
            <a:avLst/>
          </a:prstGeom>
          <a:ln>
            <a:solidFill>
              <a:srgbClr val="000000">
                <a:alpha val="20000"/>
              </a:srgb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D8AF39-73FC-9627-E75A-6EE1D21A47E8}"/>
              </a:ext>
            </a:extLst>
          </p:cNvPr>
          <p:cNvCxnSpPr>
            <a:cxnSpLocks/>
          </p:cNvCxnSpPr>
          <p:nvPr/>
        </p:nvCxnSpPr>
        <p:spPr>
          <a:xfrm flipV="1">
            <a:off x="2990116" y="5055387"/>
            <a:ext cx="7349269" cy="1"/>
          </a:xfrm>
          <a:prstGeom prst="line">
            <a:avLst/>
          </a:prstGeom>
          <a:ln>
            <a:solidFill>
              <a:srgbClr val="000000">
                <a:alpha val="20000"/>
              </a:srgb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7D61AA3-DCE1-ED7E-5602-99D9AC69C9CD}"/>
              </a:ext>
            </a:extLst>
          </p:cNvPr>
          <p:cNvSpPr/>
          <p:nvPr/>
        </p:nvSpPr>
        <p:spPr>
          <a:xfrm>
            <a:off x="4832819" y="2906675"/>
            <a:ext cx="182880" cy="18288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A5D5B0-5EF8-2DDF-FAAF-FD2FE6FC4F72}"/>
              </a:ext>
            </a:extLst>
          </p:cNvPr>
          <p:cNvSpPr/>
          <p:nvPr/>
        </p:nvSpPr>
        <p:spPr>
          <a:xfrm>
            <a:off x="5921374" y="3708234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383A2B-0CAF-421D-3A6D-C89100BD4073}"/>
              </a:ext>
            </a:extLst>
          </p:cNvPr>
          <p:cNvSpPr/>
          <p:nvPr/>
        </p:nvSpPr>
        <p:spPr>
          <a:xfrm>
            <a:off x="4174755" y="4892454"/>
            <a:ext cx="182880" cy="1828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D26F94-DB60-C812-EB68-6E54299BE164}"/>
              </a:ext>
            </a:extLst>
          </p:cNvPr>
          <p:cNvSpPr/>
          <p:nvPr/>
        </p:nvSpPr>
        <p:spPr>
          <a:xfrm>
            <a:off x="7037471" y="4528638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DC3FB9-2A81-1A6E-4E96-DC6AAD055399}"/>
              </a:ext>
            </a:extLst>
          </p:cNvPr>
          <p:cNvSpPr/>
          <p:nvPr/>
        </p:nvSpPr>
        <p:spPr>
          <a:xfrm>
            <a:off x="8138126" y="3627983"/>
            <a:ext cx="229870" cy="2225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30C5D5-E209-6C69-C8B7-0813D9E9F504}"/>
              </a:ext>
            </a:extLst>
          </p:cNvPr>
          <p:cNvSpPr txBox="1"/>
          <p:nvPr/>
        </p:nvSpPr>
        <p:spPr>
          <a:xfrm>
            <a:off x="3901766" y="2037638"/>
            <a:ext cx="1032504" cy="372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Voice Assistants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(Ultra-low TTF)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D72F57-EE92-DF7F-8A83-62977729D277}"/>
              </a:ext>
            </a:extLst>
          </p:cNvPr>
          <p:cNvSpPr txBox="1"/>
          <p:nvPr/>
        </p:nvSpPr>
        <p:spPr>
          <a:xfrm>
            <a:off x="5053897" y="2794359"/>
            <a:ext cx="1203154" cy="372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Chatbots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(Streaming UX)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C1370-AA51-6F8C-69B5-BE22E4B6A42B}"/>
              </a:ext>
            </a:extLst>
          </p:cNvPr>
          <p:cNvSpPr txBox="1"/>
          <p:nvPr/>
        </p:nvSpPr>
        <p:spPr>
          <a:xfrm>
            <a:off x="6141100" y="3604614"/>
            <a:ext cx="1117135" cy="372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 Autocomplete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(Fast inter-token)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997F89-CDE9-642F-A06A-4AB25B0803FB}"/>
              </a:ext>
            </a:extLst>
          </p:cNvPr>
          <p:cNvSpPr txBox="1"/>
          <p:nvPr/>
        </p:nvSpPr>
        <p:spPr>
          <a:xfrm>
            <a:off x="7238349" y="4423567"/>
            <a:ext cx="1172631" cy="372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Enterprise RAG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(Balanced Latency)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B887F7-7B77-A0D8-65A4-827B13AF73BD}"/>
              </a:ext>
            </a:extLst>
          </p:cNvPr>
          <p:cNvSpPr txBox="1"/>
          <p:nvPr/>
        </p:nvSpPr>
        <p:spPr>
          <a:xfrm>
            <a:off x="4394570" y="4790284"/>
            <a:ext cx="1691519" cy="372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 and Telemetry Analysis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(Anomaly Detection, Parsing)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296D5D-21C9-E01D-A570-50C7C1DC7831}"/>
              </a:ext>
            </a:extLst>
          </p:cNvPr>
          <p:cNvSpPr txBox="1"/>
          <p:nvPr/>
        </p:nvSpPr>
        <p:spPr>
          <a:xfrm>
            <a:off x="8367996" y="3540686"/>
            <a:ext cx="20040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High-volume Enterprise Batch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(Offline Analytics)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BCCF80E-E03F-FBD7-ED16-E696524E826D}"/>
              </a:ext>
            </a:extLst>
          </p:cNvPr>
          <p:cNvSpPr/>
          <p:nvPr/>
        </p:nvSpPr>
        <p:spPr>
          <a:xfrm>
            <a:off x="3672954" y="1413485"/>
            <a:ext cx="210709" cy="210709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DB56095-EB69-C944-2939-BD4575741760}"/>
              </a:ext>
            </a:extLst>
          </p:cNvPr>
          <p:cNvSpPr/>
          <p:nvPr/>
        </p:nvSpPr>
        <p:spPr>
          <a:xfrm>
            <a:off x="7857918" y="2700670"/>
            <a:ext cx="210709" cy="21070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9DA92E-1978-DFFC-099C-11DA1495B9AC}"/>
              </a:ext>
            </a:extLst>
          </p:cNvPr>
          <p:cNvSpPr txBox="1"/>
          <p:nvPr/>
        </p:nvSpPr>
        <p:spPr>
          <a:xfrm>
            <a:off x="3901766" y="1331641"/>
            <a:ext cx="232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Latency-Sensitive (per-user TPS)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B776C1-E991-AEFE-D617-CF6F363AAC79}"/>
              </a:ext>
            </a:extLst>
          </p:cNvPr>
          <p:cNvSpPr txBox="1"/>
          <p:nvPr/>
        </p:nvSpPr>
        <p:spPr>
          <a:xfrm>
            <a:off x="8027414" y="2634569"/>
            <a:ext cx="2452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Latency-tolerant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(Aggregate TPS)</a:t>
            </a:r>
          </a:p>
        </p:txBody>
      </p:sp>
    </p:spTree>
    <p:extLst>
      <p:ext uri="{BB962C8B-B14F-4D97-AF65-F5344CB8AC3E}">
        <p14:creationId xmlns:p14="http://schemas.microsoft.com/office/powerpoint/2010/main" val="157887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70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8000"/>
                            </p:stCondLst>
                            <p:childTnLst>
                              <p:par>
                                <p:cTn id="1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9000"/>
                            </p:stCondLst>
                            <p:childTnLst>
                              <p:par>
                                <p:cTn id="1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6" grpId="0"/>
      <p:bldP spid="7" grpId="0"/>
      <p:bldP spid="8" grpId="0"/>
      <p:bldP spid="13" grpId="0" animBg="1"/>
      <p:bldP spid="15" grpId="0"/>
      <p:bldP spid="16" grpId="0"/>
      <p:bldP spid="17" grpId="0"/>
      <p:bldP spid="18" grpId="0"/>
      <p:bldP spid="19" grpId="0"/>
      <p:bldP spid="29" grpId="0" animBg="1"/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41" grpId="0"/>
      <p:bldP spid="46" grpId="0" animBg="1"/>
      <p:bldP spid="47" grpId="0" animBg="1"/>
      <p:bldP spid="48" grpId="0"/>
      <p:bldP spid="50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182B-146D-E5B6-CC63-C22F4126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across these 2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4C921-DB0B-C5F0-C6D2-AAEFB49BD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Llama-3-8B parameter model (8k,16k,32k) </a:t>
            </a:r>
            <a:r>
              <a:rPr lang="en-US" b="1" dirty="0"/>
              <a:t>– Latency Sensitive</a:t>
            </a:r>
          </a:p>
          <a:p>
            <a:endParaRPr lang="en-US" b="1" dirty="0"/>
          </a:p>
          <a:p>
            <a:r>
              <a:rPr lang="en-US" dirty="0"/>
              <a:t>DeepSeek v4 pro (</a:t>
            </a:r>
            <a:r>
              <a:rPr lang="en-US" dirty="0" err="1"/>
              <a:t>MoE</a:t>
            </a:r>
            <a:r>
              <a:rPr lang="en-US" dirty="0"/>
              <a:t>) model which has 1.6T Parameter, with 49B active per query (128k,512k,1M) </a:t>
            </a:r>
            <a:r>
              <a:rPr lang="en-US" b="1" dirty="0"/>
              <a:t>– Latency Tolerant (Batch)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26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F15D9A-F23C-574D-40EA-C2B265D8F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54408-FC0E-0844-36F1-D55B0358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91" y="927100"/>
            <a:ext cx="7747000" cy="5003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7DB17E-7946-4217-C815-FA183DD2724A}"/>
              </a:ext>
            </a:extLst>
          </p:cNvPr>
          <p:cNvSpPr txBox="1"/>
          <p:nvPr/>
        </p:nvSpPr>
        <p:spPr>
          <a:xfrm>
            <a:off x="484909" y="927101"/>
            <a:ext cx="322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Latency-Sensitive workload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09D7A-7729-0E1E-7452-68791C1D7647}"/>
              </a:ext>
            </a:extLst>
          </p:cNvPr>
          <p:cNvSpPr txBox="1"/>
          <p:nvPr/>
        </p:nvSpPr>
        <p:spPr>
          <a:xfrm>
            <a:off x="166255" y="1634836"/>
            <a:ext cx="37343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Llama-3-8B parameter model</a:t>
            </a:r>
          </a:p>
          <a:p>
            <a:r>
              <a:rPr lang="en-US" dirty="0"/>
              <a:t>(max context length – 128k tokens)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Data Parallelism across both</a:t>
            </a:r>
          </a:p>
          <a:p>
            <a:r>
              <a:rPr lang="en-US" dirty="0"/>
              <a:t>(model FITS into each card)</a:t>
            </a:r>
          </a:p>
          <a:p>
            <a:pPr marL="342900" indent="-342900">
              <a:buAutoNum type="arabicPeriod"/>
            </a:pPr>
            <a:r>
              <a:rPr lang="en-US" dirty="0"/>
              <a:t>TTFT(8k)  64ms vs 250ms</a:t>
            </a:r>
          </a:p>
          <a:p>
            <a:pPr marL="342900" indent="-342900">
              <a:buAutoNum type="arabicPeriod"/>
            </a:pPr>
            <a:r>
              <a:rPr lang="en-US" strike="sngStrike" dirty="0"/>
              <a:t>(7,744.0 </a:t>
            </a:r>
            <a:r>
              <a:rPr lang="en-US" strike="sngStrike" dirty="0" err="1"/>
              <a:t>ms</a:t>
            </a:r>
            <a:r>
              <a:rPr lang="en-US" strike="sngStrike" dirty="0"/>
              <a:t> vs 30,250.0 </a:t>
            </a:r>
            <a:r>
              <a:rPr lang="en-US" strike="sngStrike" dirty="0" err="1"/>
              <a:t>ms</a:t>
            </a:r>
            <a:r>
              <a:rPr lang="en-US" strike="sngStrike" dirty="0"/>
              <a:t>)</a:t>
            </a:r>
            <a:br>
              <a:rPr lang="en-US" strike="sngStrike" dirty="0"/>
            </a:br>
            <a:r>
              <a:rPr lang="en-US" dirty="0"/>
              <a:t> (8k - Saturated  @968 users)</a:t>
            </a:r>
          </a:p>
          <a:p>
            <a:pPr marL="342900" indent="-342900">
              <a:buAutoNum type="arabicPeriod"/>
            </a:pPr>
            <a:r>
              <a:rPr lang="en-US" b="1" dirty="0"/>
              <a:t>RTX-NG wins !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765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E12F-C6E0-41EE-F441-C0271D0D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ADAEA-106A-C67E-C68E-ADB15CCFE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8866C-C770-BF1D-AB0F-6B962F92DE59}"/>
              </a:ext>
            </a:extLst>
          </p:cNvPr>
          <p:cNvSpPr txBox="1"/>
          <p:nvPr/>
        </p:nvSpPr>
        <p:spPr>
          <a:xfrm>
            <a:off x="484909" y="927101"/>
            <a:ext cx="3228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Latency-Tolerant (batch) workload – For RTX-NG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3E627-1A41-67E9-F73A-9D58C6132F38}"/>
              </a:ext>
            </a:extLst>
          </p:cNvPr>
          <p:cNvSpPr txBox="1"/>
          <p:nvPr/>
        </p:nvSpPr>
        <p:spPr>
          <a:xfrm>
            <a:off x="166255" y="1634836"/>
            <a:ext cx="37343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DeepSeek-V4 (1.6T </a:t>
            </a:r>
            <a:r>
              <a:rPr lang="en-US" dirty="0" err="1"/>
              <a:t>MoE</a:t>
            </a:r>
            <a:r>
              <a:rPr lang="en-US" dirty="0"/>
              <a:t>) model</a:t>
            </a:r>
          </a:p>
          <a:p>
            <a:endParaRPr lang="en-US" dirty="0"/>
          </a:p>
          <a:p>
            <a:r>
              <a:rPr lang="en-US" dirty="0"/>
              <a:t>Requires: 800 + 160 = 960GB</a:t>
            </a:r>
          </a:p>
          <a:p>
            <a:pPr lvl="0"/>
            <a:r>
              <a:rPr lang="en-US" sz="1200" b="1" dirty="0"/>
              <a:t>The </a:t>
            </a:r>
            <a:r>
              <a:rPr lang="en-US" sz="1200" b="1" dirty="0" err="1"/>
              <a:t>MoE</a:t>
            </a:r>
            <a:r>
              <a:rPr lang="en-US" sz="1200" b="1" dirty="0"/>
              <a:t> Experts (FP4):</a:t>
            </a:r>
            <a:r>
              <a:rPr lang="en-US" sz="1200" dirty="0"/>
              <a:t>  </a:t>
            </a:r>
            <a:r>
              <a:rPr lang="en-US" sz="1200" b="1" dirty="0"/>
              <a:t>~800 GB.</a:t>
            </a:r>
          </a:p>
          <a:p>
            <a:pPr lvl="0"/>
            <a:r>
              <a:rPr lang="en-US" sz="1200" b="1" dirty="0"/>
              <a:t>The Critical Layers (FP8):</a:t>
            </a:r>
            <a:r>
              <a:rPr lang="en-US" sz="1200" dirty="0"/>
              <a:t> </a:t>
            </a:r>
            <a:r>
              <a:rPr lang="en-US" sz="1200" b="1" dirty="0"/>
              <a:t> ~160GB.</a:t>
            </a:r>
          </a:p>
          <a:p>
            <a:r>
              <a:rPr lang="en-US" dirty="0"/>
              <a:t>The model needs to be sharded across all 8 RTX-NG cards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Expert Parallelism = 4</a:t>
            </a:r>
          </a:p>
          <a:p>
            <a:pPr marL="342900" indent="-342900">
              <a:buAutoNum type="arabicPeriod"/>
            </a:pPr>
            <a:r>
              <a:rPr lang="en-US" dirty="0"/>
              <a:t>Tensor Parallelism = 2</a:t>
            </a:r>
          </a:p>
          <a:p>
            <a:pPr marL="342900" indent="-342900">
              <a:buAutoNum type="arabicPeriod"/>
            </a:pPr>
            <a:r>
              <a:rPr lang="en-US" dirty="0"/>
              <a:t>Each token generated requires communication across all GPUs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1319C-F58F-8D46-4707-13DC6E615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018" y="927101"/>
            <a:ext cx="7772400" cy="50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921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F0CD-C8B9-F969-1813-EAF6D20D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42F65-474F-A346-5EF6-7CD938D89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5B8DF-868D-7219-25AC-D4789D2EECB0}"/>
              </a:ext>
            </a:extLst>
          </p:cNvPr>
          <p:cNvSpPr txBox="1"/>
          <p:nvPr/>
        </p:nvSpPr>
        <p:spPr>
          <a:xfrm>
            <a:off x="484909" y="927101"/>
            <a:ext cx="3228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Latency-Tolerant (batch) workload - ATMOS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C36FE-BE38-3E74-C36B-994273C62B11}"/>
              </a:ext>
            </a:extLst>
          </p:cNvPr>
          <p:cNvSpPr txBox="1"/>
          <p:nvPr/>
        </p:nvSpPr>
        <p:spPr>
          <a:xfrm>
            <a:off x="166255" y="1634836"/>
            <a:ext cx="37343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DeepSeek-V4 (1.6T </a:t>
            </a:r>
            <a:r>
              <a:rPr lang="en-US" dirty="0" err="1"/>
              <a:t>MoE</a:t>
            </a:r>
            <a:r>
              <a:rPr lang="en-US" dirty="0"/>
              <a:t>) model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Data Parallelism = 8</a:t>
            </a:r>
          </a:p>
          <a:p>
            <a:pPr marL="342900" indent="-342900">
              <a:buAutoNum type="arabicPeriod"/>
            </a:pPr>
            <a:r>
              <a:rPr lang="en-US" dirty="0"/>
              <a:t>ALL weights in HBF (960GB)</a:t>
            </a:r>
          </a:p>
          <a:p>
            <a:pPr marL="342900" indent="-342900">
              <a:buAutoNum type="arabicPeriod"/>
            </a:pPr>
            <a:r>
              <a:rPr lang="en-US" dirty="0"/>
              <a:t>128 GB of LPDDR for KV Cache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Each token generated requires zero communication across </a:t>
            </a:r>
            <a:r>
              <a:rPr lang="en-US" dirty="0" err="1"/>
              <a:t>xPUs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7B71D-4F38-CFB6-16EA-7D723913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582" y="1859867"/>
            <a:ext cx="8030647" cy="36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939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D4B97-94B7-494D-5A8B-5EEBBA37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828BF-4877-B549-7209-CC95C3239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6CD59-5DBD-512A-E31D-6BEEF660C7D2}"/>
              </a:ext>
            </a:extLst>
          </p:cNvPr>
          <p:cNvSpPr txBox="1"/>
          <p:nvPr/>
        </p:nvSpPr>
        <p:spPr>
          <a:xfrm>
            <a:off x="484909" y="927101"/>
            <a:ext cx="3228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Latency-Tolerant (batch) workload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A63FD-818D-AC5D-6C08-A10E9B496307}"/>
              </a:ext>
            </a:extLst>
          </p:cNvPr>
          <p:cNvSpPr txBox="1"/>
          <p:nvPr/>
        </p:nvSpPr>
        <p:spPr>
          <a:xfrm>
            <a:off x="166255" y="1634836"/>
            <a:ext cx="37343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DeepSeek-V4 (1.6T </a:t>
            </a:r>
            <a:r>
              <a:rPr lang="en-US" dirty="0" err="1"/>
              <a:t>MoE</a:t>
            </a:r>
            <a:r>
              <a:rPr lang="en-US" dirty="0"/>
              <a:t>) model</a:t>
            </a:r>
          </a:p>
          <a:p>
            <a:r>
              <a:rPr lang="en-US" dirty="0"/>
              <a:t>(max context length – 1M tokens)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450 TPS vs 1850 TPS</a:t>
            </a:r>
          </a:p>
          <a:p>
            <a:pPr marL="342900" indent="-342900">
              <a:buAutoNum type="arabicPeriod"/>
            </a:pPr>
            <a:r>
              <a:rPr lang="en-US" strike="sngStrike" dirty="0"/>
              <a:t>TTFT(128k)  3.8s vs 0.8s</a:t>
            </a:r>
          </a:p>
          <a:p>
            <a:pPr marL="342900" indent="-342900">
              <a:buAutoNum type="arabicPeriod"/>
            </a:pPr>
            <a:r>
              <a:rPr lang="en-US" b="1" dirty="0"/>
              <a:t>ATMOS wins !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6E55D-341A-D101-4439-DCDE33C5C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45" y="1111767"/>
            <a:ext cx="7772400" cy="48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9028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1C40A-45A1-7B4B-4C86-A3685BF0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35DE-AC11-083C-C232-9933F0DE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270021"/>
            <a:ext cx="11652421" cy="632022"/>
          </a:xfrm>
        </p:spPr>
        <p:txBody>
          <a:bodyPr/>
          <a:lstStyle/>
          <a:p>
            <a:r>
              <a:rPr lang="en-US" b="1" dirty="0"/>
              <a:t>Feedback &amp; Discussion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013CF-ABF2-102F-682B-D369D5040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10054-43F2-BEA0-84FE-0FEE6953F9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101" y="1055968"/>
            <a:ext cx="5457535" cy="408406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LLMs &amp; use case(s)</a:t>
            </a:r>
          </a:p>
          <a:p>
            <a:r>
              <a:rPr lang="en-US" sz="1400" dirty="0"/>
              <a:t>Which LLMs do you currently deploy on premises</a:t>
            </a:r>
          </a:p>
          <a:p>
            <a:pPr lvl="0"/>
            <a:r>
              <a:rPr lang="en-US" sz="1400" dirty="0"/>
              <a:t>LLM serving for Online OR Offline/Batch processing</a:t>
            </a:r>
          </a:p>
          <a:p>
            <a:pPr lvl="0"/>
            <a:r>
              <a:rPr lang="en-US" sz="1400" dirty="0"/>
              <a:t>Which OEM/ODM do you use (Dell, HPE, Cisco-UCS etc.)</a:t>
            </a:r>
          </a:p>
          <a:p>
            <a:pPr lvl="0"/>
            <a:r>
              <a:rPr lang="en-US" sz="1400" dirty="0"/>
              <a:t>Which </a:t>
            </a:r>
            <a:r>
              <a:rPr lang="en-US" sz="1400" dirty="0" err="1"/>
              <a:t>xPU</a:t>
            </a:r>
            <a:r>
              <a:rPr lang="en-US" sz="1400" dirty="0"/>
              <a:t> vendors are currently deployed</a:t>
            </a:r>
          </a:p>
          <a:p>
            <a:pPr lvl="0"/>
            <a:r>
              <a:rPr lang="en-US" sz="1400" dirty="0"/>
              <a:t>What are your current challenges ?</a:t>
            </a:r>
          </a:p>
          <a:p>
            <a:pPr lvl="0"/>
            <a:r>
              <a:rPr lang="en-US" sz="1400" dirty="0"/>
              <a:t>Would ATMOS fit into your use cases ?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C56E366-F06A-38D2-9424-B22FF37EF202}"/>
              </a:ext>
            </a:extLst>
          </p:cNvPr>
          <p:cNvSpPr txBox="1">
            <a:spLocks/>
          </p:cNvSpPr>
          <p:nvPr/>
        </p:nvSpPr>
        <p:spPr>
          <a:xfrm>
            <a:off x="6089650" y="1055968"/>
            <a:ext cx="5229139" cy="34666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92608" indent="-292608" algn="l" defTabSz="9143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5216" indent="-292608" algn="l" defTabSz="9143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77824" indent="-292608" algn="l" defTabSz="9143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0432" indent="-292608" algn="l" defTabSz="9143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92608" algn="l" defTabSz="9143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514453" indent="-228586" algn="l" defTabSz="914346" rtl="0" eaLnBrk="1" latinLnBrk="0" hangingPunct="1">
              <a:lnSpc>
                <a:spcPct val="90000"/>
              </a:lnSpc>
              <a:spcBef>
                <a:spcPts val="500"/>
              </a:spcBef>
              <a:buFont typeface="Pilat Regular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26" indent="-228586" algn="l" defTabSz="914346" rtl="0" eaLnBrk="1" latinLnBrk="0" hangingPunct="1">
              <a:lnSpc>
                <a:spcPct val="90000"/>
              </a:lnSpc>
              <a:spcBef>
                <a:spcPts val="500"/>
              </a:spcBef>
              <a:buFont typeface="Pilat Regular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99" indent="-228586" algn="l" defTabSz="914346" rtl="0" eaLnBrk="1" latinLnBrk="0" hangingPunct="1">
              <a:lnSpc>
                <a:spcPct val="90000"/>
              </a:lnSpc>
              <a:spcBef>
                <a:spcPts val="500"/>
              </a:spcBef>
              <a:buFont typeface="Pilat Regular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73" indent="-228586" algn="l" defTabSz="914346" rtl="0" eaLnBrk="1" latinLnBrk="0" hangingPunct="1">
              <a:lnSpc>
                <a:spcPct val="90000"/>
              </a:lnSpc>
              <a:spcBef>
                <a:spcPts val="500"/>
              </a:spcBef>
              <a:buFont typeface="Pilat Regular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Pilat Regular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ATMOS – Software Stack</a:t>
            </a:r>
          </a:p>
          <a:p>
            <a:r>
              <a:rPr lang="en-US" sz="1400" dirty="0"/>
              <a:t>LLM Repository for Pre-Compiled Models</a:t>
            </a:r>
          </a:p>
          <a:p>
            <a:pPr lvl="0"/>
            <a:r>
              <a:rPr lang="en-US" sz="1400" b="1" dirty="0"/>
              <a:t>Inference Engine</a:t>
            </a:r>
            <a:r>
              <a:rPr lang="en-US" sz="1400" dirty="0"/>
              <a:t>: </a:t>
            </a:r>
            <a:r>
              <a:rPr lang="en-US" sz="1400" dirty="0" err="1"/>
              <a:t>vLLM</a:t>
            </a:r>
            <a:r>
              <a:rPr lang="en-US" sz="1400" dirty="0"/>
              <a:t>; </a:t>
            </a:r>
            <a:r>
              <a:rPr lang="en-US" sz="1400" dirty="0" err="1"/>
              <a:t>SGLang</a:t>
            </a:r>
            <a:r>
              <a:rPr lang="en-US" sz="1400" dirty="0"/>
              <a:t> (?); </a:t>
            </a:r>
            <a:r>
              <a:rPr lang="en-US" sz="1400" dirty="0" err="1"/>
              <a:t>TensorRT</a:t>
            </a:r>
            <a:r>
              <a:rPr lang="en-US" sz="1400" dirty="0"/>
              <a:t>-LLM (?)</a:t>
            </a:r>
          </a:p>
          <a:p>
            <a:pPr lvl="0"/>
            <a:r>
              <a:rPr lang="en-US" sz="1400" b="1" dirty="0"/>
              <a:t>Framework</a:t>
            </a:r>
            <a:r>
              <a:rPr lang="en-US" sz="1400" dirty="0"/>
              <a:t>: </a:t>
            </a:r>
            <a:r>
              <a:rPr lang="en-US" sz="1400" dirty="0" err="1"/>
              <a:t>PyTorch</a:t>
            </a:r>
            <a:r>
              <a:rPr lang="en-US" sz="1400" dirty="0"/>
              <a:t>; JAX ? </a:t>
            </a:r>
          </a:p>
          <a:p>
            <a:pPr lvl="0"/>
            <a:r>
              <a:rPr lang="en-US" sz="1400" dirty="0"/>
              <a:t>Which CUDA-Like Libraries ?</a:t>
            </a:r>
          </a:p>
          <a:p>
            <a:pPr lvl="0"/>
            <a:r>
              <a:rPr lang="en-US" sz="1400" b="1" dirty="0"/>
              <a:t>ATMOS Base:</a:t>
            </a:r>
            <a:endParaRPr lang="en-US" sz="1400" dirty="0"/>
          </a:p>
          <a:p>
            <a:pPr lvl="1"/>
            <a:r>
              <a:rPr lang="en-US" sz="1400" dirty="0"/>
              <a:t>Driver; Compiler; Runtime; Optimizer &amp; Tools</a:t>
            </a:r>
          </a:p>
          <a:p>
            <a:pPr lvl="1"/>
            <a:r>
              <a:rPr lang="en-US" sz="1400" dirty="0"/>
              <a:t>Open Source ?  Which OS ? (Ubuntu/RHEL)</a:t>
            </a:r>
          </a:p>
          <a:p>
            <a:pPr lvl="1"/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452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77E5-8B1A-6DDB-D1C5-61230F58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7BB2C-E740-86A3-38C4-3E0812E45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138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06EB-C1E5-AD12-FAC1-1D7FB3D5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9245"/>
            <a:ext cx="11607800" cy="753452"/>
          </a:xfrm>
        </p:spPr>
        <p:txBody>
          <a:bodyPr/>
          <a:lstStyle/>
          <a:p>
            <a:r>
              <a:rPr lang="en-US" dirty="0"/>
              <a:t>Results – raw (Llama 8B model)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BF6083-4435-C87A-2851-156D1DEBE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868A1-9401-7B0C-9ADE-5D72C0F0C7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100" y="1399310"/>
            <a:ext cx="11607800" cy="4771366"/>
          </a:xfrm>
        </p:spPr>
        <p:txBody>
          <a:bodyPr/>
          <a:lstStyle/>
          <a:p>
            <a:r>
              <a:rPr lang="en-US" b="1" dirty="0"/>
              <a:t>8K Context Window</a:t>
            </a:r>
            <a:r>
              <a:rPr lang="en-US" dirty="0"/>
              <a:t>🔸 </a:t>
            </a:r>
            <a:r>
              <a:rPr lang="en-US" i="1" dirty="0"/>
              <a:t>Unsaturated TTFT (1 user)</a:t>
            </a:r>
            <a:r>
              <a:rPr lang="en-US" b="1" dirty="0"/>
              <a:t>~64.0 ms~250.0 </a:t>
            </a:r>
            <a:r>
              <a:rPr lang="en-US" b="1" dirty="0" err="1"/>
              <a:t>ms</a:t>
            </a:r>
            <a:r>
              <a:rPr lang="en-US" dirty="0" err="1"/>
              <a:t>RTX’s</a:t>
            </a:r>
            <a:r>
              <a:rPr lang="en-US" dirty="0"/>
              <a:t> 2000 TOPS processes prompt matrices ~3.9x faster.🔸 </a:t>
            </a:r>
            <a:r>
              <a:rPr lang="en-US" i="1" dirty="0"/>
              <a:t>Saturated TTFT (968 users)</a:t>
            </a:r>
            <a:r>
              <a:rPr lang="en-US" b="1" dirty="0"/>
              <a:t>~7,744.0 ms~30,250.0 </a:t>
            </a:r>
            <a:r>
              <a:rPr lang="en-US" b="1" dirty="0" err="1"/>
              <a:t>ms</a:t>
            </a:r>
            <a:r>
              <a:rPr lang="en-US" dirty="0" err="1"/>
              <a:t>Compute</a:t>
            </a:r>
            <a:r>
              <a:rPr lang="en-US" dirty="0"/>
              <a:t> queues stack up uniformly as total prompt loads inflate.🔸 </a:t>
            </a:r>
            <a:r>
              <a:rPr lang="en-US" i="1" dirty="0"/>
              <a:t>Saturated ITL (per user)</a:t>
            </a:r>
            <a:r>
              <a:rPr lang="en-US" b="1" dirty="0"/>
              <a:t>~28.6 </a:t>
            </a:r>
            <a:r>
              <a:rPr lang="en-US" b="1" dirty="0" err="1"/>
              <a:t>ms</a:t>
            </a:r>
            <a:r>
              <a:rPr lang="en-US" b="1" dirty="0"/>
              <a:t> / token~156.3 </a:t>
            </a:r>
            <a:r>
              <a:rPr lang="en-US" b="1" dirty="0" err="1"/>
              <a:t>ms</a:t>
            </a:r>
            <a:r>
              <a:rPr lang="en-US" b="1" dirty="0"/>
              <a:t> / </a:t>
            </a:r>
            <a:r>
              <a:rPr lang="en-US" b="1" dirty="0" err="1"/>
              <a:t>token</a:t>
            </a:r>
            <a:r>
              <a:rPr lang="en-US" dirty="0" err="1"/>
              <a:t>RTX</a:t>
            </a:r>
            <a:r>
              <a:rPr lang="en-US" dirty="0"/>
              <a:t> reads KV data over a 2.2 TB/s bus vs. ATMOS's 400 GB/s LPDDR.</a:t>
            </a:r>
          </a:p>
          <a:p>
            <a:r>
              <a:rPr lang="en-US" b="1" dirty="0"/>
              <a:t>16K Context Window</a:t>
            </a:r>
            <a:r>
              <a:rPr lang="en-US" dirty="0"/>
              <a:t>🔸 </a:t>
            </a:r>
            <a:r>
              <a:rPr lang="en-US" i="1" dirty="0"/>
              <a:t>Unsaturated TTFT (1 user)</a:t>
            </a:r>
            <a:r>
              <a:rPr lang="en-US" b="1" dirty="0"/>
              <a:t>~128.0 ms~500.0 </a:t>
            </a:r>
            <a:r>
              <a:rPr lang="en-US" b="1" dirty="0" err="1"/>
              <a:t>ms</a:t>
            </a:r>
            <a:r>
              <a:rPr lang="en-US" dirty="0" err="1"/>
              <a:t>Processing</a:t>
            </a:r>
            <a:r>
              <a:rPr lang="en-US" dirty="0"/>
              <a:t> workload doubles precisely with the prompt size.🔸 </a:t>
            </a:r>
            <a:r>
              <a:rPr lang="en-US" i="1" dirty="0"/>
              <a:t>Saturated TTFT (484 users)</a:t>
            </a:r>
            <a:r>
              <a:rPr lang="en-US" b="1" dirty="0"/>
              <a:t>~7,680.0 ms~30,000.0 </a:t>
            </a:r>
            <a:r>
              <a:rPr lang="en-US" b="1" dirty="0" err="1"/>
              <a:t>ms</a:t>
            </a:r>
            <a:r>
              <a:rPr lang="en-US" dirty="0" err="1"/>
              <a:t>Constant</a:t>
            </a:r>
            <a:r>
              <a:rPr lang="en-US" dirty="0"/>
              <a:t> scale; half the users submit twice the prompt length.🔸 </a:t>
            </a:r>
            <a:r>
              <a:rPr lang="en-US" i="1" dirty="0"/>
              <a:t>Saturated ITL (per user)</a:t>
            </a:r>
            <a:r>
              <a:rPr lang="en-US" b="1" dirty="0"/>
              <a:t>~30.8 </a:t>
            </a:r>
            <a:r>
              <a:rPr lang="en-US" b="1" dirty="0" err="1"/>
              <a:t>ms</a:t>
            </a:r>
            <a:r>
              <a:rPr lang="en-US" b="1" dirty="0"/>
              <a:t> / token~172.4 </a:t>
            </a:r>
            <a:r>
              <a:rPr lang="en-US" b="1" dirty="0" err="1"/>
              <a:t>ms</a:t>
            </a:r>
            <a:r>
              <a:rPr lang="en-US" b="1" dirty="0"/>
              <a:t> / </a:t>
            </a:r>
            <a:r>
              <a:rPr lang="en-US" b="1" dirty="0" err="1"/>
              <a:t>token</a:t>
            </a:r>
            <a:r>
              <a:rPr lang="en-US" dirty="0" err="1"/>
              <a:t>Attention</a:t>
            </a:r>
            <a:r>
              <a:rPr lang="en-US" dirty="0"/>
              <a:t> matrices stretch out, increasing the retrieval latency overhead.</a:t>
            </a:r>
          </a:p>
          <a:p>
            <a:r>
              <a:rPr lang="en-US" b="1" dirty="0"/>
              <a:t>32K Context Window</a:t>
            </a:r>
            <a:r>
              <a:rPr lang="en-US" dirty="0"/>
              <a:t>🔸 </a:t>
            </a:r>
            <a:r>
              <a:rPr lang="en-US" i="1" dirty="0"/>
              <a:t>Unsaturated TTFT (1 user)</a:t>
            </a:r>
            <a:r>
              <a:rPr lang="en-US" b="1" dirty="0"/>
              <a:t>~256.0 ms~1,000.0 </a:t>
            </a:r>
            <a:r>
              <a:rPr lang="en-US" b="1" dirty="0" err="1"/>
              <a:t>ms</a:t>
            </a:r>
            <a:r>
              <a:rPr lang="en-US" b="1" dirty="0"/>
              <a:t> (1.0s)</a:t>
            </a:r>
            <a:r>
              <a:rPr lang="en-US" dirty="0"/>
              <a:t>Large context size pushes single-user ATMOS prefill to a full second.🔸 </a:t>
            </a:r>
            <a:r>
              <a:rPr lang="en-US" i="1" dirty="0"/>
              <a:t>Saturated TTFT (242 users)</a:t>
            </a:r>
            <a:r>
              <a:rPr lang="en-US" b="1" dirty="0"/>
              <a:t>~7,680.0 ms~30,000.0 </a:t>
            </a:r>
            <a:r>
              <a:rPr lang="en-US" b="1" dirty="0" err="1"/>
              <a:t>ms</a:t>
            </a:r>
            <a:r>
              <a:rPr lang="en-US" dirty="0" err="1"/>
              <a:t>Aggregate</a:t>
            </a:r>
            <a:r>
              <a:rPr lang="en-US" dirty="0"/>
              <a:t> node compute remains fully saturated.🔸 </a:t>
            </a:r>
            <a:r>
              <a:rPr lang="en-US" i="1" dirty="0"/>
              <a:t>Saturated ITL (per user)</a:t>
            </a:r>
            <a:r>
              <a:rPr lang="en-US" b="1" dirty="0"/>
              <a:t>~34.5 </a:t>
            </a:r>
            <a:r>
              <a:rPr lang="en-US" b="1" dirty="0" err="1"/>
              <a:t>ms</a:t>
            </a:r>
            <a:r>
              <a:rPr lang="en-US" b="1" dirty="0"/>
              <a:t> / token~204.1 </a:t>
            </a:r>
            <a:r>
              <a:rPr lang="en-US" b="1" dirty="0" err="1"/>
              <a:t>ms</a:t>
            </a:r>
            <a:r>
              <a:rPr lang="en-US" b="1" dirty="0"/>
              <a:t> / </a:t>
            </a:r>
            <a:r>
              <a:rPr lang="en-US" b="1" dirty="0" err="1"/>
              <a:t>token</a:t>
            </a:r>
            <a:r>
              <a:rPr lang="en-US" dirty="0" err="1"/>
              <a:t>Slower</a:t>
            </a:r>
            <a:r>
              <a:rPr lang="en-US" dirty="0"/>
              <a:t> LPDDR strains under deeper 32K context lookups.</a:t>
            </a:r>
          </a:p>
        </p:txBody>
      </p:sp>
    </p:spTree>
    <p:extLst>
      <p:ext uri="{BB962C8B-B14F-4D97-AF65-F5344CB8AC3E}">
        <p14:creationId xmlns:p14="http://schemas.microsoft.com/office/powerpoint/2010/main" val="18102334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C3B51-DB7C-0266-27DB-828FD3543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EF7557-FF45-7EBF-F679-3CDF33B9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– raw (deepseekv4 – 1.6T)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21EAD-AF25-5809-BD36-E0785AE244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098" y="1486127"/>
            <a:ext cx="11607801" cy="4706855"/>
          </a:xfrm>
        </p:spPr>
        <p:txBody>
          <a:bodyPr/>
          <a:lstStyle/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Performance &amp; Bottleneck Analysis</a:t>
            </a:r>
            <a:br>
              <a:rPr lang="en-US" sz="1400" dirty="0"/>
            </a:br>
            <a:r>
              <a:rPr lang="en-US" sz="1400" b="1" i="1" dirty="0"/>
              <a:t>(8x GPUs, PP + EP) </a:t>
            </a:r>
            <a:r>
              <a:rPr lang="en-US" sz="1400" dirty="0"/>
              <a:t>Next-Gen RTX Node </a:t>
            </a:r>
            <a:br>
              <a:rPr lang="en-US" sz="1400" dirty="0"/>
            </a:br>
            <a:r>
              <a:rPr lang="en-US" sz="1400" b="1" i="1" dirty="0"/>
              <a:t>(8x GPUs, Pure DP) </a:t>
            </a:r>
            <a:r>
              <a:rPr lang="en-US" sz="1400" dirty="0"/>
              <a:t>ATMOS Enterprise Node </a:t>
            </a:r>
            <a:endParaRPr lang="en-US" sz="1400" b="1" i="1" dirty="0"/>
          </a:p>
          <a:p>
            <a:r>
              <a:rPr lang="en-US" sz="1400" dirty="0"/>
              <a:t>Performance &amp; Bottleneck Analysis</a:t>
            </a:r>
            <a:endParaRPr lang="en-US" sz="1400" b="1" dirty="0"/>
          </a:p>
          <a:p>
            <a:r>
              <a:rPr lang="en-US" sz="1400" b="1" dirty="0"/>
              <a:t>128KTTFT</a:t>
            </a:r>
            <a:br>
              <a:rPr lang="en-US" sz="1400" dirty="0"/>
            </a:br>
            <a:r>
              <a:rPr lang="en-US" sz="1400" b="1" dirty="0"/>
              <a:t>TPS3.8 seconds</a:t>
            </a:r>
            <a:br>
              <a:rPr lang="en-US" sz="1400" dirty="0"/>
            </a:br>
            <a:r>
              <a:rPr lang="en-US" sz="1400" b="1" dirty="0"/>
              <a:t>~450 TPS0.8 seconds</a:t>
            </a:r>
            <a:br>
              <a:rPr lang="en-US" sz="1400" dirty="0"/>
            </a:br>
            <a:r>
              <a:rPr lang="en-US" sz="1400" b="1" dirty="0"/>
              <a:t>~1,850 TPSRTX:</a:t>
            </a:r>
            <a:r>
              <a:rPr lang="en-US" sz="1400" dirty="0"/>
              <a:t> Pipeline bottlenecks (PP) and Expert Parallelism (EP) hops across consumer PCIe slots add latency during prefill. </a:t>
            </a:r>
            <a:br>
              <a:rPr lang="en-US" sz="1400" dirty="0"/>
            </a:br>
            <a:r>
              <a:rPr lang="en-US" sz="1400" b="1" dirty="0"/>
              <a:t>ATMOS:</a:t>
            </a:r>
            <a:r>
              <a:rPr lang="en-US" sz="1400" dirty="0"/>
              <a:t> Runs unified data parallelism (DP); massive interconnect bandwidth speeds up token ingest.</a:t>
            </a:r>
          </a:p>
          <a:p>
            <a:r>
              <a:rPr lang="en-US" sz="1400" b="1" dirty="0"/>
              <a:t>512KTTFT</a:t>
            </a:r>
            <a:br>
              <a:rPr lang="en-US" sz="1400" dirty="0"/>
            </a:br>
            <a:r>
              <a:rPr lang="en-US" sz="1400" b="1" dirty="0"/>
              <a:t>TPS18.5 seconds</a:t>
            </a:r>
            <a:br>
              <a:rPr lang="en-US" sz="1400" dirty="0"/>
            </a:br>
            <a:r>
              <a:rPr lang="en-US" sz="1400" b="1" dirty="0"/>
              <a:t>~120 TPS3.2 seconds</a:t>
            </a:r>
            <a:br>
              <a:rPr lang="en-US" sz="1400" dirty="0"/>
            </a:br>
            <a:r>
              <a:rPr lang="en-US" sz="1400" b="1" dirty="0"/>
              <a:t>~850 TPSRTX:</a:t>
            </a:r>
            <a:r>
              <a:rPr lang="en-US" sz="1400" dirty="0"/>
              <a:t> Memory pooling overhead forces small micro-batching. Activation caching slows to a crawl. </a:t>
            </a:r>
            <a:br>
              <a:rPr lang="en-US" sz="1400" dirty="0"/>
            </a:br>
            <a:r>
              <a:rPr lang="en-US" sz="1400" b="1" dirty="0"/>
              <a:t>ATMOS:</a:t>
            </a:r>
            <a:r>
              <a:rPr lang="en-US" sz="1400" dirty="0"/>
              <a:t> High VRAM headroom accommodates huge batches comfortably, keeping generation lanes wide.</a:t>
            </a:r>
          </a:p>
          <a:p>
            <a:r>
              <a:rPr lang="en-US" sz="1400" b="1" dirty="0"/>
              <a:t>1MTTFT</a:t>
            </a:r>
            <a:br>
              <a:rPr lang="en-US" sz="1400" dirty="0"/>
            </a:br>
            <a:r>
              <a:rPr lang="en-US" sz="1400" b="1" dirty="0"/>
              <a:t>TPS52.0 seconds</a:t>
            </a:r>
            <a:br>
              <a:rPr lang="en-US" sz="1400" dirty="0"/>
            </a:br>
            <a:r>
              <a:rPr lang="en-US" sz="1400" b="1" dirty="0"/>
              <a:t>~25 TPS7.9 seconds</a:t>
            </a:r>
            <a:br>
              <a:rPr lang="en-US" sz="1400" dirty="0"/>
            </a:br>
            <a:r>
              <a:rPr lang="en-US" sz="1400" b="1" dirty="0"/>
              <a:t>~310 TPSRTX:</a:t>
            </a:r>
            <a:r>
              <a:rPr lang="en-US" sz="1400" dirty="0"/>
              <a:t> Near-serial processing limits performance. Prefill experiences severe latency while processing the massive 1M token window. </a:t>
            </a:r>
            <a:br>
              <a:rPr lang="en-US" sz="1400" dirty="0"/>
            </a:br>
            <a:r>
              <a:rPr lang="en-US" sz="1400" b="1" dirty="0"/>
              <a:t>ATMOS:</a:t>
            </a:r>
            <a:r>
              <a:rPr lang="en-US" sz="1400" dirty="0"/>
              <a:t> Hardware handles the complex attention matrices efficiently, keeping processing time within operational limits.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3083541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5A58-52C3-CDC9-EC8B-3A2E6872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58560"/>
            <a:ext cx="11607800" cy="849729"/>
          </a:xfrm>
        </p:spPr>
        <p:txBody>
          <a:bodyPr/>
          <a:lstStyle/>
          <a:p>
            <a:r>
              <a:rPr lang="en-US" dirty="0"/>
              <a:t>IMA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A0D96-A6DA-11E4-3181-E6A03CC7C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4EAEF-A190-87AF-6EFB-DCA090BC70C6}"/>
              </a:ext>
            </a:extLst>
          </p:cNvPr>
          <p:cNvSpPr txBox="1"/>
          <p:nvPr/>
        </p:nvSpPr>
        <p:spPr>
          <a:xfrm>
            <a:off x="7175563" y="777560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 PCIe Full Length Add-In Card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CF7551-09C4-07C1-D560-EC7A6F221B12}"/>
              </a:ext>
            </a:extLst>
          </p:cNvPr>
          <p:cNvCxnSpPr>
            <a:cxnSpLocks/>
          </p:cNvCxnSpPr>
          <p:nvPr/>
        </p:nvCxnSpPr>
        <p:spPr>
          <a:xfrm>
            <a:off x="3712189" y="2333002"/>
            <a:ext cx="276552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">
            <a:extLst>
              <a:ext uri="{FF2B5EF4-FFF2-40B4-BE49-F238E27FC236}">
                <a16:creationId xmlns:a16="http://schemas.microsoft.com/office/drawing/2014/main" id="{7A777844-A1C8-E6C0-926F-DEDFB36614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04" y="1309505"/>
            <a:ext cx="2940685" cy="25533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44B2C3-8931-7D97-A8E7-8DC678900C8D}"/>
              </a:ext>
            </a:extLst>
          </p:cNvPr>
          <p:cNvSpPr txBox="1"/>
          <p:nvPr/>
        </p:nvSpPr>
        <p:spPr>
          <a:xfrm>
            <a:off x="6096000" y="674019"/>
            <a:ext cx="12666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8-16GB LPDDR5X</a:t>
            </a:r>
          </a:p>
          <a:p>
            <a:r>
              <a:rPr lang="en-US" sz="1050" dirty="0"/>
              <a:t>@ 50GB/s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0F8D21-69F3-537A-E8B9-24EF9726B39B}"/>
              </a:ext>
            </a:extLst>
          </p:cNvPr>
          <p:cNvCxnSpPr/>
          <p:nvPr/>
        </p:nvCxnSpPr>
        <p:spPr>
          <a:xfrm>
            <a:off x="6922093" y="1008289"/>
            <a:ext cx="376015" cy="3012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A502A6-004D-E6EF-B3DD-20BF743FF22B}"/>
              </a:ext>
            </a:extLst>
          </p:cNvPr>
          <p:cNvCxnSpPr/>
          <p:nvPr/>
        </p:nvCxnSpPr>
        <p:spPr>
          <a:xfrm flipH="1">
            <a:off x="3452501" y="1546789"/>
            <a:ext cx="982766" cy="2307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94C392E-6888-2CF6-5B39-C19AF74A496E}"/>
              </a:ext>
            </a:extLst>
          </p:cNvPr>
          <p:cNvSpPr txBox="1"/>
          <p:nvPr/>
        </p:nvSpPr>
        <p:spPr>
          <a:xfrm>
            <a:off x="4396373" y="1409035"/>
            <a:ext cx="9765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Up to 128GB</a:t>
            </a:r>
          </a:p>
          <a:p>
            <a:r>
              <a:rPr lang="en-US" sz="1100" dirty="0"/>
              <a:t>@ 200 GB/s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E503A1-B288-0A3E-FE9D-45C5FEE5F1FF}"/>
              </a:ext>
            </a:extLst>
          </p:cNvPr>
          <p:cNvCxnSpPr/>
          <p:nvPr/>
        </p:nvCxnSpPr>
        <p:spPr>
          <a:xfrm flipH="1" flipV="1">
            <a:off x="3392680" y="2743200"/>
            <a:ext cx="777668" cy="3247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BD78FC4-5AC8-CB16-669B-5AA68B25E3A5}"/>
              </a:ext>
            </a:extLst>
          </p:cNvPr>
          <p:cNvSpPr txBox="1"/>
          <p:nvPr/>
        </p:nvSpPr>
        <p:spPr>
          <a:xfrm>
            <a:off x="4150612" y="2977403"/>
            <a:ext cx="9733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Up to 32 MB</a:t>
            </a: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BFF54D52-B343-0AA5-E8CD-CE4737711A9A}"/>
              </a:ext>
            </a:extLst>
          </p:cNvPr>
          <p:cNvSpPr/>
          <p:nvPr/>
        </p:nvSpPr>
        <p:spPr>
          <a:xfrm>
            <a:off x="771504" y="3862840"/>
            <a:ext cx="2877550" cy="538244"/>
          </a:xfrm>
          <a:prstGeom prst="triangle">
            <a:avLst/>
          </a:prstGeom>
          <a:solidFill>
            <a:srgbClr val="C7C7C7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442F1F9-F3E2-F8D1-F548-676CF91758EC}"/>
              </a:ext>
            </a:extLst>
          </p:cNvPr>
          <p:cNvGrpSpPr/>
          <p:nvPr/>
        </p:nvGrpSpPr>
        <p:grpSpPr>
          <a:xfrm>
            <a:off x="592410" y="4164056"/>
            <a:ext cx="3119779" cy="2157966"/>
            <a:chOff x="592410" y="4164056"/>
            <a:chExt cx="3119779" cy="2157966"/>
          </a:xfrm>
        </p:grpSpPr>
        <p:pic>
          <p:nvPicPr>
            <p:cNvPr id="49" name="Picture 48" descr="A diagram of a computer&#10;&#10;AI-generated content may be incorrect.">
              <a:extLst>
                <a:ext uri="{FF2B5EF4-FFF2-40B4-BE49-F238E27FC236}">
                  <a16:creationId xmlns:a16="http://schemas.microsoft.com/office/drawing/2014/main" id="{AC412258-F339-8C9E-2B4E-2A2EAE253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410" y="4164056"/>
              <a:ext cx="3119779" cy="2157966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C7EDB9-610C-44F2-EBDC-40A7AA41A726}"/>
                </a:ext>
              </a:extLst>
            </p:cNvPr>
            <p:cNvSpPr txBox="1"/>
            <p:nvPr/>
          </p:nvSpPr>
          <p:spPr>
            <a:xfrm>
              <a:off x="2000434" y="4561699"/>
              <a:ext cx="482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BGA</a:t>
              </a:r>
            </a:p>
          </p:txBody>
        </p: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911A606F-EBCF-ECA4-FD30-9157511ACF24}"/>
              </a:ext>
            </a:extLst>
          </p:cNvPr>
          <p:cNvGraphicFramePr>
            <a:graphicFrameLocks noGrp="1"/>
          </p:cNvGraphicFramePr>
          <p:nvPr/>
        </p:nvGraphicFramePr>
        <p:xfrm>
          <a:off x="6497404" y="4930217"/>
          <a:ext cx="4952173" cy="1324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810">
                  <a:extLst>
                    <a:ext uri="{9D8B030D-6E8A-4147-A177-3AD203B41FA5}">
                      <a16:colId xmlns:a16="http://schemas.microsoft.com/office/drawing/2014/main" val="2700981122"/>
                    </a:ext>
                  </a:extLst>
                </a:gridCol>
                <a:gridCol w="942867">
                  <a:extLst>
                    <a:ext uri="{9D8B030D-6E8A-4147-A177-3AD203B41FA5}">
                      <a16:colId xmlns:a16="http://schemas.microsoft.com/office/drawing/2014/main" val="1448574480"/>
                    </a:ext>
                  </a:extLst>
                </a:gridCol>
                <a:gridCol w="932942">
                  <a:extLst>
                    <a:ext uri="{9D8B030D-6E8A-4147-A177-3AD203B41FA5}">
                      <a16:colId xmlns:a16="http://schemas.microsoft.com/office/drawing/2014/main" val="107231465"/>
                    </a:ext>
                  </a:extLst>
                </a:gridCol>
                <a:gridCol w="1022266">
                  <a:extLst>
                    <a:ext uri="{9D8B030D-6E8A-4147-A177-3AD203B41FA5}">
                      <a16:colId xmlns:a16="http://schemas.microsoft.com/office/drawing/2014/main" val="1418429275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2248306924"/>
                    </a:ext>
                  </a:extLst>
                </a:gridCol>
              </a:tblGrid>
              <a:tr h="256316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Read 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Write 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Access (min)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29184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HBF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TB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1.6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4KB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613803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DRAM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64-128 GB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400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400 GB/s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32B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134630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SRAM (SoC)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256 MB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4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64B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347251"/>
                  </a:ext>
                </a:extLst>
              </a:tr>
              <a:tr h="267094">
                <a:tc>
                  <a:txBody>
                    <a:bodyPr/>
                    <a:lstStyle/>
                    <a:p>
                      <a:r>
                        <a:rPr lang="en-US" sz="1050" dirty="0"/>
                        <a:t>SRAM (NPU)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96 MB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&gt;10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&gt;10 TB/s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29959"/>
                  </a:ext>
                </a:extLst>
              </a:tr>
            </a:tbl>
          </a:graphicData>
        </a:graphic>
      </p:graphicFrame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C412B0-AA5E-34B3-BBB6-0AC400A06794}"/>
              </a:ext>
            </a:extLst>
          </p:cNvPr>
          <p:cNvCxnSpPr>
            <a:cxnSpLocks/>
          </p:cNvCxnSpPr>
          <p:nvPr/>
        </p:nvCxnSpPr>
        <p:spPr>
          <a:xfrm flipH="1" flipV="1">
            <a:off x="2946400" y="3592945"/>
            <a:ext cx="1102871" cy="1200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0BA6DF-B8BB-EA6D-5335-325FECF3548C}"/>
              </a:ext>
            </a:extLst>
          </p:cNvPr>
          <p:cNvSpPr txBox="1"/>
          <p:nvPr/>
        </p:nvSpPr>
        <p:spPr>
          <a:xfrm>
            <a:off x="3962318" y="3600921"/>
            <a:ext cx="13628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 64 TOPS/TFLOPS</a:t>
            </a:r>
          </a:p>
          <a:p>
            <a:r>
              <a:rPr lang="en-US" sz="1100" dirty="0"/>
              <a:t>(INT8/FP8)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FF8CDC-7ED9-0E53-F8A7-D1B9BEF17DF7}"/>
              </a:ext>
            </a:extLst>
          </p:cNvPr>
          <p:cNvGrpSpPr/>
          <p:nvPr/>
        </p:nvGrpSpPr>
        <p:grpSpPr>
          <a:xfrm>
            <a:off x="6096000" y="1124578"/>
            <a:ext cx="5584825" cy="3689350"/>
            <a:chOff x="6096000" y="1124578"/>
            <a:chExt cx="5584825" cy="3689350"/>
          </a:xfrm>
        </p:grpSpPr>
        <p:pic>
          <p:nvPicPr>
            <p:cNvPr id="8" name="Graphic 1">
              <a:extLst>
                <a:ext uri="{FF2B5EF4-FFF2-40B4-BE49-F238E27FC236}">
                  <a16:creationId xmlns:a16="http://schemas.microsoft.com/office/drawing/2014/main" id="{F6564DDF-6A79-8355-7C53-9C92041D31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6000" y="1124578"/>
              <a:ext cx="5584825" cy="3689350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0B0E00D-115C-F973-D461-6D7B0E01E7EF}"/>
                </a:ext>
              </a:extLst>
            </p:cNvPr>
            <p:cNvSpPr txBox="1"/>
            <p:nvPr/>
          </p:nvSpPr>
          <p:spPr>
            <a:xfrm>
              <a:off x="6409503" y="1331061"/>
              <a:ext cx="7296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1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D3FDAC08-139E-C35C-635B-7D2D520849F8}"/>
                </a:ext>
              </a:extLst>
            </p:cNvPr>
            <p:cNvSpPr txBox="1"/>
            <p:nvPr/>
          </p:nvSpPr>
          <p:spPr>
            <a:xfrm>
              <a:off x="7862268" y="1331061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2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CFD3595-E90E-AC50-0E87-2EAB5AFC10CA}"/>
                </a:ext>
              </a:extLst>
            </p:cNvPr>
            <p:cNvSpPr txBox="1"/>
            <p:nvPr/>
          </p:nvSpPr>
          <p:spPr>
            <a:xfrm>
              <a:off x="10058305" y="1331061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Module 8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F6CF4FF0-3151-138E-1430-2EC74F4C9705}"/>
                </a:ext>
              </a:extLst>
            </p:cNvPr>
            <p:cNvSpPr txBox="1"/>
            <p:nvPr/>
          </p:nvSpPr>
          <p:spPr>
            <a:xfrm>
              <a:off x="9957734" y="4289550"/>
              <a:ext cx="162736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NPU (FP8): 512 TFLOPS</a:t>
              </a:r>
            </a:p>
            <a:p>
              <a:r>
                <a:rPr lang="en-US" sz="1050" dirty="0"/>
                <a:t>HBF Capacity: 1 TB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41190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7B83-02BF-69F5-C443-87708AEF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9245"/>
            <a:ext cx="11632170" cy="870572"/>
          </a:xfrm>
        </p:spPr>
        <p:txBody>
          <a:bodyPr/>
          <a:lstStyle/>
          <a:p>
            <a:r>
              <a:rPr lang="en-US" b="1" dirty="0"/>
              <a:t>Technical Specifications (ATMOS) – 10X Capacity @ 1/3th Power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B3D62-36C1-D577-5C30-C87E51080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88A935-9DD7-42AC-FB20-F310FE8CA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37110"/>
              </p:ext>
            </p:extLst>
          </p:nvPr>
        </p:nvGraphicFramePr>
        <p:xfrm>
          <a:off x="292100" y="1594023"/>
          <a:ext cx="11496246" cy="49679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9429">
                  <a:extLst>
                    <a:ext uri="{9D8B030D-6E8A-4147-A177-3AD203B41FA5}">
                      <a16:colId xmlns:a16="http://schemas.microsoft.com/office/drawing/2014/main" val="2664699629"/>
                    </a:ext>
                  </a:extLst>
                </a:gridCol>
                <a:gridCol w="3248939">
                  <a:extLst>
                    <a:ext uri="{9D8B030D-6E8A-4147-A177-3AD203B41FA5}">
                      <a16:colId xmlns:a16="http://schemas.microsoft.com/office/drawing/2014/main" val="3975626192"/>
                    </a:ext>
                  </a:extLst>
                </a:gridCol>
                <a:gridCol w="3248939">
                  <a:extLst>
                    <a:ext uri="{9D8B030D-6E8A-4147-A177-3AD203B41FA5}">
                      <a16:colId xmlns:a16="http://schemas.microsoft.com/office/drawing/2014/main" val="2343148627"/>
                    </a:ext>
                  </a:extLst>
                </a:gridCol>
                <a:gridCol w="3248939">
                  <a:extLst>
                    <a:ext uri="{9D8B030D-6E8A-4147-A177-3AD203B41FA5}">
                      <a16:colId xmlns:a16="http://schemas.microsoft.com/office/drawing/2014/main" val="2700663467"/>
                    </a:ext>
                  </a:extLst>
                </a:gridCol>
              </a:tblGrid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Component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Specification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accent3"/>
                          </a:solidFill>
                          <a:effectLst/>
                        </a:rPr>
                        <a:t>ATMOS (8 Modules)</a:t>
                      </a:r>
                      <a:endParaRPr lang="en-US" sz="1400" b="1" kern="100" dirty="0">
                        <a:solidFill>
                          <a:schemeClr val="accent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UNDER CONSIDERATION ------ATMOS (4 Modules)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65961105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HBF Capacity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Unified Memory Fabric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1024 GiB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512 GiB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74968023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HBF Bandwidth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Read/Write Peak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1600/96 GiB/s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800/48 GiB/s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026329857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NPU Modules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Configurable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8 Modules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4 Modules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73689752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Compute Power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TOPS Range (INT8/FP8/BF16)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512 TOPS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256 TOPS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19591780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Power Profiles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Performance/Efficiency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&lt;200W / ~100W (Active Air Cooled)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&lt;100W / ~80W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12347693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Host Interface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PCIe Connectivity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Gen5 x16 (Gen 6 opt)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Gen5 x16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34596488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Form Factor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Physical Design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FH-FL, Dual-slot</a:t>
                      </a:r>
                      <a:endParaRPr lang="en-US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FH-FL, Dual-slot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97205000"/>
                  </a:ext>
                </a:extLst>
              </a:tr>
              <a:tr h="504568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Persistence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Non-volatile Model  Storage (Data at Rest Encryption)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r>
                        <a:rPr lang="en-US" sz="1050" b="1" kern="100" dirty="0">
                          <a:effectLst/>
                          <a:latin typeface="Pilat" panose="020B0503030000000004" pitchFamily="34" charset="0"/>
                          <a:ea typeface="Times New Roman" panose="02020603050405020304" pitchFamily="18" charset="0"/>
                        </a:rPr>
                        <a:t>Encryption: AES-XTS 256</a:t>
                      </a:r>
                      <a:endParaRPr lang="en-US" sz="1050" b="1" dirty="0">
                        <a:latin typeface="Pilat" panose="020B0503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00" dirty="0">
                          <a:effectLst/>
                          <a:latin typeface="Pilat" panose="020B0503030000000004" pitchFamily="34" charset="0"/>
                          <a:ea typeface="Times New Roman" panose="02020603050405020304" pitchFamily="18" charset="0"/>
                        </a:rPr>
                        <a:t>Encryption: AES-XTS 256</a:t>
                      </a:r>
                      <a:endParaRPr lang="en-US" sz="1050" b="0" dirty="0">
                        <a:latin typeface="Pilat" panose="020B0503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27122"/>
                  </a:ext>
                </a:extLst>
              </a:tr>
              <a:tr h="504568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DRAM</a:t>
                      </a: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LPDDR5 </a:t>
                      </a: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Pilat" panose="020B0503030000000004" pitchFamily="34" charset="0"/>
                        </a:rPr>
                        <a:t>64-128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Pilat" panose="020B0503030000000004" pitchFamily="34" charset="0"/>
                        </a:rPr>
                        <a:t>32-64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44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14564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92562-4D32-873F-B6EA-BD55FB693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37188-BBB6-F5C1-CDBD-62972A99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VERTICALS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420AEA-237C-C613-9F6A-8FF6B43BD0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099" y="1519518"/>
            <a:ext cx="11607801" cy="4651157"/>
          </a:xfrm>
        </p:spPr>
        <p:txBody>
          <a:bodyPr/>
          <a:lstStyle/>
          <a:p>
            <a:r>
              <a:rPr lang="en-US" dirty="0"/>
              <a:t>Financial Sector  -</a:t>
            </a:r>
            <a:r>
              <a:rPr lang="en-US" dirty="0">
                <a:sym typeface="Wingdings" pitchFamily="2" charset="2"/>
              </a:rPr>
              <a:t> DELL (OEM)  JPMC, GS </a:t>
            </a:r>
            <a:r>
              <a:rPr lang="en-US" dirty="0" err="1">
                <a:sym typeface="Wingdings" pitchFamily="2" charset="2"/>
              </a:rPr>
              <a:t>etc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Healthcare Sector  HPE (OEM)  Athena, others ? </a:t>
            </a:r>
          </a:p>
          <a:p>
            <a:r>
              <a:rPr lang="en-US" dirty="0">
                <a:sym typeface="Wingdings" pitchFamily="2" charset="2"/>
              </a:rPr>
              <a:t>Telecom Sector  CISCO/UCS (OEM)  Comcast, </a:t>
            </a:r>
            <a:r>
              <a:rPr lang="en-US" dirty="0" err="1">
                <a:sym typeface="Wingdings" pitchFamily="2" charset="2"/>
              </a:rPr>
              <a:t>At&amp;T</a:t>
            </a:r>
            <a:r>
              <a:rPr lang="en-US" dirty="0">
                <a:sym typeface="Wingdings" pitchFamily="2" charset="2"/>
              </a:rPr>
              <a:t>, Verizon, …. BT ..all across the world</a:t>
            </a:r>
          </a:p>
          <a:p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HOW ABOUT HPC- MARKETS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	1. is use of LLMs being adopted ?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	2. are there any Transformer based models (other than LLMs) which fit ATMOS profile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334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FBB0-5FC1-9A61-3A06-7E64F766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C6578-43A4-C935-A205-6269B0311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A500D-E30C-84E7-3797-82F2DA3233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are the OS (Ubuntu/RHEL/Windows) you bundle with your solutions ?</a:t>
            </a:r>
          </a:p>
          <a:p>
            <a:r>
              <a:rPr lang="en-US" dirty="0"/>
              <a:t>What are the models(LLMs and others)  most commonly deployed for your verticals ?</a:t>
            </a:r>
          </a:p>
          <a:p>
            <a:r>
              <a:rPr lang="en-US" dirty="0"/>
              <a:t>What level of support do you bundle with your solutions ?</a:t>
            </a:r>
          </a:p>
          <a:p>
            <a:r>
              <a:rPr lang="en-US" dirty="0"/>
              <a:t>What Inference Engines  NVIDIA Dynamo, </a:t>
            </a:r>
            <a:r>
              <a:rPr lang="en-US" dirty="0" err="1"/>
              <a:t>vLLM</a:t>
            </a:r>
            <a:r>
              <a:rPr lang="en-US" dirty="0"/>
              <a:t> or </a:t>
            </a:r>
            <a:r>
              <a:rPr lang="en-US" dirty="0" err="1"/>
              <a:t>SGLang</a:t>
            </a:r>
            <a:r>
              <a:rPr lang="en-US" dirty="0"/>
              <a:t> ?</a:t>
            </a:r>
          </a:p>
          <a:p>
            <a:r>
              <a:rPr lang="en-US" dirty="0"/>
              <a:t>What CUDA-like libraries are a must-have (</a:t>
            </a:r>
            <a:r>
              <a:rPr lang="en-US" dirty="0" err="1"/>
              <a:t>cuGraph</a:t>
            </a:r>
            <a:r>
              <a:rPr lang="en-US" dirty="0"/>
              <a:t> etc..) for your solutions ?</a:t>
            </a:r>
          </a:p>
          <a:p>
            <a:r>
              <a:rPr lang="en-US" dirty="0"/>
              <a:t>Should we open source our drivers/compilers/tools </a:t>
            </a:r>
            <a:r>
              <a:rPr lang="en-US" dirty="0" err="1"/>
              <a:t>etc</a:t>
            </a:r>
            <a:r>
              <a:rPr lang="en-US" dirty="0"/>
              <a:t> ?</a:t>
            </a:r>
          </a:p>
          <a:p>
            <a:r>
              <a:rPr lang="en-US" dirty="0"/>
              <a:t>Which 3</a:t>
            </a:r>
            <a:r>
              <a:rPr lang="en-US" baseline="30000" dirty="0"/>
              <a:t>rd</a:t>
            </a:r>
            <a:r>
              <a:rPr lang="en-US" dirty="0"/>
              <a:t> party Solution providers/ISV/VARs should we engage with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770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andisk Corporate PPT v2">
  <a:themeElements>
    <a:clrScheme name="Sandisk Corporate Colors 021625">
      <a:dk1>
        <a:srgbClr val="000000"/>
      </a:dk1>
      <a:lt1>
        <a:srgbClr val="FFFCF9"/>
      </a:lt1>
      <a:dk2>
        <a:srgbClr val="000000"/>
      </a:dk2>
      <a:lt2>
        <a:srgbClr val="FFFCF9"/>
      </a:lt2>
      <a:accent1>
        <a:srgbClr val="BCBCBC"/>
      </a:accent1>
      <a:accent2>
        <a:srgbClr val="772C22"/>
      </a:accent2>
      <a:accent3>
        <a:srgbClr val="E10600"/>
      </a:accent3>
      <a:accent4>
        <a:srgbClr val="BCBCBC"/>
      </a:accent4>
      <a:accent5>
        <a:srgbClr val="772C22"/>
      </a:accent5>
      <a:accent6>
        <a:srgbClr val="E10600"/>
      </a:accent6>
      <a:hlink>
        <a:srgbClr val="E10600"/>
      </a:hlink>
      <a:folHlink>
        <a:srgbClr val="772C22"/>
      </a:folHlink>
    </a:clrScheme>
    <a:fontScheme name="Sandisk Fonts 1.1">
      <a:majorFont>
        <a:latin typeface="Pilat Book"/>
        <a:ea typeface=""/>
        <a:cs typeface=""/>
      </a:majorFont>
      <a:minorFont>
        <a:latin typeface="Pil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disk Corporate PPT v2" id="{9E6F1A95-E288-4F19-A5B4-EE8E5C4D3665}" vid="{95DF07C8-DE36-4DBE-BC1D-3503C1BB345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E001C8A6F88F4E95B810C2A4B7DA72" ma:contentTypeVersion="7" ma:contentTypeDescription="Create a new document." ma:contentTypeScope="" ma:versionID="3d8e1cb046558a204400bf0a4132e7aa">
  <xsd:schema xmlns:xsd="http://www.w3.org/2001/XMLSchema" xmlns:xs="http://www.w3.org/2001/XMLSchema" xmlns:p="http://schemas.microsoft.com/office/2006/metadata/properties" xmlns:ns2="fe6b4478-c776-4017-87bf-2f50b4489ba1" targetNamespace="http://schemas.microsoft.com/office/2006/metadata/properties" ma:root="true" ma:fieldsID="3feec101fe7cd4fca57bab9fe2e1be0a" ns2:_="">
    <xsd:import namespace="fe6b4478-c776-4017-87bf-2f50b4489b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6b4478-c776-4017-87bf-2f50b4489b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25C36A-6343-4C2B-9013-6FA76B56048C}">
  <ds:schemaRefs>
    <ds:schemaRef ds:uri="http://schemas.openxmlformats.org/package/2006/metadata/core-properties"/>
    <ds:schemaRef ds:uri="http://purl.org/dc/dcmitype/"/>
    <ds:schemaRef ds:uri="fe6b4478-c776-4017-87bf-2f50b4489ba1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ADAC103-8232-4870-A0CC-B534A2A729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6b4478-c776-4017-87bf-2f50b4489b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DFC830-3D8B-49D2-BB3E-52F74090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168997</TotalTime>
  <Words>1907</Words>
  <Application>Microsoft Macintosh PowerPoint</Application>
  <PresentationFormat>Widescreen</PresentationFormat>
  <Paragraphs>241</Paragraphs>
  <Slides>18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NB Architekt Pro Neue</vt:lpstr>
      <vt:lpstr>Pilat</vt:lpstr>
      <vt:lpstr>Pilat Book</vt:lpstr>
      <vt:lpstr>Pilat Regular</vt:lpstr>
      <vt:lpstr>Times New Roman</vt:lpstr>
      <vt:lpstr>Wingdings</vt:lpstr>
      <vt:lpstr>Sandisk Corporate PPT v2</vt:lpstr>
      <vt:lpstr>Office Theme</vt:lpstr>
      <vt:lpstr>ATMOS Product Introduction …    </vt:lpstr>
      <vt:lpstr>Background – HBF as a xPU Memory Tier ! </vt:lpstr>
      <vt:lpstr>Introduction</vt:lpstr>
      <vt:lpstr>Challenges in deploying enterprise LLMs on premises LLMs continue to  get larger (in terms of parameters &amp; size), and no longer FIT into a single GPU</vt:lpstr>
      <vt:lpstr>PowerPoint Presentation</vt:lpstr>
      <vt:lpstr>Experiments across these 2 workloads</vt:lpstr>
      <vt:lpstr>PowerPoint Presentation</vt:lpstr>
      <vt:lpstr>PowerPoint Presentation</vt:lpstr>
      <vt:lpstr>PowerPoint Presentation</vt:lpstr>
      <vt:lpstr>PowerPoint Presentation</vt:lpstr>
      <vt:lpstr>Feedback &amp; Discussion</vt:lpstr>
      <vt:lpstr>BACKUP</vt:lpstr>
      <vt:lpstr>Results – raw (Llama 8B model)</vt:lpstr>
      <vt:lpstr>Data – raw (deepseekv4 – 1.6T)</vt:lpstr>
      <vt:lpstr>IMA Card</vt:lpstr>
      <vt:lpstr>Technical Specifications (ATMOS) – 10X Capacity @ 1/3th Power </vt:lpstr>
      <vt:lpstr>TARGET VERTICALS</vt:lpstr>
      <vt:lpstr>ASKs…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Petti</dc:creator>
  <cp:lastModifiedBy>Gopal Sharma</cp:lastModifiedBy>
  <cp:revision>81</cp:revision>
  <dcterms:created xsi:type="dcterms:W3CDTF">2025-03-11T15:48:39Z</dcterms:created>
  <dcterms:modified xsi:type="dcterms:W3CDTF">2026-08-17T22:34:29Z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0x01010014E001C8A6F88F4E95B810C2A4B7DA72</vt:lpwstr>
  </property>
</Properties>
</file>