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912" r:id="rId4"/>
  </p:sldMasterIdLst>
  <p:notesMasterIdLst>
    <p:notesMasterId r:id="rId20"/>
  </p:notesMasterIdLst>
  <p:sldIdLst>
    <p:sldId id="2147483632" r:id="rId5"/>
    <p:sldId id="257" r:id="rId6"/>
    <p:sldId id="258" r:id="rId7"/>
    <p:sldId id="2147483633" r:id="rId8"/>
    <p:sldId id="2147483636" r:id="rId9"/>
    <p:sldId id="2147483637" r:id="rId10"/>
    <p:sldId id="2147483638" r:id="rId11"/>
    <p:sldId id="267" r:id="rId12"/>
    <p:sldId id="2147483635" r:id="rId13"/>
    <p:sldId id="269" r:id="rId14"/>
    <p:sldId id="271" r:id="rId15"/>
    <p:sldId id="273" r:id="rId16"/>
    <p:sldId id="2147483631" r:id="rId17"/>
    <p:sldId id="263" r:id="rId18"/>
    <p:sldId id="264" r:id="rId19"/>
  </p:sldIdLst>
  <p:sldSz cx="12192000" cy="6858000"/>
  <p:notesSz cx="6858000" cy="9144000"/>
  <p:defaultTextStyle>
    <a:defPPr>
      <a:defRPr lang="en-US"/>
    </a:defPPr>
    <a:lvl1pPr marL="0" algn="l" defTabSz="914311" rtl="0" eaLnBrk="1" latinLnBrk="0" hangingPunct="1">
      <a:defRPr sz="1800" kern="1200">
        <a:solidFill>
          <a:schemeClr val="tx1"/>
        </a:solidFill>
        <a:latin typeface="+mn-lt"/>
        <a:ea typeface="+mn-ea"/>
        <a:cs typeface="+mn-cs"/>
      </a:defRPr>
    </a:lvl1pPr>
    <a:lvl2pPr marL="457156" algn="l" defTabSz="914311" rtl="0" eaLnBrk="1" latinLnBrk="0" hangingPunct="1">
      <a:defRPr sz="1800" kern="1200">
        <a:solidFill>
          <a:schemeClr val="tx1"/>
        </a:solidFill>
        <a:latin typeface="+mn-lt"/>
        <a:ea typeface="+mn-ea"/>
        <a:cs typeface="+mn-cs"/>
      </a:defRPr>
    </a:lvl2pPr>
    <a:lvl3pPr marL="914311" algn="l" defTabSz="914311" rtl="0" eaLnBrk="1" latinLnBrk="0" hangingPunct="1">
      <a:defRPr sz="1800" kern="1200">
        <a:solidFill>
          <a:schemeClr val="tx1"/>
        </a:solidFill>
        <a:latin typeface="+mn-lt"/>
        <a:ea typeface="+mn-ea"/>
        <a:cs typeface="+mn-cs"/>
      </a:defRPr>
    </a:lvl3pPr>
    <a:lvl4pPr marL="1371468" algn="l" defTabSz="914311" rtl="0" eaLnBrk="1" latinLnBrk="0" hangingPunct="1">
      <a:defRPr sz="1800" kern="1200">
        <a:solidFill>
          <a:schemeClr val="tx1"/>
        </a:solidFill>
        <a:latin typeface="+mn-lt"/>
        <a:ea typeface="+mn-ea"/>
        <a:cs typeface="+mn-cs"/>
      </a:defRPr>
    </a:lvl4pPr>
    <a:lvl5pPr marL="1828623" algn="l" defTabSz="914311" rtl="0" eaLnBrk="1" latinLnBrk="0" hangingPunct="1">
      <a:defRPr sz="1800" kern="1200">
        <a:solidFill>
          <a:schemeClr val="tx1"/>
        </a:solidFill>
        <a:latin typeface="+mn-lt"/>
        <a:ea typeface="+mn-ea"/>
        <a:cs typeface="+mn-cs"/>
      </a:defRPr>
    </a:lvl5pPr>
    <a:lvl6pPr marL="2285779" algn="l" defTabSz="914311" rtl="0" eaLnBrk="1" latinLnBrk="0" hangingPunct="1">
      <a:defRPr sz="1800" kern="1200">
        <a:solidFill>
          <a:schemeClr val="tx1"/>
        </a:solidFill>
        <a:latin typeface="+mn-lt"/>
        <a:ea typeface="+mn-ea"/>
        <a:cs typeface="+mn-cs"/>
      </a:defRPr>
    </a:lvl6pPr>
    <a:lvl7pPr marL="2742934" algn="l" defTabSz="914311" rtl="0" eaLnBrk="1" latinLnBrk="0" hangingPunct="1">
      <a:defRPr sz="1800" kern="1200">
        <a:solidFill>
          <a:schemeClr val="tx1"/>
        </a:solidFill>
        <a:latin typeface="+mn-lt"/>
        <a:ea typeface="+mn-ea"/>
        <a:cs typeface="+mn-cs"/>
      </a:defRPr>
    </a:lvl7pPr>
    <a:lvl8pPr marL="3200090" algn="l" defTabSz="914311" rtl="0" eaLnBrk="1" latinLnBrk="0" hangingPunct="1">
      <a:defRPr sz="1800" kern="1200">
        <a:solidFill>
          <a:schemeClr val="tx1"/>
        </a:solidFill>
        <a:latin typeface="+mn-lt"/>
        <a:ea typeface="+mn-ea"/>
        <a:cs typeface="+mn-cs"/>
      </a:defRPr>
    </a:lvl8pPr>
    <a:lvl9pPr marL="3657246" algn="l" defTabSz="914311"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F800"/>
    <a:srgbClr val="C2F88A"/>
    <a:srgbClr val="A1F87C"/>
    <a:srgbClr val="A2E1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67"/>
    <p:restoredTop sz="91652"/>
  </p:normalViewPr>
  <p:slideViewPr>
    <p:cSldViewPr snapToGrid="0">
      <p:cViewPr varScale="1">
        <p:scale>
          <a:sx n="155" d="100"/>
          <a:sy n="155" d="100"/>
        </p:scale>
        <p:origin x="216" y="888"/>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stacked"/>
        <c:varyColors val="0"/>
        <c:ser>
          <c:idx val="0"/>
          <c:order val="0"/>
          <c:tx>
            <c:strRef>
              <c:f>Sheet1!$B$1</c:f>
              <c:strCache>
                <c:ptCount val="1"/>
                <c:pt idx="0">
                  <c:v>Prefill</c:v>
                </c:pt>
              </c:strCache>
            </c:strRef>
          </c:tx>
          <c:spPr>
            <a:solidFill>
              <a:srgbClr val="075985"/>
            </a:solidFill>
            <a:effectLst/>
          </c:spPr>
          <c:invertIfNegative val="0"/>
          <c:dLbls>
            <c:numFmt formatCode="#,##0" sourceLinked="0"/>
            <c:spPr>
              <a:noFill/>
              <a:ln>
                <a:noFill/>
              </a:ln>
              <a:effectLst/>
            </c:spPr>
            <c:txPr>
              <a:bodyPr/>
              <a:lstStyle/>
              <a:p>
                <a:pPr>
                  <a:defRPr sz="1200" b="0"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4K / 256 out</c:v>
                </c:pt>
                <c:pt idx="1">
                  <c:v>8K / 512 out</c:v>
                </c:pt>
                <c:pt idx="2">
                  <c:v>32K / 1,024 out</c:v>
                </c:pt>
              </c:strCache>
            </c:strRef>
          </c:cat>
          <c:val>
            <c:numRef>
              <c:f>Sheet1!$B$2:$B$4</c:f>
              <c:numCache>
                <c:formatCode>General</c:formatCode>
                <c:ptCount val="3"/>
                <c:pt idx="0">
                  <c:v>2</c:v>
                </c:pt>
                <c:pt idx="1">
                  <c:v>6</c:v>
                </c:pt>
                <c:pt idx="2">
                  <c:v>20</c:v>
                </c:pt>
              </c:numCache>
            </c:numRef>
          </c:val>
          <c:extLst>
            <c:ext xmlns:c16="http://schemas.microsoft.com/office/drawing/2014/chart" uri="{C3380CC4-5D6E-409C-BE32-E72D297353CC}">
              <c16:uniqueId val="{00000000-A6B2-6E41-A313-77FF44167757}"/>
            </c:ext>
          </c:extLst>
        </c:ser>
        <c:ser>
          <c:idx val="1"/>
          <c:order val="1"/>
          <c:tx>
            <c:strRef>
              <c:f>Sheet1!$C$1</c:f>
              <c:strCache>
                <c:ptCount val="1"/>
                <c:pt idx="0">
                  <c:v>Decode</c:v>
                </c:pt>
              </c:strCache>
            </c:strRef>
          </c:tx>
          <c:spPr>
            <a:solidFill>
              <a:srgbClr val="772C22"/>
            </a:solidFill>
            <a:effectLst/>
          </c:spPr>
          <c:invertIfNegative val="0"/>
          <c:dLbls>
            <c:numFmt formatCode="#,##0" sourceLinked="0"/>
            <c:spPr>
              <a:noFill/>
              <a:ln>
                <a:noFill/>
              </a:ln>
              <a:effectLst/>
            </c:spPr>
            <c:txPr>
              <a:bodyPr/>
              <a:lstStyle/>
              <a:p>
                <a:pPr>
                  <a:defRPr sz="1200" b="0"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4K / 256 out</c:v>
                </c:pt>
                <c:pt idx="1">
                  <c:v>8K / 512 out</c:v>
                </c:pt>
                <c:pt idx="2">
                  <c:v>32K / 1,024 out</c:v>
                </c:pt>
              </c:strCache>
            </c:strRef>
          </c:cat>
          <c:val>
            <c:numRef>
              <c:f>Sheet1!$C$2:$C$4</c:f>
              <c:numCache>
                <c:formatCode>General</c:formatCode>
                <c:ptCount val="3"/>
                <c:pt idx="0">
                  <c:v>12</c:v>
                </c:pt>
                <c:pt idx="1">
                  <c:v>28</c:v>
                </c:pt>
                <c:pt idx="2">
                  <c:v>80</c:v>
                </c:pt>
              </c:numCache>
            </c:numRef>
          </c:val>
          <c:extLst>
            <c:ext xmlns:c16="http://schemas.microsoft.com/office/drawing/2014/chart" uri="{C3380CC4-5D6E-409C-BE32-E72D297353CC}">
              <c16:uniqueId val="{00000001-A6B2-6E41-A313-77FF44167757}"/>
            </c:ext>
          </c:extLst>
        </c:ser>
        <c:ser>
          <c:idx val="2"/>
          <c:order val="2"/>
          <c:tx>
            <c:strRef>
              <c:f>Sheet1!$D$1</c:f>
              <c:strCache>
                <c:ptCount val="1"/>
                <c:pt idx="0">
                  <c:v>Exposed tier / launch</c:v>
                </c:pt>
              </c:strCache>
            </c:strRef>
          </c:tx>
          <c:spPr>
            <a:solidFill>
              <a:srgbClr val="D28A10"/>
            </a:solidFill>
            <a:effectLst/>
          </c:spPr>
          <c:invertIfNegative val="0"/>
          <c:dLbls>
            <c:numFmt formatCode="#,##0" sourceLinked="0"/>
            <c:spPr>
              <a:noFill/>
              <a:ln>
                <a:noFill/>
              </a:ln>
              <a:effectLst/>
            </c:spPr>
            <c:txPr>
              <a:bodyPr/>
              <a:lstStyle/>
              <a:p>
                <a:pPr>
                  <a:defRPr sz="1200" b="0"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4K / 256 out</c:v>
                </c:pt>
                <c:pt idx="1">
                  <c:v>8K / 512 out</c:v>
                </c:pt>
                <c:pt idx="2">
                  <c:v>32K / 1,024 out</c:v>
                </c:pt>
              </c:strCache>
            </c:strRef>
          </c:cat>
          <c:val>
            <c:numRef>
              <c:f>Sheet1!$D$2:$D$4</c:f>
              <c:numCache>
                <c:formatCode>General</c:formatCode>
                <c:ptCount val="3"/>
                <c:pt idx="0">
                  <c:v>2</c:v>
                </c:pt>
                <c:pt idx="1">
                  <c:v>6</c:v>
                </c:pt>
                <c:pt idx="2">
                  <c:v>20</c:v>
                </c:pt>
              </c:numCache>
            </c:numRef>
          </c:val>
          <c:extLst>
            <c:ext xmlns:c16="http://schemas.microsoft.com/office/drawing/2014/chart" uri="{C3380CC4-5D6E-409C-BE32-E72D297353CC}">
              <c16:uniqueId val="{00000002-A6B2-6E41-A313-77FF44167757}"/>
            </c:ext>
          </c:extLst>
        </c:ser>
        <c:dLbls>
          <c:dLblPos val="ctr"/>
          <c:showLegendKey val="0"/>
          <c:showVal val="1"/>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ED8D2"/>
            </a:solidFill>
            <a:prstDash val="solid"/>
            <a:round/>
          </a:ln>
        </c:spPr>
        <c:txPr>
          <a:bodyPr/>
          <a:lstStyle/>
          <a:p>
            <a:pPr>
              <a:defRPr sz="1100" b="0" i="0" u="none" strike="noStrike">
                <a:solidFill>
                  <a:srgbClr val="686868"/>
                </a:solidFill>
                <a:latin typeface="Aptos"/>
              </a:defRPr>
            </a:pPr>
            <a:endParaRPr lang="en-US"/>
          </a:p>
        </c:txPr>
        <c:crossAx val="2094734552"/>
        <c:crosses val="autoZero"/>
        <c:auto val="1"/>
        <c:lblAlgn val="ctr"/>
        <c:lblOffset val="100"/>
        <c:noMultiLvlLbl val="1"/>
      </c:catAx>
      <c:valAx>
        <c:axId val="2094734552"/>
        <c:scaling>
          <c:orientation val="minMax"/>
          <c:max val="140"/>
          <c:min val="0"/>
        </c:scaling>
        <c:delete val="0"/>
        <c:axPos val="l"/>
        <c:majorGridlines>
          <c:spPr>
            <a:ln w="12700" cap="flat">
              <a:solidFill>
                <a:srgbClr val="E8E2DC"/>
              </a:solidFill>
              <a:prstDash val="solid"/>
              <a:round/>
            </a:ln>
          </c:spPr>
        </c:majorGridlines>
        <c:title>
          <c:tx>
            <c:rich>
              <a:bodyPr/>
              <a:lstStyle/>
              <a:p>
                <a:pPr>
                  <a:defRPr sz="1100" b="0" i="0" u="none" strike="noStrike">
                    <a:solidFill>
                      <a:srgbClr val="000000"/>
                    </a:solidFill>
                    <a:latin typeface="Arial"/>
                  </a:defRPr>
                </a:pPr>
                <a:r>
                  <a:rPr lang="en-IN" sz="1100" b="0" i="0" u="none" strike="noStrike">
                    <a:solidFill>
                      <a:srgbClr val="000000"/>
                    </a:solidFill>
                    <a:latin typeface="Arial"/>
                  </a:rPr>
                  <a:t>Seconds</a:t>
                </a:r>
              </a:p>
            </c:rich>
          </c:tx>
          <c:overlay val="0"/>
        </c:title>
        <c:numFmt formatCode="General" sourceLinked="0"/>
        <c:majorTickMark val="out"/>
        <c:minorTickMark val="none"/>
        <c:tickLblPos val="nextTo"/>
        <c:spPr>
          <a:ln w="12700" cap="flat">
            <a:solidFill>
              <a:srgbClr val="DED8D2"/>
            </a:solidFill>
            <a:prstDash val="solid"/>
            <a:round/>
          </a:ln>
        </c:spPr>
        <c:txPr>
          <a:bodyPr/>
          <a:lstStyle/>
          <a:p>
            <a:pPr>
              <a:defRPr sz="1100" b="0" i="0" u="none" strike="noStrike">
                <a:solidFill>
                  <a:srgbClr val="686868"/>
                </a:solidFill>
                <a:latin typeface="Aptos"/>
              </a:defRPr>
            </a:pPr>
            <a:endParaRPr lang="en-US"/>
          </a:p>
        </c:txPr>
        <c:crossAx val="2094734554"/>
        <c:crosses val="autoZero"/>
        <c:crossBetween val="between"/>
        <c:majorUnit val="20"/>
      </c:valAx>
      <c:spPr>
        <a:solidFill>
          <a:srgbClr val="FFFCF9"/>
        </a:solidFill>
        <a:ln>
          <a:noFill/>
        </a:ln>
        <a:effectLst/>
      </c:spPr>
    </c:plotArea>
    <c:legend>
      <c:legendPos val="b"/>
      <c:overlay val="0"/>
      <c:txPr>
        <a:bodyPr/>
        <a:lstStyle/>
        <a:p>
          <a:pPr>
            <a:defRPr sz="1100">
              <a:latin typeface="Aptos"/>
              <a:cs typeface="Aptos"/>
            </a:defRPr>
          </a:pPr>
          <a:endParaRPr lang="en-US"/>
        </a:p>
      </c:txPr>
    </c:legend>
    <c:plotVisOnly val="1"/>
    <c:dispBlanksAs val="span"/>
    <c:showDLblsOverMax val="1"/>
  </c:chart>
  <c:spPr>
    <a:solidFill>
      <a:srgbClr val="FFFCF9"/>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532D31-3FC5-9648-95B8-BD2187FB6E3A}" type="datetimeFigureOut">
              <a:rPr lang="en-US" smtClean="0"/>
              <a:t>9/13/26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3F16D2-43BF-1348-88B2-93FE7C0303F5}" type="slidenum">
              <a:rPr lang="en-US" smtClean="0"/>
              <a:t>‹#›</a:t>
            </a:fld>
            <a:endParaRPr lang="en-US"/>
          </a:p>
        </p:txBody>
      </p:sp>
    </p:spTree>
    <p:extLst>
      <p:ext uri="{BB962C8B-B14F-4D97-AF65-F5344CB8AC3E}">
        <p14:creationId xmlns:p14="http://schemas.microsoft.com/office/powerpoint/2010/main" val="1065072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Eight compute-and-memory modules form one ATMOS card
EVIDENCE: SOURCE DESIGN TARGETS
TALK TRACK
The supplied card concept contains eight local NPU/HBF/LPDDR modules. Larger model capacity can stay on the card, while local working memory handles active state. This is the physical basis for the proposed finer-grained serving model.
DETAILS AND LIMITS
The IMA diagram lists up to 128 GB HBF and 8–16 GB LPDDR per module, plus local SRAM/NoC. V5 normalizes the card HBF direction to 1,000 decimal GB when calculating reserve budgets, rather than mixing GB and GiB. Card-level working memory uses the upper 128 GB option only where labeled. The 200 W class comes from the supplied product direction, not measured consumption. Mixed TOPS/TFLOPS source labels are not used to predict throughput.
SOURCES — reviewed September 13, 2026
I3: IMA Card, user-supplied September 12 screenshot, marked 00.014
User-supplied internal material
Eight NPU/HBF/LPDDR modules; 128 GB and 200 GB/s HBF/module, 8–16 GB and 50 GB/s LPDDR/module; Gen6 x4 module and Gen5 x16 card connections. Revision-dependent.
I1: SNDK-ATMOS-Customer-v3(1).pptx
User-supplied internal material
Narrative, warm theme, chart families; illustrative winning regions are not validated results.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Make the customer’s time budget visible
EVIDENCE: ILLUSTRATIVE SERVICE BUDGETS
TALK TRACK
Rather than arbitrary unit-less platform latency bars, the service has explicit request shapes and time budgets. These inputs let us calculate concurrency and discuss which spans hardware or scheduling could improve. They are not a prediction of either platform.
DETAILS AND LIMITS
D7 totals 16/40/120 seconds from prefill, decode and exposed-tier/launch components. These are the same assumed mean active times as D2. Decode targets imply different output rates, but no hardware profile has established them. API queue, retrieval, OCR, external tool waits and result writing are separate spans. For a 120-second LLM step plus 10 seconds of serial tools, the combined time is 130 seconds before other stages. Do not sum per-stage p99s into an end-to-end p99 or label these means as SLO results.
CALCULATION FILES
D7_time_budgets
SOURCES — reviewed September 13, 2026
I7: ATMOS Financial Services AI Workload and GTM Reference v2
User-supplied internal material
Multi-model private inference, reviewed sector workflows, smallest suitable model, hybrid routing.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Compare a complete serving group—not just card capacity
EVIDENCE: CAPACITY-LED PLACEMENT EXAMPLE
TALK TRACK
ATMOS may reduce capacity-driven inter-card sharding for a large model. But a complete card still coordinates eight modules. The fair result is the accepted throughput and operating cost of a complete serving group, not a simple ratio of HBF and GDDR capacities.
DETAILS AND LIMITS
D5 assumes a 250 GB compiled pack for a 235B-class FP8 model, not a verified checkpoint size: about 235 GB raw plus a provisional layout allowance. Four RTX cards provide 384 GB; reserving 38.4 GB leaves 95.6 GB KV after weights. ATMOS stores the pack within a 900 GB HBF budget and separately budgets 96 GB KV in 128 GB LPDDR. Logical KV fits roughly 15 full 32K sequences in either example before extra duplication. Valid per-rank placement, shared parameters and operator support must be checked. A compact dual-GPU server makes RTX TP4 cross two nodes, but a 4U/8-GPU OEM system can keep it within one host; include that alternative rather than forcing a poor control.
CALCULATION FILES
D5_moe_memory
SOURCES — reviewed September 13, 2026
I3: IMA Card, user-supplied September 12 screenshot, marked 00.014
User-supplied internal material
Eight NPU/HBF/LPDDR modules; 128 GB and 200 GB/s HBF/module, 8–16 GB and 50 GB/s LPDDR/module; Gen6 x4 module and Gen5 x16 card connections. Revision-dependent.
R1: NVIDIA RTX PRO 6000 Blackwell Server Edition
https://www.nvidia.com/en-us/data-center/rtx-pro-6000-blackwell-server-edition/
96 GB GDDR7; 1,597 GB/s; PCIe; public specifications, not workload measurements.
R9: Qwen3-235B-A22B config
https://huggingface.co/Qwen/Qwen3-235B-A22B/raw/main/config.json
94 layers, 4 KV heads, head dimension 128; 128 experts and top-8; all proposed baseline contexts &lt;=32K including output.
R11: vLLM expert-parallel deployment
https://docs.vllm.ai/en/latest/serving/expert_parallel_deployment/
Expert execution and attention/expert group distinctions; current API support does not imply ATMOS support.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Residency helps when avoided waiting exceeds its own cost
EVIDENCE: ANALYTICAL BREAK-EVEN
TALK TRACK
This retains the useful V3 break-even visual but the cells are calculable time indices, not unsupported platform winners. It shows both favorable and unfavorable outcomes.
DETAILS AND LIMITS
D6: candidate/reference service time = (1–f)c + f/4 + 0.05. f is exposed addressable waiting, not the fraction of cold experts or the cache miss rate. c is the multiplier of remaining work. Assumptions 4× and 5% are explicitly chosen sensitivity inputs, not derived from peak HBF/GDS ratios. With c=1.25 the crossover is f=0.30. A lower-latency transfer only matters when it eliminates critical-path waiting; queues and full-service performance are separate.
CALCULATION FILES
D6_break_even
SOURCES — reviewed September 13, 2026
I2: SNDK-ATMOS-Customer-v4(1).pptx
User-supplied internal material
Evidence discipline, module/card topology, OEM/NUMA, analytical models.
I4: ATMOS_HBF_OEM_Platform_and_LLM_Evaluation_Plan_v3.md
User-supplied internal material
Topology, realistic OEM qualification, runtime and LLM/RAG separation.
I6: 01-tokensim-hbf-emulator.md
User-supplied internal material
Limited KV-far-tier abstraction; MoE event extension and calibration are required.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resentation Title and Subtitle Black">
    <p:bg>
      <p:bgPr>
        <a:solidFill>
          <a:schemeClr val="tx1"/>
        </a:solidFill>
        <a:effectLst/>
      </p:bgPr>
    </p:bg>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F33C628C-D29E-A044-B2EB-3DC2477C6A1B}"/>
              </a:ext>
            </a:extLst>
          </p:cNvPr>
          <p:cNvSpPr>
            <a:spLocks noGrp="1"/>
          </p:cNvSpPr>
          <p:nvPr>
            <p:ph type="body" sz="quarter" idx="11" hasCustomPrompt="1"/>
          </p:nvPr>
        </p:nvSpPr>
        <p:spPr>
          <a:xfrm>
            <a:off x="6096001" y="5014684"/>
            <a:ext cx="5791200" cy="155448"/>
          </a:xfrm>
          <a:prstGeom prst="rect">
            <a:avLst/>
          </a:prstGeom>
        </p:spPr>
        <p:txBody>
          <a:bodyPr wrap="square" lIns="45720" tIns="0" rIns="0" bIns="0" anchor="t">
            <a:spAutoFit/>
          </a:bodyPr>
          <a:lstStyle>
            <a:lvl1pPr marL="0" indent="0" algn="r">
              <a:lnSpc>
                <a:spcPct val="100000"/>
              </a:lnSpc>
              <a:spcAft>
                <a:spcPts val="0"/>
              </a:spcAft>
              <a:buNone/>
              <a:defRPr sz="1000" b="0" i="0" spc="0">
                <a:solidFill>
                  <a:schemeClr val="bg1"/>
                </a:solidFill>
                <a:latin typeface="NB Architekt Pro Neue" panose="02010509020201040001" pitchFamily="49" charset="77"/>
                <a:cs typeface="Consolas" panose="020B0609020204030204" pitchFamily="49" charset="0"/>
              </a:defRPr>
            </a:lvl1pPr>
            <a:lvl2pPr marL="457173" indent="0">
              <a:buNone/>
              <a:defRPr sz="2400">
                <a:solidFill>
                  <a:schemeClr val="bg1"/>
                </a:solidFill>
              </a:defRPr>
            </a:lvl2pPr>
            <a:lvl3pPr marL="914346" indent="0">
              <a:buNone/>
              <a:defRPr sz="2400">
                <a:solidFill>
                  <a:schemeClr val="bg1"/>
                </a:solidFill>
              </a:defRPr>
            </a:lvl3pPr>
            <a:lvl4pPr marL="1371519" indent="0">
              <a:buNone/>
              <a:defRPr sz="2400">
                <a:solidFill>
                  <a:schemeClr val="bg1"/>
                </a:solidFill>
              </a:defRPr>
            </a:lvl4pPr>
            <a:lvl5pPr marL="1828693" indent="0">
              <a:buNone/>
              <a:defRPr sz="2400">
                <a:solidFill>
                  <a:schemeClr val="bg1"/>
                </a:solidFill>
              </a:defRPr>
            </a:lvl5pPr>
          </a:lstStyle>
          <a:p>
            <a:pPr lvl="0"/>
            <a:r>
              <a:rPr lang="en-US"/>
              <a:t>CLICK TO ADD PRESENTER’S NAME, TITLE</a:t>
            </a:r>
          </a:p>
        </p:txBody>
      </p:sp>
      <p:sp>
        <p:nvSpPr>
          <p:cNvPr id="24" name="name_2024 sandisk or its affiliates All rights reserved">
            <a:extLst>
              <a:ext uri="{FF2B5EF4-FFF2-40B4-BE49-F238E27FC236}">
                <a16:creationId xmlns:a16="http://schemas.microsoft.com/office/drawing/2014/main" id="{6D8CD1FC-8805-8BD2-8CBE-E0CCBB790C5D}"/>
              </a:ext>
            </a:extLst>
          </p:cNvPr>
          <p:cNvSpPr txBox="1"/>
          <p:nvPr/>
        </p:nvSpPr>
        <p:spPr>
          <a:xfrm>
            <a:off x="301625" y="5014684"/>
            <a:ext cx="1447800"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bg1"/>
                </a:solidFill>
                <a:latin typeface="NB Architekt Pro Neue" panose="02010509020201040001" pitchFamily="49" charset="77"/>
                <a:cs typeface="Consolas" panose="020B0609020204030204" pitchFamily="49" charset="0"/>
              </a:rPr>
              <a:t>[Confidential]</a:t>
            </a:r>
          </a:p>
        </p:txBody>
      </p:sp>
      <p:sp>
        <p:nvSpPr>
          <p:cNvPr id="40" name="Title 2">
            <a:extLst>
              <a:ext uri="{FF2B5EF4-FFF2-40B4-BE49-F238E27FC236}">
                <a16:creationId xmlns:a16="http://schemas.microsoft.com/office/drawing/2014/main" id="{34F3AA0F-AE20-56C9-A000-E9EE240A3F05}"/>
              </a:ext>
            </a:extLst>
          </p:cNvPr>
          <p:cNvSpPr>
            <a:spLocks noGrp="1"/>
          </p:cNvSpPr>
          <p:nvPr>
            <p:ph type="title" hasCustomPrompt="1"/>
          </p:nvPr>
        </p:nvSpPr>
        <p:spPr>
          <a:xfrm>
            <a:off x="292100" y="208998"/>
            <a:ext cx="10871200" cy="4023804"/>
          </a:xfrm>
          <a:prstGeom prst="rect">
            <a:avLst/>
          </a:prstGeom>
        </p:spPr>
        <p:txBody>
          <a:bodyPr wrap="square" lIns="0" tIns="0" anchor="t">
            <a:noAutofit/>
          </a:bodyPr>
          <a:lstStyle>
            <a:lvl1pPr marL="0" indent="0">
              <a:lnSpc>
                <a:spcPct val="88000"/>
              </a:lnSpc>
              <a:defRPr sz="8000" b="0" spc="-220" baseline="0">
                <a:solidFill>
                  <a:schemeClr val="bg1"/>
                </a:solidFill>
                <a:latin typeface="+mj-lt"/>
              </a:defRPr>
            </a:lvl1pPr>
          </a:lstStyle>
          <a:p>
            <a:pPr lvl="0"/>
            <a:r>
              <a:rPr lang="en-US"/>
              <a:t>CLICK TO ADD TITLE</a:t>
            </a:r>
          </a:p>
        </p:txBody>
      </p:sp>
      <p:sp>
        <p:nvSpPr>
          <p:cNvPr id="66" name="Text Placeholder 65">
            <a:extLst>
              <a:ext uri="{FF2B5EF4-FFF2-40B4-BE49-F238E27FC236}">
                <a16:creationId xmlns:a16="http://schemas.microsoft.com/office/drawing/2014/main" id="{D58DA466-A993-04AF-B67A-65B6194E07EE}"/>
              </a:ext>
            </a:extLst>
          </p:cNvPr>
          <p:cNvSpPr>
            <a:spLocks noGrp="1"/>
          </p:cNvSpPr>
          <p:nvPr>
            <p:ph type="body" sz="quarter" idx="12" hasCustomPrompt="1"/>
          </p:nvPr>
        </p:nvSpPr>
        <p:spPr>
          <a:xfrm>
            <a:off x="3194050" y="5014684"/>
            <a:ext cx="2901950" cy="155448"/>
          </a:xfrm>
        </p:spPr>
        <p:txBody>
          <a:bodyPr lIns="0"/>
          <a:lstStyle>
            <a:lvl1pPr marL="0" indent="0">
              <a:buNone/>
              <a:defRPr sz="1000" b="0" i="0">
                <a:solidFill>
                  <a:schemeClr val="bg1"/>
                </a:solidFill>
                <a:latin typeface="NB Architekt Pro Neue" panose="02010509020201040001" pitchFamily="49" charset="77"/>
              </a:defRPr>
            </a:lvl1pPr>
          </a:lstStyle>
          <a:p>
            <a:pPr lvl="0"/>
            <a:r>
              <a:rPr lang="en-US"/>
              <a:t>CLICK TO ADD DATE</a:t>
            </a:r>
          </a:p>
        </p:txBody>
      </p:sp>
      <p:grpSp>
        <p:nvGrpSpPr>
          <p:cNvPr id="2" name="Group 1">
            <a:extLst>
              <a:ext uri="{FF2B5EF4-FFF2-40B4-BE49-F238E27FC236}">
                <a16:creationId xmlns:a16="http://schemas.microsoft.com/office/drawing/2014/main" id="{70AB061F-37F4-3371-0386-6DABF3BFE021}"/>
              </a:ext>
            </a:extLst>
          </p:cNvPr>
          <p:cNvGrpSpPr/>
          <p:nvPr/>
        </p:nvGrpSpPr>
        <p:grpSpPr>
          <a:xfrm>
            <a:off x="297005" y="5411270"/>
            <a:ext cx="11602895" cy="1158371"/>
            <a:chOff x="297005" y="5421618"/>
            <a:chExt cx="11585651" cy="1156649"/>
          </a:xfrm>
          <a:solidFill>
            <a:schemeClr val="bg1"/>
          </a:solidFill>
        </p:grpSpPr>
        <p:grpSp>
          <p:nvGrpSpPr>
            <p:cNvPr id="3" name="Group 2">
              <a:extLst>
                <a:ext uri="{FF2B5EF4-FFF2-40B4-BE49-F238E27FC236}">
                  <a16:creationId xmlns:a16="http://schemas.microsoft.com/office/drawing/2014/main" id="{FD9A9638-C2A3-1839-212D-304885625A61}"/>
                </a:ext>
              </a:extLst>
            </p:cNvPr>
            <p:cNvGrpSpPr/>
            <p:nvPr/>
          </p:nvGrpSpPr>
          <p:grpSpPr>
            <a:xfrm>
              <a:off x="297005" y="5421618"/>
              <a:ext cx="10643138" cy="1156649"/>
              <a:chOff x="3726006" y="3171824"/>
              <a:chExt cx="4740852" cy="515215"/>
            </a:xfrm>
            <a:grpFill/>
          </p:grpSpPr>
          <p:sp>
            <p:nvSpPr>
              <p:cNvPr id="8" name="Freeform 7">
                <a:extLst>
                  <a:ext uri="{FF2B5EF4-FFF2-40B4-BE49-F238E27FC236}">
                    <a16:creationId xmlns:a16="http://schemas.microsoft.com/office/drawing/2014/main" id="{16F0241C-1948-BF84-639D-E8E39C808944}"/>
                  </a:ext>
                </a:extLst>
              </p:cNvPr>
              <p:cNvSpPr/>
              <p:nvPr/>
            </p:nvSpPr>
            <p:spPr>
              <a:xfrm>
                <a:off x="5262995" y="3173556"/>
                <a:ext cx="639906" cy="512618"/>
              </a:xfrm>
              <a:custGeom>
                <a:avLst/>
                <a:gdLst>
                  <a:gd name="connsiteX0" fmla="*/ 512618 w 639906"/>
                  <a:gd name="connsiteY0" fmla="*/ 348961 h 512618"/>
                  <a:gd name="connsiteX1" fmla="*/ 482311 w 639906"/>
                  <a:gd name="connsiteY1" fmla="*/ 383598 h 512618"/>
                  <a:gd name="connsiteX2" fmla="*/ 446809 w 639906"/>
                  <a:gd name="connsiteY2" fmla="*/ 361950 h 512618"/>
                  <a:gd name="connsiteX3" fmla="*/ 329911 w 639906"/>
                  <a:gd name="connsiteY3" fmla="*/ 40698 h 512618"/>
                  <a:gd name="connsiteX4" fmla="*/ 274493 w 639906"/>
                  <a:gd name="connsiteY4" fmla="*/ 0 h 512618"/>
                  <a:gd name="connsiteX5" fmla="*/ 0 w 639906"/>
                  <a:gd name="connsiteY5" fmla="*/ 0 h 512618"/>
                  <a:gd name="connsiteX6" fmla="*/ 0 w 639906"/>
                  <a:gd name="connsiteY6" fmla="*/ 512618 h 512618"/>
                  <a:gd name="connsiteX7" fmla="*/ 200891 w 639906"/>
                  <a:gd name="connsiteY7" fmla="*/ 512618 h 512618"/>
                  <a:gd name="connsiteX8" fmla="*/ 200891 w 639906"/>
                  <a:gd name="connsiteY8" fmla="*/ 384464 h 512618"/>
                  <a:gd name="connsiteX9" fmla="*/ 165389 w 639906"/>
                  <a:gd name="connsiteY9" fmla="*/ 384464 h 512618"/>
                  <a:gd name="connsiteX10" fmla="*/ 128155 w 639906"/>
                  <a:gd name="connsiteY10" fmla="*/ 338571 h 512618"/>
                  <a:gd name="connsiteX11" fmla="*/ 128155 w 639906"/>
                  <a:gd name="connsiteY11" fmla="*/ 184439 h 512618"/>
                  <a:gd name="connsiteX12" fmla="*/ 200025 w 639906"/>
                  <a:gd name="connsiteY12" fmla="*/ 133350 h 512618"/>
                  <a:gd name="connsiteX13" fmla="*/ 228600 w 639906"/>
                  <a:gd name="connsiteY13" fmla="*/ 164523 h 512618"/>
                  <a:gd name="connsiteX14" fmla="*/ 322118 w 639906"/>
                  <a:gd name="connsiteY14" fmla="*/ 407843 h 512618"/>
                  <a:gd name="connsiteX15" fmla="*/ 475384 w 639906"/>
                  <a:gd name="connsiteY15" fmla="*/ 512618 h 512618"/>
                  <a:gd name="connsiteX16" fmla="*/ 478848 w 639906"/>
                  <a:gd name="connsiteY16" fmla="*/ 512618 h 512618"/>
                  <a:gd name="connsiteX17" fmla="*/ 639907 w 639906"/>
                  <a:gd name="connsiteY17" fmla="*/ 353291 h 512618"/>
                  <a:gd name="connsiteX18" fmla="*/ 639907 w 639906"/>
                  <a:gd name="connsiteY18" fmla="*/ 0 h 512618"/>
                  <a:gd name="connsiteX19" fmla="*/ 511752 w 639906"/>
                  <a:gd name="connsiteY19" fmla="*/ 0 h 512618"/>
                  <a:gd name="connsiteX20" fmla="*/ 511752 w 639906"/>
                  <a:gd name="connsiteY20" fmla="*/ 349827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39906" h="512618">
                    <a:moveTo>
                      <a:pt x="512618" y="348961"/>
                    </a:moveTo>
                    <a:cubicBezTo>
                      <a:pt x="512618" y="366279"/>
                      <a:pt x="499630" y="381000"/>
                      <a:pt x="482311" y="383598"/>
                    </a:cubicBezTo>
                    <a:cubicBezTo>
                      <a:pt x="466725" y="385330"/>
                      <a:pt x="452005" y="375805"/>
                      <a:pt x="446809" y="361950"/>
                    </a:cubicBezTo>
                    <a:lnTo>
                      <a:pt x="329911" y="40698"/>
                    </a:lnTo>
                    <a:cubicBezTo>
                      <a:pt x="321252" y="14721"/>
                      <a:pt x="299605" y="0"/>
                      <a:pt x="274493" y="0"/>
                    </a:cubicBezTo>
                    <a:lnTo>
                      <a:pt x="0" y="0"/>
                    </a:lnTo>
                    <a:lnTo>
                      <a:pt x="0" y="512618"/>
                    </a:lnTo>
                    <a:lnTo>
                      <a:pt x="200891" y="512618"/>
                    </a:lnTo>
                    <a:lnTo>
                      <a:pt x="200891" y="384464"/>
                    </a:lnTo>
                    <a:lnTo>
                      <a:pt x="165389" y="384464"/>
                    </a:lnTo>
                    <a:cubicBezTo>
                      <a:pt x="142009" y="384464"/>
                      <a:pt x="128155" y="363682"/>
                      <a:pt x="128155" y="338571"/>
                    </a:cubicBezTo>
                    <a:lnTo>
                      <a:pt x="128155" y="184439"/>
                    </a:lnTo>
                    <a:cubicBezTo>
                      <a:pt x="128155" y="146339"/>
                      <a:pt x="165389" y="118630"/>
                      <a:pt x="200025" y="133350"/>
                    </a:cubicBezTo>
                    <a:cubicBezTo>
                      <a:pt x="213014" y="139411"/>
                      <a:pt x="223405" y="150668"/>
                      <a:pt x="228600" y="164523"/>
                    </a:cubicBezTo>
                    <a:lnTo>
                      <a:pt x="322118" y="407843"/>
                    </a:lnTo>
                    <a:cubicBezTo>
                      <a:pt x="346364" y="471920"/>
                      <a:pt x="406977" y="512618"/>
                      <a:pt x="475384" y="512618"/>
                    </a:cubicBezTo>
                    <a:lnTo>
                      <a:pt x="478848" y="512618"/>
                    </a:lnTo>
                    <a:cubicBezTo>
                      <a:pt x="567170" y="512618"/>
                      <a:pt x="639907" y="442480"/>
                      <a:pt x="639907" y="353291"/>
                    </a:cubicBezTo>
                    <a:lnTo>
                      <a:pt x="639907" y="0"/>
                    </a:lnTo>
                    <a:lnTo>
                      <a:pt x="511752" y="0"/>
                    </a:lnTo>
                    <a:lnTo>
                      <a:pt x="511752" y="349827"/>
                    </a:lnTo>
                    <a:close/>
                  </a:path>
                </a:pathLst>
              </a:custGeom>
              <a:grpFill/>
              <a:ln w="8653" cap="flat">
                <a:noFill/>
                <a:prstDash val="solid"/>
                <a:miter/>
              </a:ln>
            </p:spPr>
            <p:txBody>
              <a:bodyPr rtlCol="0" anchor="ctr"/>
              <a:lstStyle/>
              <a:p>
                <a:endParaRPr lang="en-US">
                  <a:solidFill>
                    <a:schemeClr val="tx1"/>
                  </a:solidFill>
                </a:endParaRPr>
              </a:p>
            </p:txBody>
          </p:sp>
          <p:sp>
            <p:nvSpPr>
              <p:cNvPr id="9" name="Freeform 8">
                <a:extLst>
                  <a:ext uri="{FF2B5EF4-FFF2-40B4-BE49-F238E27FC236}">
                    <a16:creationId xmlns:a16="http://schemas.microsoft.com/office/drawing/2014/main" id="{64C98641-645D-0B20-1931-FC95777E3E93}"/>
                  </a:ext>
                </a:extLst>
              </p:cNvPr>
              <p:cNvSpPr/>
              <p:nvPr/>
            </p:nvSpPr>
            <p:spPr>
              <a:xfrm>
                <a:off x="6031922" y="3172690"/>
                <a:ext cx="640772" cy="512618"/>
              </a:xfrm>
              <a:custGeom>
                <a:avLst/>
                <a:gdLst>
                  <a:gd name="connsiteX0" fmla="*/ 384464 w 640772"/>
                  <a:gd name="connsiteY0" fmla="*/ 0 h 512618"/>
                  <a:gd name="connsiteX1" fmla="*/ 0 w 640772"/>
                  <a:gd name="connsiteY1" fmla="*/ 0 h 512618"/>
                  <a:gd name="connsiteX2" fmla="*/ 0 w 640772"/>
                  <a:gd name="connsiteY2" fmla="*/ 129020 h 512618"/>
                  <a:gd name="connsiteX3" fmla="*/ 384464 w 640772"/>
                  <a:gd name="connsiteY3" fmla="*/ 129020 h 512618"/>
                  <a:gd name="connsiteX4" fmla="*/ 511752 w 640772"/>
                  <a:gd name="connsiteY4" fmla="*/ 256309 h 512618"/>
                  <a:gd name="connsiteX5" fmla="*/ 384464 w 640772"/>
                  <a:gd name="connsiteY5" fmla="*/ 383598 h 512618"/>
                  <a:gd name="connsiteX6" fmla="*/ 0 w 640772"/>
                  <a:gd name="connsiteY6" fmla="*/ 383598 h 512618"/>
                  <a:gd name="connsiteX7" fmla="*/ 0 w 640772"/>
                  <a:gd name="connsiteY7" fmla="*/ 512618 h 512618"/>
                  <a:gd name="connsiteX8" fmla="*/ 384464 w 640772"/>
                  <a:gd name="connsiteY8" fmla="*/ 512618 h 512618"/>
                  <a:gd name="connsiteX9" fmla="*/ 609600 w 640772"/>
                  <a:gd name="connsiteY9" fmla="*/ 380134 h 512618"/>
                  <a:gd name="connsiteX10" fmla="*/ 640773 w 640772"/>
                  <a:gd name="connsiteY10" fmla="*/ 256309 h 512618"/>
                  <a:gd name="connsiteX11" fmla="*/ 609600 w 640772"/>
                  <a:gd name="connsiteY11" fmla="*/ 132484 h 512618"/>
                  <a:gd name="connsiteX12" fmla="*/ 384464 w 640772"/>
                  <a:gd name="connsiteY12" fmla="*/ 0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0772" h="512618">
                    <a:moveTo>
                      <a:pt x="384464" y="0"/>
                    </a:moveTo>
                    <a:lnTo>
                      <a:pt x="0" y="0"/>
                    </a:lnTo>
                    <a:lnTo>
                      <a:pt x="0" y="129020"/>
                    </a:lnTo>
                    <a:lnTo>
                      <a:pt x="384464" y="129020"/>
                    </a:lnTo>
                    <a:cubicBezTo>
                      <a:pt x="452004" y="129020"/>
                      <a:pt x="511752" y="188768"/>
                      <a:pt x="511752" y="256309"/>
                    </a:cubicBezTo>
                    <a:cubicBezTo>
                      <a:pt x="511752" y="323850"/>
                      <a:pt x="452004" y="383598"/>
                      <a:pt x="384464" y="383598"/>
                    </a:cubicBezTo>
                    <a:lnTo>
                      <a:pt x="0" y="383598"/>
                    </a:lnTo>
                    <a:lnTo>
                      <a:pt x="0" y="512618"/>
                    </a:lnTo>
                    <a:lnTo>
                      <a:pt x="384464" y="512618"/>
                    </a:lnTo>
                    <a:cubicBezTo>
                      <a:pt x="481446" y="512618"/>
                      <a:pt x="565439" y="458932"/>
                      <a:pt x="609600" y="380134"/>
                    </a:cubicBezTo>
                    <a:cubicBezTo>
                      <a:pt x="629516" y="343766"/>
                      <a:pt x="640773" y="301337"/>
                      <a:pt x="640773" y="256309"/>
                    </a:cubicBezTo>
                    <a:cubicBezTo>
                      <a:pt x="640773" y="211282"/>
                      <a:pt x="629516" y="169718"/>
                      <a:pt x="609600" y="132484"/>
                    </a:cubicBezTo>
                    <a:cubicBezTo>
                      <a:pt x="566305" y="52821"/>
                      <a:pt x="482311" y="0"/>
                      <a:pt x="384464" y="0"/>
                    </a:cubicBezTo>
                    <a:close/>
                  </a:path>
                </a:pathLst>
              </a:custGeom>
              <a:grpFill/>
              <a:ln w="8653" cap="flat">
                <a:noFill/>
                <a:prstDash val="solid"/>
                <a:miter/>
              </a:ln>
            </p:spPr>
            <p:txBody>
              <a:bodyPr rtlCol="0" anchor="ctr"/>
              <a:lstStyle/>
              <a:p>
                <a:endParaRPr lang="en-US">
                  <a:solidFill>
                    <a:schemeClr val="tx1"/>
                  </a:solidFill>
                </a:endParaRPr>
              </a:p>
            </p:txBody>
          </p:sp>
          <p:sp>
            <p:nvSpPr>
              <p:cNvPr id="10" name="Freeform 9">
                <a:extLst>
                  <a:ext uri="{FF2B5EF4-FFF2-40B4-BE49-F238E27FC236}">
                    <a16:creationId xmlns:a16="http://schemas.microsoft.com/office/drawing/2014/main" id="{7F7519B4-FB0E-2AFE-142C-41050C292520}"/>
                  </a:ext>
                </a:extLst>
              </p:cNvPr>
              <p:cNvSpPr/>
              <p:nvPr/>
            </p:nvSpPr>
            <p:spPr>
              <a:xfrm>
                <a:off x="6726381" y="3171824"/>
                <a:ext cx="202622" cy="512618"/>
              </a:xfrm>
              <a:custGeom>
                <a:avLst/>
                <a:gdLst>
                  <a:gd name="connsiteX0" fmla="*/ 25977 w 202622"/>
                  <a:gd name="connsiteY0" fmla="*/ 129021 h 512618"/>
                  <a:gd name="connsiteX1" fmla="*/ 36368 w 202622"/>
                  <a:gd name="connsiteY1" fmla="*/ 129021 h 512618"/>
                  <a:gd name="connsiteX2" fmla="*/ 74468 w 202622"/>
                  <a:gd name="connsiteY2" fmla="*/ 176646 h 512618"/>
                  <a:gd name="connsiteX3" fmla="*/ 74468 w 202622"/>
                  <a:gd name="connsiteY3" fmla="*/ 512618 h 512618"/>
                  <a:gd name="connsiteX4" fmla="*/ 202623 w 202622"/>
                  <a:gd name="connsiteY4" fmla="*/ 512618 h 512618"/>
                  <a:gd name="connsiteX5" fmla="*/ 202623 w 202622"/>
                  <a:gd name="connsiteY5" fmla="*/ 0 h 512618"/>
                  <a:gd name="connsiteX6" fmla="*/ 0 w 202622"/>
                  <a:gd name="connsiteY6" fmla="*/ 0 h 512618"/>
                  <a:gd name="connsiteX7" fmla="*/ 0 w 202622"/>
                  <a:gd name="connsiteY7" fmla="*/ 128155 h 512618"/>
                  <a:gd name="connsiteX8" fmla="*/ 26843 w 202622"/>
                  <a:gd name="connsiteY8" fmla="*/ 128155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622" h="512618">
                    <a:moveTo>
                      <a:pt x="25977" y="129021"/>
                    </a:moveTo>
                    <a:cubicBezTo>
                      <a:pt x="29441" y="129021"/>
                      <a:pt x="32039" y="129021"/>
                      <a:pt x="36368" y="129021"/>
                    </a:cubicBezTo>
                    <a:cubicBezTo>
                      <a:pt x="59748" y="132484"/>
                      <a:pt x="74468" y="151534"/>
                      <a:pt x="74468" y="176646"/>
                    </a:cubicBezTo>
                    <a:lnTo>
                      <a:pt x="74468" y="512618"/>
                    </a:lnTo>
                    <a:lnTo>
                      <a:pt x="202623" y="512618"/>
                    </a:lnTo>
                    <a:lnTo>
                      <a:pt x="202623" y="0"/>
                    </a:lnTo>
                    <a:lnTo>
                      <a:pt x="0" y="0"/>
                    </a:lnTo>
                    <a:lnTo>
                      <a:pt x="0" y="128155"/>
                    </a:lnTo>
                    <a:lnTo>
                      <a:pt x="26843" y="128155"/>
                    </a:lnTo>
                    <a:close/>
                  </a:path>
                </a:pathLst>
              </a:custGeom>
              <a:grpFill/>
              <a:ln w="8653" cap="flat">
                <a:noFill/>
                <a:prstDash val="solid"/>
                <a:miter/>
              </a:ln>
            </p:spPr>
            <p:txBody>
              <a:bodyPr rtlCol="0" anchor="ctr"/>
              <a:lstStyle/>
              <a:p>
                <a:endParaRPr lang="en-US">
                  <a:solidFill>
                    <a:schemeClr val="tx1"/>
                  </a:solidFill>
                </a:endParaRPr>
              </a:p>
            </p:txBody>
          </p:sp>
          <p:sp>
            <p:nvSpPr>
              <p:cNvPr id="11" name="Freeform 10">
                <a:extLst>
                  <a:ext uri="{FF2B5EF4-FFF2-40B4-BE49-F238E27FC236}">
                    <a16:creationId xmlns:a16="http://schemas.microsoft.com/office/drawing/2014/main" id="{C7367585-FA62-94BC-4019-11C3659C1876}"/>
                  </a:ext>
                </a:extLst>
              </p:cNvPr>
              <p:cNvSpPr/>
              <p:nvPr/>
            </p:nvSpPr>
            <p:spPr>
              <a:xfrm>
                <a:off x="7058025" y="3172690"/>
                <a:ext cx="640772" cy="512618"/>
              </a:xfrm>
              <a:custGeom>
                <a:avLst/>
                <a:gdLst>
                  <a:gd name="connsiteX0" fmla="*/ 639907 w 640772"/>
                  <a:gd name="connsiteY0" fmla="*/ 410441 h 512618"/>
                  <a:gd name="connsiteX1" fmla="*/ 639907 w 640772"/>
                  <a:gd name="connsiteY1" fmla="*/ 512618 h 512618"/>
                  <a:gd name="connsiteX2" fmla="*/ 97848 w 640772"/>
                  <a:gd name="connsiteY2" fmla="*/ 304800 h 512618"/>
                  <a:gd name="connsiteX3" fmla="*/ 0 w 640772"/>
                  <a:gd name="connsiteY3" fmla="*/ 154132 h 512618"/>
                  <a:gd name="connsiteX4" fmla="*/ 154998 w 640772"/>
                  <a:gd name="connsiteY4" fmla="*/ 0 h 512618"/>
                  <a:gd name="connsiteX5" fmla="*/ 639907 w 640772"/>
                  <a:gd name="connsiteY5" fmla="*/ 0 h 512618"/>
                  <a:gd name="connsiteX6" fmla="*/ 639907 w 640772"/>
                  <a:gd name="connsiteY6" fmla="*/ 200891 h 512618"/>
                  <a:gd name="connsiteX7" fmla="*/ 511752 w 640772"/>
                  <a:gd name="connsiteY7" fmla="*/ 200891 h 512618"/>
                  <a:gd name="connsiteX8" fmla="*/ 511752 w 640772"/>
                  <a:gd name="connsiteY8" fmla="*/ 165389 h 512618"/>
                  <a:gd name="connsiteX9" fmla="*/ 472786 w 640772"/>
                  <a:gd name="connsiteY9" fmla="*/ 129020 h 512618"/>
                  <a:gd name="connsiteX10" fmla="*/ 189634 w 640772"/>
                  <a:gd name="connsiteY10" fmla="*/ 129020 h 512618"/>
                  <a:gd name="connsiteX11" fmla="*/ 149802 w 640772"/>
                  <a:gd name="connsiteY11" fmla="*/ 167986 h 512618"/>
                  <a:gd name="connsiteX12" fmla="*/ 175779 w 640772"/>
                  <a:gd name="connsiteY12" fmla="*/ 206087 h 512618"/>
                  <a:gd name="connsiteX13" fmla="*/ 598343 w 640772"/>
                  <a:gd name="connsiteY13" fmla="*/ 355023 h 512618"/>
                  <a:gd name="connsiteX14" fmla="*/ 640773 w 640772"/>
                  <a:gd name="connsiteY14" fmla="*/ 411307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0772" h="512618">
                    <a:moveTo>
                      <a:pt x="639907" y="410441"/>
                    </a:moveTo>
                    <a:lnTo>
                      <a:pt x="639907" y="512618"/>
                    </a:lnTo>
                    <a:lnTo>
                      <a:pt x="97848" y="304800"/>
                    </a:lnTo>
                    <a:cubicBezTo>
                      <a:pt x="12123" y="271895"/>
                      <a:pt x="0" y="209550"/>
                      <a:pt x="0" y="154132"/>
                    </a:cubicBezTo>
                    <a:cubicBezTo>
                      <a:pt x="0" y="69273"/>
                      <a:pt x="70139" y="0"/>
                      <a:pt x="154998" y="0"/>
                    </a:cubicBezTo>
                    <a:lnTo>
                      <a:pt x="639907" y="0"/>
                    </a:lnTo>
                    <a:lnTo>
                      <a:pt x="639907" y="200891"/>
                    </a:lnTo>
                    <a:lnTo>
                      <a:pt x="511752" y="200891"/>
                    </a:lnTo>
                    <a:lnTo>
                      <a:pt x="511752" y="165389"/>
                    </a:lnTo>
                    <a:cubicBezTo>
                      <a:pt x="511752" y="144607"/>
                      <a:pt x="491836" y="129020"/>
                      <a:pt x="472786" y="129020"/>
                    </a:cubicBezTo>
                    <a:lnTo>
                      <a:pt x="189634" y="129020"/>
                    </a:lnTo>
                    <a:cubicBezTo>
                      <a:pt x="167986" y="129020"/>
                      <a:pt x="149802" y="146339"/>
                      <a:pt x="149802" y="167986"/>
                    </a:cubicBezTo>
                    <a:cubicBezTo>
                      <a:pt x="149802" y="189634"/>
                      <a:pt x="160193" y="200025"/>
                      <a:pt x="175779" y="206087"/>
                    </a:cubicBezTo>
                    <a:lnTo>
                      <a:pt x="598343" y="355023"/>
                    </a:lnTo>
                    <a:cubicBezTo>
                      <a:pt x="598343" y="355023"/>
                      <a:pt x="640773" y="367145"/>
                      <a:pt x="640773" y="411307"/>
                    </a:cubicBezTo>
                    <a:close/>
                  </a:path>
                </a:pathLst>
              </a:custGeom>
              <a:grpFill/>
              <a:ln w="8653" cap="flat">
                <a:noFill/>
                <a:prstDash val="solid"/>
                <a:miter/>
              </a:ln>
            </p:spPr>
            <p:txBody>
              <a:bodyPr rtlCol="0" anchor="ctr"/>
              <a:lstStyle/>
              <a:p>
                <a:endParaRPr lang="en-US">
                  <a:solidFill>
                    <a:schemeClr val="tx1"/>
                  </a:solidFill>
                </a:endParaRPr>
              </a:p>
            </p:txBody>
          </p:sp>
          <p:sp>
            <p:nvSpPr>
              <p:cNvPr id="12" name="Freeform 11">
                <a:extLst>
                  <a:ext uri="{FF2B5EF4-FFF2-40B4-BE49-F238E27FC236}">
                    <a16:creationId xmlns:a16="http://schemas.microsoft.com/office/drawing/2014/main" id="{250F0E30-BE00-3568-B0D7-D5A043FB78B6}"/>
                  </a:ext>
                </a:extLst>
              </p:cNvPr>
              <p:cNvSpPr/>
              <p:nvPr/>
            </p:nvSpPr>
            <p:spPr>
              <a:xfrm>
                <a:off x="7056293" y="3557154"/>
                <a:ext cx="126422" cy="128154"/>
              </a:xfrm>
              <a:custGeom>
                <a:avLst/>
                <a:gdLst>
                  <a:gd name="connsiteX0" fmla="*/ 126423 w 126422"/>
                  <a:gd name="connsiteY0" fmla="*/ 0 h 128154"/>
                  <a:gd name="connsiteX1" fmla="*/ 0 w 126422"/>
                  <a:gd name="connsiteY1" fmla="*/ 0 h 128154"/>
                  <a:gd name="connsiteX2" fmla="*/ 0 w 126422"/>
                  <a:gd name="connsiteY2" fmla="*/ 128155 h 128154"/>
                  <a:gd name="connsiteX3" fmla="*/ 126423 w 126422"/>
                  <a:gd name="connsiteY3" fmla="*/ 128155 h 128154"/>
                  <a:gd name="connsiteX4" fmla="*/ 126423 w 126422"/>
                  <a:gd name="connsiteY4" fmla="*/ 0 h 128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22" h="128154">
                    <a:moveTo>
                      <a:pt x="126423" y="0"/>
                    </a:moveTo>
                    <a:lnTo>
                      <a:pt x="0" y="0"/>
                    </a:lnTo>
                    <a:lnTo>
                      <a:pt x="0" y="128155"/>
                    </a:lnTo>
                    <a:lnTo>
                      <a:pt x="126423" y="128155"/>
                    </a:lnTo>
                    <a:lnTo>
                      <a:pt x="126423" y="0"/>
                    </a:lnTo>
                    <a:close/>
                  </a:path>
                </a:pathLst>
              </a:custGeom>
              <a:grpFill/>
              <a:ln w="8653" cap="flat">
                <a:noFill/>
                <a:prstDash val="solid"/>
                <a:miter/>
              </a:ln>
            </p:spPr>
            <p:txBody>
              <a:bodyPr rtlCol="0" anchor="ctr"/>
              <a:lstStyle/>
              <a:p>
                <a:endParaRPr lang="en-US">
                  <a:solidFill>
                    <a:schemeClr val="tx1"/>
                  </a:solidFill>
                </a:endParaRPr>
              </a:p>
            </p:txBody>
          </p:sp>
          <p:sp>
            <p:nvSpPr>
              <p:cNvPr id="13" name="Freeform 12">
                <a:extLst>
                  <a:ext uri="{FF2B5EF4-FFF2-40B4-BE49-F238E27FC236}">
                    <a16:creationId xmlns:a16="http://schemas.microsoft.com/office/drawing/2014/main" id="{370A4361-187F-7DE6-E662-E7A34275BECE}"/>
                  </a:ext>
                </a:extLst>
              </p:cNvPr>
              <p:cNvSpPr/>
              <p:nvPr/>
            </p:nvSpPr>
            <p:spPr>
              <a:xfrm>
                <a:off x="3726006" y="3172690"/>
                <a:ext cx="640772" cy="512618"/>
              </a:xfrm>
              <a:custGeom>
                <a:avLst/>
                <a:gdLst>
                  <a:gd name="connsiteX0" fmla="*/ 639907 w 640772"/>
                  <a:gd name="connsiteY0" fmla="*/ 410441 h 512618"/>
                  <a:gd name="connsiteX1" fmla="*/ 639907 w 640772"/>
                  <a:gd name="connsiteY1" fmla="*/ 512618 h 512618"/>
                  <a:gd name="connsiteX2" fmla="*/ 97848 w 640772"/>
                  <a:gd name="connsiteY2" fmla="*/ 304800 h 512618"/>
                  <a:gd name="connsiteX3" fmla="*/ 0 w 640772"/>
                  <a:gd name="connsiteY3" fmla="*/ 154132 h 512618"/>
                  <a:gd name="connsiteX4" fmla="*/ 154998 w 640772"/>
                  <a:gd name="connsiteY4" fmla="*/ 0 h 512618"/>
                  <a:gd name="connsiteX5" fmla="*/ 639907 w 640772"/>
                  <a:gd name="connsiteY5" fmla="*/ 0 h 512618"/>
                  <a:gd name="connsiteX6" fmla="*/ 639907 w 640772"/>
                  <a:gd name="connsiteY6" fmla="*/ 200891 h 512618"/>
                  <a:gd name="connsiteX7" fmla="*/ 511752 w 640772"/>
                  <a:gd name="connsiteY7" fmla="*/ 200891 h 512618"/>
                  <a:gd name="connsiteX8" fmla="*/ 511752 w 640772"/>
                  <a:gd name="connsiteY8" fmla="*/ 165389 h 512618"/>
                  <a:gd name="connsiteX9" fmla="*/ 472786 w 640772"/>
                  <a:gd name="connsiteY9" fmla="*/ 129020 h 512618"/>
                  <a:gd name="connsiteX10" fmla="*/ 189634 w 640772"/>
                  <a:gd name="connsiteY10" fmla="*/ 129020 h 512618"/>
                  <a:gd name="connsiteX11" fmla="*/ 149802 w 640772"/>
                  <a:gd name="connsiteY11" fmla="*/ 167986 h 512618"/>
                  <a:gd name="connsiteX12" fmla="*/ 175780 w 640772"/>
                  <a:gd name="connsiteY12" fmla="*/ 206087 h 512618"/>
                  <a:gd name="connsiteX13" fmla="*/ 598343 w 640772"/>
                  <a:gd name="connsiteY13" fmla="*/ 355023 h 512618"/>
                  <a:gd name="connsiteX14" fmla="*/ 640773 w 640772"/>
                  <a:gd name="connsiteY14" fmla="*/ 411307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0772" h="512618">
                    <a:moveTo>
                      <a:pt x="639907" y="410441"/>
                    </a:moveTo>
                    <a:lnTo>
                      <a:pt x="639907" y="512618"/>
                    </a:lnTo>
                    <a:lnTo>
                      <a:pt x="97848" y="304800"/>
                    </a:lnTo>
                    <a:cubicBezTo>
                      <a:pt x="12123" y="271895"/>
                      <a:pt x="0" y="209550"/>
                      <a:pt x="0" y="154132"/>
                    </a:cubicBezTo>
                    <a:cubicBezTo>
                      <a:pt x="0" y="69273"/>
                      <a:pt x="70139" y="0"/>
                      <a:pt x="154998" y="0"/>
                    </a:cubicBezTo>
                    <a:lnTo>
                      <a:pt x="639907" y="0"/>
                    </a:lnTo>
                    <a:lnTo>
                      <a:pt x="639907" y="200891"/>
                    </a:lnTo>
                    <a:lnTo>
                      <a:pt x="511752" y="200891"/>
                    </a:lnTo>
                    <a:lnTo>
                      <a:pt x="511752" y="165389"/>
                    </a:lnTo>
                    <a:cubicBezTo>
                      <a:pt x="511752" y="144607"/>
                      <a:pt x="491836" y="129020"/>
                      <a:pt x="472786" y="129020"/>
                    </a:cubicBezTo>
                    <a:lnTo>
                      <a:pt x="189634" y="129020"/>
                    </a:lnTo>
                    <a:cubicBezTo>
                      <a:pt x="167986" y="129020"/>
                      <a:pt x="149802" y="146339"/>
                      <a:pt x="149802" y="167986"/>
                    </a:cubicBezTo>
                    <a:cubicBezTo>
                      <a:pt x="149802" y="189634"/>
                      <a:pt x="160193" y="200025"/>
                      <a:pt x="175780" y="206087"/>
                    </a:cubicBezTo>
                    <a:lnTo>
                      <a:pt x="598343" y="355023"/>
                    </a:lnTo>
                    <a:cubicBezTo>
                      <a:pt x="598343" y="355023"/>
                      <a:pt x="640773" y="367145"/>
                      <a:pt x="640773" y="411307"/>
                    </a:cubicBezTo>
                    <a:close/>
                  </a:path>
                </a:pathLst>
              </a:custGeom>
              <a:grpFill/>
              <a:ln w="8653" cap="flat">
                <a:noFill/>
                <a:prstDash val="solid"/>
                <a:miter/>
              </a:ln>
            </p:spPr>
            <p:txBody>
              <a:bodyPr rtlCol="0" anchor="ctr"/>
              <a:lstStyle/>
              <a:p>
                <a:endParaRPr lang="en-US">
                  <a:solidFill>
                    <a:schemeClr val="tx1"/>
                  </a:solidFill>
                </a:endParaRPr>
              </a:p>
            </p:txBody>
          </p:sp>
          <p:sp>
            <p:nvSpPr>
              <p:cNvPr id="14" name="Freeform 13">
                <a:extLst>
                  <a:ext uri="{FF2B5EF4-FFF2-40B4-BE49-F238E27FC236}">
                    <a16:creationId xmlns:a16="http://schemas.microsoft.com/office/drawing/2014/main" id="{B031D13C-0C00-9E14-38EA-150422BE6075}"/>
                  </a:ext>
                </a:extLst>
              </p:cNvPr>
              <p:cNvSpPr/>
              <p:nvPr/>
            </p:nvSpPr>
            <p:spPr>
              <a:xfrm>
                <a:off x="3726006" y="3557154"/>
                <a:ext cx="126422" cy="128154"/>
              </a:xfrm>
              <a:custGeom>
                <a:avLst/>
                <a:gdLst>
                  <a:gd name="connsiteX0" fmla="*/ 126423 w 126422"/>
                  <a:gd name="connsiteY0" fmla="*/ 0 h 128154"/>
                  <a:gd name="connsiteX1" fmla="*/ 0 w 126422"/>
                  <a:gd name="connsiteY1" fmla="*/ 0 h 128154"/>
                  <a:gd name="connsiteX2" fmla="*/ 0 w 126422"/>
                  <a:gd name="connsiteY2" fmla="*/ 128155 h 128154"/>
                  <a:gd name="connsiteX3" fmla="*/ 126423 w 126422"/>
                  <a:gd name="connsiteY3" fmla="*/ 128155 h 128154"/>
                  <a:gd name="connsiteX4" fmla="*/ 126423 w 126422"/>
                  <a:gd name="connsiteY4" fmla="*/ 0 h 128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22" h="128154">
                    <a:moveTo>
                      <a:pt x="126423" y="0"/>
                    </a:moveTo>
                    <a:lnTo>
                      <a:pt x="0" y="0"/>
                    </a:lnTo>
                    <a:lnTo>
                      <a:pt x="0" y="128155"/>
                    </a:lnTo>
                    <a:lnTo>
                      <a:pt x="126423" y="128155"/>
                    </a:lnTo>
                    <a:lnTo>
                      <a:pt x="126423" y="0"/>
                    </a:lnTo>
                    <a:close/>
                  </a:path>
                </a:pathLst>
              </a:custGeom>
              <a:grpFill/>
              <a:ln w="8653" cap="flat">
                <a:noFill/>
                <a:prstDash val="solid"/>
                <a:miter/>
              </a:ln>
            </p:spPr>
            <p:txBody>
              <a:bodyPr rtlCol="0" anchor="ctr"/>
              <a:lstStyle/>
              <a:p>
                <a:endParaRPr lang="en-US">
                  <a:solidFill>
                    <a:schemeClr val="tx1"/>
                  </a:solidFill>
                </a:endParaRPr>
              </a:p>
            </p:txBody>
          </p:sp>
          <p:sp>
            <p:nvSpPr>
              <p:cNvPr id="16" name="Freeform 15">
                <a:extLst>
                  <a:ext uri="{FF2B5EF4-FFF2-40B4-BE49-F238E27FC236}">
                    <a16:creationId xmlns:a16="http://schemas.microsoft.com/office/drawing/2014/main" id="{8065ACE3-71DE-DB87-D5B2-0BCD87760D85}"/>
                  </a:ext>
                </a:extLst>
              </p:cNvPr>
              <p:cNvSpPr/>
              <p:nvPr/>
            </p:nvSpPr>
            <p:spPr>
              <a:xfrm>
                <a:off x="7827818" y="3172690"/>
                <a:ext cx="639040" cy="514349"/>
              </a:xfrm>
              <a:custGeom>
                <a:avLst/>
                <a:gdLst>
                  <a:gd name="connsiteX0" fmla="*/ 639041 w 639040"/>
                  <a:gd name="connsiteY0" fmla="*/ 129020 h 514349"/>
                  <a:gd name="connsiteX1" fmla="*/ 639041 w 639040"/>
                  <a:gd name="connsiteY1" fmla="*/ 0 h 514349"/>
                  <a:gd name="connsiteX2" fmla="*/ 526473 w 639040"/>
                  <a:gd name="connsiteY2" fmla="*/ 0 h 514349"/>
                  <a:gd name="connsiteX3" fmla="*/ 502227 w 639040"/>
                  <a:gd name="connsiteY3" fmla="*/ 9525 h 514349"/>
                  <a:gd name="connsiteX4" fmla="*/ 302203 w 639040"/>
                  <a:gd name="connsiteY4" fmla="*/ 191366 h 514349"/>
                  <a:gd name="connsiteX5" fmla="*/ 281420 w 639040"/>
                  <a:gd name="connsiteY5" fmla="*/ 200025 h 514349"/>
                  <a:gd name="connsiteX6" fmla="*/ 142009 w 639040"/>
                  <a:gd name="connsiteY6" fmla="*/ 200025 h 514349"/>
                  <a:gd name="connsiteX7" fmla="*/ 126423 w 639040"/>
                  <a:gd name="connsiteY7" fmla="*/ 184439 h 514349"/>
                  <a:gd name="connsiteX8" fmla="*/ 126423 w 639040"/>
                  <a:gd name="connsiteY8" fmla="*/ 866 h 514349"/>
                  <a:gd name="connsiteX9" fmla="*/ 0 w 639040"/>
                  <a:gd name="connsiteY9" fmla="*/ 866 h 514349"/>
                  <a:gd name="connsiteX10" fmla="*/ 0 w 639040"/>
                  <a:gd name="connsiteY10" fmla="*/ 513484 h 514349"/>
                  <a:gd name="connsiteX11" fmla="*/ 126423 w 639040"/>
                  <a:gd name="connsiteY11" fmla="*/ 513484 h 514349"/>
                  <a:gd name="connsiteX12" fmla="*/ 126423 w 639040"/>
                  <a:gd name="connsiteY12" fmla="*/ 329911 h 514349"/>
                  <a:gd name="connsiteX13" fmla="*/ 142009 w 639040"/>
                  <a:gd name="connsiteY13" fmla="*/ 314325 h 514349"/>
                  <a:gd name="connsiteX14" fmla="*/ 281420 w 639040"/>
                  <a:gd name="connsiteY14" fmla="*/ 314325 h 514349"/>
                  <a:gd name="connsiteX15" fmla="*/ 302203 w 639040"/>
                  <a:gd name="connsiteY15" fmla="*/ 322984 h 514349"/>
                  <a:gd name="connsiteX16" fmla="*/ 502227 w 639040"/>
                  <a:gd name="connsiteY16" fmla="*/ 504825 h 514349"/>
                  <a:gd name="connsiteX17" fmla="*/ 526473 w 639040"/>
                  <a:gd name="connsiteY17" fmla="*/ 514350 h 514349"/>
                  <a:gd name="connsiteX18" fmla="*/ 639041 w 639040"/>
                  <a:gd name="connsiteY18" fmla="*/ 514350 h 514349"/>
                  <a:gd name="connsiteX19" fmla="*/ 639041 w 639040"/>
                  <a:gd name="connsiteY19" fmla="*/ 386196 h 514349"/>
                  <a:gd name="connsiteX20" fmla="*/ 577562 w 639040"/>
                  <a:gd name="connsiteY20" fmla="*/ 386196 h 514349"/>
                  <a:gd name="connsiteX21" fmla="*/ 524741 w 639040"/>
                  <a:gd name="connsiteY21" fmla="*/ 367145 h 514349"/>
                  <a:gd name="connsiteX22" fmla="*/ 429491 w 639040"/>
                  <a:gd name="connsiteY22" fmla="*/ 283152 h 514349"/>
                  <a:gd name="connsiteX23" fmla="*/ 429491 w 639040"/>
                  <a:gd name="connsiteY23" fmla="*/ 233795 h 514349"/>
                  <a:gd name="connsiteX24" fmla="*/ 524741 w 639040"/>
                  <a:gd name="connsiteY24" fmla="*/ 149802 h 514349"/>
                  <a:gd name="connsiteX25" fmla="*/ 577562 w 639040"/>
                  <a:gd name="connsiteY25" fmla="*/ 130752 h 514349"/>
                  <a:gd name="connsiteX26" fmla="*/ 639041 w 639040"/>
                  <a:gd name="connsiteY26" fmla="*/ 130752 h 514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39040" h="514349">
                    <a:moveTo>
                      <a:pt x="639041" y="129020"/>
                    </a:moveTo>
                    <a:lnTo>
                      <a:pt x="639041" y="0"/>
                    </a:lnTo>
                    <a:lnTo>
                      <a:pt x="526473" y="0"/>
                    </a:lnTo>
                    <a:cubicBezTo>
                      <a:pt x="517814" y="0"/>
                      <a:pt x="509154" y="3464"/>
                      <a:pt x="502227" y="9525"/>
                    </a:cubicBezTo>
                    <a:lnTo>
                      <a:pt x="302203" y="191366"/>
                    </a:lnTo>
                    <a:cubicBezTo>
                      <a:pt x="296141" y="196561"/>
                      <a:pt x="289214" y="200025"/>
                      <a:pt x="281420" y="200025"/>
                    </a:cubicBezTo>
                    <a:lnTo>
                      <a:pt x="142009" y="200025"/>
                    </a:lnTo>
                    <a:cubicBezTo>
                      <a:pt x="133350" y="200025"/>
                      <a:pt x="126423" y="193098"/>
                      <a:pt x="126423" y="184439"/>
                    </a:cubicBezTo>
                    <a:lnTo>
                      <a:pt x="126423" y="866"/>
                    </a:lnTo>
                    <a:lnTo>
                      <a:pt x="0" y="866"/>
                    </a:lnTo>
                    <a:lnTo>
                      <a:pt x="0" y="513484"/>
                    </a:lnTo>
                    <a:lnTo>
                      <a:pt x="126423" y="513484"/>
                    </a:lnTo>
                    <a:lnTo>
                      <a:pt x="126423" y="329911"/>
                    </a:lnTo>
                    <a:cubicBezTo>
                      <a:pt x="126423" y="321252"/>
                      <a:pt x="133350" y="314325"/>
                      <a:pt x="142009" y="314325"/>
                    </a:cubicBezTo>
                    <a:lnTo>
                      <a:pt x="281420" y="314325"/>
                    </a:lnTo>
                    <a:cubicBezTo>
                      <a:pt x="289214" y="314325"/>
                      <a:pt x="296141" y="316923"/>
                      <a:pt x="302203" y="322984"/>
                    </a:cubicBezTo>
                    <a:lnTo>
                      <a:pt x="502227" y="504825"/>
                    </a:lnTo>
                    <a:cubicBezTo>
                      <a:pt x="509154" y="510886"/>
                      <a:pt x="517814" y="514350"/>
                      <a:pt x="526473" y="514350"/>
                    </a:cubicBezTo>
                    <a:lnTo>
                      <a:pt x="639041" y="514350"/>
                    </a:lnTo>
                    <a:lnTo>
                      <a:pt x="639041" y="386196"/>
                    </a:lnTo>
                    <a:lnTo>
                      <a:pt x="577562" y="386196"/>
                    </a:lnTo>
                    <a:cubicBezTo>
                      <a:pt x="558511" y="386196"/>
                      <a:pt x="539461" y="379268"/>
                      <a:pt x="524741" y="367145"/>
                    </a:cubicBezTo>
                    <a:lnTo>
                      <a:pt x="429491" y="283152"/>
                    </a:lnTo>
                    <a:cubicBezTo>
                      <a:pt x="414771" y="270164"/>
                      <a:pt x="414771" y="247650"/>
                      <a:pt x="429491" y="233795"/>
                    </a:cubicBezTo>
                    <a:lnTo>
                      <a:pt x="524741" y="149802"/>
                    </a:lnTo>
                    <a:cubicBezTo>
                      <a:pt x="539461" y="137680"/>
                      <a:pt x="557646" y="131618"/>
                      <a:pt x="577562" y="130752"/>
                    </a:cubicBezTo>
                    <a:lnTo>
                      <a:pt x="639041" y="130752"/>
                    </a:lnTo>
                    <a:close/>
                  </a:path>
                </a:pathLst>
              </a:custGeom>
              <a:grpFill/>
              <a:ln w="8653" cap="flat">
                <a:noFill/>
                <a:prstDash val="solid"/>
                <a:miter/>
              </a:ln>
            </p:spPr>
            <p:txBody>
              <a:bodyPr rtlCol="0" anchor="ctr"/>
              <a:lstStyle/>
              <a:p>
                <a:endParaRPr lang="en-US">
                  <a:solidFill>
                    <a:schemeClr val="tx1"/>
                  </a:solidFill>
                </a:endParaRPr>
              </a:p>
            </p:txBody>
          </p:sp>
          <p:sp>
            <p:nvSpPr>
              <p:cNvPr id="17" name="Freeform 16">
                <a:extLst>
                  <a:ext uri="{FF2B5EF4-FFF2-40B4-BE49-F238E27FC236}">
                    <a16:creationId xmlns:a16="http://schemas.microsoft.com/office/drawing/2014/main" id="{3E272DE8-1E8C-8684-18A3-E47AAF21B373}"/>
                  </a:ext>
                </a:extLst>
              </p:cNvPr>
              <p:cNvSpPr/>
              <p:nvPr/>
            </p:nvSpPr>
            <p:spPr>
              <a:xfrm>
                <a:off x="4441247" y="3172690"/>
                <a:ext cx="692727" cy="513484"/>
              </a:xfrm>
              <a:custGeom>
                <a:avLst/>
                <a:gdLst>
                  <a:gd name="connsiteX0" fmla="*/ 497898 w 692727"/>
                  <a:gd name="connsiteY0" fmla="*/ 0 h 513484"/>
                  <a:gd name="connsiteX1" fmla="*/ 351559 w 692727"/>
                  <a:gd name="connsiteY1" fmla="*/ 72736 h 513484"/>
                  <a:gd name="connsiteX2" fmla="*/ 0 w 692727"/>
                  <a:gd name="connsiteY2" fmla="*/ 512618 h 513484"/>
                  <a:gd name="connsiteX3" fmla="*/ 178377 w 692727"/>
                  <a:gd name="connsiteY3" fmla="*/ 512618 h 513484"/>
                  <a:gd name="connsiteX4" fmla="*/ 468457 w 692727"/>
                  <a:gd name="connsiteY4" fmla="*/ 155864 h 513484"/>
                  <a:gd name="connsiteX5" fmla="*/ 516082 w 692727"/>
                  <a:gd name="connsiteY5" fmla="*/ 129886 h 513484"/>
                  <a:gd name="connsiteX6" fmla="*/ 564573 w 692727"/>
                  <a:gd name="connsiteY6" fmla="*/ 184439 h 513484"/>
                  <a:gd name="connsiteX7" fmla="*/ 564573 w 692727"/>
                  <a:gd name="connsiteY7" fmla="*/ 339436 h 513484"/>
                  <a:gd name="connsiteX8" fmla="*/ 528205 w 692727"/>
                  <a:gd name="connsiteY8" fmla="*/ 385330 h 513484"/>
                  <a:gd name="connsiteX9" fmla="*/ 492702 w 692727"/>
                  <a:gd name="connsiteY9" fmla="*/ 385330 h 513484"/>
                  <a:gd name="connsiteX10" fmla="*/ 492702 w 692727"/>
                  <a:gd name="connsiteY10" fmla="*/ 513484 h 513484"/>
                  <a:gd name="connsiteX11" fmla="*/ 692727 w 692727"/>
                  <a:gd name="connsiteY11" fmla="*/ 513484 h 513484"/>
                  <a:gd name="connsiteX12" fmla="*/ 692727 w 692727"/>
                  <a:gd name="connsiteY12" fmla="*/ 192232 h 513484"/>
                  <a:gd name="connsiteX13" fmla="*/ 497898 w 692727"/>
                  <a:gd name="connsiteY13" fmla="*/ 866 h 513484"/>
                  <a:gd name="connsiteX14" fmla="*/ 497898 w 692727"/>
                  <a:gd name="connsiteY14" fmla="*/ 866 h 513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2727" h="513484">
                    <a:moveTo>
                      <a:pt x="497898" y="0"/>
                    </a:moveTo>
                    <a:cubicBezTo>
                      <a:pt x="440748" y="866"/>
                      <a:pt x="387061" y="27709"/>
                      <a:pt x="351559" y="72736"/>
                    </a:cubicBezTo>
                    <a:lnTo>
                      <a:pt x="0" y="512618"/>
                    </a:lnTo>
                    <a:lnTo>
                      <a:pt x="178377" y="512618"/>
                    </a:lnTo>
                    <a:lnTo>
                      <a:pt x="468457" y="155864"/>
                    </a:lnTo>
                    <a:cubicBezTo>
                      <a:pt x="483177" y="138545"/>
                      <a:pt x="493568" y="129886"/>
                      <a:pt x="516082" y="129886"/>
                    </a:cubicBezTo>
                    <a:cubicBezTo>
                      <a:pt x="538596" y="129886"/>
                      <a:pt x="564573" y="154998"/>
                      <a:pt x="564573" y="184439"/>
                    </a:cubicBezTo>
                    <a:lnTo>
                      <a:pt x="564573" y="339436"/>
                    </a:lnTo>
                    <a:cubicBezTo>
                      <a:pt x="564573" y="364548"/>
                      <a:pt x="551584" y="385330"/>
                      <a:pt x="528205" y="385330"/>
                    </a:cubicBezTo>
                    <a:lnTo>
                      <a:pt x="492702" y="385330"/>
                    </a:lnTo>
                    <a:lnTo>
                      <a:pt x="492702" y="513484"/>
                    </a:lnTo>
                    <a:lnTo>
                      <a:pt x="692727" y="513484"/>
                    </a:lnTo>
                    <a:lnTo>
                      <a:pt x="692727" y="192232"/>
                    </a:lnTo>
                    <a:cubicBezTo>
                      <a:pt x="692727" y="166255"/>
                      <a:pt x="692727" y="866"/>
                      <a:pt x="497898" y="866"/>
                    </a:cubicBezTo>
                    <a:lnTo>
                      <a:pt x="497898" y="866"/>
                    </a:lnTo>
                    <a:close/>
                  </a:path>
                </a:pathLst>
              </a:custGeom>
              <a:grpFill/>
              <a:ln w="8653" cap="flat">
                <a:noFill/>
                <a:prstDash val="solid"/>
                <a:miter/>
              </a:ln>
            </p:spPr>
            <p:txBody>
              <a:bodyPr rtlCol="0" anchor="ctr"/>
              <a:lstStyle/>
              <a:p>
                <a:endParaRPr lang="en-US">
                  <a:solidFill>
                    <a:schemeClr val="tx1"/>
                  </a:solidFill>
                </a:endParaRPr>
              </a:p>
            </p:txBody>
          </p:sp>
        </p:grpSp>
        <p:grpSp>
          <p:nvGrpSpPr>
            <p:cNvPr id="5" name="Group 4">
              <a:extLst>
                <a:ext uri="{FF2B5EF4-FFF2-40B4-BE49-F238E27FC236}">
                  <a16:creationId xmlns:a16="http://schemas.microsoft.com/office/drawing/2014/main" id="{B8DD0071-FF36-FB3D-BCFC-5CDF9D4BB8E4}"/>
                </a:ext>
              </a:extLst>
            </p:cNvPr>
            <p:cNvGrpSpPr/>
            <p:nvPr/>
          </p:nvGrpSpPr>
          <p:grpSpPr>
            <a:xfrm>
              <a:off x="11237775" y="5428812"/>
              <a:ext cx="644881" cy="280035"/>
              <a:chOff x="11237775" y="5428812"/>
              <a:chExt cx="644881" cy="280035"/>
            </a:xfrm>
            <a:grpFill/>
          </p:grpSpPr>
          <p:sp>
            <p:nvSpPr>
              <p:cNvPr id="6" name="Freeform 5">
                <a:extLst>
                  <a:ext uri="{FF2B5EF4-FFF2-40B4-BE49-F238E27FC236}">
                    <a16:creationId xmlns:a16="http://schemas.microsoft.com/office/drawing/2014/main" id="{FC72BE89-CE24-18EC-0AB5-646830BB6488}"/>
                  </a:ext>
                </a:extLst>
              </p:cNvPr>
              <p:cNvSpPr/>
              <p:nvPr/>
            </p:nvSpPr>
            <p:spPr>
              <a:xfrm>
                <a:off x="11237775" y="5428812"/>
                <a:ext cx="245631" cy="280035"/>
              </a:xfrm>
              <a:custGeom>
                <a:avLst/>
                <a:gdLst/>
                <a:ahLst/>
                <a:cxnLst/>
                <a:rect l="l" t="t" r="r" b="b"/>
                <a:pathLst>
                  <a:path w="245631" h="280035">
                    <a:moveTo>
                      <a:pt x="0" y="0"/>
                    </a:moveTo>
                    <a:lnTo>
                      <a:pt x="245631" y="0"/>
                    </a:lnTo>
                    <a:lnTo>
                      <a:pt x="245631" y="50407"/>
                    </a:lnTo>
                    <a:lnTo>
                      <a:pt x="151219" y="50407"/>
                    </a:lnTo>
                    <a:lnTo>
                      <a:pt x="151219" y="280035"/>
                    </a:lnTo>
                    <a:lnTo>
                      <a:pt x="93612" y="280035"/>
                    </a:lnTo>
                    <a:lnTo>
                      <a:pt x="93612" y="50407"/>
                    </a:lnTo>
                    <a:lnTo>
                      <a:pt x="0" y="50407"/>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7" name="Freeform 6">
                <a:extLst>
                  <a:ext uri="{FF2B5EF4-FFF2-40B4-BE49-F238E27FC236}">
                    <a16:creationId xmlns:a16="http://schemas.microsoft.com/office/drawing/2014/main" id="{153D48ED-44B9-8C7C-1618-E4932A3F335F}"/>
                  </a:ext>
                </a:extLst>
              </p:cNvPr>
              <p:cNvSpPr/>
              <p:nvPr/>
            </p:nvSpPr>
            <p:spPr>
              <a:xfrm>
                <a:off x="11521011" y="5428812"/>
                <a:ext cx="361645" cy="280035"/>
              </a:xfrm>
              <a:custGeom>
                <a:avLst/>
                <a:gdLst/>
                <a:ahLst/>
                <a:cxnLst/>
                <a:rect l="l" t="t" r="r" b="b"/>
                <a:pathLst>
                  <a:path w="361645" h="280035">
                    <a:moveTo>
                      <a:pt x="0" y="0"/>
                    </a:moveTo>
                    <a:lnTo>
                      <a:pt x="100012" y="0"/>
                    </a:lnTo>
                    <a:lnTo>
                      <a:pt x="181622" y="210427"/>
                    </a:lnTo>
                    <a:lnTo>
                      <a:pt x="185623" y="210427"/>
                    </a:lnTo>
                    <a:lnTo>
                      <a:pt x="268033" y="0"/>
                    </a:lnTo>
                    <a:lnTo>
                      <a:pt x="361645" y="0"/>
                    </a:lnTo>
                    <a:lnTo>
                      <a:pt x="361645" y="280035"/>
                    </a:lnTo>
                    <a:lnTo>
                      <a:pt x="305638" y="280035"/>
                    </a:lnTo>
                    <a:lnTo>
                      <a:pt x="305638" y="48006"/>
                    </a:lnTo>
                    <a:lnTo>
                      <a:pt x="301637" y="48006"/>
                    </a:lnTo>
                    <a:lnTo>
                      <a:pt x="211226" y="280035"/>
                    </a:lnTo>
                    <a:lnTo>
                      <a:pt x="150418" y="280035"/>
                    </a:lnTo>
                    <a:lnTo>
                      <a:pt x="60007" y="48006"/>
                    </a:lnTo>
                    <a:lnTo>
                      <a:pt x="56807" y="48006"/>
                    </a:lnTo>
                    <a:lnTo>
                      <a:pt x="56807" y="280035"/>
                    </a:lnTo>
                    <a:lnTo>
                      <a:pt x="0" y="280035"/>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grpSp>
      </p:grpSp>
      <p:sp>
        <p:nvSpPr>
          <p:cNvPr id="19" name="Rectangle 18">
            <a:extLst>
              <a:ext uri="{FF2B5EF4-FFF2-40B4-BE49-F238E27FC236}">
                <a16:creationId xmlns:a16="http://schemas.microsoft.com/office/drawing/2014/main" id="{AA526EF8-C741-90B4-C2E4-5A46E47F861D}"/>
              </a:ext>
            </a:extLst>
          </p:cNvPr>
          <p:cNvSpPr/>
          <p:nvPr/>
        </p:nvSpPr>
        <p:spPr>
          <a:xfrm>
            <a:off x="11563470" y="293688"/>
            <a:ext cx="336430" cy="33643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8880863"/>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resentation Title and Subtitle Gray">
    <p:bg>
      <p:bgPr>
        <a:solidFill>
          <a:schemeClr val="accent1"/>
        </a:solidFill>
        <a:effectLst/>
      </p:bgPr>
    </p:bg>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F33C628C-D29E-A044-B2EB-3DC2477C6A1B}"/>
              </a:ext>
            </a:extLst>
          </p:cNvPr>
          <p:cNvSpPr>
            <a:spLocks noGrp="1"/>
          </p:cNvSpPr>
          <p:nvPr>
            <p:ph type="body" sz="quarter" idx="11" hasCustomPrompt="1"/>
          </p:nvPr>
        </p:nvSpPr>
        <p:spPr>
          <a:xfrm>
            <a:off x="6096001" y="5014684"/>
            <a:ext cx="5791200" cy="155448"/>
          </a:xfrm>
          <a:prstGeom prst="rect">
            <a:avLst/>
          </a:prstGeom>
        </p:spPr>
        <p:txBody>
          <a:bodyPr wrap="square" lIns="45720" tIns="0" rIns="0" bIns="0" anchor="t">
            <a:spAutoFit/>
          </a:bodyPr>
          <a:lstStyle>
            <a:lvl1pPr marL="0" indent="0" algn="r">
              <a:lnSpc>
                <a:spcPct val="100000"/>
              </a:lnSpc>
              <a:spcAft>
                <a:spcPts val="0"/>
              </a:spcAft>
              <a:buNone/>
              <a:defRPr sz="1000" b="0" i="0" spc="0">
                <a:solidFill>
                  <a:schemeClr val="tx1"/>
                </a:solidFill>
                <a:latin typeface="NB Architekt Pro Neue" panose="02010509020201040001" pitchFamily="49" charset="77"/>
                <a:cs typeface="Consolas" panose="020B0609020204030204" pitchFamily="49" charset="0"/>
              </a:defRPr>
            </a:lvl1pPr>
            <a:lvl2pPr marL="457173" indent="0">
              <a:buNone/>
              <a:defRPr sz="2400">
                <a:solidFill>
                  <a:schemeClr val="bg1"/>
                </a:solidFill>
              </a:defRPr>
            </a:lvl2pPr>
            <a:lvl3pPr marL="914346" indent="0">
              <a:buNone/>
              <a:defRPr sz="2400">
                <a:solidFill>
                  <a:schemeClr val="bg1"/>
                </a:solidFill>
              </a:defRPr>
            </a:lvl3pPr>
            <a:lvl4pPr marL="1371519" indent="0">
              <a:buNone/>
              <a:defRPr sz="2400">
                <a:solidFill>
                  <a:schemeClr val="bg1"/>
                </a:solidFill>
              </a:defRPr>
            </a:lvl4pPr>
            <a:lvl5pPr marL="1828693" indent="0">
              <a:buNone/>
              <a:defRPr sz="2400">
                <a:solidFill>
                  <a:schemeClr val="bg1"/>
                </a:solidFill>
              </a:defRPr>
            </a:lvl5pPr>
          </a:lstStyle>
          <a:p>
            <a:pPr lvl="0"/>
            <a:r>
              <a:rPr lang="en-US"/>
              <a:t>CLICK TO ADD PRESENTER’S NAME, TITLE</a:t>
            </a:r>
          </a:p>
        </p:txBody>
      </p:sp>
      <p:sp>
        <p:nvSpPr>
          <p:cNvPr id="24" name="name_2024 sandisk or its affiliates All rights reserved">
            <a:extLst>
              <a:ext uri="{FF2B5EF4-FFF2-40B4-BE49-F238E27FC236}">
                <a16:creationId xmlns:a16="http://schemas.microsoft.com/office/drawing/2014/main" id="{6D8CD1FC-8805-8BD2-8CBE-E0CCBB790C5D}"/>
              </a:ext>
            </a:extLst>
          </p:cNvPr>
          <p:cNvSpPr txBox="1"/>
          <p:nvPr/>
        </p:nvSpPr>
        <p:spPr>
          <a:xfrm>
            <a:off x="301625" y="5014684"/>
            <a:ext cx="1447800"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tx1"/>
                </a:solidFill>
                <a:latin typeface="NB Architekt Pro Neue" panose="02010509020201040001" pitchFamily="49" charset="77"/>
                <a:cs typeface="Consolas" panose="020B0609020204030204" pitchFamily="49" charset="0"/>
              </a:rPr>
              <a:t>[Confidential]</a:t>
            </a:r>
          </a:p>
        </p:txBody>
      </p:sp>
      <p:sp>
        <p:nvSpPr>
          <p:cNvPr id="40" name="Title 2">
            <a:extLst>
              <a:ext uri="{FF2B5EF4-FFF2-40B4-BE49-F238E27FC236}">
                <a16:creationId xmlns:a16="http://schemas.microsoft.com/office/drawing/2014/main" id="{34F3AA0F-AE20-56C9-A000-E9EE240A3F05}"/>
              </a:ext>
            </a:extLst>
          </p:cNvPr>
          <p:cNvSpPr>
            <a:spLocks noGrp="1"/>
          </p:cNvSpPr>
          <p:nvPr>
            <p:ph type="title" hasCustomPrompt="1"/>
          </p:nvPr>
        </p:nvSpPr>
        <p:spPr>
          <a:xfrm>
            <a:off x="292100" y="208998"/>
            <a:ext cx="10871200" cy="4023804"/>
          </a:xfrm>
          <a:prstGeom prst="rect">
            <a:avLst/>
          </a:prstGeom>
        </p:spPr>
        <p:txBody>
          <a:bodyPr wrap="square" lIns="0" tIns="0" anchor="t">
            <a:noAutofit/>
          </a:bodyPr>
          <a:lstStyle>
            <a:lvl1pPr marL="0" indent="0">
              <a:lnSpc>
                <a:spcPct val="88000"/>
              </a:lnSpc>
              <a:defRPr sz="8000" b="0" spc="-220" baseline="0">
                <a:solidFill>
                  <a:schemeClr val="tx1"/>
                </a:solidFill>
                <a:latin typeface="+mj-lt"/>
              </a:defRPr>
            </a:lvl1pPr>
          </a:lstStyle>
          <a:p>
            <a:pPr lvl="0"/>
            <a:r>
              <a:rPr lang="en-US"/>
              <a:t>CLICK TO ADD TITLE</a:t>
            </a:r>
          </a:p>
        </p:txBody>
      </p:sp>
      <p:sp>
        <p:nvSpPr>
          <p:cNvPr id="66" name="Text Placeholder 65">
            <a:extLst>
              <a:ext uri="{FF2B5EF4-FFF2-40B4-BE49-F238E27FC236}">
                <a16:creationId xmlns:a16="http://schemas.microsoft.com/office/drawing/2014/main" id="{D58DA466-A993-04AF-B67A-65B6194E07EE}"/>
              </a:ext>
            </a:extLst>
          </p:cNvPr>
          <p:cNvSpPr>
            <a:spLocks noGrp="1"/>
          </p:cNvSpPr>
          <p:nvPr>
            <p:ph type="body" sz="quarter" idx="12" hasCustomPrompt="1"/>
          </p:nvPr>
        </p:nvSpPr>
        <p:spPr>
          <a:xfrm>
            <a:off x="3194050" y="5014684"/>
            <a:ext cx="2901950" cy="155448"/>
          </a:xfrm>
        </p:spPr>
        <p:txBody>
          <a:bodyPr lIns="0"/>
          <a:lstStyle>
            <a:lvl1pPr marL="0" indent="0">
              <a:buNone/>
              <a:defRPr sz="1000" b="0" i="0">
                <a:solidFill>
                  <a:schemeClr val="tx1"/>
                </a:solidFill>
                <a:latin typeface="NB Architekt Pro Neue" panose="02010509020201040001" pitchFamily="49" charset="77"/>
              </a:defRPr>
            </a:lvl1pPr>
          </a:lstStyle>
          <a:p>
            <a:pPr lvl="0"/>
            <a:r>
              <a:rPr lang="en-US"/>
              <a:t>CLICK TO ADD DATE</a:t>
            </a:r>
          </a:p>
        </p:txBody>
      </p:sp>
      <p:grpSp>
        <p:nvGrpSpPr>
          <p:cNvPr id="2" name="Group 1">
            <a:extLst>
              <a:ext uri="{FF2B5EF4-FFF2-40B4-BE49-F238E27FC236}">
                <a16:creationId xmlns:a16="http://schemas.microsoft.com/office/drawing/2014/main" id="{FCDDF994-F924-91C6-3F1E-E4E0875CC5B8}"/>
              </a:ext>
            </a:extLst>
          </p:cNvPr>
          <p:cNvGrpSpPr/>
          <p:nvPr/>
        </p:nvGrpSpPr>
        <p:grpSpPr>
          <a:xfrm>
            <a:off x="297005" y="5411270"/>
            <a:ext cx="11602895" cy="1158371"/>
            <a:chOff x="297005" y="5421618"/>
            <a:chExt cx="11585651" cy="1156649"/>
          </a:xfrm>
          <a:solidFill>
            <a:schemeClr val="tx1"/>
          </a:solidFill>
        </p:grpSpPr>
        <p:grpSp>
          <p:nvGrpSpPr>
            <p:cNvPr id="3" name="Group 2">
              <a:extLst>
                <a:ext uri="{FF2B5EF4-FFF2-40B4-BE49-F238E27FC236}">
                  <a16:creationId xmlns:a16="http://schemas.microsoft.com/office/drawing/2014/main" id="{571B6FE7-EBB1-DA7B-4A82-3C2956220F14}"/>
                </a:ext>
              </a:extLst>
            </p:cNvPr>
            <p:cNvGrpSpPr/>
            <p:nvPr/>
          </p:nvGrpSpPr>
          <p:grpSpPr>
            <a:xfrm>
              <a:off x="297005" y="5421618"/>
              <a:ext cx="10643138" cy="1156649"/>
              <a:chOff x="3726006" y="3171824"/>
              <a:chExt cx="4740852" cy="515215"/>
            </a:xfrm>
            <a:grpFill/>
          </p:grpSpPr>
          <p:sp>
            <p:nvSpPr>
              <p:cNvPr id="8" name="Freeform 7">
                <a:extLst>
                  <a:ext uri="{FF2B5EF4-FFF2-40B4-BE49-F238E27FC236}">
                    <a16:creationId xmlns:a16="http://schemas.microsoft.com/office/drawing/2014/main" id="{41CE9A53-042C-0D1D-67F0-DD8E216DD81D}"/>
                  </a:ext>
                </a:extLst>
              </p:cNvPr>
              <p:cNvSpPr/>
              <p:nvPr/>
            </p:nvSpPr>
            <p:spPr>
              <a:xfrm>
                <a:off x="5262995" y="3173556"/>
                <a:ext cx="639906" cy="512618"/>
              </a:xfrm>
              <a:custGeom>
                <a:avLst/>
                <a:gdLst>
                  <a:gd name="connsiteX0" fmla="*/ 512618 w 639906"/>
                  <a:gd name="connsiteY0" fmla="*/ 348961 h 512618"/>
                  <a:gd name="connsiteX1" fmla="*/ 482311 w 639906"/>
                  <a:gd name="connsiteY1" fmla="*/ 383598 h 512618"/>
                  <a:gd name="connsiteX2" fmla="*/ 446809 w 639906"/>
                  <a:gd name="connsiteY2" fmla="*/ 361950 h 512618"/>
                  <a:gd name="connsiteX3" fmla="*/ 329911 w 639906"/>
                  <a:gd name="connsiteY3" fmla="*/ 40698 h 512618"/>
                  <a:gd name="connsiteX4" fmla="*/ 274493 w 639906"/>
                  <a:gd name="connsiteY4" fmla="*/ 0 h 512618"/>
                  <a:gd name="connsiteX5" fmla="*/ 0 w 639906"/>
                  <a:gd name="connsiteY5" fmla="*/ 0 h 512618"/>
                  <a:gd name="connsiteX6" fmla="*/ 0 w 639906"/>
                  <a:gd name="connsiteY6" fmla="*/ 512618 h 512618"/>
                  <a:gd name="connsiteX7" fmla="*/ 200891 w 639906"/>
                  <a:gd name="connsiteY7" fmla="*/ 512618 h 512618"/>
                  <a:gd name="connsiteX8" fmla="*/ 200891 w 639906"/>
                  <a:gd name="connsiteY8" fmla="*/ 384464 h 512618"/>
                  <a:gd name="connsiteX9" fmla="*/ 165389 w 639906"/>
                  <a:gd name="connsiteY9" fmla="*/ 384464 h 512618"/>
                  <a:gd name="connsiteX10" fmla="*/ 128155 w 639906"/>
                  <a:gd name="connsiteY10" fmla="*/ 338571 h 512618"/>
                  <a:gd name="connsiteX11" fmla="*/ 128155 w 639906"/>
                  <a:gd name="connsiteY11" fmla="*/ 184439 h 512618"/>
                  <a:gd name="connsiteX12" fmla="*/ 200025 w 639906"/>
                  <a:gd name="connsiteY12" fmla="*/ 133350 h 512618"/>
                  <a:gd name="connsiteX13" fmla="*/ 228600 w 639906"/>
                  <a:gd name="connsiteY13" fmla="*/ 164523 h 512618"/>
                  <a:gd name="connsiteX14" fmla="*/ 322118 w 639906"/>
                  <a:gd name="connsiteY14" fmla="*/ 407843 h 512618"/>
                  <a:gd name="connsiteX15" fmla="*/ 475384 w 639906"/>
                  <a:gd name="connsiteY15" fmla="*/ 512618 h 512618"/>
                  <a:gd name="connsiteX16" fmla="*/ 478848 w 639906"/>
                  <a:gd name="connsiteY16" fmla="*/ 512618 h 512618"/>
                  <a:gd name="connsiteX17" fmla="*/ 639907 w 639906"/>
                  <a:gd name="connsiteY17" fmla="*/ 353291 h 512618"/>
                  <a:gd name="connsiteX18" fmla="*/ 639907 w 639906"/>
                  <a:gd name="connsiteY18" fmla="*/ 0 h 512618"/>
                  <a:gd name="connsiteX19" fmla="*/ 511752 w 639906"/>
                  <a:gd name="connsiteY19" fmla="*/ 0 h 512618"/>
                  <a:gd name="connsiteX20" fmla="*/ 511752 w 639906"/>
                  <a:gd name="connsiteY20" fmla="*/ 349827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39906" h="512618">
                    <a:moveTo>
                      <a:pt x="512618" y="348961"/>
                    </a:moveTo>
                    <a:cubicBezTo>
                      <a:pt x="512618" y="366279"/>
                      <a:pt x="499630" y="381000"/>
                      <a:pt x="482311" y="383598"/>
                    </a:cubicBezTo>
                    <a:cubicBezTo>
                      <a:pt x="466725" y="385330"/>
                      <a:pt x="452005" y="375805"/>
                      <a:pt x="446809" y="361950"/>
                    </a:cubicBezTo>
                    <a:lnTo>
                      <a:pt x="329911" y="40698"/>
                    </a:lnTo>
                    <a:cubicBezTo>
                      <a:pt x="321252" y="14721"/>
                      <a:pt x="299605" y="0"/>
                      <a:pt x="274493" y="0"/>
                    </a:cubicBezTo>
                    <a:lnTo>
                      <a:pt x="0" y="0"/>
                    </a:lnTo>
                    <a:lnTo>
                      <a:pt x="0" y="512618"/>
                    </a:lnTo>
                    <a:lnTo>
                      <a:pt x="200891" y="512618"/>
                    </a:lnTo>
                    <a:lnTo>
                      <a:pt x="200891" y="384464"/>
                    </a:lnTo>
                    <a:lnTo>
                      <a:pt x="165389" y="384464"/>
                    </a:lnTo>
                    <a:cubicBezTo>
                      <a:pt x="142009" y="384464"/>
                      <a:pt x="128155" y="363682"/>
                      <a:pt x="128155" y="338571"/>
                    </a:cubicBezTo>
                    <a:lnTo>
                      <a:pt x="128155" y="184439"/>
                    </a:lnTo>
                    <a:cubicBezTo>
                      <a:pt x="128155" y="146339"/>
                      <a:pt x="165389" y="118630"/>
                      <a:pt x="200025" y="133350"/>
                    </a:cubicBezTo>
                    <a:cubicBezTo>
                      <a:pt x="213014" y="139411"/>
                      <a:pt x="223405" y="150668"/>
                      <a:pt x="228600" y="164523"/>
                    </a:cubicBezTo>
                    <a:lnTo>
                      <a:pt x="322118" y="407843"/>
                    </a:lnTo>
                    <a:cubicBezTo>
                      <a:pt x="346364" y="471920"/>
                      <a:pt x="406977" y="512618"/>
                      <a:pt x="475384" y="512618"/>
                    </a:cubicBezTo>
                    <a:lnTo>
                      <a:pt x="478848" y="512618"/>
                    </a:lnTo>
                    <a:cubicBezTo>
                      <a:pt x="567170" y="512618"/>
                      <a:pt x="639907" y="442480"/>
                      <a:pt x="639907" y="353291"/>
                    </a:cubicBezTo>
                    <a:lnTo>
                      <a:pt x="639907" y="0"/>
                    </a:lnTo>
                    <a:lnTo>
                      <a:pt x="511752" y="0"/>
                    </a:lnTo>
                    <a:lnTo>
                      <a:pt x="511752" y="349827"/>
                    </a:lnTo>
                    <a:close/>
                  </a:path>
                </a:pathLst>
              </a:custGeom>
              <a:grpFill/>
              <a:ln w="8653" cap="flat">
                <a:noFill/>
                <a:prstDash val="solid"/>
                <a:miter/>
              </a:ln>
            </p:spPr>
            <p:txBody>
              <a:bodyPr rtlCol="0" anchor="ctr"/>
              <a:lstStyle/>
              <a:p>
                <a:endParaRPr lang="en-US">
                  <a:solidFill>
                    <a:schemeClr val="tx1"/>
                  </a:solidFill>
                </a:endParaRPr>
              </a:p>
            </p:txBody>
          </p:sp>
          <p:sp>
            <p:nvSpPr>
              <p:cNvPr id="9" name="Freeform 8">
                <a:extLst>
                  <a:ext uri="{FF2B5EF4-FFF2-40B4-BE49-F238E27FC236}">
                    <a16:creationId xmlns:a16="http://schemas.microsoft.com/office/drawing/2014/main" id="{DF8A31ED-BC93-1D0D-4E03-72AF5B573E1D}"/>
                  </a:ext>
                </a:extLst>
              </p:cNvPr>
              <p:cNvSpPr/>
              <p:nvPr/>
            </p:nvSpPr>
            <p:spPr>
              <a:xfrm>
                <a:off x="6031922" y="3172690"/>
                <a:ext cx="640772" cy="512618"/>
              </a:xfrm>
              <a:custGeom>
                <a:avLst/>
                <a:gdLst>
                  <a:gd name="connsiteX0" fmla="*/ 384464 w 640772"/>
                  <a:gd name="connsiteY0" fmla="*/ 0 h 512618"/>
                  <a:gd name="connsiteX1" fmla="*/ 0 w 640772"/>
                  <a:gd name="connsiteY1" fmla="*/ 0 h 512618"/>
                  <a:gd name="connsiteX2" fmla="*/ 0 w 640772"/>
                  <a:gd name="connsiteY2" fmla="*/ 129020 h 512618"/>
                  <a:gd name="connsiteX3" fmla="*/ 384464 w 640772"/>
                  <a:gd name="connsiteY3" fmla="*/ 129020 h 512618"/>
                  <a:gd name="connsiteX4" fmla="*/ 511752 w 640772"/>
                  <a:gd name="connsiteY4" fmla="*/ 256309 h 512618"/>
                  <a:gd name="connsiteX5" fmla="*/ 384464 w 640772"/>
                  <a:gd name="connsiteY5" fmla="*/ 383598 h 512618"/>
                  <a:gd name="connsiteX6" fmla="*/ 0 w 640772"/>
                  <a:gd name="connsiteY6" fmla="*/ 383598 h 512618"/>
                  <a:gd name="connsiteX7" fmla="*/ 0 w 640772"/>
                  <a:gd name="connsiteY7" fmla="*/ 512618 h 512618"/>
                  <a:gd name="connsiteX8" fmla="*/ 384464 w 640772"/>
                  <a:gd name="connsiteY8" fmla="*/ 512618 h 512618"/>
                  <a:gd name="connsiteX9" fmla="*/ 609600 w 640772"/>
                  <a:gd name="connsiteY9" fmla="*/ 380134 h 512618"/>
                  <a:gd name="connsiteX10" fmla="*/ 640773 w 640772"/>
                  <a:gd name="connsiteY10" fmla="*/ 256309 h 512618"/>
                  <a:gd name="connsiteX11" fmla="*/ 609600 w 640772"/>
                  <a:gd name="connsiteY11" fmla="*/ 132484 h 512618"/>
                  <a:gd name="connsiteX12" fmla="*/ 384464 w 640772"/>
                  <a:gd name="connsiteY12" fmla="*/ 0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0772" h="512618">
                    <a:moveTo>
                      <a:pt x="384464" y="0"/>
                    </a:moveTo>
                    <a:lnTo>
                      <a:pt x="0" y="0"/>
                    </a:lnTo>
                    <a:lnTo>
                      <a:pt x="0" y="129020"/>
                    </a:lnTo>
                    <a:lnTo>
                      <a:pt x="384464" y="129020"/>
                    </a:lnTo>
                    <a:cubicBezTo>
                      <a:pt x="452004" y="129020"/>
                      <a:pt x="511752" y="188768"/>
                      <a:pt x="511752" y="256309"/>
                    </a:cubicBezTo>
                    <a:cubicBezTo>
                      <a:pt x="511752" y="323850"/>
                      <a:pt x="452004" y="383598"/>
                      <a:pt x="384464" y="383598"/>
                    </a:cubicBezTo>
                    <a:lnTo>
                      <a:pt x="0" y="383598"/>
                    </a:lnTo>
                    <a:lnTo>
                      <a:pt x="0" y="512618"/>
                    </a:lnTo>
                    <a:lnTo>
                      <a:pt x="384464" y="512618"/>
                    </a:lnTo>
                    <a:cubicBezTo>
                      <a:pt x="481446" y="512618"/>
                      <a:pt x="565439" y="458932"/>
                      <a:pt x="609600" y="380134"/>
                    </a:cubicBezTo>
                    <a:cubicBezTo>
                      <a:pt x="629516" y="343766"/>
                      <a:pt x="640773" y="301337"/>
                      <a:pt x="640773" y="256309"/>
                    </a:cubicBezTo>
                    <a:cubicBezTo>
                      <a:pt x="640773" y="211282"/>
                      <a:pt x="629516" y="169718"/>
                      <a:pt x="609600" y="132484"/>
                    </a:cubicBezTo>
                    <a:cubicBezTo>
                      <a:pt x="566305" y="52821"/>
                      <a:pt x="482311" y="0"/>
                      <a:pt x="384464" y="0"/>
                    </a:cubicBezTo>
                    <a:close/>
                  </a:path>
                </a:pathLst>
              </a:custGeom>
              <a:grpFill/>
              <a:ln w="8653" cap="flat">
                <a:noFill/>
                <a:prstDash val="solid"/>
                <a:miter/>
              </a:ln>
            </p:spPr>
            <p:txBody>
              <a:bodyPr rtlCol="0" anchor="ctr"/>
              <a:lstStyle/>
              <a:p>
                <a:endParaRPr lang="en-US">
                  <a:solidFill>
                    <a:schemeClr val="tx1"/>
                  </a:solidFill>
                </a:endParaRPr>
              </a:p>
            </p:txBody>
          </p:sp>
          <p:sp>
            <p:nvSpPr>
              <p:cNvPr id="10" name="Freeform 9">
                <a:extLst>
                  <a:ext uri="{FF2B5EF4-FFF2-40B4-BE49-F238E27FC236}">
                    <a16:creationId xmlns:a16="http://schemas.microsoft.com/office/drawing/2014/main" id="{6375847E-E13A-CCDC-24A1-BFF9174C4F30}"/>
                  </a:ext>
                </a:extLst>
              </p:cNvPr>
              <p:cNvSpPr/>
              <p:nvPr/>
            </p:nvSpPr>
            <p:spPr>
              <a:xfrm>
                <a:off x="6726381" y="3171824"/>
                <a:ext cx="202622" cy="512618"/>
              </a:xfrm>
              <a:custGeom>
                <a:avLst/>
                <a:gdLst>
                  <a:gd name="connsiteX0" fmla="*/ 25977 w 202622"/>
                  <a:gd name="connsiteY0" fmla="*/ 129021 h 512618"/>
                  <a:gd name="connsiteX1" fmla="*/ 36368 w 202622"/>
                  <a:gd name="connsiteY1" fmla="*/ 129021 h 512618"/>
                  <a:gd name="connsiteX2" fmla="*/ 74468 w 202622"/>
                  <a:gd name="connsiteY2" fmla="*/ 176646 h 512618"/>
                  <a:gd name="connsiteX3" fmla="*/ 74468 w 202622"/>
                  <a:gd name="connsiteY3" fmla="*/ 512618 h 512618"/>
                  <a:gd name="connsiteX4" fmla="*/ 202623 w 202622"/>
                  <a:gd name="connsiteY4" fmla="*/ 512618 h 512618"/>
                  <a:gd name="connsiteX5" fmla="*/ 202623 w 202622"/>
                  <a:gd name="connsiteY5" fmla="*/ 0 h 512618"/>
                  <a:gd name="connsiteX6" fmla="*/ 0 w 202622"/>
                  <a:gd name="connsiteY6" fmla="*/ 0 h 512618"/>
                  <a:gd name="connsiteX7" fmla="*/ 0 w 202622"/>
                  <a:gd name="connsiteY7" fmla="*/ 128155 h 512618"/>
                  <a:gd name="connsiteX8" fmla="*/ 26843 w 202622"/>
                  <a:gd name="connsiteY8" fmla="*/ 128155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622" h="512618">
                    <a:moveTo>
                      <a:pt x="25977" y="129021"/>
                    </a:moveTo>
                    <a:cubicBezTo>
                      <a:pt x="29441" y="129021"/>
                      <a:pt x="32039" y="129021"/>
                      <a:pt x="36368" y="129021"/>
                    </a:cubicBezTo>
                    <a:cubicBezTo>
                      <a:pt x="59748" y="132484"/>
                      <a:pt x="74468" y="151534"/>
                      <a:pt x="74468" y="176646"/>
                    </a:cubicBezTo>
                    <a:lnTo>
                      <a:pt x="74468" y="512618"/>
                    </a:lnTo>
                    <a:lnTo>
                      <a:pt x="202623" y="512618"/>
                    </a:lnTo>
                    <a:lnTo>
                      <a:pt x="202623" y="0"/>
                    </a:lnTo>
                    <a:lnTo>
                      <a:pt x="0" y="0"/>
                    </a:lnTo>
                    <a:lnTo>
                      <a:pt x="0" y="128155"/>
                    </a:lnTo>
                    <a:lnTo>
                      <a:pt x="26843" y="128155"/>
                    </a:lnTo>
                    <a:close/>
                  </a:path>
                </a:pathLst>
              </a:custGeom>
              <a:grpFill/>
              <a:ln w="8653" cap="flat">
                <a:noFill/>
                <a:prstDash val="solid"/>
                <a:miter/>
              </a:ln>
            </p:spPr>
            <p:txBody>
              <a:bodyPr rtlCol="0" anchor="ctr"/>
              <a:lstStyle/>
              <a:p>
                <a:endParaRPr lang="en-US">
                  <a:solidFill>
                    <a:schemeClr val="tx1"/>
                  </a:solidFill>
                </a:endParaRPr>
              </a:p>
            </p:txBody>
          </p:sp>
          <p:sp>
            <p:nvSpPr>
              <p:cNvPr id="11" name="Freeform 10">
                <a:extLst>
                  <a:ext uri="{FF2B5EF4-FFF2-40B4-BE49-F238E27FC236}">
                    <a16:creationId xmlns:a16="http://schemas.microsoft.com/office/drawing/2014/main" id="{C88CEF2C-3CC1-2E7F-DF95-9E63557D8066}"/>
                  </a:ext>
                </a:extLst>
              </p:cNvPr>
              <p:cNvSpPr/>
              <p:nvPr/>
            </p:nvSpPr>
            <p:spPr>
              <a:xfrm>
                <a:off x="7058025" y="3172690"/>
                <a:ext cx="640772" cy="512618"/>
              </a:xfrm>
              <a:custGeom>
                <a:avLst/>
                <a:gdLst>
                  <a:gd name="connsiteX0" fmla="*/ 639907 w 640772"/>
                  <a:gd name="connsiteY0" fmla="*/ 410441 h 512618"/>
                  <a:gd name="connsiteX1" fmla="*/ 639907 w 640772"/>
                  <a:gd name="connsiteY1" fmla="*/ 512618 h 512618"/>
                  <a:gd name="connsiteX2" fmla="*/ 97848 w 640772"/>
                  <a:gd name="connsiteY2" fmla="*/ 304800 h 512618"/>
                  <a:gd name="connsiteX3" fmla="*/ 0 w 640772"/>
                  <a:gd name="connsiteY3" fmla="*/ 154132 h 512618"/>
                  <a:gd name="connsiteX4" fmla="*/ 154998 w 640772"/>
                  <a:gd name="connsiteY4" fmla="*/ 0 h 512618"/>
                  <a:gd name="connsiteX5" fmla="*/ 639907 w 640772"/>
                  <a:gd name="connsiteY5" fmla="*/ 0 h 512618"/>
                  <a:gd name="connsiteX6" fmla="*/ 639907 w 640772"/>
                  <a:gd name="connsiteY6" fmla="*/ 200891 h 512618"/>
                  <a:gd name="connsiteX7" fmla="*/ 511752 w 640772"/>
                  <a:gd name="connsiteY7" fmla="*/ 200891 h 512618"/>
                  <a:gd name="connsiteX8" fmla="*/ 511752 w 640772"/>
                  <a:gd name="connsiteY8" fmla="*/ 165389 h 512618"/>
                  <a:gd name="connsiteX9" fmla="*/ 472786 w 640772"/>
                  <a:gd name="connsiteY9" fmla="*/ 129020 h 512618"/>
                  <a:gd name="connsiteX10" fmla="*/ 189634 w 640772"/>
                  <a:gd name="connsiteY10" fmla="*/ 129020 h 512618"/>
                  <a:gd name="connsiteX11" fmla="*/ 149802 w 640772"/>
                  <a:gd name="connsiteY11" fmla="*/ 167986 h 512618"/>
                  <a:gd name="connsiteX12" fmla="*/ 175779 w 640772"/>
                  <a:gd name="connsiteY12" fmla="*/ 206087 h 512618"/>
                  <a:gd name="connsiteX13" fmla="*/ 598343 w 640772"/>
                  <a:gd name="connsiteY13" fmla="*/ 355023 h 512618"/>
                  <a:gd name="connsiteX14" fmla="*/ 640773 w 640772"/>
                  <a:gd name="connsiteY14" fmla="*/ 411307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0772" h="512618">
                    <a:moveTo>
                      <a:pt x="639907" y="410441"/>
                    </a:moveTo>
                    <a:lnTo>
                      <a:pt x="639907" y="512618"/>
                    </a:lnTo>
                    <a:lnTo>
                      <a:pt x="97848" y="304800"/>
                    </a:lnTo>
                    <a:cubicBezTo>
                      <a:pt x="12123" y="271895"/>
                      <a:pt x="0" y="209550"/>
                      <a:pt x="0" y="154132"/>
                    </a:cubicBezTo>
                    <a:cubicBezTo>
                      <a:pt x="0" y="69273"/>
                      <a:pt x="70139" y="0"/>
                      <a:pt x="154998" y="0"/>
                    </a:cubicBezTo>
                    <a:lnTo>
                      <a:pt x="639907" y="0"/>
                    </a:lnTo>
                    <a:lnTo>
                      <a:pt x="639907" y="200891"/>
                    </a:lnTo>
                    <a:lnTo>
                      <a:pt x="511752" y="200891"/>
                    </a:lnTo>
                    <a:lnTo>
                      <a:pt x="511752" y="165389"/>
                    </a:lnTo>
                    <a:cubicBezTo>
                      <a:pt x="511752" y="144607"/>
                      <a:pt x="491836" y="129020"/>
                      <a:pt x="472786" y="129020"/>
                    </a:cubicBezTo>
                    <a:lnTo>
                      <a:pt x="189634" y="129020"/>
                    </a:lnTo>
                    <a:cubicBezTo>
                      <a:pt x="167986" y="129020"/>
                      <a:pt x="149802" y="146339"/>
                      <a:pt x="149802" y="167986"/>
                    </a:cubicBezTo>
                    <a:cubicBezTo>
                      <a:pt x="149802" y="189634"/>
                      <a:pt x="160193" y="200025"/>
                      <a:pt x="175779" y="206087"/>
                    </a:cubicBezTo>
                    <a:lnTo>
                      <a:pt x="598343" y="355023"/>
                    </a:lnTo>
                    <a:cubicBezTo>
                      <a:pt x="598343" y="355023"/>
                      <a:pt x="640773" y="367145"/>
                      <a:pt x="640773" y="411307"/>
                    </a:cubicBezTo>
                    <a:close/>
                  </a:path>
                </a:pathLst>
              </a:custGeom>
              <a:grpFill/>
              <a:ln w="8653" cap="flat">
                <a:noFill/>
                <a:prstDash val="solid"/>
                <a:miter/>
              </a:ln>
            </p:spPr>
            <p:txBody>
              <a:bodyPr rtlCol="0" anchor="ctr"/>
              <a:lstStyle/>
              <a:p>
                <a:endParaRPr lang="en-US">
                  <a:solidFill>
                    <a:schemeClr val="tx1"/>
                  </a:solidFill>
                </a:endParaRPr>
              </a:p>
            </p:txBody>
          </p:sp>
          <p:sp>
            <p:nvSpPr>
              <p:cNvPr id="12" name="Freeform 11">
                <a:extLst>
                  <a:ext uri="{FF2B5EF4-FFF2-40B4-BE49-F238E27FC236}">
                    <a16:creationId xmlns:a16="http://schemas.microsoft.com/office/drawing/2014/main" id="{112F2B03-8480-D609-B224-E4D743EA85A4}"/>
                  </a:ext>
                </a:extLst>
              </p:cNvPr>
              <p:cNvSpPr/>
              <p:nvPr/>
            </p:nvSpPr>
            <p:spPr>
              <a:xfrm>
                <a:off x="7056293" y="3557154"/>
                <a:ext cx="126422" cy="128154"/>
              </a:xfrm>
              <a:custGeom>
                <a:avLst/>
                <a:gdLst>
                  <a:gd name="connsiteX0" fmla="*/ 126423 w 126422"/>
                  <a:gd name="connsiteY0" fmla="*/ 0 h 128154"/>
                  <a:gd name="connsiteX1" fmla="*/ 0 w 126422"/>
                  <a:gd name="connsiteY1" fmla="*/ 0 h 128154"/>
                  <a:gd name="connsiteX2" fmla="*/ 0 w 126422"/>
                  <a:gd name="connsiteY2" fmla="*/ 128155 h 128154"/>
                  <a:gd name="connsiteX3" fmla="*/ 126423 w 126422"/>
                  <a:gd name="connsiteY3" fmla="*/ 128155 h 128154"/>
                  <a:gd name="connsiteX4" fmla="*/ 126423 w 126422"/>
                  <a:gd name="connsiteY4" fmla="*/ 0 h 128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22" h="128154">
                    <a:moveTo>
                      <a:pt x="126423" y="0"/>
                    </a:moveTo>
                    <a:lnTo>
                      <a:pt x="0" y="0"/>
                    </a:lnTo>
                    <a:lnTo>
                      <a:pt x="0" y="128155"/>
                    </a:lnTo>
                    <a:lnTo>
                      <a:pt x="126423" y="128155"/>
                    </a:lnTo>
                    <a:lnTo>
                      <a:pt x="126423" y="0"/>
                    </a:lnTo>
                    <a:close/>
                  </a:path>
                </a:pathLst>
              </a:custGeom>
              <a:grpFill/>
              <a:ln w="8653" cap="flat">
                <a:noFill/>
                <a:prstDash val="solid"/>
                <a:miter/>
              </a:ln>
            </p:spPr>
            <p:txBody>
              <a:bodyPr rtlCol="0" anchor="ctr"/>
              <a:lstStyle/>
              <a:p>
                <a:endParaRPr lang="en-US">
                  <a:solidFill>
                    <a:schemeClr val="tx1"/>
                  </a:solidFill>
                </a:endParaRPr>
              </a:p>
            </p:txBody>
          </p:sp>
          <p:sp>
            <p:nvSpPr>
              <p:cNvPr id="13" name="Freeform 12">
                <a:extLst>
                  <a:ext uri="{FF2B5EF4-FFF2-40B4-BE49-F238E27FC236}">
                    <a16:creationId xmlns:a16="http://schemas.microsoft.com/office/drawing/2014/main" id="{B1440623-6D14-1615-2242-429016447FA1}"/>
                  </a:ext>
                </a:extLst>
              </p:cNvPr>
              <p:cNvSpPr/>
              <p:nvPr/>
            </p:nvSpPr>
            <p:spPr>
              <a:xfrm>
                <a:off x="3726006" y="3172690"/>
                <a:ext cx="640772" cy="512618"/>
              </a:xfrm>
              <a:custGeom>
                <a:avLst/>
                <a:gdLst>
                  <a:gd name="connsiteX0" fmla="*/ 639907 w 640772"/>
                  <a:gd name="connsiteY0" fmla="*/ 410441 h 512618"/>
                  <a:gd name="connsiteX1" fmla="*/ 639907 w 640772"/>
                  <a:gd name="connsiteY1" fmla="*/ 512618 h 512618"/>
                  <a:gd name="connsiteX2" fmla="*/ 97848 w 640772"/>
                  <a:gd name="connsiteY2" fmla="*/ 304800 h 512618"/>
                  <a:gd name="connsiteX3" fmla="*/ 0 w 640772"/>
                  <a:gd name="connsiteY3" fmla="*/ 154132 h 512618"/>
                  <a:gd name="connsiteX4" fmla="*/ 154998 w 640772"/>
                  <a:gd name="connsiteY4" fmla="*/ 0 h 512618"/>
                  <a:gd name="connsiteX5" fmla="*/ 639907 w 640772"/>
                  <a:gd name="connsiteY5" fmla="*/ 0 h 512618"/>
                  <a:gd name="connsiteX6" fmla="*/ 639907 w 640772"/>
                  <a:gd name="connsiteY6" fmla="*/ 200891 h 512618"/>
                  <a:gd name="connsiteX7" fmla="*/ 511752 w 640772"/>
                  <a:gd name="connsiteY7" fmla="*/ 200891 h 512618"/>
                  <a:gd name="connsiteX8" fmla="*/ 511752 w 640772"/>
                  <a:gd name="connsiteY8" fmla="*/ 165389 h 512618"/>
                  <a:gd name="connsiteX9" fmla="*/ 472786 w 640772"/>
                  <a:gd name="connsiteY9" fmla="*/ 129020 h 512618"/>
                  <a:gd name="connsiteX10" fmla="*/ 189634 w 640772"/>
                  <a:gd name="connsiteY10" fmla="*/ 129020 h 512618"/>
                  <a:gd name="connsiteX11" fmla="*/ 149802 w 640772"/>
                  <a:gd name="connsiteY11" fmla="*/ 167986 h 512618"/>
                  <a:gd name="connsiteX12" fmla="*/ 175780 w 640772"/>
                  <a:gd name="connsiteY12" fmla="*/ 206087 h 512618"/>
                  <a:gd name="connsiteX13" fmla="*/ 598343 w 640772"/>
                  <a:gd name="connsiteY13" fmla="*/ 355023 h 512618"/>
                  <a:gd name="connsiteX14" fmla="*/ 640773 w 640772"/>
                  <a:gd name="connsiteY14" fmla="*/ 411307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0772" h="512618">
                    <a:moveTo>
                      <a:pt x="639907" y="410441"/>
                    </a:moveTo>
                    <a:lnTo>
                      <a:pt x="639907" y="512618"/>
                    </a:lnTo>
                    <a:lnTo>
                      <a:pt x="97848" y="304800"/>
                    </a:lnTo>
                    <a:cubicBezTo>
                      <a:pt x="12123" y="271895"/>
                      <a:pt x="0" y="209550"/>
                      <a:pt x="0" y="154132"/>
                    </a:cubicBezTo>
                    <a:cubicBezTo>
                      <a:pt x="0" y="69273"/>
                      <a:pt x="70139" y="0"/>
                      <a:pt x="154998" y="0"/>
                    </a:cubicBezTo>
                    <a:lnTo>
                      <a:pt x="639907" y="0"/>
                    </a:lnTo>
                    <a:lnTo>
                      <a:pt x="639907" y="200891"/>
                    </a:lnTo>
                    <a:lnTo>
                      <a:pt x="511752" y="200891"/>
                    </a:lnTo>
                    <a:lnTo>
                      <a:pt x="511752" y="165389"/>
                    </a:lnTo>
                    <a:cubicBezTo>
                      <a:pt x="511752" y="144607"/>
                      <a:pt x="491836" y="129020"/>
                      <a:pt x="472786" y="129020"/>
                    </a:cubicBezTo>
                    <a:lnTo>
                      <a:pt x="189634" y="129020"/>
                    </a:lnTo>
                    <a:cubicBezTo>
                      <a:pt x="167986" y="129020"/>
                      <a:pt x="149802" y="146339"/>
                      <a:pt x="149802" y="167986"/>
                    </a:cubicBezTo>
                    <a:cubicBezTo>
                      <a:pt x="149802" y="189634"/>
                      <a:pt x="160193" y="200025"/>
                      <a:pt x="175780" y="206087"/>
                    </a:cubicBezTo>
                    <a:lnTo>
                      <a:pt x="598343" y="355023"/>
                    </a:lnTo>
                    <a:cubicBezTo>
                      <a:pt x="598343" y="355023"/>
                      <a:pt x="640773" y="367145"/>
                      <a:pt x="640773" y="411307"/>
                    </a:cubicBezTo>
                    <a:close/>
                  </a:path>
                </a:pathLst>
              </a:custGeom>
              <a:grpFill/>
              <a:ln w="8653" cap="flat">
                <a:noFill/>
                <a:prstDash val="solid"/>
                <a:miter/>
              </a:ln>
            </p:spPr>
            <p:txBody>
              <a:bodyPr rtlCol="0" anchor="ctr"/>
              <a:lstStyle/>
              <a:p>
                <a:endParaRPr lang="en-US">
                  <a:solidFill>
                    <a:schemeClr val="tx1"/>
                  </a:solidFill>
                </a:endParaRPr>
              </a:p>
            </p:txBody>
          </p:sp>
          <p:sp>
            <p:nvSpPr>
              <p:cNvPr id="14" name="Freeform 13">
                <a:extLst>
                  <a:ext uri="{FF2B5EF4-FFF2-40B4-BE49-F238E27FC236}">
                    <a16:creationId xmlns:a16="http://schemas.microsoft.com/office/drawing/2014/main" id="{EC96DCED-A37A-1276-26F5-FF8B921F0AF3}"/>
                  </a:ext>
                </a:extLst>
              </p:cNvPr>
              <p:cNvSpPr/>
              <p:nvPr/>
            </p:nvSpPr>
            <p:spPr>
              <a:xfrm>
                <a:off x="3726006" y="3557154"/>
                <a:ext cx="126422" cy="128154"/>
              </a:xfrm>
              <a:custGeom>
                <a:avLst/>
                <a:gdLst>
                  <a:gd name="connsiteX0" fmla="*/ 126423 w 126422"/>
                  <a:gd name="connsiteY0" fmla="*/ 0 h 128154"/>
                  <a:gd name="connsiteX1" fmla="*/ 0 w 126422"/>
                  <a:gd name="connsiteY1" fmla="*/ 0 h 128154"/>
                  <a:gd name="connsiteX2" fmla="*/ 0 w 126422"/>
                  <a:gd name="connsiteY2" fmla="*/ 128155 h 128154"/>
                  <a:gd name="connsiteX3" fmla="*/ 126423 w 126422"/>
                  <a:gd name="connsiteY3" fmla="*/ 128155 h 128154"/>
                  <a:gd name="connsiteX4" fmla="*/ 126423 w 126422"/>
                  <a:gd name="connsiteY4" fmla="*/ 0 h 128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22" h="128154">
                    <a:moveTo>
                      <a:pt x="126423" y="0"/>
                    </a:moveTo>
                    <a:lnTo>
                      <a:pt x="0" y="0"/>
                    </a:lnTo>
                    <a:lnTo>
                      <a:pt x="0" y="128155"/>
                    </a:lnTo>
                    <a:lnTo>
                      <a:pt x="126423" y="128155"/>
                    </a:lnTo>
                    <a:lnTo>
                      <a:pt x="126423" y="0"/>
                    </a:lnTo>
                    <a:close/>
                  </a:path>
                </a:pathLst>
              </a:custGeom>
              <a:grpFill/>
              <a:ln w="8653" cap="flat">
                <a:noFill/>
                <a:prstDash val="solid"/>
                <a:miter/>
              </a:ln>
            </p:spPr>
            <p:txBody>
              <a:bodyPr rtlCol="0" anchor="ctr"/>
              <a:lstStyle/>
              <a:p>
                <a:endParaRPr lang="en-US">
                  <a:solidFill>
                    <a:schemeClr val="tx1"/>
                  </a:solidFill>
                </a:endParaRPr>
              </a:p>
            </p:txBody>
          </p:sp>
          <p:sp>
            <p:nvSpPr>
              <p:cNvPr id="16" name="Freeform 15">
                <a:extLst>
                  <a:ext uri="{FF2B5EF4-FFF2-40B4-BE49-F238E27FC236}">
                    <a16:creationId xmlns:a16="http://schemas.microsoft.com/office/drawing/2014/main" id="{2F0C4913-8674-D2B2-B4D7-7161F1C94F2D}"/>
                  </a:ext>
                </a:extLst>
              </p:cNvPr>
              <p:cNvSpPr/>
              <p:nvPr/>
            </p:nvSpPr>
            <p:spPr>
              <a:xfrm>
                <a:off x="7827818" y="3172690"/>
                <a:ext cx="639040" cy="514349"/>
              </a:xfrm>
              <a:custGeom>
                <a:avLst/>
                <a:gdLst>
                  <a:gd name="connsiteX0" fmla="*/ 639041 w 639040"/>
                  <a:gd name="connsiteY0" fmla="*/ 129020 h 514349"/>
                  <a:gd name="connsiteX1" fmla="*/ 639041 w 639040"/>
                  <a:gd name="connsiteY1" fmla="*/ 0 h 514349"/>
                  <a:gd name="connsiteX2" fmla="*/ 526473 w 639040"/>
                  <a:gd name="connsiteY2" fmla="*/ 0 h 514349"/>
                  <a:gd name="connsiteX3" fmla="*/ 502227 w 639040"/>
                  <a:gd name="connsiteY3" fmla="*/ 9525 h 514349"/>
                  <a:gd name="connsiteX4" fmla="*/ 302203 w 639040"/>
                  <a:gd name="connsiteY4" fmla="*/ 191366 h 514349"/>
                  <a:gd name="connsiteX5" fmla="*/ 281420 w 639040"/>
                  <a:gd name="connsiteY5" fmla="*/ 200025 h 514349"/>
                  <a:gd name="connsiteX6" fmla="*/ 142009 w 639040"/>
                  <a:gd name="connsiteY6" fmla="*/ 200025 h 514349"/>
                  <a:gd name="connsiteX7" fmla="*/ 126423 w 639040"/>
                  <a:gd name="connsiteY7" fmla="*/ 184439 h 514349"/>
                  <a:gd name="connsiteX8" fmla="*/ 126423 w 639040"/>
                  <a:gd name="connsiteY8" fmla="*/ 866 h 514349"/>
                  <a:gd name="connsiteX9" fmla="*/ 0 w 639040"/>
                  <a:gd name="connsiteY9" fmla="*/ 866 h 514349"/>
                  <a:gd name="connsiteX10" fmla="*/ 0 w 639040"/>
                  <a:gd name="connsiteY10" fmla="*/ 513484 h 514349"/>
                  <a:gd name="connsiteX11" fmla="*/ 126423 w 639040"/>
                  <a:gd name="connsiteY11" fmla="*/ 513484 h 514349"/>
                  <a:gd name="connsiteX12" fmla="*/ 126423 w 639040"/>
                  <a:gd name="connsiteY12" fmla="*/ 329911 h 514349"/>
                  <a:gd name="connsiteX13" fmla="*/ 142009 w 639040"/>
                  <a:gd name="connsiteY13" fmla="*/ 314325 h 514349"/>
                  <a:gd name="connsiteX14" fmla="*/ 281420 w 639040"/>
                  <a:gd name="connsiteY14" fmla="*/ 314325 h 514349"/>
                  <a:gd name="connsiteX15" fmla="*/ 302203 w 639040"/>
                  <a:gd name="connsiteY15" fmla="*/ 322984 h 514349"/>
                  <a:gd name="connsiteX16" fmla="*/ 502227 w 639040"/>
                  <a:gd name="connsiteY16" fmla="*/ 504825 h 514349"/>
                  <a:gd name="connsiteX17" fmla="*/ 526473 w 639040"/>
                  <a:gd name="connsiteY17" fmla="*/ 514350 h 514349"/>
                  <a:gd name="connsiteX18" fmla="*/ 639041 w 639040"/>
                  <a:gd name="connsiteY18" fmla="*/ 514350 h 514349"/>
                  <a:gd name="connsiteX19" fmla="*/ 639041 w 639040"/>
                  <a:gd name="connsiteY19" fmla="*/ 386196 h 514349"/>
                  <a:gd name="connsiteX20" fmla="*/ 577562 w 639040"/>
                  <a:gd name="connsiteY20" fmla="*/ 386196 h 514349"/>
                  <a:gd name="connsiteX21" fmla="*/ 524741 w 639040"/>
                  <a:gd name="connsiteY21" fmla="*/ 367145 h 514349"/>
                  <a:gd name="connsiteX22" fmla="*/ 429491 w 639040"/>
                  <a:gd name="connsiteY22" fmla="*/ 283152 h 514349"/>
                  <a:gd name="connsiteX23" fmla="*/ 429491 w 639040"/>
                  <a:gd name="connsiteY23" fmla="*/ 233795 h 514349"/>
                  <a:gd name="connsiteX24" fmla="*/ 524741 w 639040"/>
                  <a:gd name="connsiteY24" fmla="*/ 149802 h 514349"/>
                  <a:gd name="connsiteX25" fmla="*/ 577562 w 639040"/>
                  <a:gd name="connsiteY25" fmla="*/ 130752 h 514349"/>
                  <a:gd name="connsiteX26" fmla="*/ 639041 w 639040"/>
                  <a:gd name="connsiteY26" fmla="*/ 130752 h 514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39040" h="514349">
                    <a:moveTo>
                      <a:pt x="639041" y="129020"/>
                    </a:moveTo>
                    <a:lnTo>
                      <a:pt x="639041" y="0"/>
                    </a:lnTo>
                    <a:lnTo>
                      <a:pt x="526473" y="0"/>
                    </a:lnTo>
                    <a:cubicBezTo>
                      <a:pt x="517814" y="0"/>
                      <a:pt x="509154" y="3464"/>
                      <a:pt x="502227" y="9525"/>
                    </a:cubicBezTo>
                    <a:lnTo>
                      <a:pt x="302203" y="191366"/>
                    </a:lnTo>
                    <a:cubicBezTo>
                      <a:pt x="296141" y="196561"/>
                      <a:pt x="289214" y="200025"/>
                      <a:pt x="281420" y="200025"/>
                    </a:cubicBezTo>
                    <a:lnTo>
                      <a:pt x="142009" y="200025"/>
                    </a:lnTo>
                    <a:cubicBezTo>
                      <a:pt x="133350" y="200025"/>
                      <a:pt x="126423" y="193098"/>
                      <a:pt x="126423" y="184439"/>
                    </a:cubicBezTo>
                    <a:lnTo>
                      <a:pt x="126423" y="866"/>
                    </a:lnTo>
                    <a:lnTo>
                      <a:pt x="0" y="866"/>
                    </a:lnTo>
                    <a:lnTo>
                      <a:pt x="0" y="513484"/>
                    </a:lnTo>
                    <a:lnTo>
                      <a:pt x="126423" y="513484"/>
                    </a:lnTo>
                    <a:lnTo>
                      <a:pt x="126423" y="329911"/>
                    </a:lnTo>
                    <a:cubicBezTo>
                      <a:pt x="126423" y="321252"/>
                      <a:pt x="133350" y="314325"/>
                      <a:pt x="142009" y="314325"/>
                    </a:cubicBezTo>
                    <a:lnTo>
                      <a:pt x="281420" y="314325"/>
                    </a:lnTo>
                    <a:cubicBezTo>
                      <a:pt x="289214" y="314325"/>
                      <a:pt x="296141" y="316923"/>
                      <a:pt x="302203" y="322984"/>
                    </a:cubicBezTo>
                    <a:lnTo>
                      <a:pt x="502227" y="504825"/>
                    </a:lnTo>
                    <a:cubicBezTo>
                      <a:pt x="509154" y="510886"/>
                      <a:pt x="517814" y="514350"/>
                      <a:pt x="526473" y="514350"/>
                    </a:cubicBezTo>
                    <a:lnTo>
                      <a:pt x="639041" y="514350"/>
                    </a:lnTo>
                    <a:lnTo>
                      <a:pt x="639041" y="386196"/>
                    </a:lnTo>
                    <a:lnTo>
                      <a:pt x="577562" y="386196"/>
                    </a:lnTo>
                    <a:cubicBezTo>
                      <a:pt x="558511" y="386196"/>
                      <a:pt x="539461" y="379268"/>
                      <a:pt x="524741" y="367145"/>
                    </a:cubicBezTo>
                    <a:lnTo>
                      <a:pt x="429491" y="283152"/>
                    </a:lnTo>
                    <a:cubicBezTo>
                      <a:pt x="414771" y="270164"/>
                      <a:pt x="414771" y="247650"/>
                      <a:pt x="429491" y="233795"/>
                    </a:cubicBezTo>
                    <a:lnTo>
                      <a:pt x="524741" y="149802"/>
                    </a:lnTo>
                    <a:cubicBezTo>
                      <a:pt x="539461" y="137680"/>
                      <a:pt x="557646" y="131618"/>
                      <a:pt x="577562" y="130752"/>
                    </a:cubicBezTo>
                    <a:lnTo>
                      <a:pt x="639041" y="130752"/>
                    </a:lnTo>
                    <a:close/>
                  </a:path>
                </a:pathLst>
              </a:custGeom>
              <a:grpFill/>
              <a:ln w="8653" cap="flat">
                <a:noFill/>
                <a:prstDash val="solid"/>
                <a:miter/>
              </a:ln>
            </p:spPr>
            <p:txBody>
              <a:bodyPr rtlCol="0" anchor="ctr"/>
              <a:lstStyle/>
              <a:p>
                <a:endParaRPr lang="en-US">
                  <a:solidFill>
                    <a:schemeClr val="tx1"/>
                  </a:solidFill>
                </a:endParaRPr>
              </a:p>
            </p:txBody>
          </p:sp>
          <p:sp>
            <p:nvSpPr>
              <p:cNvPr id="17" name="Freeform 16">
                <a:extLst>
                  <a:ext uri="{FF2B5EF4-FFF2-40B4-BE49-F238E27FC236}">
                    <a16:creationId xmlns:a16="http://schemas.microsoft.com/office/drawing/2014/main" id="{31312A80-0BC7-73AF-E143-3E944484C391}"/>
                  </a:ext>
                </a:extLst>
              </p:cNvPr>
              <p:cNvSpPr/>
              <p:nvPr/>
            </p:nvSpPr>
            <p:spPr>
              <a:xfrm>
                <a:off x="4441247" y="3172690"/>
                <a:ext cx="692727" cy="513484"/>
              </a:xfrm>
              <a:custGeom>
                <a:avLst/>
                <a:gdLst>
                  <a:gd name="connsiteX0" fmla="*/ 497898 w 692727"/>
                  <a:gd name="connsiteY0" fmla="*/ 0 h 513484"/>
                  <a:gd name="connsiteX1" fmla="*/ 351559 w 692727"/>
                  <a:gd name="connsiteY1" fmla="*/ 72736 h 513484"/>
                  <a:gd name="connsiteX2" fmla="*/ 0 w 692727"/>
                  <a:gd name="connsiteY2" fmla="*/ 512618 h 513484"/>
                  <a:gd name="connsiteX3" fmla="*/ 178377 w 692727"/>
                  <a:gd name="connsiteY3" fmla="*/ 512618 h 513484"/>
                  <a:gd name="connsiteX4" fmla="*/ 468457 w 692727"/>
                  <a:gd name="connsiteY4" fmla="*/ 155864 h 513484"/>
                  <a:gd name="connsiteX5" fmla="*/ 516082 w 692727"/>
                  <a:gd name="connsiteY5" fmla="*/ 129886 h 513484"/>
                  <a:gd name="connsiteX6" fmla="*/ 564573 w 692727"/>
                  <a:gd name="connsiteY6" fmla="*/ 184439 h 513484"/>
                  <a:gd name="connsiteX7" fmla="*/ 564573 w 692727"/>
                  <a:gd name="connsiteY7" fmla="*/ 339436 h 513484"/>
                  <a:gd name="connsiteX8" fmla="*/ 528205 w 692727"/>
                  <a:gd name="connsiteY8" fmla="*/ 385330 h 513484"/>
                  <a:gd name="connsiteX9" fmla="*/ 492702 w 692727"/>
                  <a:gd name="connsiteY9" fmla="*/ 385330 h 513484"/>
                  <a:gd name="connsiteX10" fmla="*/ 492702 w 692727"/>
                  <a:gd name="connsiteY10" fmla="*/ 513484 h 513484"/>
                  <a:gd name="connsiteX11" fmla="*/ 692727 w 692727"/>
                  <a:gd name="connsiteY11" fmla="*/ 513484 h 513484"/>
                  <a:gd name="connsiteX12" fmla="*/ 692727 w 692727"/>
                  <a:gd name="connsiteY12" fmla="*/ 192232 h 513484"/>
                  <a:gd name="connsiteX13" fmla="*/ 497898 w 692727"/>
                  <a:gd name="connsiteY13" fmla="*/ 866 h 513484"/>
                  <a:gd name="connsiteX14" fmla="*/ 497898 w 692727"/>
                  <a:gd name="connsiteY14" fmla="*/ 866 h 513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2727" h="513484">
                    <a:moveTo>
                      <a:pt x="497898" y="0"/>
                    </a:moveTo>
                    <a:cubicBezTo>
                      <a:pt x="440748" y="866"/>
                      <a:pt x="387061" y="27709"/>
                      <a:pt x="351559" y="72736"/>
                    </a:cubicBezTo>
                    <a:lnTo>
                      <a:pt x="0" y="512618"/>
                    </a:lnTo>
                    <a:lnTo>
                      <a:pt x="178377" y="512618"/>
                    </a:lnTo>
                    <a:lnTo>
                      <a:pt x="468457" y="155864"/>
                    </a:lnTo>
                    <a:cubicBezTo>
                      <a:pt x="483177" y="138545"/>
                      <a:pt x="493568" y="129886"/>
                      <a:pt x="516082" y="129886"/>
                    </a:cubicBezTo>
                    <a:cubicBezTo>
                      <a:pt x="538596" y="129886"/>
                      <a:pt x="564573" y="154998"/>
                      <a:pt x="564573" y="184439"/>
                    </a:cubicBezTo>
                    <a:lnTo>
                      <a:pt x="564573" y="339436"/>
                    </a:lnTo>
                    <a:cubicBezTo>
                      <a:pt x="564573" y="364548"/>
                      <a:pt x="551584" y="385330"/>
                      <a:pt x="528205" y="385330"/>
                    </a:cubicBezTo>
                    <a:lnTo>
                      <a:pt x="492702" y="385330"/>
                    </a:lnTo>
                    <a:lnTo>
                      <a:pt x="492702" y="513484"/>
                    </a:lnTo>
                    <a:lnTo>
                      <a:pt x="692727" y="513484"/>
                    </a:lnTo>
                    <a:lnTo>
                      <a:pt x="692727" y="192232"/>
                    </a:lnTo>
                    <a:cubicBezTo>
                      <a:pt x="692727" y="166255"/>
                      <a:pt x="692727" y="866"/>
                      <a:pt x="497898" y="866"/>
                    </a:cubicBezTo>
                    <a:lnTo>
                      <a:pt x="497898" y="866"/>
                    </a:lnTo>
                    <a:close/>
                  </a:path>
                </a:pathLst>
              </a:custGeom>
              <a:grpFill/>
              <a:ln w="8653" cap="flat">
                <a:noFill/>
                <a:prstDash val="solid"/>
                <a:miter/>
              </a:ln>
            </p:spPr>
            <p:txBody>
              <a:bodyPr rtlCol="0" anchor="ctr"/>
              <a:lstStyle/>
              <a:p>
                <a:endParaRPr lang="en-US">
                  <a:solidFill>
                    <a:schemeClr val="tx1"/>
                  </a:solidFill>
                </a:endParaRPr>
              </a:p>
            </p:txBody>
          </p:sp>
        </p:grpSp>
        <p:grpSp>
          <p:nvGrpSpPr>
            <p:cNvPr id="5" name="Group 4">
              <a:extLst>
                <a:ext uri="{FF2B5EF4-FFF2-40B4-BE49-F238E27FC236}">
                  <a16:creationId xmlns:a16="http://schemas.microsoft.com/office/drawing/2014/main" id="{10D9A886-CF59-A2E1-05A5-E0E9877EA409}"/>
                </a:ext>
              </a:extLst>
            </p:cNvPr>
            <p:cNvGrpSpPr/>
            <p:nvPr/>
          </p:nvGrpSpPr>
          <p:grpSpPr>
            <a:xfrm>
              <a:off x="11237775" y="5428812"/>
              <a:ext cx="644881" cy="280035"/>
              <a:chOff x="11237775" y="5428812"/>
              <a:chExt cx="644881" cy="280035"/>
            </a:xfrm>
            <a:grpFill/>
          </p:grpSpPr>
          <p:sp>
            <p:nvSpPr>
              <p:cNvPr id="6" name="Freeform 5">
                <a:extLst>
                  <a:ext uri="{FF2B5EF4-FFF2-40B4-BE49-F238E27FC236}">
                    <a16:creationId xmlns:a16="http://schemas.microsoft.com/office/drawing/2014/main" id="{A08351AA-A979-FE59-50CE-E22648F2BF92}"/>
                  </a:ext>
                </a:extLst>
              </p:cNvPr>
              <p:cNvSpPr/>
              <p:nvPr/>
            </p:nvSpPr>
            <p:spPr>
              <a:xfrm>
                <a:off x="11237775" y="5428812"/>
                <a:ext cx="245631" cy="280035"/>
              </a:xfrm>
              <a:custGeom>
                <a:avLst/>
                <a:gdLst/>
                <a:ahLst/>
                <a:cxnLst/>
                <a:rect l="l" t="t" r="r" b="b"/>
                <a:pathLst>
                  <a:path w="245631" h="280035">
                    <a:moveTo>
                      <a:pt x="0" y="0"/>
                    </a:moveTo>
                    <a:lnTo>
                      <a:pt x="245631" y="0"/>
                    </a:lnTo>
                    <a:lnTo>
                      <a:pt x="245631" y="50407"/>
                    </a:lnTo>
                    <a:lnTo>
                      <a:pt x="151219" y="50407"/>
                    </a:lnTo>
                    <a:lnTo>
                      <a:pt x="151219" y="280035"/>
                    </a:lnTo>
                    <a:lnTo>
                      <a:pt x="93612" y="280035"/>
                    </a:lnTo>
                    <a:lnTo>
                      <a:pt x="93612" y="50407"/>
                    </a:lnTo>
                    <a:lnTo>
                      <a:pt x="0" y="50407"/>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7" name="Freeform 6">
                <a:extLst>
                  <a:ext uri="{FF2B5EF4-FFF2-40B4-BE49-F238E27FC236}">
                    <a16:creationId xmlns:a16="http://schemas.microsoft.com/office/drawing/2014/main" id="{FF2904ED-4E3A-9654-D9F8-4E456364CFE5}"/>
                  </a:ext>
                </a:extLst>
              </p:cNvPr>
              <p:cNvSpPr/>
              <p:nvPr/>
            </p:nvSpPr>
            <p:spPr>
              <a:xfrm>
                <a:off x="11521011" y="5428812"/>
                <a:ext cx="361645" cy="280035"/>
              </a:xfrm>
              <a:custGeom>
                <a:avLst/>
                <a:gdLst/>
                <a:ahLst/>
                <a:cxnLst/>
                <a:rect l="l" t="t" r="r" b="b"/>
                <a:pathLst>
                  <a:path w="361645" h="280035">
                    <a:moveTo>
                      <a:pt x="0" y="0"/>
                    </a:moveTo>
                    <a:lnTo>
                      <a:pt x="100012" y="0"/>
                    </a:lnTo>
                    <a:lnTo>
                      <a:pt x="181622" y="210427"/>
                    </a:lnTo>
                    <a:lnTo>
                      <a:pt x="185623" y="210427"/>
                    </a:lnTo>
                    <a:lnTo>
                      <a:pt x="268033" y="0"/>
                    </a:lnTo>
                    <a:lnTo>
                      <a:pt x="361645" y="0"/>
                    </a:lnTo>
                    <a:lnTo>
                      <a:pt x="361645" y="280035"/>
                    </a:lnTo>
                    <a:lnTo>
                      <a:pt x="305638" y="280035"/>
                    </a:lnTo>
                    <a:lnTo>
                      <a:pt x="305638" y="48006"/>
                    </a:lnTo>
                    <a:lnTo>
                      <a:pt x="301637" y="48006"/>
                    </a:lnTo>
                    <a:lnTo>
                      <a:pt x="211226" y="280035"/>
                    </a:lnTo>
                    <a:lnTo>
                      <a:pt x="150418" y="280035"/>
                    </a:lnTo>
                    <a:lnTo>
                      <a:pt x="60007" y="48006"/>
                    </a:lnTo>
                    <a:lnTo>
                      <a:pt x="56807" y="48006"/>
                    </a:lnTo>
                    <a:lnTo>
                      <a:pt x="56807" y="280035"/>
                    </a:lnTo>
                    <a:lnTo>
                      <a:pt x="0" y="280035"/>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grpSp>
      </p:grpSp>
      <p:sp>
        <p:nvSpPr>
          <p:cNvPr id="22" name="Rectangle 21">
            <a:extLst>
              <a:ext uri="{FF2B5EF4-FFF2-40B4-BE49-F238E27FC236}">
                <a16:creationId xmlns:a16="http://schemas.microsoft.com/office/drawing/2014/main" id="{D08BD0C9-7438-A09B-54B4-64095178E468}"/>
              </a:ext>
            </a:extLst>
          </p:cNvPr>
          <p:cNvSpPr/>
          <p:nvPr/>
        </p:nvSpPr>
        <p:spPr>
          <a:xfrm>
            <a:off x="11563470" y="293688"/>
            <a:ext cx="336430" cy="33643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0732620"/>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esentation Title and Subtitle White">
    <p:bg>
      <p:bgPr>
        <a:solidFill>
          <a:schemeClr val="bg1"/>
        </a:solidFill>
        <a:effectLst/>
      </p:bgPr>
    </p:bg>
    <p:spTree>
      <p:nvGrpSpPr>
        <p:cNvPr id="1" name=""/>
        <p:cNvGrpSpPr/>
        <p:nvPr/>
      </p:nvGrpSpPr>
      <p:grpSpPr>
        <a:xfrm>
          <a:off x="0" y="0"/>
          <a:ext cx="0" cy="0"/>
          <a:chOff x="0" y="0"/>
          <a:chExt cx="0" cy="0"/>
        </a:xfrm>
      </p:grpSpPr>
      <p:sp>
        <p:nvSpPr>
          <p:cNvPr id="40" name="Title 2">
            <a:extLst>
              <a:ext uri="{FF2B5EF4-FFF2-40B4-BE49-F238E27FC236}">
                <a16:creationId xmlns:a16="http://schemas.microsoft.com/office/drawing/2014/main" id="{34F3AA0F-AE20-56C9-A000-E9EE240A3F05}"/>
              </a:ext>
            </a:extLst>
          </p:cNvPr>
          <p:cNvSpPr>
            <a:spLocks noGrp="1"/>
          </p:cNvSpPr>
          <p:nvPr>
            <p:ph type="title" hasCustomPrompt="1"/>
          </p:nvPr>
        </p:nvSpPr>
        <p:spPr>
          <a:xfrm>
            <a:off x="292100" y="208998"/>
            <a:ext cx="10871200" cy="4023804"/>
          </a:xfrm>
          <a:prstGeom prst="rect">
            <a:avLst/>
          </a:prstGeom>
        </p:spPr>
        <p:txBody>
          <a:bodyPr wrap="square" lIns="0" tIns="0" anchor="t">
            <a:noAutofit/>
          </a:bodyPr>
          <a:lstStyle>
            <a:lvl1pPr marL="0" indent="0">
              <a:lnSpc>
                <a:spcPct val="88000"/>
              </a:lnSpc>
              <a:defRPr sz="8000" b="0" spc="-220" baseline="0">
                <a:solidFill>
                  <a:schemeClr val="tx1"/>
                </a:solidFill>
                <a:latin typeface="+mj-lt"/>
              </a:defRPr>
            </a:lvl1pPr>
          </a:lstStyle>
          <a:p>
            <a:pPr lvl="0"/>
            <a:r>
              <a:rPr lang="en-US"/>
              <a:t>CLICK TO ADD TITLE</a:t>
            </a:r>
          </a:p>
        </p:txBody>
      </p:sp>
      <p:sp>
        <p:nvSpPr>
          <p:cNvPr id="6" name="Rectangle 5">
            <a:extLst>
              <a:ext uri="{FF2B5EF4-FFF2-40B4-BE49-F238E27FC236}">
                <a16:creationId xmlns:a16="http://schemas.microsoft.com/office/drawing/2014/main" id="{7BE6C6FE-813E-0703-F35F-82EA88599430}"/>
              </a:ext>
            </a:extLst>
          </p:cNvPr>
          <p:cNvSpPr/>
          <p:nvPr/>
        </p:nvSpPr>
        <p:spPr>
          <a:xfrm>
            <a:off x="11563470" y="293688"/>
            <a:ext cx="336430" cy="33643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6256598"/>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gue Black">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22468A4-BC3E-6353-E1E0-2E13F959CCB8}"/>
              </a:ext>
            </a:extLst>
          </p:cNvPr>
          <p:cNvSpPr>
            <a:spLocks noGrp="1"/>
          </p:cNvSpPr>
          <p:nvPr>
            <p:ph type="title" hasCustomPrompt="1"/>
          </p:nvPr>
        </p:nvSpPr>
        <p:spPr>
          <a:xfrm>
            <a:off x="292099" y="242175"/>
            <a:ext cx="10137775" cy="2859204"/>
          </a:xfrm>
          <a:prstGeom prst="rect">
            <a:avLst/>
          </a:prstGeom>
        </p:spPr>
        <p:txBody>
          <a:bodyPr wrap="square" lIns="0" tIns="0" anchor="t">
            <a:noAutofit/>
          </a:bodyPr>
          <a:lstStyle>
            <a:lvl1pPr>
              <a:lnSpc>
                <a:spcPct val="86000"/>
              </a:lnSpc>
              <a:defRPr sz="6000" b="0" spc="-220" baseline="0">
                <a:solidFill>
                  <a:schemeClr val="bg1"/>
                </a:solidFill>
                <a:latin typeface="+mj-lt"/>
              </a:defRPr>
            </a:lvl1pPr>
          </a:lstStyle>
          <a:p>
            <a:pPr lvl="0"/>
            <a:r>
              <a:rPr lang="en-US"/>
              <a:t>CLICK TO ADD </a:t>
            </a:r>
            <a:br>
              <a:rPr lang="en-US"/>
            </a:br>
            <a:r>
              <a:rPr lang="en-US"/>
              <a:t>SEGUE TITLE</a:t>
            </a:r>
          </a:p>
        </p:txBody>
      </p:sp>
      <p:sp>
        <p:nvSpPr>
          <p:cNvPr id="60" name="name_2024 sandisk or its affiliates All rights reserved">
            <a:extLst>
              <a:ext uri="{FF2B5EF4-FFF2-40B4-BE49-F238E27FC236}">
                <a16:creationId xmlns:a16="http://schemas.microsoft.com/office/drawing/2014/main" id="{8D1C0E07-2F4E-EA81-8A81-D9EB71265DB8}"/>
              </a:ext>
            </a:extLst>
          </p:cNvPr>
          <p:cNvSpPr txBox="1"/>
          <p:nvPr/>
        </p:nvSpPr>
        <p:spPr>
          <a:xfrm>
            <a:off x="292100" y="3207243"/>
            <a:ext cx="1323975"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bg1"/>
                </a:solidFill>
                <a:latin typeface="NB Architekt Pro Neue" panose="02010509020201040001" pitchFamily="49" charset="77"/>
                <a:cs typeface="Consolas" panose="020B0609020204030204" pitchFamily="49" charset="0"/>
              </a:rPr>
              <a:t>[Confidential]</a:t>
            </a:r>
          </a:p>
        </p:txBody>
      </p:sp>
      <p:sp>
        <p:nvSpPr>
          <p:cNvPr id="8" name="Rectangle 7">
            <a:extLst>
              <a:ext uri="{FF2B5EF4-FFF2-40B4-BE49-F238E27FC236}">
                <a16:creationId xmlns:a16="http://schemas.microsoft.com/office/drawing/2014/main" id="{10068CE0-26CF-02FD-7ADE-CE8EE6F27D0E}"/>
              </a:ext>
            </a:extLst>
          </p:cNvPr>
          <p:cNvSpPr/>
          <p:nvPr/>
        </p:nvSpPr>
        <p:spPr>
          <a:xfrm>
            <a:off x="11607292" y="293688"/>
            <a:ext cx="292608" cy="2926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0000"/>
              </a:solidFill>
            </a:endParaRPr>
          </a:p>
        </p:txBody>
      </p:sp>
      <p:grpSp>
        <p:nvGrpSpPr>
          <p:cNvPr id="10" name="Group 9">
            <a:extLst>
              <a:ext uri="{FF2B5EF4-FFF2-40B4-BE49-F238E27FC236}">
                <a16:creationId xmlns:a16="http://schemas.microsoft.com/office/drawing/2014/main" id="{2464B26F-BE41-ACE2-CA93-AAF45AD7C8A8}"/>
              </a:ext>
            </a:extLst>
          </p:cNvPr>
          <p:cNvGrpSpPr>
            <a:grpSpLocks noChangeAspect="1"/>
          </p:cNvGrpSpPr>
          <p:nvPr/>
        </p:nvGrpSpPr>
        <p:grpSpPr>
          <a:xfrm>
            <a:off x="297027" y="6344485"/>
            <a:ext cx="2240280" cy="218081"/>
            <a:chOff x="8480170" y="7684742"/>
            <a:chExt cx="1031076" cy="102566"/>
          </a:xfrm>
          <a:solidFill>
            <a:schemeClr val="accent3"/>
          </a:solidFill>
        </p:grpSpPr>
        <p:sp>
          <p:nvSpPr>
            <p:cNvPr id="11" name="Freeform 10">
              <a:extLst>
                <a:ext uri="{FF2B5EF4-FFF2-40B4-BE49-F238E27FC236}">
                  <a16:creationId xmlns:a16="http://schemas.microsoft.com/office/drawing/2014/main" id="{B69C89F2-06E1-5AAF-3773-78E6E0D321ED}"/>
                </a:ext>
              </a:extLst>
            </p:cNvPr>
            <p:cNvSpPr/>
            <p:nvPr/>
          </p:nvSpPr>
          <p:spPr>
            <a:xfrm>
              <a:off x="8788109" y="7684742"/>
              <a:ext cx="128019" cy="102565"/>
            </a:xfrm>
            <a:custGeom>
              <a:avLst/>
              <a:gdLst>
                <a:gd name="connsiteX0" fmla="*/ 102070 w 128019"/>
                <a:gd name="connsiteY0" fmla="*/ 70104 h 102565"/>
                <a:gd name="connsiteX1" fmla="*/ 96188 w 128019"/>
                <a:gd name="connsiteY1" fmla="*/ 77011 h 102565"/>
                <a:gd name="connsiteX2" fmla="*/ 89268 w 128019"/>
                <a:gd name="connsiteY2" fmla="*/ 72521 h 102565"/>
                <a:gd name="connsiteX3" fmla="*/ 65740 w 128019"/>
                <a:gd name="connsiteY3" fmla="*/ 8288 h 102565"/>
                <a:gd name="connsiteX4" fmla="*/ 54668 w 128019"/>
                <a:gd name="connsiteY4" fmla="*/ 0 h 102565"/>
                <a:gd name="connsiteX5" fmla="*/ 0 w 128019"/>
                <a:gd name="connsiteY5" fmla="*/ 0 h 102565"/>
                <a:gd name="connsiteX6" fmla="*/ 0 w 128019"/>
                <a:gd name="connsiteY6" fmla="*/ 102221 h 102565"/>
                <a:gd name="connsiteX7" fmla="*/ 40136 w 128019"/>
                <a:gd name="connsiteY7" fmla="*/ 102221 h 102565"/>
                <a:gd name="connsiteX8" fmla="*/ 40136 w 128019"/>
                <a:gd name="connsiteY8" fmla="*/ 76665 h 102565"/>
                <a:gd name="connsiteX9" fmla="*/ 32870 w 128019"/>
                <a:gd name="connsiteY9" fmla="*/ 76665 h 102565"/>
                <a:gd name="connsiteX10" fmla="*/ 25604 w 128019"/>
                <a:gd name="connsiteY10" fmla="*/ 67687 h 102565"/>
                <a:gd name="connsiteX11" fmla="*/ 25604 w 128019"/>
                <a:gd name="connsiteY11" fmla="*/ 36951 h 102565"/>
                <a:gd name="connsiteX12" fmla="*/ 39790 w 128019"/>
                <a:gd name="connsiteY12" fmla="*/ 26591 h 102565"/>
                <a:gd name="connsiteX13" fmla="*/ 45672 w 128019"/>
                <a:gd name="connsiteY13" fmla="*/ 32807 h 102565"/>
                <a:gd name="connsiteX14" fmla="*/ 64356 w 128019"/>
                <a:gd name="connsiteY14" fmla="*/ 81500 h 102565"/>
                <a:gd name="connsiteX15" fmla="*/ 95150 w 128019"/>
                <a:gd name="connsiteY15" fmla="*/ 102566 h 102565"/>
                <a:gd name="connsiteX16" fmla="*/ 95842 w 128019"/>
                <a:gd name="connsiteY16" fmla="*/ 102566 h 102565"/>
                <a:gd name="connsiteX17" fmla="*/ 128020 w 128019"/>
                <a:gd name="connsiteY17" fmla="*/ 70795 h 102565"/>
                <a:gd name="connsiteX18" fmla="*/ 128020 w 128019"/>
                <a:gd name="connsiteY18" fmla="*/ 345 h 102565"/>
                <a:gd name="connsiteX19" fmla="*/ 102416 w 128019"/>
                <a:gd name="connsiteY19" fmla="*/ 345 h 102565"/>
                <a:gd name="connsiteX20" fmla="*/ 102416 w 128019"/>
                <a:gd name="connsiteY20" fmla="*/ 70104 h 102565"/>
                <a:gd name="connsiteX21" fmla="*/ 102416 w 128019"/>
                <a:gd name="connsiteY21" fmla="*/ 70104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8019" h="102565">
                  <a:moveTo>
                    <a:pt x="102070" y="70104"/>
                  </a:moveTo>
                  <a:cubicBezTo>
                    <a:pt x="102070" y="73557"/>
                    <a:pt x="99648" y="76665"/>
                    <a:pt x="96188" y="77011"/>
                  </a:cubicBezTo>
                  <a:cubicBezTo>
                    <a:pt x="93074" y="77356"/>
                    <a:pt x="90306" y="75629"/>
                    <a:pt x="89268" y="72521"/>
                  </a:cubicBezTo>
                  <a:lnTo>
                    <a:pt x="65740" y="8288"/>
                  </a:lnTo>
                  <a:cubicBezTo>
                    <a:pt x="64010" y="3108"/>
                    <a:pt x="59858" y="0"/>
                    <a:pt x="54668" y="0"/>
                  </a:cubicBezTo>
                  <a:lnTo>
                    <a:pt x="0" y="0"/>
                  </a:lnTo>
                  <a:lnTo>
                    <a:pt x="0" y="102221"/>
                  </a:lnTo>
                  <a:lnTo>
                    <a:pt x="40136" y="102221"/>
                  </a:lnTo>
                  <a:lnTo>
                    <a:pt x="40136" y="76665"/>
                  </a:lnTo>
                  <a:lnTo>
                    <a:pt x="32870" y="76665"/>
                  </a:lnTo>
                  <a:cubicBezTo>
                    <a:pt x="28026" y="76665"/>
                    <a:pt x="25604" y="72521"/>
                    <a:pt x="25604" y="67687"/>
                  </a:cubicBezTo>
                  <a:lnTo>
                    <a:pt x="25604" y="36951"/>
                  </a:lnTo>
                  <a:cubicBezTo>
                    <a:pt x="25604" y="29354"/>
                    <a:pt x="32870" y="23828"/>
                    <a:pt x="39790" y="26591"/>
                  </a:cubicBezTo>
                  <a:cubicBezTo>
                    <a:pt x="42212" y="27627"/>
                    <a:pt x="44634" y="30045"/>
                    <a:pt x="45672" y="32807"/>
                  </a:cubicBezTo>
                  <a:lnTo>
                    <a:pt x="64356" y="81500"/>
                  </a:lnTo>
                  <a:cubicBezTo>
                    <a:pt x="69200" y="94278"/>
                    <a:pt x="81310" y="102566"/>
                    <a:pt x="95150" y="102566"/>
                  </a:cubicBezTo>
                  <a:lnTo>
                    <a:pt x="95842" y="102566"/>
                  </a:lnTo>
                  <a:cubicBezTo>
                    <a:pt x="113488" y="102566"/>
                    <a:pt x="128020" y="88407"/>
                    <a:pt x="128020" y="70795"/>
                  </a:cubicBezTo>
                  <a:lnTo>
                    <a:pt x="128020" y="345"/>
                  </a:lnTo>
                  <a:lnTo>
                    <a:pt x="102416" y="345"/>
                  </a:lnTo>
                  <a:lnTo>
                    <a:pt x="102416" y="70104"/>
                  </a:lnTo>
                  <a:lnTo>
                    <a:pt x="102416" y="70104"/>
                  </a:lnTo>
                  <a:close/>
                </a:path>
              </a:pathLst>
            </a:custGeom>
            <a:grpFill/>
            <a:ln w="3458" cap="flat">
              <a:noFill/>
              <a:prstDash val="solid"/>
              <a:miter/>
            </a:ln>
          </p:spPr>
          <p:txBody>
            <a:bodyPr rtlCol="0" anchor="ctr"/>
            <a:lstStyle/>
            <a:p>
              <a:endParaRPr lang="en-US" sz="1800"/>
            </a:p>
          </p:txBody>
        </p:sp>
        <p:sp>
          <p:nvSpPr>
            <p:cNvPr id="12" name="Freeform 11">
              <a:extLst>
                <a:ext uri="{FF2B5EF4-FFF2-40B4-BE49-F238E27FC236}">
                  <a16:creationId xmlns:a16="http://schemas.microsoft.com/office/drawing/2014/main" id="{27D40853-56E5-F107-0819-EB5328356B1A}"/>
                </a:ext>
              </a:extLst>
            </p:cNvPr>
            <p:cNvSpPr/>
            <p:nvPr/>
          </p:nvSpPr>
          <p:spPr>
            <a:xfrm>
              <a:off x="8941733" y="7685087"/>
              <a:ext cx="128019" cy="102220"/>
            </a:xfrm>
            <a:custGeom>
              <a:avLst/>
              <a:gdLst>
                <a:gd name="connsiteX0" fmla="*/ 76812 w 128019"/>
                <a:gd name="connsiteY0" fmla="*/ 0 h 102220"/>
                <a:gd name="connsiteX1" fmla="*/ 0 w 128019"/>
                <a:gd name="connsiteY1" fmla="*/ 0 h 102220"/>
                <a:gd name="connsiteX2" fmla="*/ 0 w 128019"/>
                <a:gd name="connsiteY2" fmla="*/ 25555 h 102220"/>
                <a:gd name="connsiteX3" fmla="*/ 76812 w 128019"/>
                <a:gd name="connsiteY3" fmla="*/ 25555 h 102220"/>
                <a:gd name="connsiteX4" fmla="*/ 102416 w 128019"/>
                <a:gd name="connsiteY4" fmla="*/ 51110 h 102220"/>
                <a:gd name="connsiteX5" fmla="*/ 76812 w 128019"/>
                <a:gd name="connsiteY5" fmla="*/ 76665 h 102220"/>
                <a:gd name="connsiteX6" fmla="*/ 0 w 128019"/>
                <a:gd name="connsiteY6" fmla="*/ 76665 h 102220"/>
                <a:gd name="connsiteX7" fmla="*/ 0 w 128019"/>
                <a:gd name="connsiteY7" fmla="*/ 102221 h 102220"/>
                <a:gd name="connsiteX8" fmla="*/ 76812 w 128019"/>
                <a:gd name="connsiteY8" fmla="*/ 102221 h 102220"/>
                <a:gd name="connsiteX9" fmla="*/ 121792 w 128019"/>
                <a:gd name="connsiteY9" fmla="*/ 75629 h 102220"/>
                <a:gd name="connsiteX10" fmla="*/ 128020 w 128019"/>
                <a:gd name="connsiteY10" fmla="*/ 51110 h 102220"/>
                <a:gd name="connsiteX11" fmla="*/ 121792 w 128019"/>
                <a:gd name="connsiteY11" fmla="*/ 26591 h 102220"/>
                <a:gd name="connsiteX12" fmla="*/ 76812 w 128019"/>
                <a:gd name="connsiteY12" fmla="*/ 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8019" h="102220">
                  <a:moveTo>
                    <a:pt x="76812" y="0"/>
                  </a:moveTo>
                  <a:lnTo>
                    <a:pt x="0" y="0"/>
                  </a:lnTo>
                  <a:lnTo>
                    <a:pt x="0" y="25555"/>
                  </a:lnTo>
                  <a:lnTo>
                    <a:pt x="76812" y="25555"/>
                  </a:lnTo>
                  <a:cubicBezTo>
                    <a:pt x="90306" y="25555"/>
                    <a:pt x="102416" y="37297"/>
                    <a:pt x="102416" y="51110"/>
                  </a:cubicBezTo>
                  <a:cubicBezTo>
                    <a:pt x="102416" y="64924"/>
                    <a:pt x="90652" y="76665"/>
                    <a:pt x="76812" y="76665"/>
                  </a:cubicBezTo>
                  <a:lnTo>
                    <a:pt x="0" y="76665"/>
                  </a:lnTo>
                  <a:lnTo>
                    <a:pt x="0" y="102221"/>
                  </a:lnTo>
                  <a:lnTo>
                    <a:pt x="76812" y="102221"/>
                  </a:lnTo>
                  <a:cubicBezTo>
                    <a:pt x="96188" y="102221"/>
                    <a:pt x="113142" y="91515"/>
                    <a:pt x="121792" y="75629"/>
                  </a:cubicBezTo>
                  <a:cubicBezTo>
                    <a:pt x="125598" y="68377"/>
                    <a:pt x="128020" y="59744"/>
                    <a:pt x="128020" y="51110"/>
                  </a:cubicBezTo>
                  <a:cubicBezTo>
                    <a:pt x="128020" y="42477"/>
                    <a:pt x="125598" y="33843"/>
                    <a:pt x="121792" y="26591"/>
                  </a:cubicBezTo>
                  <a:cubicBezTo>
                    <a:pt x="113142" y="10706"/>
                    <a:pt x="96188" y="0"/>
                    <a:pt x="76812" y="0"/>
                  </a:cubicBezTo>
                  <a:close/>
                </a:path>
              </a:pathLst>
            </a:custGeom>
            <a:grpFill/>
            <a:ln w="3458" cap="flat">
              <a:noFill/>
              <a:prstDash val="solid"/>
              <a:miter/>
            </a:ln>
          </p:spPr>
          <p:txBody>
            <a:bodyPr rtlCol="0" anchor="ctr"/>
            <a:lstStyle/>
            <a:p>
              <a:endParaRPr lang="en-US" sz="1800"/>
            </a:p>
          </p:txBody>
        </p:sp>
        <p:sp>
          <p:nvSpPr>
            <p:cNvPr id="13" name="Freeform 12">
              <a:extLst>
                <a:ext uri="{FF2B5EF4-FFF2-40B4-BE49-F238E27FC236}">
                  <a16:creationId xmlns:a16="http://schemas.microsoft.com/office/drawing/2014/main" id="{0800836D-3118-CA60-E5B9-EE45B08AAA44}"/>
                </a:ext>
              </a:extLst>
            </p:cNvPr>
            <p:cNvSpPr/>
            <p:nvPr/>
          </p:nvSpPr>
          <p:spPr>
            <a:xfrm>
              <a:off x="9080478" y="7685087"/>
              <a:ext cx="40481" cy="102220"/>
            </a:xfrm>
            <a:custGeom>
              <a:avLst/>
              <a:gdLst>
                <a:gd name="connsiteX0" fmla="*/ 5190 w 40481"/>
                <a:gd name="connsiteY0" fmla="*/ 25555 h 102220"/>
                <a:gd name="connsiteX1" fmla="*/ 7266 w 40481"/>
                <a:gd name="connsiteY1" fmla="*/ 25555 h 102220"/>
                <a:gd name="connsiteX2" fmla="*/ 14878 w 40481"/>
                <a:gd name="connsiteY2" fmla="*/ 35225 h 102220"/>
                <a:gd name="connsiteX3" fmla="*/ 14878 w 40481"/>
                <a:gd name="connsiteY3" fmla="*/ 102221 h 102220"/>
                <a:gd name="connsiteX4" fmla="*/ 40482 w 40481"/>
                <a:gd name="connsiteY4" fmla="*/ 102221 h 102220"/>
                <a:gd name="connsiteX5" fmla="*/ 40482 w 40481"/>
                <a:gd name="connsiteY5" fmla="*/ 0 h 102220"/>
                <a:gd name="connsiteX6" fmla="*/ 0 w 40481"/>
                <a:gd name="connsiteY6" fmla="*/ 0 h 102220"/>
                <a:gd name="connsiteX7" fmla="*/ 0 w 40481"/>
                <a:gd name="connsiteY7" fmla="*/ 25555 h 102220"/>
                <a:gd name="connsiteX8" fmla="*/ 5536 w 40481"/>
                <a:gd name="connsiteY8" fmla="*/ 25555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481" h="102220">
                  <a:moveTo>
                    <a:pt x="5190" y="25555"/>
                  </a:moveTo>
                  <a:cubicBezTo>
                    <a:pt x="5882" y="25555"/>
                    <a:pt x="6574" y="25555"/>
                    <a:pt x="7266" y="25555"/>
                  </a:cubicBezTo>
                  <a:cubicBezTo>
                    <a:pt x="12110" y="26246"/>
                    <a:pt x="14878" y="30045"/>
                    <a:pt x="14878" y="35225"/>
                  </a:cubicBezTo>
                  <a:lnTo>
                    <a:pt x="14878" y="102221"/>
                  </a:lnTo>
                  <a:lnTo>
                    <a:pt x="40482" y="102221"/>
                  </a:lnTo>
                  <a:lnTo>
                    <a:pt x="40482" y="0"/>
                  </a:lnTo>
                  <a:lnTo>
                    <a:pt x="0" y="0"/>
                  </a:lnTo>
                  <a:lnTo>
                    <a:pt x="0" y="25555"/>
                  </a:lnTo>
                  <a:lnTo>
                    <a:pt x="5536" y="25555"/>
                  </a:lnTo>
                  <a:close/>
                </a:path>
              </a:pathLst>
            </a:custGeom>
            <a:grpFill/>
            <a:ln w="3458" cap="flat">
              <a:noFill/>
              <a:prstDash val="solid"/>
              <a:miter/>
            </a:ln>
          </p:spPr>
          <p:txBody>
            <a:bodyPr rtlCol="0" anchor="ctr"/>
            <a:lstStyle/>
            <a:p>
              <a:endParaRPr lang="en-US" sz="1800"/>
            </a:p>
          </p:txBody>
        </p:sp>
        <p:sp>
          <p:nvSpPr>
            <p:cNvPr id="14" name="Freeform 13">
              <a:extLst>
                <a:ext uri="{FF2B5EF4-FFF2-40B4-BE49-F238E27FC236}">
                  <a16:creationId xmlns:a16="http://schemas.microsoft.com/office/drawing/2014/main" id="{0758703C-0681-AFE6-0AC2-669C53AFC187}"/>
                </a:ext>
              </a:extLst>
            </p:cNvPr>
            <p:cNvSpPr/>
            <p:nvPr/>
          </p:nvSpPr>
          <p:spPr>
            <a:xfrm>
              <a:off x="9146218" y="7685087"/>
              <a:ext cx="128365" cy="102220"/>
            </a:xfrm>
            <a:custGeom>
              <a:avLst/>
              <a:gdLst>
                <a:gd name="connsiteX0" fmla="*/ 128365 w 128365"/>
                <a:gd name="connsiteY0" fmla="*/ 81846 h 102220"/>
                <a:gd name="connsiteX1" fmla="*/ 128365 w 128365"/>
                <a:gd name="connsiteY1" fmla="*/ 102221 h 102220"/>
                <a:gd name="connsiteX2" fmla="*/ 19722 w 128365"/>
                <a:gd name="connsiteY2" fmla="*/ 60780 h 102220"/>
                <a:gd name="connsiteX3" fmla="*/ 0 w 128365"/>
                <a:gd name="connsiteY3" fmla="*/ 30735 h 102220"/>
                <a:gd name="connsiteX4" fmla="*/ 31140 w 128365"/>
                <a:gd name="connsiteY4" fmla="*/ 0 h 102220"/>
                <a:gd name="connsiteX5" fmla="*/ 128020 w 128365"/>
                <a:gd name="connsiteY5" fmla="*/ 0 h 102220"/>
                <a:gd name="connsiteX6" fmla="*/ 128020 w 128365"/>
                <a:gd name="connsiteY6" fmla="*/ 40059 h 102220"/>
                <a:gd name="connsiteX7" fmla="*/ 102416 w 128365"/>
                <a:gd name="connsiteY7" fmla="*/ 40059 h 102220"/>
                <a:gd name="connsiteX8" fmla="*/ 102416 w 128365"/>
                <a:gd name="connsiteY8" fmla="*/ 32807 h 102220"/>
                <a:gd name="connsiteX9" fmla="*/ 94458 w 128365"/>
                <a:gd name="connsiteY9" fmla="*/ 25555 h 102220"/>
                <a:gd name="connsiteX10" fmla="*/ 37714 w 128365"/>
                <a:gd name="connsiteY10" fmla="*/ 25555 h 102220"/>
                <a:gd name="connsiteX11" fmla="*/ 29756 w 128365"/>
                <a:gd name="connsiteY11" fmla="*/ 33498 h 102220"/>
                <a:gd name="connsiteX12" fmla="*/ 34946 w 128365"/>
                <a:gd name="connsiteY12" fmla="*/ 41095 h 102220"/>
                <a:gd name="connsiteX13" fmla="*/ 119370 w 128365"/>
                <a:gd name="connsiteY13" fmla="*/ 70795 h 102220"/>
                <a:gd name="connsiteX14" fmla="*/ 127674 w 128365"/>
                <a:gd name="connsiteY14"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8365" h="102220">
                  <a:moveTo>
                    <a:pt x="128365" y="81846"/>
                  </a:moveTo>
                  <a:lnTo>
                    <a:pt x="128365"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close/>
                </a:path>
              </a:pathLst>
            </a:custGeom>
            <a:grpFill/>
            <a:ln w="3458" cap="flat">
              <a:noFill/>
              <a:prstDash val="solid"/>
              <a:miter/>
            </a:ln>
          </p:spPr>
          <p:txBody>
            <a:bodyPr rtlCol="0" anchor="ctr"/>
            <a:lstStyle/>
            <a:p>
              <a:endParaRPr lang="en-US" sz="1800"/>
            </a:p>
          </p:txBody>
        </p:sp>
        <p:sp>
          <p:nvSpPr>
            <p:cNvPr id="15" name="Freeform 14">
              <a:extLst>
                <a:ext uri="{FF2B5EF4-FFF2-40B4-BE49-F238E27FC236}">
                  <a16:creationId xmlns:a16="http://schemas.microsoft.com/office/drawing/2014/main" id="{9BFA7605-CC98-D2F3-7109-BE1FF08EF864}"/>
                </a:ext>
              </a:extLst>
            </p:cNvPr>
            <p:cNvSpPr/>
            <p:nvPr/>
          </p:nvSpPr>
          <p:spPr>
            <a:xfrm>
              <a:off x="9146564" y="7761753"/>
              <a:ext cx="25258" cy="25555"/>
            </a:xfrm>
            <a:custGeom>
              <a:avLst/>
              <a:gdLst>
                <a:gd name="connsiteX0" fmla="*/ 25258 w 25258"/>
                <a:gd name="connsiteY0" fmla="*/ 0 h 25555"/>
                <a:gd name="connsiteX1" fmla="*/ 0 w 25258"/>
                <a:gd name="connsiteY1" fmla="*/ 0 h 25555"/>
                <a:gd name="connsiteX2" fmla="*/ 0 w 25258"/>
                <a:gd name="connsiteY2" fmla="*/ 25555 h 25555"/>
                <a:gd name="connsiteX3" fmla="*/ 25258 w 25258"/>
                <a:gd name="connsiteY3" fmla="*/ 25555 h 25555"/>
                <a:gd name="connsiteX4" fmla="*/ 25258 w 25258"/>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8"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21" name="Freeform 20">
              <a:extLst>
                <a:ext uri="{FF2B5EF4-FFF2-40B4-BE49-F238E27FC236}">
                  <a16:creationId xmlns:a16="http://schemas.microsoft.com/office/drawing/2014/main" id="{A8D9CFF1-FEBC-3C0B-7462-B62B483AE229}"/>
                </a:ext>
              </a:extLst>
            </p:cNvPr>
            <p:cNvSpPr/>
            <p:nvPr/>
          </p:nvSpPr>
          <p:spPr>
            <a:xfrm>
              <a:off x="8480170" y="7685087"/>
              <a:ext cx="128019" cy="102220"/>
            </a:xfrm>
            <a:custGeom>
              <a:avLst/>
              <a:gdLst>
                <a:gd name="connsiteX0" fmla="*/ 128020 w 128019"/>
                <a:gd name="connsiteY0" fmla="*/ 81846 h 102220"/>
                <a:gd name="connsiteX1" fmla="*/ 128020 w 128019"/>
                <a:gd name="connsiteY1" fmla="*/ 102221 h 102220"/>
                <a:gd name="connsiteX2" fmla="*/ 19722 w 128019"/>
                <a:gd name="connsiteY2" fmla="*/ 60780 h 102220"/>
                <a:gd name="connsiteX3" fmla="*/ 0 w 128019"/>
                <a:gd name="connsiteY3" fmla="*/ 30735 h 102220"/>
                <a:gd name="connsiteX4" fmla="*/ 31140 w 128019"/>
                <a:gd name="connsiteY4" fmla="*/ 0 h 102220"/>
                <a:gd name="connsiteX5" fmla="*/ 128020 w 128019"/>
                <a:gd name="connsiteY5" fmla="*/ 0 h 102220"/>
                <a:gd name="connsiteX6" fmla="*/ 128020 w 128019"/>
                <a:gd name="connsiteY6" fmla="*/ 40059 h 102220"/>
                <a:gd name="connsiteX7" fmla="*/ 102416 w 128019"/>
                <a:gd name="connsiteY7" fmla="*/ 40059 h 102220"/>
                <a:gd name="connsiteX8" fmla="*/ 102416 w 128019"/>
                <a:gd name="connsiteY8" fmla="*/ 32807 h 102220"/>
                <a:gd name="connsiteX9" fmla="*/ 94458 w 128019"/>
                <a:gd name="connsiteY9" fmla="*/ 25555 h 102220"/>
                <a:gd name="connsiteX10" fmla="*/ 37714 w 128019"/>
                <a:gd name="connsiteY10" fmla="*/ 25555 h 102220"/>
                <a:gd name="connsiteX11" fmla="*/ 29756 w 128019"/>
                <a:gd name="connsiteY11" fmla="*/ 33498 h 102220"/>
                <a:gd name="connsiteX12" fmla="*/ 34946 w 128019"/>
                <a:gd name="connsiteY12" fmla="*/ 41095 h 102220"/>
                <a:gd name="connsiteX13" fmla="*/ 119370 w 128019"/>
                <a:gd name="connsiteY13" fmla="*/ 70795 h 102220"/>
                <a:gd name="connsiteX14" fmla="*/ 127674 w 128019"/>
                <a:gd name="connsiteY14" fmla="*/ 81846 h 102220"/>
                <a:gd name="connsiteX15" fmla="*/ 127674 w 128019"/>
                <a:gd name="connsiteY15"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8019" h="102220">
                  <a:moveTo>
                    <a:pt x="128020" y="81846"/>
                  </a:moveTo>
                  <a:lnTo>
                    <a:pt x="128020"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lnTo>
                    <a:pt x="127674" y="81846"/>
                  </a:lnTo>
                  <a:close/>
                </a:path>
              </a:pathLst>
            </a:custGeom>
            <a:grpFill/>
            <a:ln w="3458" cap="flat">
              <a:noFill/>
              <a:prstDash val="solid"/>
              <a:miter/>
            </a:ln>
          </p:spPr>
          <p:txBody>
            <a:bodyPr rtlCol="0" anchor="ctr"/>
            <a:lstStyle/>
            <a:p>
              <a:endParaRPr lang="en-US" sz="1800"/>
            </a:p>
          </p:txBody>
        </p:sp>
        <p:sp>
          <p:nvSpPr>
            <p:cNvPr id="24" name="Freeform 23">
              <a:extLst>
                <a:ext uri="{FF2B5EF4-FFF2-40B4-BE49-F238E27FC236}">
                  <a16:creationId xmlns:a16="http://schemas.microsoft.com/office/drawing/2014/main" id="{5294F85E-C762-5200-8253-138354CA2227}"/>
                </a:ext>
              </a:extLst>
            </p:cNvPr>
            <p:cNvSpPr/>
            <p:nvPr/>
          </p:nvSpPr>
          <p:spPr>
            <a:xfrm>
              <a:off x="8480516" y="7761753"/>
              <a:ext cx="25257" cy="25555"/>
            </a:xfrm>
            <a:custGeom>
              <a:avLst/>
              <a:gdLst>
                <a:gd name="connsiteX0" fmla="*/ 25258 w 25257"/>
                <a:gd name="connsiteY0" fmla="*/ 0 h 25555"/>
                <a:gd name="connsiteX1" fmla="*/ 0 w 25257"/>
                <a:gd name="connsiteY1" fmla="*/ 0 h 25555"/>
                <a:gd name="connsiteX2" fmla="*/ 0 w 25257"/>
                <a:gd name="connsiteY2" fmla="*/ 25555 h 25555"/>
                <a:gd name="connsiteX3" fmla="*/ 25258 w 25257"/>
                <a:gd name="connsiteY3" fmla="*/ 25555 h 25555"/>
                <a:gd name="connsiteX4" fmla="*/ 25258 w 25257"/>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7"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26" name="Freeform 25">
              <a:extLst>
                <a:ext uri="{FF2B5EF4-FFF2-40B4-BE49-F238E27FC236}">
                  <a16:creationId xmlns:a16="http://schemas.microsoft.com/office/drawing/2014/main" id="{1061EB08-6C5B-A9C7-B0AF-3729FB4DCE04}"/>
                </a:ext>
              </a:extLst>
            </p:cNvPr>
            <p:cNvSpPr/>
            <p:nvPr/>
          </p:nvSpPr>
          <p:spPr>
            <a:xfrm>
              <a:off x="9300533" y="7685087"/>
              <a:ext cx="128019" cy="102220"/>
            </a:xfrm>
            <a:custGeom>
              <a:avLst/>
              <a:gdLst>
                <a:gd name="connsiteX0" fmla="*/ 128020 w 128019"/>
                <a:gd name="connsiteY0" fmla="*/ 25555 h 102220"/>
                <a:gd name="connsiteX1" fmla="*/ 128020 w 128019"/>
                <a:gd name="connsiteY1" fmla="*/ 0 h 102220"/>
                <a:gd name="connsiteX2" fmla="*/ 105530 w 128019"/>
                <a:gd name="connsiteY2" fmla="*/ 0 h 102220"/>
                <a:gd name="connsiteX3" fmla="*/ 100686 w 128019"/>
                <a:gd name="connsiteY3" fmla="*/ 1727 h 102220"/>
                <a:gd name="connsiteX4" fmla="*/ 60550 w 128019"/>
                <a:gd name="connsiteY4" fmla="*/ 37987 h 102220"/>
                <a:gd name="connsiteX5" fmla="*/ 56398 w 128019"/>
                <a:gd name="connsiteY5" fmla="*/ 39714 h 102220"/>
                <a:gd name="connsiteX6" fmla="*/ 28372 w 128019"/>
                <a:gd name="connsiteY6" fmla="*/ 39714 h 102220"/>
                <a:gd name="connsiteX7" fmla="*/ 25258 w 128019"/>
                <a:gd name="connsiteY7" fmla="*/ 36606 h 102220"/>
                <a:gd name="connsiteX8" fmla="*/ 25258 w 128019"/>
                <a:gd name="connsiteY8" fmla="*/ 0 h 102220"/>
                <a:gd name="connsiteX9" fmla="*/ 0 w 128019"/>
                <a:gd name="connsiteY9" fmla="*/ 0 h 102220"/>
                <a:gd name="connsiteX10" fmla="*/ 0 w 128019"/>
                <a:gd name="connsiteY10" fmla="*/ 102221 h 102220"/>
                <a:gd name="connsiteX11" fmla="*/ 25258 w 128019"/>
                <a:gd name="connsiteY11" fmla="*/ 102221 h 102220"/>
                <a:gd name="connsiteX12" fmla="*/ 25258 w 128019"/>
                <a:gd name="connsiteY12" fmla="*/ 65615 h 102220"/>
                <a:gd name="connsiteX13" fmla="*/ 28372 w 128019"/>
                <a:gd name="connsiteY13" fmla="*/ 62507 h 102220"/>
                <a:gd name="connsiteX14" fmla="*/ 56398 w 128019"/>
                <a:gd name="connsiteY14" fmla="*/ 62507 h 102220"/>
                <a:gd name="connsiteX15" fmla="*/ 60550 w 128019"/>
                <a:gd name="connsiteY15" fmla="*/ 64233 h 102220"/>
                <a:gd name="connsiteX16" fmla="*/ 100686 w 128019"/>
                <a:gd name="connsiteY16" fmla="*/ 100494 h 102220"/>
                <a:gd name="connsiteX17" fmla="*/ 105530 w 128019"/>
                <a:gd name="connsiteY17" fmla="*/ 102221 h 102220"/>
                <a:gd name="connsiteX18" fmla="*/ 128020 w 128019"/>
                <a:gd name="connsiteY18" fmla="*/ 102221 h 102220"/>
                <a:gd name="connsiteX19" fmla="*/ 128020 w 128019"/>
                <a:gd name="connsiteY19" fmla="*/ 76665 h 102220"/>
                <a:gd name="connsiteX20" fmla="*/ 115564 w 128019"/>
                <a:gd name="connsiteY20" fmla="*/ 76665 h 102220"/>
                <a:gd name="connsiteX21" fmla="*/ 105184 w 128019"/>
                <a:gd name="connsiteY21" fmla="*/ 72867 h 102220"/>
                <a:gd name="connsiteX22" fmla="*/ 86154 w 128019"/>
                <a:gd name="connsiteY22" fmla="*/ 55945 h 102220"/>
                <a:gd name="connsiteX23" fmla="*/ 86154 w 128019"/>
                <a:gd name="connsiteY23" fmla="*/ 45930 h 102220"/>
                <a:gd name="connsiteX24" fmla="*/ 105184 w 128019"/>
                <a:gd name="connsiteY24" fmla="*/ 29009 h 102220"/>
                <a:gd name="connsiteX25" fmla="*/ 115564 w 128019"/>
                <a:gd name="connsiteY25" fmla="*/ 25210 h 102220"/>
                <a:gd name="connsiteX26" fmla="*/ 128020 w 128019"/>
                <a:gd name="connsiteY26" fmla="*/ 2521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8019" h="102220">
                  <a:moveTo>
                    <a:pt x="128020" y="25555"/>
                  </a:moveTo>
                  <a:lnTo>
                    <a:pt x="128020" y="0"/>
                  </a:lnTo>
                  <a:lnTo>
                    <a:pt x="105530" y="0"/>
                  </a:lnTo>
                  <a:cubicBezTo>
                    <a:pt x="103800" y="0"/>
                    <a:pt x="102070" y="691"/>
                    <a:pt x="100686" y="1727"/>
                  </a:cubicBezTo>
                  <a:lnTo>
                    <a:pt x="60550" y="37987"/>
                  </a:lnTo>
                  <a:cubicBezTo>
                    <a:pt x="59512" y="39023"/>
                    <a:pt x="58128" y="39714"/>
                    <a:pt x="56398" y="39714"/>
                  </a:cubicBezTo>
                  <a:lnTo>
                    <a:pt x="28372" y="39714"/>
                  </a:lnTo>
                  <a:cubicBezTo>
                    <a:pt x="26642" y="39714"/>
                    <a:pt x="25258" y="38333"/>
                    <a:pt x="25258" y="36606"/>
                  </a:cubicBezTo>
                  <a:lnTo>
                    <a:pt x="25258" y="0"/>
                  </a:lnTo>
                  <a:lnTo>
                    <a:pt x="0" y="0"/>
                  </a:lnTo>
                  <a:lnTo>
                    <a:pt x="0" y="102221"/>
                  </a:lnTo>
                  <a:lnTo>
                    <a:pt x="25258" y="102221"/>
                  </a:lnTo>
                  <a:lnTo>
                    <a:pt x="25258" y="65615"/>
                  </a:lnTo>
                  <a:cubicBezTo>
                    <a:pt x="25258" y="63888"/>
                    <a:pt x="26642" y="62507"/>
                    <a:pt x="28372" y="62507"/>
                  </a:cubicBezTo>
                  <a:lnTo>
                    <a:pt x="56398" y="62507"/>
                  </a:lnTo>
                  <a:cubicBezTo>
                    <a:pt x="57782" y="62507"/>
                    <a:pt x="59512" y="62852"/>
                    <a:pt x="60550" y="64233"/>
                  </a:cubicBezTo>
                  <a:lnTo>
                    <a:pt x="100686" y="100494"/>
                  </a:lnTo>
                  <a:cubicBezTo>
                    <a:pt x="102070" y="101530"/>
                    <a:pt x="103800" y="102221"/>
                    <a:pt x="105530" y="102221"/>
                  </a:cubicBezTo>
                  <a:lnTo>
                    <a:pt x="128020" y="102221"/>
                  </a:lnTo>
                  <a:lnTo>
                    <a:pt x="128020" y="76665"/>
                  </a:lnTo>
                  <a:lnTo>
                    <a:pt x="115564" y="76665"/>
                  </a:lnTo>
                  <a:cubicBezTo>
                    <a:pt x="111758" y="76665"/>
                    <a:pt x="107952" y="75284"/>
                    <a:pt x="105184" y="72867"/>
                  </a:cubicBezTo>
                  <a:lnTo>
                    <a:pt x="86154" y="55945"/>
                  </a:lnTo>
                  <a:cubicBezTo>
                    <a:pt x="83040" y="53528"/>
                    <a:pt x="83040" y="48693"/>
                    <a:pt x="86154" y="45930"/>
                  </a:cubicBezTo>
                  <a:lnTo>
                    <a:pt x="105184" y="29009"/>
                  </a:lnTo>
                  <a:cubicBezTo>
                    <a:pt x="108298" y="26591"/>
                    <a:pt x="111758" y="25210"/>
                    <a:pt x="115564" y="25210"/>
                  </a:cubicBezTo>
                  <a:lnTo>
                    <a:pt x="128020" y="25210"/>
                  </a:lnTo>
                  <a:close/>
                </a:path>
              </a:pathLst>
            </a:custGeom>
            <a:grpFill/>
            <a:ln w="3458" cap="flat">
              <a:noFill/>
              <a:prstDash val="solid"/>
              <a:miter/>
            </a:ln>
          </p:spPr>
          <p:txBody>
            <a:bodyPr rtlCol="0" anchor="ctr"/>
            <a:lstStyle/>
            <a:p>
              <a:endParaRPr lang="en-US" sz="1800"/>
            </a:p>
          </p:txBody>
        </p:sp>
        <p:sp>
          <p:nvSpPr>
            <p:cNvPr id="27" name="Freeform 26">
              <a:extLst>
                <a:ext uri="{FF2B5EF4-FFF2-40B4-BE49-F238E27FC236}">
                  <a16:creationId xmlns:a16="http://schemas.microsoft.com/office/drawing/2014/main" id="{E3F0016F-0CB3-7080-3BC4-4C1F78F36CBB}"/>
                </a:ext>
              </a:extLst>
            </p:cNvPr>
            <p:cNvSpPr/>
            <p:nvPr/>
          </p:nvSpPr>
          <p:spPr>
            <a:xfrm>
              <a:off x="8623760" y="7684742"/>
              <a:ext cx="138053" cy="102565"/>
            </a:xfrm>
            <a:custGeom>
              <a:avLst/>
              <a:gdLst>
                <a:gd name="connsiteX0" fmla="*/ 99302 w 138053"/>
                <a:gd name="connsiteY0" fmla="*/ 345 h 102565"/>
                <a:gd name="connsiteX1" fmla="*/ 70238 w 138053"/>
                <a:gd name="connsiteY1" fmla="*/ 14850 h 102565"/>
                <a:gd name="connsiteX2" fmla="*/ 0 w 138053"/>
                <a:gd name="connsiteY2" fmla="*/ 102566 h 102565"/>
                <a:gd name="connsiteX3" fmla="*/ 35638 w 138053"/>
                <a:gd name="connsiteY3" fmla="*/ 102566 h 102565"/>
                <a:gd name="connsiteX4" fmla="*/ 93420 w 138053"/>
                <a:gd name="connsiteY4" fmla="*/ 31426 h 102565"/>
                <a:gd name="connsiteX5" fmla="*/ 102762 w 138053"/>
                <a:gd name="connsiteY5" fmla="*/ 26246 h 102565"/>
                <a:gd name="connsiteX6" fmla="*/ 112450 w 138053"/>
                <a:gd name="connsiteY6" fmla="*/ 36951 h 102565"/>
                <a:gd name="connsiteX7" fmla="*/ 112450 w 138053"/>
                <a:gd name="connsiteY7" fmla="*/ 68032 h 102565"/>
                <a:gd name="connsiteX8" fmla="*/ 105184 w 138053"/>
                <a:gd name="connsiteY8" fmla="*/ 77011 h 102565"/>
                <a:gd name="connsiteX9" fmla="*/ 97918 w 138053"/>
                <a:gd name="connsiteY9" fmla="*/ 77011 h 102565"/>
                <a:gd name="connsiteX10" fmla="*/ 97918 w 138053"/>
                <a:gd name="connsiteY10" fmla="*/ 102566 h 102565"/>
                <a:gd name="connsiteX11" fmla="*/ 138054 w 138053"/>
                <a:gd name="connsiteY11" fmla="*/ 102566 h 102565"/>
                <a:gd name="connsiteX12" fmla="*/ 138054 w 138053"/>
                <a:gd name="connsiteY12" fmla="*/ 38333 h 102565"/>
                <a:gd name="connsiteX13" fmla="*/ 98956 w 138053"/>
                <a:gd name="connsiteY13" fmla="*/ 0 h 102565"/>
                <a:gd name="connsiteX14" fmla="*/ 98956 w 138053"/>
                <a:gd name="connsiteY14" fmla="*/ 0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8053" h="102565">
                  <a:moveTo>
                    <a:pt x="99302" y="345"/>
                  </a:moveTo>
                  <a:cubicBezTo>
                    <a:pt x="87884" y="345"/>
                    <a:pt x="77158" y="5871"/>
                    <a:pt x="70238" y="14850"/>
                  </a:cubicBezTo>
                  <a:lnTo>
                    <a:pt x="0" y="102566"/>
                  </a:lnTo>
                  <a:lnTo>
                    <a:pt x="35638" y="102566"/>
                  </a:lnTo>
                  <a:lnTo>
                    <a:pt x="93420" y="31426"/>
                  </a:lnTo>
                  <a:cubicBezTo>
                    <a:pt x="96188" y="27973"/>
                    <a:pt x="98264" y="26246"/>
                    <a:pt x="102762" y="26246"/>
                  </a:cubicBezTo>
                  <a:cubicBezTo>
                    <a:pt x="107260" y="26246"/>
                    <a:pt x="112450" y="31081"/>
                    <a:pt x="112450" y="36951"/>
                  </a:cubicBezTo>
                  <a:lnTo>
                    <a:pt x="112450" y="68032"/>
                  </a:lnTo>
                  <a:cubicBezTo>
                    <a:pt x="112450" y="72867"/>
                    <a:pt x="110028" y="77011"/>
                    <a:pt x="105184" y="77011"/>
                  </a:cubicBezTo>
                  <a:lnTo>
                    <a:pt x="97918" y="77011"/>
                  </a:lnTo>
                  <a:lnTo>
                    <a:pt x="97918" y="102566"/>
                  </a:lnTo>
                  <a:lnTo>
                    <a:pt x="138054" y="102566"/>
                  </a:lnTo>
                  <a:lnTo>
                    <a:pt x="138054" y="38333"/>
                  </a:lnTo>
                  <a:cubicBezTo>
                    <a:pt x="138054" y="33153"/>
                    <a:pt x="138054" y="0"/>
                    <a:pt x="98956" y="0"/>
                  </a:cubicBezTo>
                  <a:lnTo>
                    <a:pt x="98956" y="0"/>
                  </a:lnTo>
                  <a:close/>
                </a:path>
              </a:pathLst>
            </a:custGeom>
            <a:grpFill/>
            <a:ln w="3458" cap="flat">
              <a:noFill/>
              <a:prstDash val="solid"/>
              <a:miter/>
            </a:ln>
          </p:spPr>
          <p:txBody>
            <a:bodyPr rtlCol="0" anchor="ctr"/>
            <a:lstStyle/>
            <a:p>
              <a:endParaRPr lang="en-US" sz="1800"/>
            </a:p>
          </p:txBody>
        </p:sp>
        <p:sp>
          <p:nvSpPr>
            <p:cNvPr id="28" name="Freeform 27">
              <a:extLst>
                <a:ext uri="{FF2B5EF4-FFF2-40B4-BE49-F238E27FC236}">
                  <a16:creationId xmlns:a16="http://schemas.microsoft.com/office/drawing/2014/main" id="{A9664395-59B4-F182-99D7-707F30DA657F}"/>
                </a:ext>
              </a:extLst>
            </p:cNvPr>
            <p:cNvSpPr/>
            <p:nvPr/>
          </p:nvSpPr>
          <p:spPr>
            <a:xfrm>
              <a:off x="9480453" y="7685087"/>
              <a:ext cx="30793" cy="25555"/>
            </a:xfrm>
            <a:custGeom>
              <a:avLst/>
              <a:gdLst>
                <a:gd name="connsiteX0" fmla="*/ 30448 w 30793"/>
                <a:gd name="connsiteY0" fmla="*/ 0 h 25555"/>
                <a:gd name="connsiteX1" fmla="*/ 30448 w 30793"/>
                <a:gd name="connsiteY1" fmla="*/ 25555 h 25555"/>
                <a:gd name="connsiteX2" fmla="*/ 24912 w 30793"/>
                <a:gd name="connsiteY2" fmla="*/ 25555 h 25555"/>
                <a:gd name="connsiteX3" fmla="*/ 24912 w 30793"/>
                <a:gd name="connsiteY3" fmla="*/ 5180 h 25555"/>
                <a:gd name="connsiteX4" fmla="*/ 24912 w 30793"/>
                <a:gd name="connsiteY4" fmla="*/ 5180 h 25555"/>
                <a:gd name="connsiteX5" fmla="*/ 17646 w 30793"/>
                <a:gd name="connsiteY5" fmla="*/ 25555 h 25555"/>
                <a:gd name="connsiteX6" fmla="*/ 12802 w 30793"/>
                <a:gd name="connsiteY6" fmla="*/ 25555 h 25555"/>
                <a:gd name="connsiteX7" fmla="*/ 5536 w 30793"/>
                <a:gd name="connsiteY7" fmla="*/ 5180 h 25555"/>
                <a:gd name="connsiteX8" fmla="*/ 5536 w 30793"/>
                <a:gd name="connsiteY8" fmla="*/ 5180 h 25555"/>
                <a:gd name="connsiteX9" fmla="*/ 5536 w 30793"/>
                <a:gd name="connsiteY9" fmla="*/ 25555 h 25555"/>
                <a:gd name="connsiteX10" fmla="*/ 0 w 30793"/>
                <a:gd name="connsiteY10" fmla="*/ 25555 h 25555"/>
                <a:gd name="connsiteX11" fmla="*/ 0 w 30793"/>
                <a:gd name="connsiteY11" fmla="*/ 0 h 25555"/>
                <a:gd name="connsiteX12" fmla="*/ 9688 w 30793"/>
                <a:gd name="connsiteY12" fmla="*/ 0 h 25555"/>
                <a:gd name="connsiteX13" fmla="*/ 15570 w 30793"/>
                <a:gd name="connsiteY13" fmla="*/ 17267 h 25555"/>
                <a:gd name="connsiteX14" fmla="*/ 15570 w 30793"/>
                <a:gd name="connsiteY14" fmla="*/ 17267 h 25555"/>
                <a:gd name="connsiteX15" fmla="*/ 21798 w 30793"/>
                <a:gd name="connsiteY15" fmla="*/ 0 h 25555"/>
                <a:gd name="connsiteX16" fmla="*/ 30794 w 30793"/>
                <a:gd name="connsiteY16" fmla="*/ 0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793" h="25555">
                  <a:moveTo>
                    <a:pt x="30448" y="0"/>
                  </a:moveTo>
                  <a:lnTo>
                    <a:pt x="30448" y="25555"/>
                  </a:lnTo>
                  <a:lnTo>
                    <a:pt x="24912" y="25555"/>
                  </a:lnTo>
                  <a:lnTo>
                    <a:pt x="24912" y="5180"/>
                  </a:lnTo>
                  <a:lnTo>
                    <a:pt x="24912" y="5180"/>
                  </a:lnTo>
                  <a:lnTo>
                    <a:pt x="17646" y="25555"/>
                  </a:lnTo>
                  <a:lnTo>
                    <a:pt x="12802" y="25555"/>
                  </a:lnTo>
                  <a:lnTo>
                    <a:pt x="5536" y="5180"/>
                  </a:lnTo>
                  <a:lnTo>
                    <a:pt x="5536" y="5180"/>
                  </a:lnTo>
                  <a:lnTo>
                    <a:pt x="5536" y="25555"/>
                  </a:lnTo>
                  <a:lnTo>
                    <a:pt x="0" y="25555"/>
                  </a:lnTo>
                  <a:lnTo>
                    <a:pt x="0" y="0"/>
                  </a:lnTo>
                  <a:lnTo>
                    <a:pt x="9688" y="0"/>
                  </a:lnTo>
                  <a:lnTo>
                    <a:pt x="15570" y="17267"/>
                  </a:lnTo>
                  <a:lnTo>
                    <a:pt x="15570" y="17267"/>
                  </a:lnTo>
                  <a:lnTo>
                    <a:pt x="21798" y="0"/>
                  </a:lnTo>
                  <a:lnTo>
                    <a:pt x="30794" y="0"/>
                  </a:lnTo>
                  <a:close/>
                </a:path>
              </a:pathLst>
            </a:custGeom>
            <a:grpFill/>
            <a:ln w="3458" cap="flat">
              <a:noFill/>
              <a:prstDash val="solid"/>
              <a:miter/>
            </a:ln>
          </p:spPr>
          <p:txBody>
            <a:bodyPr rtlCol="0" anchor="ctr"/>
            <a:lstStyle/>
            <a:p>
              <a:endParaRPr lang="en-US" sz="1800"/>
            </a:p>
          </p:txBody>
        </p:sp>
        <p:sp>
          <p:nvSpPr>
            <p:cNvPr id="29" name="Freeform 28">
              <a:extLst>
                <a:ext uri="{FF2B5EF4-FFF2-40B4-BE49-F238E27FC236}">
                  <a16:creationId xmlns:a16="http://schemas.microsoft.com/office/drawing/2014/main" id="{F74C3101-8FD3-E028-3D78-74D6B16FCDBF}"/>
                </a:ext>
              </a:extLst>
            </p:cNvPr>
            <p:cNvSpPr/>
            <p:nvPr/>
          </p:nvSpPr>
          <p:spPr>
            <a:xfrm>
              <a:off x="9453811" y="7685087"/>
              <a:ext cx="21451" cy="25555"/>
            </a:xfrm>
            <a:custGeom>
              <a:avLst/>
              <a:gdLst>
                <a:gd name="connsiteX0" fmla="*/ 13840 w 21451"/>
                <a:gd name="connsiteY0" fmla="*/ 4835 h 25555"/>
                <a:gd name="connsiteX1" fmla="*/ 13840 w 21451"/>
                <a:gd name="connsiteY1" fmla="*/ 25555 h 25555"/>
                <a:gd name="connsiteX2" fmla="*/ 7958 w 21451"/>
                <a:gd name="connsiteY2" fmla="*/ 25555 h 25555"/>
                <a:gd name="connsiteX3" fmla="*/ 7958 w 21451"/>
                <a:gd name="connsiteY3" fmla="*/ 4835 h 25555"/>
                <a:gd name="connsiteX4" fmla="*/ 0 w 21451"/>
                <a:gd name="connsiteY4" fmla="*/ 4835 h 25555"/>
                <a:gd name="connsiteX5" fmla="*/ 0 w 21451"/>
                <a:gd name="connsiteY5" fmla="*/ 0 h 25555"/>
                <a:gd name="connsiteX6" fmla="*/ 21452 w 21451"/>
                <a:gd name="connsiteY6" fmla="*/ 0 h 25555"/>
                <a:gd name="connsiteX7" fmla="*/ 21452 w 21451"/>
                <a:gd name="connsiteY7" fmla="*/ 4835 h 25555"/>
                <a:gd name="connsiteX8" fmla="*/ 13494 w 21451"/>
                <a:gd name="connsiteY8" fmla="*/ 4835 h 25555"/>
                <a:gd name="connsiteX9" fmla="*/ 13494 w 21451"/>
                <a:gd name="connsiteY9" fmla="*/ 4835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451" h="25555">
                  <a:moveTo>
                    <a:pt x="13840" y="4835"/>
                  </a:moveTo>
                  <a:lnTo>
                    <a:pt x="13840" y="25555"/>
                  </a:lnTo>
                  <a:lnTo>
                    <a:pt x="7958" y="25555"/>
                  </a:lnTo>
                  <a:lnTo>
                    <a:pt x="7958" y="4835"/>
                  </a:lnTo>
                  <a:lnTo>
                    <a:pt x="0" y="4835"/>
                  </a:lnTo>
                  <a:lnTo>
                    <a:pt x="0" y="0"/>
                  </a:lnTo>
                  <a:lnTo>
                    <a:pt x="21452" y="0"/>
                  </a:lnTo>
                  <a:lnTo>
                    <a:pt x="21452" y="4835"/>
                  </a:lnTo>
                  <a:lnTo>
                    <a:pt x="13494" y="4835"/>
                  </a:lnTo>
                  <a:lnTo>
                    <a:pt x="13494" y="4835"/>
                  </a:lnTo>
                  <a:close/>
                </a:path>
              </a:pathLst>
            </a:custGeom>
            <a:grpFill/>
            <a:ln w="3458" cap="flat">
              <a:noFill/>
              <a:prstDash val="solid"/>
              <a:miter/>
            </a:ln>
          </p:spPr>
          <p:txBody>
            <a:bodyPr rtlCol="0" anchor="ctr"/>
            <a:lstStyle/>
            <a:p>
              <a:endParaRPr lang="en-US" sz="1800"/>
            </a:p>
          </p:txBody>
        </p:sp>
      </p:grpSp>
      <p:sp>
        <p:nvSpPr>
          <p:cNvPr id="30" name="name_2024 sandisk or its affiliates All rights reserved">
            <a:extLst>
              <a:ext uri="{FF2B5EF4-FFF2-40B4-BE49-F238E27FC236}">
                <a16:creationId xmlns:a16="http://schemas.microsoft.com/office/drawing/2014/main" id="{EB03C76D-E757-381A-B49E-0D13A9F30663}"/>
              </a:ext>
            </a:extLst>
          </p:cNvPr>
          <p:cNvSpPr txBox="1"/>
          <p:nvPr/>
        </p:nvSpPr>
        <p:spPr>
          <a:xfrm>
            <a:off x="6096000" y="6437971"/>
            <a:ext cx="5803900"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b">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r" defTabSz="609412" hangingPunct="0">
              <a:lnSpc>
                <a:spcPct val="100000"/>
              </a:lnSpc>
            </a:pPr>
            <a:r>
              <a:rPr lang="en-US" sz="1000" b="0" i="0" kern="0" spc="0" baseline="0">
                <a:solidFill>
                  <a:schemeClr val="bg1"/>
                </a:solidFill>
                <a:latin typeface="NB Architekt Pro Neue" panose="02010509020201040001" pitchFamily="49" charset="77"/>
                <a:cs typeface="Consolas" panose="020B0609020204030204" pitchFamily="49" charset="0"/>
              </a:rPr>
              <a:t>©2025 SANDISK CORPORATION OR ITS AFFILIATES ALL RIGHTS RESERVED</a:t>
            </a:r>
          </a:p>
        </p:txBody>
      </p:sp>
    </p:spTree>
    <p:extLst>
      <p:ext uri="{BB962C8B-B14F-4D97-AF65-F5344CB8AC3E}">
        <p14:creationId xmlns:p14="http://schemas.microsoft.com/office/powerpoint/2010/main" val="798019267"/>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gue Gray">
    <p:bg>
      <p:bgPr>
        <a:solidFill>
          <a:schemeClr val="accent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22468A4-BC3E-6353-E1E0-2E13F959CCB8}"/>
              </a:ext>
            </a:extLst>
          </p:cNvPr>
          <p:cNvSpPr>
            <a:spLocks noGrp="1"/>
          </p:cNvSpPr>
          <p:nvPr>
            <p:ph type="title" hasCustomPrompt="1"/>
          </p:nvPr>
        </p:nvSpPr>
        <p:spPr>
          <a:xfrm>
            <a:off x="292099" y="242175"/>
            <a:ext cx="10137775" cy="2859204"/>
          </a:xfrm>
          <a:prstGeom prst="rect">
            <a:avLst/>
          </a:prstGeom>
        </p:spPr>
        <p:txBody>
          <a:bodyPr wrap="square" lIns="0" tIns="0" anchor="t">
            <a:noAutofit/>
          </a:bodyPr>
          <a:lstStyle>
            <a:lvl1pPr>
              <a:lnSpc>
                <a:spcPct val="86000"/>
              </a:lnSpc>
              <a:defRPr sz="6000" b="0" spc="-220" baseline="0">
                <a:solidFill>
                  <a:schemeClr val="tx1"/>
                </a:solidFill>
                <a:latin typeface="+mj-lt"/>
              </a:defRPr>
            </a:lvl1pPr>
          </a:lstStyle>
          <a:p>
            <a:pPr lvl="0"/>
            <a:r>
              <a:rPr lang="en-US"/>
              <a:t>CLICK TO ADD </a:t>
            </a:r>
            <a:br>
              <a:rPr lang="en-US"/>
            </a:br>
            <a:r>
              <a:rPr lang="en-US"/>
              <a:t>SEGUE TITLE</a:t>
            </a:r>
          </a:p>
        </p:txBody>
      </p:sp>
      <p:sp>
        <p:nvSpPr>
          <p:cNvPr id="60" name="name_2024 sandisk or its affiliates All rights reserved">
            <a:extLst>
              <a:ext uri="{FF2B5EF4-FFF2-40B4-BE49-F238E27FC236}">
                <a16:creationId xmlns:a16="http://schemas.microsoft.com/office/drawing/2014/main" id="{8D1C0E07-2F4E-EA81-8A81-D9EB71265DB8}"/>
              </a:ext>
            </a:extLst>
          </p:cNvPr>
          <p:cNvSpPr txBox="1"/>
          <p:nvPr/>
        </p:nvSpPr>
        <p:spPr>
          <a:xfrm>
            <a:off x="292100" y="3207243"/>
            <a:ext cx="1323975"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tx1"/>
                </a:solidFill>
                <a:latin typeface="NB Architekt Pro Neue" panose="02010509020201040001" pitchFamily="49" charset="77"/>
                <a:cs typeface="Consolas" panose="020B0609020204030204" pitchFamily="49" charset="0"/>
              </a:rPr>
              <a:t>[Confidential]</a:t>
            </a:r>
          </a:p>
        </p:txBody>
      </p:sp>
      <p:sp>
        <p:nvSpPr>
          <p:cNvPr id="63" name="Rectangle 62">
            <a:extLst>
              <a:ext uri="{FF2B5EF4-FFF2-40B4-BE49-F238E27FC236}">
                <a16:creationId xmlns:a16="http://schemas.microsoft.com/office/drawing/2014/main" id="{F9A95309-574A-2C41-2F2D-805220801FF6}"/>
              </a:ext>
            </a:extLst>
          </p:cNvPr>
          <p:cNvSpPr/>
          <p:nvPr/>
        </p:nvSpPr>
        <p:spPr>
          <a:xfrm>
            <a:off x="11607292" y="293688"/>
            <a:ext cx="292608" cy="2926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0000"/>
              </a:solidFill>
            </a:endParaRPr>
          </a:p>
        </p:txBody>
      </p:sp>
      <p:grpSp>
        <p:nvGrpSpPr>
          <p:cNvPr id="8" name="Group 7">
            <a:extLst>
              <a:ext uri="{FF2B5EF4-FFF2-40B4-BE49-F238E27FC236}">
                <a16:creationId xmlns:a16="http://schemas.microsoft.com/office/drawing/2014/main" id="{6E339ACF-C1D7-28B4-AB2C-71D8975E22B0}"/>
              </a:ext>
            </a:extLst>
          </p:cNvPr>
          <p:cNvGrpSpPr>
            <a:grpSpLocks noChangeAspect="1"/>
          </p:cNvGrpSpPr>
          <p:nvPr/>
        </p:nvGrpSpPr>
        <p:grpSpPr>
          <a:xfrm>
            <a:off x="297027" y="6344485"/>
            <a:ext cx="2240280" cy="218081"/>
            <a:chOff x="8480170" y="7684742"/>
            <a:chExt cx="1031076" cy="102566"/>
          </a:xfrm>
          <a:solidFill>
            <a:schemeClr val="accent3"/>
          </a:solidFill>
        </p:grpSpPr>
        <p:sp>
          <p:nvSpPr>
            <p:cNvPr id="10" name="Freeform 9">
              <a:extLst>
                <a:ext uri="{FF2B5EF4-FFF2-40B4-BE49-F238E27FC236}">
                  <a16:creationId xmlns:a16="http://schemas.microsoft.com/office/drawing/2014/main" id="{ADCFEF2E-507D-D3DC-160D-3A0004BDD970}"/>
                </a:ext>
              </a:extLst>
            </p:cNvPr>
            <p:cNvSpPr/>
            <p:nvPr/>
          </p:nvSpPr>
          <p:spPr>
            <a:xfrm>
              <a:off x="8788109" y="7684742"/>
              <a:ext cx="128019" cy="102565"/>
            </a:xfrm>
            <a:custGeom>
              <a:avLst/>
              <a:gdLst>
                <a:gd name="connsiteX0" fmla="*/ 102070 w 128019"/>
                <a:gd name="connsiteY0" fmla="*/ 70104 h 102565"/>
                <a:gd name="connsiteX1" fmla="*/ 96188 w 128019"/>
                <a:gd name="connsiteY1" fmla="*/ 77011 h 102565"/>
                <a:gd name="connsiteX2" fmla="*/ 89268 w 128019"/>
                <a:gd name="connsiteY2" fmla="*/ 72521 h 102565"/>
                <a:gd name="connsiteX3" fmla="*/ 65740 w 128019"/>
                <a:gd name="connsiteY3" fmla="*/ 8288 h 102565"/>
                <a:gd name="connsiteX4" fmla="*/ 54668 w 128019"/>
                <a:gd name="connsiteY4" fmla="*/ 0 h 102565"/>
                <a:gd name="connsiteX5" fmla="*/ 0 w 128019"/>
                <a:gd name="connsiteY5" fmla="*/ 0 h 102565"/>
                <a:gd name="connsiteX6" fmla="*/ 0 w 128019"/>
                <a:gd name="connsiteY6" fmla="*/ 102221 h 102565"/>
                <a:gd name="connsiteX7" fmla="*/ 40136 w 128019"/>
                <a:gd name="connsiteY7" fmla="*/ 102221 h 102565"/>
                <a:gd name="connsiteX8" fmla="*/ 40136 w 128019"/>
                <a:gd name="connsiteY8" fmla="*/ 76665 h 102565"/>
                <a:gd name="connsiteX9" fmla="*/ 32870 w 128019"/>
                <a:gd name="connsiteY9" fmla="*/ 76665 h 102565"/>
                <a:gd name="connsiteX10" fmla="*/ 25604 w 128019"/>
                <a:gd name="connsiteY10" fmla="*/ 67687 h 102565"/>
                <a:gd name="connsiteX11" fmla="*/ 25604 w 128019"/>
                <a:gd name="connsiteY11" fmla="*/ 36951 h 102565"/>
                <a:gd name="connsiteX12" fmla="*/ 39790 w 128019"/>
                <a:gd name="connsiteY12" fmla="*/ 26591 h 102565"/>
                <a:gd name="connsiteX13" fmla="*/ 45672 w 128019"/>
                <a:gd name="connsiteY13" fmla="*/ 32807 h 102565"/>
                <a:gd name="connsiteX14" fmla="*/ 64356 w 128019"/>
                <a:gd name="connsiteY14" fmla="*/ 81500 h 102565"/>
                <a:gd name="connsiteX15" fmla="*/ 95150 w 128019"/>
                <a:gd name="connsiteY15" fmla="*/ 102566 h 102565"/>
                <a:gd name="connsiteX16" fmla="*/ 95842 w 128019"/>
                <a:gd name="connsiteY16" fmla="*/ 102566 h 102565"/>
                <a:gd name="connsiteX17" fmla="*/ 128020 w 128019"/>
                <a:gd name="connsiteY17" fmla="*/ 70795 h 102565"/>
                <a:gd name="connsiteX18" fmla="*/ 128020 w 128019"/>
                <a:gd name="connsiteY18" fmla="*/ 345 h 102565"/>
                <a:gd name="connsiteX19" fmla="*/ 102416 w 128019"/>
                <a:gd name="connsiteY19" fmla="*/ 345 h 102565"/>
                <a:gd name="connsiteX20" fmla="*/ 102416 w 128019"/>
                <a:gd name="connsiteY20" fmla="*/ 70104 h 102565"/>
                <a:gd name="connsiteX21" fmla="*/ 102416 w 128019"/>
                <a:gd name="connsiteY21" fmla="*/ 70104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8019" h="102565">
                  <a:moveTo>
                    <a:pt x="102070" y="70104"/>
                  </a:moveTo>
                  <a:cubicBezTo>
                    <a:pt x="102070" y="73557"/>
                    <a:pt x="99648" y="76665"/>
                    <a:pt x="96188" y="77011"/>
                  </a:cubicBezTo>
                  <a:cubicBezTo>
                    <a:pt x="93074" y="77356"/>
                    <a:pt x="90306" y="75629"/>
                    <a:pt x="89268" y="72521"/>
                  </a:cubicBezTo>
                  <a:lnTo>
                    <a:pt x="65740" y="8288"/>
                  </a:lnTo>
                  <a:cubicBezTo>
                    <a:pt x="64010" y="3108"/>
                    <a:pt x="59858" y="0"/>
                    <a:pt x="54668" y="0"/>
                  </a:cubicBezTo>
                  <a:lnTo>
                    <a:pt x="0" y="0"/>
                  </a:lnTo>
                  <a:lnTo>
                    <a:pt x="0" y="102221"/>
                  </a:lnTo>
                  <a:lnTo>
                    <a:pt x="40136" y="102221"/>
                  </a:lnTo>
                  <a:lnTo>
                    <a:pt x="40136" y="76665"/>
                  </a:lnTo>
                  <a:lnTo>
                    <a:pt x="32870" y="76665"/>
                  </a:lnTo>
                  <a:cubicBezTo>
                    <a:pt x="28026" y="76665"/>
                    <a:pt x="25604" y="72521"/>
                    <a:pt x="25604" y="67687"/>
                  </a:cubicBezTo>
                  <a:lnTo>
                    <a:pt x="25604" y="36951"/>
                  </a:lnTo>
                  <a:cubicBezTo>
                    <a:pt x="25604" y="29354"/>
                    <a:pt x="32870" y="23828"/>
                    <a:pt x="39790" y="26591"/>
                  </a:cubicBezTo>
                  <a:cubicBezTo>
                    <a:pt x="42212" y="27627"/>
                    <a:pt x="44634" y="30045"/>
                    <a:pt x="45672" y="32807"/>
                  </a:cubicBezTo>
                  <a:lnTo>
                    <a:pt x="64356" y="81500"/>
                  </a:lnTo>
                  <a:cubicBezTo>
                    <a:pt x="69200" y="94278"/>
                    <a:pt x="81310" y="102566"/>
                    <a:pt x="95150" y="102566"/>
                  </a:cubicBezTo>
                  <a:lnTo>
                    <a:pt x="95842" y="102566"/>
                  </a:lnTo>
                  <a:cubicBezTo>
                    <a:pt x="113488" y="102566"/>
                    <a:pt x="128020" y="88407"/>
                    <a:pt x="128020" y="70795"/>
                  </a:cubicBezTo>
                  <a:lnTo>
                    <a:pt x="128020" y="345"/>
                  </a:lnTo>
                  <a:lnTo>
                    <a:pt x="102416" y="345"/>
                  </a:lnTo>
                  <a:lnTo>
                    <a:pt x="102416" y="70104"/>
                  </a:lnTo>
                  <a:lnTo>
                    <a:pt x="102416" y="70104"/>
                  </a:lnTo>
                  <a:close/>
                </a:path>
              </a:pathLst>
            </a:custGeom>
            <a:grpFill/>
            <a:ln w="3458" cap="flat">
              <a:noFill/>
              <a:prstDash val="solid"/>
              <a:miter/>
            </a:ln>
          </p:spPr>
          <p:txBody>
            <a:bodyPr rtlCol="0" anchor="ctr"/>
            <a:lstStyle/>
            <a:p>
              <a:endParaRPr lang="en-US" sz="1800"/>
            </a:p>
          </p:txBody>
        </p:sp>
        <p:sp>
          <p:nvSpPr>
            <p:cNvPr id="11" name="Freeform 10">
              <a:extLst>
                <a:ext uri="{FF2B5EF4-FFF2-40B4-BE49-F238E27FC236}">
                  <a16:creationId xmlns:a16="http://schemas.microsoft.com/office/drawing/2014/main" id="{5E958F26-D8CA-C561-3E02-72F9F3661781}"/>
                </a:ext>
              </a:extLst>
            </p:cNvPr>
            <p:cNvSpPr/>
            <p:nvPr/>
          </p:nvSpPr>
          <p:spPr>
            <a:xfrm>
              <a:off x="8941733" y="7685087"/>
              <a:ext cx="128019" cy="102220"/>
            </a:xfrm>
            <a:custGeom>
              <a:avLst/>
              <a:gdLst>
                <a:gd name="connsiteX0" fmla="*/ 76812 w 128019"/>
                <a:gd name="connsiteY0" fmla="*/ 0 h 102220"/>
                <a:gd name="connsiteX1" fmla="*/ 0 w 128019"/>
                <a:gd name="connsiteY1" fmla="*/ 0 h 102220"/>
                <a:gd name="connsiteX2" fmla="*/ 0 w 128019"/>
                <a:gd name="connsiteY2" fmla="*/ 25555 h 102220"/>
                <a:gd name="connsiteX3" fmla="*/ 76812 w 128019"/>
                <a:gd name="connsiteY3" fmla="*/ 25555 h 102220"/>
                <a:gd name="connsiteX4" fmla="*/ 102416 w 128019"/>
                <a:gd name="connsiteY4" fmla="*/ 51110 h 102220"/>
                <a:gd name="connsiteX5" fmla="*/ 76812 w 128019"/>
                <a:gd name="connsiteY5" fmla="*/ 76665 h 102220"/>
                <a:gd name="connsiteX6" fmla="*/ 0 w 128019"/>
                <a:gd name="connsiteY6" fmla="*/ 76665 h 102220"/>
                <a:gd name="connsiteX7" fmla="*/ 0 w 128019"/>
                <a:gd name="connsiteY7" fmla="*/ 102221 h 102220"/>
                <a:gd name="connsiteX8" fmla="*/ 76812 w 128019"/>
                <a:gd name="connsiteY8" fmla="*/ 102221 h 102220"/>
                <a:gd name="connsiteX9" fmla="*/ 121792 w 128019"/>
                <a:gd name="connsiteY9" fmla="*/ 75629 h 102220"/>
                <a:gd name="connsiteX10" fmla="*/ 128020 w 128019"/>
                <a:gd name="connsiteY10" fmla="*/ 51110 h 102220"/>
                <a:gd name="connsiteX11" fmla="*/ 121792 w 128019"/>
                <a:gd name="connsiteY11" fmla="*/ 26591 h 102220"/>
                <a:gd name="connsiteX12" fmla="*/ 76812 w 128019"/>
                <a:gd name="connsiteY12" fmla="*/ 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8019" h="102220">
                  <a:moveTo>
                    <a:pt x="76812" y="0"/>
                  </a:moveTo>
                  <a:lnTo>
                    <a:pt x="0" y="0"/>
                  </a:lnTo>
                  <a:lnTo>
                    <a:pt x="0" y="25555"/>
                  </a:lnTo>
                  <a:lnTo>
                    <a:pt x="76812" y="25555"/>
                  </a:lnTo>
                  <a:cubicBezTo>
                    <a:pt x="90306" y="25555"/>
                    <a:pt x="102416" y="37297"/>
                    <a:pt x="102416" y="51110"/>
                  </a:cubicBezTo>
                  <a:cubicBezTo>
                    <a:pt x="102416" y="64924"/>
                    <a:pt x="90652" y="76665"/>
                    <a:pt x="76812" y="76665"/>
                  </a:cubicBezTo>
                  <a:lnTo>
                    <a:pt x="0" y="76665"/>
                  </a:lnTo>
                  <a:lnTo>
                    <a:pt x="0" y="102221"/>
                  </a:lnTo>
                  <a:lnTo>
                    <a:pt x="76812" y="102221"/>
                  </a:lnTo>
                  <a:cubicBezTo>
                    <a:pt x="96188" y="102221"/>
                    <a:pt x="113142" y="91515"/>
                    <a:pt x="121792" y="75629"/>
                  </a:cubicBezTo>
                  <a:cubicBezTo>
                    <a:pt x="125598" y="68377"/>
                    <a:pt x="128020" y="59744"/>
                    <a:pt x="128020" y="51110"/>
                  </a:cubicBezTo>
                  <a:cubicBezTo>
                    <a:pt x="128020" y="42477"/>
                    <a:pt x="125598" y="33843"/>
                    <a:pt x="121792" y="26591"/>
                  </a:cubicBezTo>
                  <a:cubicBezTo>
                    <a:pt x="113142" y="10706"/>
                    <a:pt x="96188" y="0"/>
                    <a:pt x="76812" y="0"/>
                  </a:cubicBezTo>
                  <a:close/>
                </a:path>
              </a:pathLst>
            </a:custGeom>
            <a:grpFill/>
            <a:ln w="3458" cap="flat">
              <a:noFill/>
              <a:prstDash val="solid"/>
              <a:miter/>
            </a:ln>
          </p:spPr>
          <p:txBody>
            <a:bodyPr rtlCol="0" anchor="ctr"/>
            <a:lstStyle/>
            <a:p>
              <a:endParaRPr lang="en-US" sz="1800"/>
            </a:p>
          </p:txBody>
        </p:sp>
        <p:sp>
          <p:nvSpPr>
            <p:cNvPr id="12" name="Freeform 11">
              <a:extLst>
                <a:ext uri="{FF2B5EF4-FFF2-40B4-BE49-F238E27FC236}">
                  <a16:creationId xmlns:a16="http://schemas.microsoft.com/office/drawing/2014/main" id="{0936B439-5B9F-172C-B0E8-CD8D5975186F}"/>
                </a:ext>
              </a:extLst>
            </p:cNvPr>
            <p:cNvSpPr/>
            <p:nvPr/>
          </p:nvSpPr>
          <p:spPr>
            <a:xfrm>
              <a:off x="9080478" y="7685087"/>
              <a:ext cx="40481" cy="102220"/>
            </a:xfrm>
            <a:custGeom>
              <a:avLst/>
              <a:gdLst>
                <a:gd name="connsiteX0" fmla="*/ 5190 w 40481"/>
                <a:gd name="connsiteY0" fmla="*/ 25555 h 102220"/>
                <a:gd name="connsiteX1" fmla="*/ 7266 w 40481"/>
                <a:gd name="connsiteY1" fmla="*/ 25555 h 102220"/>
                <a:gd name="connsiteX2" fmla="*/ 14878 w 40481"/>
                <a:gd name="connsiteY2" fmla="*/ 35225 h 102220"/>
                <a:gd name="connsiteX3" fmla="*/ 14878 w 40481"/>
                <a:gd name="connsiteY3" fmla="*/ 102221 h 102220"/>
                <a:gd name="connsiteX4" fmla="*/ 40482 w 40481"/>
                <a:gd name="connsiteY4" fmla="*/ 102221 h 102220"/>
                <a:gd name="connsiteX5" fmla="*/ 40482 w 40481"/>
                <a:gd name="connsiteY5" fmla="*/ 0 h 102220"/>
                <a:gd name="connsiteX6" fmla="*/ 0 w 40481"/>
                <a:gd name="connsiteY6" fmla="*/ 0 h 102220"/>
                <a:gd name="connsiteX7" fmla="*/ 0 w 40481"/>
                <a:gd name="connsiteY7" fmla="*/ 25555 h 102220"/>
                <a:gd name="connsiteX8" fmla="*/ 5536 w 40481"/>
                <a:gd name="connsiteY8" fmla="*/ 25555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481" h="102220">
                  <a:moveTo>
                    <a:pt x="5190" y="25555"/>
                  </a:moveTo>
                  <a:cubicBezTo>
                    <a:pt x="5882" y="25555"/>
                    <a:pt x="6574" y="25555"/>
                    <a:pt x="7266" y="25555"/>
                  </a:cubicBezTo>
                  <a:cubicBezTo>
                    <a:pt x="12110" y="26246"/>
                    <a:pt x="14878" y="30045"/>
                    <a:pt x="14878" y="35225"/>
                  </a:cubicBezTo>
                  <a:lnTo>
                    <a:pt x="14878" y="102221"/>
                  </a:lnTo>
                  <a:lnTo>
                    <a:pt x="40482" y="102221"/>
                  </a:lnTo>
                  <a:lnTo>
                    <a:pt x="40482" y="0"/>
                  </a:lnTo>
                  <a:lnTo>
                    <a:pt x="0" y="0"/>
                  </a:lnTo>
                  <a:lnTo>
                    <a:pt x="0" y="25555"/>
                  </a:lnTo>
                  <a:lnTo>
                    <a:pt x="5536" y="25555"/>
                  </a:lnTo>
                  <a:close/>
                </a:path>
              </a:pathLst>
            </a:custGeom>
            <a:grpFill/>
            <a:ln w="3458" cap="flat">
              <a:noFill/>
              <a:prstDash val="solid"/>
              <a:miter/>
            </a:ln>
          </p:spPr>
          <p:txBody>
            <a:bodyPr rtlCol="0" anchor="ctr"/>
            <a:lstStyle/>
            <a:p>
              <a:endParaRPr lang="en-US" sz="1800"/>
            </a:p>
          </p:txBody>
        </p:sp>
        <p:sp>
          <p:nvSpPr>
            <p:cNvPr id="13" name="Freeform 12">
              <a:extLst>
                <a:ext uri="{FF2B5EF4-FFF2-40B4-BE49-F238E27FC236}">
                  <a16:creationId xmlns:a16="http://schemas.microsoft.com/office/drawing/2014/main" id="{6E2479D3-25E0-5AEE-CCAD-0FE77C96951D}"/>
                </a:ext>
              </a:extLst>
            </p:cNvPr>
            <p:cNvSpPr/>
            <p:nvPr/>
          </p:nvSpPr>
          <p:spPr>
            <a:xfrm>
              <a:off x="9146218" y="7685087"/>
              <a:ext cx="128365" cy="102220"/>
            </a:xfrm>
            <a:custGeom>
              <a:avLst/>
              <a:gdLst>
                <a:gd name="connsiteX0" fmla="*/ 128365 w 128365"/>
                <a:gd name="connsiteY0" fmla="*/ 81846 h 102220"/>
                <a:gd name="connsiteX1" fmla="*/ 128365 w 128365"/>
                <a:gd name="connsiteY1" fmla="*/ 102221 h 102220"/>
                <a:gd name="connsiteX2" fmla="*/ 19722 w 128365"/>
                <a:gd name="connsiteY2" fmla="*/ 60780 h 102220"/>
                <a:gd name="connsiteX3" fmla="*/ 0 w 128365"/>
                <a:gd name="connsiteY3" fmla="*/ 30735 h 102220"/>
                <a:gd name="connsiteX4" fmla="*/ 31140 w 128365"/>
                <a:gd name="connsiteY4" fmla="*/ 0 h 102220"/>
                <a:gd name="connsiteX5" fmla="*/ 128020 w 128365"/>
                <a:gd name="connsiteY5" fmla="*/ 0 h 102220"/>
                <a:gd name="connsiteX6" fmla="*/ 128020 w 128365"/>
                <a:gd name="connsiteY6" fmla="*/ 40059 h 102220"/>
                <a:gd name="connsiteX7" fmla="*/ 102416 w 128365"/>
                <a:gd name="connsiteY7" fmla="*/ 40059 h 102220"/>
                <a:gd name="connsiteX8" fmla="*/ 102416 w 128365"/>
                <a:gd name="connsiteY8" fmla="*/ 32807 h 102220"/>
                <a:gd name="connsiteX9" fmla="*/ 94458 w 128365"/>
                <a:gd name="connsiteY9" fmla="*/ 25555 h 102220"/>
                <a:gd name="connsiteX10" fmla="*/ 37714 w 128365"/>
                <a:gd name="connsiteY10" fmla="*/ 25555 h 102220"/>
                <a:gd name="connsiteX11" fmla="*/ 29756 w 128365"/>
                <a:gd name="connsiteY11" fmla="*/ 33498 h 102220"/>
                <a:gd name="connsiteX12" fmla="*/ 34946 w 128365"/>
                <a:gd name="connsiteY12" fmla="*/ 41095 h 102220"/>
                <a:gd name="connsiteX13" fmla="*/ 119370 w 128365"/>
                <a:gd name="connsiteY13" fmla="*/ 70795 h 102220"/>
                <a:gd name="connsiteX14" fmla="*/ 127674 w 128365"/>
                <a:gd name="connsiteY14"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8365" h="102220">
                  <a:moveTo>
                    <a:pt x="128365" y="81846"/>
                  </a:moveTo>
                  <a:lnTo>
                    <a:pt x="128365"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close/>
                </a:path>
              </a:pathLst>
            </a:custGeom>
            <a:grpFill/>
            <a:ln w="3458" cap="flat">
              <a:noFill/>
              <a:prstDash val="solid"/>
              <a:miter/>
            </a:ln>
          </p:spPr>
          <p:txBody>
            <a:bodyPr rtlCol="0" anchor="ctr"/>
            <a:lstStyle/>
            <a:p>
              <a:endParaRPr lang="en-US" sz="1800"/>
            </a:p>
          </p:txBody>
        </p:sp>
        <p:sp>
          <p:nvSpPr>
            <p:cNvPr id="14" name="Freeform 13">
              <a:extLst>
                <a:ext uri="{FF2B5EF4-FFF2-40B4-BE49-F238E27FC236}">
                  <a16:creationId xmlns:a16="http://schemas.microsoft.com/office/drawing/2014/main" id="{184C24E5-9D24-77E4-470C-A8CFC1013706}"/>
                </a:ext>
              </a:extLst>
            </p:cNvPr>
            <p:cNvSpPr/>
            <p:nvPr/>
          </p:nvSpPr>
          <p:spPr>
            <a:xfrm>
              <a:off x="9146564" y="7761753"/>
              <a:ext cx="25258" cy="25555"/>
            </a:xfrm>
            <a:custGeom>
              <a:avLst/>
              <a:gdLst>
                <a:gd name="connsiteX0" fmla="*/ 25258 w 25258"/>
                <a:gd name="connsiteY0" fmla="*/ 0 h 25555"/>
                <a:gd name="connsiteX1" fmla="*/ 0 w 25258"/>
                <a:gd name="connsiteY1" fmla="*/ 0 h 25555"/>
                <a:gd name="connsiteX2" fmla="*/ 0 w 25258"/>
                <a:gd name="connsiteY2" fmla="*/ 25555 h 25555"/>
                <a:gd name="connsiteX3" fmla="*/ 25258 w 25258"/>
                <a:gd name="connsiteY3" fmla="*/ 25555 h 25555"/>
                <a:gd name="connsiteX4" fmla="*/ 25258 w 25258"/>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8"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15" name="Freeform 14">
              <a:extLst>
                <a:ext uri="{FF2B5EF4-FFF2-40B4-BE49-F238E27FC236}">
                  <a16:creationId xmlns:a16="http://schemas.microsoft.com/office/drawing/2014/main" id="{D284EDC3-E6EC-3368-9C47-9E30223C8216}"/>
                </a:ext>
              </a:extLst>
            </p:cNvPr>
            <p:cNvSpPr/>
            <p:nvPr/>
          </p:nvSpPr>
          <p:spPr>
            <a:xfrm>
              <a:off x="8480170" y="7685087"/>
              <a:ext cx="128019" cy="102220"/>
            </a:xfrm>
            <a:custGeom>
              <a:avLst/>
              <a:gdLst>
                <a:gd name="connsiteX0" fmla="*/ 128020 w 128019"/>
                <a:gd name="connsiteY0" fmla="*/ 81846 h 102220"/>
                <a:gd name="connsiteX1" fmla="*/ 128020 w 128019"/>
                <a:gd name="connsiteY1" fmla="*/ 102221 h 102220"/>
                <a:gd name="connsiteX2" fmla="*/ 19722 w 128019"/>
                <a:gd name="connsiteY2" fmla="*/ 60780 h 102220"/>
                <a:gd name="connsiteX3" fmla="*/ 0 w 128019"/>
                <a:gd name="connsiteY3" fmla="*/ 30735 h 102220"/>
                <a:gd name="connsiteX4" fmla="*/ 31140 w 128019"/>
                <a:gd name="connsiteY4" fmla="*/ 0 h 102220"/>
                <a:gd name="connsiteX5" fmla="*/ 128020 w 128019"/>
                <a:gd name="connsiteY5" fmla="*/ 0 h 102220"/>
                <a:gd name="connsiteX6" fmla="*/ 128020 w 128019"/>
                <a:gd name="connsiteY6" fmla="*/ 40059 h 102220"/>
                <a:gd name="connsiteX7" fmla="*/ 102416 w 128019"/>
                <a:gd name="connsiteY7" fmla="*/ 40059 h 102220"/>
                <a:gd name="connsiteX8" fmla="*/ 102416 w 128019"/>
                <a:gd name="connsiteY8" fmla="*/ 32807 h 102220"/>
                <a:gd name="connsiteX9" fmla="*/ 94458 w 128019"/>
                <a:gd name="connsiteY9" fmla="*/ 25555 h 102220"/>
                <a:gd name="connsiteX10" fmla="*/ 37714 w 128019"/>
                <a:gd name="connsiteY10" fmla="*/ 25555 h 102220"/>
                <a:gd name="connsiteX11" fmla="*/ 29756 w 128019"/>
                <a:gd name="connsiteY11" fmla="*/ 33498 h 102220"/>
                <a:gd name="connsiteX12" fmla="*/ 34946 w 128019"/>
                <a:gd name="connsiteY12" fmla="*/ 41095 h 102220"/>
                <a:gd name="connsiteX13" fmla="*/ 119370 w 128019"/>
                <a:gd name="connsiteY13" fmla="*/ 70795 h 102220"/>
                <a:gd name="connsiteX14" fmla="*/ 127674 w 128019"/>
                <a:gd name="connsiteY14" fmla="*/ 81846 h 102220"/>
                <a:gd name="connsiteX15" fmla="*/ 127674 w 128019"/>
                <a:gd name="connsiteY15"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8019" h="102220">
                  <a:moveTo>
                    <a:pt x="128020" y="81846"/>
                  </a:moveTo>
                  <a:lnTo>
                    <a:pt x="128020"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lnTo>
                    <a:pt x="127674" y="81846"/>
                  </a:lnTo>
                  <a:close/>
                </a:path>
              </a:pathLst>
            </a:custGeom>
            <a:grpFill/>
            <a:ln w="3458" cap="flat">
              <a:noFill/>
              <a:prstDash val="solid"/>
              <a:miter/>
            </a:ln>
          </p:spPr>
          <p:txBody>
            <a:bodyPr rtlCol="0" anchor="ctr"/>
            <a:lstStyle/>
            <a:p>
              <a:endParaRPr lang="en-US" sz="1800"/>
            </a:p>
          </p:txBody>
        </p:sp>
        <p:sp>
          <p:nvSpPr>
            <p:cNvPr id="21" name="Freeform 20">
              <a:extLst>
                <a:ext uri="{FF2B5EF4-FFF2-40B4-BE49-F238E27FC236}">
                  <a16:creationId xmlns:a16="http://schemas.microsoft.com/office/drawing/2014/main" id="{CB111A04-15A3-B682-ADFE-0C53B36118C6}"/>
                </a:ext>
              </a:extLst>
            </p:cNvPr>
            <p:cNvSpPr/>
            <p:nvPr/>
          </p:nvSpPr>
          <p:spPr>
            <a:xfrm>
              <a:off x="8480516" y="7761753"/>
              <a:ext cx="25257" cy="25555"/>
            </a:xfrm>
            <a:custGeom>
              <a:avLst/>
              <a:gdLst>
                <a:gd name="connsiteX0" fmla="*/ 25258 w 25257"/>
                <a:gd name="connsiteY0" fmla="*/ 0 h 25555"/>
                <a:gd name="connsiteX1" fmla="*/ 0 w 25257"/>
                <a:gd name="connsiteY1" fmla="*/ 0 h 25555"/>
                <a:gd name="connsiteX2" fmla="*/ 0 w 25257"/>
                <a:gd name="connsiteY2" fmla="*/ 25555 h 25555"/>
                <a:gd name="connsiteX3" fmla="*/ 25258 w 25257"/>
                <a:gd name="connsiteY3" fmla="*/ 25555 h 25555"/>
                <a:gd name="connsiteX4" fmla="*/ 25258 w 25257"/>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7"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24" name="Freeform 23">
              <a:extLst>
                <a:ext uri="{FF2B5EF4-FFF2-40B4-BE49-F238E27FC236}">
                  <a16:creationId xmlns:a16="http://schemas.microsoft.com/office/drawing/2014/main" id="{897E07BE-77E9-2244-8A13-8522EF1181B4}"/>
                </a:ext>
              </a:extLst>
            </p:cNvPr>
            <p:cNvSpPr/>
            <p:nvPr/>
          </p:nvSpPr>
          <p:spPr>
            <a:xfrm>
              <a:off x="9300533" y="7685087"/>
              <a:ext cx="128019" cy="102220"/>
            </a:xfrm>
            <a:custGeom>
              <a:avLst/>
              <a:gdLst>
                <a:gd name="connsiteX0" fmla="*/ 128020 w 128019"/>
                <a:gd name="connsiteY0" fmla="*/ 25555 h 102220"/>
                <a:gd name="connsiteX1" fmla="*/ 128020 w 128019"/>
                <a:gd name="connsiteY1" fmla="*/ 0 h 102220"/>
                <a:gd name="connsiteX2" fmla="*/ 105530 w 128019"/>
                <a:gd name="connsiteY2" fmla="*/ 0 h 102220"/>
                <a:gd name="connsiteX3" fmla="*/ 100686 w 128019"/>
                <a:gd name="connsiteY3" fmla="*/ 1727 h 102220"/>
                <a:gd name="connsiteX4" fmla="*/ 60550 w 128019"/>
                <a:gd name="connsiteY4" fmla="*/ 37987 h 102220"/>
                <a:gd name="connsiteX5" fmla="*/ 56398 w 128019"/>
                <a:gd name="connsiteY5" fmla="*/ 39714 h 102220"/>
                <a:gd name="connsiteX6" fmla="*/ 28372 w 128019"/>
                <a:gd name="connsiteY6" fmla="*/ 39714 h 102220"/>
                <a:gd name="connsiteX7" fmla="*/ 25258 w 128019"/>
                <a:gd name="connsiteY7" fmla="*/ 36606 h 102220"/>
                <a:gd name="connsiteX8" fmla="*/ 25258 w 128019"/>
                <a:gd name="connsiteY8" fmla="*/ 0 h 102220"/>
                <a:gd name="connsiteX9" fmla="*/ 0 w 128019"/>
                <a:gd name="connsiteY9" fmla="*/ 0 h 102220"/>
                <a:gd name="connsiteX10" fmla="*/ 0 w 128019"/>
                <a:gd name="connsiteY10" fmla="*/ 102221 h 102220"/>
                <a:gd name="connsiteX11" fmla="*/ 25258 w 128019"/>
                <a:gd name="connsiteY11" fmla="*/ 102221 h 102220"/>
                <a:gd name="connsiteX12" fmla="*/ 25258 w 128019"/>
                <a:gd name="connsiteY12" fmla="*/ 65615 h 102220"/>
                <a:gd name="connsiteX13" fmla="*/ 28372 w 128019"/>
                <a:gd name="connsiteY13" fmla="*/ 62507 h 102220"/>
                <a:gd name="connsiteX14" fmla="*/ 56398 w 128019"/>
                <a:gd name="connsiteY14" fmla="*/ 62507 h 102220"/>
                <a:gd name="connsiteX15" fmla="*/ 60550 w 128019"/>
                <a:gd name="connsiteY15" fmla="*/ 64233 h 102220"/>
                <a:gd name="connsiteX16" fmla="*/ 100686 w 128019"/>
                <a:gd name="connsiteY16" fmla="*/ 100494 h 102220"/>
                <a:gd name="connsiteX17" fmla="*/ 105530 w 128019"/>
                <a:gd name="connsiteY17" fmla="*/ 102221 h 102220"/>
                <a:gd name="connsiteX18" fmla="*/ 128020 w 128019"/>
                <a:gd name="connsiteY18" fmla="*/ 102221 h 102220"/>
                <a:gd name="connsiteX19" fmla="*/ 128020 w 128019"/>
                <a:gd name="connsiteY19" fmla="*/ 76665 h 102220"/>
                <a:gd name="connsiteX20" fmla="*/ 115564 w 128019"/>
                <a:gd name="connsiteY20" fmla="*/ 76665 h 102220"/>
                <a:gd name="connsiteX21" fmla="*/ 105184 w 128019"/>
                <a:gd name="connsiteY21" fmla="*/ 72867 h 102220"/>
                <a:gd name="connsiteX22" fmla="*/ 86154 w 128019"/>
                <a:gd name="connsiteY22" fmla="*/ 55945 h 102220"/>
                <a:gd name="connsiteX23" fmla="*/ 86154 w 128019"/>
                <a:gd name="connsiteY23" fmla="*/ 45930 h 102220"/>
                <a:gd name="connsiteX24" fmla="*/ 105184 w 128019"/>
                <a:gd name="connsiteY24" fmla="*/ 29009 h 102220"/>
                <a:gd name="connsiteX25" fmla="*/ 115564 w 128019"/>
                <a:gd name="connsiteY25" fmla="*/ 25210 h 102220"/>
                <a:gd name="connsiteX26" fmla="*/ 128020 w 128019"/>
                <a:gd name="connsiteY26" fmla="*/ 2521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8019" h="102220">
                  <a:moveTo>
                    <a:pt x="128020" y="25555"/>
                  </a:moveTo>
                  <a:lnTo>
                    <a:pt x="128020" y="0"/>
                  </a:lnTo>
                  <a:lnTo>
                    <a:pt x="105530" y="0"/>
                  </a:lnTo>
                  <a:cubicBezTo>
                    <a:pt x="103800" y="0"/>
                    <a:pt x="102070" y="691"/>
                    <a:pt x="100686" y="1727"/>
                  </a:cubicBezTo>
                  <a:lnTo>
                    <a:pt x="60550" y="37987"/>
                  </a:lnTo>
                  <a:cubicBezTo>
                    <a:pt x="59512" y="39023"/>
                    <a:pt x="58128" y="39714"/>
                    <a:pt x="56398" y="39714"/>
                  </a:cubicBezTo>
                  <a:lnTo>
                    <a:pt x="28372" y="39714"/>
                  </a:lnTo>
                  <a:cubicBezTo>
                    <a:pt x="26642" y="39714"/>
                    <a:pt x="25258" y="38333"/>
                    <a:pt x="25258" y="36606"/>
                  </a:cubicBezTo>
                  <a:lnTo>
                    <a:pt x="25258" y="0"/>
                  </a:lnTo>
                  <a:lnTo>
                    <a:pt x="0" y="0"/>
                  </a:lnTo>
                  <a:lnTo>
                    <a:pt x="0" y="102221"/>
                  </a:lnTo>
                  <a:lnTo>
                    <a:pt x="25258" y="102221"/>
                  </a:lnTo>
                  <a:lnTo>
                    <a:pt x="25258" y="65615"/>
                  </a:lnTo>
                  <a:cubicBezTo>
                    <a:pt x="25258" y="63888"/>
                    <a:pt x="26642" y="62507"/>
                    <a:pt x="28372" y="62507"/>
                  </a:cubicBezTo>
                  <a:lnTo>
                    <a:pt x="56398" y="62507"/>
                  </a:lnTo>
                  <a:cubicBezTo>
                    <a:pt x="57782" y="62507"/>
                    <a:pt x="59512" y="62852"/>
                    <a:pt x="60550" y="64233"/>
                  </a:cubicBezTo>
                  <a:lnTo>
                    <a:pt x="100686" y="100494"/>
                  </a:lnTo>
                  <a:cubicBezTo>
                    <a:pt x="102070" y="101530"/>
                    <a:pt x="103800" y="102221"/>
                    <a:pt x="105530" y="102221"/>
                  </a:cubicBezTo>
                  <a:lnTo>
                    <a:pt x="128020" y="102221"/>
                  </a:lnTo>
                  <a:lnTo>
                    <a:pt x="128020" y="76665"/>
                  </a:lnTo>
                  <a:lnTo>
                    <a:pt x="115564" y="76665"/>
                  </a:lnTo>
                  <a:cubicBezTo>
                    <a:pt x="111758" y="76665"/>
                    <a:pt x="107952" y="75284"/>
                    <a:pt x="105184" y="72867"/>
                  </a:cubicBezTo>
                  <a:lnTo>
                    <a:pt x="86154" y="55945"/>
                  </a:lnTo>
                  <a:cubicBezTo>
                    <a:pt x="83040" y="53528"/>
                    <a:pt x="83040" y="48693"/>
                    <a:pt x="86154" y="45930"/>
                  </a:cubicBezTo>
                  <a:lnTo>
                    <a:pt x="105184" y="29009"/>
                  </a:lnTo>
                  <a:cubicBezTo>
                    <a:pt x="108298" y="26591"/>
                    <a:pt x="111758" y="25210"/>
                    <a:pt x="115564" y="25210"/>
                  </a:cubicBezTo>
                  <a:lnTo>
                    <a:pt x="128020" y="25210"/>
                  </a:lnTo>
                  <a:close/>
                </a:path>
              </a:pathLst>
            </a:custGeom>
            <a:grpFill/>
            <a:ln w="3458" cap="flat">
              <a:noFill/>
              <a:prstDash val="solid"/>
              <a:miter/>
            </a:ln>
          </p:spPr>
          <p:txBody>
            <a:bodyPr rtlCol="0" anchor="ctr"/>
            <a:lstStyle/>
            <a:p>
              <a:endParaRPr lang="en-US" sz="1800"/>
            </a:p>
          </p:txBody>
        </p:sp>
        <p:sp>
          <p:nvSpPr>
            <p:cNvPr id="26" name="Freeform 25">
              <a:extLst>
                <a:ext uri="{FF2B5EF4-FFF2-40B4-BE49-F238E27FC236}">
                  <a16:creationId xmlns:a16="http://schemas.microsoft.com/office/drawing/2014/main" id="{1687D2AD-D031-8A4E-8C0D-3636C9361A41}"/>
                </a:ext>
              </a:extLst>
            </p:cNvPr>
            <p:cNvSpPr/>
            <p:nvPr/>
          </p:nvSpPr>
          <p:spPr>
            <a:xfrm>
              <a:off x="8623760" y="7684742"/>
              <a:ext cx="138053" cy="102565"/>
            </a:xfrm>
            <a:custGeom>
              <a:avLst/>
              <a:gdLst>
                <a:gd name="connsiteX0" fmla="*/ 99302 w 138053"/>
                <a:gd name="connsiteY0" fmla="*/ 345 h 102565"/>
                <a:gd name="connsiteX1" fmla="*/ 70238 w 138053"/>
                <a:gd name="connsiteY1" fmla="*/ 14850 h 102565"/>
                <a:gd name="connsiteX2" fmla="*/ 0 w 138053"/>
                <a:gd name="connsiteY2" fmla="*/ 102566 h 102565"/>
                <a:gd name="connsiteX3" fmla="*/ 35638 w 138053"/>
                <a:gd name="connsiteY3" fmla="*/ 102566 h 102565"/>
                <a:gd name="connsiteX4" fmla="*/ 93420 w 138053"/>
                <a:gd name="connsiteY4" fmla="*/ 31426 h 102565"/>
                <a:gd name="connsiteX5" fmla="*/ 102762 w 138053"/>
                <a:gd name="connsiteY5" fmla="*/ 26246 h 102565"/>
                <a:gd name="connsiteX6" fmla="*/ 112450 w 138053"/>
                <a:gd name="connsiteY6" fmla="*/ 36951 h 102565"/>
                <a:gd name="connsiteX7" fmla="*/ 112450 w 138053"/>
                <a:gd name="connsiteY7" fmla="*/ 68032 h 102565"/>
                <a:gd name="connsiteX8" fmla="*/ 105184 w 138053"/>
                <a:gd name="connsiteY8" fmla="*/ 77011 h 102565"/>
                <a:gd name="connsiteX9" fmla="*/ 97918 w 138053"/>
                <a:gd name="connsiteY9" fmla="*/ 77011 h 102565"/>
                <a:gd name="connsiteX10" fmla="*/ 97918 w 138053"/>
                <a:gd name="connsiteY10" fmla="*/ 102566 h 102565"/>
                <a:gd name="connsiteX11" fmla="*/ 138054 w 138053"/>
                <a:gd name="connsiteY11" fmla="*/ 102566 h 102565"/>
                <a:gd name="connsiteX12" fmla="*/ 138054 w 138053"/>
                <a:gd name="connsiteY12" fmla="*/ 38333 h 102565"/>
                <a:gd name="connsiteX13" fmla="*/ 98956 w 138053"/>
                <a:gd name="connsiteY13" fmla="*/ 0 h 102565"/>
                <a:gd name="connsiteX14" fmla="*/ 98956 w 138053"/>
                <a:gd name="connsiteY14" fmla="*/ 0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8053" h="102565">
                  <a:moveTo>
                    <a:pt x="99302" y="345"/>
                  </a:moveTo>
                  <a:cubicBezTo>
                    <a:pt x="87884" y="345"/>
                    <a:pt x="77158" y="5871"/>
                    <a:pt x="70238" y="14850"/>
                  </a:cubicBezTo>
                  <a:lnTo>
                    <a:pt x="0" y="102566"/>
                  </a:lnTo>
                  <a:lnTo>
                    <a:pt x="35638" y="102566"/>
                  </a:lnTo>
                  <a:lnTo>
                    <a:pt x="93420" y="31426"/>
                  </a:lnTo>
                  <a:cubicBezTo>
                    <a:pt x="96188" y="27973"/>
                    <a:pt x="98264" y="26246"/>
                    <a:pt x="102762" y="26246"/>
                  </a:cubicBezTo>
                  <a:cubicBezTo>
                    <a:pt x="107260" y="26246"/>
                    <a:pt x="112450" y="31081"/>
                    <a:pt x="112450" y="36951"/>
                  </a:cubicBezTo>
                  <a:lnTo>
                    <a:pt x="112450" y="68032"/>
                  </a:lnTo>
                  <a:cubicBezTo>
                    <a:pt x="112450" y="72867"/>
                    <a:pt x="110028" y="77011"/>
                    <a:pt x="105184" y="77011"/>
                  </a:cubicBezTo>
                  <a:lnTo>
                    <a:pt x="97918" y="77011"/>
                  </a:lnTo>
                  <a:lnTo>
                    <a:pt x="97918" y="102566"/>
                  </a:lnTo>
                  <a:lnTo>
                    <a:pt x="138054" y="102566"/>
                  </a:lnTo>
                  <a:lnTo>
                    <a:pt x="138054" y="38333"/>
                  </a:lnTo>
                  <a:cubicBezTo>
                    <a:pt x="138054" y="33153"/>
                    <a:pt x="138054" y="0"/>
                    <a:pt x="98956" y="0"/>
                  </a:cubicBezTo>
                  <a:lnTo>
                    <a:pt x="98956" y="0"/>
                  </a:lnTo>
                  <a:close/>
                </a:path>
              </a:pathLst>
            </a:custGeom>
            <a:grpFill/>
            <a:ln w="3458" cap="flat">
              <a:noFill/>
              <a:prstDash val="solid"/>
              <a:miter/>
            </a:ln>
          </p:spPr>
          <p:txBody>
            <a:bodyPr rtlCol="0" anchor="ctr"/>
            <a:lstStyle/>
            <a:p>
              <a:endParaRPr lang="en-US" sz="1800"/>
            </a:p>
          </p:txBody>
        </p:sp>
        <p:sp>
          <p:nvSpPr>
            <p:cNvPr id="27" name="Freeform 26">
              <a:extLst>
                <a:ext uri="{FF2B5EF4-FFF2-40B4-BE49-F238E27FC236}">
                  <a16:creationId xmlns:a16="http://schemas.microsoft.com/office/drawing/2014/main" id="{7F47B21F-1FD0-7FB1-D233-9530D4DD84B1}"/>
                </a:ext>
              </a:extLst>
            </p:cNvPr>
            <p:cNvSpPr/>
            <p:nvPr/>
          </p:nvSpPr>
          <p:spPr>
            <a:xfrm>
              <a:off x="9480453" y="7685087"/>
              <a:ext cx="30793" cy="25555"/>
            </a:xfrm>
            <a:custGeom>
              <a:avLst/>
              <a:gdLst>
                <a:gd name="connsiteX0" fmla="*/ 30448 w 30793"/>
                <a:gd name="connsiteY0" fmla="*/ 0 h 25555"/>
                <a:gd name="connsiteX1" fmla="*/ 30448 w 30793"/>
                <a:gd name="connsiteY1" fmla="*/ 25555 h 25555"/>
                <a:gd name="connsiteX2" fmla="*/ 24912 w 30793"/>
                <a:gd name="connsiteY2" fmla="*/ 25555 h 25555"/>
                <a:gd name="connsiteX3" fmla="*/ 24912 w 30793"/>
                <a:gd name="connsiteY3" fmla="*/ 5180 h 25555"/>
                <a:gd name="connsiteX4" fmla="*/ 24912 w 30793"/>
                <a:gd name="connsiteY4" fmla="*/ 5180 h 25555"/>
                <a:gd name="connsiteX5" fmla="*/ 17646 w 30793"/>
                <a:gd name="connsiteY5" fmla="*/ 25555 h 25555"/>
                <a:gd name="connsiteX6" fmla="*/ 12802 w 30793"/>
                <a:gd name="connsiteY6" fmla="*/ 25555 h 25555"/>
                <a:gd name="connsiteX7" fmla="*/ 5536 w 30793"/>
                <a:gd name="connsiteY7" fmla="*/ 5180 h 25555"/>
                <a:gd name="connsiteX8" fmla="*/ 5536 w 30793"/>
                <a:gd name="connsiteY8" fmla="*/ 5180 h 25555"/>
                <a:gd name="connsiteX9" fmla="*/ 5536 w 30793"/>
                <a:gd name="connsiteY9" fmla="*/ 25555 h 25555"/>
                <a:gd name="connsiteX10" fmla="*/ 0 w 30793"/>
                <a:gd name="connsiteY10" fmla="*/ 25555 h 25555"/>
                <a:gd name="connsiteX11" fmla="*/ 0 w 30793"/>
                <a:gd name="connsiteY11" fmla="*/ 0 h 25555"/>
                <a:gd name="connsiteX12" fmla="*/ 9688 w 30793"/>
                <a:gd name="connsiteY12" fmla="*/ 0 h 25555"/>
                <a:gd name="connsiteX13" fmla="*/ 15570 w 30793"/>
                <a:gd name="connsiteY13" fmla="*/ 17267 h 25555"/>
                <a:gd name="connsiteX14" fmla="*/ 15570 w 30793"/>
                <a:gd name="connsiteY14" fmla="*/ 17267 h 25555"/>
                <a:gd name="connsiteX15" fmla="*/ 21798 w 30793"/>
                <a:gd name="connsiteY15" fmla="*/ 0 h 25555"/>
                <a:gd name="connsiteX16" fmla="*/ 30794 w 30793"/>
                <a:gd name="connsiteY16" fmla="*/ 0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793" h="25555">
                  <a:moveTo>
                    <a:pt x="30448" y="0"/>
                  </a:moveTo>
                  <a:lnTo>
                    <a:pt x="30448" y="25555"/>
                  </a:lnTo>
                  <a:lnTo>
                    <a:pt x="24912" y="25555"/>
                  </a:lnTo>
                  <a:lnTo>
                    <a:pt x="24912" y="5180"/>
                  </a:lnTo>
                  <a:lnTo>
                    <a:pt x="24912" y="5180"/>
                  </a:lnTo>
                  <a:lnTo>
                    <a:pt x="17646" y="25555"/>
                  </a:lnTo>
                  <a:lnTo>
                    <a:pt x="12802" y="25555"/>
                  </a:lnTo>
                  <a:lnTo>
                    <a:pt x="5536" y="5180"/>
                  </a:lnTo>
                  <a:lnTo>
                    <a:pt x="5536" y="5180"/>
                  </a:lnTo>
                  <a:lnTo>
                    <a:pt x="5536" y="25555"/>
                  </a:lnTo>
                  <a:lnTo>
                    <a:pt x="0" y="25555"/>
                  </a:lnTo>
                  <a:lnTo>
                    <a:pt x="0" y="0"/>
                  </a:lnTo>
                  <a:lnTo>
                    <a:pt x="9688" y="0"/>
                  </a:lnTo>
                  <a:lnTo>
                    <a:pt x="15570" y="17267"/>
                  </a:lnTo>
                  <a:lnTo>
                    <a:pt x="15570" y="17267"/>
                  </a:lnTo>
                  <a:lnTo>
                    <a:pt x="21798" y="0"/>
                  </a:lnTo>
                  <a:lnTo>
                    <a:pt x="30794" y="0"/>
                  </a:lnTo>
                  <a:close/>
                </a:path>
              </a:pathLst>
            </a:custGeom>
            <a:grpFill/>
            <a:ln w="3458" cap="flat">
              <a:noFill/>
              <a:prstDash val="solid"/>
              <a:miter/>
            </a:ln>
          </p:spPr>
          <p:txBody>
            <a:bodyPr rtlCol="0" anchor="ctr"/>
            <a:lstStyle/>
            <a:p>
              <a:endParaRPr lang="en-US" sz="1800"/>
            </a:p>
          </p:txBody>
        </p:sp>
        <p:sp>
          <p:nvSpPr>
            <p:cNvPr id="28" name="Freeform 27">
              <a:extLst>
                <a:ext uri="{FF2B5EF4-FFF2-40B4-BE49-F238E27FC236}">
                  <a16:creationId xmlns:a16="http://schemas.microsoft.com/office/drawing/2014/main" id="{077A5AB2-2E52-B877-44E0-838E8B17B5B1}"/>
                </a:ext>
              </a:extLst>
            </p:cNvPr>
            <p:cNvSpPr/>
            <p:nvPr/>
          </p:nvSpPr>
          <p:spPr>
            <a:xfrm>
              <a:off x="9453811" y="7685087"/>
              <a:ext cx="21451" cy="25555"/>
            </a:xfrm>
            <a:custGeom>
              <a:avLst/>
              <a:gdLst>
                <a:gd name="connsiteX0" fmla="*/ 13840 w 21451"/>
                <a:gd name="connsiteY0" fmla="*/ 4835 h 25555"/>
                <a:gd name="connsiteX1" fmla="*/ 13840 w 21451"/>
                <a:gd name="connsiteY1" fmla="*/ 25555 h 25555"/>
                <a:gd name="connsiteX2" fmla="*/ 7958 w 21451"/>
                <a:gd name="connsiteY2" fmla="*/ 25555 h 25555"/>
                <a:gd name="connsiteX3" fmla="*/ 7958 w 21451"/>
                <a:gd name="connsiteY3" fmla="*/ 4835 h 25555"/>
                <a:gd name="connsiteX4" fmla="*/ 0 w 21451"/>
                <a:gd name="connsiteY4" fmla="*/ 4835 h 25555"/>
                <a:gd name="connsiteX5" fmla="*/ 0 w 21451"/>
                <a:gd name="connsiteY5" fmla="*/ 0 h 25555"/>
                <a:gd name="connsiteX6" fmla="*/ 21452 w 21451"/>
                <a:gd name="connsiteY6" fmla="*/ 0 h 25555"/>
                <a:gd name="connsiteX7" fmla="*/ 21452 w 21451"/>
                <a:gd name="connsiteY7" fmla="*/ 4835 h 25555"/>
                <a:gd name="connsiteX8" fmla="*/ 13494 w 21451"/>
                <a:gd name="connsiteY8" fmla="*/ 4835 h 25555"/>
                <a:gd name="connsiteX9" fmla="*/ 13494 w 21451"/>
                <a:gd name="connsiteY9" fmla="*/ 4835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451" h="25555">
                  <a:moveTo>
                    <a:pt x="13840" y="4835"/>
                  </a:moveTo>
                  <a:lnTo>
                    <a:pt x="13840" y="25555"/>
                  </a:lnTo>
                  <a:lnTo>
                    <a:pt x="7958" y="25555"/>
                  </a:lnTo>
                  <a:lnTo>
                    <a:pt x="7958" y="4835"/>
                  </a:lnTo>
                  <a:lnTo>
                    <a:pt x="0" y="4835"/>
                  </a:lnTo>
                  <a:lnTo>
                    <a:pt x="0" y="0"/>
                  </a:lnTo>
                  <a:lnTo>
                    <a:pt x="21452" y="0"/>
                  </a:lnTo>
                  <a:lnTo>
                    <a:pt x="21452" y="4835"/>
                  </a:lnTo>
                  <a:lnTo>
                    <a:pt x="13494" y="4835"/>
                  </a:lnTo>
                  <a:lnTo>
                    <a:pt x="13494" y="4835"/>
                  </a:lnTo>
                  <a:close/>
                </a:path>
              </a:pathLst>
            </a:custGeom>
            <a:grpFill/>
            <a:ln w="3458" cap="flat">
              <a:noFill/>
              <a:prstDash val="solid"/>
              <a:miter/>
            </a:ln>
          </p:spPr>
          <p:txBody>
            <a:bodyPr rtlCol="0" anchor="ctr"/>
            <a:lstStyle/>
            <a:p>
              <a:endParaRPr lang="en-US" sz="1800"/>
            </a:p>
          </p:txBody>
        </p:sp>
      </p:grpSp>
      <p:sp>
        <p:nvSpPr>
          <p:cNvPr id="29" name="name_2024 sandisk or its affiliates All rights reserved">
            <a:extLst>
              <a:ext uri="{FF2B5EF4-FFF2-40B4-BE49-F238E27FC236}">
                <a16:creationId xmlns:a16="http://schemas.microsoft.com/office/drawing/2014/main" id="{01F63028-2AAA-E3B3-F9D5-53E45AC79227}"/>
              </a:ext>
            </a:extLst>
          </p:cNvPr>
          <p:cNvSpPr txBox="1"/>
          <p:nvPr/>
        </p:nvSpPr>
        <p:spPr>
          <a:xfrm>
            <a:off x="6096000" y="6437971"/>
            <a:ext cx="5803900"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b">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r" defTabSz="609412" hangingPunct="0">
              <a:lnSpc>
                <a:spcPct val="100000"/>
              </a:lnSpc>
            </a:pPr>
            <a:r>
              <a:rPr lang="en-US" sz="1000" b="0" i="0" kern="0" spc="0" baseline="0">
                <a:solidFill>
                  <a:schemeClr val="tx2"/>
                </a:solidFill>
                <a:latin typeface="NB Architekt Pro Neue" panose="02010509020201040001" pitchFamily="49" charset="77"/>
                <a:cs typeface="Consolas" panose="020B0609020204030204" pitchFamily="49" charset="0"/>
              </a:rPr>
              <a:t>©2025 SANDISK CORPORATION OR ITS AFFILIATES ALL RIGHTS RESERVED</a:t>
            </a:r>
          </a:p>
        </p:txBody>
      </p:sp>
    </p:spTree>
    <p:extLst>
      <p:ext uri="{BB962C8B-B14F-4D97-AF65-F5344CB8AC3E}">
        <p14:creationId xmlns:p14="http://schemas.microsoft.com/office/powerpoint/2010/main" val="2612480220"/>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egue White">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22468A4-BC3E-6353-E1E0-2E13F959CCB8}"/>
              </a:ext>
            </a:extLst>
          </p:cNvPr>
          <p:cNvSpPr>
            <a:spLocks noGrp="1"/>
          </p:cNvSpPr>
          <p:nvPr>
            <p:ph type="title" hasCustomPrompt="1"/>
          </p:nvPr>
        </p:nvSpPr>
        <p:spPr>
          <a:xfrm>
            <a:off x="292099" y="242175"/>
            <a:ext cx="10137775" cy="2859204"/>
          </a:xfrm>
          <a:prstGeom prst="rect">
            <a:avLst/>
          </a:prstGeom>
        </p:spPr>
        <p:txBody>
          <a:bodyPr wrap="square" lIns="0" tIns="0" anchor="t">
            <a:noAutofit/>
          </a:bodyPr>
          <a:lstStyle>
            <a:lvl1pPr>
              <a:lnSpc>
                <a:spcPct val="86000"/>
              </a:lnSpc>
              <a:defRPr sz="6000" b="0" spc="-220" baseline="0">
                <a:solidFill>
                  <a:schemeClr val="tx1"/>
                </a:solidFill>
                <a:latin typeface="+mj-lt"/>
              </a:defRPr>
            </a:lvl1pPr>
          </a:lstStyle>
          <a:p>
            <a:pPr lvl="0"/>
            <a:r>
              <a:rPr lang="en-US"/>
              <a:t>CLICK TO ADD </a:t>
            </a:r>
            <a:br>
              <a:rPr lang="en-US"/>
            </a:br>
            <a:r>
              <a:rPr lang="en-US"/>
              <a:t>SEGUE TITLE</a:t>
            </a:r>
          </a:p>
        </p:txBody>
      </p:sp>
      <p:sp>
        <p:nvSpPr>
          <p:cNvPr id="60" name="name_2024 sandisk or its affiliates All rights reserved">
            <a:extLst>
              <a:ext uri="{FF2B5EF4-FFF2-40B4-BE49-F238E27FC236}">
                <a16:creationId xmlns:a16="http://schemas.microsoft.com/office/drawing/2014/main" id="{8D1C0E07-2F4E-EA81-8A81-D9EB71265DB8}"/>
              </a:ext>
            </a:extLst>
          </p:cNvPr>
          <p:cNvSpPr txBox="1"/>
          <p:nvPr/>
        </p:nvSpPr>
        <p:spPr>
          <a:xfrm>
            <a:off x="292100" y="3207243"/>
            <a:ext cx="1323975"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tx1"/>
                </a:solidFill>
                <a:latin typeface="NB Architekt Pro Neue" panose="02010509020201040001" pitchFamily="49" charset="77"/>
                <a:cs typeface="Consolas" panose="020B0609020204030204" pitchFamily="49" charset="0"/>
              </a:rPr>
              <a:t>[Confidential]</a:t>
            </a:r>
          </a:p>
        </p:txBody>
      </p:sp>
      <p:sp>
        <p:nvSpPr>
          <p:cNvPr id="63" name="Rectangle 62">
            <a:extLst>
              <a:ext uri="{FF2B5EF4-FFF2-40B4-BE49-F238E27FC236}">
                <a16:creationId xmlns:a16="http://schemas.microsoft.com/office/drawing/2014/main" id="{F9A95309-574A-2C41-2F2D-805220801FF6}"/>
              </a:ext>
            </a:extLst>
          </p:cNvPr>
          <p:cNvSpPr/>
          <p:nvPr/>
        </p:nvSpPr>
        <p:spPr>
          <a:xfrm>
            <a:off x="11607292" y="293688"/>
            <a:ext cx="292608" cy="2926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0000"/>
              </a:solidFill>
            </a:endParaRPr>
          </a:p>
        </p:txBody>
      </p:sp>
      <p:grpSp>
        <p:nvGrpSpPr>
          <p:cNvPr id="8" name="Group 7">
            <a:extLst>
              <a:ext uri="{FF2B5EF4-FFF2-40B4-BE49-F238E27FC236}">
                <a16:creationId xmlns:a16="http://schemas.microsoft.com/office/drawing/2014/main" id="{87A2ECAB-A990-05E8-7F90-AD5E628FE43F}"/>
              </a:ext>
            </a:extLst>
          </p:cNvPr>
          <p:cNvGrpSpPr>
            <a:grpSpLocks noChangeAspect="1"/>
          </p:cNvGrpSpPr>
          <p:nvPr/>
        </p:nvGrpSpPr>
        <p:grpSpPr>
          <a:xfrm>
            <a:off x="297027" y="6344485"/>
            <a:ext cx="2240280" cy="218081"/>
            <a:chOff x="8480170" y="7684742"/>
            <a:chExt cx="1031076" cy="102566"/>
          </a:xfrm>
          <a:solidFill>
            <a:schemeClr val="accent3"/>
          </a:solidFill>
        </p:grpSpPr>
        <p:sp>
          <p:nvSpPr>
            <p:cNvPr id="10" name="Freeform 9">
              <a:extLst>
                <a:ext uri="{FF2B5EF4-FFF2-40B4-BE49-F238E27FC236}">
                  <a16:creationId xmlns:a16="http://schemas.microsoft.com/office/drawing/2014/main" id="{AD458CD1-1083-C311-61DC-B73B5981CCBE}"/>
                </a:ext>
              </a:extLst>
            </p:cNvPr>
            <p:cNvSpPr/>
            <p:nvPr/>
          </p:nvSpPr>
          <p:spPr>
            <a:xfrm>
              <a:off x="8788109" y="7684742"/>
              <a:ext cx="128019" cy="102565"/>
            </a:xfrm>
            <a:custGeom>
              <a:avLst/>
              <a:gdLst>
                <a:gd name="connsiteX0" fmla="*/ 102070 w 128019"/>
                <a:gd name="connsiteY0" fmla="*/ 70104 h 102565"/>
                <a:gd name="connsiteX1" fmla="*/ 96188 w 128019"/>
                <a:gd name="connsiteY1" fmla="*/ 77011 h 102565"/>
                <a:gd name="connsiteX2" fmla="*/ 89268 w 128019"/>
                <a:gd name="connsiteY2" fmla="*/ 72521 h 102565"/>
                <a:gd name="connsiteX3" fmla="*/ 65740 w 128019"/>
                <a:gd name="connsiteY3" fmla="*/ 8288 h 102565"/>
                <a:gd name="connsiteX4" fmla="*/ 54668 w 128019"/>
                <a:gd name="connsiteY4" fmla="*/ 0 h 102565"/>
                <a:gd name="connsiteX5" fmla="*/ 0 w 128019"/>
                <a:gd name="connsiteY5" fmla="*/ 0 h 102565"/>
                <a:gd name="connsiteX6" fmla="*/ 0 w 128019"/>
                <a:gd name="connsiteY6" fmla="*/ 102221 h 102565"/>
                <a:gd name="connsiteX7" fmla="*/ 40136 w 128019"/>
                <a:gd name="connsiteY7" fmla="*/ 102221 h 102565"/>
                <a:gd name="connsiteX8" fmla="*/ 40136 w 128019"/>
                <a:gd name="connsiteY8" fmla="*/ 76665 h 102565"/>
                <a:gd name="connsiteX9" fmla="*/ 32870 w 128019"/>
                <a:gd name="connsiteY9" fmla="*/ 76665 h 102565"/>
                <a:gd name="connsiteX10" fmla="*/ 25604 w 128019"/>
                <a:gd name="connsiteY10" fmla="*/ 67687 h 102565"/>
                <a:gd name="connsiteX11" fmla="*/ 25604 w 128019"/>
                <a:gd name="connsiteY11" fmla="*/ 36951 h 102565"/>
                <a:gd name="connsiteX12" fmla="*/ 39790 w 128019"/>
                <a:gd name="connsiteY12" fmla="*/ 26591 h 102565"/>
                <a:gd name="connsiteX13" fmla="*/ 45672 w 128019"/>
                <a:gd name="connsiteY13" fmla="*/ 32807 h 102565"/>
                <a:gd name="connsiteX14" fmla="*/ 64356 w 128019"/>
                <a:gd name="connsiteY14" fmla="*/ 81500 h 102565"/>
                <a:gd name="connsiteX15" fmla="*/ 95150 w 128019"/>
                <a:gd name="connsiteY15" fmla="*/ 102566 h 102565"/>
                <a:gd name="connsiteX16" fmla="*/ 95842 w 128019"/>
                <a:gd name="connsiteY16" fmla="*/ 102566 h 102565"/>
                <a:gd name="connsiteX17" fmla="*/ 128020 w 128019"/>
                <a:gd name="connsiteY17" fmla="*/ 70795 h 102565"/>
                <a:gd name="connsiteX18" fmla="*/ 128020 w 128019"/>
                <a:gd name="connsiteY18" fmla="*/ 345 h 102565"/>
                <a:gd name="connsiteX19" fmla="*/ 102416 w 128019"/>
                <a:gd name="connsiteY19" fmla="*/ 345 h 102565"/>
                <a:gd name="connsiteX20" fmla="*/ 102416 w 128019"/>
                <a:gd name="connsiteY20" fmla="*/ 70104 h 102565"/>
                <a:gd name="connsiteX21" fmla="*/ 102416 w 128019"/>
                <a:gd name="connsiteY21" fmla="*/ 70104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8019" h="102565">
                  <a:moveTo>
                    <a:pt x="102070" y="70104"/>
                  </a:moveTo>
                  <a:cubicBezTo>
                    <a:pt x="102070" y="73557"/>
                    <a:pt x="99648" y="76665"/>
                    <a:pt x="96188" y="77011"/>
                  </a:cubicBezTo>
                  <a:cubicBezTo>
                    <a:pt x="93074" y="77356"/>
                    <a:pt x="90306" y="75629"/>
                    <a:pt x="89268" y="72521"/>
                  </a:cubicBezTo>
                  <a:lnTo>
                    <a:pt x="65740" y="8288"/>
                  </a:lnTo>
                  <a:cubicBezTo>
                    <a:pt x="64010" y="3108"/>
                    <a:pt x="59858" y="0"/>
                    <a:pt x="54668" y="0"/>
                  </a:cubicBezTo>
                  <a:lnTo>
                    <a:pt x="0" y="0"/>
                  </a:lnTo>
                  <a:lnTo>
                    <a:pt x="0" y="102221"/>
                  </a:lnTo>
                  <a:lnTo>
                    <a:pt x="40136" y="102221"/>
                  </a:lnTo>
                  <a:lnTo>
                    <a:pt x="40136" y="76665"/>
                  </a:lnTo>
                  <a:lnTo>
                    <a:pt x="32870" y="76665"/>
                  </a:lnTo>
                  <a:cubicBezTo>
                    <a:pt x="28026" y="76665"/>
                    <a:pt x="25604" y="72521"/>
                    <a:pt x="25604" y="67687"/>
                  </a:cubicBezTo>
                  <a:lnTo>
                    <a:pt x="25604" y="36951"/>
                  </a:lnTo>
                  <a:cubicBezTo>
                    <a:pt x="25604" y="29354"/>
                    <a:pt x="32870" y="23828"/>
                    <a:pt x="39790" y="26591"/>
                  </a:cubicBezTo>
                  <a:cubicBezTo>
                    <a:pt x="42212" y="27627"/>
                    <a:pt x="44634" y="30045"/>
                    <a:pt x="45672" y="32807"/>
                  </a:cubicBezTo>
                  <a:lnTo>
                    <a:pt x="64356" y="81500"/>
                  </a:lnTo>
                  <a:cubicBezTo>
                    <a:pt x="69200" y="94278"/>
                    <a:pt x="81310" y="102566"/>
                    <a:pt x="95150" y="102566"/>
                  </a:cubicBezTo>
                  <a:lnTo>
                    <a:pt x="95842" y="102566"/>
                  </a:lnTo>
                  <a:cubicBezTo>
                    <a:pt x="113488" y="102566"/>
                    <a:pt x="128020" y="88407"/>
                    <a:pt x="128020" y="70795"/>
                  </a:cubicBezTo>
                  <a:lnTo>
                    <a:pt x="128020" y="345"/>
                  </a:lnTo>
                  <a:lnTo>
                    <a:pt x="102416" y="345"/>
                  </a:lnTo>
                  <a:lnTo>
                    <a:pt x="102416" y="70104"/>
                  </a:lnTo>
                  <a:lnTo>
                    <a:pt x="102416" y="70104"/>
                  </a:lnTo>
                  <a:close/>
                </a:path>
              </a:pathLst>
            </a:custGeom>
            <a:grpFill/>
            <a:ln w="3458" cap="flat">
              <a:noFill/>
              <a:prstDash val="solid"/>
              <a:miter/>
            </a:ln>
          </p:spPr>
          <p:txBody>
            <a:bodyPr rtlCol="0" anchor="ctr"/>
            <a:lstStyle/>
            <a:p>
              <a:endParaRPr lang="en-US" sz="1800"/>
            </a:p>
          </p:txBody>
        </p:sp>
        <p:sp>
          <p:nvSpPr>
            <p:cNvPr id="11" name="Freeform 10">
              <a:extLst>
                <a:ext uri="{FF2B5EF4-FFF2-40B4-BE49-F238E27FC236}">
                  <a16:creationId xmlns:a16="http://schemas.microsoft.com/office/drawing/2014/main" id="{D45CA5DB-3336-4F40-8ACB-4C84732848B1}"/>
                </a:ext>
              </a:extLst>
            </p:cNvPr>
            <p:cNvSpPr/>
            <p:nvPr/>
          </p:nvSpPr>
          <p:spPr>
            <a:xfrm>
              <a:off x="8941733" y="7685087"/>
              <a:ext cx="128019" cy="102220"/>
            </a:xfrm>
            <a:custGeom>
              <a:avLst/>
              <a:gdLst>
                <a:gd name="connsiteX0" fmla="*/ 76812 w 128019"/>
                <a:gd name="connsiteY0" fmla="*/ 0 h 102220"/>
                <a:gd name="connsiteX1" fmla="*/ 0 w 128019"/>
                <a:gd name="connsiteY1" fmla="*/ 0 h 102220"/>
                <a:gd name="connsiteX2" fmla="*/ 0 w 128019"/>
                <a:gd name="connsiteY2" fmla="*/ 25555 h 102220"/>
                <a:gd name="connsiteX3" fmla="*/ 76812 w 128019"/>
                <a:gd name="connsiteY3" fmla="*/ 25555 h 102220"/>
                <a:gd name="connsiteX4" fmla="*/ 102416 w 128019"/>
                <a:gd name="connsiteY4" fmla="*/ 51110 h 102220"/>
                <a:gd name="connsiteX5" fmla="*/ 76812 w 128019"/>
                <a:gd name="connsiteY5" fmla="*/ 76665 h 102220"/>
                <a:gd name="connsiteX6" fmla="*/ 0 w 128019"/>
                <a:gd name="connsiteY6" fmla="*/ 76665 h 102220"/>
                <a:gd name="connsiteX7" fmla="*/ 0 w 128019"/>
                <a:gd name="connsiteY7" fmla="*/ 102221 h 102220"/>
                <a:gd name="connsiteX8" fmla="*/ 76812 w 128019"/>
                <a:gd name="connsiteY8" fmla="*/ 102221 h 102220"/>
                <a:gd name="connsiteX9" fmla="*/ 121792 w 128019"/>
                <a:gd name="connsiteY9" fmla="*/ 75629 h 102220"/>
                <a:gd name="connsiteX10" fmla="*/ 128020 w 128019"/>
                <a:gd name="connsiteY10" fmla="*/ 51110 h 102220"/>
                <a:gd name="connsiteX11" fmla="*/ 121792 w 128019"/>
                <a:gd name="connsiteY11" fmla="*/ 26591 h 102220"/>
                <a:gd name="connsiteX12" fmla="*/ 76812 w 128019"/>
                <a:gd name="connsiteY12" fmla="*/ 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8019" h="102220">
                  <a:moveTo>
                    <a:pt x="76812" y="0"/>
                  </a:moveTo>
                  <a:lnTo>
                    <a:pt x="0" y="0"/>
                  </a:lnTo>
                  <a:lnTo>
                    <a:pt x="0" y="25555"/>
                  </a:lnTo>
                  <a:lnTo>
                    <a:pt x="76812" y="25555"/>
                  </a:lnTo>
                  <a:cubicBezTo>
                    <a:pt x="90306" y="25555"/>
                    <a:pt x="102416" y="37297"/>
                    <a:pt x="102416" y="51110"/>
                  </a:cubicBezTo>
                  <a:cubicBezTo>
                    <a:pt x="102416" y="64924"/>
                    <a:pt x="90652" y="76665"/>
                    <a:pt x="76812" y="76665"/>
                  </a:cubicBezTo>
                  <a:lnTo>
                    <a:pt x="0" y="76665"/>
                  </a:lnTo>
                  <a:lnTo>
                    <a:pt x="0" y="102221"/>
                  </a:lnTo>
                  <a:lnTo>
                    <a:pt x="76812" y="102221"/>
                  </a:lnTo>
                  <a:cubicBezTo>
                    <a:pt x="96188" y="102221"/>
                    <a:pt x="113142" y="91515"/>
                    <a:pt x="121792" y="75629"/>
                  </a:cubicBezTo>
                  <a:cubicBezTo>
                    <a:pt x="125598" y="68377"/>
                    <a:pt x="128020" y="59744"/>
                    <a:pt x="128020" y="51110"/>
                  </a:cubicBezTo>
                  <a:cubicBezTo>
                    <a:pt x="128020" y="42477"/>
                    <a:pt x="125598" y="33843"/>
                    <a:pt x="121792" y="26591"/>
                  </a:cubicBezTo>
                  <a:cubicBezTo>
                    <a:pt x="113142" y="10706"/>
                    <a:pt x="96188" y="0"/>
                    <a:pt x="76812" y="0"/>
                  </a:cubicBezTo>
                  <a:close/>
                </a:path>
              </a:pathLst>
            </a:custGeom>
            <a:grpFill/>
            <a:ln w="3458" cap="flat">
              <a:noFill/>
              <a:prstDash val="solid"/>
              <a:miter/>
            </a:ln>
          </p:spPr>
          <p:txBody>
            <a:bodyPr rtlCol="0" anchor="ctr"/>
            <a:lstStyle/>
            <a:p>
              <a:endParaRPr lang="en-US" sz="1800"/>
            </a:p>
          </p:txBody>
        </p:sp>
        <p:sp>
          <p:nvSpPr>
            <p:cNvPr id="12" name="Freeform 11">
              <a:extLst>
                <a:ext uri="{FF2B5EF4-FFF2-40B4-BE49-F238E27FC236}">
                  <a16:creationId xmlns:a16="http://schemas.microsoft.com/office/drawing/2014/main" id="{CA404315-CE56-3B06-7393-E82FC9BDACFD}"/>
                </a:ext>
              </a:extLst>
            </p:cNvPr>
            <p:cNvSpPr/>
            <p:nvPr/>
          </p:nvSpPr>
          <p:spPr>
            <a:xfrm>
              <a:off x="9080478" y="7685087"/>
              <a:ext cx="40481" cy="102220"/>
            </a:xfrm>
            <a:custGeom>
              <a:avLst/>
              <a:gdLst>
                <a:gd name="connsiteX0" fmla="*/ 5190 w 40481"/>
                <a:gd name="connsiteY0" fmla="*/ 25555 h 102220"/>
                <a:gd name="connsiteX1" fmla="*/ 7266 w 40481"/>
                <a:gd name="connsiteY1" fmla="*/ 25555 h 102220"/>
                <a:gd name="connsiteX2" fmla="*/ 14878 w 40481"/>
                <a:gd name="connsiteY2" fmla="*/ 35225 h 102220"/>
                <a:gd name="connsiteX3" fmla="*/ 14878 w 40481"/>
                <a:gd name="connsiteY3" fmla="*/ 102221 h 102220"/>
                <a:gd name="connsiteX4" fmla="*/ 40482 w 40481"/>
                <a:gd name="connsiteY4" fmla="*/ 102221 h 102220"/>
                <a:gd name="connsiteX5" fmla="*/ 40482 w 40481"/>
                <a:gd name="connsiteY5" fmla="*/ 0 h 102220"/>
                <a:gd name="connsiteX6" fmla="*/ 0 w 40481"/>
                <a:gd name="connsiteY6" fmla="*/ 0 h 102220"/>
                <a:gd name="connsiteX7" fmla="*/ 0 w 40481"/>
                <a:gd name="connsiteY7" fmla="*/ 25555 h 102220"/>
                <a:gd name="connsiteX8" fmla="*/ 5536 w 40481"/>
                <a:gd name="connsiteY8" fmla="*/ 25555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481" h="102220">
                  <a:moveTo>
                    <a:pt x="5190" y="25555"/>
                  </a:moveTo>
                  <a:cubicBezTo>
                    <a:pt x="5882" y="25555"/>
                    <a:pt x="6574" y="25555"/>
                    <a:pt x="7266" y="25555"/>
                  </a:cubicBezTo>
                  <a:cubicBezTo>
                    <a:pt x="12110" y="26246"/>
                    <a:pt x="14878" y="30045"/>
                    <a:pt x="14878" y="35225"/>
                  </a:cubicBezTo>
                  <a:lnTo>
                    <a:pt x="14878" y="102221"/>
                  </a:lnTo>
                  <a:lnTo>
                    <a:pt x="40482" y="102221"/>
                  </a:lnTo>
                  <a:lnTo>
                    <a:pt x="40482" y="0"/>
                  </a:lnTo>
                  <a:lnTo>
                    <a:pt x="0" y="0"/>
                  </a:lnTo>
                  <a:lnTo>
                    <a:pt x="0" y="25555"/>
                  </a:lnTo>
                  <a:lnTo>
                    <a:pt x="5536" y="25555"/>
                  </a:lnTo>
                  <a:close/>
                </a:path>
              </a:pathLst>
            </a:custGeom>
            <a:grpFill/>
            <a:ln w="3458" cap="flat">
              <a:noFill/>
              <a:prstDash val="solid"/>
              <a:miter/>
            </a:ln>
          </p:spPr>
          <p:txBody>
            <a:bodyPr rtlCol="0" anchor="ctr"/>
            <a:lstStyle/>
            <a:p>
              <a:endParaRPr lang="en-US" sz="1800"/>
            </a:p>
          </p:txBody>
        </p:sp>
        <p:sp>
          <p:nvSpPr>
            <p:cNvPr id="13" name="Freeform 12">
              <a:extLst>
                <a:ext uri="{FF2B5EF4-FFF2-40B4-BE49-F238E27FC236}">
                  <a16:creationId xmlns:a16="http://schemas.microsoft.com/office/drawing/2014/main" id="{C05A253D-D6E9-ADF9-C515-492F2434252F}"/>
                </a:ext>
              </a:extLst>
            </p:cNvPr>
            <p:cNvSpPr/>
            <p:nvPr/>
          </p:nvSpPr>
          <p:spPr>
            <a:xfrm>
              <a:off x="9146218" y="7685087"/>
              <a:ext cx="128365" cy="102220"/>
            </a:xfrm>
            <a:custGeom>
              <a:avLst/>
              <a:gdLst>
                <a:gd name="connsiteX0" fmla="*/ 128365 w 128365"/>
                <a:gd name="connsiteY0" fmla="*/ 81846 h 102220"/>
                <a:gd name="connsiteX1" fmla="*/ 128365 w 128365"/>
                <a:gd name="connsiteY1" fmla="*/ 102221 h 102220"/>
                <a:gd name="connsiteX2" fmla="*/ 19722 w 128365"/>
                <a:gd name="connsiteY2" fmla="*/ 60780 h 102220"/>
                <a:gd name="connsiteX3" fmla="*/ 0 w 128365"/>
                <a:gd name="connsiteY3" fmla="*/ 30735 h 102220"/>
                <a:gd name="connsiteX4" fmla="*/ 31140 w 128365"/>
                <a:gd name="connsiteY4" fmla="*/ 0 h 102220"/>
                <a:gd name="connsiteX5" fmla="*/ 128020 w 128365"/>
                <a:gd name="connsiteY5" fmla="*/ 0 h 102220"/>
                <a:gd name="connsiteX6" fmla="*/ 128020 w 128365"/>
                <a:gd name="connsiteY6" fmla="*/ 40059 h 102220"/>
                <a:gd name="connsiteX7" fmla="*/ 102416 w 128365"/>
                <a:gd name="connsiteY7" fmla="*/ 40059 h 102220"/>
                <a:gd name="connsiteX8" fmla="*/ 102416 w 128365"/>
                <a:gd name="connsiteY8" fmla="*/ 32807 h 102220"/>
                <a:gd name="connsiteX9" fmla="*/ 94458 w 128365"/>
                <a:gd name="connsiteY9" fmla="*/ 25555 h 102220"/>
                <a:gd name="connsiteX10" fmla="*/ 37714 w 128365"/>
                <a:gd name="connsiteY10" fmla="*/ 25555 h 102220"/>
                <a:gd name="connsiteX11" fmla="*/ 29756 w 128365"/>
                <a:gd name="connsiteY11" fmla="*/ 33498 h 102220"/>
                <a:gd name="connsiteX12" fmla="*/ 34946 w 128365"/>
                <a:gd name="connsiteY12" fmla="*/ 41095 h 102220"/>
                <a:gd name="connsiteX13" fmla="*/ 119370 w 128365"/>
                <a:gd name="connsiteY13" fmla="*/ 70795 h 102220"/>
                <a:gd name="connsiteX14" fmla="*/ 127674 w 128365"/>
                <a:gd name="connsiteY14"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8365" h="102220">
                  <a:moveTo>
                    <a:pt x="128365" y="81846"/>
                  </a:moveTo>
                  <a:lnTo>
                    <a:pt x="128365"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close/>
                </a:path>
              </a:pathLst>
            </a:custGeom>
            <a:grpFill/>
            <a:ln w="3458" cap="flat">
              <a:noFill/>
              <a:prstDash val="solid"/>
              <a:miter/>
            </a:ln>
          </p:spPr>
          <p:txBody>
            <a:bodyPr rtlCol="0" anchor="ctr"/>
            <a:lstStyle/>
            <a:p>
              <a:endParaRPr lang="en-US" sz="1800"/>
            </a:p>
          </p:txBody>
        </p:sp>
        <p:sp>
          <p:nvSpPr>
            <p:cNvPr id="14" name="Freeform 13">
              <a:extLst>
                <a:ext uri="{FF2B5EF4-FFF2-40B4-BE49-F238E27FC236}">
                  <a16:creationId xmlns:a16="http://schemas.microsoft.com/office/drawing/2014/main" id="{D844107C-6004-B1CD-1490-B62B260EAD47}"/>
                </a:ext>
              </a:extLst>
            </p:cNvPr>
            <p:cNvSpPr/>
            <p:nvPr/>
          </p:nvSpPr>
          <p:spPr>
            <a:xfrm>
              <a:off x="9146564" y="7761753"/>
              <a:ext cx="25258" cy="25555"/>
            </a:xfrm>
            <a:custGeom>
              <a:avLst/>
              <a:gdLst>
                <a:gd name="connsiteX0" fmla="*/ 25258 w 25258"/>
                <a:gd name="connsiteY0" fmla="*/ 0 h 25555"/>
                <a:gd name="connsiteX1" fmla="*/ 0 w 25258"/>
                <a:gd name="connsiteY1" fmla="*/ 0 h 25555"/>
                <a:gd name="connsiteX2" fmla="*/ 0 w 25258"/>
                <a:gd name="connsiteY2" fmla="*/ 25555 h 25555"/>
                <a:gd name="connsiteX3" fmla="*/ 25258 w 25258"/>
                <a:gd name="connsiteY3" fmla="*/ 25555 h 25555"/>
                <a:gd name="connsiteX4" fmla="*/ 25258 w 25258"/>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8"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15" name="Freeform 14">
              <a:extLst>
                <a:ext uri="{FF2B5EF4-FFF2-40B4-BE49-F238E27FC236}">
                  <a16:creationId xmlns:a16="http://schemas.microsoft.com/office/drawing/2014/main" id="{2AECDA4C-9789-07FE-1F48-5AF47F22AA29}"/>
                </a:ext>
              </a:extLst>
            </p:cNvPr>
            <p:cNvSpPr/>
            <p:nvPr/>
          </p:nvSpPr>
          <p:spPr>
            <a:xfrm>
              <a:off x="8480170" y="7685087"/>
              <a:ext cx="128019" cy="102220"/>
            </a:xfrm>
            <a:custGeom>
              <a:avLst/>
              <a:gdLst>
                <a:gd name="connsiteX0" fmla="*/ 128020 w 128019"/>
                <a:gd name="connsiteY0" fmla="*/ 81846 h 102220"/>
                <a:gd name="connsiteX1" fmla="*/ 128020 w 128019"/>
                <a:gd name="connsiteY1" fmla="*/ 102221 h 102220"/>
                <a:gd name="connsiteX2" fmla="*/ 19722 w 128019"/>
                <a:gd name="connsiteY2" fmla="*/ 60780 h 102220"/>
                <a:gd name="connsiteX3" fmla="*/ 0 w 128019"/>
                <a:gd name="connsiteY3" fmla="*/ 30735 h 102220"/>
                <a:gd name="connsiteX4" fmla="*/ 31140 w 128019"/>
                <a:gd name="connsiteY4" fmla="*/ 0 h 102220"/>
                <a:gd name="connsiteX5" fmla="*/ 128020 w 128019"/>
                <a:gd name="connsiteY5" fmla="*/ 0 h 102220"/>
                <a:gd name="connsiteX6" fmla="*/ 128020 w 128019"/>
                <a:gd name="connsiteY6" fmla="*/ 40059 h 102220"/>
                <a:gd name="connsiteX7" fmla="*/ 102416 w 128019"/>
                <a:gd name="connsiteY7" fmla="*/ 40059 h 102220"/>
                <a:gd name="connsiteX8" fmla="*/ 102416 w 128019"/>
                <a:gd name="connsiteY8" fmla="*/ 32807 h 102220"/>
                <a:gd name="connsiteX9" fmla="*/ 94458 w 128019"/>
                <a:gd name="connsiteY9" fmla="*/ 25555 h 102220"/>
                <a:gd name="connsiteX10" fmla="*/ 37714 w 128019"/>
                <a:gd name="connsiteY10" fmla="*/ 25555 h 102220"/>
                <a:gd name="connsiteX11" fmla="*/ 29756 w 128019"/>
                <a:gd name="connsiteY11" fmla="*/ 33498 h 102220"/>
                <a:gd name="connsiteX12" fmla="*/ 34946 w 128019"/>
                <a:gd name="connsiteY12" fmla="*/ 41095 h 102220"/>
                <a:gd name="connsiteX13" fmla="*/ 119370 w 128019"/>
                <a:gd name="connsiteY13" fmla="*/ 70795 h 102220"/>
                <a:gd name="connsiteX14" fmla="*/ 127674 w 128019"/>
                <a:gd name="connsiteY14" fmla="*/ 81846 h 102220"/>
                <a:gd name="connsiteX15" fmla="*/ 127674 w 128019"/>
                <a:gd name="connsiteY15"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8019" h="102220">
                  <a:moveTo>
                    <a:pt x="128020" y="81846"/>
                  </a:moveTo>
                  <a:lnTo>
                    <a:pt x="128020"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lnTo>
                    <a:pt x="127674" y="81846"/>
                  </a:lnTo>
                  <a:close/>
                </a:path>
              </a:pathLst>
            </a:custGeom>
            <a:grpFill/>
            <a:ln w="3458" cap="flat">
              <a:noFill/>
              <a:prstDash val="solid"/>
              <a:miter/>
            </a:ln>
          </p:spPr>
          <p:txBody>
            <a:bodyPr rtlCol="0" anchor="ctr"/>
            <a:lstStyle/>
            <a:p>
              <a:endParaRPr lang="en-US" sz="1800"/>
            </a:p>
          </p:txBody>
        </p:sp>
        <p:sp>
          <p:nvSpPr>
            <p:cNvPr id="21" name="Freeform 20">
              <a:extLst>
                <a:ext uri="{FF2B5EF4-FFF2-40B4-BE49-F238E27FC236}">
                  <a16:creationId xmlns:a16="http://schemas.microsoft.com/office/drawing/2014/main" id="{FCFC7229-36AE-4655-EEFF-89D440E38679}"/>
                </a:ext>
              </a:extLst>
            </p:cNvPr>
            <p:cNvSpPr/>
            <p:nvPr/>
          </p:nvSpPr>
          <p:spPr>
            <a:xfrm>
              <a:off x="8480516" y="7761753"/>
              <a:ext cx="25257" cy="25555"/>
            </a:xfrm>
            <a:custGeom>
              <a:avLst/>
              <a:gdLst>
                <a:gd name="connsiteX0" fmla="*/ 25258 w 25257"/>
                <a:gd name="connsiteY0" fmla="*/ 0 h 25555"/>
                <a:gd name="connsiteX1" fmla="*/ 0 w 25257"/>
                <a:gd name="connsiteY1" fmla="*/ 0 h 25555"/>
                <a:gd name="connsiteX2" fmla="*/ 0 w 25257"/>
                <a:gd name="connsiteY2" fmla="*/ 25555 h 25555"/>
                <a:gd name="connsiteX3" fmla="*/ 25258 w 25257"/>
                <a:gd name="connsiteY3" fmla="*/ 25555 h 25555"/>
                <a:gd name="connsiteX4" fmla="*/ 25258 w 25257"/>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7"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24" name="Freeform 23">
              <a:extLst>
                <a:ext uri="{FF2B5EF4-FFF2-40B4-BE49-F238E27FC236}">
                  <a16:creationId xmlns:a16="http://schemas.microsoft.com/office/drawing/2014/main" id="{FC0B2E28-AA20-5B6C-AE72-2D6BB558CFEB}"/>
                </a:ext>
              </a:extLst>
            </p:cNvPr>
            <p:cNvSpPr/>
            <p:nvPr/>
          </p:nvSpPr>
          <p:spPr>
            <a:xfrm>
              <a:off x="9300533" y="7685087"/>
              <a:ext cx="128019" cy="102220"/>
            </a:xfrm>
            <a:custGeom>
              <a:avLst/>
              <a:gdLst>
                <a:gd name="connsiteX0" fmla="*/ 128020 w 128019"/>
                <a:gd name="connsiteY0" fmla="*/ 25555 h 102220"/>
                <a:gd name="connsiteX1" fmla="*/ 128020 w 128019"/>
                <a:gd name="connsiteY1" fmla="*/ 0 h 102220"/>
                <a:gd name="connsiteX2" fmla="*/ 105530 w 128019"/>
                <a:gd name="connsiteY2" fmla="*/ 0 h 102220"/>
                <a:gd name="connsiteX3" fmla="*/ 100686 w 128019"/>
                <a:gd name="connsiteY3" fmla="*/ 1727 h 102220"/>
                <a:gd name="connsiteX4" fmla="*/ 60550 w 128019"/>
                <a:gd name="connsiteY4" fmla="*/ 37987 h 102220"/>
                <a:gd name="connsiteX5" fmla="*/ 56398 w 128019"/>
                <a:gd name="connsiteY5" fmla="*/ 39714 h 102220"/>
                <a:gd name="connsiteX6" fmla="*/ 28372 w 128019"/>
                <a:gd name="connsiteY6" fmla="*/ 39714 h 102220"/>
                <a:gd name="connsiteX7" fmla="*/ 25258 w 128019"/>
                <a:gd name="connsiteY7" fmla="*/ 36606 h 102220"/>
                <a:gd name="connsiteX8" fmla="*/ 25258 w 128019"/>
                <a:gd name="connsiteY8" fmla="*/ 0 h 102220"/>
                <a:gd name="connsiteX9" fmla="*/ 0 w 128019"/>
                <a:gd name="connsiteY9" fmla="*/ 0 h 102220"/>
                <a:gd name="connsiteX10" fmla="*/ 0 w 128019"/>
                <a:gd name="connsiteY10" fmla="*/ 102221 h 102220"/>
                <a:gd name="connsiteX11" fmla="*/ 25258 w 128019"/>
                <a:gd name="connsiteY11" fmla="*/ 102221 h 102220"/>
                <a:gd name="connsiteX12" fmla="*/ 25258 w 128019"/>
                <a:gd name="connsiteY12" fmla="*/ 65615 h 102220"/>
                <a:gd name="connsiteX13" fmla="*/ 28372 w 128019"/>
                <a:gd name="connsiteY13" fmla="*/ 62507 h 102220"/>
                <a:gd name="connsiteX14" fmla="*/ 56398 w 128019"/>
                <a:gd name="connsiteY14" fmla="*/ 62507 h 102220"/>
                <a:gd name="connsiteX15" fmla="*/ 60550 w 128019"/>
                <a:gd name="connsiteY15" fmla="*/ 64233 h 102220"/>
                <a:gd name="connsiteX16" fmla="*/ 100686 w 128019"/>
                <a:gd name="connsiteY16" fmla="*/ 100494 h 102220"/>
                <a:gd name="connsiteX17" fmla="*/ 105530 w 128019"/>
                <a:gd name="connsiteY17" fmla="*/ 102221 h 102220"/>
                <a:gd name="connsiteX18" fmla="*/ 128020 w 128019"/>
                <a:gd name="connsiteY18" fmla="*/ 102221 h 102220"/>
                <a:gd name="connsiteX19" fmla="*/ 128020 w 128019"/>
                <a:gd name="connsiteY19" fmla="*/ 76665 h 102220"/>
                <a:gd name="connsiteX20" fmla="*/ 115564 w 128019"/>
                <a:gd name="connsiteY20" fmla="*/ 76665 h 102220"/>
                <a:gd name="connsiteX21" fmla="*/ 105184 w 128019"/>
                <a:gd name="connsiteY21" fmla="*/ 72867 h 102220"/>
                <a:gd name="connsiteX22" fmla="*/ 86154 w 128019"/>
                <a:gd name="connsiteY22" fmla="*/ 55945 h 102220"/>
                <a:gd name="connsiteX23" fmla="*/ 86154 w 128019"/>
                <a:gd name="connsiteY23" fmla="*/ 45930 h 102220"/>
                <a:gd name="connsiteX24" fmla="*/ 105184 w 128019"/>
                <a:gd name="connsiteY24" fmla="*/ 29009 h 102220"/>
                <a:gd name="connsiteX25" fmla="*/ 115564 w 128019"/>
                <a:gd name="connsiteY25" fmla="*/ 25210 h 102220"/>
                <a:gd name="connsiteX26" fmla="*/ 128020 w 128019"/>
                <a:gd name="connsiteY26" fmla="*/ 2521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8019" h="102220">
                  <a:moveTo>
                    <a:pt x="128020" y="25555"/>
                  </a:moveTo>
                  <a:lnTo>
                    <a:pt x="128020" y="0"/>
                  </a:lnTo>
                  <a:lnTo>
                    <a:pt x="105530" y="0"/>
                  </a:lnTo>
                  <a:cubicBezTo>
                    <a:pt x="103800" y="0"/>
                    <a:pt x="102070" y="691"/>
                    <a:pt x="100686" y="1727"/>
                  </a:cubicBezTo>
                  <a:lnTo>
                    <a:pt x="60550" y="37987"/>
                  </a:lnTo>
                  <a:cubicBezTo>
                    <a:pt x="59512" y="39023"/>
                    <a:pt x="58128" y="39714"/>
                    <a:pt x="56398" y="39714"/>
                  </a:cubicBezTo>
                  <a:lnTo>
                    <a:pt x="28372" y="39714"/>
                  </a:lnTo>
                  <a:cubicBezTo>
                    <a:pt x="26642" y="39714"/>
                    <a:pt x="25258" y="38333"/>
                    <a:pt x="25258" y="36606"/>
                  </a:cubicBezTo>
                  <a:lnTo>
                    <a:pt x="25258" y="0"/>
                  </a:lnTo>
                  <a:lnTo>
                    <a:pt x="0" y="0"/>
                  </a:lnTo>
                  <a:lnTo>
                    <a:pt x="0" y="102221"/>
                  </a:lnTo>
                  <a:lnTo>
                    <a:pt x="25258" y="102221"/>
                  </a:lnTo>
                  <a:lnTo>
                    <a:pt x="25258" y="65615"/>
                  </a:lnTo>
                  <a:cubicBezTo>
                    <a:pt x="25258" y="63888"/>
                    <a:pt x="26642" y="62507"/>
                    <a:pt x="28372" y="62507"/>
                  </a:cubicBezTo>
                  <a:lnTo>
                    <a:pt x="56398" y="62507"/>
                  </a:lnTo>
                  <a:cubicBezTo>
                    <a:pt x="57782" y="62507"/>
                    <a:pt x="59512" y="62852"/>
                    <a:pt x="60550" y="64233"/>
                  </a:cubicBezTo>
                  <a:lnTo>
                    <a:pt x="100686" y="100494"/>
                  </a:lnTo>
                  <a:cubicBezTo>
                    <a:pt x="102070" y="101530"/>
                    <a:pt x="103800" y="102221"/>
                    <a:pt x="105530" y="102221"/>
                  </a:cubicBezTo>
                  <a:lnTo>
                    <a:pt x="128020" y="102221"/>
                  </a:lnTo>
                  <a:lnTo>
                    <a:pt x="128020" y="76665"/>
                  </a:lnTo>
                  <a:lnTo>
                    <a:pt x="115564" y="76665"/>
                  </a:lnTo>
                  <a:cubicBezTo>
                    <a:pt x="111758" y="76665"/>
                    <a:pt x="107952" y="75284"/>
                    <a:pt x="105184" y="72867"/>
                  </a:cubicBezTo>
                  <a:lnTo>
                    <a:pt x="86154" y="55945"/>
                  </a:lnTo>
                  <a:cubicBezTo>
                    <a:pt x="83040" y="53528"/>
                    <a:pt x="83040" y="48693"/>
                    <a:pt x="86154" y="45930"/>
                  </a:cubicBezTo>
                  <a:lnTo>
                    <a:pt x="105184" y="29009"/>
                  </a:lnTo>
                  <a:cubicBezTo>
                    <a:pt x="108298" y="26591"/>
                    <a:pt x="111758" y="25210"/>
                    <a:pt x="115564" y="25210"/>
                  </a:cubicBezTo>
                  <a:lnTo>
                    <a:pt x="128020" y="25210"/>
                  </a:lnTo>
                  <a:close/>
                </a:path>
              </a:pathLst>
            </a:custGeom>
            <a:grpFill/>
            <a:ln w="3458" cap="flat">
              <a:noFill/>
              <a:prstDash val="solid"/>
              <a:miter/>
            </a:ln>
          </p:spPr>
          <p:txBody>
            <a:bodyPr rtlCol="0" anchor="ctr"/>
            <a:lstStyle/>
            <a:p>
              <a:endParaRPr lang="en-US" sz="1800"/>
            </a:p>
          </p:txBody>
        </p:sp>
        <p:sp>
          <p:nvSpPr>
            <p:cNvPr id="26" name="Freeform 25">
              <a:extLst>
                <a:ext uri="{FF2B5EF4-FFF2-40B4-BE49-F238E27FC236}">
                  <a16:creationId xmlns:a16="http://schemas.microsoft.com/office/drawing/2014/main" id="{1F233A51-48A4-B89C-5C6F-DFDF556F5803}"/>
                </a:ext>
              </a:extLst>
            </p:cNvPr>
            <p:cNvSpPr/>
            <p:nvPr/>
          </p:nvSpPr>
          <p:spPr>
            <a:xfrm>
              <a:off x="8623760" y="7684742"/>
              <a:ext cx="138053" cy="102565"/>
            </a:xfrm>
            <a:custGeom>
              <a:avLst/>
              <a:gdLst>
                <a:gd name="connsiteX0" fmla="*/ 99302 w 138053"/>
                <a:gd name="connsiteY0" fmla="*/ 345 h 102565"/>
                <a:gd name="connsiteX1" fmla="*/ 70238 w 138053"/>
                <a:gd name="connsiteY1" fmla="*/ 14850 h 102565"/>
                <a:gd name="connsiteX2" fmla="*/ 0 w 138053"/>
                <a:gd name="connsiteY2" fmla="*/ 102566 h 102565"/>
                <a:gd name="connsiteX3" fmla="*/ 35638 w 138053"/>
                <a:gd name="connsiteY3" fmla="*/ 102566 h 102565"/>
                <a:gd name="connsiteX4" fmla="*/ 93420 w 138053"/>
                <a:gd name="connsiteY4" fmla="*/ 31426 h 102565"/>
                <a:gd name="connsiteX5" fmla="*/ 102762 w 138053"/>
                <a:gd name="connsiteY5" fmla="*/ 26246 h 102565"/>
                <a:gd name="connsiteX6" fmla="*/ 112450 w 138053"/>
                <a:gd name="connsiteY6" fmla="*/ 36951 h 102565"/>
                <a:gd name="connsiteX7" fmla="*/ 112450 w 138053"/>
                <a:gd name="connsiteY7" fmla="*/ 68032 h 102565"/>
                <a:gd name="connsiteX8" fmla="*/ 105184 w 138053"/>
                <a:gd name="connsiteY8" fmla="*/ 77011 h 102565"/>
                <a:gd name="connsiteX9" fmla="*/ 97918 w 138053"/>
                <a:gd name="connsiteY9" fmla="*/ 77011 h 102565"/>
                <a:gd name="connsiteX10" fmla="*/ 97918 w 138053"/>
                <a:gd name="connsiteY10" fmla="*/ 102566 h 102565"/>
                <a:gd name="connsiteX11" fmla="*/ 138054 w 138053"/>
                <a:gd name="connsiteY11" fmla="*/ 102566 h 102565"/>
                <a:gd name="connsiteX12" fmla="*/ 138054 w 138053"/>
                <a:gd name="connsiteY12" fmla="*/ 38333 h 102565"/>
                <a:gd name="connsiteX13" fmla="*/ 98956 w 138053"/>
                <a:gd name="connsiteY13" fmla="*/ 0 h 102565"/>
                <a:gd name="connsiteX14" fmla="*/ 98956 w 138053"/>
                <a:gd name="connsiteY14" fmla="*/ 0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8053" h="102565">
                  <a:moveTo>
                    <a:pt x="99302" y="345"/>
                  </a:moveTo>
                  <a:cubicBezTo>
                    <a:pt x="87884" y="345"/>
                    <a:pt x="77158" y="5871"/>
                    <a:pt x="70238" y="14850"/>
                  </a:cubicBezTo>
                  <a:lnTo>
                    <a:pt x="0" y="102566"/>
                  </a:lnTo>
                  <a:lnTo>
                    <a:pt x="35638" y="102566"/>
                  </a:lnTo>
                  <a:lnTo>
                    <a:pt x="93420" y="31426"/>
                  </a:lnTo>
                  <a:cubicBezTo>
                    <a:pt x="96188" y="27973"/>
                    <a:pt x="98264" y="26246"/>
                    <a:pt x="102762" y="26246"/>
                  </a:cubicBezTo>
                  <a:cubicBezTo>
                    <a:pt x="107260" y="26246"/>
                    <a:pt x="112450" y="31081"/>
                    <a:pt x="112450" y="36951"/>
                  </a:cubicBezTo>
                  <a:lnTo>
                    <a:pt x="112450" y="68032"/>
                  </a:lnTo>
                  <a:cubicBezTo>
                    <a:pt x="112450" y="72867"/>
                    <a:pt x="110028" y="77011"/>
                    <a:pt x="105184" y="77011"/>
                  </a:cubicBezTo>
                  <a:lnTo>
                    <a:pt x="97918" y="77011"/>
                  </a:lnTo>
                  <a:lnTo>
                    <a:pt x="97918" y="102566"/>
                  </a:lnTo>
                  <a:lnTo>
                    <a:pt x="138054" y="102566"/>
                  </a:lnTo>
                  <a:lnTo>
                    <a:pt x="138054" y="38333"/>
                  </a:lnTo>
                  <a:cubicBezTo>
                    <a:pt x="138054" y="33153"/>
                    <a:pt x="138054" y="0"/>
                    <a:pt x="98956" y="0"/>
                  </a:cubicBezTo>
                  <a:lnTo>
                    <a:pt x="98956" y="0"/>
                  </a:lnTo>
                  <a:close/>
                </a:path>
              </a:pathLst>
            </a:custGeom>
            <a:grpFill/>
            <a:ln w="3458" cap="flat">
              <a:noFill/>
              <a:prstDash val="solid"/>
              <a:miter/>
            </a:ln>
          </p:spPr>
          <p:txBody>
            <a:bodyPr rtlCol="0" anchor="ctr"/>
            <a:lstStyle/>
            <a:p>
              <a:endParaRPr lang="en-US" sz="1800"/>
            </a:p>
          </p:txBody>
        </p:sp>
        <p:sp>
          <p:nvSpPr>
            <p:cNvPr id="27" name="Freeform 26">
              <a:extLst>
                <a:ext uri="{FF2B5EF4-FFF2-40B4-BE49-F238E27FC236}">
                  <a16:creationId xmlns:a16="http://schemas.microsoft.com/office/drawing/2014/main" id="{C74F9271-3631-6865-D2F7-E351D3F925F7}"/>
                </a:ext>
              </a:extLst>
            </p:cNvPr>
            <p:cNvSpPr/>
            <p:nvPr/>
          </p:nvSpPr>
          <p:spPr>
            <a:xfrm>
              <a:off x="9480453" y="7685087"/>
              <a:ext cx="30793" cy="25555"/>
            </a:xfrm>
            <a:custGeom>
              <a:avLst/>
              <a:gdLst>
                <a:gd name="connsiteX0" fmla="*/ 30448 w 30793"/>
                <a:gd name="connsiteY0" fmla="*/ 0 h 25555"/>
                <a:gd name="connsiteX1" fmla="*/ 30448 w 30793"/>
                <a:gd name="connsiteY1" fmla="*/ 25555 h 25555"/>
                <a:gd name="connsiteX2" fmla="*/ 24912 w 30793"/>
                <a:gd name="connsiteY2" fmla="*/ 25555 h 25555"/>
                <a:gd name="connsiteX3" fmla="*/ 24912 w 30793"/>
                <a:gd name="connsiteY3" fmla="*/ 5180 h 25555"/>
                <a:gd name="connsiteX4" fmla="*/ 24912 w 30793"/>
                <a:gd name="connsiteY4" fmla="*/ 5180 h 25555"/>
                <a:gd name="connsiteX5" fmla="*/ 17646 w 30793"/>
                <a:gd name="connsiteY5" fmla="*/ 25555 h 25555"/>
                <a:gd name="connsiteX6" fmla="*/ 12802 w 30793"/>
                <a:gd name="connsiteY6" fmla="*/ 25555 h 25555"/>
                <a:gd name="connsiteX7" fmla="*/ 5536 w 30793"/>
                <a:gd name="connsiteY7" fmla="*/ 5180 h 25555"/>
                <a:gd name="connsiteX8" fmla="*/ 5536 w 30793"/>
                <a:gd name="connsiteY8" fmla="*/ 5180 h 25555"/>
                <a:gd name="connsiteX9" fmla="*/ 5536 w 30793"/>
                <a:gd name="connsiteY9" fmla="*/ 25555 h 25555"/>
                <a:gd name="connsiteX10" fmla="*/ 0 w 30793"/>
                <a:gd name="connsiteY10" fmla="*/ 25555 h 25555"/>
                <a:gd name="connsiteX11" fmla="*/ 0 w 30793"/>
                <a:gd name="connsiteY11" fmla="*/ 0 h 25555"/>
                <a:gd name="connsiteX12" fmla="*/ 9688 w 30793"/>
                <a:gd name="connsiteY12" fmla="*/ 0 h 25555"/>
                <a:gd name="connsiteX13" fmla="*/ 15570 w 30793"/>
                <a:gd name="connsiteY13" fmla="*/ 17267 h 25555"/>
                <a:gd name="connsiteX14" fmla="*/ 15570 w 30793"/>
                <a:gd name="connsiteY14" fmla="*/ 17267 h 25555"/>
                <a:gd name="connsiteX15" fmla="*/ 21798 w 30793"/>
                <a:gd name="connsiteY15" fmla="*/ 0 h 25555"/>
                <a:gd name="connsiteX16" fmla="*/ 30794 w 30793"/>
                <a:gd name="connsiteY16" fmla="*/ 0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793" h="25555">
                  <a:moveTo>
                    <a:pt x="30448" y="0"/>
                  </a:moveTo>
                  <a:lnTo>
                    <a:pt x="30448" y="25555"/>
                  </a:lnTo>
                  <a:lnTo>
                    <a:pt x="24912" y="25555"/>
                  </a:lnTo>
                  <a:lnTo>
                    <a:pt x="24912" y="5180"/>
                  </a:lnTo>
                  <a:lnTo>
                    <a:pt x="24912" y="5180"/>
                  </a:lnTo>
                  <a:lnTo>
                    <a:pt x="17646" y="25555"/>
                  </a:lnTo>
                  <a:lnTo>
                    <a:pt x="12802" y="25555"/>
                  </a:lnTo>
                  <a:lnTo>
                    <a:pt x="5536" y="5180"/>
                  </a:lnTo>
                  <a:lnTo>
                    <a:pt x="5536" y="5180"/>
                  </a:lnTo>
                  <a:lnTo>
                    <a:pt x="5536" y="25555"/>
                  </a:lnTo>
                  <a:lnTo>
                    <a:pt x="0" y="25555"/>
                  </a:lnTo>
                  <a:lnTo>
                    <a:pt x="0" y="0"/>
                  </a:lnTo>
                  <a:lnTo>
                    <a:pt x="9688" y="0"/>
                  </a:lnTo>
                  <a:lnTo>
                    <a:pt x="15570" y="17267"/>
                  </a:lnTo>
                  <a:lnTo>
                    <a:pt x="15570" y="17267"/>
                  </a:lnTo>
                  <a:lnTo>
                    <a:pt x="21798" y="0"/>
                  </a:lnTo>
                  <a:lnTo>
                    <a:pt x="30794" y="0"/>
                  </a:lnTo>
                  <a:close/>
                </a:path>
              </a:pathLst>
            </a:custGeom>
            <a:grpFill/>
            <a:ln w="3458" cap="flat">
              <a:noFill/>
              <a:prstDash val="solid"/>
              <a:miter/>
            </a:ln>
          </p:spPr>
          <p:txBody>
            <a:bodyPr rtlCol="0" anchor="ctr"/>
            <a:lstStyle/>
            <a:p>
              <a:endParaRPr lang="en-US" sz="1800"/>
            </a:p>
          </p:txBody>
        </p:sp>
        <p:sp>
          <p:nvSpPr>
            <p:cNvPr id="28" name="Freeform 27">
              <a:extLst>
                <a:ext uri="{FF2B5EF4-FFF2-40B4-BE49-F238E27FC236}">
                  <a16:creationId xmlns:a16="http://schemas.microsoft.com/office/drawing/2014/main" id="{233B5A73-7298-BCB6-4FC2-B66FC2889B5B}"/>
                </a:ext>
              </a:extLst>
            </p:cNvPr>
            <p:cNvSpPr/>
            <p:nvPr/>
          </p:nvSpPr>
          <p:spPr>
            <a:xfrm>
              <a:off x="9453811" y="7685087"/>
              <a:ext cx="21451" cy="25555"/>
            </a:xfrm>
            <a:custGeom>
              <a:avLst/>
              <a:gdLst>
                <a:gd name="connsiteX0" fmla="*/ 13840 w 21451"/>
                <a:gd name="connsiteY0" fmla="*/ 4835 h 25555"/>
                <a:gd name="connsiteX1" fmla="*/ 13840 w 21451"/>
                <a:gd name="connsiteY1" fmla="*/ 25555 h 25555"/>
                <a:gd name="connsiteX2" fmla="*/ 7958 w 21451"/>
                <a:gd name="connsiteY2" fmla="*/ 25555 h 25555"/>
                <a:gd name="connsiteX3" fmla="*/ 7958 w 21451"/>
                <a:gd name="connsiteY3" fmla="*/ 4835 h 25555"/>
                <a:gd name="connsiteX4" fmla="*/ 0 w 21451"/>
                <a:gd name="connsiteY4" fmla="*/ 4835 h 25555"/>
                <a:gd name="connsiteX5" fmla="*/ 0 w 21451"/>
                <a:gd name="connsiteY5" fmla="*/ 0 h 25555"/>
                <a:gd name="connsiteX6" fmla="*/ 21452 w 21451"/>
                <a:gd name="connsiteY6" fmla="*/ 0 h 25555"/>
                <a:gd name="connsiteX7" fmla="*/ 21452 w 21451"/>
                <a:gd name="connsiteY7" fmla="*/ 4835 h 25555"/>
                <a:gd name="connsiteX8" fmla="*/ 13494 w 21451"/>
                <a:gd name="connsiteY8" fmla="*/ 4835 h 25555"/>
                <a:gd name="connsiteX9" fmla="*/ 13494 w 21451"/>
                <a:gd name="connsiteY9" fmla="*/ 4835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451" h="25555">
                  <a:moveTo>
                    <a:pt x="13840" y="4835"/>
                  </a:moveTo>
                  <a:lnTo>
                    <a:pt x="13840" y="25555"/>
                  </a:lnTo>
                  <a:lnTo>
                    <a:pt x="7958" y="25555"/>
                  </a:lnTo>
                  <a:lnTo>
                    <a:pt x="7958" y="4835"/>
                  </a:lnTo>
                  <a:lnTo>
                    <a:pt x="0" y="4835"/>
                  </a:lnTo>
                  <a:lnTo>
                    <a:pt x="0" y="0"/>
                  </a:lnTo>
                  <a:lnTo>
                    <a:pt x="21452" y="0"/>
                  </a:lnTo>
                  <a:lnTo>
                    <a:pt x="21452" y="4835"/>
                  </a:lnTo>
                  <a:lnTo>
                    <a:pt x="13494" y="4835"/>
                  </a:lnTo>
                  <a:lnTo>
                    <a:pt x="13494" y="4835"/>
                  </a:lnTo>
                  <a:close/>
                </a:path>
              </a:pathLst>
            </a:custGeom>
            <a:grpFill/>
            <a:ln w="3458" cap="flat">
              <a:noFill/>
              <a:prstDash val="solid"/>
              <a:miter/>
            </a:ln>
          </p:spPr>
          <p:txBody>
            <a:bodyPr rtlCol="0" anchor="ctr"/>
            <a:lstStyle/>
            <a:p>
              <a:endParaRPr lang="en-US" sz="1800"/>
            </a:p>
          </p:txBody>
        </p:sp>
      </p:grpSp>
      <p:sp>
        <p:nvSpPr>
          <p:cNvPr id="29" name="name_2024 sandisk or its affiliates All rights reserved">
            <a:extLst>
              <a:ext uri="{FF2B5EF4-FFF2-40B4-BE49-F238E27FC236}">
                <a16:creationId xmlns:a16="http://schemas.microsoft.com/office/drawing/2014/main" id="{C55FD18D-6EF3-EFC4-7808-616EB60CDA44}"/>
              </a:ext>
            </a:extLst>
          </p:cNvPr>
          <p:cNvSpPr txBox="1"/>
          <p:nvPr/>
        </p:nvSpPr>
        <p:spPr>
          <a:xfrm>
            <a:off x="6096000" y="6437971"/>
            <a:ext cx="5803900"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b">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r" defTabSz="609412" hangingPunct="0">
              <a:lnSpc>
                <a:spcPct val="100000"/>
              </a:lnSpc>
            </a:pPr>
            <a:r>
              <a:rPr lang="en-US" sz="1000" b="0" i="0" kern="0" spc="0" baseline="0">
                <a:solidFill>
                  <a:schemeClr val="tx2"/>
                </a:solidFill>
                <a:latin typeface="NB Architekt Pro Neue" panose="02010509020201040001" pitchFamily="49" charset="77"/>
                <a:cs typeface="Consolas" panose="020B0609020204030204" pitchFamily="49" charset="0"/>
              </a:rPr>
              <a:t>©2025 SANDISK CORPORATION OR ITS AFFILIATES ALL RIGHTS RESERVED</a:t>
            </a:r>
          </a:p>
        </p:txBody>
      </p:sp>
    </p:spTree>
    <p:extLst>
      <p:ext uri="{BB962C8B-B14F-4D97-AF65-F5344CB8AC3E}">
        <p14:creationId xmlns:p14="http://schemas.microsoft.com/office/powerpoint/2010/main" val="2323302959"/>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Black">
    <p:bg>
      <p:bgPr>
        <a:solidFill>
          <a:schemeClr val="tx1"/>
        </a:solidFill>
        <a:effectLst/>
      </p:bgPr>
    </p:bg>
    <p:spTree>
      <p:nvGrpSpPr>
        <p:cNvPr id="1" name=""/>
        <p:cNvGrpSpPr/>
        <p:nvPr/>
      </p:nvGrpSpPr>
      <p:grpSpPr>
        <a:xfrm>
          <a:off x="0" y="0"/>
          <a:ext cx="0" cy="0"/>
          <a:chOff x="0" y="0"/>
          <a:chExt cx="0" cy="0"/>
        </a:xfrm>
      </p:grpSpPr>
      <p:sp>
        <p:nvSpPr>
          <p:cNvPr id="26" name="name_2024 sandisk or its affiliates All rights reserved">
            <a:extLst>
              <a:ext uri="{FF2B5EF4-FFF2-40B4-BE49-F238E27FC236}">
                <a16:creationId xmlns:a16="http://schemas.microsoft.com/office/drawing/2014/main" id="{F1C30B8C-09B7-CB1F-882E-B241F15B0D76}"/>
              </a:ext>
            </a:extLst>
          </p:cNvPr>
          <p:cNvSpPr txBox="1"/>
          <p:nvPr/>
        </p:nvSpPr>
        <p:spPr>
          <a:xfrm>
            <a:off x="8997951" y="267518"/>
            <a:ext cx="2242276"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bg1"/>
                </a:solidFill>
                <a:latin typeface="NB Architekt Pro Neue" panose="02010509020201040001" pitchFamily="49" charset="77"/>
                <a:cs typeface="Consolas" panose="020B0609020204030204" pitchFamily="49" charset="0"/>
              </a:rPr>
              <a:t>“START” “REPEAT” “1988/2025”</a:t>
            </a:r>
          </a:p>
        </p:txBody>
      </p:sp>
      <p:sp>
        <p:nvSpPr>
          <p:cNvPr id="47" name="Rectangle 46">
            <a:extLst>
              <a:ext uri="{FF2B5EF4-FFF2-40B4-BE49-F238E27FC236}">
                <a16:creationId xmlns:a16="http://schemas.microsoft.com/office/drawing/2014/main" id="{57EC5504-A4FE-358D-16CC-2AB47CBBF1A3}"/>
              </a:ext>
            </a:extLst>
          </p:cNvPr>
          <p:cNvSpPr/>
          <p:nvPr/>
        </p:nvSpPr>
        <p:spPr>
          <a:xfrm>
            <a:off x="11808843" y="296581"/>
            <a:ext cx="91057" cy="9105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0" name="Slide Number Placeholder 5">
            <a:extLst>
              <a:ext uri="{FF2B5EF4-FFF2-40B4-BE49-F238E27FC236}">
                <a16:creationId xmlns:a16="http://schemas.microsoft.com/office/drawing/2014/main" id="{7C3FB967-F059-B832-9329-449B18F9D4BF}"/>
              </a:ext>
            </a:extLst>
          </p:cNvPr>
          <p:cNvSpPr>
            <a:spLocks noGrp="1"/>
          </p:cNvSpPr>
          <p:nvPr>
            <p:ph type="sldNum" sz="quarter" idx="4"/>
          </p:nvPr>
        </p:nvSpPr>
        <p:spPr>
          <a:xfrm>
            <a:off x="3194050" y="6455472"/>
            <a:ext cx="855221" cy="118872"/>
          </a:xfrm>
          <a:prstGeom prst="rect">
            <a:avLst/>
          </a:prstGeom>
        </p:spPr>
        <p:txBody>
          <a:bodyPr vert="horz" lIns="0" tIns="0" rIns="0" bIns="0" rtlCol="0" anchor="ctr"/>
          <a:lstStyle>
            <a:lvl1pPr algn="l">
              <a:defRPr sz="1000" b="0" i="0" spc="0" baseline="0">
                <a:solidFill>
                  <a:schemeClr val="bg1"/>
                </a:solidFill>
                <a:latin typeface="NB Architekt Pro Neue" panose="02010509020201040001" pitchFamily="49" charset="77"/>
                <a:cs typeface="Consolas" panose="020B0609020204030204" pitchFamily="49" charset="0"/>
              </a:defRPr>
            </a:lvl1pPr>
          </a:lstStyle>
          <a:p>
            <a:r>
              <a:rPr lang="en-US"/>
              <a:t>00.0</a:t>
            </a:r>
            <a:fld id="{4571BA12-316B-0A40-BB3D-1A8CDD33E9E5}" type="slidenum">
              <a:rPr lang="en-US" smtClean="0"/>
              <a:pPr/>
              <a:t>‹#›</a:t>
            </a:fld>
            <a:endParaRPr lang="en-US"/>
          </a:p>
        </p:txBody>
      </p:sp>
      <p:sp>
        <p:nvSpPr>
          <p:cNvPr id="11" name="Content Placeholder 8">
            <a:extLst>
              <a:ext uri="{FF2B5EF4-FFF2-40B4-BE49-F238E27FC236}">
                <a16:creationId xmlns:a16="http://schemas.microsoft.com/office/drawing/2014/main" id="{76A3CD95-5E94-5493-1AC6-2262A0D82CF9}"/>
              </a:ext>
            </a:extLst>
          </p:cNvPr>
          <p:cNvSpPr>
            <a:spLocks noGrp="1"/>
          </p:cNvSpPr>
          <p:nvPr>
            <p:ph sz="quarter" idx="11" hasCustomPrompt="1"/>
          </p:nvPr>
        </p:nvSpPr>
        <p:spPr>
          <a:xfrm>
            <a:off x="292099" y="2284930"/>
            <a:ext cx="11607801" cy="3885745"/>
          </a:xfrm>
          <a:prstGeom prst="rect">
            <a:avLst/>
          </a:prstGeom>
        </p:spPr>
        <p:txBody>
          <a:bodyPr lIns="0" bIns="0">
            <a:noAutofit/>
          </a:bodyPr>
          <a:lstStyle>
            <a:lvl1pPr marL="292608" indent="-292608">
              <a:lnSpc>
                <a:spcPct val="100000"/>
              </a:lnSpc>
              <a:spcBef>
                <a:spcPts val="0"/>
              </a:spcBef>
              <a:spcAft>
                <a:spcPts val="1000"/>
              </a:spcAft>
              <a:buClrTx/>
              <a:buSzPct val="100000"/>
              <a:buFont typeface="Pilat Regular" panose="020B0604020202020204" pitchFamily="34" charset="0"/>
              <a:buChar char="•"/>
              <a:defRPr sz="2000" spc="0">
                <a:solidFill>
                  <a:schemeClr val="bg1"/>
                </a:solidFill>
              </a:defRPr>
            </a:lvl1pPr>
            <a:lvl2pPr marL="585216" indent="-292608">
              <a:lnSpc>
                <a:spcPct val="100000"/>
              </a:lnSpc>
              <a:spcBef>
                <a:spcPts val="0"/>
              </a:spcBef>
              <a:spcAft>
                <a:spcPts val="1000"/>
              </a:spcAft>
              <a:buClrTx/>
              <a:buSzPct val="100000"/>
              <a:buFont typeface="Pilat Regular" panose="020B0604020202020204" pitchFamily="34" charset="0"/>
              <a:buChar char="•"/>
              <a:defRPr sz="2000" spc="0">
                <a:solidFill>
                  <a:schemeClr val="bg1"/>
                </a:solidFill>
              </a:defRPr>
            </a:lvl2pPr>
            <a:lvl3pPr marL="877824" indent="-292608">
              <a:lnSpc>
                <a:spcPct val="100000"/>
              </a:lnSpc>
              <a:spcBef>
                <a:spcPts val="0"/>
              </a:spcBef>
              <a:spcAft>
                <a:spcPts val="1000"/>
              </a:spcAft>
              <a:buClrTx/>
              <a:buSzPct val="100000"/>
              <a:buFont typeface="Pilat Regular" panose="020B0604020202020204" pitchFamily="34" charset="0"/>
              <a:buChar char="•"/>
              <a:defRPr sz="2000" spc="0">
                <a:solidFill>
                  <a:schemeClr val="bg1"/>
                </a:solidFill>
              </a:defRPr>
            </a:lvl3pPr>
            <a:lvl4pPr marL="1170432" indent="-292608">
              <a:lnSpc>
                <a:spcPct val="100000"/>
              </a:lnSpc>
              <a:spcBef>
                <a:spcPts val="0"/>
              </a:spcBef>
              <a:spcAft>
                <a:spcPts val="1000"/>
              </a:spcAft>
              <a:buClrTx/>
              <a:buSzPct val="100000"/>
              <a:buFont typeface="Pilat Regular" panose="020B0604020202020204" pitchFamily="34" charset="0"/>
              <a:buChar char="•"/>
              <a:defRPr sz="2000" spc="0">
                <a:solidFill>
                  <a:schemeClr val="bg1"/>
                </a:solidFill>
              </a:defRPr>
            </a:lvl4pPr>
            <a:lvl5pPr marL="1463040" indent="-292608">
              <a:lnSpc>
                <a:spcPct val="100000"/>
              </a:lnSpc>
              <a:spcBef>
                <a:spcPts val="0"/>
              </a:spcBef>
              <a:spcAft>
                <a:spcPts val="1000"/>
              </a:spcAft>
              <a:buClrTx/>
              <a:buSzPct val="100000"/>
              <a:buFont typeface="Pilat Regular" panose="020B0604020202020204" pitchFamily="34" charset="0"/>
              <a:buChar char="•"/>
              <a:defRPr sz="2000" spc="0">
                <a:solidFill>
                  <a:schemeClr val="bg1"/>
                </a:solidFill>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5" name="name_2024 sandisk or its affiliates All rights reserved">
            <a:extLst>
              <a:ext uri="{FF2B5EF4-FFF2-40B4-BE49-F238E27FC236}">
                <a16:creationId xmlns:a16="http://schemas.microsoft.com/office/drawing/2014/main" id="{F581B636-B459-2929-A363-54D06D37B58B}"/>
              </a:ext>
            </a:extLst>
          </p:cNvPr>
          <p:cNvSpPr txBox="1"/>
          <p:nvPr/>
        </p:nvSpPr>
        <p:spPr>
          <a:xfrm>
            <a:off x="292100" y="267518"/>
            <a:ext cx="1323975"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bg1"/>
                </a:solidFill>
                <a:latin typeface="NB Architekt Pro Neue" panose="02010509020201040001" pitchFamily="49" charset="77"/>
                <a:cs typeface="Consolas" panose="020B0609020204030204" pitchFamily="49" charset="0"/>
              </a:rPr>
              <a:t>[Confidential]</a:t>
            </a:r>
          </a:p>
        </p:txBody>
      </p:sp>
      <p:grpSp>
        <p:nvGrpSpPr>
          <p:cNvPr id="6" name="Group 5">
            <a:extLst>
              <a:ext uri="{FF2B5EF4-FFF2-40B4-BE49-F238E27FC236}">
                <a16:creationId xmlns:a16="http://schemas.microsoft.com/office/drawing/2014/main" id="{E4F44B77-C5A1-C494-9BFB-EB17CDA4CCC2}"/>
              </a:ext>
            </a:extLst>
          </p:cNvPr>
          <p:cNvGrpSpPr>
            <a:grpSpLocks noChangeAspect="1"/>
          </p:cNvGrpSpPr>
          <p:nvPr/>
        </p:nvGrpSpPr>
        <p:grpSpPr>
          <a:xfrm>
            <a:off x="297027" y="6344485"/>
            <a:ext cx="2240280" cy="218081"/>
            <a:chOff x="8480170" y="7684742"/>
            <a:chExt cx="1031076" cy="102566"/>
          </a:xfrm>
          <a:solidFill>
            <a:schemeClr val="accent3"/>
          </a:solidFill>
        </p:grpSpPr>
        <p:sp>
          <p:nvSpPr>
            <p:cNvPr id="7" name="Freeform 6">
              <a:extLst>
                <a:ext uri="{FF2B5EF4-FFF2-40B4-BE49-F238E27FC236}">
                  <a16:creationId xmlns:a16="http://schemas.microsoft.com/office/drawing/2014/main" id="{CCC996D1-71B7-72A7-6032-4AA0A32FC339}"/>
                </a:ext>
              </a:extLst>
            </p:cNvPr>
            <p:cNvSpPr/>
            <p:nvPr/>
          </p:nvSpPr>
          <p:spPr>
            <a:xfrm>
              <a:off x="8788109" y="7684742"/>
              <a:ext cx="128019" cy="102565"/>
            </a:xfrm>
            <a:custGeom>
              <a:avLst/>
              <a:gdLst>
                <a:gd name="connsiteX0" fmla="*/ 102070 w 128019"/>
                <a:gd name="connsiteY0" fmla="*/ 70104 h 102565"/>
                <a:gd name="connsiteX1" fmla="*/ 96188 w 128019"/>
                <a:gd name="connsiteY1" fmla="*/ 77011 h 102565"/>
                <a:gd name="connsiteX2" fmla="*/ 89268 w 128019"/>
                <a:gd name="connsiteY2" fmla="*/ 72521 h 102565"/>
                <a:gd name="connsiteX3" fmla="*/ 65740 w 128019"/>
                <a:gd name="connsiteY3" fmla="*/ 8288 h 102565"/>
                <a:gd name="connsiteX4" fmla="*/ 54668 w 128019"/>
                <a:gd name="connsiteY4" fmla="*/ 0 h 102565"/>
                <a:gd name="connsiteX5" fmla="*/ 0 w 128019"/>
                <a:gd name="connsiteY5" fmla="*/ 0 h 102565"/>
                <a:gd name="connsiteX6" fmla="*/ 0 w 128019"/>
                <a:gd name="connsiteY6" fmla="*/ 102221 h 102565"/>
                <a:gd name="connsiteX7" fmla="*/ 40136 w 128019"/>
                <a:gd name="connsiteY7" fmla="*/ 102221 h 102565"/>
                <a:gd name="connsiteX8" fmla="*/ 40136 w 128019"/>
                <a:gd name="connsiteY8" fmla="*/ 76665 h 102565"/>
                <a:gd name="connsiteX9" fmla="*/ 32870 w 128019"/>
                <a:gd name="connsiteY9" fmla="*/ 76665 h 102565"/>
                <a:gd name="connsiteX10" fmla="*/ 25604 w 128019"/>
                <a:gd name="connsiteY10" fmla="*/ 67687 h 102565"/>
                <a:gd name="connsiteX11" fmla="*/ 25604 w 128019"/>
                <a:gd name="connsiteY11" fmla="*/ 36951 h 102565"/>
                <a:gd name="connsiteX12" fmla="*/ 39790 w 128019"/>
                <a:gd name="connsiteY12" fmla="*/ 26591 h 102565"/>
                <a:gd name="connsiteX13" fmla="*/ 45672 w 128019"/>
                <a:gd name="connsiteY13" fmla="*/ 32807 h 102565"/>
                <a:gd name="connsiteX14" fmla="*/ 64356 w 128019"/>
                <a:gd name="connsiteY14" fmla="*/ 81500 h 102565"/>
                <a:gd name="connsiteX15" fmla="*/ 95150 w 128019"/>
                <a:gd name="connsiteY15" fmla="*/ 102566 h 102565"/>
                <a:gd name="connsiteX16" fmla="*/ 95842 w 128019"/>
                <a:gd name="connsiteY16" fmla="*/ 102566 h 102565"/>
                <a:gd name="connsiteX17" fmla="*/ 128020 w 128019"/>
                <a:gd name="connsiteY17" fmla="*/ 70795 h 102565"/>
                <a:gd name="connsiteX18" fmla="*/ 128020 w 128019"/>
                <a:gd name="connsiteY18" fmla="*/ 345 h 102565"/>
                <a:gd name="connsiteX19" fmla="*/ 102416 w 128019"/>
                <a:gd name="connsiteY19" fmla="*/ 345 h 102565"/>
                <a:gd name="connsiteX20" fmla="*/ 102416 w 128019"/>
                <a:gd name="connsiteY20" fmla="*/ 70104 h 102565"/>
                <a:gd name="connsiteX21" fmla="*/ 102416 w 128019"/>
                <a:gd name="connsiteY21" fmla="*/ 70104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8019" h="102565">
                  <a:moveTo>
                    <a:pt x="102070" y="70104"/>
                  </a:moveTo>
                  <a:cubicBezTo>
                    <a:pt x="102070" y="73557"/>
                    <a:pt x="99648" y="76665"/>
                    <a:pt x="96188" y="77011"/>
                  </a:cubicBezTo>
                  <a:cubicBezTo>
                    <a:pt x="93074" y="77356"/>
                    <a:pt x="90306" y="75629"/>
                    <a:pt x="89268" y="72521"/>
                  </a:cubicBezTo>
                  <a:lnTo>
                    <a:pt x="65740" y="8288"/>
                  </a:lnTo>
                  <a:cubicBezTo>
                    <a:pt x="64010" y="3108"/>
                    <a:pt x="59858" y="0"/>
                    <a:pt x="54668" y="0"/>
                  </a:cubicBezTo>
                  <a:lnTo>
                    <a:pt x="0" y="0"/>
                  </a:lnTo>
                  <a:lnTo>
                    <a:pt x="0" y="102221"/>
                  </a:lnTo>
                  <a:lnTo>
                    <a:pt x="40136" y="102221"/>
                  </a:lnTo>
                  <a:lnTo>
                    <a:pt x="40136" y="76665"/>
                  </a:lnTo>
                  <a:lnTo>
                    <a:pt x="32870" y="76665"/>
                  </a:lnTo>
                  <a:cubicBezTo>
                    <a:pt x="28026" y="76665"/>
                    <a:pt x="25604" y="72521"/>
                    <a:pt x="25604" y="67687"/>
                  </a:cubicBezTo>
                  <a:lnTo>
                    <a:pt x="25604" y="36951"/>
                  </a:lnTo>
                  <a:cubicBezTo>
                    <a:pt x="25604" y="29354"/>
                    <a:pt x="32870" y="23828"/>
                    <a:pt x="39790" y="26591"/>
                  </a:cubicBezTo>
                  <a:cubicBezTo>
                    <a:pt x="42212" y="27627"/>
                    <a:pt x="44634" y="30045"/>
                    <a:pt x="45672" y="32807"/>
                  </a:cubicBezTo>
                  <a:lnTo>
                    <a:pt x="64356" y="81500"/>
                  </a:lnTo>
                  <a:cubicBezTo>
                    <a:pt x="69200" y="94278"/>
                    <a:pt x="81310" y="102566"/>
                    <a:pt x="95150" y="102566"/>
                  </a:cubicBezTo>
                  <a:lnTo>
                    <a:pt x="95842" y="102566"/>
                  </a:lnTo>
                  <a:cubicBezTo>
                    <a:pt x="113488" y="102566"/>
                    <a:pt x="128020" y="88407"/>
                    <a:pt x="128020" y="70795"/>
                  </a:cubicBezTo>
                  <a:lnTo>
                    <a:pt x="128020" y="345"/>
                  </a:lnTo>
                  <a:lnTo>
                    <a:pt x="102416" y="345"/>
                  </a:lnTo>
                  <a:lnTo>
                    <a:pt x="102416" y="70104"/>
                  </a:lnTo>
                  <a:lnTo>
                    <a:pt x="102416" y="70104"/>
                  </a:lnTo>
                  <a:close/>
                </a:path>
              </a:pathLst>
            </a:custGeom>
            <a:grpFill/>
            <a:ln w="3458" cap="flat">
              <a:noFill/>
              <a:prstDash val="solid"/>
              <a:miter/>
            </a:ln>
          </p:spPr>
          <p:txBody>
            <a:bodyPr rtlCol="0" anchor="ctr"/>
            <a:lstStyle/>
            <a:p>
              <a:endParaRPr lang="en-US" sz="1800"/>
            </a:p>
          </p:txBody>
        </p:sp>
        <p:sp>
          <p:nvSpPr>
            <p:cNvPr id="8" name="Freeform 7">
              <a:extLst>
                <a:ext uri="{FF2B5EF4-FFF2-40B4-BE49-F238E27FC236}">
                  <a16:creationId xmlns:a16="http://schemas.microsoft.com/office/drawing/2014/main" id="{E44C1E13-DBE3-A4BC-F252-4465BF7F2AED}"/>
                </a:ext>
              </a:extLst>
            </p:cNvPr>
            <p:cNvSpPr/>
            <p:nvPr/>
          </p:nvSpPr>
          <p:spPr>
            <a:xfrm>
              <a:off x="8941733" y="7685087"/>
              <a:ext cx="128019" cy="102220"/>
            </a:xfrm>
            <a:custGeom>
              <a:avLst/>
              <a:gdLst>
                <a:gd name="connsiteX0" fmla="*/ 76812 w 128019"/>
                <a:gd name="connsiteY0" fmla="*/ 0 h 102220"/>
                <a:gd name="connsiteX1" fmla="*/ 0 w 128019"/>
                <a:gd name="connsiteY1" fmla="*/ 0 h 102220"/>
                <a:gd name="connsiteX2" fmla="*/ 0 w 128019"/>
                <a:gd name="connsiteY2" fmla="*/ 25555 h 102220"/>
                <a:gd name="connsiteX3" fmla="*/ 76812 w 128019"/>
                <a:gd name="connsiteY3" fmla="*/ 25555 h 102220"/>
                <a:gd name="connsiteX4" fmla="*/ 102416 w 128019"/>
                <a:gd name="connsiteY4" fmla="*/ 51110 h 102220"/>
                <a:gd name="connsiteX5" fmla="*/ 76812 w 128019"/>
                <a:gd name="connsiteY5" fmla="*/ 76665 h 102220"/>
                <a:gd name="connsiteX6" fmla="*/ 0 w 128019"/>
                <a:gd name="connsiteY6" fmla="*/ 76665 h 102220"/>
                <a:gd name="connsiteX7" fmla="*/ 0 w 128019"/>
                <a:gd name="connsiteY7" fmla="*/ 102221 h 102220"/>
                <a:gd name="connsiteX8" fmla="*/ 76812 w 128019"/>
                <a:gd name="connsiteY8" fmla="*/ 102221 h 102220"/>
                <a:gd name="connsiteX9" fmla="*/ 121792 w 128019"/>
                <a:gd name="connsiteY9" fmla="*/ 75629 h 102220"/>
                <a:gd name="connsiteX10" fmla="*/ 128020 w 128019"/>
                <a:gd name="connsiteY10" fmla="*/ 51110 h 102220"/>
                <a:gd name="connsiteX11" fmla="*/ 121792 w 128019"/>
                <a:gd name="connsiteY11" fmla="*/ 26591 h 102220"/>
                <a:gd name="connsiteX12" fmla="*/ 76812 w 128019"/>
                <a:gd name="connsiteY12" fmla="*/ 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8019" h="102220">
                  <a:moveTo>
                    <a:pt x="76812" y="0"/>
                  </a:moveTo>
                  <a:lnTo>
                    <a:pt x="0" y="0"/>
                  </a:lnTo>
                  <a:lnTo>
                    <a:pt x="0" y="25555"/>
                  </a:lnTo>
                  <a:lnTo>
                    <a:pt x="76812" y="25555"/>
                  </a:lnTo>
                  <a:cubicBezTo>
                    <a:pt x="90306" y="25555"/>
                    <a:pt x="102416" y="37297"/>
                    <a:pt x="102416" y="51110"/>
                  </a:cubicBezTo>
                  <a:cubicBezTo>
                    <a:pt x="102416" y="64924"/>
                    <a:pt x="90652" y="76665"/>
                    <a:pt x="76812" y="76665"/>
                  </a:cubicBezTo>
                  <a:lnTo>
                    <a:pt x="0" y="76665"/>
                  </a:lnTo>
                  <a:lnTo>
                    <a:pt x="0" y="102221"/>
                  </a:lnTo>
                  <a:lnTo>
                    <a:pt x="76812" y="102221"/>
                  </a:lnTo>
                  <a:cubicBezTo>
                    <a:pt x="96188" y="102221"/>
                    <a:pt x="113142" y="91515"/>
                    <a:pt x="121792" y="75629"/>
                  </a:cubicBezTo>
                  <a:cubicBezTo>
                    <a:pt x="125598" y="68377"/>
                    <a:pt x="128020" y="59744"/>
                    <a:pt x="128020" y="51110"/>
                  </a:cubicBezTo>
                  <a:cubicBezTo>
                    <a:pt x="128020" y="42477"/>
                    <a:pt x="125598" y="33843"/>
                    <a:pt x="121792" y="26591"/>
                  </a:cubicBezTo>
                  <a:cubicBezTo>
                    <a:pt x="113142" y="10706"/>
                    <a:pt x="96188" y="0"/>
                    <a:pt x="76812" y="0"/>
                  </a:cubicBezTo>
                  <a:close/>
                </a:path>
              </a:pathLst>
            </a:custGeom>
            <a:grpFill/>
            <a:ln w="3458" cap="flat">
              <a:noFill/>
              <a:prstDash val="solid"/>
              <a:miter/>
            </a:ln>
          </p:spPr>
          <p:txBody>
            <a:bodyPr rtlCol="0" anchor="ctr"/>
            <a:lstStyle/>
            <a:p>
              <a:endParaRPr lang="en-US" sz="1800"/>
            </a:p>
          </p:txBody>
        </p:sp>
        <p:sp>
          <p:nvSpPr>
            <p:cNvPr id="9" name="Freeform 8">
              <a:extLst>
                <a:ext uri="{FF2B5EF4-FFF2-40B4-BE49-F238E27FC236}">
                  <a16:creationId xmlns:a16="http://schemas.microsoft.com/office/drawing/2014/main" id="{6EAC372B-7725-9E31-9B0D-6433A96793DC}"/>
                </a:ext>
              </a:extLst>
            </p:cNvPr>
            <p:cNvSpPr/>
            <p:nvPr/>
          </p:nvSpPr>
          <p:spPr>
            <a:xfrm>
              <a:off x="9080478" y="7685087"/>
              <a:ext cx="40481" cy="102220"/>
            </a:xfrm>
            <a:custGeom>
              <a:avLst/>
              <a:gdLst>
                <a:gd name="connsiteX0" fmla="*/ 5190 w 40481"/>
                <a:gd name="connsiteY0" fmla="*/ 25555 h 102220"/>
                <a:gd name="connsiteX1" fmla="*/ 7266 w 40481"/>
                <a:gd name="connsiteY1" fmla="*/ 25555 h 102220"/>
                <a:gd name="connsiteX2" fmla="*/ 14878 w 40481"/>
                <a:gd name="connsiteY2" fmla="*/ 35225 h 102220"/>
                <a:gd name="connsiteX3" fmla="*/ 14878 w 40481"/>
                <a:gd name="connsiteY3" fmla="*/ 102221 h 102220"/>
                <a:gd name="connsiteX4" fmla="*/ 40482 w 40481"/>
                <a:gd name="connsiteY4" fmla="*/ 102221 h 102220"/>
                <a:gd name="connsiteX5" fmla="*/ 40482 w 40481"/>
                <a:gd name="connsiteY5" fmla="*/ 0 h 102220"/>
                <a:gd name="connsiteX6" fmla="*/ 0 w 40481"/>
                <a:gd name="connsiteY6" fmla="*/ 0 h 102220"/>
                <a:gd name="connsiteX7" fmla="*/ 0 w 40481"/>
                <a:gd name="connsiteY7" fmla="*/ 25555 h 102220"/>
                <a:gd name="connsiteX8" fmla="*/ 5536 w 40481"/>
                <a:gd name="connsiteY8" fmla="*/ 25555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481" h="102220">
                  <a:moveTo>
                    <a:pt x="5190" y="25555"/>
                  </a:moveTo>
                  <a:cubicBezTo>
                    <a:pt x="5882" y="25555"/>
                    <a:pt x="6574" y="25555"/>
                    <a:pt x="7266" y="25555"/>
                  </a:cubicBezTo>
                  <a:cubicBezTo>
                    <a:pt x="12110" y="26246"/>
                    <a:pt x="14878" y="30045"/>
                    <a:pt x="14878" y="35225"/>
                  </a:cubicBezTo>
                  <a:lnTo>
                    <a:pt x="14878" y="102221"/>
                  </a:lnTo>
                  <a:lnTo>
                    <a:pt x="40482" y="102221"/>
                  </a:lnTo>
                  <a:lnTo>
                    <a:pt x="40482" y="0"/>
                  </a:lnTo>
                  <a:lnTo>
                    <a:pt x="0" y="0"/>
                  </a:lnTo>
                  <a:lnTo>
                    <a:pt x="0" y="25555"/>
                  </a:lnTo>
                  <a:lnTo>
                    <a:pt x="5536" y="25555"/>
                  </a:lnTo>
                  <a:close/>
                </a:path>
              </a:pathLst>
            </a:custGeom>
            <a:grpFill/>
            <a:ln w="3458" cap="flat">
              <a:noFill/>
              <a:prstDash val="solid"/>
              <a:miter/>
            </a:ln>
          </p:spPr>
          <p:txBody>
            <a:bodyPr rtlCol="0" anchor="ctr"/>
            <a:lstStyle/>
            <a:p>
              <a:endParaRPr lang="en-US" sz="1800"/>
            </a:p>
          </p:txBody>
        </p:sp>
        <p:sp>
          <p:nvSpPr>
            <p:cNvPr id="12" name="Freeform 11">
              <a:extLst>
                <a:ext uri="{FF2B5EF4-FFF2-40B4-BE49-F238E27FC236}">
                  <a16:creationId xmlns:a16="http://schemas.microsoft.com/office/drawing/2014/main" id="{B3FF67A0-AE2F-990E-27F7-E9C81F2B3C0D}"/>
                </a:ext>
              </a:extLst>
            </p:cNvPr>
            <p:cNvSpPr/>
            <p:nvPr/>
          </p:nvSpPr>
          <p:spPr>
            <a:xfrm>
              <a:off x="9146218" y="7685087"/>
              <a:ext cx="128365" cy="102220"/>
            </a:xfrm>
            <a:custGeom>
              <a:avLst/>
              <a:gdLst>
                <a:gd name="connsiteX0" fmla="*/ 128365 w 128365"/>
                <a:gd name="connsiteY0" fmla="*/ 81846 h 102220"/>
                <a:gd name="connsiteX1" fmla="*/ 128365 w 128365"/>
                <a:gd name="connsiteY1" fmla="*/ 102221 h 102220"/>
                <a:gd name="connsiteX2" fmla="*/ 19722 w 128365"/>
                <a:gd name="connsiteY2" fmla="*/ 60780 h 102220"/>
                <a:gd name="connsiteX3" fmla="*/ 0 w 128365"/>
                <a:gd name="connsiteY3" fmla="*/ 30735 h 102220"/>
                <a:gd name="connsiteX4" fmla="*/ 31140 w 128365"/>
                <a:gd name="connsiteY4" fmla="*/ 0 h 102220"/>
                <a:gd name="connsiteX5" fmla="*/ 128020 w 128365"/>
                <a:gd name="connsiteY5" fmla="*/ 0 h 102220"/>
                <a:gd name="connsiteX6" fmla="*/ 128020 w 128365"/>
                <a:gd name="connsiteY6" fmla="*/ 40059 h 102220"/>
                <a:gd name="connsiteX7" fmla="*/ 102416 w 128365"/>
                <a:gd name="connsiteY7" fmla="*/ 40059 h 102220"/>
                <a:gd name="connsiteX8" fmla="*/ 102416 w 128365"/>
                <a:gd name="connsiteY8" fmla="*/ 32807 h 102220"/>
                <a:gd name="connsiteX9" fmla="*/ 94458 w 128365"/>
                <a:gd name="connsiteY9" fmla="*/ 25555 h 102220"/>
                <a:gd name="connsiteX10" fmla="*/ 37714 w 128365"/>
                <a:gd name="connsiteY10" fmla="*/ 25555 h 102220"/>
                <a:gd name="connsiteX11" fmla="*/ 29756 w 128365"/>
                <a:gd name="connsiteY11" fmla="*/ 33498 h 102220"/>
                <a:gd name="connsiteX12" fmla="*/ 34946 w 128365"/>
                <a:gd name="connsiteY12" fmla="*/ 41095 h 102220"/>
                <a:gd name="connsiteX13" fmla="*/ 119370 w 128365"/>
                <a:gd name="connsiteY13" fmla="*/ 70795 h 102220"/>
                <a:gd name="connsiteX14" fmla="*/ 127674 w 128365"/>
                <a:gd name="connsiteY14"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8365" h="102220">
                  <a:moveTo>
                    <a:pt x="128365" y="81846"/>
                  </a:moveTo>
                  <a:lnTo>
                    <a:pt x="128365"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close/>
                </a:path>
              </a:pathLst>
            </a:custGeom>
            <a:grpFill/>
            <a:ln w="3458" cap="flat">
              <a:noFill/>
              <a:prstDash val="solid"/>
              <a:miter/>
            </a:ln>
          </p:spPr>
          <p:txBody>
            <a:bodyPr rtlCol="0" anchor="ctr"/>
            <a:lstStyle/>
            <a:p>
              <a:endParaRPr lang="en-US" sz="1800"/>
            </a:p>
          </p:txBody>
        </p:sp>
        <p:sp>
          <p:nvSpPr>
            <p:cNvPr id="13" name="Freeform 12">
              <a:extLst>
                <a:ext uri="{FF2B5EF4-FFF2-40B4-BE49-F238E27FC236}">
                  <a16:creationId xmlns:a16="http://schemas.microsoft.com/office/drawing/2014/main" id="{AF628014-89E0-F9A4-662F-C8354423B061}"/>
                </a:ext>
              </a:extLst>
            </p:cNvPr>
            <p:cNvSpPr/>
            <p:nvPr/>
          </p:nvSpPr>
          <p:spPr>
            <a:xfrm>
              <a:off x="9146564" y="7761753"/>
              <a:ext cx="25258" cy="25555"/>
            </a:xfrm>
            <a:custGeom>
              <a:avLst/>
              <a:gdLst>
                <a:gd name="connsiteX0" fmla="*/ 25258 w 25258"/>
                <a:gd name="connsiteY0" fmla="*/ 0 h 25555"/>
                <a:gd name="connsiteX1" fmla="*/ 0 w 25258"/>
                <a:gd name="connsiteY1" fmla="*/ 0 h 25555"/>
                <a:gd name="connsiteX2" fmla="*/ 0 w 25258"/>
                <a:gd name="connsiteY2" fmla="*/ 25555 h 25555"/>
                <a:gd name="connsiteX3" fmla="*/ 25258 w 25258"/>
                <a:gd name="connsiteY3" fmla="*/ 25555 h 25555"/>
                <a:gd name="connsiteX4" fmla="*/ 25258 w 25258"/>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8"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14" name="Freeform 13">
              <a:extLst>
                <a:ext uri="{FF2B5EF4-FFF2-40B4-BE49-F238E27FC236}">
                  <a16:creationId xmlns:a16="http://schemas.microsoft.com/office/drawing/2014/main" id="{C2C86CD2-4F4D-C6A9-7142-E1C777C90A35}"/>
                </a:ext>
              </a:extLst>
            </p:cNvPr>
            <p:cNvSpPr/>
            <p:nvPr/>
          </p:nvSpPr>
          <p:spPr>
            <a:xfrm>
              <a:off x="8480170" y="7685087"/>
              <a:ext cx="128019" cy="102220"/>
            </a:xfrm>
            <a:custGeom>
              <a:avLst/>
              <a:gdLst>
                <a:gd name="connsiteX0" fmla="*/ 128020 w 128019"/>
                <a:gd name="connsiteY0" fmla="*/ 81846 h 102220"/>
                <a:gd name="connsiteX1" fmla="*/ 128020 w 128019"/>
                <a:gd name="connsiteY1" fmla="*/ 102221 h 102220"/>
                <a:gd name="connsiteX2" fmla="*/ 19722 w 128019"/>
                <a:gd name="connsiteY2" fmla="*/ 60780 h 102220"/>
                <a:gd name="connsiteX3" fmla="*/ 0 w 128019"/>
                <a:gd name="connsiteY3" fmla="*/ 30735 h 102220"/>
                <a:gd name="connsiteX4" fmla="*/ 31140 w 128019"/>
                <a:gd name="connsiteY4" fmla="*/ 0 h 102220"/>
                <a:gd name="connsiteX5" fmla="*/ 128020 w 128019"/>
                <a:gd name="connsiteY5" fmla="*/ 0 h 102220"/>
                <a:gd name="connsiteX6" fmla="*/ 128020 w 128019"/>
                <a:gd name="connsiteY6" fmla="*/ 40059 h 102220"/>
                <a:gd name="connsiteX7" fmla="*/ 102416 w 128019"/>
                <a:gd name="connsiteY7" fmla="*/ 40059 h 102220"/>
                <a:gd name="connsiteX8" fmla="*/ 102416 w 128019"/>
                <a:gd name="connsiteY8" fmla="*/ 32807 h 102220"/>
                <a:gd name="connsiteX9" fmla="*/ 94458 w 128019"/>
                <a:gd name="connsiteY9" fmla="*/ 25555 h 102220"/>
                <a:gd name="connsiteX10" fmla="*/ 37714 w 128019"/>
                <a:gd name="connsiteY10" fmla="*/ 25555 h 102220"/>
                <a:gd name="connsiteX11" fmla="*/ 29756 w 128019"/>
                <a:gd name="connsiteY11" fmla="*/ 33498 h 102220"/>
                <a:gd name="connsiteX12" fmla="*/ 34946 w 128019"/>
                <a:gd name="connsiteY12" fmla="*/ 41095 h 102220"/>
                <a:gd name="connsiteX13" fmla="*/ 119370 w 128019"/>
                <a:gd name="connsiteY13" fmla="*/ 70795 h 102220"/>
                <a:gd name="connsiteX14" fmla="*/ 127674 w 128019"/>
                <a:gd name="connsiteY14" fmla="*/ 81846 h 102220"/>
                <a:gd name="connsiteX15" fmla="*/ 127674 w 128019"/>
                <a:gd name="connsiteY15"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8019" h="102220">
                  <a:moveTo>
                    <a:pt x="128020" y="81846"/>
                  </a:moveTo>
                  <a:lnTo>
                    <a:pt x="128020"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lnTo>
                    <a:pt x="127674" y="81846"/>
                  </a:lnTo>
                  <a:close/>
                </a:path>
              </a:pathLst>
            </a:custGeom>
            <a:grpFill/>
            <a:ln w="3458" cap="flat">
              <a:noFill/>
              <a:prstDash val="solid"/>
              <a:miter/>
            </a:ln>
          </p:spPr>
          <p:txBody>
            <a:bodyPr rtlCol="0" anchor="ctr"/>
            <a:lstStyle/>
            <a:p>
              <a:endParaRPr lang="en-US" sz="1800"/>
            </a:p>
          </p:txBody>
        </p:sp>
        <p:sp>
          <p:nvSpPr>
            <p:cNvPr id="15" name="Freeform 14">
              <a:extLst>
                <a:ext uri="{FF2B5EF4-FFF2-40B4-BE49-F238E27FC236}">
                  <a16:creationId xmlns:a16="http://schemas.microsoft.com/office/drawing/2014/main" id="{4E0AD7FA-45FE-1405-0EB6-406C8414558B}"/>
                </a:ext>
              </a:extLst>
            </p:cNvPr>
            <p:cNvSpPr/>
            <p:nvPr/>
          </p:nvSpPr>
          <p:spPr>
            <a:xfrm>
              <a:off x="8480516" y="7761753"/>
              <a:ext cx="25257" cy="25555"/>
            </a:xfrm>
            <a:custGeom>
              <a:avLst/>
              <a:gdLst>
                <a:gd name="connsiteX0" fmla="*/ 25258 w 25257"/>
                <a:gd name="connsiteY0" fmla="*/ 0 h 25555"/>
                <a:gd name="connsiteX1" fmla="*/ 0 w 25257"/>
                <a:gd name="connsiteY1" fmla="*/ 0 h 25555"/>
                <a:gd name="connsiteX2" fmla="*/ 0 w 25257"/>
                <a:gd name="connsiteY2" fmla="*/ 25555 h 25555"/>
                <a:gd name="connsiteX3" fmla="*/ 25258 w 25257"/>
                <a:gd name="connsiteY3" fmla="*/ 25555 h 25555"/>
                <a:gd name="connsiteX4" fmla="*/ 25258 w 25257"/>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7"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16" name="Freeform 15">
              <a:extLst>
                <a:ext uri="{FF2B5EF4-FFF2-40B4-BE49-F238E27FC236}">
                  <a16:creationId xmlns:a16="http://schemas.microsoft.com/office/drawing/2014/main" id="{3CB2B4A3-8B6C-7475-644B-7A5E557BF3F9}"/>
                </a:ext>
              </a:extLst>
            </p:cNvPr>
            <p:cNvSpPr/>
            <p:nvPr/>
          </p:nvSpPr>
          <p:spPr>
            <a:xfrm>
              <a:off x="9300533" y="7685087"/>
              <a:ext cx="128019" cy="102220"/>
            </a:xfrm>
            <a:custGeom>
              <a:avLst/>
              <a:gdLst>
                <a:gd name="connsiteX0" fmla="*/ 128020 w 128019"/>
                <a:gd name="connsiteY0" fmla="*/ 25555 h 102220"/>
                <a:gd name="connsiteX1" fmla="*/ 128020 w 128019"/>
                <a:gd name="connsiteY1" fmla="*/ 0 h 102220"/>
                <a:gd name="connsiteX2" fmla="*/ 105530 w 128019"/>
                <a:gd name="connsiteY2" fmla="*/ 0 h 102220"/>
                <a:gd name="connsiteX3" fmla="*/ 100686 w 128019"/>
                <a:gd name="connsiteY3" fmla="*/ 1727 h 102220"/>
                <a:gd name="connsiteX4" fmla="*/ 60550 w 128019"/>
                <a:gd name="connsiteY4" fmla="*/ 37987 h 102220"/>
                <a:gd name="connsiteX5" fmla="*/ 56398 w 128019"/>
                <a:gd name="connsiteY5" fmla="*/ 39714 h 102220"/>
                <a:gd name="connsiteX6" fmla="*/ 28372 w 128019"/>
                <a:gd name="connsiteY6" fmla="*/ 39714 h 102220"/>
                <a:gd name="connsiteX7" fmla="*/ 25258 w 128019"/>
                <a:gd name="connsiteY7" fmla="*/ 36606 h 102220"/>
                <a:gd name="connsiteX8" fmla="*/ 25258 w 128019"/>
                <a:gd name="connsiteY8" fmla="*/ 0 h 102220"/>
                <a:gd name="connsiteX9" fmla="*/ 0 w 128019"/>
                <a:gd name="connsiteY9" fmla="*/ 0 h 102220"/>
                <a:gd name="connsiteX10" fmla="*/ 0 w 128019"/>
                <a:gd name="connsiteY10" fmla="*/ 102221 h 102220"/>
                <a:gd name="connsiteX11" fmla="*/ 25258 w 128019"/>
                <a:gd name="connsiteY11" fmla="*/ 102221 h 102220"/>
                <a:gd name="connsiteX12" fmla="*/ 25258 w 128019"/>
                <a:gd name="connsiteY12" fmla="*/ 65615 h 102220"/>
                <a:gd name="connsiteX13" fmla="*/ 28372 w 128019"/>
                <a:gd name="connsiteY13" fmla="*/ 62507 h 102220"/>
                <a:gd name="connsiteX14" fmla="*/ 56398 w 128019"/>
                <a:gd name="connsiteY14" fmla="*/ 62507 h 102220"/>
                <a:gd name="connsiteX15" fmla="*/ 60550 w 128019"/>
                <a:gd name="connsiteY15" fmla="*/ 64233 h 102220"/>
                <a:gd name="connsiteX16" fmla="*/ 100686 w 128019"/>
                <a:gd name="connsiteY16" fmla="*/ 100494 h 102220"/>
                <a:gd name="connsiteX17" fmla="*/ 105530 w 128019"/>
                <a:gd name="connsiteY17" fmla="*/ 102221 h 102220"/>
                <a:gd name="connsiteX18" fmla="*/ 128020 w 128019"/>
                <a:gd name="connsiteY18" fmla="*/ 102221 h 102220"/>
                <a:gd name="connsiteX19" fmla="*/ 128020 w 128019"/>
                <a:gd name="connsiteY19" fmla="*/ 76665 h 102220"/>
                <a:gd name="connsiteX20" fmla="*/ 115564 w 128019"/>
                <a:gd name="connsiteY20" fmla="*/ 76665 h 102220"/>
                <a:gd name="connsiteX21" fmla="*/ 105184 w 128019"/>
                <a:gd name="connsiteY21" fmla="*/ 72867 h 102220"/>
                <a:gd name="connsiteX22" fmla="*/ 86154 w 128019"/>
                <a:gd name="connsiteY22" fmla="*/ 55945 h 102220"/>
                <a:gd name="connsiteX23" fmla="*/ 86154 w 128019"/>
                <a:gd name="connsiteY23" fmla="*/ 45930 h 102220"/>
                <a:gd name="connsiteX24" fmla="*/ 105184 w 128019"/>
                <a:gd name="connsiteY24" fmla="*/ 29009 h 102220"/>
                <a:gd name="connsiteX25" fmla="*/ 115564 w 128019"/>
                <a:gd name="connsiteY25" fmla="*/ 25210 h 102220"/>
                <a:gd name="connsiteX26" fmla="*/ 128020 w 128019"/>
                <a:gd name="connsiteY26" fmla="*/ 2521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8019" h="102220">
                  <a:moveTo>
                    <a:pt x="128020" y="25555"/>
                  </a:moveTo>
                  <a:lnTo>
                    <a:pt x="128020" y="0"/>
                  </a:lnTo>
                  <a:lnTo>
                    <a:pt x="105530" y="0"/>
                  </a:lnTo>
                  <a:cubicBezTo>
                    <a:pt x="103800" y="0"/>
                    <a:pt x="102070" y="691"/>
                    <a:pt x="100686" y="1727"/>
                  </a:cubicBezTo>
                  <a:lnTo>
                    <a:pt x="60550" y="37987"/>
                  </a:lnTo>
                  <a:cubicBezTo>
                    <a:pt x="59512" y="39023"/>
                    <a:pt x="58128" y="39714"/>
                    <a:pt x="56398" y="39714"/>
                  </a:cubicBezTo>
                  <a:lnTo>
                    <a:pt x="28372" y="39714"/>
                  </a:lnTo>
                  <a:cubicBezTo>
                    <a:pt x="26642" y="39714"/>
                    <a:pt x="25258" y="38333"/>
                    <a:pt x="25258" y="36606"/>
                  </a:cubicBezTo>
                  <a:lnTo>
                    <a:pt x="25258" y="0"/>
                  </a:lnTo>
                  <a:lnTo>
                    <a:pt x="0" y="0"/>
                  </a:lnTo>
                  <a:lnTo>
                    <a:pt x="0" y="102221"/>
                  </a:lnTo>
                  <a:lnTo>
                    <a:pt x="25258" y="102221"/>
                  </a:lnTo>
                  <a:lnTo>
                    <a:pt x="25258" y="65615"/>
                  </a:lnTo>
                  <a:cubicBezTo>
                    <a:pt x="25258" y="63888"/>
                    <a:pt x="26642" y="62507"/>
                    <a:pt x="28372" y="62507"/>
                  </a:cubicBezTo>
                  <a:lnTo>
                    <a:pt x="56398" y="62507"/>
                  </a:lnTo>
                  <a:cubicBezTo>
                    <a:pt x="57782" y="62507"/>
                    <a:pt x="59512" y="62852"/>
                    <a:pt x="60550" y="64233"/>
                  </a:cubicBezTo>
                  <a:lnTo>
                    <a:pt x="100686" y="100494"/>
                  </a:lnTo>
                  <a:cubicBezTo>
                    <a:pt x="102070" y="101530"/>
                    <a:pt x="103800" y="102221"/>
                    <a:pt x="105530" y="102221"/>
                  </a:cubicBezTo>
                  <a:lnTo>
                    <a:pt x="128020" y="102221"/>
                  </a:lnTo>
                  <a:lnTo>
                    <a:pt x="128020" y="76665"/>
                  </a:lnTo>
                  <a:lnTo>
                    <a:pt x="115564" y="76665"/>
                  </a:lnTo>
                  <a:cubicBezTo>
                    <a:pt x="111758" y="76665"/>
                    <a:pt x="107952" y="75284"/>
                    <a:pt x="105184" y="72867"/>
                  </a:cubicBezTo>
                  <a:lnTo>
                    <a:pt x="86154" y="55945"/>
                  </a:lnTo>
                  <a:cubicBezTo>
                    <a:pt x="83040" y="53528"/>
                    <a:pt x="83040" y="48693"/>
                    <a:pt x="86154" y="45930"/>
                  </a:cubicBezTo>
                  <a:lnTo>
                    <a:pt x="105184" y="29009"/>
                  </a:lnTo>
                  <a:cubicBezTo>
                    <a:pt x="108298" y="26591"/>
                    <a:pt x="111758" y="25210"/>
                    <a:pt x="115564" y="25210"/>
                  </a:cubicBezTo>
                  <a:lnTo>
                    <a:pt x="128020" y="25210"/>
                  </a:lnTo>
                  <a:close/>
                </a:path>
              </a:pathLst>
            </a:custGeom>
            <a:grpFill/>
            <a:ln w="3458" cap="flat">
              <a:noFill/>
              <a:prstDash val="solid"/>
              <a:miter/>
            </a:ln>
          </p:spPr>
          <p:txBody>
            <a:bodyPr rtlCol="0" anchor="ctr"/>
            <a:lstStyle/>
            <a:p>
              <a:endParaRPr lang="en-US" sz="1800"/>
            </a:p>
          </p:txBody>
        </p:sp>
        <p:sp>
          <p:nvSpPr>
            <p:cNvPr id="17" name="Freeform 16">
              <a:extLst>
                <a:ext uri="{FF2B5EF4-FFF2-40B4-BE49-F238E27FC236}">
                  <a16:creationId xmlns:a16="http://schemas.microsoft.com/office/drawing/2014/main" id="{7C099F52-DF08-E095-4332-B4644235F9D4}"/>
                </a:ext>
              </a:extLst>
            </p:cNvPr>
            <p:cNvSpPr/>
            <p:nvPr/>
          </p:nvSpPr>
          <p:spPr>
            <a:xfrm>
              <a:off x="8623760" y="7684742"/>
              <a:ext cx="138053" cy="102565"/>
            </a:xfrm>
            <a:custGeom>
              <a:avLst/>
              <a:gdLst>
                <a:gd name="connsiteX0" fmla="*/ 99302 w 138053"/>
                <a:gd name="connsiteY0" fmla="*/ 345 h 102565"/>
                <a:gd name="connsiteX1" fmla="*/ 70238 w 138053"/>
                <a:gd name="connsiteY1" fmla="*/ 14850 h 102565"/>
                <a:gd name="connsiteX2" fmla="*/ 0 w 138053"/>
                <a:gd name="connsiteY2" fmla="*/ 102566 h 102565"/>
                <a:gd name="connsiteX3" fmla="*/ 35638 w 138053"/>
                <a:gd name="connsiteY3" fmla="*/ 102566 h 102565"/>
                <a:gd name="connsiteX4" fmla="*/ 93420 w 138053"/>
                <a:gd name="connsiteY4" fmla="*/ 31426 h 102565"/>
                <a:gd name="connsiteX5" fmla="*/ 102762 w 138053"/>
                <a:gd name="connsiteY5" fmla="*/ 26246 h 102565"/>
                <a:gd name="connsiteX6" fmla="*/ 112450 w 138053"/>
                <a:gd name="connsiteY6" fmla="*/ 36951 h 102565"/>
                <a:gd name="connsiteX7" fmla="*/ 112450 w 138053"/>
                <a:gd name="connsiteY7" fmla="*/ 68032 h 102565"/>
                <a:gd name="connsiteX8" fmla="*/ 105184 w 138053"/>
                <a:gd name="connsiteY8" fmla="*/ 77011 h 102565"/>
                <a:gd name="connsiteX9" fmla="*/ 97918 w 138053"/>
                <a:gd name="connsiteY9" fmla="*/ 77011 h 102565"/>
                <a:gd name="connsiteX10" fmla="*/ 97918 w 138053"/>
                <a:gd name="connsiteY10" fmla="*/ 102566 h 102565"/>
                <a:gd name="connsiteX11" fmla="*/ 138054 w 138053"/>
                <a:gd name="connsiteY11" fmla="*/ 102566 h 102565"/>
                <a:gd name="connsiteX12" fmla="*/ 138054 w 138053"/>
                <a:gd name="connsiteY12" fmla="*/ 38333 h 102565"/>
                <a:gd name="connsiteX13" fmla="*/ 98956 w 138053"/>
                <a:gd name="connsiteY13" fmla="*/ 0 h 102565"/>
                <a:gd name="connsiteX14" fmla="*/ 98956 w 138053"/>
                <a:gd name="connsiteY14" fmla="*/ 0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8053" h="102565">
                  <a:moveTo>
                    <a:pt x="99302" y="345"/>
                  </a:moveTo>
                  <a:cubicBezTo>
                    <a:pt x="87884" y="345"/>
                    <a:pt x="77158" y="5871"/>
                    <a:pt x="70238" y="14850"/>
                  </a:cubicBezTo>
                  <a:lnTo>
                    <a:pt x="0" y="102566"/>
                  </a:lnTo>
                  <a:lnTo>
                    <a:pt x="35638" y="102566"/>
                  </a:lnTo>
                  <a:lnTo>
                    <a:pt x="93420" y="31426"/>
                  </a:lnTo>
                  <a:cubicBezTo>
                    <a:pt x="96188" y="27973"/>
                    <a:pt x="98264" y="26246"/>
                    <a:pt x="102762" y="26246"/>
                  </a:cubicBezTo>
                  <a:cubicBezTo>
                    <a:pt x="107260" y="26246"/>
                    <a:pt x="112450" y="31081"/>
                    <a:pt x="112450" y="36951"/>
                  </a:cubicBezTo>
                  <a:lnTo>
                    <a:pt x="112450" y="68032"/>
                  </a:lnTo>
                  <a:cubicBezTo>
                    <a:pt x="112450" y="72867"/>
                    <a:pt x="110028" y="77011"/>
                    <a:pt x="105184" y="77011"/>
                  </a:cubicBezTo>
                  <a:lnTo>
                    <a:pt x="97918" y="77011"/>
                  </a:lnTo>
                  <a:lnTo>
                    <a:pt x="97918" y="102566"/>
                  </a:lnTo>
                  <a:lnTo>
                    <a:pt x="138054" y="102566"/>
                  </a:lnTo>
                  <a:lnTo>
                    <a:pt x="138054" y="38333"/>
                  </a:lnTo>
                  <a:cubicBezTo>
                    <a:pt x="138054" y="33153"/>
                    <a:pt x="138054" y="0"/>
                    <a:pt x="98956" y="0"/>
                  </a:cubicBezTo>
                  <a:lnTo>
                    <a:pt x="98956" y="0"/>
                  </a:lnTo>
                  <a:close/>
                </a:path>
              </a:pathLst>
            </a:custGeom>
            <a:grpFill/>
            <a:ln w="3458" cap="flat">
              <a:noFill/>
              <a:prstDash val="solid"/>
              <a:miter/>
            </a:ln>
          </p:spPr>
          <p:txBody>
            <a:bodyPr rtlCol="0" anchor="ctr"/>
            <a:lstStyle/>
            <a:p>
              <a:endParaRPr lang="en-US" sz="1800"/>
            </a:p>
          </p:txBody>
        </p:sp>
        <p:sp>
          <p:nvSpPr>
            <p:cNvPr id="18" name="Freeform 17">
              <a:extLst>
                <a:ext uri="{FF2B5EF4-FFF2-40B4-BE49-F238E27FC236}">
                  <a16:creationId xmlns:a16="http://schemas.microsoft.com/office/drawing/2014/main" id="{617E2A5E-8FD6-2E82-E9A2-9A001192DD48}"/>
                </a:ext>
              </a:extLst>
            </p:cNvPr>
            <p:cNvSpPr/>
            <p:nvPr/>
          </p:nvSpPr>
          <p:spPr>
            <a:xfrm>
              <a:off x="9480453" y="7685087"/>
              <a:ext cx="30793" cy="25555"/>
            </a:xfrm>
            <a:custGeom>
              <a:avLst/>
              <a:gdLst>
                <a:gd name="connsiteX0" fmla="*/ 30448 w 30793"/>
                <a:gd name="connsiteY0" fmla="*/ 0 h 25555"/>
                <a:gd name="connsiteX1" fmla="*/ 30448 w 30793"/>
                <a:gd name="connsiteY1" fmla="*/ 25555 h 25555"/>
                <a:gd name="connsiteX2" fmla="*/ 24912 w 30793"/>
                <a:gd name="connsiteY2" fmla="*/ 25555 h 25555"/>
                <a:gd name="connsiteX3" fmla="*/ 24912 w 30793"/>
                <a:gd name="connsiteY3" fmla="*/ 5180 h 25555"/>
                <a:gd name="connsiteX4" fmla="*/ 24912 w 30793"/>
                <a:gd name="connsiteY4" fmla="*/ 5180 h 25555"/>
                <a:gd name="connsiteX5" fmla="*/ 17646 w 30793"/>
                <a:gd name="connsiteY5" fmla="*/ 25555 h 25555"/>
                <a:gd name="connsiteX6" fmla="*/ 12802 w 30793"/>
                <a:gd name="connsiteY6" fmla="*/ 25555 h 25555"/>
                <a:gd name="connsiteX7" fmla="*/ 5536 w 30793"/>
                <a:gd name="connsiteY7" fmla="*/ 5180 h 25555"/>
                <a:gd name="connsiteX8" fmla="*/ 5536 w 30793"/>
                <a:gd name="connsiteY8" fmla="*/ 5180 h 25555"/>
                <a:gd name="connsiteX9" fmla="*/ 5536 w 30793"/>
                <a:gd name="connsiteY9" fmla="*/ 25555 h 25555"/>
                <a:gd name="connsiteX10" fmla="*/ 0 w 30793"/>
                <a:gd name="connsiteY10" fmla="*/ 25555 h 25555"/>
                <a:gd name="connsiteX11" fmla="*/ 0 w 30793"/>
                <a:gd name="connsiteY11" fmla="*/ 0 h 25555"/>
                <a:gd name="connsiteX12" fmla="*/ 9688 w 30793"/>
                <a:gd name="connsiteY12" fmla="*/ 0 h 25555"/>
                <a:gd name="connsiteX13" fmla="*/ 15570 w 30793"/>
                <a:gd name="connsiteY13" fmla="*/ 17267 h 25555"/>
                <a:gd name="connsiteX14" fmla="*/ 15570 w 30793"/>
                <a:gd name="connsiteY14" fmla="*/ 17267 h 25555"/>
                <a:gd name="connsiteX15" fmla="*/ 21798 w 30793"/>
                <a:gd name="connsiteY15" fmla="*/ 0 h 25555"/>
                <a:gd name="connsiteX16" fmla="*/ 30794 w 30793"/>
                <a:gd name="connsiteY16" fmla="*/ 0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793" h="25555">
                  <a:moveTo>
                    <a:pt x="30448" y="0"/>
                  </a:moveTo>
                  <a:lnTo>
                    <a:pt x="30448" y="25555"/>
                  </a:lnTo>
                  <a:lnTo>
                    <a:pt x="24912" y="25555"/>
                  </a:lnTo>
                  <a:lnTo>
                    <a:pt x="24912" y="5180"/>
                  </a:lnTo>
                  <a:lnTo>
                    <a:pt x="24912" y="5180"/>
                  </a:lnTo>
                  <a:lnTo>
                    <a:pt x="17646" y="25555"/>
                  </a:lnTo>
                  <a:lnTo>
                    <a:pt x="12802" y="25555"/>
                  </a:lnTo>
                  <a:lnTo>
                    <a:pt x="5536" y="5180"/>
                  </a:lnTo>
                  <a:lnTo>
                    <a:pt x="5536" y="5180"/>
                  </a:lnTo>
                  <a:lnTo>
                    <a:pt x="5536" y="25555"/>
                  </a:lnTo>
                  <a:lnTo>
                    <a:pt x="0" y="25555"/>
                  </a:lnTo>
                  <a:lnTo>
                    <a:pt x="0" y="0"/>
                  </a:lnTo>
                  <a:lnTo>
                    <a:pt x="9688" y="0"/>
                  </a:lnTo>
                  <a:lnTo>
                    <a:pt x="15570" y="17267"/>
                  </a:lnTo>
                  <a:lnTo>
                    <a:pt x="15570" y="17267"/>
                  </a:lnTo>
                  <a:lnTo>
                    <a:pt x="21798" y="0"/>
                  </a:lnTo>
                  <a:lnTo>
                    <a:pt x="30794" y="0"/>
                  </a:lnTo>
                  <a:close/>
                </a:path>
              </a:pathLst>
            </a:custGeom>
            <a:grpFill/>
            <a:ln w="3458" cap="flat">
              <a:noFill/>
              <a:prstDash val="solid"/>
              <a:miter/>
            </a:ln>
          </p:spPr>
          <p:txBody>
            <a:bodyPr rtlCol="0" anchor="ctr"/>
            <a:lstStyle/>
            <a:p>
              <a:endParaRPr lang="en-US" sz="1800"/>
            </a:p>
          </p:txBody>
        </p:sp>
        <p:sp>
          <p:nvSpPr>
            <p:cNvPr id="32" name="Freeform 31">
              <a:extLst>
                <a:ext uri="{FF2B5EF4-FFF2-40B4-BE49-F238E27FC236}">
                  <a16:creationId xmlns:a16="http://schemas.microsoft.com/office/drawing/2014/main" id="{34323E2E-A29C-F82F-F092-D2FFEAEB4C4E}"/>
                </a:ext>
              </a:extLst>
            </p:cNvPr>
            <p:cNvSpPr/>
            <p:nvPr/>
          </p:nvSpPr>
          <p:spPr>
            <a:xfrm>
              <a:off x="9453811" y="7685087"/>
              <a:ext cx="21451" cy="25555"/>
            </a:xfrm>
            <a:custGeom>
              <a:avLst/>
              <a:gdLst>
                <a:gd name="connsiteX0" fmla="*/ 13840 w 21451"/>
                <a:gd name="connsiteY0" fmla="*/ 4835 h 25555"/>
                <a:gd name="connsiteX1" fmla="*/ 13840 w 21451"/>
                <a:gd name="connsiteY1" fmla="*/ 25555 h 25555"/>
                <a:gd name="connsiteX2" fmla="*/ 7958 w 21451"/>
                <a:gd name="connsiteY2" fmla="*/ 25555 h 25555"/>
                <a:gd name="connsiteX3" fmla="*/ 7958 w 21451"/>
                <a:gd name="connsiteY3" fmla="*/ 4835 h 25555"/>
                <a:gd name="connsiteX4" fmla="*/ 0 w 21451"/>
                <a:gd name="connsiteY4" fmla="*/ 4835 h 25555"/>
                <a:gd name="connsiteX5" fmla="*/ 0 w 21451"/>
                <a:gd name="connsiteY5" fmla="*/ 0 h 25555"/>
                <a:gd name="connsiteX6" fmla="*/ 21452 w 21451"/>
                <a:gd name="connsiteY6" fmla="*/ 0 h 25555"/>
                <a:gd name="connsiteX7" fmla="*/ 21452 w 21451"/>
                <a:gd name="connsiteY7" fmla="*/ 4835 h 25555"/>
                <a:gd name="connsiteX8" fmla="*/ 13494 w 21451"/>
                <a:gd name="connsiteY8" fmla="*/ 4835 h 25555"/>
                <a:gd name="connsiteX9" fmla="*/ 13494 w 21451"/>
                <a:gd name="connsiteY9" fmla="*/ 4835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451" h="25555">
                  <a:moveTo>
                    <a:pt x="13840" y="4835"/>
                  </a:moveTo>
                  <a:lnTo>
                    <a:pt x="13840" y="25555"/>
                  </a:lnTo>
                  <a:lnTo>
                    <a:pt x="7958" y="25555"/>
                  </a:lnTo>
                  <a:lnTo>
                    <a:pt x="7958" y="4835"/>
                  </a:lnTo>
                  <a:lnTo>
                    <a:pt x="0" y="4835"/>
                  </a:lnTo>
                  <a:lnTo>
                    <a:pt x="0" y="0"/>
                  </a:lnTo>
                  <a:lnTo>
                    <a:pt x="21452" y="0"/>
                  </a:lnTo>
                  <a:lnTo>
                    <a:pt x="21452" y="4835"/>
                  </a:lnTo>
                  <a:lnTo>
                    <a:pt x="13494" y="4835"/>
                  </a:lnTo>
                  <a:lnTo>
                    <a:pt x="13494" y="4835"/>
                  </a:lnTo>
                  <a:close/>
                </a:path>
              </a:pathLst>
            </a:custGeom>
            <a:grpFill/>
            <a:ln w="3458" cap="flat">
              <a:noFill/>
              <a:prstDash val="solid"/>
              <a:miter/>
            </a:ln>
          </p:spPr>
          <p:txBody>
            <a:bodyPr rtlCol="0" anchor="ctr"/>
            <a:lstStyle/>
            <a:p>
              <a:endParaRPr lang="en-US" sz="1800"/>
            </a:p>
          </p:txBody>
        </p:sp>
      </p:grpSp>
      <p:sp>
        <p:nvSpPr>
          <p:cNvPr id="33" name="Title 1">
            <a:extLst>
              <a:ext uri="{FF2B5EF4-FFF2-40B4-BE49-F238E27FC236}">
                <a16:creationId xmlns:a16="http://schemas.microsoft.com/office/drawing/2014/main" id="{F7A36997-65DD-9532-1913-1D7219A56CBA}"/>
              </a:ext>
            </a:extLst>
          </p:cNvPr>
          <p:cNvSpPr>
            <a:spLocks noGrp="1"/>
          </p:cNvSpPr>
          <p:nvPr>
            <p:ph type="title" hasCustomPrompt="1"/>
          </p:nvPr>
        </p:nvSpPr>
        <p:spPr>
          <a:xfrm>
            <a:off x="292099" y="442939"/>
            <a:ext cx="11607801" cy="964579"/>
          </a:xfrm>
          <a:prstGeom prst="rect">
            <a:avLst/>
          </a:prstGeom>
        </p:spPr>
        <p:txBody>
          <a:bodyPr wrap="square" lIns="0" anchor="b">
            <a:noAutofit/>
          </a:bodyPr>
          <a:lstStyle>
            <a:lvl1pPr>
              <a:lnSpc>
                <a:spcPct val="100000"/>
              </a:lnSpc>
              <a:defRPr sz="3000" b="0" spc="0" baseline="0">
                <a:solidFill>
                  <a:schemeClr val="bg1"/>
                </a:solidFill>
                <a:latin typeface="+mj-lt"/>
              </a:defRPr>
            </a:lvl1pPr>
          </a:lstStyle>
          <a:p>
            <a:r>
              <a:rPr lang="en-US"/>
              <a:t>CLICK TO ADD TITLE</a:t>
            </a:r>
          </a:p>
        </p:txBody>
      </p:sp>
      <p:sp>
        <p:nvSpPr>
          <p:cNvPr id="34" name="Text Placeholder 13">
            <a:extLst>
              <a:ext uri="{FF2B5EF4-FFF2-40B4-BE49-F238E27FC236}">
                <a16:creationId xmlns:a16="http://schemas.microsoft.com/office/drawing/2014/main" id="{A7A04BEA-0593-482E-F83E-0FEAA84F8B84}"/>
              </a:ext>
            </a:extLst>
          </p:cNvPr>
          <p:cNvSpPr>
            <a:spLocks noGrp="1"/>
          </p:cNvSpPr>
          <p:nvPr>
            <p:ph type="body" sz="quarter" idx="12" hasCustomPrompt="1"/>
          </p:nvPr>
        </p:nvSpPr>
        <p:spPr>
          <a:xfrm>
            <a:off x="292099" y="1407519"/>
            <a:ext cx="11607801" cy="496143"/>
          </a:xfrm>
          <a:prstGeom prst="rect">
            <a:avLst/>
          </a:prstGeom>
        </p:spPr>
        <p:txBody>
          <a:bodyPr wrap="none" lIns="0" bIns="0">
            <a:noAutofit/>
          </a:bodyPr>
          <a:lstStyle>
            <a:lvl1pPr marL="0" indent="0">
              <a:lnSpc>
                <a:spcPct val="100000"/>
              </a:lnSpc>
              <a:spcAft>
                <a:spcPts val="0"/>
              </a:spcAft>
              <a:buNone/>
              <a:defRPr sz="3000" b="0" spc="0" baseline="0">
                <a:solidFill>
                  <a:schemeClr val="accent1"/>
                </a:solidFill>
                <a:latin typeface="+mj-lt"/>
              </a:defRPr>
            </a:lvl1pPr>
            <a:lvl2pPr marL="274304" indent="0">
              <a:buNone/>
              <a:defRPr/>
            </a:lvl2pPr>
            <a:lvl3pPr marL="914346" indent="0">
              <a:buNone/>
              <a:defRPr/>
            </a:lvl3pPr>
            <a:lvl4pPr marL="1371519" indent="0">
              <a:buNone/>
              <a:defRPr/>
            </a:lvl4pPr>
            <a:lvl5pPr marL="1828693" indent="0">
              <a:buNone/>
              <a:defRPr/>
            </a:lvl5pPr>
          </a:lstStyle>
          <a:p>
            <a:pPr lvl="0"/>
            <a:r>
              <a:rPr lang="en-US"/>
              <a:t>Click to Add Subtitle</a:t>
            </a:r>
          </a:p>
        </p:txBody>
      </p:sp>
      <p:sp>
        <p:nvSpPr>
          <p:cNvPr id="35" name="name_2024 sandisk or its affiliates All rights reserved">
            <a:extLst>
              <a:ext uri="{FF2B5EF4-FFF2-40B4-BE49-F238E27FC236}">
                <a16:creationId xmlns:a16="http://schemas.microsoft.com/office/drawing/2014/main" id="{1E7D2844-81DB-3E5D-8F3C-06C6583FE6EA}"/>
              </a:ext>
            </a:extLst>
          </p:cNvPr>
          <p:cNvSpPr txBox="1"/>
          <p:nvPr/>
        </p:nvSpPr>
        <p:spPr>
          <a:xfrm>
            <a:off x="6096000" y="6437971"/>
            <a:ext cx="5803900"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b">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r" defTabSz="609412" hangingPunct="0">
              <a:lnSpc>
                <a:spcPct val="100000"/>
              </a:lnSpc>
            </a:pPr>
            <a:r>
              <a:rPr lang="en-US" sz="1000" b="0" i="0" kern="0" spc="0" baseline="0">
                <a:solidFill>
                  <a:schemeClr val="bg1"/>
                </a:solidFill>
                <a:latin typeface="NB Architekt Pro Neue" panose="02010509020201040001" pitchFamily="49" charset="77"/>
                <a:cs typeface="Consolas" panose="020B0609020204030204" pitchFamily="49" charset="0"/>
              </a:rPr>
              <a:t>©2025 SANDISK CORPORATION OR ITS AFFILIATES ALL RIGHTS RESERVED</a:t>
            </a:r>
          </a:p>
        </p:txBody>
      </p:sp>
    </p:spTree>
    <p:extLst>
      <p:ext uri="{BB962C8B-B14F-4D97-AF65-F5344CB8AC3E}">
        <p14:creationId xmlns:p14="http://schemas.microsoft.com/office/powerpoint/2010/main" val="96480403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Subtitle and Content Gray">
    <p:bg>
      <p:bgPr>
        <a:solidFill>
          <a:schemeClr val="accent1"/>
        </a:solidFill>
        <a:effectLst/>
      </p:bgPr>
    </p:bg>
    <p:spTree>
      <p:nvGrpSpPr>
        <p:cNvPr id="1" name=""/>
        <p:cNvGrpSpPr/>
        <p:nvPr/>
      </p:nvGrpSpPr>
      <p:grpSpPr>
        <a:xfrm>
          <a:off x="0" y="0"/>
          <a:ext cx="0" cy="0"/>
          <a:chOff x="0" y="0"/>
          <a:chExt cx="0" cy="0"/>
        </a:xfrm>
      </p:grpSpPr>
      <p:sp>
        <p:nvSpPr>
          <p:cNvPr id="50" name="Slide Number Placeholder 5">
            <a:extLst>
              <a:ext uri="{FF2B5EF4-FFF2-40B4-BE49-F238E27FC236}">
                <a16:creationId xmlns:a16="http://schemas.microsoft.com/office/drawing/2014/main" id="{7C3FB967-F059-B832-9329-449B18F9D4BF}"/>
              </a:ext>
            </a:extLst>
          </p:cNvPr>
          <p:cNvSpPr>
            <a:spLocks noGrp="1"/>
          </p:cNvSpPr>
          <p:nvPr>
            <p:ph type="sldNum" sz="quarter" idx="4"/>
          </p:nvPr>
        </p:nvSpPr>
        <p:spPr>
          <a:xfrm>
            <a:off x="3192106" y="6455472"/>
            <a:ext cx="857165" cy="118872"/>
          </a:xfrm>
          <a:prstGeom prst="rect">
            <a:avLst/>
          </a:prstGeom>
        </p:spPr>
        <p:txBody>
          <a:bodyPr vert="horz" lIns="0" tIns="0" rIns="0" bIns="0" rtlCol="0" anchor="ctr"/>
          <a:lstStyle>
            <a:lvl1pPr algn="l">
              <a:defRPr sz="1000" b="0" i="0" spc="0" baseline="0">
                <a:solidFill>
                  <a:schemeClr val="tx1"/>
                </a:solidFill>
                <a:latin typeface="NB Architekt Pro Neue" panose="02010509020201040001" pitchFamily="49" charset="77"/>
                <a:cs typeface="Consolas" panose="020B0609020204030204" pitchFamily="49" charset="0"/>
              </a:defRPr>
            </a:lvl1pPr>
          </a:lstStyle>
          <a:p>
            <a:r>
              <a:rPr lang="en-US"/>
              <a:t>00.0</a:t>
            </a:r>
            <a:fld id="{4571BA12-316B-0A40-BB3D-1A8CDD33E9E5}" type="slidenum">
              <a:rPr lang="en-US" smtClean="0"/>
              <a:pPr/>
              <a:t>‹#›</a:t>
            </a:fld>
            <a:endParaRPr lang="en-US"/>
          </a:p>
        </p:txBody>
      </p:sp>
      <p:sp>
        <p:nvSpPr>
          <p:cNvPr id="5" name="name_2024 sandisk or its affiliates All rights reserved">
            <a:extLst>
              <a:ext uri="{FF2B5EF4-FFF2-40B4-BE49-F238E27FC236}">
                <a16:creationId xmlns:a16="http://schemas.microsoft.com/office/drawing/2014/main" id="{F581B636-B459-2929-A363-54D06D37B58B}"/>
              </a:ext>
            </a:extLst>
          </p:cNvPr>
          <p:cNvSpPr txBox="1"/>
          <p:nvPr/>
        </p:nvSpPr>
        <p:spPr>
          <a:xfrm>
            <a:off x="292100" y="267518"/>
            <a:ext cx="1323975"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tx1"/>
                </a:solidFill>
                <a:latin typeface="NB Architekt Pro Neue" panose="02010509020201040001" pitchFamily="49" charset="77"/>
                <a:cs typeface="Consolas" panose="020B0609020204030204" pitchFamily="49" charset="0"/>
              </a:rPr>
              <a:t>[Confidential]</a:t>
            </a:r>
          </a:p>
        </p:txBody>
      </p:sp>
      <p:grpSp>
        <p:nvGrpSpPr>
          <p:cNvPr id="6" name="Group 5">
            <a:extLst>
              <a:ext uri="{FF2B5EF4-FFF2-40B4-BE49-F238E27FC236}">
                <a16:creationId xmlns:a16="http://schemas.microsoft.com/office/drawing/2014/main" id="{49DB8322-B918-681E-793A-AFE314021B40}"/>
              </a:ext>
            </a:extLst>
          </p:cNvPr>
          <p:cNvGrpSpPr>
            <a:grpSpLocks noChangeAspect="1"/>
          </p:cNvGrpSpPr>
          <p:nvPr/>
        </p:nvGrpSpPr>
        <p:grpSpPr>
          <a:xfrm>
            <a:off x="297027" y="6344485"/>
            <a:ext cx="2240280" cy="218081"/>
            <a:chOff x="8480170" y="7684742"/>
            <a:chExt cx="1031076" cy="102566"/>
          </a:xfrm>
          <a:solidFill>
            <a:schemeClr val="accent3"/>
          </a:solidFill>
        </p:grpSpPr>
        <p:sp>
          <p:nvSpPr>
            <p:cNvPr id="7" name="Freeform 6">
              <a:extLst>
                <a:ext uri="{FF2B5EF4-FFF2-40B4-BE49-F238E27FC236}">
                  <a16:creationId xmlns:a16="http://schemas.microsoft.com/office/drawing/2014/main" id="{4E7A9D8A-AA87-3F82-C668-CC6CDC266079}"/>
                </a:ext>
              </a:extLst>
            </p:cNvPr>
            <p:cNvSpPr/>
            <p:nvPr/>
          </p:nvSpPr>
          <p:spPr>
            <a:xfrm>
              <a:off x="8788109" y="7684742"/>
              <a:ext cx="128019" cy="102565"/>
            </a:xfrm>
            <a:custGeom>
              <a:avLst/>
              <a:gdLst>
                <a:gd name="connsiteX0" fmla="*/ 102070 w 128019"/>
                <a:gd name="connsiteY0" fmla="*/ 70104 h 102565"/>
                <a:gd name="connsiteX1" fmla="*/ 96188 w 128019"/>
                <a:gd name="connsiteY1" fmla="*/ 77011 h 102565"/>
                <a:gd name="connsiteX2" fmla="*/ 89268 w 128019"/>
                <a:gd name="connsiteY2" fmla="*/ 72521 h 102565"/>
                <a:gd name="connsiteX3" fmla="*/ 65740 w 128019"/>
                <a:gd name="connsiteY3" fmla="*/ 8288 h 102565"/>
                <a:gd name="connsiteX4" fmla="*/ 54668 w 128019"/>
                <a:gd name="connsiteY4" fmla="*/ 0 h 102565"/>
                <a:gd name="connsiteX5" fmla="*/ 0 w 128019"/>
                <a:gd name="connsiteY5" fmla="*/ 0 h 102565"/>
                <a:gd name="connsiteX6" fmla="*/ 0 w 128019"/>
                <a:gd name="connsiteY6" fmla="*/ 102221 h 102565"/>
                <a:gd name="connsiteX7" fmla="*/ 40136 w 128019"/>
                <a:gd name="connsiteY7" fmla="*/ 102221 h 102565"/>
                <a:gd name="connsiteX8" fmla="*/ 40136 w 128019"/>
                <a:gd name="connsiteY8" fmla="*/ 76665 h 102565"/>
                <a:gd name="connsiteX9" fmla="*/ 32870 w 128019"/>
                <a:gd name="connsiteY9" fmla="*/ 76665 h 102565"/>
                <a:gd name="connsiteX10" fmla="*/ 25604 w 128019"/>
                <a:gd name="connsiteY10" fmla="*/ 67687 h 102565"/>
                <a:gd name="connsiteX11" fmla="*/ 25604 w 128019"/>
                <a:gd name="connsiteY11" fmla="*/ 36951 h 102565"/>
                <a:gd name="connsiteX12" fmla="*/ 39790 w 128019"/>
                <a:gd name="connsiteY12" fmla="*/ 26591 h 102565"/>
                <a:gd name="connsiteX13" fmla="*/ 45672 w 128019"/>
                <a:gd name="connsiteY13" fmla="*/ 32807 h 102565"/>
                <a:gd name="connsiteX14" fmla="*/ 64356 w 128019"/>
                <a:gd name="connsiteY14" fmla="*/ 81500 h 102565"/>
                <a:gd name="connsiteX15" fmla="*/ 95150 w 128019"/>
                <a:gd name="connsiteY15" fmla="*/ 102566 h 102565"/>
                <a:gd name="connsiteX16" fmla="*/ 95842 w 128019"/>
                <a:gd name="connsiteY16" fmla="*/ 102566 h 102565"/>
                <a:gd name="connsiteX17" fmla="*/ 128020 w 128019"/>
                <a:gd name="connsiteY17" fmla="*/ 70795 h 102565"/>
                <a:gd name="connsiteX18" fmla="*/ 128020 w 128019"/>
                <a:gd name="connsiteY18" fmla="*/ 345 h 102565"/>
                <a:gd name="connsiteX19" fmla="*/ 102416 w 128019"/>
                <a:gd name="connsiteY19" fmla="*/ 345 h 102565"/>
                <a:gd name="connsiteX20" fmla="*/ 102416 w 128019"/>
                <a:gd name="connsiteY20" fmla="*/ 70104 h 102565"/>
                <a:gd name="connsiteX21" fmla="*/ 102416 w 128019"/>
                <a:gd name="connsiteY21" fmla="*/ 70104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8019" h="102565">
                  <a:moveTo>
                    <a:pt x="102070" y="70104"/>
                  </a:moveTo>
                  <a:cubicBezTo>
                    <a:pt x="102070" y="73557"/>
                    <a:pt x="99648" y="76665"/>
                    <a:pt x="96188" y="77011"/>
                  </a:cubicBezTo>
                  <a:cubicBezTo>
                    <a:pt x="93074" y="77356"/>
                    <a:pt x="90306" y="75629"/>
                    <a:pt x="89268" y="72521"/>
                  </a:cubicBezTo>
                  <a:lnTo>
                    <a:pt x="65740" y="8288"/>
                  </a:lnTo>
                  <a:cubicBezTo>
                    <a:pt x="64010" y="3108"/>
                    <a:pt x="59858" y="0"/>
                    <a:pt x="54668" y="0"/>
                  </a:cubicBezTo>
                  <a:lnTo>
                    <a:pt x="0" y="0"/>
                  </a:lnTo>
                  <a:lnTo>
                    <a:pt x="0" y="102221"/>
                  </a:lnTo>
                  <a:lnTo>
                    <a:pt x="40136" y="102221"/>
                  </a:lnTo>
                  <a:lnTo>
                    <a:pt x="40136" y="76665"/>
                  </a:lnTo>
                  <a:lnTo>
                    <a:pt x="32870" y="76665"/>
                  </a:lnTo>
                  <a:cubicBezTo>
                    <a:pt x="28026" y="76665"/>
                    <a:pt x="25604" y="72521"/>
                    <a:pt x="25604" y="67687"/>
                  </a:cubicBezTo>
                  <a:lnTo>
                    <a:pt x="25604" y="36951"/>
                  </a:lnTo>
                  <a:cubicBezTo>
                    <a:pt x="25604" y="29354"/>
                    <a:pt x="32870" y="23828"/>
                    <a:pt x="39790" y="26591"/>
                  </a:cubicBezTo>
                  <a:cubicBezTo>
                    <a:pt x="42212" y="27627"/>
                    <a:pt x="44634" y="30045"/>
                    <a:pt x="45672" y="32807"/>
                  </a:cubicBezTo>
                  <a:lnTo>
                    <a:pt x="64356" y="81500"/>
                  </a:lnTo>
                  <a:cubicBezTo>
                    <a:pt x="69200" y="94278"/>
                    <a:pt x="81310" y="102566"/>
                    <a:pt x="95150" y="102566"/>
                  </a:cubicBezTo>
                  <a:lnTo>
                    <a:pt x="95842" y="102566"/>
                  </a:lnTo>
                  <a:cubicBezTo>
                    <a:pt x="113488" y="102566"/>
                    <a:pt x="128020" y="88407"/>
                    <a:pt x="128020" y="70795"/>
                  </a:cubicBezTo>
                  <a:lnTo>
                    <a:pt x="128020" y="345"/>
                  </a:lnTo>
                  <a:lnTo>
                    <a:pt x="102416" y="345"/>
                  </a:lnTo>
                  <a:lnTo>
                    <a:pt x="102416" y="70104"/>
                  </a:lnTo>
                  <a:lnTo>
                    <a:pt x="102416" y="70104"/>
                  </a:lnTo>
                  <a:close/>
                </a:path>
              </a:pathLst>
            </a:custGeom>
            <a:grpFill/>
            <a:ln w="3458" cap="flat">
              <a:noFill/>
              <a:prstDash val="solid"/>
              <a:miter/>
            </a:ln>
          </p:spPr>
          <p:txBody>
            <a:bodyPr rtlCol="0" anchor="ctr"/>
            <a:lstStyle/>
            <a:p>
              <a:endParaRPr lang="en-US" sz="1800"/>
            </a:p>
          </p:txBody>
        </p:sp>
        <p:sp>
          <p:nvSpPr>
            <p:cNvPr id="8" name="Freeform 7">
              <a:extLst>
                <a:ext uri="{FF2B5EF4-FFF2-40B4-BE49-F238E27FC236}">
                  <a16:creationId xmlns:a16="http://schemas.microsoft.com/office/drawing/2014/main" id="{A677187A-6C75-2A23-8318-05DE9913EE2F}"/>
                </a:ext>
              </a:extLst>
            </p:cNvPr>
            <p:cNvSpPr/>
            <p:nvPr/>
          </p:nvSpPr>
          <p:spPr>
            <a:xfrm>
              <a:off x="8941733" y="7685087"/>
              <a:ext cx="128019" cy="102220"/>
            </a:xfrm>
            <a:custGeom>
              <a:avLst/>
              <a:gdLst>
                <a:gd name="connsiteX0" fmla="*/ 76812 w 128019"/>
                <a:gd name="connsiteY0" fmla="*/ 0 h 102220"/>
                <a:gd name="connsiteX1" fmla="*/ 0 w 128019"/>
                <a:gd name="connsiteY1" fmla="*/ 0 h 102220"/>
                <a:gd name="connsiteX2" fmla="*/ 0 w 128019"/>
                <a:gd name="connsiteY2" fmla="*/ 25555 h 102220"/>
                <a:gd name="connsiteX3" fmla="*/ 76812 w 128019"/>
                <a:gd name="connsiteY3" fmla="*/ 25555 h 102220"/>
                <a:gd name="connsiteX4" fmla="*/ 102416 w 128019"/>
                <a:gd name="connsiteY4" fmla="*/ 51110 h 102220"/>
                <a:gd name="connsiteX5" fmla="*/ 76812 w 128019"/>
                <a:gd name="connsiteY5" fmla="*/ 76665 h 102220"/>
                <a:gd name="connsiteX6" fmla="*/ 0 w 128019"/>
                <a:gd name="connsiteY6" fmla="*/ 76665 h 102220"/>
                <a:gd name="connsiteX7" fmla="*/ 0 w 128019"/>
                <a:gd name="connsiteY7" fmla="*/ 102221 h 102220"/>
                <a:gd name="connsiteX8" fmla="*/ 76812 w 128019"/>
                <a:gd name="connsiteY8" fmla="*/ 102221 h 102220"/>
                <a:gd name="connsiteX9" fmla="*/ 121792 w 128019"/>
                <a:gd name="connsiteY9" fmla="*/ 75629 h 102220"/>
                <a:gd name="connsiteX10" fmla="*/ 128020 w 128019"/>
                <a:gd name="connsiteY10" fmla="*/ 51110 h 102220"/>
                <a:gd name="connsiteX11" fmla="*/ 121792 w 128019"/>
                <a:gd name="connsiteY11" fmla="*/ 26591 h 102220"/>
                <a:gd name="connsiteX12" fmla="*/ 76812 w 128019"/>
                <a:gd name="connsiteY12" fmla="*/ 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8019" h="102220">
                  <a:moveTo>
                    <a:pt x="76812" y="0"/>
                  </a:moveTo>
                  <a:lnTo>
                    <a:pt x="0" y="0"/>
                  </a:lnTo>
                  <a:lnTo>
                    <a:pt x="0" y="25555"/>
                  </a:lnTo>
                  <a:lnTo>
                    <a:pt x="76812" y="25555"/>
                  </a:lnTo>
                  <a:cubicBezTo>
                    <a:pt x="90306" y="25555"/>
                    <a:pt x="102416" y="37297"/>
                    <a:pt x="102416" y="51110"/>
                  </a:cubicBezTo>
                  <a:cubicBezTo>
                    <a:pt x="102416" y="64924"/>
                    <a:pt x="90652" y="76665"/>
                    <a:pt x="76812" y="76665"/>
                  </a:cubicBezTo>
                  <a:lnTo>
                    <a:pt x="0" y="76665"/>
                  </a:lnTo>
                  <a:lnTo>
                    <a:pt x="0" y="102221"/>
                  </a:lnTo>
                  <a:lnTo>
                    <a:pt x="76812" y="102221"/>
                  </a:lnTo>
                  <a:cubicBezTo>
                    <a:pt x="96188" y="102221"/>
                    <a:pt x="113142" y="91515"/>
                    <a:pt x="121792" y="75629"/>
                  </a:cubicBezTo>
                  <a:cubicBezTo>
                    <a:pt x="125598" y="68377"/>
                    <a:pt x="128020" y="59744"/>
                    <a:pt x="128020" y="51110"/>
                  </a:cubicBezTo>
                  <a:cubicBezTo>
                    <a:pt x="128020" y="42477"/>
                    <a:pt x="125598" y="33843"/>
                    <a:pt x="121792" y="26591"/>
                  </a:cubicBezTo>
                  <a:cubicBezTo>
                    <a:pt x="113142" y="10706"/>
                    <a:pt x="96188" y="0"/>
                    <a:pt x="76812" y="0"/>
                  </a:cubicBezTo>
                  <a:close/>
                </a:path>
              </a:pathLst>
            </a:custGeom>
            <a:grpFill/>
            <a:ln w="3458" cap="flat">
              <a:noFill/>
              <a:prstDash val="solid"/>
              <a:miter/>
            </a:ln>
          </p:spPr>
          <p:txBody>
            <a:bodyPr rtlCol="0" anchor="ctr"/>
            <a:lstStyle/>
            <a:p>
              <a:endParaRPr lang="en-US" sz="1800"/>
            </a:p>
          </p:txBody>
        </p:sp>
        <p:sp>
          <p:nvSpPr>
            <p:cNvPr id="9" name="Freeform 8">
              <a:extLst>
                <a:ext uri="{FF2B5EF4-FFF2-40B4-BE49-F238E27FC236}">
                  <a16:creationId xmlns:a16="http://schemas.microsoft.com/office/drawing/2014/main" id="{8E00691B-025E-E1DC-3E99-C7EAD36953D7}"/>
                </a:ext>
              </a:extLst>
            </p:cNvPr>
            <p:cNvSpPr/>
            <p:nvPr/>
          </p:nvSpPr>
          <p:spPr>
            <a:xfrm>
              <a:off x="9080478" y="7685087"/>
              <a:ext cx="40481" cy="102220"/>
            </a:xfrm>
            <a:custGeom>
              <a:avLst/>
              <a:gdLst>
                <a:gd name="connsiteX0" fmla="*/ 5190 w 40481"/>
                <a:gd name="connsiteY0" fmla="*/ 25555 h 102220"/>
                <a:gd name="connsiteX1" fmla="*/ 7266 w 40481"/>
                <a:gd name="connsiteY1" fmla="*/ 25555 h 102220"/>
                <a:gd name="connsiteX2" fmla="*/ 14878 w 40481"/>
                <a:gd name="connsiteY2" fmla="*/ 35225 h 102220"/>
                <a:gd name="connsiteX3" fmla="*/ 14878 w 40481"/>
                <a:gd name="connsiteY3" fmla="*/ 102221 h 102220"/>
                <a:gd name="connsiteX4" fmla="*/ 40482 w 40481"/>
                <a:gd name="connsiteY4" fmla="*/ 102221 h 102220"/>
                <a:gd name="connsiteX5" fmla="*/ 40482 w 40481"/>
                <a:gd name="connsiteY5" fmla="*/ 0 h 102220"/>
                <a:gd name="connsiteX6" fmla="*/ 0 w 40481"/>
                <a:gd name="connsiteY6" fmla="*/ 0 h 102220"/>
                <a:gd name="connsiteX7" fmla="*/ 0 w 40481"/>
                <a:gd name="connsiteY7" fmla="*/ 25555 h 102220"/>
                <a:gd name="connsiteX8" fmla="*/ 5536 w 40481"/>
                <a:gd name="connsiteY8" fmla="*/ 25555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481" h="102220">
                  <a:moveTo>
                    <a:pt x="5190" y="25555"/>
                  </a:moveTo>
                  <a:cubicBezTo>
                    <a:pt x="5882" y="25555"/>
                    <a:pt x="6574" y="25555"/>
                    <a:pt x="7266" y="25555"/>
                  </a:cubicBezTo>
                  <a:cubicBezTo>
                    <a:pt x="12110" y="26246"/>
                    <a:pt x="14878" y="30045"/>
                    <a:pt x="14878" y="35225"/>
                  </a:cubicBezTo>
                  <a:lnTo>
                    <a:pt x="14878" y="102221"/>
                  </a:lnTo>
                  <a:lnTo>
                    <a:pt x="40482" y="102221"/>
                  </a:lnTo>
                  <a:lnTo>
                    <a:pt x="40482" y="0"/>
                  </a:lnTo>
                  <a:lnTo>
                    <a:pt x="0" y="0"/>
                  </a:lnTo>
                  <a:lnTo>
                    <a:pt x="0" y="25555"/>
                  </a:lnTo>
                  <a:lnTo>
                    <a:pt x="5536" y="25555"/>
                  </a:lnTo>
                  <a:close/>
                </a:path>
              </a:pathLst>
            </a:custGeom>
            <a:grpFill/>
            <a:ln w="3458" cap="flat">
              <a:noFill/>
              <a:prstDash val="solid"/>
              <a:miter/>
            </a:ln>
          </p:spPr>
          <p:txBody>
            <a:bodyPr rtlCol="0" anchor="ctr"/>
            <a:lstStyle/>
            <a:p>
              <a:endParaRPr lang="en-US" sz="1800"/>
            </a:p>
          </p:txBody>
        </p:sp>
        <p:sp>
          <p:nvSpPr>
            <p:cNvPr id="12" name="Freeform 11">
              <a:extLst>
                <a:ext uri="{FF2B5EF4-FFF2-40B4-BE49-F238E27FC236}">
                  <a16:creationId xmlns:a16="http://schemas.microsoft.com/office/drawing/2014/main" id="{01F84499-EFC6-C957-CB2C-D8CFEF93ABD3}"/>
                </a:ext>
              </a:extLst>
            </p:cNvPr>
            <p:cNvSpPr/>
            <p:nvPr/>
          </p:nvSpPr>
          <p:spPr>
            <a:xfrm>
              <a:off x="9146218" y="7685087"/>
              <a:ext cx="128365" cy="102220"/>
            </a:xfrm>
            <a:custGeom>
              <a:avLst/>
              <a:gdLst>
                <a:gd name="connsiteX0" fmla="*/ 128365 w 128365"/>
                <a:gd name="connsiteY0" fmla="*/ 81846 h 102220"/>
                <a:gd name="connsiteX1" fmla="*/ 128365 w 128365"/>
                <a:gd name="connsiteY1" fmla="*/ 102221 h 102220"/>
                <a:gd name="connsiteX2" fmla="*/ 19722 w 128365"/>
                <a:gd name="connsiteY2" fmla="*/ 60780 h 102220"/>
                <a:gd name="connsiteX3" fmla="*/ 0 w 128365"/>
                <a:gd name="connsiteY3" fmla="*/ 30735 h 102220"/>
                <a:gd name="connsiteX4" fmla="*/ 31140 w 128365"/>
                <a:gd name="connsiteY4" fmla="*/ 0 h 102220"/>
                <a:gd name="connsiteX5" fmla="*/ 128020 w 128365"/>
                <a:gd name="connsiteY5" fmla="*/ 0 h 102220"/>
                <a:gd name="connsiteX6" fmla="*/ 128020 w 128365"/>
                <a:gd name="connsiteY6" fmla="*/ 40059 h 102220"/>
                <a:gd name="connsiteX7" fmla="*/ 102416 w 128365"/>
                <a:gd name="connsiteY7" fmla="*/ 40059 h 102220"/>
                <a:gd name="connsiteX8" fmla="*/ 102416 w 128365"/>
                <a:gd name="connsiteY8" fmla="*/ 32807 h 102220"/>
                <a:gd name="connsiteX9" fmla="*/ 94458 w 128365"/>
                <a:gd name="connsiteY9" fmla="*/ 25555 h 102220"/>
                <a:gd name="connsiteX10" fmla="*/ 37714 w 128365"/>
                <a:gd name="connsiteY10" fmla="*/ 25555 h 102220"/>
                <a:gd name="connsiteX11" fmla="*/ 29756 w 128365"/>
                <a:gd name="connsiteY11" fmla="*/ 33498 h 102220"/>
                <a:gd name="connsiteX12" fmla="*/ 34946 w 128365"/>
                <a:gd name="connsiteY12" fmla="*/ 41095 h 102220"/>
                <a:gd name="connsiteX13" fmla="*/ 119370 w 128365"/>
                <a:gd name="connsiteY13" fmla="*/ 70795 h 102220"/>
                <a:gd name="connsiteX14" fmla="*/ 127674 w 128365"/>
                <a:gd name="connsiteY14"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8365" h="102220">
                  <a:moveTo>
                    <a:pt x="128365" y="81846"/>
                  </a:moveTo>
                  <a:lnTo>
                    <a:pt x="128365"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close/>
                </a:path>
              </a:pathLst>
            </a:custGeom>
            <a:grpFill/>
            <a:ln w="3458" cap="flat">
              <a:noFill/>
              <a:prstDash val="solid"/>
              <a:miter/>
            </a:ln>
          </p:spPr>
          <p:txBody>
            <a:bodyPr rtlCol="0" anchor="ctr"/>
            <a:lstStyle/>
            <a:p>
              <a:endParaRPr lang="en-US" sz="1800"/>
            </a:p>
          </p:txBody>
        </p:sp>
        <p:sp>
          <p:nvSpPr>
            <p:cNvPr id="13" name="Freeform 12">
              <a:extLst>
                <a:ext uri="{FF2B5EF4-FFF2-40B4-BE49-F238E27FC236}">
                  <a16:creationId xmlns:a16="http://schemas.microsoft.com/office/drawing/2014/main" id="{7A6A83C5-405D-825A-1897-EFD4E5882913}"/>
                </a:ext>
              </a:extLst>
            </p:cNvPr>
            <p:cNvSpPr/>
            <p:nvPr/>
          </p:nvSpPr>
          <p:spPr>
            <a:xfrm>
              <a:off x="9146564" y="7761753"/>
              <a:ext cx="25258" cy="25555"/>
            </a:xfrm>
            <a:custGeom>
              <a:avLst/>
              <a:gdLst>
                <a:gd name="connsiteX0" fmla="*/ 25258 w 25258"/>
                <a:gd name="connsiteY0" fmla="*/ 0 h 25555"/>
                <a:gd name="connsiteX1" fmla="*/ 0 w 25258"/>
                <a:gd name="connsiteY1" fmla="*/ 0 h 25555"/>
                <a:gd name="connsiteX2" fmla="*/ 0 w 25258"/>
                <a:gd name="connsiteY2" fmla="*/ 25555 h 25555"/>
                <a:gd name="connsiteX3" fmla="*/ 25258 w 25258"/>
                <a:gd name="connsiteY3" fmla="*/ 25555 h 25555"/>
                <a:gd name="connsiteX4" fmla="*/ 25258 w 25258"/>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8"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14" name="Freeform 13">
              <a:extLst>
                <a:ext uri="{FF2B5EF4-FFF2-40B4-BE49-F238E27FC236}">
                  <a16:creationId xmlns:a16="http://schemas.microsoft.com/office/drawing/2014/main" id="{2FDF2FC7-F404-8F1B-AFDF-28D314374476}"/>
                </a:ext>
              </a:extLst>
            </p:cNvPr>
            <p:cNvSpPr/>
            <p:nvPr/>
          </p:nvSpPr>
          <p:spPr>
            <a:xfrm>
              <a:off x="8480170" y="7685087"/>
              <a:ext cx="128019" cy="102220"/>
            </a:xfrm>
            <a:custGeom>
              <a:avLst/>
              <a:gdLst>
                <a:gd name="connsiteX0" fmla="*/ 128020 w 128019"/>
                <a:gd name="connsiteY0" fmla="*/ 81846 h 102220"/>
                <a:gd name="connsiteX1" fmla="*/ 128020 w 128019"/>
                <a:gd name="connsiteY1" fmla="*/ 102221 h 102220"/>
                <a:gd name="connsiteX2" fmla="*/ 19722 w 128019"/>
                <a:gd name="connsiteY2" fmla="*/ 60780 h 102220"/>
                <a:gd name="connsiteX3" fmla="*/ 0 w 128019"/>
                <a:gd name="connsiteY3" fmla="*/ 30735 h 102220"/>
                <a:gd name="connsiteX4" fmla="*/ 31140 w 128019"/>
                <a:gd name="connsiteY4" fmla="*/ 0 h 102220"/>
                <a:gd name="connsiteX5" fmla="*/ 128020 w 128019"/>
                <a:gd name="connsiteY5" fmla="*/ 0 h 102220"/>
                <a:gd name="connsiteX6" fmla="*/ 128020 w 128019"/>
                <a:gd name="connsiteY6" fmla="*/ 40059 h 102220"/>
                <a:gd name="connsiteX7" fmla="*/ 102416 w 128019"/>
                <a:gd name="connsiteY7" fmla="*/ 40059 h 102220"/>
                <a:gd name="connsiteX8" fmla="*/ 102416 w 128019"/>
                <a:gd name="connsiteY8" fmla="*/ 32807 h 102220"/>
                <a:gd name="connsiteX9" fmla="*/ 94458 w 128019"/>
                <a:gd name="connsiteY9" fmla="*/ 25555 h 102220"/>
                <a:gd name="connsiteX10" fmla="*/ 37714 w 128019"/>
                <a:gd name="connsiteY10" fmla="*/ 25555 h 102220"/>
                <a:gd name="connsiteX11" fmla="*/ 29756 w 128019"/>
                <a:gd name="connsiteY11" fmla="*/ 33498 h 102220"/>
                <a:gd name="connsiteX12" fmla="*/ 34946 w 128019"/>
                <a:gd name="connsiteY12" fmla="*/ 41095 h 102220"/>
                <a:gd name="connsiteX13" fmla="*/ 119370 w 128019"/>
                <a:gd name="connsiteY13" fmla="*/ 70795 h 102220"/>
                <a:gd name="connsiteX14" fmla="*/ 127674 w 128019"/>
                <a:gd name="connsiteY14" fmla="*/ 81846 h 102220"/>
                <a:gd name="connsiteX15" fmla="*/ 127674 w 128019"/>
                <a:gd name="connsiteY15"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8019" h="102220">
                  <a:moveTo>
                    <a:pt x="128020" y="81846"/>
                  </a:moveTo>
                  <a:lnTo>
                    <a:pt x="128020"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lnTo>
                    <a:pt x="127674" y="81846"/>
                  </a:lnTo>
                  <a:close/>
                </a:path>
              </a:pathLst>
            </a:custGeom>
            <a:grpFill/>
            <a:ln w="3458" cap="flat">
              <a:noFill/>
              <a:prstDash val="solid"/>
              <a:miter/>
            </a:ln>
          </p:spPr>
          <p:txBody>
            <a:bodyPr rtlCol="0" anchor="ctr"/>
            <a:lstStyle/>
            <a:p>
              <a:endParaRPr lang="en-US" sz="1800"/>
            </a:p>
          </p:txBody>
        </p:sp>
        <p:sp>
          <p:nvSpPr>
            <p:cNvPr id="15" name="Freeform 14">
              <a:extLst>
                <a:ext uri="{FF2B5EF4-FFF2-40B4-BE49-F238E27FC236}">
                  <a16:creationId xmlns:a16="http://schemas.microsoft.com/office/drawing/2014/main" id="{AE4BA22C-356C-E626-557E-8CBC050A792E}"/>
                </a:ext>
              </a:extLst>
            </p:cNvPr>
            <p:cNvSpPr/>
            <p:nvPr/>
          </p:nvSpPr>
          <p:spPr>
            <a:xfrm>
              <a:off x="8480516" y="7761753"/>
              <a:ext cx="25257" cy="25555"/>
            </a:xfrm>
            <a:custGeom>
              <a:avLst/>
              <a:gdLst>
                <a:gd name="connsiteX0" fmla="*/ 25258 w 25257"/>
                <a:gd name="connsiteY0" fmla="*/ 0 h 25555"/>
                <a:gd name="connsiteX1" fmla="*/ 0 w 25257"/>
                <a:gd name="connsiteY1" fmla="*/ 0 h 25555"/>
                <a:gd name="connsiteX2" fmla="*/ 0 w 25257"/>
                <a:gd name="connsiteY2" fmla="*/ 25555 h 25555"/>
                <a:gd name="connsiteX3" fmla="*/ 25258 w 25257"/>
                <a:gd name="connsiteY3" fmla="*/ 25555 h 25555"/>
                <a:gd name="connsiteX4" fmla="*/ 25258 w 25257"/>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7"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16" name="Freeform 15">
              <a:extLst>
                <a:ext uri="{FF2B5EF4-FFF2-40B4-BE49-F238E27FC236}">
                  <a16:creationId xmlns:a16="http://schemas.microsoft.com/office/drawing/2014/main" id="{36B502A8-6E11-321A-0F10-40F980E9C9BE}"/>
                </a:ext>
              </a:extLst>
            </p:cNvPr>
            <p:cNvSpPr/>
            <p:nvPr/>
          </p:nvSpPr>
          <p:spPr>
            <a:xfrm>
              <a:off x="9300533" y="7685087"/>
              <a:ext cx="128019" cy="102220"/>
            </a:xfrm>
            <a:custGeom>
              <a:avLst/>
              <a:gdLst>
                <a:gd name="connsiteX0" fmla="*/ 128020 w 128019"/>
                <a:gd name="connsiteY0" fmla="*/ 25555 h 102220"/>
                <a:gd name="connsiteX1" fmla="*/ 128020 w 128019"/>
                <a:gd name="connsiteY1" fmla="*/ 0 h 102220"/>
                <a:gd name="connsiteX2" fmla="*/ 105530 w 128019"/>
                <a:gd name="connsiteY2" fmla="*/ 0 h 102220"/>
                <a:gd name="connsiteX3" fmla="*/ 100686 w 128019"/>
                <a:gd name="connsiteY3" fmla="*/ 1727 h 102220"/>
                <a:gd name="connsiteX4" fmla="*/ 60550 w 128019"/>
                <a:gd name="connsiteY4" fmla="*/ 37987 h 102220"/>
                <a:gd name="connsiteX5" fmla="*/ 56398 w 128019"/>
                <a:gd name="connsiteY5" fmla="*/ 39714 h 102220"/>
                <a:gd name="connsiteX6" fmla="*/ 28372 w 128019"/>
                <a:gd name="connsiteY6" fmla="*/ 39714 h 102220"/>
                <a:gd name="connsiteX7" fmla="*/ 25258 w 128019"/>
                <a:gd name="connsiteY7" fmla="*/ 36606 h 102220"/>
                <a:gd name="connsiteX8" fmla="*/ 25258 w 128019"/>
                <a:gd name="connsiteY8" fmla="*/ 0 h 102220"/>
                <a:gd name="connsiteX9" fmla="*/ 0 w 128019"/>
                <a:gd name="connsiteY9" fmla="*/ 0 h 102220"/>
                <a:gd name="connsiteX10" fmla="*/ 0 w 128019"/>
                <a:gd name="connsiteY10" fmla="*/ 102221 h 102220"/>
                <a:gd name="connsiteX11" fmla="*/ 25258 w 128019"/>
                <a:gd name="connsiteY11" fmla="*/ 102221 h 102220"/>
                <a:gd name="connsiteX12" fmla="*/ 25258 w 128019"/>
                <a:gd name="connsiteY12" fmla="*/ 65615 h 102220"/>
                <a:gd name="connsiteX13" fmla="*/ 28372 w 128019"/>
                <a:gd name="connsiteY13" fmla="*/ 62507 h 102220"/>
                <a:gd name="connsiteX14" fmla="*/ 56398 w 128019"/>
                <a:gd name="connsiteY14" fmla="*/ 62507 h 102220"/>
                <a:gd name="connsiteX15" fmla="*/ 60550 w 128019"/>
                <a:gd name="connsiteY15" fmla="*/ 64233 h 102220"/>
                <a:gd name="connsiteX16" fmla="*/ 100686 w 128019"/>
                <a:gd name="connsiteY16" fmla="*/ 100494 h 102220"/>
                <a:gd name="connsiteX17" fmla="*/ 105530 w 128019"/>
                <a:gd name="connsiteY17" fmla="*/ 102221 h 102220"/>
                <a:gd name="connsiteX18" fmla="*/ 128020 w 128019"/>
                <a:gd name="connsiteY18" fmla="*/ 102221 h 102220"/>
                <a:gd name="connsiteX19" fmla="*/ 128020 w 128019"/>
                <a:gd name="connsiteY19" fmla="*/ 76665 h 102220"/>
                <a:gd name="connsiteX20" fmla="*/ 115564 w 128019"/>
                <a:gd name="connsiteY20" fmla="*/ 76665 h 102220"/>
                <a:gd name="connsiteX21" fmla="*/ 105184 w 128019"/>
                <a:gd name="connsiteY21" fmla="*/ 72867 h 102220"/>
                <a:gd name="connsiteX22" fmla="*/ 86154 w 128019"/>
                <a:gd name="connsiteY22" fmla="*/ 55945 h 102220"/>
                <a:gd name="connsiteX23" fmla="*/ 86154 w 128019"/>
                <a:gd name="connsiteY23" fmla="*/ 45930 h 102220"/>
                <a:gd name="connsiteX24" fmla="*/ 105184 w 128019"/>
                <a:gd name="connsiteY24" fmla="*/ 29009 h 102220"/>
                <a:gd name="connsiteX25" fmla="*/ 115564 w 128019"/>
                <a:gd name="connsiteY25" fmla="*/ 25210 h 102220"/>
                <a:gd name="connsiteX26" fmla="*/ 128020 w 128019"/>
                <a:gd name="connsiteY26" fmla="*/ 2521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8019" h="102220">
                  <a:moveTo>
                    <a:pt x="128020" y="25555"/>
                  </a:moveTo>
                  <a:lnTo>
                    <a:pt x="128020" y="0"/>
                  </a:lnTo>
                  <a:lnTo>
                    <a:pt x="105530" y="0"/>
                  </a:lnTo>
                  <a:cubicBezTo>
                    <a:pt x="103800" y="0"/>
                    <a:pt x="102070" y="691"/>
                    <a:pt x="100686" y="1727"/>
                  </a:cubicBezTo>
                  <a:lnTo>
                    <a:pt x="60550" y="37987"/>
                  </a:lnTo>
                  <a:cubicBezTo>
                    <a:pt x="59512" y="39023"/>
                    <a:pt x="58128" y="39714"/>
                    <a:pt x="56398" y="39714"/>
                  </a:cubicBezTo>
                  <a:lnTo>
                    <a:pt x="28372" y="39714"/>
                  </a:lnTo>
                  <a:cubicBezTo>
                    <a:pt x="26642" y="39714"/>
                    <a:pt x="25258" y="38333"/>
                    <a:pt x="25258" y="36606"/>
                  </a:cubicBezTo>
                  <a:lnTo>
                    <a:pt x="25258" y="0"/>
                  </a:lnTo>
                  <a:lnTo>
                    <a:pt x="0" y="0"/>
                  </a:lnTo>
                  <a:lnTo>
                    <a:pt x="0" y="102221"/>
                  </a:lnTo>
                  <a:lnTo>
                    <a:pt x="25258" y="102221"/>
                  </a:lnTo>
                  <a:lnTo>
                    <a:pt x="25258" y="65615"/>
                  </a:lnTo>
                  <a:cubicBezTo>
                    <a:pt x="25258" y="63888"/>
                    <a:pt x="26642" y="62507"/>
                    <a:pt x="28372" y="62507"/>
                  </a:cubicBezTo>
                  <a:lnTo>
                    <a:pt x="56398" y="62507"/>
                  </a:lnTo>
                  <a:cubicBezTo>
                    <a:pt x="57782" y="62507"/>
                    <a:pt x="59512" y="62852"/>
                    <a:pt x="60550" y="64233"/>
                  </a:cubicBezTo>
                  <a:lnTo>
                    <a:pt x="100686" y="100494"/>
                  </a:lnTo>
                  <a:cubicBezTo>
                    <a:pt x="102070" y="101530"/>
                    <a:pt x="103800" y="102221"/>
                    <a:pt x="105530" y="102221"/>
                  </a:cubicBezTo>
                  <a:lnTo>
                    <a:pt x="128020" y="102221"/>
                  </a:lnTo>
                  <a:lnTo>
                    <a:pt x="128020" y="76665"/>
                  </a:lnTo>
                  <a:lnTo>
                    <a:pt x="115564" y="76665"/>
                  </a:lnTo>
                  <a:cubicBezTo>
                    <a:pt x="111758" y="76665"/>
                    <a:pt x="107952" y="75284"/>
                    <a:pt x="105184" y="72867"/>
                  </a:cubicBezTo>
                  <a:lnTo>
                    <a:pt x="86154" y="55945"/>
                  </a:lnTo>
                  <a:cubicBezTo>
                    <a:pt x="83040" y="53528"/>
                    <a:pt x="83040" y="48693"/>
                    <a:pt x="86154" y="45930"/>
                  </a:cubicBezTo>
                  <a:lnTo>
                    <a:pt x="105184" y="29009"/>
                  </a:lnTo>
                  <a:cubicBezTo>
                    <a:pt x="108298" y="26591"/>
                    <a:pt x="111758" y="25210"/>
                    <a:pt x="115564" y="25210"/>
                  </a:cubicBezTo>
                  <a:lnTo>
                    <a:pt x="128020" y="25210"/>
                  </a:lnTo>
                  <a:close/>
                </a:path>
              </a:pathLst>
            </a:custGeom>
            <a:grpFill/>
            <a:ln w="3458" cap="flat">
              <a:noFill/>
              <a:prstDash val="solid"/>
              <a:miter/>
            </a:ln>
          </p:spPr>
          <p:txBody>
            <a:bodyPr rtlCol="0" anchor="ctr"/>
            <a:lstStyle/>
            <a:p>
              <a:endParaRPr lang="en-US" sz="1800"/>
            </a:p>
          </p:txBody>
        </p:sp>
        <p:sp>
          <p:nvSpPr>
            <p:cNvPr id="17" name="Freeform 16">
              <a:extLst>
                <a:ext uri="{FF2B5EF4-FFF2-40B4-BE49-F238E27FC236}">
                  <a16:creationId xmlns:a16="http://schemas.microsoft.com/office/drawing/2014/main" id="{79103140-5C44-612B-7CD8-63C114C33515}"/>
                </a:ext>
              </a:extLst>
            </p:cNvPr>
            <p:cNvSpPr/>
            <p:nvPr/>
          </p:nvSpPr>
          <p:spPr>
            <a:xfrm>
              <a:off x="8623760" y="7684742"/>
              <a:ext cx="138053" cy="102565"/>
            </a:xfrm>
            <a:custGeom>
              <a:avLst/>
              <a:gdLst>
                <a:gd name="connsiteX0" fmla="*/ 99302 w 138053"/>
                <a:gd name="connsiteY0" fmla="*/ 345 h 102565"/>
                <a:gd name="connsiteX1" fmla="*/ 70238 w 138053"/>
                <a:gd name="connsiteY1" fmla="*/ 14850 h 102565"/>
                <a:gd name="connsiteX2" fmla="*/ 0 w 138053"/>
                <a:gd name="connsiteY2" fmla="*/ 102566 h 102565"/>
                <a:gd name="connsiteX3" fmla="*/ 35638 w 138053"/>
                <a:gd name="connsiteY3" fmla="*/ 102566 h 102565"/>
                <a:gd name="connsiteX4" fmla="*/ 93420 w 138053"/>
                <a:gd name="connsiteY4" fmla="*/ 31426 h 102565"/>
                <a:gd name="connsiteX5" fmla="*/ 102762 w 138053"/>
                <a:gd name="connsiteY5" fmla="*/ 26246 h 102565"/>
                <a:gd name="connsiteX6" fmla="*/ 112450 w 138053"/>
                <a:gd name="connsiteY6" fmla="*/ 36951 h 102565"/>
                <a:gd name="connsiteX7" fmla="*/ 112450 w 138053"/>
                <a:gd name="connsiteY7" fmla="*/ 68032 h 102565"/>
                <a:gd name="connsiteX8" fmla="*/ 105184 w 138053"/>
                <a:gd name="connsiteY8" fmla="*/ 77011 h 102565"/>
                <a:gd name="connsiteX9" fmla="*/ 97918 w 138053"/>
                <a:gd name="connsiteY9" fmla="*/ 77011 h 102565"/>
                <a:gd name="connsiteX10" fmla="*/ 97918 w 138053"/>
                <a:gd name="connsiteY10" fmla="*/ 102566 h 102565"/>
                <a:gd name="connsiteX11" fmla="*/ 138054 w 138053"/>
                <a:gd name="connsiteY11" fmla="*/ 102566 h 102565"/>
                <a:gd name="connsiteX12" fmla="*/ 138054 w 138053"/>
                <a:gd name="connsiteY12" fmla="*/ 38333 h 102565"/>
                <a:gd name="connsiteX13" fmla="*/ 98956 w 138053"/>
                <a:gd name="connsiteY13" fmla="*/ 0 h 102565"/>
                <a:gd name="connsiteX14" fmla="*/ 98956 w 138053"/>
                <a:gd name="connsiteY14" fmla="*/ 0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8053" h="102565">
                  <a:moveTo>
                    <a:pt x="99302" y="345"/>
                  </a:moveTo>
                  <a:cubicBezTo>
                    <a:pt x="87884" y="345"/>
                    <a:pt x="77158" y="5871"/>
                    <a:pt x="70238" y="14850"/>
                  </a:cubicBezTo>
                  <a:lnTo>
                    <a:pt x="0" y="102566"/>
                  </a:lnTo>
                  <a:lnTo>
                    <a:pt x="35638" y="102566"/>
                  </a:lnTo>
                  <a:lnTo>
                    <a:pt x="93420" y="31426"/>
                  </a:lnTo>
                  <a:cubicBezTo>
                    <a:pt x="96188" y="27973"/>
                    <a:pt x="98264" y="26246"/>
                    <a:pt x="102762" y="26246"/>
                  </a:cubicBezTo>
                  <a:cubicBezTo>
                    <a:pt x="107260" y="26246"/>
                    <a:pt x="112450" y="31081"/>
                    <a:pt x="112450" y="36951"/>
                  </a:cubicBezTo>
                  <a:lnTo>
                    <a:pt x="112450" y="68032"/>
                  </a:lnTo>
                  <a:cubicBezTo>
                    <a:pt x="112450" y="72867"/>
                    <a:pt x="110028" y="77011"/>
                    <a:pt x="105184" y="77011"/>
                  </a:cubicBezTo>
                  <a:lnTo>
                    <a:pt x="97918" y="77011"/>
                  </a:lnTo>
                  <a:lnTo>
                    <a:pt x="97918" y="102566"/>
                  </a:lnTo>
                  <a:lnTo>
                    <a:pt x="138054" y="102566"/>
                  </a:lnTo>
                  <a:lnTo>
                    <a:pt x="138054" y="38333"/>
                  </a:lnTo>
                  <a:cubicBezTo>
                    <a:pt x="138054" y="33153"/>
                    <a:pt x="138054" y="0"/>
                    <a:pt x="98956" y="0"/>
                  </a:cubicBezTo>
                  <a:lnTo>
                    <a:pt x="98956" y="0"/>
                  </a:lnTo>
                  <a:close/>
                </a:path>
              </a:pathLst>
            </a:custGeom>
            <a:grpFill/>
            <a:ln w="3458" cap="flat">
              <a:noFill/>
              <a:prstDash val="solid"/>
              <a:miter/>
            </a:ln>
          </p:spPr>
          <p:txBody>
            <a:bodyPr rtlCol="0" anchor="ctr"/>
            <a:lstStyle/>
            <a:p>
              <a:endParaRPr lang="en-US" sz="1800"/>
            </a:p>
          </p:txBody>
        </p:sp>
        <p:sp>
          <p:nvSpPr>
            <p:cNvPr id="18" name="Freeform 17">
              <a:extLst>
                <a:ext uri="{FF2B5EF4-FFF2-40B4-BE49-F238E27FC236}">
                  <a16:creationId xmlns:a16="http://schemas.microsoft.com/office/drawing/2014/main" id="{6403B555-C522-5078-27B1-10160B3345C7}"/>
                </a:ext>
              </a:extLst>
            </p:cNvPr>
            <p:cNvSpPr/>
            <p:nvPr/>
          </p:nvSpPr>
          <p:spPr>
            <a:xfrm>
              <a:off x="9480453" y="7685087"/>
              <a:ext cx="30793" cy="25555"/>
            </a:xfrm>
            <a:custGeom>
              <a:avLst/>
              <a:gdLst>
                <a:gd name="connsiteX0" fmla="*/ 30448 w 30793"/>
                <a:gd name="connsiteY0" fmla="*/ 0 h 25555"/>
                <a:gd name="connsiteX1" fmla="*/ 30448 w 30793"/>
                <a:gd name="connsiteY1" fmla="*/ 25555 h 25555"/>
                <a:gd name="connsiteX2" fmla="*/ 24912 w 30793"/>
                <a:gd name="connsiteY2" fmla="*/ 25555 h 25555"/>
                <a:gd name="connsiteX3" fmla="*/ 24912 w 30793"/>
                <a:gd name="connsiteY3" fmla="*/ 5180 h 25555"/>
                <a:gd name="connsiteX4" fmla="*/ 24912 w 30793"/>
                <a:gd name="connsiteY4" fmla="*/ 5180 h 25555"/>
                <a:gd name="connsiteX5" fmla="*/ 17646 w 30793"/>
                <a:gd name="connsiteY5" fmla="*/ 25555 h 25555"/>
                <a:gd name="connsiteX6" fmla="*/ 12802 w 30793"/>
                <a:gd name="connsiteY6" fmla="*/ 25555 h 25555"/>
                <a:gd name="connsiteX7" fmla="*/ 5536 w 30793"/>
                <a:gd name="connsiteY7" fmla="*/ 5180 h 25555"/>
                <a:gd name="connsiteX8" fmla="*/ 5536 w 30793"/>
                <a:gd name="connsiteY8" fmla="*/ 5180 h 25555"/>
                <a:gd name="connsiteX9" fmla="*/ 5536 w 30793"/>
                <a:gd name="connsiteY9" fmla="*/ 25555 h 25555"/>
                <a:gd name="connsiteX10" fmla="*/ 0 w 30793"/>
                <a:gd name="connsiteY10" fmla="*/ 25555 h 25555"/>
                <a:gd name="connsiteX11" fmla="*/ 0 w 30793"/>
                <a:gd name="connsiteY11" fmla="*/ 0 h 25555"/>
                <a:gd name="connsiteX12" fmla="*/ 9688 w 30793"/>
                <a:gd name="connsiteY12" fmla="*/ 0 h 25555"/>
                <a:gd name="connsiteX13" fmla="*/ 15570 w 30793"/>
                <a:gd name="connsiteY13" fmla="*/ 17267 h 25555"/>
                <a:gd name="connsiteX14" fmla="*/ 15570 w 30793"/>
                <a:gd name="connsiteY14" fmla="*/ 17267 h 25555"/>
                <a:gd name="connsiteX15" fmla="*/ 21798 w 30793"/>
                <a:gd name="connsiteY15" fmla="*/ 0 h 25555"/>
                <a:gd name="connsiteX16" fmla="*/ 30794 w 30793"/>
                <a:gd name="connsiteY16" fmla="*/ 0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793" h="25555">
                  <a:moveTo>
                    <a:pt x="30448" y="0"/>
                  </a:moveTo>
                  <a:lnTo>
                    <a:pt x="30448" y="25555"/>
                  </a:lnTo>
                  <a:lnTo>
                    <a:pt x="24912" y="25555"/>
                  </a:lnTo>
                  <a:lnTo>
                    <a:pt x="24912" y="5180"/>
                  </a:lnTo>
                  <a:lnTo>
                    <a:pt x="24912" y="5180"/>
                  </a:lnTo>
                  <a:lnTo>
                    <a:pt x="17646" y="25555"/>
                  </a:lnTo>
                  <a:lnTo>
                    <a:pt x="12802" y="25555"/>
                  </a:lnTo>
                  <a:lnTo>
                    <a:pt x="5536" y="5180"/>
                  </a:lnTo>
                  <a:lnTo>
                    <a:pt x="5536" y="5180"/>
                  </a:lnTo>
                  <a:lnTo>
                    <a:pt x="5536" y="25555"/>
                  </a:lnTo>
                  <a:lnTo>
                    <a:pt x="0" y="25555"/>
                  </a:lnTo>
                  <a:lnTo>
                    <a:pt x="0" y="0"/>
                  </a:lnTo>
                  <a:lnTo>
                    <a:pt x="9688" y="0"/>
                  </a:lnTo>
                  <a:lnTo>
                    <a:pt x="15570" y="17267"/>
                  </a:lnTo>
                  <a:lnTo>
                    <a:pt x="15570" y="17267"/>
                  </a:lnTo>
                  <a:lnTo>
                    <a:pt x="21798" y="0"/>
                  </a:lnTo>
                  <a:lnTo>
                    <a:pt x="30794" y="0"/>
                  </a:lnTo>
                  <a:close/>
                </a:path>
              </a:pathLst>
            </a:custGeom>
            <a:grpFill/>
            <a:ln w="3458" cap="flat">
              <a:noFill/>
              <a:prstDash val="solid"/>
              <a:miter/>
            </a:ln>
          </p:spPr>
          <p:txBody>
            <a:bodyPr rtlCol="0" anchor="ctr"/>
            <a:lstStyle/>
            <a:p>
              <a:endParaRPr lang="en-US" sz="1800"/>
            </a:p>
          </p:txBody>
        </p:sp>
        <p:sp>
          <p:nvSpPr>
            <p:cNvPr id="32" name="Freeform 31">
              <a:extLst>
                <a:ext uri="{FF2B5EF4-FFF2-40B4-BE49-F238E27FC236}">
                  <a16:creationId xmlns:a16="http://schemas.microsoft.com/office/drawing/2014/main" id="{83022858-FA76-60FE-6FBE-30E403926B74}"/>
                </a:ext>
              </a:extLst>
            </p:cNvPr>
            <p:cNvSpPr/>
            <p:nvPr/>
          </p:nvSpPr>
          <p:spPr>
            <a:xfrm>
              <a:off x="9453811" y="7685087"/>
              <a:ext cx="21451" cy="25555"/>
            </a:xfrm>
            <a:custGeom>
              <a:avLst/>
              <a:gdLst>
                <a:gd name="connsiteX0" fmla="*/ 13840 w 21451"/>
                <a:gd name="connsiteY0" fmla="*/ 4835 h 25555"/>
                <a:gd name="connsiteX1" fmla="*/ 13840 w 21451"/>
                <a:gd name="connsiteY1" fmla="*/ 25555 h 25555"/>
                <a:gd name="connsiteX2" fmla="*/ 7958 w 21451"/>
                <a:gd name="connsiteY2" fmla="*/ 25555 h 25555"/>
                <a:gd name="connsiteX3" fmla="*/ 7958 w 21451"/>
                <a:gd name="connsiteY3" fmla="*/ 4835 h 25555"/>
                <a:gd name="connsiteX4" fmla="*/ 0 w 21451"/>
                <a:gd name="connsiteY4" fmla="*/ 4835 h 25555"/>
                <a:gd name="connsiteX5" fmla="*/ 0 w 21451"/>
                <a:gd name="connsiteY5" fmla="*/ 0 h 25555"/>
                <a:gd name="connsiteX6" fmla="*/ 21452 w 21451"/>
                <a:gd name="connsiteY6" fmla="*/ 0 h 25555"/>
                <a:gd name="connsiteX7" fmla="*/ 21452 w 21451"/>
                <a:gd name="connsiteY7" fmla="*/ 4835 h 25555"/>
                <a:gd name="connsiteX8" fmla="*/ 13494 w 21451"/>
                <a:gd name="connsiteY8" fmla="*/ 4835 h 25555"/>
                <a:gd name="connsiteX9" fmla="*/ 13494 w 21451"/>
                <a:gd name="connsiteY9" fmla="*/ 4835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451" h="25555">
                  <a:moveTo>
                    <a:pt x="13840" y="4835"/>
                  </a:moveTo>
                  <a:lnTo>
                    <a:pt x="13840" y="25555"/>
                  </a:lnTo>
                  <a:lnTo>
                    <a:pt x="7958" y="25555"/>
                  </a:lnTo>
                  <a:lnTo>
                    <a:pt x="7958" y="4835"/>
                  </a:lnTo>
                  <a:lnTo>
                    <a:pt x="0" y="4835"/>
                  </a:lnTo>
                  <a:lnTo>
                    <a:pt x="0" y="0"/>
                  </a:lnTo>
                  <a:lnTo>
                    <a:pt x="21452" y="0"/>
                  </a:lnTo>
                  <a:lnTo>
                    <a:pt x="21452" y="4835"/>
                  </a:lnTo>
                  <a:lnTo>
                    <a:pt x="13494" y="4835"/>
                  </a:lnTo>
                  <a:lnTo>
                    <a:pt x="13494" y="4835"/>
                  </a:lnTo>
                  <a:close/>
                </a:path>
              </a:pathLst>
            </a:custGeom>
            <a:grpFill/>
            <a:ln w="3458" cap="flat">
              <a:noFill/>
              <a:prstDash val="solid"/>
              <a:miter/>
            </a:ln>
          </p:spPr>
          <p:txBody>
            <a:bodyPr rtlCol="0" anchor="ctr"/>
            <a:lstStyle/>
            <a:p>
              <a:endParaRPr lang="en-US" sz="1800"/>
            </a:p>
          </p:txBody>
        </p:sp>
      </p:grpSp>
      <p:sp>
        <p:nvSpPr>
          <p:cNvPr id="34" name="Title 1">
            <a:extLst>
              <a:ext uri="{FF2B5EF4-FFF2-40B4-BE49-F238E27FC236}">
                <a16:creationId xmlns:a16="http://schemas.microsoft.com/office/drawing/2014/main" id="{3A72C64C-E798-2E76-8937-2877A80536BE}"/>
              </a:ext>
            </a:extLst>
          </p:cNvPr>
          <p:cNvSpPr>
            <a:spLocks noGrp="1"/>
          </p:cNvSpPr>
          <p:nvPr>
            <p:ph type="title" hasCustomPrompt="1"/>
          </p:nvPr>
        </p:nvSpPr>
        <p:spPr>
          <a:xfrm>
            <a:off x="292098" y="442939"/>
            <a:ext cx="11607291" cy="960120"/>
          </a:xfrm>
          <a:prstGeom prst="rect">
            <a:avLst/>
          </a:prstGeom>
        </p:spPr>
        <p:txBody>
          <a:bodyPr wrap="square" lIns="0" anchor="b">
            <a:noAutofit/>
          </a:bodyPr>
          <a:lstStyle>
            <a:lvl1pPr>
              <a:lnSpc>
                <a:spcPct val="100000"/>
              </a:lnSpc>
              <a:defRPr sz="3000" b="0" spc="0" baseline="0">
                <a:solidFill>
                  <a:schemeClr val="tx1"/>
                </a:solidFill>
                <a:latin typeface="+mj-lt"/>
              </a:defRPr>
            </a:lvl1pPr>
          </a:lstStyle>
          <a:p>
            <a:r>
              <a:rPr lang="en-US"/>
              <a:t>CLICK TO ADD TITLE</a:t>
            </a:r>
          </a:p>
        </p:txBody>
      </p:sp>
      <p:sp>
        <p:nvSpPr>
          <p:cNvPr id="35" name="Text Placeholder 13">
            <a:extLst>
              <a:ext uri="{FF2B5EF4-FFF2-40B4-BE49-F238E27FC236}">
                <a16:creationId xmlns:a16="http://schemas.microsoft.com/office/drawing/2014/main" id="{629C00BF-5540-0DB7-CDD1-F2D046742DD0}"/>
              </a:ext>
            </a:extLst>
          </p:cNvPr>
          <p:cNvSpPr>
            <a:spLocks noGrp="1"/>
          </p:cNvSpPr>
          <p:nvPr>
            <p:ph type="body" sz="quarter" idx="12" hasCustomPrompt="1"/>
          </p:nvPr>
        </p:nvSpPr>
        <p:spPr>
          <a:xfrm>
            <a:off x="292099" y="1407519"/>
            <a:ext cx="11607801" cy="496143"/>
          </a:xfrm>
          <a:prstGeom prst="rect">
            <a:avLst/>
          </a:prstGeom>
        </p:spPr>
        <p:txBody>
          <a:bodyPr wrap="none" lIns="0" bIns="0">
            <a:noAutofit/>
          </a:bodyPr>
          <a:lstStyle>
            <a:lvl1pPr marL="0" indent="0">
              <a:lnSpc>
                <a:spcPct val="100000"/>
              </a:lnSpc>
              <a:spcAft>
                <a:spcPts val="0"/>
              </a:spcAft>
              <a:buNone/>
              <a:defRPr sz="3000" b="0" spc="0" baseline="0">
                <a:solidFill>
                  <a:schemeClr val="accent1">
                    <a:lumMod val="50000"/>
                  </a:schemeClr>
                </a:solidFill>
                <a:latin typeface="+mj-lt"/>
              </a:defRPr>
            </a:lvl1pPr>
            <a:lvl2pPr marL="274304" indent="0">
              <a:buNone/>
              <a:defRPr/>
            </a:lvl2pPr>
            <a:lvl3pPr marL="914346" indent="0">
              <a:buNone/>
              <a:defRPr/>
            </a:lvl3pPr>
            <a:lvl4pPr marL="1371519" indent="0">
              <a:buNone/>
              <a:defRPr/>
            </a:lvl4pPr>
            <a:lvl5pPr marL="1828693" indent="0">
              <a:buNone/>
              <a:defRPr/>
            </a:lvl5pPr>
          </a:lstStyle>
          <a:p>
            <a:pPr lvl="0"/>
            <a:r>
              <a:rPr lang="en-US"/>
              <a:t>Click to Add Subtitle</a:t>
            </a:r>
          </a:p>
        </p:txBody>
      </p:sp>
      <p:sp>
        <p:nvSpPr>
          <p:cNvPr id="36" name="name_2024 sandisk or its affiliates All rights reserved">
            <a:extLst>
              <a:ext uri="{FF2B5EF4-FFF2-40B4-BE49-F238E27FC236}">
                <a16:creationId xmlns:a16="http://schemas.microsoft.com/office/drawing/2014/main" id="{0C30DF5A-D960-5BD0-14CE-BCA47A83BA6B}"/>
              </a:ext>
            </a:extLst>
          </p:cNvPr>
          <p:cNvSpPr txBox="1"/>
          <p:nvPr/>
        </p:nvSpPr>
        <p:spPr>
          <a:xfrm>
            <a:off x="6096000" y="6437971"/>
            <a:ext cx="5803900"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b">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r" defTabSz="609412" hangingPunct="0">
              <a:lnSpc>
                <a:spcPct val="100000"/>
              </a:lnSpc>
            </a:pPr>
            <a:r>
              <a:rPr lang="en-US" sz="1000" b="0" i="0" kern="0" spc="0" baseline="0">
                <a:solidFill>
                  <a:schemeClr val="tx2"/>
                </a:solidFill>
                <a:latin typeface="NB Architekt Pro Neue" panose="02010509020201040001" pitchFamily="49" charset="77"/>
                <a:cs typeface="Consolas" panose="020B0609020204030204" pitchFamily="49" charset="0"/>
              </a:rPr>
              <a:t>©2025 SANDISK CORPORATION OR ITS AFFILIATES ALL RIGHTS RESERVED</a:t>
            </a:r>
          </a:p>
        </p:txBody>
      </p:sp>
      <p:sp>
        <p:nvSpPr>
          <p:cNvPr id="37" name="name_2024 sandisk or its affiliates All rights reserved">
            <a:extLst>
              <a:ext uri="{FF2B5EF4-FFF2-40B4-BE49-F238E27FC236}">
                <a16:creationId xmlns:a16="http://schemas.microsoft.com/office/drawing/2014/main" id="{C94F3B7A-5EF9-24F0-EAE4-DDD05E4E3D0E}"/>
              </a:ext>
            </a:extLst>
          </p:cNvPr>
          <p:cNvSpPr txBox="1"/>
          <p:nvPr/>
        </p:nvSpPr>
        <p:spPr>
          <a:xfrm>
            <a:off x="8997951" y="267518"/>
            <a:ext cx="2242276"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ysClr val="windowText" lastClr="000000"/>
                </a:solidFill>
                <a:latin typeface="NB Architekt Pro Neue" panose="02010509020201040001" pitchFamily="49" charset="77"/>
                <a:cs typeface="Consolas" panose="020B0609020204030204" pitchFamily="49" charset="0"/>
              </a:rPr>
              <a:t>“START” “REPEAT” “1988/2025”</a:t>
            </a:r>
          </a:p>
        </p:txBody>
      </p:sp>
      <p:sp>
        <p:nvSpPr>
          <p:cNvPr id="38" name="Rectangle 37">
            <a:extLst>
              <a:ext uri="{FF2B5EF4-FFF2-40B4-BE49-F238E27FC236}">
                <a16:creationId xmlns:a16="http://schemas.microsoft.com/office/drawing/2014/main" id="{871936D5-702E-682A-9AEA-0B0940E9A4F3}"/>
              </a:ext>
            </a:extLst>
          </p:cNvPr>
          <p:cNvSpPr/>
          <p:nvPr/>
        </p:nvSpPr>
        <p:spPr>
          <a:xfrm>
            <a:off x="11808843" y="296581"/>
            <a:ext cx="91057" cy="9105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0" name="Content Placeholder 8">
            <a:extLst>
              <a:ext uri="{FF2B5EF4-FFF2-40B4-BE49-F238E27FC236}">
                <a16:creationId xmlns:a16="http://schemas.microsoft.com/office/drawing/2014/main" id="{05675490-9492-7CD1-95DD-1A7C21745426}"/>
              </a:ext>
            </a:extLst>
          </p:cNvPr>
          <p:cNvSpPr>
            <a:spLocks noGrp="1"/>
          </p:cNvSpPr>
          <p:nvPr>
            <p:ph sz="quarter" idx="11" hasCustomPrompt="1"/>
          </p:nvPr>
        </p:nvSpPr>
        <p:spPr>
          <a:xfrm>
            <a:off x="292099" y="2284930"/>
            <a:ext cx="11607801" cy="3885745"/>
          </a:xfrm>
          <a:prstGeom prst="rect">
            <a:avLst/>
          </a:prstGeom>
        </p:spPr>
        <p:txBody>
          <a:bodyPr lIns="0" bIns="0">
            <a:noAutofit/>
          </a:bodyPr>
          <a:lstStyle>
            <a:lvl1pPr marL="292608" indent="-292608">
              <a:lnSpc>
                <a:spcPct val="100000"/>
              </a:lnSpc>
              <a:spcBef>
                <a:spcPts val="0"/>
              </a:spcBef>
              <a:spcAft>
                <a:spcPts val="1000"/>
              </a:spcAft>
              <a:buClrTx/>
              <a:buSzPct val="100000"/>
              <a:buFont typeface="Pilat Regular" panose="020B0604020202020204" pitchFamily="34" charset="0"/>
              <a:buChar char="•"/>
              <a:defRPr sz="2000" spc="0">
                <a:solidFill>
                  <a:schemeClr val="tx1"/>
                </a:solidFill>
              </a:defRPr>
            </a:lvl1pPr>
            <a:lvl2pPr marL="585216" indent="-292608">
              <a:lnSpc>
                <a:spcPct val="100000"/>
              </a:lnSpc>
              <a:spcBef>
                <a:spcPts val="0"/>
              </a:spcBef>
              <a:spcAft>
                <a:spcPts val="1000"/>
              </a:spcAft>
              <a:buClrTx/>
              <a:buSzPct val="100000"/>
              <a:buFont typeface="Pilat Regular" panose="020B0604020202020204" pitchFamily="34" charset="0"/>
              <a:buChar char="•"/>
              <a:defRPr sz="2000" spc="0">
                <a:solidFill>
                  <a:schemeClr val="tx1"/>
                </a:solidFill>
              </a:defRPr>
            </a:lvl2pPr>
            <a:lvl3pPr marL="877824" indent="-292608">
              <a:lnSpc>
                <a:spcPct val="100000"/>
              </a:lnSpc>
              <a:spcBef>
                <a:spcPts val="0"/>
              </a:spcBef>
              <a:spcAft>
                <a:spcPts val="1000"/>
              </a:spcAft>
              <a:buClrTx/>
              <a:buSzPct val="100000"/>
              <a:buFont typeface="Pilat Regular" panose="020B0604020202020204" pitchFamily="34" charset="0"/>
              <a:buChar char="•"/>
              <a:defRPr sz="2000" spc="0">
                <a:solidFill>
                  <a:schemeClr val="tx1"/>
                </a:solidFill>
              </a:defRPr>
            </a:lvl3pPr>
            <a:lvl4pPr marL="1170432" indent="-292608">
              <a:lnSpc>
                <a:spcPct val="100000"/>
              </a:lnSpc>
              <a:spcBef>
                <a:spcPts val="0"/>
              </a:spcBef>
              <a:spcAft>
                <a:spcPts val="1000"/>
              </a:spcAft>
              <a:buClrTx/>
              <a:buSzPct val="100000"/>
              <a:buFont typeface="Pilat Regular" panose="020B0604020202020204" pitchFamily="34" charset="0"/>
              <a:buChar char="•"/>
              <a:defRPr sz="2000" spc="0">
                <a:solidFill>
                  <a:schemeClr val="tx1"/>
                </a:solidFill>
              </a:defRPr>
            </a:lvl4pPr>
            <a:lvl5pPr marL="1463040" indent="-292608">
              <a:lnSpc>
                <a:spcPct val="100000"/>
              </a:lnSpc>
              <a:spcBef>
                <a:spcPts val="0"/>
              </a:spcBef>
              <a:spcAft>
                <a:spcPts val="1000"/>
              </a:spcAft>
              <a:buClrTx/>
              <a:buSzPct val="100000"/>
              <a:buFont typeface="Pilat Regular" panose="020B0604020202020204" pitchFamily="34" charset="0"/>
              <a:buChar char="•"/>
              <a:defRPr sz="2000" spc="0">
                <a:solidFill>
                  <a:schemeClr val="tx1"/>
                </a:solidFill>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0127425"/>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ubtitle and Content White">
    <p:bg>
      <p:bgPr>
        <a:solidFill>
          <a:schemeClr val="bg1"/>
        </a:solidFill>
        <a:effectLst/>
      </p:bgPr>
    </p:bg>
    <p:spTree>
      <p:nvGrpSpPr>
        <p:cNvPr id="1" name=""/>
        <p:cNvGrpSpPr/>
        <p:nvPr/>
      </p:nvGrpSpPr>
      <p:grpSpPr>
        <a:xfrm>
          <a:off x="0" y="0"/>
          <a:ext cx="0" cy="0"/>
          <a:chOff x="0" y="0"/>
          <a:chExt cx="0" cy="0"/>
        </a:xfrm>
      </p:grpSpPr>
      <p:sp>
        <p:nvSpPr>
          <p:cNvPr id="50" name="Slide Number Placeholder 5">
            <a:extLst>
              <a:ext uri="{FF2B5EF4-FFF2-40B4-BE49-F238E27FC236}">
                <a16:creationId xmlns:a16="http://schemas.microsoft.com/office/drawing/2014/main" id="{7C3FB967-F059-B832-9329-449B18F9D4BF}"/>
              </a:ext>
            </a:extLst>
          </p:cNvPr>
          <p:cNvSpPr>
            <a:spLocks noGrp="1"/>
          </p:cNvSpPr>
          <p:nvPr>
            <p:ph type="sldNum" sz="quarter" idx="4"/>
          </p:nvPr>
        </p:nvSpPr>
        <p:spPr>
          <a:xfrm>
            <a:off x="3194050" y="6455472"/>
            <a:ext cx="855221" cy="118872"/>
          </a:xfrm>
          <a:prstGeom prst="rect">
            <a:avLst/>
          </a:prstGeom>
        </p:spPr>
        <p:txBody>
          <a:bodyPr vert="horz" lIns="0" tIns="0" rIns="0" bIns="0" rtlCol="0" anchor="ctr"/>
          <a:lstStyle>
            <a:lvl1pPr algn="l">
              <a:defRPr sz="1000" b="0" i="0" spc="0" baseline="0">
                <a:solidFill>
                  <a:schemeClr val="tx1"/>
                </a:solidFill>
                <a:latin typeface="NB Architekt Pro Neue" panose="02010509020201040001" pitchFamily="49" charset="77"/>
                <a:cs typeface="Consolas" panose="020B0609020204030204" pitchFamily="49" charset="0"/>
              </a:defRPr>
            </a:lvl1pPr>
          </a:lstStyle>
          <a:p>
            <a:r>
              <a:rPr lang="en-US"/>
              <a:t>00.0</a:t>
            </a:r>
            <a:fld id="{4571BA12-316B-0A40-BB3D-1A8CDD33E9E5}" type="slidenum">
              <a:rPr lang="en-US" smtClean="0"/>
              <a:pPr/>
              <a:t>‹#›</a:t>
            </a:fld>
            <a:endParaRPr lang="en-US"/>
          </a:p>
        </p:txBody>
      </p:sp>
      <p:sp>
        <p:nvSpPr>
          <p:cNvPr id="5" name="name_2024 sandisk or its affiliates All rights reserved">
            <a:extLst>
              <a:ext uri="{FF2B5EF4-FFF2-40B4-BE49-F238E27FC236}">
                <a16:creationId xmlns:a16="http://schemas.microsoft.com/office/drawing/2014/main" id="{F581B636-B459-2929-A363-54D06D37B58B}"/>
              </a:ext>
            </a:extLst>
          </p:cNvPr>
          <p:cNvSpPr txBox="1"/>
          <p:nvPr/>
        </p:nvSpPr>
        <p:spPr>
          <a:xfrm>
            <a:off x="292100" y="267518"/>
            <a:ext cx="1323975"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tx1"/>
                </a:solidFill>
                <a:latin typeface="NB Architekt Pro Neue" panose="02010509020201040001" pitchFamily="49" charset="77"/>
                <a:cs typeface="Consolas" panose="020B0609020204030204" pitchFamily="49" charset="0"/>
              </a:rPr>
              <a:t>[Confidential]</a:t>
            </a:r>
          </a:p>
        </p:txBody>
      </p:sp>
      <p:grpSp>
        <p:nvGrpSpPr>
          <p:cNvPr id="6" name="Group 5">
            <a:extLst>
              <a:ext uri="{FF2B5EF4-FFF2-40B4-BE49-F238E27FC236}">
                <a16:creationId xmlns:a16="http://schemas.microsoft.com/office/drawing/2014/main" id="{12F0FF31-B07D-ED98-3D60-0E8842F49DED}"/>
              </a:ext>
            </a:extLst>
          </p:cNvPr>
          <p:cNvGrpSpPr>
            <a:grpSpLocks noChangeAspect="1"/>
          </p:cNvGrpSpPr>
          <p:nvPr/>
        </p:nvGrpSpPr>
        <p:grpSpPr>
          <a:xfrm>
            <a:off x="297027" y="6344485"/>
            <a:ext cx="2240280" cy="218081"/>
            <a:chOff x="8480170" y="7684742"/>
            <a:chExt cx="1031076" cy="102566"/>
          </a:xfrm>
          <a:solidFill>
            <a:schemeClr val="accent3"/>
          </a:solidFill>
        </p:grpSpPr>
        <p:sp>
          <p:nvSpPr>
            <p:cNvPr id="7" name="Freeform 6">
              <a:extLst>
                <a:ext uri="{FF2B5EF4-FFF2-40B4-BE49-F238E27FC236}">
                  <a16:creationId xmlns:a16="http://schemas.microsoft.com/office/drawing/2014/main" id="{5F799128-7B9C-8255-5D51-5DD9CC646DCA}"/>
                </a:ext>
              </a:extLst>
            </p:cNvPr>
            <p:cNvSpPr/>
            <p:nvPr/>
          </p:nvSpPr>
          <p:spPr>
            <a:xfrm>
              <a:off x="8788109" y="7684742"/>
              <a:ext cx="128019" cy="102565"/>
            </a:xfrm>
            <a:custGeom>
              <a:avLst/>
              <a:gdLst>
                <a:gd name="connsiteX0" fmla="*/ 102070 w 128019"/>
                <a:gd name="connsiteY0" fmla="*/ 70104 h 102565"/>
                <a:gd name="connsiteX1" fmla="*/ 96188 w 128019"/>
                <a:gd name="connsiteY1" fmla="*/ 77011 h 102565"/>
                <a:gd name="connsiteX2" fmla="*/ 89268 w 128019"/>
                <a:gd name="connsiteY2" fmla="*/ 72521 h 102565"/>
                <a:gd name="connsiteX3" fmla="*/ 65740 w 128019"/>
                <a:gd name="connsiteY3" fmla="*/ 8288 h 102565"/>
                <a:gd name="connsiteX4" fmla="*/ 54668 w 128019"/>
                <a:gd name="connsiteY4" fmla="*/ 0 h 102565"/>
                <a:gd name="connsiteX5" fmla="*/ 0 w 128019"/>
                <a:gd name="connsiteY5" fmla="*/ 0 h 102565"/>
                <a:gd name="connsiteX6" fmla="*/ 0 w 128019"/>
                <a:gd name="connsiteY6" fmla="*/ 102221 h 102565"/>
                <a:gd name="connsiteX7" fmla="*/ 40136 w 128019"/>
                <a:gd name="connsiteY7" fmla="*/ 102221 h 102565"/>
                <a:gd name="connsiteX8" fmla="*/ 40136 w 128019"/>
                <a:gd name="connsiteY8" fmla="*/ 76665 h 102565"/>
                <a:gd name="connsiteX9" fmla="*/ 32870 w 128019"/>
                <a:gd name="connsiteY9" fmla="*/ 76665 h 102565"/>
                <a:gd name="connsiteX10" fmla="*/ 25604 w 128019"/>
                <a:gd name="connsiteY10" fmla="*/ 67687 h 102565"/>
                <a:gd name="connsiteX11" fmla="*/ 25604 w 128019"/>
                <a:gd name="connsiteY11" fmla="*/ 36951 h 102565"/>
                <a:gd name="connsiteX12" fmla="*/ 39790 w 128019"/>
                <a:gd name="connsiteY12" fmla="*/ 26591 h 102565"/>
                <a:gd name="connsiteX13" fmla="*/ 45672 w 128019"/>
                <a:gd name="connsiteY13" fmla="*/ 32807 h 102565"/>
                <a:gd name="connsiteX14" fmla="*/ 64356 w 128019"/>
                <a:gd name="connsiteY14" fmla="*/ 81500 h 102565"/>
                <a:gd name="connsiteX15" fmla="*/ 95150 w 128019"/>
                <a:gd name="connsiteY15" fmla="*/ 102566 h 102565"/>
                <a:gd name="connsiteX16" fmla="*/ 95842 w 128019"/>
                <a:gd name="connsiteY16" fmla="*/ 102566 h 102565"/>
                <a:gd name="connsiteX17" fmla="*/ 128020 w 128019"/>
                <a:gd name="connsiteY17" fmla="*/ 70795 h 102565"/>
                <a:gd name="connsiteX18" fmla="*/ 128020 w 128019"/>
                <a:gd name="connsiteY18" fmla="*/ 345 h 102565"/>
                <a:gd name="connsiteX19" fmla="*/ 102416 w 128019"/>
                <a:gd name="connsiteY19" fmla="*/ 345 h 102565"/>
                <a:gd name="connsiteX20" fmla="*/ 102416 w 128019"/>
                <a:gd name="connsiteY20" fmla="*/ 70104 h 102565"/>
                <a:gd name="connsiteX21" fmla="*/ 102416 w 128019"/>
                <a:gd name="connsiteY21" fmla="*/ 70104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8019" h="102565">
                  <a:moveTo>
                    <a:pt x="102070" y="70104"/>
                  </a:moveTo>
                  <a:cubicBezTo>
                    <a:pt x="102070" y="73557"/>
                    <a:pt x="99648" y="76665"/>
                    <a:pt x="96188" y="77011"/>
                  </a:cubicBezTo>
                  <a:cubicBezTo>
                    <a:pt x="93074" y="77356"/>
                    <a:pt x="90306" y="75629"/>
                    <a:pt x="89268" y="72521"/>
                  </a:cubicBezTo>
                  <a:lnTo>
                    <a:pt x="65740" y="8288"/>
                  </a:lnTo>
                  <a:cubicBezTo>
                    <a:pt x="64010" y="3108"/>
                    <a:pt x="59858" y="0"/>
                    <a:pt x="54668" y="0"/>
                  </a:cubicBezTo>
                  <a:lnTo>
                    <a:pt x="0" y="0"/>
                  </a:lnTo>
                  <a:lnTo>
                    <a:pt x="0" y="102221"/>
                  </a:lnTo>
                  <a:lnTo>
                    <a:pt x="40136" y="102221"/>
                  </a:lnTo>
                  <a:lnTo>
                    <a:pt x="40136" y="76665"/>
                  </a:lnTo>
                  <a:lnTo>
                    <a:pt x="32870" y="76665"/>
                  </a:lnTo>
                  <a:cubicBezTo>
                    <a:pt x="28026" y="76665"/>
                    <a:pt x="25604" y="72521"/>
                    <a:pt x="25604" y="67687"/>
                  </a:cubicBezTo>
                  <a:lnTo>
                    <a:pt x="25604" y="36951"/>
                  </a:lnTo>
                  <a:cubicBezTo>
                    <a:pt x="25604" y="29354"/>
                    <a:pt x="32870" y="23828"/>
                    <a:pt x="39790" y="26591"/>
                  </a:cubicBezTo>
                  <a:cubicBezTo>
                    <a:pt x="42212" y="27627"/>
                    <a:pt x="44634" y="30045"/>
                    <a:pt x="45672" y="32807"/>
                  </a:cubicBezTo>
                  <a:lnTo>
                    <a:pt x="64356" y="81500"/>
                  </a:lnTo>
                  <a:cubicBezTo>
                    <a:pt x="69200" y="94278"/>
                    <a:pt x="81310" y="102566"/>
                    <a:pt x="95150" y="102566"/>
                  </a:cubicBezTo>
                  <a:lnTo>
                    <a:pt x="95842" y="102566"/>
                  </a:lnTo>
                  <a:cubicBezTo>
                    <a:pt x="113488" y="102566"/>
                    <a:pt x="128020" y="88407"/>
                    <a:pt x="128020" y="70795"/>
                  </a:cubicBezTo>
                  <a:lnTo>
                    <a:pt x="128020" y="345"/>
                  </a:lnTo>
                  <a:lnTo>
                    <a:pt x="102416" y="345"/>
                  </a:lnTo>
                  <a:lnTo>
                    <a:pt x="102416" y="70104"/>
                  </a:lnTo>
                  <a:lnTo>
                    <a:pt x="102416" y="70104"/>
                  </a:lnTo>
                  <a:close/>
                </a:path>
              </a:pathLst>
            </a:custGeom>
            <a:grpFill/>
            <a:ln w="3458" cap="flat">
              <a:noFill/>
              <a:prstDash val="solid"/>
              <a:miter/>
            </a:ln>
          </p:spPr>
          <p:txBody>
            <a:bodyPr rtlCol="0" anchor="ctr"/>
            <a:lstStyle/>
            <a:p>
              <a:endParaRPr lang="en-US" sz="1800"/>
            </a:p>
          </p:txBody>
        </p:sp>
        <p:sp>
          <p:nvSpPr>
            <p:cNvPr id="8" name="Freeform 7">
              <a:extLst>
                <a:ext uri="{FF2B5EF4-FFF2-40B4-BE49-F238E27FC236}">
                  <a16:creationId xmlns:a16="http://schemas.microsoft.com/office/drawing/2014/main" id="{EF791B30-3B60-6B1D-EE7B-B10138035EF2}"/>
                </a:ext>
              </a:extLst>
            </p:cNvPr>
            <p:cNvSpPr/>
            <p:nvPr/>
          </p:nvSpPr>
          <p:spPr>
            <a:xfrm>
              <a:off x="8941733" y="7685087"/>
              <a:ext cx="128019" cy="102220"/>
            </a:xfrm>
            <a:custGeom>
              <a:avLst/>
              <a:gdLst>
                <a:gd name="connsiteX0" fmla="*/ 76812 w 128019"/>
                <a:gd name="connsiteY0" fmla="*/ 0 h 102220"/>
                <a:gd name="connsiteX1" fmla="*/ 0 w 128019"/>
                <a:gd name="connsiteY1" fmla="*/ 0 h 102220"/>
                <a:gd name="connsiteX2" fmla="*/ 0 w 128019"/>
                <a:gd name="connsiteY2" fmla="*/ 25555 h 102220"/>
                <a:gd name="connsiteX3" fmla="*/ 76812 w 128019"/>
                <a:gd name="connsiteY3" fmla="*/ 25555 h 102220"/>
                <a:gd name="connsiteX4" fmla="*/ 102416 w 128019"/>
                <a:gd name="connsiteY4" fmla="*/ 51110 h 102220"/>
                <a:gd name="connsiteX5" fmla="*/ 76812 w 128019"/>
                <a:gd name="connsiteY5" fmla="*/ 76665 h 102220"/>
                <a:gd name="connsiteX6" fmla="*/ 0 w 128019"/>
                <a:gd name="connsiteY6" fmla="*/ 76665 h 102220"/>
                <a:gd name="connsiteX7" fmla="*/ 0 w 128019"/>
                <a:gd name="connsiteY7" fmla="*/ 102221 h 102220"/>
                <a:gd name="connsiteX8" fmla="*/ 76812 w 128019"/>
                <a:gd name="connsiteY8" fmla="*/ 102221 h 102220"/>
                <a:gd name="connsiteX9" fmla="*/ 121792 w 128019"/>
                <a:gd name="connsiteY9" fmla="*/ 75629 h 102220"/>
                <a:gd name="connsiteX10" fmla="*/ 128020 w 128019"/>
                <a:gd name="connsiteY10" fmla="*/ 51110 h 102220"/>
                <a:gd name="connsiteX11" fmla="*/ 121792 w 128019"/>
                <a:gd name="connsiteY11" fmla="*/ 26591 h 102220"/>
                <a:gd name="connsiteX12" fmla="*/ 76812 w 128019"/>
                <a:gd name="connsiteY12" fmla="*/ 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8019" h="102220">
                  <a:moveTo>
                    <a:pt x="76812" y="0"/>
                  </a:moveTo>
                  <a:lnTo>
                    <a:pt x="0" y="0"/>
                  </a:lnTo>
                  <a:lnTo>
                    <a:pt x="0" y="25555"/>
                  </a:lnTo>
                  <a:lnTo>
                    <a:pt x="76812" y="25555"/>
                  </a:lnTo>
                  <a:cubicBezTo>
                    <a:pt x="90306" y="25555"/>
                    <a:pt x="102416" y="37297"/>
                    <a:pt x="102416" y="51110"/>
                  </a:cubicBezTo>
                  <a:cubicBezTo>
                    <a:pt x="102416" y="64924"/>
                    <a:pt x="90652" y="76665"/>
                    <a:pt x="76812" y="76665"/>
                  </a:cubicBezTo>
                  <a:lnTo>
                    <a:pt x="0" y="76665"/>
                  </a:lnTo>
                  <a:lnTo>
                    <a:pt x="0" y="102221"/>
                  </a:lnTo>
                  <a:lnTo>
                    <a:pt x="76812" y="102221"/>
                  </a:lnTo>
                  <a:cubicBezTo>
                    <a:pt x="96188" y="102221"/>
                    <a:pt x="113142" y="91515"/>
                    <a:pt x="121792" y="75629"/>
                  </a:cubicBezTo>
                  <a:cubicBezTo>
                    <a:pt x="125598" y="68377"/>
                    <a:pt x="128020" y="59744"/>
                    <a:pt x="128020" y="51110"/>
                  </a:cubicBezTo>
                  <a:cubicBezTo>
                    <a:pt x="128020" y="42477"/>
                    <a:pt x="125598" y="33843"/>
                    <a:pt x="121792" y="26591"/>
                  </a:cubicBezTo>
                  <a:cubicBezTo>
                    <a:pt x="113142" y="10706"/>
                    <a:pt x="96188" y="0"/>
                    <a:pt x="76812" y="0"/>
                  </a:cubicBezTo>
                  <a:close/>
                </a:path>
              </a:pathLst>
            </a:custGeom>
            <a:grpFill/>
            <a:ln w="3458" cap="flat">
              <a:noFill/>
              <a:prstDash val="solid"/>
              <a:miter/>
            </a:ln>
          </p:spPr>
          <p:txBody>
            <a:bodyPr rtlCol="0" anchor="ctr"/>
            <a:lstStyle/>
            <a:p>
              <a:endParaRPr lang="en-US" sz="1800"/>
            </a:p>
          </p:txBody>
        </p:sp>
        <p:sp>
          <p:nvSpPr>
            <p:cNvPr id="9" name="Freeform 8">
              <a:extLst>
                <a:ext uri="{FF2B5EF4-FFF2-40B4-BE49-F238E27FC236}">
                  <a16:creationId xmlns:a16="http://schemas.microsoft.com/office/drawing/2014/main" id="{619E6ACB-6570-1A4C-D6D0-D4880E84942D}"/>
                </a:ext>
              </a:extLst>
            </p:cNvPr>
            <p:cNvSpPr/>
            <p:nvPr/>
          </p:nvSpPr>
          <p:spPr>
            <a:xfrm>
              <a:off x="9080478" y="7685087"/>
              <a:ext cx="40481" cy="102220"/>
            </a:xfrm>
            <a:custGeom>
              <a:avLst/>
              <a:gdLst>
                <a:gd name="connsiteX0" fmla="*/ 5190 w 40481"/>
                <a:gd name="connsiteY0" fmla="*/ 25555 h 102220"/>
                <a:gd name="connsiteX1" fmla="*/ 7266 w 40481"/>
                <a:gd name="connsiteY1" fmla="*/ 25555 h 102220"/>
                <a:gd name="connsiteX2" fmla="*/ 14878 w 40481"/>
                <a:gd name="connsiteY2" fmla="*/ 35225 h 102220"/>
                <a:gd name="connsiteX3" fmla="*/ 14878 w 40481"/>
                <a:gd name="connsiteY3" fmla="*/ 102221 h 102220"/>
                <a:gd name="connsiteX4" fmla="*/ 40482 w 40481"/>
                <a:gd name="connsiteY4" fmla="*/ 102221 h 102220"/>
                <a:gd name="connsiteX5" fmla="*/ 40482 w 40481"/>
                <a:gd name="connsiteY5" fmla="*/ 0 h 102220"/>
                <a:gd name="connsiteX6" fmla="*/ 0 w 40481"/>
                <a:gd name="connsiteY6" fmla="*/ 0 h 102220"/>
                <a:gd name="connsiteX7" fmla="*/ 0 w 40481"/>
                <a:gd name="connsiteY7" fmla="*/ 25555 h 102220"/>
                <a:gd name="connsiteX8" fmla="*/ 5536 w 40481"/>
                <a:gd name="connsiteY8" fmla="*/ 25555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481" h="102220">
                  <a:moveTo>
                    <a:pt x="5190" y="25555"/>
                  </a:moveTo>
                  <a:cubicBezTo>
                    <a:pt x="5882" y="25555"/>
                    <a:pt x="6574" y="25555"/>
                    <a:pt x="7266" y="25555"/>
                  </a:cubicBezTo>
                  <a:cubicBezTo>
                    <a:pt x="12110" y="26246"/>
                    <a:pt x="14878" y="30045"/>
                    <a:pt x="14878" y="35225"/>
                  </a:cubicBezTo>
                  <a:lnTo>
                    <a:pt x="14878" y="102221"/>
                  </a:lnTo>
                  <a:lnTo>
                    <a:pt x="40482" y="102221"/>
                  </a:lnTo>
                  <a:lnTo>
                    <a:pt x="40482" y="0"/>
                  </a:lnTo>
                  <a:lnTo>
                    <a:pt x="0" y="0"/>
                  </a:lnTo>
                  <a:lnTo>
                    <a:pt x="0" y="25555"/>
                  </a:lnTo>
                  <a:lnTo>
                    <a:pt x="5536" y="25555"/>
                  </a:lnTo>
                  <a:close/>
                </a:path>
              </a:pathLst>
            </a:custGeom>
            <a:grpFill/>
            <a:ln w="3458" cap="flat">
              <a:noFill/>
              <a:prstDash val="solid"/>
              <a:miter/>
            </a:ln>
          </p:spPr>
          <p:txBody>
            <a:bodyPr rtlCol="0" anchor="ctr"/>
            <a:lstStyle/>
            <a:p>
              <a:endParaRPr lang="en-US" sz="1800"/>
            </a:p>
          </p:txBody>
        </p:sp>
        <p:sp>
          <p:nvSpPr>
            <p:cNvPr id="12" name="Freeform 11">
              <a:extLst>
                <a:ext uri="{FF2B5EF4-FFF2-40B4-BE49-F238E27FC236}">
                  <a16:creationId xmlns:a16="http://schemas.microsoft.com/office/drawing/2014/main" id="{F2F0DBE7-1AA3-1D77-818E-655707A7A4D1}"/>
                </a:ext>
              </a:extLst>
            </p:cNvPr>
            <p:cNvSpPr/>
            <p:nvPr/>
          </p:nvSpPr>
          <p:spPr>
            <a:xfrm>
              <a:off x="9146218" y="7685087"/>
              <a:ext cx="128365" cy="102220"/>
            </a:xfrm>
            <a:custGeom>
              <a:avLst/>
              <a:gdLst>
                <a:gd name="connsiteX0" fmla="*/ 128365 w 128365"/>
                <a:gd name="connsiteY0" fmla="*/ 81846 h 102220"/>
                <a:gd name="connsiteX1" fmla="*/ 128365 w 128365"/>
                <a:gd name="connsiteY1" fmla="*/ 102221 h 102220"/>
                <a:gd name="connsiteX2" fmla="*/ 19722 w 128365"/>
                <a:gd name="connsiteY2" fmla="*/ 60780 h 102220"/>
                <a:gd name="connsiteX3" fmla="*/ 0 w 128365"/>
                <a:gd name="connsiteY3" fmla="*/ 30735 h 102220"/>
                <a:gd name="connsiteX4" fmla="*/ 31140 w 128365"/>
                <a:gd name="connsiteY4" fmla="*/ 0 h 102220"/>
                <a:gd name="connsiteX5" fmla="*/ 128020 w 128365"/>
                <a:gd name="connsiteY5" fmla="*/ 0 h 102220"/>
                <a:gd name="connsiteX6" fmla="*/ 128020 w 128365"/>
                <a:gd name="connsiteY6" fmla="*/ 40059 h 102220"/>
                <a:gd name="connsiteX7" fmla="*/ 102416 w 128365"/>
                <a:gd name="connsiteY7" fmla="*/ 40059 h 102220"/>
                <a:gd name="connsiteX8" fmla="*/ 102416 w 128365"/>
                <a:gd name="connsiteY8" fmla="*/ 32807 h 102220"/>
                <a:gd name="connsiteX9" fmla="*/ 94458 w 128365"/>
                <a:gd name="connsiteY9" fmla="*/ 25555 h 102220"/>
                <a:gd name="connsiteX10" fmla="*/ 37714 w 128365"/>
                <a:gd name="connsiteY10" fmla="*/ 25555 h 102220"/>
                <a:gd name="connsiteX11" fmla="*/ 29756 w 128365"/>
                <a:gd name="connsiteY11" fmla="*/ 33498 h 102220"/>
                <a:gd name="connsiteX12" fmla="*/ 34946 w 128365"/>
                <a:gd name="connsiteY12" fmla="*/ 41095 h 102220"/>
                <a:gd name="connsiteX13" fmla="*/ 119370 w 128365"/>
                <a:gd name="connsiteY13" fmla="*/ 70795 h 102220"/>
                <a:gd name="connsiteX14" fmla="*/ 127674 w 128365"/>
                <a:gd name="connsiteY14"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8365" h="102220">
                  <a:moveTo>
                    <a:pt x="128365" y="81846"/>
                  </a:moveTo>
                  <a:lnTo>
                    <a:pt x="128365"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close/>
                </a:path>
              </a:pathLst>
            </a:custGeom>
            <a:grpFill/>
            <a:ln w="3458" cap="flat">
              <a:noFill/>
              <a:prstDash val="solid"/>
              <a:miter/>
            </a:ln>
          </p:spPr>
          <p:txBody>
            <a:bodyPr rtlCol="0" anchor="ctr"/>
            <a:lstStyle/>
            <a:p>
              <a:endParaRPr lang="en-US" sz="1800"/>
            </a:p>
          </p:txBody>
        </p:sp>
        <p:sp>
          <p:nvSpPr>
            <p:cNvPr id="13" name="Freeform 12">
              <a:extLst>
                <a:ext uri="{FF2B5EF4-FFF2-40B4-BE49-F238E27FC236}">
                  <a16:creationId xmlns:a16="http://schemas.microsoft.com/office/drawing/2014/main" id="{2773F0CB-E558-2654-48D4-37A6121FAB7D}"/>
                </a:ext>
              </a:extLst>
            </p:cNvPr>
            <p:cNvSpPr/>
            <p:nvPr/>
          </p:nvSpPr>
          <p:spPr>
            <a:xfrm>
              <a:off x="9146564" y="7761753"/>
              <a:ext cx="25258" cy="25555"/>
            </a:xfrm>
            <a:custGeom>
              <a:avLst/>
              <a:gdLst>
                <a:gd name="connsiteX0" fmla="*/ 25258 w 25258"/>
                <a:gd name="connsiteY0" fmla="*/ 0 h 25555"/>
                <a:gd name="connsiteX1" fmla="*/ 0 w 25258"/>
                <a:gd name="connsiteY1" fmla="*/ 0 h 25555"/>
                <a:gd name="connsiteX2" fmla="*/ 0 w 25258"/>
                <a:gd name="connsiteY2" fmla="*/ 25555 h 25555"/>
                <a:gd name="connsiteX3" fmla="*/ 25258 w 25258"/>
                <a:gd name="connsiteY3" fmla="*/ 25555 h 25555"/>
                <a:gd name="connsiteX4" fmla="*/ 25258 w 25258"/>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8"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14" name="Freeform 13">
              <a:extLst>
                <a:ext uri="{FF2B5EF4-FFF2-40B4-BE49-F238E27FC236}">
                  <a16:creationId xmlns:a16="http://schemas.microsoft.com/office/drawing/2014/main" id="{D788DC7D-D83D-D150-FA94-C3825AB73878}"/>
                </a:ext>
              </a:extLst>
            </p:cNvPr>
            <p:cNvSpPr/>
            <p:nvPr/>
          </p:nvSpPr>
          <p:spPr>
            <a:xfrm>
              <a:off x="8480170" y="7685087"/>
              <a:ext cx="128019" cy="102220"/>
            </a:xfrm>
            <a:custGeom>
              <a:avLst/>
              <a:gdLst>
                <a:gd name="connsiteX0" fmla="*/ 128020 w 128019"/>
                <a:gd name="connsiteY0" fmla="*/ 81846 h 102220"/>
                <a:gd name="connsiteX1" fmla="*/ 128020 w 128019"/>
                <a:gd name="connsiteY1" fmla="*/ 102221 h 102220"/>
                <a:gd name="connsiteX2" fmla="*/ 19722 w 128019"/>
                <a:gd name="connsiteY2" fmla="*/ 60780 h 102220"/>
                <a:gd name="connsiteX3" fmla="*/ 0 w 128019"/>
                <a:gd name="connsiteY3" fmla="*/ 30735 h 102220"/>
                <a:gd name="connsiteX4" fmla="*/ 31140 w 128019"/>
                <a:gd name="connsiteY4" fmla="*/ 0 h 102220"/>
                <a:gd name="connsiteX5" fmla="*/ 128020 w 128019"/>
                <a:gd name="connsiteY5" fmla="*/ 0 h 102220"/>
                <a:gd name="connsiteX6" fmla="*/ 128020 w 128019"/>
                <a:gd name="connsiteY6" fmla="*/ 40059 h 102220"/>
                <a:gd name="connsiteX7" fmla="*/ 102416 w 128019"/>
                <a:gd name="connsiteY7" fmla="*/ 40059 h 102220"/>
                <a:gd name="connsiteX8" fmla="*/ 102416 w 128019"/>
                <a:gd name="connsiteY8" fmla="*/ 32807 h 102220"/>
                <a:gd name="connsiteX9" fmla="*/ 94458 w 128019"/>
                <a:gd name="connsiteY9" fmla="*/ 25555 h 102220"/>
                <a:gd name="connsiteX10" fmla="*/ 37714 w 128019"/>
                <a:gd name="connsiteY10" fmla="*/ 25555 h 102220"/>
                <a:gd name="connsiteX11" fmla="*/ 29756 w 128019"/>
                <a:gd name="connsiteY11" fmla="*/ 33498 h 102220"/>
                <a:gd name="connsiteX12" fmla="*/ 34946 w 128019"/>
                <a:gd name="connsiteY12" fmla="*/ 41095 h 102220"/>
                <a:gd name="connsiteX13" fmla="*/ 119370 w 128019"/>
                <a:gd name="connsiteY13" fmla="*/ 70795 h 102220"/>
                <a:gd name="connsiteX14" fmla="*/ 127674 w 128019"/>
                <a:gd name="connsiteY14" fmla="*/ 81846 h 102220"/>
                <a:gd name="connsiteX15" fmla="*/ 127674 w 128019"/>
                <a:gd name="connsiteY15"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8019" h="102220">
                  <a:moveTo>
                    <a:pt x="128020" y="81846"/>
                  </a:moveTo>
                  <a:lnTo>
                    <a:pt x="128020"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lnTo>
                    <a:pt x="127674" y="81846"/>
                  </a:lnTo>
                  <a:close/>
                </a:path>
              </a:pathLst>
            </a:custGeom>
            <a:grpFill/>
            <a:ln w="3458" cap="flat">
              <a:noFill/>
              <a:prstDash val="solid"/>
              <a:miter/>
            </a:ln>
          </p:spPr>
          <p:txBody>
            <a:bodyPr rtlCol="0" anchor="ctr"/>
            <a:lstStyle/>
            <a:p>
              <a:endParaRPr lang="en-US" sz="1800"/>
            </a:p>
          </p:txBody>
        </p:sp>
        <p:sp>
          <p:nvSpPr>
            <p:cNvPr id="15" name="Freeform 14">
              <a:extLst>
                <a:ext uri="{FF2B5EF4-FFF2-40B4-BE49-F238E27FC236}">
                  <a16:creationId xmlns:a16="http://schemas.microsoft.com/office/drawing/2014/main" id="{3A1B8FEB-5047-C266-DED9-9C7C249A117A}"/>
                </a:ext>
              </a:extLst>
            </p:cNvPr>
            <p:cNvSpPr/>
            <p:nvPr/>
          </p:nvSpPr>
          <p:spPr>
            <a:xfrm>
              <a:off x="8480516" y="7761753"/>
              <a:ext cx="25257" cy="25555"/>
            </a:xfrm>
            <a:custGeom>
              <a:avLst/>
              <a:gdLst>
                <a:gd name="connsiteX0" fmla="*/ 25258 w 25257"/>
                <a:gd name="connsiteY0" fmla="*/ 0 h 25555"/>
                <a:gd name="connsiteX1" fmla="*/ 0 w 25257"/>
                <a:gd name="connsiteY1" fmla="*/ 0 h 25555"/>
                <a:gd name="connsiteX2" fmla="*/ 0 w 25257"/>
                <a:gd name="connsiteY2" fmla="*/ 25555 h 25555"/>
                <a:gd name="connsiteX3" fmla="*/ 25258 w 25257"/>
                <a:gd name="connsiteY3" fmla="*/ 25555 h 25555"/>
                <a:gd name="connsiteX4" fmla="*/ 25258 w 25257"/>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7"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16" name="Freeform 15">
              <a:extLst>
                <a:ext uri="{FF2B5EF4-FFF2-40B4-BE49-F238E27FC236}">
                  <a16:creationId xmlns:a16="http://schemas.microsoft.com/office/drawing/2014/main" id="{BA28410E-E52B-0205-2DB2-1186795728CC}"/>
                </a:ext>
              </a:extLst>
            </p:cNvPr>
            <p:cNvSpPr/>
            <p:nvPr/>
          </p:nvSpPr>
          <p:spPr>
            <a:xfrm>
              <a:off x="9300533" y="7685087"/>
              <a:ext cx="128019" cy="102220"/>
            </a:xfrm>
            <a:custGeom>
              <a:avLst/>
              <a:gdLst>
                <a:gd name="connsiteX0" fmla="*/ 128020 w 128019"/>
                <a:gd name="connsiteY0" fmla="*/ 25555 h 102220"/>
                <a:gd name="connsiteX1" fmla="*/ 128020 w 128019"/>
                <a:gd name="connsiteY1" fmla="*/ 0 h 102220"/>
                <a:gd name="connsiteX2" fmla="*/ 105530 w 128019"/>
                <a:gd name="connsiteY2" fmla="*/ 0 h 102220"/>
                <a:gd name="connsiteX3" fmla="*/ 100686 w 128019"/>
                <a:gd name="connsiteY3" fmla="*/ 1727 h 102220"/>
                <a:gd name="connsiteX4" fmla="*/ 60550 w 128019"/>
                <a:gd name="connsiteY4" fmla="*/ 37987 h 102220"/>
                <a:gd name="connsiteX5" fmla="*/ 56398 w 128019"/>
                <a:gd name="connsiteY5" fmla="*/ 39714 h 102220"/>
                <a:gd name="connsiteX6" fmla="*/ 28372 w 128019"/>
                <a:gd name="connsiteY6" fmla="*/ 39714 h 102220"/>
                <a:gd name="connsiteX7" fmla="*/ 25258 w 128019"/>
                <a:gd name="connsiteY7" fmla="*/ 36606 h 102220"/>
                <a:gd name="connsiteX8" fmla="*/ 25258 w 128019"/>
                <a:gd name="connsiteY8" fmla="*/ 0 h 102220"/>
                <a:gd name="connsiteX9" fmla="*/ 0 w 128019"/>
                <a:gd name="connsiteY9" fmla="*/ 0 h 102220"/>
                <a:gd name="connsiteX10" fmla="*/ 0 w 128019"/>
                <a:gd name="connsiteY10" fmla="*/ 102221 h 102220"/>
                <a:gd name="connsiteX11" fmla="*/ 25258 w 128019"/>
                <a:gd name="connsiteY11" fmla="*/ 102221 h 102220"/>
                <a:gd name="connsiteX12" fmla="*/ 25258 w 128019"/>
                <a:gd name="connsiteY12" fmla="*/ 65615 h 102220"/>
                <a:gd name="connsiteX13" fmla="*/ 28372 w 128019"/>
                <a:gd name="connsiteY13" fmla="*/ 62507 h 102220"/>
                <a:gd name="connsiteX14" fmla="*/ 56398 w 128019"/>
                <a:gd name="connsiteY14" fmla="*/ 62507 h 102220"/>
                <a:gd name="connsiteX15" fmla="*/ 60550 w 128019"/>
                <a:gd name="connsiteY15" fmla="*/ 64233 h 102220"/>
                <a:gd name="connsiteX16" fmla="*/ 100686 w 128019"/>
                <a:gd name="connsiteY16" fmla="*/ 100494 h 102220"/>
                <a:gd name="connsiteX17" fmla="*/ 105530 w 128019"/>
                <a:gd name="connsiteY17" fmla="*/ 102221 h 102220"/>
                <a:gd name="connsiteX18" fmla="*/ 128020 w 128019"/>
                <a:gd name="connsiteY18" fmla="*/ 102221 h 102220"/>
                <a:gd name="connsiteX19" fmla="*/ 128020 w 128019"/>
                <a:gd name="connsiteY19" fmla="*/ 76665 h 102220"/>
                <a:gd name="connsiteX20" fmla="*/ 115564 w 128019"/>
                <a:gd name="connsiteY20" fmla="*/ 76665 h 102220"/>
                <a:gd name="connsiteX21" fmla="*/ 105184 w 128019"/>
                <a:gd name="connsiteY21" fmla="*/ 72867 h 102220"/>
                <a:gd name="connsiteX22" fmla="*/ 86154 w 128019"/>
                <a:gd name="connsiteY22" fmla="*/ 55945 h 102220"/>
                <a:gd name="connsiteX23" fmla="*/ 86154 w 128019"/>
                <a:gd name="connsiteY23" fmla="*/ 45930 h 102220"/>
                <a:gd name="connsiteX24" fmla="*/ 105184 w 128019"/>
                <a:gd name="connsiteY24" fmla="*/ 29009 h 102220"/>
                <a:gd name="connsiteX25" fmla="*/ 115564 w 128019"/>
                <a:gd name="connsiteY25" fmla="*/ 25210 h 102220"/>
                <a:gd name="connsiteX26" fmla="*/ 128020 w 128019"/>
                <a:gd name="connsiteY26" fmla="*/ 2521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8019" h="102220">
                  <a:moveTo>
                    <a:pt x="128020" y="25555"/>
                  </a:moveTo>
                  <a:lnTo>
                    <a:pt x="128020" y="0"/>
                  </a:lnTo>
                  <a:lnTo>
                    <a:pt x="105530" y="0"/>
                  </a:lnTo>
                  <a:cubicBezTo>
                    <a:pt x="103800" y="0"/>
                    <a:pt x="102070" y="691"/>
                    <a:pt x="100686" y="1727"/>
                  </a:cubicBezTo>
                  <a:lnTo>
                    <a:pt x="60550" y="37987"/>
                  </a:lnTo>
                  <a:cubicBezTo>
                    <a:pt x="59512" y="39023"/>
                    <a:pt x="58128" y="39714"/>
                    <a:pt x="56398" y="39714"/>
                  </a:cubicBezTo>
                  <a:lnTo>
                    <a:pt x="28372" y="39714"/>
                  </a:lnTo>
                  <a:cubicBezTo>
                    <a:pt x="26642" y="39714"/>
                    <a:pt x="25258" y="38333"/>
                    <a:pt x="25258" y="36606"/>
                  </a:cubicBezTo>
                  <a:lnTo>
                    <a:pt x="25258" y="0"/>
                  </a:lnTo>
                  <a:lnTo>
                    <a:pt x="0" y="0"/>
                  </a:lnTo>
                  <a:lnTo>
                    <a:pt x="0" y="102221"/>
                  </a:lnTo>
                  <a:lnTo>
                    <a:pt x="25258" y="102221"/>
                  </a:lnTo>
                  <a:lnTo>
                    <a:pt x="25258" y="65615"/>
                  </a:lnTo>
                  <a:cubicBezTo>
                    <a:pt x="25258" y="63888"/>
                    <a:pt x="26642" y="62507"/>
                    <a:pt x="28372" y="62507"/>
                  </a:cubicBezTo>
                  <a:lnTo>
                    <a:pt x="56398" y="62507"/>
                  </a:lnTo>
                  <a:cubicBezTo>
                    <a:pt x="57782" y="62507"/>
                    <a:pt x="59512" y="62852"/>
                    <a:pt x="60550" y="64233"/>
                  </a:cubicBezTo>
                  <a:lnTo>
                    <a:pt x="100686" y="100494"/>
                  </a:lnTo>
                  <a:cubicBezTo>
                    <a:pt x="102070" y="101530"/>
                    <a:pt x="103800" y="102221"/>
                    <a:pt x="105530" y="102221"/>
                  </a:cubicBezTo>
                  <a:lnTo>
                    <a:pt x="128020" y="102221"/>
                  </a:lnTo>
                  <a:lnTo>
                    <a:pt x="128020" y="76665"/>
                  </a:lnTo>
                  <a:lnTo>
                    <a:pt x="115564" y="76665"/>
                  </a:lnTo>
                  <a:cubicBezTo>
                    <a:pt x="111758" y="76665"/>
                    <a:pt x="107952" y="75284"/>
                    <a:pt x="105184" y="72867"/>
                  </a:cubicBezTo>
                  <a:lnTo>
                    <a:pt x="86154" y="55945"/>
                  </a:lnTo>
                  <a:cubicBezTo>
                    <a:pt x="83040" y="53528"/>
                    <a:pt x="83040" y="48693"/>
                    <a:pt x="86154" y="45930"/>
                  </a:cubicBezTo>
                  <a:lnTo>
                    <a:pt x="105184" y="29009"/>
                  </a:lnTo>
                  <a:cubicBezTo>
                    <a:pt x="108298" y="26591"/>
                    <a:pt x="111758" y="25210"/>
                    <a:pt x="115564" y="25210"/>
                  </a:cubicBezTo>
                  <a:lnTo>
                    <a:pt x="128020" y="25210"/>
                  </a:lnTo>
                  <a:close/>
                </a:path>
              </a:pathLst>
            </a:custGeom>
            <a:grpFill/>
            <a:ln w="3458" cap="flat">
              <a:noFill/>
              <a:prstDash val="solid"/>
              <a:miter/>
            </a:ln>
          </p:spPr>
          <p:txBody>
            <a:bodyPr rtlCol="0" anchor="ctr"/>
            <a:lstStyle/>
            <a:p>
              <a:endParaRPr lang="en-US" sz="1800"/>
            </a:p>
          </p:txBody>
        </p:sp>
        <p:sp>
          <p:nvSpPr>
            <p:cNvPr id="17" name="Freeform 16">
              <a:extLst>
                <a:ext uri="{FF2B5EF4-FFF2-40B4-BE49-F238E27FC236}">
                  <a16:creationId xmlns:a16="http://schemas.microsoft.com/office/drawing/2014/main" id="{350DF4B3-93D1-2890-10D6-A3012E685754}"/>
                </a:ext>
              </a:extLst>
            </p:cNvPr>
            <p:cNvSpPr/>
            <p:nvPr/>
          </p:nvSpPr>
          <p:spPr>
            <a:xfrm>
              <a:off x="8623760" y="7684742"/>
              <a:ext cx="138053" cy="102565"/>
            </a:xfrm>
            <a:custGeom>
              <a:avLst/>
              <a:gdLst>
                <a:gd name="connsiteX0" fmla="*/ 99302 w 138053"/>
                <a:gd name="connsiteY0" fmla="*/ 345 h 102565"/>
                <a:gd name="connsiteX1" fmla="*/ 70238 w 138053"/>
                <a:gd name="connsiteY1" fmla="*/ 14850 h 102565"/>
                <a:gd name="connsiteX2" fmla="*/ 0 w 138053"/>
                <a:gd name="connsiteY2" fmla="*/ 102566 h 102565"/>
                <a:gd name="connsiteX3" fmla="*/ 35638 w 138053"/>
                <a:gd name="connsiteY3" fmla="*/ 102566 h 102565"/>
                <a:gd name="connsiteX4" fmla="*/ 93420 w 138053"/>
                <a:gd name="connsiteY4" fmla="*/ 31426 h 102565"/>
                <a:gd name="connsiteX5" fmla="*/ 102762 w 138053"/>
                <a:gd name="connsiteY5" fmla="*/ 26246 h 102565"/>
                <a:gd name="connsiteX6" fmla="*/ 112450 w 138053"/>
                <a:gd name="connsiteY6" fmla="*/ 36951 h 102565"/>
                <a:gd name="connsiteX7" fmla="*/ 112450 w 138053"/>
                <a:gd name="connsiteY7" fmla="*/ 68032 h 102565"/>
                <a:gd name="connsiteX8" fmla="*/ 105184 w 138053"/>
                <a:gd name="connsiteY8" fmla="*/ 77011 h 102565"/>
                <a:gd name="connsiteX9" fmla="*/ 97918 w 138053"/>
                <a:gd name="connsiteY9" fmla="*/ 77011 h 102565"/>
                <a:gd name="connsiteX10" fmla="*/ 97918 w 138053"/>
                <a:gd name="connsiteY10" fmla="*/ 102566 h 102565"/>
                <a:gd name="connsiteX11" fmla="*/ 138054 w 138053"/>
                <a:gd name="connsiteY11" fmla="*/ 102566 h 102565"/>
                <a:gd name="connsiteX12" fmla="*/ 138054 w 138053"/>
                <a:gd name="connsiteY12" fmla="*/ 38333 h 102565"/>
                <a:gd name="connsiteX13" fmla="*/ 98956 w 138053"/>
                <a:gd name="connsiteY13" fmla="*/ 0 h 102565"/>
                <a:gd name="connsiteX14" fmla="*/ 98956 w 138053"/>
                <a:gd name="connsiteY14" fmla="*/ 0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8053" h="102565">
                  <a:moveTo>
                    <a:pt x="99302" y="345"/>
                  </a:moveTo>
                  <a:cubicBezTo>
                    <a:pt x="87884" y="345"/>
                    <a:pt x="77158" y="5871"/>
                    <a:pt x="70238" y="14850"/>
                  </a:cubicBezTo>
                  <a:lnTo>
                    <a:pt x="0" y="102566"/>
                  </a:lnTo>
                  <a:lnTo>
                    <a:pt x="35638" y="102566"/>
                  </a:lnTo>
                  <a:lnTo>
                    <a:pt x="93420" y="31426"/>
                  </a:lnTo>
                  <a:cubicBezTo>
                    <a:pt x="96188" y="27973"/>
                    <a:pt x="98264" y="26246"/>
                    <a:pt x="102762" y="26246"/>
                  </a:cubicBezTo>
                  <a:cubicBezTo>
                    <a:pt x="107260" y="26246"/>
                    <a:pt x="112450" y="31081"/>
                    <a:pt x="112450" y="36951"/>
                  </a:cubicBezTo>
                  <a:lnTo>
                    <a:pt x="112450" y="68032"/>
                  </a:lnTo>
                  <a:cubicBezTo>
                    <a:pt x="112450" y="72867"/>
                    <a:pt x="110028" y="77011"/>
                    <a:pt x="105184" y="77011"/>
                  </a:cubicBezTo>
                  <a:lnTo>
                    <a:pt x="97918" y="77011"/>
                  </a:lnTo>
                  <a:lnTo>
                    <a:pt x="97918" y="102566"/>
                  </a:lnTo>
                  <a:lnTo>
                    <a:pt x="138054" y="102566"/>
                  </a:lnTo>
                  <a:lnTo>
                    <a:pt x="138054" y="38333"/>
                  </a:lnTo>
                  <a:cubicBezTo>
                    <a:pt x="138054" y="33153"/>
                    <a:pt x="138054" y="0"/>
                    <a:pt x="98956" y="0"/>
                  </a:cubicBezTo>
                  <a:lnTo>
                    <a:pt x="98956" y="0"/>
                  </a:lnTo>
                  <a:close/>
                </a:path>
              </a:pathLst>
            </a:custGeom>
            <a:grpFill/>
            <a:ln w="3458" cap="flat">
              <a:noFill/>
              <a:prstDash val="solid"/>
              <a:miter/>
            </a:ln>
          </p:spPr>
          <p:txBody>
            <a:bodyPr rtlCol="0" anchor="ctr"/>
            <a:lstStyle/>
            <a:p>
              <a:endParaRPr lang="en-US" sz="1800"/>
            </a:p>
          </p:txBody>
        </p:sp>
        <p:sp>
          <p:nvSpPr>
            <p:cNvPr id="18" name="Freeform 17">
              <a:extLst>
                <a:ext uri="{FF2B5EF4-FFF2-40B4-BE49-F238E27FC236}">
                  <a16:creationId xmlns:a16="http://schemas.microsoft.com/office/drawing/2014/main" id="{0460BAFC-E4E4-EAA6-70B5-71D6F786DA05}"/>
                </a:ext>
              </a:extLst>
            </p:cNvPr>
            <p:cNvSpPr/>
            <p:nvPr/>
          </p:nvSpPr>
          <p:spPr>
            <a:xfrm>
              <a:off x="9480453" y="7685087"/>
              <a:ext cx="30793" cy="25555"/>
            </a:xfrm>
            <a:custGeom>
              <a:avLst/>
              <a:gdLst>
                <a:gd name="connsiteX0" fmla="*/ 30448 w 30793"/>
                <a:gd name="connsiteY0" fmla="*/ 0 h 25555"/>
                <a:gd name="connsiteX1" fmla="*/ 30448 w 30793"/>
                <a:gd name="connsiteY1" fmla="*/ 25555 h 25555"/>
                <a:gd name="connsiteX2" fmla="*/ 24912 w 30793"/>
                <a:gd name="connsiteY2" fmla="*/ 25555 h 25555"/>
                <a:gd name="connsiteX3" fmla="*/ 24912 w 30793"/>
                <a:gd name="connsiteY3" fmla="*/ 5180 h 25555"/>
                <a:gd name="connsiteX4" fmla="*/ 24912 w 30793"/>
                <a:gd name="connsiteY4" fmla="*/ 5180 h 25555"/>
                <a:gd name="connsiteX5" fmla="*/ 17646 w 30793"/>
                <a:gd name="connsiteY5" fmla="*/ 25555 h 25555"/>
                <a:gd name="connsiteX6" fmla="*/ 12802 w 30793"/>
                <a:gd name="connsiteY6" fmla="*/ 25555 h 25555"/>
                <a:gd name="connsiteX7" fmla="*/ 5536 w 30793"/>
                <a:gd name="connsiteY7" fmla="*/ 5180 h 25555"/>
                <a:gd name="connsiteX8" fmla="*/ 5536 w 30793"/>
                <a:gd name="connsiteY8" fmla="*/ 5180 h 25555"/>
                <a:gd name="connsiteX9" fmla="*/ 5536 w 30793"/>
                <a:gd name="connsiteY9" fmla="*/ 25555 h 25555"/>
                <a:gd name="connsiteX10" fmla="*/ 0 w 30793"/>
                <a:gd name="connsiteY10" fmla="*/ 25555 h 25555"/>
                <a:gd name="connsiteX11" fmla="*/ 0 w 30793"/>
                <a:gd name="connsiteY11" fmla="*/ 0 h 25555"/>
                <a:gd name="connsiteX12" fmla="*/ 9688 w 30793"/>
                <a:gd name="connsiteY12" fmla="*/ 0 h 25555"/>
                <a:gd name="connsiteX13" fmla="*/ 15570 w 30793"/>
                <a:gd name="connsiteY13" fmla="*/ 17267 h 25555"/>
                <a:gd name="connsiteX14" fmla="*/ 15570 w 30793"/>
                <a:gd name="connsiteY14" fmla="*/ 17267 h 25555"/>
                <a:gd name="connsiteX15" fmla="*/ 21798 w 30793"/>
                <a:gd name="connsiteY15" fmla="*/ 0 h 25555"/>
                <a:gd name="connsiteX16" fmla="*/ 30794 w 30793"/>
                <a:gd name="connsiteY16" fmla="*/ 0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793" h="25555">
                  <a:moveTo>
                    <a:pt x="30448" y="0"/>
                  </a:moveTo>
                  <a:lnTo>
                    <a:pt x="30448" y="25555"/>
                  </a:lnTo>
                  <a:lnTo>
                    <a:pt x="24912" y="25555"/>
                  </a:lnTo>
                  <a:lnTo>
                    <a:pt x="24912" y="5180"/>
                  </a:lnTo>
                  <a:lnTo>
                    <a:pt x="24912" y="5180"/>
                  </a:lnTo>
                  <a:lnTo>
                    <a:pt x="17646" y="25555"/>
                  </a:lnTo>
                  <a:lnTo>
                    <a:pt x="12802" y="25555"/>
                  </a:lnTo>
                  <a:lnTo>
                    <a:pt x="5536" y="5180"/>
                  </a:lnTo>
                  <a:lnTo>
                    <a:pt x="5536" y="5180"/>
                  </a:lnTo>
                  <a:lnTo>
                    <a:pt x="5536" y="25555"/>
                  </a:lnTo>
                  <a:lnTo>
                    <a:pt x="0" y="25555"/>
                  </a:lnTo>
                  <a:lnTo>
                    <a:pt x="0" y="0"/>
                  </a:lnTo>
                  <a:lnTo>
                    <a:pt x="9688" y="0"/>
                  </a:lnTo>
                  <a:lnTo>
                    <a:pt x="15570" y="17267"/>
                  </a:lnTo>
                  <a:lnTo>
                    <a:pt x="15570" y="17267"/>
                  </a:lnTo>
                  <a:lnTo>
                    <a:pt x="21798" y="0"/>
                  </a:lnTo>
                  <a:lnTo>
                    <a:pt x="30794" y="0"/>
                  </a:lnTo>
                  <a:close/>
                </a:path>
              </a:pathLst>
            </a:custGeom>
            <a:grpFill/>
            <a:ln w="3458" cap="flat">
              <a:noFill/>
              <a:prstDash val="solid"/>
              <a:miter/>
            </a:ln>
          </p:spPr>
          <p:txBody>
            <a:bodyPr rtlCol="0" anchor="ctr"/>
            <a:lstStyle/>
            <a:p>
              <a:endParaRPr lang="en-US" sz="1800"/>
            </a:p>
          </p:txBody>
        </p:sp>
        <p:sp>
          <p:nvSpPr>
            <p:cNvPr id="32" name="Freeform 31">
              <a:extLst>
                <a:ext uri="{FF2B5EF4-FFF2-40B4-BE49-F238E27FC236}">
                  <a16:creationId xmlns:a16="http://schemas.microsoft.com/office/drawing/2014/main" id="{044CEE59-9DC5-3F05-311A-36DA10537F80}"/>
                </a:ext>
              </a:extLst>
            </p:cNvPr>
            <p:cNvSpPr/>
            <p:nvPr/>
          </p:nvSpPr>
          <p:spPr>
            <a:xfrm>
              <a:off x="9453811" y="7685087"/>
              <a:ext cx="21451" cy="25555"/>
            </a:xfrm>
            <a:custGeom>
              <a:avLst/>
              <a:gdLst>
                <a:gd name="connsiteX0" fmla="*/ 13840 w 21451"/>
                <a:gd name="connsiteY0" fmla="*/ 4835 h 25555"/>
                <a:gd name="connsiteX1" fmla="*/ 13840 w 21451"/>
                <a:gd name="connsiteY1" fmla="*/ 25555 h 25555"/>
                <a:gd name="connsiteX2" fmla="*/ 7958 w 21451"/>
                <a:gd name="connsiteY2" fmla="*/ 25555 h 25555"/>
                <a:gd name="connsiteX3" fmla="*/ 7958 w 21451"/>
                <a:gd name="connsiteY3" fmla="*/ 4835 h 25555"/>
                <a:gd name="connsiteX4" fmla="*/ 0 w 21451"/>
                <a:gd name="connsiteY4" fmla="*/ 4835 h 25555"/>
                <a:gd name="connsiteX5" fmla="*/ 0 w 21451"/>
                <a:gd name="connsiteY5" fmla="*/ 0 h 25555"/>
                <a:gd name="connsiteX6" fmla="*/ 21452 w 21451"/>
                <a:gd name="connsiteY6" fmla="*/ 0 h 25555"/>
                <a:gd name="connsiteX7" fmla="*/ 21452 w 21451"/>
                <a:gd name="connsiteY7" fmla="*/ 4835 h 25555"/>
                <a:gd name="connsiteX8" fmla="*/ 13494 w 21451"/>
                <a:gd name="connsiteY8" fmla="*/ 4835 h 25555"/>
                <a:gd name="connsiteX9" fmla="*/ 13494 w 21451"/>
                <a:gd name="connsiteY9" fmla="*/ 4835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451" h="25555">
                  <a:moveTo>
                    <a:pt x="13840" y="4835"/>
                  </a:moveTo>
                  <a:lnTo>
                    <a:pt x="13840" y="25555"/>
                  </a:lnTo>
                  <a:lnTo>
                    <a:pt x="7958" y="25555"/>
                  </a:lnTo>
                  <a:lnTo>
                    <a:pt x="7958" y="4835"/>
                  </a:lnTo>
                  <a:lnTo>
                    <a:pt x="0" y="4835"/>
                  </a:lnTo>
                  <a:lnTo>
                    <a:pt x="0" y="0"/>
                  </a:lnTo>
                  <a:lnTo>
                    <a:pt x="21452" y="0"/>
                  </a:lnTo>
                  <a:lnTo>
                    <a:pt x="21452" y="4835"/>
                  </a:lnTo>
                  <a:lnTo>
                    <a:pt x="13494" y="4835"/>
                  </a:lnTo>
                  <a:lnTo>
                    <a:pt x="13494" y="4835"/>
                  </a:lnTo>
                  <a:close/>
                </a:path>
              </a:pathLst>
            </a:custGeom>
            <a:grpFill/>
            <a:ln w="3458" cap="flat">
              <a:noFill/>
              <a:prstDash val="solid"/>
              <a:miter/>
            </a:ln>
          </p:spPr>
          <p:txBody>
            <a:bodyPr rtlCol="0" anchor="ctr"/>
            <a:lstStyle/>
            <a:p>
              <a:endParaRPr lang="en-US" sz="1800"/>
            </a:p>
          </p:txBody>
        </p:sp>
      </p:grpSp>
      <p:sp>
        <p:nvSpPr>
          <p:cNvPr id="34" name="Title 1">
            <a:extLst>
              <a:ext uri="{FF2B5EF4-FFF2-40B4-BE49-F238E27FC236}">
                <a16:creationId xmlns:a16="http://schemas.microsoft.com/office/drawing/2014/main" id="{C4DFF970-9E2C-FEF7-38ED-FDDBF80175D6}"/>
              </a:ext>
            </a:extLst>
          </p:cNvPr>
          <p:cNvSpPr>
            <a:spLocks noGrp="1"/>
          </p:cNvSpPr>
          <p:nvPr>
            <p:ph type="title" hasCustomPrompt="1"/>
          </p:nvPr>
        </p:nvSpPr>
        <p:spPr>
          <a:xfrm>
            <a:off x="292099" y="442939"/>
            <a:ext cx="11607801" cy="960120"/>
          </a:xfrm>
          <a:prstGeom prst="rect">
            <a:avLst/>
          </a:prstGeom>
        </p:spPr>
        <p:txBody>
          <a:bodyPr wrap="square" lIns="0" anchor="b">
            <a:noAutofit/>
          </a:bodyPr>
          <a:lstStyle>
            <a:lvl1pPr>
              <a:lnSpc>
                <a:spcPct val="100000"/>
              </a:lnSpc>
              <a:defRPr sz="3000" b="0" spc="0" baseline="0">
                <a:solidFill>
                  <a:schemeClr val="tx1"/>
                </a:solidFill>
                <a:latin typeface="+mj-lt"/>
              </a:defRPr>
            </a:lvl1pPr>
          </a:lstStyle>
          <a:p>
            <a:r>
              <a:rPr lang="en-US"/>
              <a:t>CLICK TO ADD TITLE</a:t>
            </a:r>
          </a:p>
        </p:txBody>
      </p:sp>
      <p:sp>
        <p:nvSpPr>
          <p:cNvPr id="35" name="Text Placeholder 13">
            <a:extLst>
              <a:ext uri="{FF2B5EF4-FFF2-40B4-BE49-F238E27FC236}">
                <a16:creationId xmlns:a16="http://schemas.microsoft.com/office/drawing/2014/main" id="{61817AE3-6D4F-1951-DB2F-C9FD0AB6045E}"/>
              </a:ext>
            </a:extLst>
          </p:cNvPr>
          <p:cNvSpPr>
            <a:spLocks noGrp="1"/>
          </p:cNvSpPr>
          <p:nvPr>
            <p:ph type="body" sz="quarter" idx="12" hasCustomPrompt="1"/>
          </p:nvPr>
        </p:nvSpPr>
        <p:spPr>
          <a:xfrm>
            <a:off x="292099" y="1407519"/>
            <a:ext cx="11607801" cy="496143"/>
          </a:xfrm>
          <a:prstGeom prst="rect">
            <a:avLst/>
          </a:prstGeom>
        </p:spPr>
        <p:txBody>
          <a:bodyPr wrap="none" lIns="0" bIns="0">
            <a:noAutofit/>
          </a:bodyPr>
          <a:lstStyle>
            <a:lvl1pPr marL="0" indent="0">
              <a:lnSpc>
                <a:spcPct val="100000"/>
              </a:lnSpc>
              <a:spcAft>
                <a:spcPts val="0"/>
              </a:spcAft>
              <a:buNone/>
              <a:defRPr sz="3000" b="0" spc="0" baseline="0">
                <a:solidFill>
                  <a:schemeClr val="accent1">
                    <a:lumMod val="75000"/>
                  </a:schemeClr>
                </a:solidFill>
                <a:latin typeface="+mj-lt"/>
              </a:defRPr>
            </a:lvl1pPr>
            <a:lvl2pPr marL="274304" indent="0">
              <a:buNone/>
              <a:defRPr/>
            </a:lvl2pPr>
            <a:lvl3pPr marL="914346" indent="0">
              <a:buNone/>
              <a:defRPr/>
            </a:lvl3pPr>
            <a:lvl4pPr marL="1371519" indent="0">
              <a:buNone/>
              <a:defRPr/>
            </a:lvl4pPr>
            <a:lvl5pPr marL="1828693" indent="0">
              <a:buNone/>
              <a:defRPr/>
            </a:lvl5pPr>
          </a:lstStyle>
          <a:p>
            <a:pPr lvl="0"/>
            <a:r>
              <a:rPr lang="en-US"/>
              <a:t>Click to Add Subtitle</a:t>
            </a:r>
          </a:p>
        </p:txBody>
      </p:sp>
      <p:sp>
        <p:nvSpPr>
          <p:cNvPr id="36" name="name_2024 sandisk or its affiliates All rights reserved">
            <a:extLst>
              <a:ext uri="{FF2B5EF4-FFF2-40B4-BE49-F238E27FC236}">
                <a16:creationId xmlns:a16="http://schemas.microsoft.com/office/drawing/2014/main" id="{C0349B19-74A8-2BA4-C454-99E1B90E52D7}"/>
              </a:ext>
            </a:extLst>
          </p:cNvPr>
          <p:cNvSpPr txBox="1"/>
          <p:nvPr/>
        </p:nvSpPr>
        <p:spPr>
          <a:xfrm>
            <a:off x="6096000" y="6437971"/>
            <a:ext cx="5803900"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b">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r" defTabSz="609412" hangingPunct="0">
              <a:lnSpc>
                <a:spcPct val="100000"/>
              </a:lnSpc>
            </a:pPr>
            <a:r>
              <a:rPr lang="en-US" sz="1000" b="0" i="0" kern="0" spc="0" baseline="0">
                <a:solidFill>
                  <a:schemeClr val="tx2"/>
                </a:solidFill>
                <a:latin typeface="NB Architekt Pro Neue" panose="02010509020201040001" pitchFamily="49" charset="77"/>
                <a:cs typeface="Consolas" panose="020B0609020204030204" pitchFamily="49" charset="0"/>
              </a:rPr>
              <a:t>©2025 SANDISK CORPORATION OR ITS AFFILIATES ALL RIGHTS RESERVED</a:t>
            </a:r>
          </a:p>
        </p:txBody>
      </p:sp>
      <p:sp>
        <p:nvSpPr>
          <p:cNvPr id="37" name="name_2024 sandisk or its affiliates All rights reserved">
            <a:extLst>
              <a:ext uri="{FF2B5EF4-FFF2-40B4-BE49-F238E27FC236}">
                <a16:creationId xmlns:a16="http://schemas.microsoft.com/office/drawing/2014/main" id="{C201CB10-31EE-857F-EB82-9121DFC97799}"/>
              </a:ext>
            </a:extLst>
          </p:cNvPr>
          <p:cNvSpPr txBox="1"/>
          <p:nvPr/>
        </p:nvSpPr>
        <p:spPr>
          <a:xfrm>
            <a:off x="8997951" y="267518"/>
            <a:ext cx="2242276"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tx1"/>
                </a:solidFill>
                <a:latin typeface="NB Architekt Pro Neue" panose="02010509020201040001" pitchFamily="49" charset="77"/>
                <a:cs typeface="Consolas" panose="020B0609020204030204" pitchFamily="49" charset="0"/>
              </a:rPr>
              <a:t>“START” “REPEAT” “1988/2025”</a:t>
            </a:r>
          </a:p>
        </p:txBody>
      </p:sp>
      <p:sp>
        <p:nvSpPr>
          <p:cNvPr id="38" name="Rectangle 37">
            <a:extLst>
              <a:ext uri="{FF2B5EF4-FFF2-40B4-BE49-F238E27FC236}">
                <a16:creationId xmlns:a16="http://schemas.microsoft.com/office/drawing/2014/main" id="{243DDDCE-1011-E237-1B5F-5219B04D7505}"/>
              </a:ext>
            </a:extLst>
          </p:cNvPr>
          <p:cNvSpPr/>
          <p:nvPr/>
        </p:nvSpPr>
        <p:spPr>
          <a:xfrm>
            <a:off x="11808843" y="296581"/>
            <a:ext cx="91057" cy="9105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0" name="Content Placeholder 8">
            <a:extLst>
              <a:ext uri="{FF2B5EF4-FFF2-40B4-BE49-F238E27FC236}">
                <a16:creationId xmlns:a16="http://schemas.microsoft.com/office/drawing/2014/main" id="{70F7847F-B361-D8CC-63C3-57A37D825540}"/>
              </a:ext>
            </a:extLst>
          </p:cNvPr>
          <p:cNvSpPr>
            <a:spLocks noGrp="1"/>
          </p:cNvSpPr>
          <p:nvPr>
            <p:ph sz="quarter" idx="11" hasCustomPrompt="1"/>
          </p:nvPr>
        </p:nvSpPr>
        <p:spPr>
          <a:xfrm>
            <a:off x="292099" y="2284930"/>
            <a:ext cx="11607801" cy="3885745"/>
          </a:xfrm>
          <a:prstGeom prst="rect">
            <a:avLst/>
          </a:prstGeom>
        </p:spPr>
        <p:txBody>
          <a:bodyPr lIns="0" bIns="0">
            <a:noAutofit/>
          </a:bodyPr>
          <a:lstStyle>
            <a:lvl1pPr marL="292608" indent="-292608">
              <a:lnSpc>
                <a:spcPct val="100000"/>
              </a:lnSpc>
              <a:spcBef>
                <a:spcPts val="0"/>
              </a:spcBef>
              <a:spcAft>
                <a:spcPts val="1000"/>
              </a:spcAft>
              <a:buClrTx/>
              <a:buSzPct val="100000"/>
              <a:buFont typeface="Pilat Regular" panose="020B0604020202020204" pitchFamily="34" charset="0"/>
              <a:buChar char="•"/>
              <a:defRPr sz="2000" spc="0">
                <a:solidFill>
                  <a:schemeClr val="tx1"/>
                </a:solidFill>
              </a:defRPr>
            </a:lvl1pPr>
            <a:lvl2pPr marL="585216" indent="-292608">
              <a:lnSpc>
                <a:spcPct val="100000"/>
              </a:lnSpc>
              <a:spcBef>
                <a:spcPts val="0"/>
              </a:spcBef>
              <a:spcAft>
                <a:spcPts val="1000"/>
              </a:spcAft>
              <a:buClrTx/>
              <a:buSzPct val="100000"/>
              <a:buFont typeface="Pilat Regular" panose="020B0604020202020204" pitchFamily="34" charset="0"/>
              <a:buChar char="•"/>
              <a:defRPr sz="2000" spc="0">
                <a:solidFill>
                  <a:schemeClr val="tx1"/>
                </a:solidFill>
              </a:defRPr>
            </a:lvl2pPr>
            <a:lvl3pPr marL="877824" indent="-292608">
              <a:lnSpc>
                <a:spcPct val="100000"/>
              </a:lnSpc>
              <a:spcBef>
                <a:spcPts val="0"/>
              </a:spcBef>
              <a:spcAft>
                <a:spcPts val="1000"/>
              </a:spcAft>
              <a:buClrTx/>
              <a:buSzPct val="100000"/>
              <a:buFont typeface="Pilat Regular" panose="020B0604020202020204" pitchFamily="34" charset="0"/>
              <a:buChar char="•"/>
              <a:defRPr sz="2000" spc="0">
                <a:solidFill>
                  <a:schemeClr val="tx1"/>
                </a:solidFill>
              </a:defRPr>
            </a:lvl3pPr>
            <a:lvl4pPr marL="1170432" indent="-292608">
              <a:lnSpc>
                <a:spcPct val="100000"/>
              </a:lnSpc>
              <a:spcBef>
                <a:spcPts val="0"/>
              </a:spcBef>
              <a:spcAft>
                <a:spcPts val="1000"/>
              </a:spcAft>
              <a:buClrTx/>
              <a:buSzPct val="100000"/>
              <a:buFont typeface="Pilat Regular" panose="020B0604020202020204" pitchFamily="34" charset="0"/>
              <a:buChar char="•"/>
              <a:defRPr sz="2000" spc="0">
                <a:solidFill>
                  <a:schemeClr val="tx1"/>
                </a:solidFill>
              </a:defRPr>
            </a:lvl4pPr>
            <a:lvl5pPr marL="1463040" indent="-292608">
              <a:lnSpc>
                <a:spcPct val="100000"/>
              </a:lnSpc>
              <a:spcBef>
                <a:spcPts val="0"/>
              </a:spcBef>
              <a:spcAft>
                <a:spcPts val="1000"/>
              </a:spcAft>
              <a:buClrTx/>
              <a:buSzPct val="100000"/>
              <a:buFont typeface="Pilat Regular" panose="020B0604020202020204" pitchFamily="34" charset="0"/>
              <a:buChar char="•"/>
              <a:defRPr sz="2000" spc="0">
                <a:solidFill>
                  <a:schemeClr val="tx1"/>
                </a:solidFill>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8960016"/>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ontent Black">
    <p:bg>
      <p:bgPr>
        <a:solidFill>
          <a:schemeClr val="tx1"/>
        </a:solidFill>
        <a:effectLst/>
      </p:bgPr>
    </p:bg>
    <p:spTree>
      <p:nvGrpSpPr>
        <p:cNvPr id="1" name=""/>
        <p:cNvGrpSpPr/>
        <p:nvPr/>
      </p:nvGrpSpPr>
      <p:grpSpPr>
        <a:xfrm>
          <a:off x="0" y="0"/>
          <a:ext cx="0" cy="0"/>
          <a:chOff x="0" y="0"/>
          <a:chExt cx="0" cy="0"/>
        </a:xfrm>
      </p:grpSpPr>
      <p:sp>
        <p:nvSpPr>
          <p:cNvPr id="5" name="name_2024 sandisk or its affiliates All rights reserved">
            <a:extLst>
              <a:ext uri="{FF2B5EF4-FFF2-40B4-BE49-F238E27FC236}">
                <a16:creationId xmlns:a16="http://schemas.microsoft.com/office/drawing/2014/main" id="{EFFFC07D-0CF9-FFD6-F0CD-D4D74A7F1D23}"/>
              </a:ext>
            </a:extLst>
          </p:cNvPr>
          <p:cNvSpPr txBox="1"/>
          <p:nvPr/>
        </p:nvSpPr>
        <p:spPr>
          <a:xfrm>
            <a:off x="292100" y="267518"/>
            <a:ext cx="1323975"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bg1"/>
                </a:solidFill>
                <a:latin typeface="NB Architekt Pro Neue" panose="02010509020201040001" pitchFamily="49" charset="77"/>
                <a:cs typeface="Consolas" panose="020B0609020204030204" pitchFamily="49" charset="0"/>
              </a:rPr>
              <a:t>[Confidential]</a:t>
            </a:r>
          </a:p>
        </p:txBody>
      </p:sp>
      <p:sp>
        <p:nvSpPr>
          <p:cNvPr id="52" name="Title 1">
            <a:extLst>
              <a:ext uri="{FF2B5EF4-FFF2-40B4-BE49-F238E27FC236}">
                <a16:creationId xmlns:a16="http://schemas.microsoft.com/office/drawing/2014/main" id="{44B28BD3-18EC-FB95-1877-48A10F09B7B0}"/>
              </a:ext>
            </a:extLst>
          </p:cNvPr>
          <p:cNvSpPr>
            <a:spLocks noGrp="1"/>
          </p:cNvSpPr>
          <p:nvPr>
            <p:ph type="title" hasCustomPrompt="1"/>
          </p:nvPr>
        </p:nvSpPr>
        <p:spPr>
          <a:xfrm>
            <a:off x="292100" y="439244"/>
            <a:ext cx="11607800" cy="1425347"/>
          </a:xfrm>
          <a:prstGeom prst="rect">
            <a:avLst/>
          </a:prstGeom>
        </p:spPr>
        <p:txBody>
          <a:bodyPr wrap="square" lIns="0" anchor="b">
            <a:noAutofit/>
          </a:bodyPr>
          <a:lstStyle>
            <a:lvl1pPr>
              <a:lnSpc>
                <a:spcPct val="100000"/>
              </a:lnSpc>
              <a:defRPr sz="3000" b="0" spc="0" baseline="0">
                <a:solidFill>
                  <a:schemeClr val="bg1"/>
                </a:solidFill>
                <a:latin typeface="+mj-lt"/>
              </a:defRPr>
            </a:lvl1pPr>
          </a:lstStyle>
          <a:p>
            <a:r>
              <a:rPr lang="en-US"/>
              <a:t>CLICK TO ADD TITLE</a:t>
            </a:r>
          </a:p>
        </p:txBody>
      </p:sp>
      <p:sp>
        <p:nvSpPr>
          <p:cNvPr id="3" name="Slide Number Placeholder 5">
            <a:extLst>
              <a:ext uri="{FF2B5EF4-FFF2-40B4-BE49-F238E27FC236}">
                <a16:creationId xmlns:a16="http://schemas.microsoft.com/office/drawing/2014/main" id="{2809DECB-5936-5428-8883-81380D690903}"/>
              </a:ext>
            </a:extLst>
          </p:cNvPr>
          <p:cNvSpPr>
            <a:spLocks noGrp="1"/>
          </p:cNvSpPr>
          <p:nvPr>
            <p:ph type="sldNum" sz="quarter" idx="4"/>
          </p:nvPr>
        </p:nvSpPr>
        <p:spPr>
          <a:xfrm>
            <a:off x="3194050" y="6455472"/>
            <a:ext cx="855221" cy="118872"/>
          </a:xfrm>
          <a:prstGeom prst="rect">
            <a:avLst/>
          </a:prstGeom>
        </p:spPr>
        <p:txBody>
          <a:bodyPr vert="horz" lIns="0" tIns="0" rIns="0" bIns="0" rtlCol="0" anchor="ctr"/>
          <a:lstStyle>
            <a:lvl1pPr algn="l">
              <a:defRPr sz="1000" b="0" i="0" spc="0" baseline="0">
                <a:solidFill>
                  <a:schemeClr val="bg1"/>
                </a:solidFill>
                <a:latin typeface="NB Architekt Pro Neue" panose="02010509020201040001" pitchFamily="49" charset="77"/>
                <a:cs typeface="Consolas" panose="020B0609020204030204" pitchFamily="49" charset="0"/>
              </a:defRPr>
            </a:lvl1pPr>
          </a:lstStyle>
          <a:p>
            <a:r>
              <a:rPr lang="en-US"/>
              <a:t>00.0</a:t>
            </a:r>
            <a:fld id="{4571BA12-316B-0A40-BB3D-1A8CDD33E9E5}" type="slidenum">
              <a:rPr lang="en-US" smtClean="0"/>
              <a:pPr/>
              <a:t>‹#›</a:t>
            </a:fld>
            <a:endParaRPr lang="en-US"/>
          </a:p>
        </p:txBody>
      </p:sp>
      <p:grpSp>
        <p:nvGrpSpPr>
          <p:cNvPr id="12" name="Group 11">
            <a:extLst>
              <a:ext uri="{FF2B5EF4-FFF2-40B4-BE49-F238E27FC236}">
                <a16:creationId xmlns:a16="http://schemas.microsoft.com/office/drawing/2014/main" id="{A04647B2-3595-A741-1EC4-A09E9488BC24}"/>
              </a:ext>
            </a:extLst>
          </p:cNvPr>
          <p:cNvGrpSpPr>
            <a:grpSpLocks noChangeAspect="1"/>
          </p:cNvGrpSpPr>
          <p:nvPr/>
        </p:nvGrpSpPr>
        <p:grpSpPr>
          <a:xfrm>
            <a:off x="297027" y="6344485"/>
            <a:ext cx="2240280" cy="218081"/>
            <a:chOff x="8480170" y="7684742"/>
            <a:chExt cx="1031076" cy="102566"/>
          </a:xfrm>
          <a:solidFill>
            <a:schemeClr val="accent3"/>
          </a:solidFill>
        </p:grpSpPr>
        <p:sp>
          <p:nvSpPr>
            <p:cNvPr id="13" name="Freeform 12">
              <a:extLst>
                <a:ext uri="{FF2B5EF4-FFF2-40B4-BE49-F238E27FC236}">
                  <a16:creationId xmlns:a16="http://schemas.microsoft.com/office/drawing/2014/main" id="{CEB56B84-5BE3-3D3F-7401-04188DADEF39}"/>
                </a:ext>
              </a:extLst>
            </p:cNvPr>
            <p:cNvSpPr/>
            <p:nvPr/>
          </p:nvSpPr>
          <p:spPr>
            <a:xfrm>
              <a:off x="8788109" y="7684742"/>
              <a:ext cx="128019" cy="102565"/>
            </a:xfrm>
            <a:custGeom>
              <a:avLst/>
              <a:gdLst>
                <a:gd name="connsiteX0" fmla="*/ 102070 w 128019"/>
                <a:gd name="connsiteY0" fmla="*/ 70104 h 102565"/>
                <a:gd name="connsiteX1" fmla="*/ 96188 w 128019"/>
                <a:gd name="connsiteY1" fmla="*/ 77011 h 102565"/>
                <a:gd name="connsiteX2" fmla="*/ 89268 w 128019"/>
                <a:gd name="connsiteY2" fmla="*/ 72521 h 102565"/>
                <a:gd name="connsiteX3" fmla="*/ 65740 w 128019"/>
                <a:gd name="connsiteY3" fmla="*/ 8288 h 102565"/>
                <a:gd name="connsiteX4" fmla="*/ 54668 w 128019"/>
                <a:gd name="connsiteY4" fmla="*/ 0 h 102565"/>
                <a:gd name="connsiteX5" fmla="*/ 0 w 128019"/>
                <a:gd name="connsiteY5" fmla="*/ 0 h 102565"/>
                <a:gd name="connsiteX6" fmla="*/ 0 w 128019"/>
                <a:gd name="connsiteY6" fmla="*/ 102221 h 102565"/>
                <a:gd name="connsiteX7" fmla="*/ 40136 w 128019"/>
                <a:gd name="connsiteY7" fmla="*/ 102221 h 102565"/>
                <a:gd name="connsiteX8" fmla="*/ 40136 w 128019"/>
                <a:gd name="connsiteY8" fmla="*/ 76665 h 102565"/>
                <a:gd name="connsiteX9" fmla="*/ 32870 w 128019"/>
                <a:gd name="connsiteY9" fmla="*/ 76665 h 102565"/>
                <a:gd name="connsiteX10" fmla="*/ 25604 w 128019"/>
                <a:gd name="connsiteY10" fmla="*/ 67687 h 102565"/>
                <a:gd name="connsiteX11" fmla="*/ 25604 w 128019"/>
                <a:gd name="connsiteY11" fmla="*/ 36951 h 102565"/>
                <a:gd name="connsiteX12" fmla="*/ 39790 w 128019"/>
                <a:gd name="connsiteY12" fmla="*/ 26591 h 102565"/>
                <a:gd name="connsiteX13" fmla="*/ 45672 w 128019"/>
                <a:gd name="connsiteY13" fmla="*/ 32807 h 102565"/>
                <a:gd name="connsiteX14" fmla="*/ 64356 w 128019"/>
                <a:gd name="connsiteY14" fmla="*/ 81500 h 102565"/>
                <a:gd name="connsiteX15" fmla="*/ 95150 w 128019"/>
                <a:gd name="connsiteY15" fmla="*/ 102566 h 102565"/>
                <a:gd name="connsiteX16" fmla="*/ 95842 w 128019"/>
                <a:gd name="connsiteY16" fmla="*/ 102566 h 102565"/>
                <a:gd name="connsiteX17" fmla="*/ 128020 w 128019"/>
                <a:gd name="connsiteY17" fmla="*/ 70795 h 102565"/>
                <a:gd name="connsiteX18" fmla="*/ 128020 w 128019"/>
                <a:gd name="connsiteY18" fmla="*/ 345 h 102565"/>
                <a:gd name="connsiteX19" fmla="*/ 102416 w 128019"/>
                <a:gd name="connsiteY19" fmla="*/ 345 h 102565"/>
                <a:gd name="connsiteX20" fmla="*/ 102416 w 128019"/>
                <a:gd name="connsiteY20" fmla="*/ 70104 h 102565"/>
                <a:gd name="connsiteX21" fmla="*/ 102416 w 128019"/>
                <a:gd name="connsiteY21" fmla="*/ 70104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8019" h="102565">
                  <a:moveTo>
                    <a:pt x="102070" y="70104"/>
                  </a:moveTo>
                  <a:cubicBezTo>
                    <a:pt x="102070" y="73557"/>
                    <a:pt x="99648" y="76665"/>
                    <a:pt x="96188" y="77011"/>
                  </a:cubicBezTo>
                  <a:cubicBezTo>
                    <a:pt x="93074" y="77356"/>
                    <a:pt x="90306" y="75629"/>
                    <a:pt x="89268" y="72521"/>
                  </a:cubicBezTo>
                  <a:lnTo>
                    <a:pt x="65740" y="8288"/>
                  </a:lnTo>
                  <a:cubicBezTo>
                    <a:pt x="64010" y="3108"/>
                    <a:pt x="59858" y="0"/>
                    <a:pt x="54668" y="0"/>
                  </a:cubicBezTo>
                  <a:lnTo>
                    <a:pt x="0" y="0"/>
                  </a:lnTo>
                  <a:lnTo>
                    <a:pt x="0" y="102221"/>
                  </a:lnTo>
                  <a:lnTo>
                    <a:pt x="40136" y="102221"/>
                  </a:lnTo>
                  <a:lnTo>
                    <a:pt x="40136" y="76665"/>
                  </a:lnTo>
                  <a:lnTo>
                    <a:pt x="32870" y="76665"/>
                  </a:lnTo>
                  <a:cubicBezTo>
                    <a:pt x="28026" y="76665"/>
                    <a:pt x="25604" y="72521"/>
                    <a:pt x="25604" y="67687"/>
                  </a:cubicBezTo>
                  <a:lnTo>
                    <a:pt x="25604" y="36951"/>
                  </a:lnTo>
                  <a:cubicBezTo>
                    <a:pt x="25604" y="29354"/>
                    <a:pt x="32870" y="23828"/>
                    <a:pt x="39790" y="26591"/>
                  </a:cubicBezTo>
                  <a:cubicBezTo>
                    <a:pt x="42212" y="27627"/>
                    <a:pt x="44634" y="30045"/>
                    <a:pt x="45672" y="32807"/>
                  </a:cubicBezTo>
                  <a:lnTo>
                    <a:pt x="64356" y="81500"/>
                  </a:lnTo>
                  <a:cubicBezTo>
                    <a:pt x="69200" y="94278"/>
                    <a:pt x="81310" y="102566"/>
                    <a:pt x="95150" y="102566"/>
                  </a:cubicBezTo>
                  <a:lnTo>
                    <a:pt x="95842" y="102566"/>
                  </a:lnTo>
                  <a:cubicBezTo>
                    <a:pt x="113488" y="102566"/>
                    <a:pt x="128020" y="88407"/>
                    <a:pt x="128020" y="70795"/>
                  </a:cubicBezTo>
                  <a:lnTo>
                    <a:pt x="128020" y="345"/>
                  </a:lnTo>
                  <a:lnTo>
                    <a:pt x="102416" y="345"/>
                  </a:lnTo>
                  <a:lnTo>
                    <a:pt x="102416" y="70104"/>
                  </a:lnTo>
                  <a:lnTo>
                    <a:pt x="102416" y="70104"/>
                  </a:lnTo>
                  <a:close/>
                </a:path>
              </a:pathLst>
            </a:custGeom>
            <a:grpFill/>
            <a:ln w="3458" cap="flat">
              <a:noFill/>
              <a:prstDash val="solid"/>
              <a:miter/>
            </a:ln>
          </p:spPr>
          <p:txBody>
            <a:bodyPr rtlCol="0" anchor="ctr"/>
            <a:lstStyle/>
            <a:p>
              <a:endParaRPr lang="en-US" sz="1800"/>
            </a:p>
          </p:txBody>
        </p:sp>
        <p:sp>
          <p:nvSpPr>
            <p:cNvPr id="14" name="Freeform 13">
              <a:extLst>
                <a:ext uri="{FF2B5EF4-FFF2-40B4-BE49-F238E27FC236}">
                  <a16:creationId xmlns:a16="http://schemas.microsoft.com/office/drawing/2014/main" id="{6CCA0356-9320-B942-6773-B921AB688397}"/>
                </a:ext>
              </a:extLst>
            </p:cNvPr>
            <p:cNvSpPr/>
            <p:nvPr/>
          </p:nvSpPr>
          <p:spPr>
            <a:xfrm>
              <a:off x="8941733" y="7685087"/>
              <a:ext cx="128019" cy="102220"/>
            </a:xfrm>
            <a:custGeom>
              <a:avLst/>
              <a:gdLst>
                <a:gd name="connsiteX0" fmla="*/ 76812 w 128019"/>
                <a:gd name="connsiteY0" fmla="*/ 0 h 102220"/>
                <a:gd name="connsiteX1" fmla="*/ 0 w 128019"/>
                <a:gd name="connsiteY1" fmla="*/ 0 h 102220"/>
                <a:gd name="connsiteX2" fmla="*/ 0 w 128019"/>
                <a:gd name="connsiteY2" fmla="*/ 25555 h 102220"/>
                <a:gd name="connsiteX3" fmla="*/ 76812 w 128019"/>
                <a:gd name="connsiteY3" fmla="*/ 25555 h 102220"/>
                <a:gd name="connsiteX4" fmla="*/ 102416 w 128019"/>
                <a:gd name="connsiteY4" fmla="*/ 51110 h 102220"/>
                <a:gd name="connsiteX5" fmla="*/ 76812 w 128019"/>
                <a:gd name="connsiteY5" fmla="*/ 76665 h 102220"/>
                <a:gd name="connsiteX6" fmla="*/ 0 w 128019"/>
                <a:gd name="connsiteY6" fmla="*/ 76665 h 102220"/>
                <a:gd name="connsiteX7" fmla="*/ 0 w 128019"/>
                <a:gd name="connsiteY7" fmla="*/ 102221 h 102220"/>
                <a:gd name="connsiteX8" fmla="*/ 76812 w 128019"/>
                <a:gd name="connsiteY8" fmla="*/ 102221 h 102220"/>
                <a:gd name="connsiteX9" fmla="*/ 121792 w 128019"/>
                <a:gd name="connsiteY9" fmla="*/ 75629 h 102220"/>
                <a:gd name="connsiteX10" fmla="*/ 128020 w 128019"/>
                <a:gd name="connsiteY10" fmla="*/ 51110 h 102220"/>
                <a:gd name="connsiteX11" fmla="*/ 121792 w 128019"/>
                <a:gd name="connsiteY11" fmla="*/ 26591 h 102220"/>
                <a:gd name="connsiteX12" fmla="*/ 76812 w 128019"/>
                <a:gd name="connsiteY12" fmla="*/ 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8019" h="102220">
                  <a:moveTo>
                    <a:pt x="76812" y="0"/>
                  </a:moveTo>
                  <a:lnTo>
                    <a:pt x="0" y="0"/>
                  </a:lnTo>
                  <a:lnTo>
                    <a:pt x="0" y="25555"/>
                  </a:lnTo>
                  <a:lnTo>
                    <a:pt x="76812" y="25555"/>
                  </a:lnTo>
                  <a:cubicBezTo>
                    <a:pt x="90306" y="25555"/>
                    <a:pt x="102416" y="37297"/>
                    <a:pt x="102416" y="51110"/>
                  </a:cubicBezTo>
                  <a:cubicBezTo>
                    <a:pt x="102416" y="64924"/>
                    <a:pt x="90652" y="76665"/>
                    <a:pt x="76812" y="76665"/>
                  </a:cubicBezTo>
                  <a:lnTo>
                    <a:pt x="0" y="76665"/>
                  </a:lnTo>
                  <a:lnTo>
                    <a:pt x="0" y="102221"/>
                  </a:lnTo>
                  <a:lnTo>
                    <a:pt x="76812" y="102221"/>
                  </a:lnTo>
                  <a:cubicBezTo>
                    <a:pt x="96188" y="102221"/>
                    <a:pt x="113142" y="91515"/>
                    <a:pt x="121792" y="75629"/>
                  </a:cubicBezTo>
                  <a:cubicBezTo>
                    <a:pt x="125598" y="68377"/>
                    <a:pt x="128020" y="59744"/>
                    <a:pt x="128020" y="51110"/>
                  </a:cubicBezTo>
                  <a:cubicBezTo>
                    <a:pt x="128020" y="42477"/>
                    <a:pt x="125598" y="33843"/>
                    <a:pt x="121792" y="26591"/>
                  </a:cubicBezTo>
                  <a:cubicBezTo>
                    <a:pt x="113142" y="10706"/>
                    <a:pt x="96188" y="0"/>
                    <a:pt x="76812" y="0"/>
                  </a:cubicBezTo>
                  <a:close/>
                </a:path>
              </a:pathLst>
            </a:custGeom>
            <a:grpFill/>
            <a:ln w="3458" cap="flat">
              <a:noFill/>
              <a:prstDash val="solid"/>
              <a:miter/>
            </a:ln>
          </p:spPr>
          <p:txBody>
            <a:bodyPr rtlCol="0" anchor="ctr"/>
            <a:lstStyle/>
            <a:p>
              <a:endParaRPr lang="en-US" sz="1800"/>
            </a:p>
          </p:txBody>
        </p:sp>
        <p:sp>
          <p:nvSpPr>
            <p:cNvPr id="22" name="Freeform 21">
              <a:extLst>
                <a:ext uri="{FF2B5EF4-FFF2-40B4-BE49-F238E27FC236}">
                  <a16:creationId xmlns:a16="http://schemas.microsoft.com/office/drawing/2014/main" id="{CA595F84-C51D-066F-E065-0F6520E2092C}"/>
                </a:ext>
              </a:extLst>
            </p:cNvPr>
            <p:cNvSpPr/>
            <p:nvPr/>
          </p:nvSpPr>
          <p:spPr>
            <a:xfrm>
              <a:off x="9080478" y="7685087"/>
              <a:ext cx="40481" cy="102220"/>
            </a:xfrm>
            <a:custGeom>
              <a:avLst/>
              <a:gdLst>
                <a:gd name="connsiteX0" fmla="*/ 5190 w 40481"/>
                <a:gd name="connsiteY0" fmla="*/ 25555 h 102220"/>
                <a:gd name="connsiteX1" fmla="*/ 7266 w 40481"/>
                <a:gd name="connsiteY1" fmla="*/ 25555 h 102220"/>
                <a:gd name="connsiteX2" fmla="*/ 14878 w 40481"/>
                <a:gd name="connsiteY2" fmla="*/ 35225 h 102220"/>
                <a:gd name="connsiteX3" fmla="*/ 14878 w 40481"/>
                <a:gd name="connsiteY3" fmla="*/ 102221 h 102220"/>
                <a:gd name="connsiteX4" fmla="*/ 40482 w 40481"/>
                <a:gd name="connsiteY4" fmla="*/ 102221 h 102220"/>
                <a:gd name="connsiteX5" fmla="*/ 40482 w 40481"/>
                <a:gd name="connsiteY5" fmla="*/ 0 h 102220"/>
                <a:gd name="connsiteX6" fmla="*/ 0 w 40481"/>
                <a:gd name="connsiteY6" fmla="*/ 0 h 102220"/>
                <a:gd name="connsiteX7" fmla="*/ 0 w 40481"/>
                <a:gd name="connsiteY7" fmla="*/ 25555 h 102220"/>
                <a:gd name="connsiteX8" fmla="*/ 5536 w 40481"/>
                <a:gd name="connsiteY8" fmla="*/ 25555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481" h="102220">
                  <a:moveTo>
                    <a:pt x="5190" y="25555"/>
                  </a:moveTo>
                  <a:cubicBezTo>
                    <a:pt x="5882" y="25555"/>
                    <a:pt x="6574" y="25555"/>
                    <a:pt x="7266" y="25555"/>
                  </a:cubicBezTo>
                  <a:cubicBezTo>
                    <a:pt x="12110" y="26246"/>
                    <a:pt x="14878" y="30045"/>
                    <a:pt x="14878" y="35225"/>
                  </a:cubicBezTo>
                  <a:lnTo>
                    <a:pt x="14878" y="102221"/>
                  </a:lnTo>
                  <a:lnTo>
                    <a:pt x="40482" y="102221"/>
                  </a:lnTo>
                  <a:lnTo>
                    <a:pt x="40482" y="0"/>
                  </a:lnTo>
                  <a:lnTo>
                    <a:pt x="0" y="0"/>
                  </a:lnTo>
                  <a:lnTo>
                    <a:pt x="0" y="25555"/>
                  </a:lnTo>
                  <a:lnTo>
                    <a:pt x="5536" y="25555"/>
                  </a:lnTo>
                  <a:close/>
                </a:path>
              </a:pathLst>
            </a:custGeom>
            <a:grpFill/>
            <a:ln w="3458" cap="flat">
              <a:noFill/>
              <a:prstDash val="solid"/>
              <a:miter/>
            </a:ln>
          </p:spPr>
          <p:txBody>
            <a:bodyPr rtlCol="0" anchor="ctr"/>
            <a:lstStyle/>
            <a:p>
              <a:endParaRPr lang="en-US" sz="1800"/>
            </a:p>
          </p:txBody>
        </p:sp>
        <p:sp>
          <p:nvSpPr>
            <p:cNvPr id="23" name="Freeform 22">
              <a:extLst>
                <a:ext uri="{FF2B5EF4-FFF2-40B4-BE49-F238E27FC236}">
                  <a16:creationId xmlns:a16="http://schemas.microsoft.com/office/drawing/2014/main" id="{3CE45755-1412-2737-07F6-C06A364D54D6}"/>
                </a:ext>
              </a:extLst>
            </p:cNvPr>
            <p:cNvSpPr/>
            <p:nvPr/>
          </p:nvSpPr>
          <p:spPr>
            <a:xfrm>
              <a:off x="9146218" y="7685087"/>
              <a:ext cx="128365" cy="102220"/>
            </a:xfrm>
            <a:custGeom>
              <a:avLst/>
              <a:gdLst>
                <a:gd name="connsiteX0" fmla="*/ 128365 w 128365"/>
                <a:gd name="connsiteY0" fmla="*/ 81846 h 102220"/>
                <a:gd name="connsiteX1" fmla="*/ 128365 w 128365"/>
                <a:gd name="connsiteY1" fmla="*/ 102221 h 102220"/>
                <a:gd name="connsiteX2" fmla="*/ 19722 w 128365"/>
                <a:gd name="connsiteY2" fmla="*/ 60780 h 102220"/>
                <a:gd name="connsiteX3" fmla="*/ 0 w 128365"/>
                <a:gd name="connsiteY3" fmla="*/ 30735 h 102220"/>
                <a:gd name="connsiteX4" fmla="*/ 31140 w 128365"/>
                <a:gd name="connsiteY4" fmla="*/ 0 h 102220"/>
                <a:gd name="connsiteX5" fmla="*/ 128020 w 128365"/>
                <a:gd name="connsiteY5" fmla="*/ 0 h 102220"/>
                <a:gd name="connsiteX6" fmla="*/ 128020 w 128365"/>
                <a:gd name="connsiteY6" fmla="*/ 40059 h 102220"/>
                <a:gd name="connsiteX7" fmla="*/ 102416 w 128365"/>
                <a:gd name="connsiteY7" fmla="*/ 40059 h 102220"/>
                <a:gd name="connsiteX8" fmla="*/ 102416 w 128365"/>
                <a:gd name="connsiteY8" fmla="*/ 32807 h 102220"/>
                <a:gd name="connsiteX9" fmla="*/ 94458 w 128365"/>
                <a:gd name="connsiteY9" fmla="*/ 25555 h 102220"/>
                <a:gd name="connsiteX10" fmla="*/ 37714 w 128365"/>
                <a:gd name="connsiteY10" fmla="*/ 25555 h 102220"/>
                <a:gd name="connsiteX11" fmla="*/ 29756 w 128365"/>
                <a:gd name="connsiteY11" fmla="*/ 33498 h 102220"/>
                <a:gd name="connsiteX12" fmla="*/ 34946 w 128365"/>
                <a:gd name="connsiteY12" fmla="*/ 41095 h 102220"/>
                <a:gd name="connsiteX13" fmla="*/ 119370 w 128365"/>
                <a:gd name="connsiteY13" fmla="*/ 70795 h 102220"/>
                <a:gd name="connsiteX14" fmla="*/ 127674 w 128365"/>
                <a:gd name="connsiteY14"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8365" h="102220">
                  <a:moveTo>
                    <a:pt x="128365" y="81846"/>
                  </a:moveTo>
                  <a:lnTo>
                    <a:pt x="128365"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close/>
                </a:path>
              </a:pathLst>
            </a:custGeom>
            <a:grpFill/>
            <a:ln w="3458" cap="flat">
              <a:noFill/>
              <a:prstDash val="solid"/>
              <a:miter/>
            </a:ln>
          </p:spPr>
          <p:txBody>
            <a:bodyPr rtlCol="0" anchor="ctr"/>
            <a:lstStyle/>
            <a:p>
              <a:endParaRPr lang="en-US" sz="1800"/>
            </a:p>
          </p:txBody>
        </p:sp>
        <p:sp>
          <p:nvSpPr>
            <p:cNvPr id="24" name="Freeform 23">
              <a:extLst>
                <a:ext uri="{FF2B5EF4-FFF2-40B4-BE49-F238E27FC236}">
                  <a16:creationId xmlns:a16="http://schemas.microsoft.com/office/drawing/2014/main" id="{A60D7546-48E6-2469-1BA2-B844BBF9D957}"/>
                </a:ext>
              </a:extLst>
            </p:cNvPr>
            <p:cNvSpPr/>
            <p:nvPr/>
          </p:nvSpPr>
          <p:spPr>
            <a:xfrm>
              <a:off x="9146564" y="7761753"/>
              <a:ext cx="25258" cy="25555"/>
            </a:xfrm>
            <a:custGeom>
              <a:avLst/>
              <a:gdLst>
                <a:gd name="connsiteX0" fmla="*/ 25258 w 25258"/>
                <a:gd name="connsiteY0" fmla="*/ 0 h 25555"/>
                <a:gd name="connsiteX1" fmla="*/ 0 w 25258"/>
                <a:gd name="connsiteY1" fmla="*/ 0 h 25555"/>
                <a:gd name="connsiteX2" fmla="*/ 0 w 25258"/>
                <a:gd name="connsiteY2" fmla="*/ 25555 h 25555"/>
                <a:gd name="connsiteX3" fmla="*/ 25258 w 25258"/>
                <a:gd name="connsiteY3" fmla="*/ 25555 h 25555"/>
                <a:gd name="connsiteX4" fmla="*/ 25258 w 25258"/>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8"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25" name="Freeform 24">
              <a:extLst>
                <a:ext uri="{FF2B5EF4-FFF2-40B4-BE49-F238E27FC236}">
                  <a16:creationId xmlns:a16="http://schemas.microsoft.com/office/drawing/2014/main" id="{ED57CB0E-899C-746E-611B-3D1A00857EEA}"/>
                </a:ext>
              </a:extLst>
            </p:cNvPr>
            <p:cNvSpPr/>
            <p:nvPr/>
          </p:nvSpPr>
          <p:spPr>
            <a:xfrm>
              <a:off x="8480170" y="7685087"/>
              <a:ext cx="128019" cy="102220"/>
            </a:xfrm>
            <a:custGeom>
              <a:avLst/>
              <a:gdLst>
                <a:gd name="connsiteX0" fmla="*/ 128020 w 128019"/>
                <a:gd name="connsiteY0" fmla="*/ 81846 h 102220"/>
                <a:gd name="connsiteX1" fmla="*/ 128020 w 128019"/>
                <a:gd name="connsiteY1" fmla="*/ 102221 h 102220"/>
                <a:gd name="connsiteX2" fmla="*/ 19722 w 128019"/>
                <a:gd name="connsiteY2" fmla="*/ 60780 h 102220"/>
                <a:gd name="connsiteX3" fmla="*/ 0 w 128019"/>
                <a:gd name="connsiteY3" fmla="*/ 30735 h 102220"/>
                <a:gd name="connsiteX4" fmla="*/ 31140 w 128019"/>
                <a:gd name="connsiteY4" fmla="*/ 0 h 102220"/>
                <a:gd name="connsiteX5" fmla="*/ 128020 w 128019"/>
                <a:gd name="connsiteY5" fmla="*/ 0 h 102220"/>
                <a:gd name="connsiteX6" fmla="*/ 128020 w 128019"/>
                <a:gd name="connsiteY6" fmla="*/ 40059 h 102220"/>
                <a:gd name="connsiteX7" fmla="*/ 102416 w 128019"/>
                <a:gd name="connsiteY7" fmla="*/ 40059 h 102220"/>
                <a:gd name="connsiteX8" fmla="*/ 102416 w 128019"/>
                <a:gd name="connsiteY8" fmla="*/ 32807 h 102220"/>
                <a:gd name="connsiteX9" fmla="*/ 94458 w 128019"/>
                <a:gd name="connsiteY9" fmla="*/ 25555 h 102220"/>
                <a:gd name="connsiteX10" fmla="*/ 37714 w 128019"/>
                <a:gd name="connsiteY10" fmla="*/ 25555 h 102220"/>
                <a:gd name="connsiteX11" fmla="*/ 29756 w 128019"/>
                <a:gd name="connsiteY11" fmla="*/ 33498 h 102220"/>
                <a:gd name="connsiteX12" fmla="*/ 34946 w 128019"/>
                <a:gd name="connsiteY12" fmla="*/ 41095 h 102220"/>
                <a:gd name="connsiteX13" fmla="*/ 119370 w 128019"/>
                <a:gd name="connsiteY13" fmla="*/ 70795 h 102220"/>
                <a:gd name="connsiteX14" fmla="*/ 127674 w 128019"/>
                <a:gd name="connsiteY14" fmla="*/ 81846 h 102220"/>
                <a:gd name="connsiteX15" fmla="*/ 127674 w 128019"/>
                <a:gd name="connsiteY15"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8019" h="102220">
                  <a:moveTo>
                    <a:pt x="128020" y="81846"/>
                  </a:moveTo>
                  <a:lnTo>
                    <a:pt x="128020"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lnTo>
                    <a:pt x="127674" y="81846"/>
                  </a:lnTo>
                  <a:close/>
                </a:path>
              </a:pathLst>
            </a:custGeom>
            <a:grpFill/>
            <a:ln w="3458" cap="flat">
              <a:noFill/>
              <a:prstDash val="solid"/>
              <a:miter/>
            </a:ln>
          </p:spPr>
          <p:txBody>
            <a:bodyPr rtlCol="0" anchor="ctr"/>
            <a:lstStyle/>
            <a:p>
              <a:endParaRPr lang="en-US" sz="1800"/>
            </a:p>
          </p:txBody>
        </p:sp>
        <p:sp>
          <p:nvSpPr>
            <p:cNvPr id="26" name="Freeform 25">
              <a:extLst>
                <a:ext uri="{FF2B5EF4-FFF2-40B4-BE49-F238E27FC236}">
                  <a16:creationId xmlns:a16="http://schemas.microsoft.com/office/drawing/2014/main" id="{7CDE551A-6BA3-015B-3833-6BCA61180547}"/>
                </a:ext>
              </a:extLst>
            </p:cNvPr>
            <p:cNvSpPr/>
            <p:nvPr/>
          </p:nvSpPr>
          <p:spPr>
            <a:xfrm>
              <a:off x="8480516" y="7761753"/>
              <a:ext cx="25257" cy="25555"/>
            </a:xfrm>
            <a:custGeom>
              <a:avLst/>
              <a:gdLst>
                <a:gd name="connsiteX0" fmla="*/ 25258 w 25257"/>
                <a:gd name="connsiteY0" fmla="*/ 0 h 25555"/>
                <a:gd name="connsiteX1" fmla="*/ 0 w 25257"/>
                <a:gd name="connsiteY1" fmla="*/ 0 h 25555"/>
                <a:gd name="connsiteX2" fmla="*/ 0 w 25257"/>
                <a:gd name="connsiteY2" fmla="*/ 25555 h 25555"/>
                <a:gd name="connsiteX3" fmla="*/ 25258 w 25257"/>
                <a:gd name="connsiteY3" fmla="*/ 25555 h 25555"/>
                <a:gd name="connsiteX4" fmla="*/ 25258 w 25257"/>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7"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27" name="Freeform 26">
              <a:extLst>
                <a:ext uri="{FF2B5EF4-FFF2-40B4-BE49-F238E27FC236}">
                  <a16:creationId xmlns:a16="http://schemas.microsoft.com/office/drawing/2014/main" id="{ED82E78D-3819-1F1A-D966-BC3B3F9B3370}"/>
                </a:ext>
              </a:extLst>
            </p:cNvPr>
            <p:cNvSpPr/>
            <p:nvPr/>
          </p:nvSpPr>
          <p:spPr>
            <a:xfrm>
              <a:off x="9300533" y="7685087"/>
              <a:ext cx="128019" cy="102220"/>
            </a:xfrm>
            <a:custGeom>
              <a:avLst/>
              <a:gdLst>
                <a:gd name="connsiteX0" fmla="*/ 128020 w 128019"/>
                <a:gd name="connsiteY0" fmla="*/ 25555 h 102220"/>
                <a:gd name="connsiteX1" fmla="*/ 128020 w 128019"/>
                <a:gd name="connsiteY1" fmla="*/ 0 h 102220"/>
                <a:gd name="connsiteX2" fmla="*/ 105530 w 128019"/>
                <a:gd name="connsiteY2" fmla="*/ 0 h 102220"/>
                <a:gd name="connsiteX3" fmla="*/ 100686 w 128019"/>
                <a:gd name="connsiteY3" fmla="*/ 1727 h 102220"/>
                <a:gd name="connsiteX4" fmla="*/ 60550 w 128019"/>
                <a:gd name="connsiteY4" fmla="*/ 37987 h 102220"/>
                <a:gd name="connsiteX5" fmla="*/ 56398 w 128019"/>
                <a:gd name="connsiteY5" fmla="*/ 39714 h 102220"/>
                <a:gd name="connsiteX6" fmla="*/ 28372 w 128019"/>
                <a:gd name="connsiteY6" fmla="*/ 39714 h 102220"/>
                <a:gd name="connsiteX7" fmla="*/ 25258 w 128019"/>
                <a:gd name="connsiteY7" fmla="*/ 36606 h 102220"/>
                <a:gd name="connsiteX8" fmla="*/ 25258 w 128019"/>
                <a:gd name="connsiteY8" fmla="*/ 0 h 102220"/>
                <a:gd name="connsiteX9" fmla="*/ 0 w 128019"/>
                <a:gd name="connsiteY9" fmla="*/ 0 h 102220"/>
                <a:gd name="connsiteX10" fmla="*/ 0 w 128019"/>
                <a:gd name="connsiteY10" fmla="*/ 102221 h 102220"/>
                <a:gd name="connsiteX11" fmla="*/ 25258 w 128019"/>
                <a:gd name="connsiteY11" fmla="*/ 102221 h 102220"/>
                <a:gd name="connsiteX12" fmla="*/ 25258 w 128019"/>
                <a:gd name="connsiteY12" fmla="*/ 65615 h 102220"/>
                <a:gd name="connsiteX13" fmla="*/ 28372 w 128019"/>
                <a:gd name="connsiteY13" fmla="*/ 62507 h 102220"/>
                <a:gd name="connsiteX14" fmla="*/ 56398 w 128019"/>
                <a:gd name="connsiteY14" fmla="*/ 62507 h 102220"/>
                <a:gd name="connsiteX15" fmla="*/ 60550 w 128019"/>
                <a:gd name="connsiteY15" fmla="*/ 64233 h 102220"/>
                <a:gd name="connsiteX16" fmla="*/ 100686 w 128019"/>
                <a:gd name="connsiteY16" fmla="*/ 100494 h 102220"/>
                <a:gd name="connsiteX17" fmla="*/ 105530 w 128019"/>
                <a:gd name="connsiteY17" fmla="*/ 102221 h 102220"/>
                <a:gd name="connsiteX18" fmla="*/ 128020 w 128019"/>
                <a:gd name="connsiteY18" fmla="*/ 102221 h 102220"/>
                <a:gd name="connsiteX19" fmla="*/ 128020 w 128019"/>
                <a:gd name="connsiteY19" fmla="*/ 76665 h 102220"/>
                <a:gd name="connsiteX20" fmla="*/ 115564 w 128019"/>
                <a:gd name="connsiteY20" fmla="*/ 76665 h 102220"/>
                <a:gd name="connsiteX21" fmla="*/ 105184 w 128019"/>
                <a:gd name="connsiteY21" fmla="*/ 72867 h 102220"/>
                <a:gd name="connsiteX22" fmla="*/ 86154 w 128019"/>
                <a:gd name="connsiteY22" fmla="*/ 55945 h 102220"/>
                <a:gd name="connsiteX23" fmla="*/ 86154 w 128019"/>
                <a:gd name="connsiteY23" fmla="*/ 45930 h 102220"/>
                <a:gd name="connsiteX24" fmla="*/ 105184 w 128019"/>
                <a:gd name="connsiteY24" fmla="*/ 29009 h 102220"/>
                <a:gd name="connsiteX25" fmla="*/ 115564 w 128019"/>
                <a:gd name="connsiteY25" fmla="*/ 25210 h 102220"/>
                <a:gd name="connsiteX26" fmla="*/ 128020 w 128019"/>
                <a:gd name="connsiteY26" fmla="*/ 2521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8019" h="102220">
                  <a:moveTo>
                    <a:pt x="128020" y="25555"/>
                  </a:moveTo>
                  <a:lnTo>
                    <a:pt x="128020" y="0"/>
                  </a:lnTo>
                  <a:lnTo>
                    <a:pt x="105530" y="0"/>
                  </a:lnTo>
                  <a:cubicBezTo>
                    <a:pt x="103800" y="0"/>
                    <a:pt x="102070" y="691"/>
                    <a:pt x="100686" y="1727"/>
                  </a:cubicBezTo>
                  <a:lnTo>
                    <a:pt x="60550" y="37987"/>
                  </a:lnTo>
                  <a:cubicBezTo>
                    <a:pt x="59512" y="39023"/>
                    <a:pt x="58128" y="39714"/>
                    <a:pt x="56398" y="39714"/>
                  </a:cubicBezTo>
                  <a:lnTo>
                    <a:pt x="28372" y="39714"/>
                  </a:lnTo>
                  <a:cubicBezTo>
                    <a:pt x="26642" y="39714"/>
                    <a:pt x="25258" y="38333"/>
                    <a:pt x="25258" y="36606"/>
                  </a:cubicBezTo>
                  <a:lnTo>
                    <a:pt x="25258" y="0"/>
                  </a:lnTo>
                  <a:lnTo>
                    <a:pt x="0" y="0"/>
                  </a:lnTo>
                  <a:lnTo>
                    <a:pt x="0" y="102221"/>
                  </a:lnTo>
                  <a:lnTo>
                    <a:pt x="25258" y="102221"/>
                  </a:lnTo>
                  <a:lnTo>
                    <a:pt x="25258" y="65615"/>
                  </a:lnTo>
                  <a:cubicBezTo>
                    <a:pt x="25258" y="63888"/>
                    <a:pt x="26642" y="62507"/>
                    <a:pt x="28372" y="62507"/>
                  </a:cubicBezTo>
                  <a:lnTo>
                    <a:pt x="56398" y="62507"/>
                  </a:lnTo>
                  <a:cubicBezTo>
                    <a:pt x="57782" y="62507"/>
                    <a:pt x="59512" y="62852"/>
                    <a:pt x="60550" y="64233"/>
                  </a:cubicBezTo>
                  <a:lnTo>
                    <a:pt x="100686" y="100494"/>
                  </a:lnTo>
                  <a:cubicBezTo>
                    <a:pt x="102070" y="101530"/>
                    <a:pt x="103800" y="102221"/>
                    <a:pt x="105530" y="102221"/>
                  </a:cubicBezTo>
                  <a:lnTo>
                    <a:pt x="128020" y="102221"/>
                  </a:lnTo>
                  <a:lnTo>
                    <a:pt x="128020" y="76665"/>
                  </a:lnTo>
                  <a:lnTo>
                    <a:pt x="115564" y="76665"/>
                  </a:lnTo>
                  <a:cubicBezTo>
                    <a:pt x="111758" y="76665"/>
                    <a:pt x="107952" y="75284"/>
                    <a:pt x="105184" y="72867"/>
                  </a:cubicBezTo>
                  <a:lnTo>
                    <a:pt x="86154" y="55945"/>
                  </a:lnTo>
                  <a:cubicBezTo>
                    <a:pt x="83040" y="53528"/>
                    <a:pt x="83040" y="48693"/>
                    <a:pt x="86154" y="45930"/>
                  </a:cubicBezTo>
                  <a:lnTo>
                    <a:pt x="105184" y="29009"/>
                  </a:lnTo>
                  <a:cubicBezTo>
                    <a:pt x="108298" y="26591"/>
                    <a:pt x="111758" y="25210"/>
                    <a:pt x="115564" y="25210"/>
                  </a:cubicBezTo>
                  <a:lnTo>
                    <a:pt x="128020" y="25210"/>
                  </a:lnTo>
                  <a:close/>
                </a:path>
              </a:pathLst>
            </a:custGeom>
            <a:grpFill/>
            <a:ln w="3458" cap="flat">
              <a:noFill/>
              <a:prstDash val="solid"/>
              <a:miter/>
            </a:ln>
          </p:spPr>
          <p:txBody>
            <a:bodyPr rtlCol="0" anchor="ctr"/>
            <a:lstStyle/>
            <a:p>
              <a:endParaRPr lang="en-US" sz="1800"/>
            </a:p>
          </p:txBody>
        </p:sp>
        <p:sp>
          <p:nvSpPr>
            <p:cNvPr id="28" name="Freeform 27">
              <a:extLst>
                <a:ext uri="{FF2B5EF4-FFF2-40B4-BE49-F238E27FC236}">
                  <a16:creationId xmlns:a16="http://schemas.microsoft.com/office/drawing/2014/main" id="{AEFE6622-74C6-53C0-15F3-CD6A14815A22}"/>
                </a:ext>
              </a:extLst>
            </p:cNvPr>
            <p:cNvSpPr/>
            <p:nvPr/>
          </p:nvSpPr>
          <p:spPr>
            <a:xfrm>
              <a:off x="8623760" y="7684742"/>
              <a:ext cx="138053" cy="102565"/>
            </a:xfrm>
            <a:custGeom>
              <a:avLst/>
              <a:gdLst>
                <a:gd name="connsiteX0" fmla="*/ 99302 w 138053"/>
                <a:gd name="connsiteY0" fmla="*/ 345 h 102565"/>
                <a:gd name="connsiteX1" fmla="*/ 70238 w 138053"/>
                <a:gd name="connsiteY1" fmla="*/ 14850 h 102565"/>
                <a:gd name="connsiteX2" fmla="*/ 0 w 138053"/>
                <a:gd name="connsiteY2" fmla="*/ 102566 h 102565"/>
                <a:gd name="connsiteX3" fmla="*/ 35638 w 138053"/>
                <a:gd name="connsiteY3" fmla="*/ 102566 h 102565"/>
                <a:gd name="connsiteX4" fmla="*/ 93420 w 138053"/>
                <a:gd name="connsiteY4" fmla="*/ 31426 h 102565"/>
                <a:gd name="connsiteX5" fmla="*/ 102762 w 138053"/>
                <a:gd name="connsiteY5" fmla="*/ 26246 h 102565"/>
                <a:gd name="connsiteX6" fmla="*/ 112450 w 138053"/>
                <a:gd name="connsiteY6" fmla="*/ 36951 h 102565"/>
                <a:gd name="connsiteX7" fmla="*/ 112450 w 138053"/>
                <a:gd name="connsiteY7" fmla="*/ 68032 h 102565"/>
                <a:gd name="connsiteX8" fmla="*/ 105184 w 138053"/>
                <a:gd name="connsiteY8" fmla="*/ 77011 h 102565"/>
                <a:gd name="connsiteX9" fmla="*/ 97918 w 138053"/>
                <a:gd name="connsiteY9" fmla="*/ 77011 h 102565"/>
                <a:gd name="connsiteX10" fmla="*/ 97918 w 138053"/>
                <a:gd name="connsiteY10" fmla="*/ 102566 h 102565"/>
                <a:gd name="connsiteX11" fmla="*/ 138054 w 138053"/>
                <a:gd name="connsiteY11" fmla="*/ 102566 h 102565"/>
                <a:gd name="connsiteX12" fmla="*/ 138054 w 138053"/>
                <a:gd name="connsiteY12" fmla="*/ 38333 h 102565"/>
                <a:gd name="connsiteX13" fmla="*/ 98956 w 138053"/>
                <a:gd name="connsiteY13" fmla="*/ 0 h 102565"/>
                <a:gd name="connsiteX14" fmla="*/ 98956 w 138053"/>
                <a:gd name="connsiteY14" fmla="*/ 0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8053" h="102565">
                  <a:moveTo>
                    <a:pt x="99302" y="345"/>
                  </a:moveTo>
                  <a:cubicBezTo>
                    <a:pt x="87884" y="345"/>
                    <a:pt x="77158" y="5871"/>
                    <a:pt x="70238" y="14850"/>
                  </a:cubicBezTo>
                  <a:lnTo>
                    <a:pt x="0" y="102566"/>
                  </a:lnTo>
                  <a:lnTo>
                    <a:pt x="35638" y="102566"/>
                  </a:lnTo>
                  <a:lnTo>
                    <a:pt x="93420" y="31426"/>
                  </a:lnTo>
                  <a:cubicBezTo>
                    <a:pt x="96188" y="27973"/>
                    <a:pt x="98264" y="26246"/>
                    <a:pt x="102762" y="26246"/>
                  </a:cubicBezTo>
                  <a:cubicBezTo>
                    <a:pt x="107260" y="26246"/>
                    <a:pt x="112450" y="31081"/>
                    <a:pt x="112450" y="36951"/>
                  </a:cubicBezTo>
                  <a:lnTo>
                    <a:pt x="112450" y="68032"/>
                  </a:lnTo>
                  <a:cubicBezTo>
                    <a:pt x="112450" y="72867"/>
                    <a:pt x="110028" y="77011"/>
                    <a:pt x="105184" y="77011"/>
                  </a:cubicBezTo>
                  <a:lnTo>
                    <a:pt x="97918" y="77011"/>
                  </a:lnTo>
                  <a:lnTo>
                    <a:pt x="97918" y="102566"/>
                  </a:lnTo>
                  <a:lnTo>
                    <a:pt x="138054" y="102566"/>
                  </a:lnTo>
                  <a:lnTo>
                    <a:pt x="138054" y="38333"/>
                  </a:lnTo>
                  <a:cubicBezTo>
                    <a:pt x="138054" y="33153"/>
                    <a:pt x="138054" y="0"/>
                    <a:pt x="98956" y="0"/>
                  </a:cubicBezTo>
                  <a:lnTo>
                    <a:pt x="98956" y="0"/>
                  </a:lnTo>
                  <a:close/>
                </a:path>
              </a:pathLst>
            </a:custGeom>
            <a:grpFill/>
            <a:ln w="3458" cap="flat">
              <a:noFill/>
              <a:prstDash val="solid"/>
              <a:miter/>
            </a:ln>
          </p:spPr>
          <p:txBody>
            <a:bodyPr rtlCol="0" anchor="ctr"/>
            <a:lstStyle/>
            <a:p>
              <a:endParaRPr lang="en-US" sz="1800"/>
            </a:p>
          </p:txBody>
        </p:sp>
        <p:sp>
          <p:nvSpPr>
            <p:cNvPr id="29" name="Freeform 28">
              <a:extLst>
                <a:ext uri="{FF2B5EF4-FFF2-40B4-BE49-F238E27FC236}">
                  <a16:creationId xmlns:a16="http://schemas.microsoft.com/office/drawing/2014/main" id="{6525B237-3E5C-7EC5-C2F0-E646787E2F33}"/>
                </a:ext>
              </a:extLst>
            </p:cNvPr>
            <p:cNvSpPr/>
            <p:nvPr/>
          </p:nvSpPr>
          <p:spPr>
            <a:xfrm>
              <a:off x="9480453" y="7685087"/>
              <a:ext cx="30793" cy="25555"/>
            </a:xfrm>
            <a:custGeom>
              <a:avLst/>
              <a:gdLst>
                <a:gd name="connsiteX0" fmla="*/ 30448 w 30793"/>
                <a:gd name="connsiteY0" fmla="*/ 0 h 25555"/>
                <a:gd name="connsiteX1" fmla="*/ 30448 w 30793"/>
                <a:gd name="connsiteY1" fmla="*/ 25555 h 25555"/>
                <a:gd name="connsiteX2" fmla="*/ 24912 w 30793"/>
                <a:gd name="connsiteY2" fmla="*/ 25555 h 25555"/>
                <a:gd name="connsiteX3" fmla="*/ 24912 w 30793"/>
                <a:gd name="connsiteY3" fmla="*/ 5180 h 25555"/>
                <a:gd name="connsiteX4" fmla="*/ 24912 w 30793"/>
                <a:gd name="connsiteY4" fmla="*/ 5180 h 25555"/>
                <a:gd name="connsiteX5" fmla="*/ 17646 w 30793"/>
                <a:gd name="connsiteY5" fmla="*/ 25555 h 25555"/>
                <a:gd name="connsiteX6" fmla="*/ 12802 w 30793"/>
                <a:gd name="connsiteY6" fmla="*/ 25555 h 25555"/>
                <a:gd name="connsiteX7" fmla="*/ 5536 w 30793"/>
                <a:gd name="connsiteY7" fmla="*/ 5180 h 25555"/>
                <a:gd name="connsiteX8" fmla="*/ 5536 w 30793"/>
                <a:gd name="connsiteY8" fmla="*/ 5180 h 25555"/>
                <a:gd name="connsiteX9" fmla="*/ 5536 w 30793"/>
                <a:gd name="connsiteY9" fmla="*/ 25555 h 25555"/>
                <a:gd name="connsiteX10" fmla="*/ 0 w 30793"/>
                <a:gd name="connsiteY10" fmla="*/ 25555 h 25555"/>
                <a:gd name="connsiteX11" fmla="*/ 0 w 30793"/>
                <a:gd name="connsiteY11" fmla="*/ 0 h 25555"/>
                <a:gd name="connsiteX12" fmla="*/ 9688 w 30793"/>
                <a:gd name="connsiteY12" fmla="*/ 0 h 25555"/>
                <a:gd name="connsiteX13" fmla="*/ 15570 w 30793"/>
                <a:gd name="connsiteY13" fmla="*/ 17267 h 25555"/>
                <a:gd name="connsiteX14" fmla="*/ 15570 w 30793"/>
                <a:gd name="connsiteY14" fmla="*/ 17267 h 25555"/>
                <a:gd name="connsiteX15" fmla="*/ 21798 w 30793"/>
                <a:gd name="connsiteY15" fmla="*/ 0 h 25555"/>
                <a:gd name="connsiteX16" fmla="*/ 30794 w 30793"/>
                <a:gd name="connsiteY16" fmla="*/ 0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793" h="25555">
                  <a:moveTo>
                    <a:pt x="30448" y="0"/>
                  </a:moveTo>
                  <a:lnTo>
                    <a:pt x="30448" y="25555"/>
                  </a:lnTo>
                  <a:lnTo>
                    <a:pt x="24912" y="25555"/>
                  </a:lnTo>
                  <a:lnTo>
                    <a:pt x="24912" y="5180"/>
                  </a:lnTo>
                  <a:lnTo>
                    <a:pt x="24912" y="5180"/>
                  </a:lnTo>
                  <a:lnTo>
                    <a:pt x="17646" y="25555"/>
                  </a:lnTo>
                  <a:lnTo>
                    <a:pt x="12802" y="25555"/>
                  </a:lnTo>
                  <a:lnTo>
                    <a:pt x="5536" y="5180"/>
                  </a:lnTo>
                  <a:lnTo>
                    <a:pt x="5536" y="5180"/>
                  </a:lnTo>
                  <a:lnTo>
                    <a:pt x="5536" y="25555"/>
                  </a:lnTo>
                  <a:lnTo>
                    <a:pt x="0" y="25555"/>
                  </a:lnTo>
                  <a:lnTo>
                    <a:pt x="0" y="0"/>
                  </a:lnTo>
                  <a:lnTo>
                    <a:pt x="9688" y="0"/>
                  </a:lnTo>
                  <a:lnTo>
                    <a:pt x="15570" y="17267"/>
                  </a:lnTo>
                  <a:lnTo>
                    <a:pt x="15570" y="17267"/>
                  </a:lnTo>
                  <a:lnTo>
                    <a:pt x="21798" y="0"/>
                  </a:lnTo>
                  <a:lnTo>
                    <a:pt x="30794" y="0"/>
                  </a:lnTo>
                  <a:close/>
                </a:path>
              </a:pathLst>
            </a:custGeom>
            <a:grpFill/>
            <a:ln w="3458" cap="flat">
              <a:noFill/>
              <a:prstDash val="solid"/>
              <a:miter/>
            </a:ln>
          </p:spPr>
          <p:txBody>
            <a:bodyPr rtlCol="0" anchor="ctr"/>
            <a:lstStyle/>
            <a:p>
              <a:endParaRPr lang="en-US" sz="1800"/>
            </a:p>
          </p:txBody>
        </p:sp>
        <p:sp>
          <p:nvSpPr>
            <p:cNvPr id="30" name="Freeform 29">
              <a:extLst>
                <a:ext uri="{FF2B5EF4-FFF2-40B4-BE49-F238E27FC236}">
                  <a16:creationId xmlns:a16="http://schemas.microsoft.com/office/drawing/2014/main" id="{CE3006BC-623B-0218-1B09-75D08880AA35}"/>
                </a:ext>
              </a:extLst>
            </p:cNvPr>
            <p:cNvSpPr/>
            <p:nvPr/>
          </p:nvSpPr>
          <p:spPr>
            <a:xfrm>
              <a:off x="9453811" y="7685087"/>
              <a:ext cx="21451" cy="25555"/>
            </a:xfrm>
            <a:custGeom>
              <a:avLst/>
              <a:gdLst>
                <a:gd name="connsiteX0" fmla="*/ 13840 w 21451"/>
                <a:gd name="connsiteY0" fmla="*/ 4835 h 25555"/>
                <a:gd name="connsiteX1" fmla="*/ 13840 w 21451"/>
                <a:gd name="connsiteY1" fmla="*/ 25555 h 25555"/>
                <a:gd name="connsiteX2" fmla="*/ 7958 w 21451"/>
                <a:gd name="connsiteY2" fmla="*/ 25555 h 25555"/>
                <a:gd name="connsiteX3" fmla="*/ 7958 w 21451"/>
                <a:gd name="connsiteY3" fmla="*/ 4835 h 25555"/>
                <a:gd name="connsiteX4" fmla="*/ 0 w 21451"/>
                <a:gd name="connsiteY4" fmla="*/ 4835 h 25555"/>
                <a:gd name="connsiteX5" fmla="*/ 0 w 21451"/>
                <a:gd name="connsiteY5" fmla="*/ 0 h 25555"/>
                <a:gd name="connsiteX6" fmla="*/ 21452 w 21451"/>
                <a:gd name="connsiteY6" fmla="*/ 0 h 25555"/>
                <a:gd name="connsiteX7" fmla="*/ 21452 w 21451"/>
                <a:gd name="connsiteY7" fmla="*/ 4835 h 25555"/>
                <a:gd name="connsiteX8" fmla="*/ 13494 w 21451"/>
                <a:gd name="connsiteY8" fmla="*/ 4835 h 25555"/>
                <a:gd name="connsiteX9" fmla="*/ 13494 w 21451"/>
                <a:gd name="connsiteY9" fmla="*/ 4835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451" h="25555">
                  <a:moveTo>
                    <a:pt x="13840" y="4835"/>
                  </a:moveTo>
                  <a:lnTo>
                    <a:pt x="13840" y="25555"/>
                  </a:lnTo>
                  <a:lnTo>
                    <a:pt x="7958" y="25555"/>
                  </a:lnTo>
                  <a:lnTo>
                    <a:pt x="7958" y="4835"/>
                  </a:lnTo>
                  <a:lnTo>
                    <a:pt x="0" y="4835"/>
                  </a:lnTo>
                  <a:lnTo>
                    <a:pt x="0" y="0"/>
                  </a:lnTo>
                  <a:lnTo>
                    <a:pt x="21452" y="0"/>
                  </a:lnTo>
                  <a:lnTo>
                    <a:pt x="21452" y="4835"/>
                  </a:lnTo>
                  <a:lnTo>
                    <a:pt x="13494" y="4835"/>
                  </a:lnTo>
                  <a:lnTo>
                    <a:pt x="13494" y="4835"/>
                  </a:lnTo>
                  <a:close/>
                </a:path>
              </a:pathLst>
            </a:custGeom>
            <a:grpFill/>
            <a:ln w="3458" cap="flat">
              <a:noFill/>
              <a:prstDash val="solid"/>
              <a:miter/>
            </a:ln>
          </p:spPr>
          <p:txBody>
            <a:bodyPr rtlCol="0" anchor="ctr"/>
            <a:lstStyle/>
            <a:p>
              <a:endParaRPr lang="en-US" sz="1800"/>
            </a:p>
          </p:txBody>
        </p:sp>
      </p:grpSp>
      <p:sp>
        <p:nvSpPr>
          <p:cNvPr id="34" name="name_2024 sandisk or its affiliates All rights reserved">
            <a:extLst>
              <a:ext uri="{FF2B5EF4-FFF2-40B4-BE49-F238E27FC236}">
                <a16:creationId xmlns:a16="http://schemas.microsoft.com/office/drawing/2014/main" id="{646CA856-70AA-D85B-625B-97C1AEB1CED6}"/>
              </a:ext>
            </a:extLst>
          </p:cNvPr>
          <p:cNvSpPr txBox="1"/>
          <p:nvPr/>
        </p:nvSpPr>
        <p:spPr>
          <a:xfrm>
            <a:off x="6096000" y="6437971"/>
            <a:ext cx="5803900"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b">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r" defTabSz="609412" hangingPunct="0">
              <a:lnSpc>
                <a:spcPct val="100000"/>
              </a:lnSpc>
            </a:pPr>
            <a:r>
              <a:rPr lang="en-US" sz="1000" b="0" i="0" kern="0" spc="0" baseline="0">
                <a:solidFill>
                  <a:schemeClr val="bg1"/>
                </a:solidFill>
                <a:latin typeface="NB Architekt Pro Neue" panose="02010509020201040001" pitchFamily="49" charset="77"/>
                <a:cs typeface="Consolas" panose="020B0609020204030204" pitchFamily="49" charset="0"/>
              </a:rPr>
              <a:t>©2025 SANDISK CORPORATION OR ITS AFFILIATES ALL RIGHTS RESERVED</a:t>
            </a:r>
          </a:p>
        </p:txBody>
      </p:sp>
      <p:sp>
        <p:nvSpPr>
          <p:cNvPr id="36" name="name_2024 sandisk or its affiliates All rights reserved">
            <a:extLst>
              <a:ext uri="{FF2B5EF4-FFF2-40B4-BE49-F238E27FC236}">
                <a16:creationId xmlns:a16="http://schemas.microsoft.com/office/drawing/2014/main" id="{14A74770-E2CD-E746-760E-E7B7AB9D9959}"/>
              </a:ext>
            </a:extLst>
          </p:cNvPr>
          <p:cNvSpPr txBox="1"/>
          <p:nvPr/>
        </p:nvSpPr>
        <p:spPr>
          <a:xfrm>
            <a:off x="8997951" y="267518"/>
            <a:ext cx="2242276"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bg1"/>
                </a:solidFill>
                <a:latin typeface="NB Architekt Pro Neue" panose="02010509020201040001" pitchFamily="49" charset="77"/>
                <a:cs typeface="Consolas" panose="020B0609020204030204" pitchFamily="49" charset="0"/>
              </a:rPr>
              <a:t>“START” “REPEAT” “1988/2025”</a:t>
            </a:r>
          </a:p>
        </p:txBody>
      </p:sp>
      <p:sp>
        <p:nvSpPr>
          <p:cNvPr id="37" name="Rectangle 36">
            <a:extLst>
              <a:ext uri="{FF2B5EF4-FFF2-40B4-BE49-F238E27FC236}">
                <a16:creationId xmlns:a16="http://schemas.microsoft.com/office/drawing/2014/main" id="{08BE3BE6-2545-620F-5B54-B70AD5AF750F}"/>
              </a:ext>
            </a:extLst>
          </p:cNvPr>
          <p:cNvSpPr/>
          <p:nvPr/>
        </p:nvSpPr>
        <p:spPr>
          <a:xfrm>
            <a:off x="11808843" y="296581"/>
            <a:ext cx="91057" cy="9105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9" name="Content Placeholder 8">
            <a:extLst>
              <a:ext uri="{FF2B5EF4-FFF2-40B4-BE49-F238E27FC236}">
                <a16:creationId xmlns:a16="http://schemas.microsoft.com/office/drawing/2014/main" id="{402A282F-C080-4B95-9D93-6C0221C2F465}"/>
              </a:ext>
            </a:extLst>
          </p:cNvPr>
          <p:cNvSpPr>
            <a:spLocks noGrp="1"/>
          </p:cNvSpPr>
          <p:nvPr>
            <p:ph sz="quarter" idx="11" hasCustomPrompt="1"/>
          </p:nvPr>
        </p:nvSpPr>
        <p:spPr>
          <a:xfrm>
            <a:off x="292099" y="2284930"/>
            <a:ext cx="11607801" cy="3885745"/>
          </a:xfrm>
          <a:prstGeom prst="rect">
            <a:avLst/>
          </a:prstGeom>
        </p:spPr>
        <p:txBody>
          <a:bodyPr lIns="0" bIns="0">
            <a:noAutofit/>
          </a:bodyPr>
          <a:lstStyle>
            <a:lvl1pPr marL="292608" indent="-292608">
              <a:lnSpc>
                <a:spcPct val="100000"/>
              </a:lnSpc>
              <a:spcBef>
                <a:spcPts val="0"/>
              </a:spcBef>
              <a:spcAft>
                <a:spcPts val="1000"/>
              </a:spcAft>
              <a:buClrTx/>
              <a:buSzPct val="100000"/>
              <a:buFont typeface="Pilat Regular" panose="020B0604020202020204" pitchFamily="34" charset="0"/>
              <a:buChar char="•"/>
              <a:defRPr sz="2000" spc="0">
                <a:solidFill>
                  <a:schemeClr val="bg1"/>
                </a:solidFill>
              </a:defRPr>
            </a:lvl1pPr>
            <a:lvl2pPr marL="585216" indent="-292608">
              <a:lnSpc>
                <a:spcPct val="100000"/>
              </a:lnSpc>
              <a:spcBef>
                <a:spcPts val="0"/>
              </a:spcBef>
              <a:spcAft>
                <a:spcPts val="1000"/>
              </a:spcAft>
              <a:buClrTx/>
              <a:buSzPct val="100000"/>
              <a:buFont typeface="Pilat Regular" panose="020B0604020202020204" pitchFamily="34" charset="0"/>
              <a:buChar char="•"/>
              <a:defRPr sz="2000" spc="0">
                <a:solidFill>
                  <a:schemeClr val="bg1"/>
                </a:solidFill>
              </a:defRPr>
            </a:lvl2pPr>
            <a:lvl3pPr marL="877824" indent="-292608">
              <a:lnSpc>
                <a:spcPct val="100000"/>
              </a:lnSpc>
              <a:spcBef>
                <a:spcPts val="0"/>
              </a:spcBef>
              <a:spcAft>
                <a:spcPts val="1000"/>
              </a:spcAft>
              <a:buClrTx/>
              <a:buSzPct val="100000"/>
              <a:buFont typeface="Pilat Regular" panose="020B0604020202020204" pitchFamily="34" charset="0"/>
              <a:buChar char="•"/>
              <a:defRPr sz="2000" spc="0">
                <a:solidFill>
                  <a:schemeClr val="bg1"/>
                </a:solidFill>
              </a:defRPr>
            </a:lvl3pPr>
            <a:lvl4pPr marL="1170432" indent="-292608">
              <a:lnSpc>
                <a:spcPct val="100000"/>
              </a:lnSpc>
              <a:spcBef>
                <a:spcPts val="0"/>
              </a:spcBef>
              <a:spcAft>
                <a:spcPts val="1000"/>
              </a:spcAft>
              <a:buClrTx/>
              <a:buSzPct val="100000"/>
              <a:buFont typeface="Pilat Regular" panose="020B0604020202020204" pitchFamily="34" charset="0"/>
              <a:buChar char="•"/>
              <a:defRPr sz="2000" spc="0">
                <a:solidFill>
                  <a:schemeClr val="bg1"/>
                </a:solidFill>
              </a:defRPr>
            </a:lvl4pPr>
            <a:lvl5pPr marL="1463040" indent="-292608">
              <a:lnSpc>
                <a:spcPct val="100000"/>
              </a:lnSpc>
              <a:spcBef>
                <a:spcPts val="0"/>
              </a:spcBef>
              <a:spcAft>
                <a:spcPts val="1000"/>
              </a:spcAft>
              <a:buClrTx/>
              <a:buSzPct val="100000"/>
              <a:buFont typeface="Pilat Regular" panose="020B0604020202020204" pitchFamily="34" charset="0"/>
              <a:buChar char="•"/>
              <a:defRPr sz="2000" spc="0">
                <a:solidFill>
                  <a:schemeClr val="bg1"/>
                </a:solidFill>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168290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ontent Gray">
    <p:bg>
      <p:bgPr>
        <a:solidFill>
          <a:schemeClr val="accent1"/>
        </a:solidFill>
        <a:effectLst/>
      </p:bgPr>
    </p:bg>
    <p:spTree>
      <p:nvGrpSpPr>
        <p:cNvPr id="1" name=""/>
        <p:cNvGrpSpPr/>
        <p:nvPr/>
      </p:nvGrpSpPr>
      <p:grpSpPr>
        <a:xfrm>
          <a:off x="0" y="0"/>
          <a:ext cx="0" cy="0"/>
          <a:chOff x="0" y="0"/>
          <a:chExt cx="0" cy="0"/>
        </a:xfrm>
      </p:grpSpPr>
      <p:sp>
        <p:nvSpPr>
          <p:cNvPr id="5" name="name_2024 sandisk or its affiliates All rights reserved">
            <a:extLst>
              <a:ext uri="{FF2B5EF4-FFF2-40B4-BE49-F238E27FC236}">
                <a16:creationId xmlns:a16="http://schemas.microsoft.com/office/drawing/2014/main" id="{EFFFC07D-0CF9-FFD6-F0CD-D4D74A7F1D23}"/>
              </a:ext>
            </a:extLst>
          </p:cNvPr>
          <p:cNvSpPr txBox="1"/>
          <p:nvPr/>
        </p:nvSpPr>
        <p:spPr>
          <a:xfrm>
            <a:off x="292100" y="267518"/>
            <a:ext cx="1323975"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tx1"/>
                </a:solidFill>
                <a:latin typeface="NB Architekt Pro Neue" panose="02010509020201040001" pitchFamily="49" charset="77"/>
                <a:cs typeface="Consolas" panose="020B0609020204030204" pitchFamily="49" charset="0"/>
              </a:rPr>
              <a:t>[Confidential]</a:t>
            </a:r>
          </a:p>
        </p:txBody>
      </p:sp>
      <p:sp>
        <p:nvSpPr>
          <p:cNvPr id="52" name="Title 1">
            <a:extLst>
              <a:ext uri="{FF2B5EF4-FFF2-40B4-BE49-F238E27FC236}">
                <a16:creationId xmlns:a16="http://schemas.microsoft.com/office/drawing/2014/main" id="{44B28BD3-18EC-FB95-1877-48A10F09B7B0}"/>
              </a:ext>
            </a:extLst>
          </p:cNvPr>
          <p:cNvSpPr>
            <a:spLocks noGrp="1"/>
          </p:cNvSpPr>
          <p:nvPr>
            <p:ph type="title" hasCustomPrompt="1"/>
          </p:nvPr>
        </p:nvSpPr>
        <p:spPr>
          <a:xfrm>
            <a:off x="292100" y="439244"/>
            <a:ext cx="11607800" cy="1425347"/>
          </a:xfrm>
          <a:prstGeom prst="rect">
            <a:avLst/>
          </a:prstGeom>
        </p:spPr>
        <p:txBody>
          <a:bodyPr wrap="square" lIns="0" anchor="b">
            <a:noAutofit/>
          </a:bodyPr>
          <a:lstStyle>
            <a:lvl1pPr>
              <a:lnSpc>
                <a:spcPct val="100000"/>
              </a:lnSpc>
              <a:defRPr sz="3000" b="0" spc="0" baseline="0">
                <a:solidFill>
                  <a:schemeClr val="tx1"/>
                </a:solidFill>
                <a:latin typeface="+mj-lt"/>
              </a:defRPr>
            </a:lvl1pPr>
          </a:lstStyle>
          <a:p>
            <a:r>
              <a:rPr lang="en-US"/>
              <a:t>CLICK TO ADD TITLE</a:t>
            </a:r>
          </a:p>
        </p:txBody>
      </p:sp>
      <p:sp>
        <p:nvSpPr>
          <p:cNvPr id="3" name="Slide Number Placeholder 5">
            <a:extLst>
              <a:ext uri="{FF2B5EF4-FFF2-40B4-BE49-F238E27FC236}">
                <a16:creationId xmlns:a16="http://schemas.microsoft.com/office/drawing/2014/main" id="{2809DECB-5936-5428-8883-81380D690903}"/>
              </a:ext>
            </a:extLst>
          </p:cNvPr>
          <p:cNvSpPr>
            <a:spLocks noGrp="1"/>
          </p:cNvSpPr>
          <p:nvPr>
            <p:ph type="sldNum" sz="quarter" idx="4"/>
          </p:nvPr>
        </p:nvSpPr>
        <p:spPr>
          <a:xfrm>
            <a:off x="3194050" y="6455472"/>
            <a:ext cx="855221" cy="118872"/>
          </a:xfrm>
          <a:prstGeom prst="rect">
            <a:avLst/>
          </a:prstGeom>
        </p:spPr>
        <p:txBody>
          <a:bodyPr vert="horz" lIns="0" tIns="0" rIns="0" bIns="0" rtlCol="0" anchor="ctr"/>
          <a:lstStyle>
            <a:lvl1pPr algn="l">
              <a:defRPr sz="1000" b="0" i="0" spc="0" baseline="0">
                <a:solidFill>
                  <a:schemeClr val="tx1"/>
                </a:solidFill>
                <a:latin typeface="NB Architekt Pro Neue" panose="02010509020201040001" pitchFamily="49" charset="77"/>
                <a:cs typeface="Consolas" panose="020B0609020204030204" pitchFamily="49" charset="0"/>
              </a:defRPr>
            </a:lvl1pPr>
          </a:lstStyle>
          <a:p>
            <a:r>
              <a:rPr lang="en-US"/>
              <a:t>00.0</a:t>
            </a:r>
            <a:fld id="{4571BA12-316B-0A40-BB3D-1A8CDD33E9E5}" type="slidenum">
              <a:rPr lang="en-US" smtClean="0"/>
              <a:pPr/>
              <a:t>‹#›</a:t>
            </a:fld>
            <a:endParaRPr lang="en-US"/>
          </a:p>
        </p:txBody>
      </p:sp>
      <p:grpSp>
        <p:nvGrpSpPr>
          <p:cNvPr id="12" name="Group 11">
            <a:extLst>
              <a:ext uri="{FF2B5EF4-FFF2-40B4-BE49-F238E27FC236}">
                <a16:creationId xmlns:a16="http://schemas.microsoft.com/office/drawing/2014/main" id="{D997292F-CF1E-3CD4-CD5B-27D17B02060C}"/>
              </a:ext>
            </a:extLst>
          </p:cNvPr>
          <p:cNvGrpSpPr>
            <a:grpSpLocks noChangeAspect="1"/>
          </p:cNvGrpSpPr>
          <p:nvPr/>
        </p:nvGrpSpPr>
        <p:grpSpPr>
          <a:xfrm>
            <a:off x="297027" y="6344485"/>
            <a:ext cx="2240280" cy="218081"/>
            <a:chOff x="8480170" y="7684742"/>
            <a:chExt cx="1031076" cy="102566"/>
          </a:xfrm>
          <a:solidFill>
            <a:schemeClr val="accent3"/>
          </a:solidFill>
        </p:grpSpPr>
        <p:sp>
          <p:nvSpPr>
            <p:cNvPr id="13" name="Freeform 12">
              <a:extLst>
                <a:ext uri="{FF2B5EF4-FFF2-40B4-BE49-F238E27FC236}">
                  <a16:creationId xmlns:a16="http://schemas.microsoft.com/office/drawing/2014/main" id="{015F0CA2-4CC9-ADEF-4F8F-87D8057851FC}"/>
                </a:ext>
              </a:extLst>
            </p:cNvPr>
            <p:cNvSpPr/>
            <p:nvPr/>
          </p:nvSpPr>
          <p:spPr>
            <a:xfrm>
              <a:off x="8788109" y="7684742"/>
              <a:ext cx="128019" cy="102565"/>
            </a:xfrm>
            <a:custGeom>
              <a:avLst/>
              <a:gdLst>
                <a:gd name="connsiteX0" fmla="*/ 102070 w 128019"/>
                <a:gd name="connsiteY0" fmla="*/ 70104 h 102565"/>
                <a:gd name="connsiteX1" fmla="*/ 96188 w 128019"/>
                <a:gd name="connsiteY1" fmla="*/ 77011 h 102565"/>
                <a:gd name="connsiteX2" fmla="*/ 89268 w 128019"/>
                <a:gd name="connsiteY2" fmla="*/ 72521 h 102565"/>
                <a:gd name="connsiteX3" fmla="*/ 65740 w 128019"/>
                <a:gd name="connsiteY3" fmla="*/ 8288 h 102565"/>
                <a:gd name="connsiteX4" fmla="*/ 54668 w 128019"/>
                <a:gd name="connsiteY4" fmla="*/ 0 h 102565"/>
                <a:gd name="connsiteX5" fmla="*/ 0 w 128019"/>
                <a:gd name="connsiteY5" fmla="*/ 0 h 102565"/>
                <a:gd name="connsiteX6" fmla="*/ 0 w 128019"/>
                <a:gd name="connsiteY6" fmla="*/ 102221 h 102565"/>
                <a:gd name="connsiteX7" fmla="*/ 40136 w 128019"/>
                <a:gd name="connsiteY7" fmla="*/ 102221 h 102565"/>
                <a:gd name="connsiteX8" fmla="*/ 40136 w 128019"/>
                <a:gd name="connsiteY8" fmla="*/ 76665 h 102565"/>
                <a:gd name="connsiteX9" fmla="*/ 32870 w 128019"/>
                <a:gd name="connsiteY9" fmla="*/ 76665 h 102565"/>
                <a:gd name="connsiteX10" fmla="*/ 25604 w 128019"/>
                <a:gd name="connsiteY10" fmla="*/ 67687 h 102565"/>
                <a:gd name="connsiteX11" fmla="*/ 25604 w 128019"/>
                <a:gd name="connsiteY11" fmla="*/ 36951 h 102565"/>
                <a:gd name="connsiteX12" fmla="*/ 39790 w 128019"/>
                <a:gd name="connsiteY12" fmla="*/ 26591 h 102565"/>
                <a:gd name="connsiteX13" fmla="*/ 45672 w 128019"/>
                <a:gd name="connsiteY13" fmla="*/ 32807 h 102565"/>
                <a:gd name="connsiteX14" fmla="*/ 64356 w 128019"/>
                <a:gd name="connsiteY14" fmla="*/ 81500 h 102565"/>
                <a:gd name="connsiteX15" fmla="*/ 95150 w 128019"/>
                <a:gd name="connsiteY15" fmla="*/ 102566 h 102565"/>
                <a:gd name="connsiteX16" fmla="*/ 95842 w 128019"/>
                <a:gd name="connsiteY16" fmla="*/ 102566 h 102565"/>
                <a:gd name="connsiteX17" fmla="*/ 128020 w 128019"/>
                <a:gd name="connsiteY17" fmla="*/ 70795 h 102565"/>
                <a:gd name="connsiteX18" fmla="*/ 128020 w 128019"/>
                <a:gd name="connsiteY18" fmla="*/ 345 h 102565"/>
                <a:gd name="connsiteX19" fmla="*/ 102416 w 128019"/>
                <a:gd name="connsiteY19" fmla="*/ 345 h 102565"/>
                <a:gd name="connsiteX20" fmla="*/ 102416 w 128019"/>
                <a:gd name="connsiteY20" fmla="*/ 70104 h 102565"/>
                <a:gd name="connsiteX21" fmla="*/ 102416 w 128019"/>
                <a:gd name="connsiteY21" fmla="*/ 70104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8019" h="102565">
                  <a:moveTo>
                    <a:pt x="102070" y="70104"/>
                  </a:moveTo>
                  <a:cubicBezTo>
                    <a:pt x="102070" y="73557"/>
                    <a:pt x="99648" y="76665"/>
                    <a:pt x="96188" y="77011"/>
                  </a:cubicBezTo>
                  <a:cubicBezTo>
                    <a:pt x="93074" y="77356"/>
                    <a:pt x="90306" y="75629"/>
                    <a:pt x="89268" y="72521"/>
                  </a:cubicBezTo>
                  <a:lnTo>
                    <a:pt x="65740" y="8288"/>
                  </a:lnTo>
                  <a:cubicBezTo>
                    <a:pt x="64010" y="3108"/>
                    <a:pt x="59858" y="0"/>
                    <a:pt x="54668" y="0"/>
                  </a:cubicBezTo>
                  <a:lnTo>
                    <a:pt x="0" y="0"/>
                  </a:lnTo>
                  <a:lnTo>
                    <a:pt x="0" y="102221"/>
                  </a:lnTo>
                  <a:lnTo>
                    <a:pt x="40136" y="102221"/>
                  </a:lnTo>
                  <a:lnTo>
                    <a:pt x="40136" y="76665"/>
                  </a:lnTo>
                  <a:lnTo>
                    <a:pt x="32870" y="76665"/>
                  </a:lnTo>
                  <a:cubicBezTo>
                    <a:pt x="28026" y="76665"/>
                    <a:pt x="25604" y="72521"/>
                    <a:pt x="25604" y="67687"/>
                  </a:cubicBezTo>
                  <a:lnTo>
                    <a:pt x="25604" y="36951"/>
                  </a:lnTo>
                  <a:cubicBezTo>
                    <a:pt x="25604" y="29354"/>
                    <a:pt x="32870" y="23828"/>
                    <a:pt x="39790" y="26591"/>
                  </a:cubicBezTo>
                  <a:cubicBezTo>
                    <a:pt x="42212" y="27627"/>
                    <a:pt x="44634" y="30045"/>
                    <a:pt x="45672" y="32807"/>
                  </a:cubicBezTo>
                  <a:lnTo>
                    <a:pt x="64356" y="81500"/>
                  </a:lnTo>
                  <a:cubicBezTo>
                    <a:pt x="69200" y="94278"/>
                    <a:pt x="81310" y="102566"/>
                    <a:pt x="95150" y="102566"/>
                  </a:cubicBezTo>
                  <a:lnTo>
                    <a:pt x="95842" y="102566"/>
                  </a:lnTo>
                  <a:cubicBezTo>
                    <a:pt x="113488" y="102566"/>
                    <a:pt x="128020" y="88407"/>
                    <a:pt x="128020" y="70795"/>
                  </a:cubicBezTo>
                  <a:lnTo>
                    <a:pt x="128020" y="345"/>
                  </a:lnTo>
                  <a:lnTo>
                    <a:pt x="102416" y="345"/>
                  </a:lnTo>
                  <a:lnTo>
                    <a:pt x="102416" y="70104"/>
                  </a:lnTo>
                  <a:lnTo>
                    <a:pt x="102416" y="70104"/>
                  </a:lnTo>
                  <a:close/>
                </a:path>
              </a:pathLst>
            </a:custGeom>
            <a:grpFill/>
            <a:ln w="3458" cap="flat">
              <a:noFill/>
              <a:prstDash val="solid"/>
              <a:miter/>
            </a:ln>
          </p:spPr>
          <p:txBody>
            <a:bodyPr rtlCol="0" anchor="ctr"/>
            <a:lstStyle/>
            <a:p>
              <a:endParaRPr lang="en-US" sz="1800"/>
            </a:p>
          </p:txBody>
        </p:sp>
        <p:sp>
          <p:nvSpPr>
            <p:cNvPr id="14" name="Freeform 13">
              <a:extLst>
                <a:ext uri="{FF2B5EF4-FFF2-40B4-BE49-F238E27FC236}">
                  <a16:creationId xmlns:a16="http://schemas.microsoft.com/office/drawing/2014/main" id="{FF0C4E8B-F76F-C544-D198-0A70045B8783}"/>
                </a:ext>
              </a:extLst>
            </p:cNvPr>
            <p:cNvSpPr/>
            <p:nvPr/>
          </p:nvSpPr>
          <p:spPr>
            <a:xfrm>
              <a:off x="8941733" y="7685087"/>
              <a:ext cx="128019" cy="102220"/>
            </a:xfrm>
            <a:custGeom>
              <a:avLst/>
              <a:gdLst>
                <a:gd name="connsiteX0" fmla="*/ 76812 w 128019"/>
                <a:gd name="connsiteY0" fmla="*/ 0 h 102220"/>
                <a:gd name="connsiteX1" fmla="*/ 0 w 128019"/>
                <a:gd name="connsiteY1" fmla="*/ 0 h 102220"/>
                <a:gd name="connsiteX2" fmla="*/ 0 w 128019"/>
                <a:gd name="connsiteY2" fmla="*/ 25555 h 102220"/>
                <a:gd name="connsiteX3" fmla="*/ 76812 w 128019"/>
                <a:gd name="connsiteY3" fmla="*/ 25555 h 102220"/>
                <a:gd name="connsiteX4" fmla="*/ 102416 w 128019"/>
                <a:gd name="connsiteY4" fmla="*/ 51110 h 102220"/>
                <a:gd name="connsiteX5" fmla="*/ 76812 w 128019"/>
                <a:gd name="connsiteY5" fmla="*/ 76665 h 102220"/>
                <a:gd name="connsiteX6" fmla="*/ 0 w 128019"/>
                <a:gd name="connsiteY6" fmla="*/ 76665 h 102220"/>
                <a:gd name="connsiteX7" fmla="*/ 0 w 128019"/>
                <a:gd name="connsiteY7" fmla="*/ 102221 h 102220"/>
                <a:gd name="connsiteX8" fmla="*/ 76812 w 128019"/>
                <a:gd name="connsiteY8" fmla="*/ 102221 h 102220"/>
                <a:gd name="connsiteX9" fmla="*/ 121792 w 128019"/>
                <a:gd name="connsiteY9" fmla="*/ 75629 h 102220"/>
                <a:gd name="connsiteX10" fmla="*/ 128020 w 128019"/>
                <a:gd name="connsiteY10" fmla="*/ 51110 h 102220"/>
                <a:gd name="connsiteX11" fmla="*/ 121792 w 128019"/>
                <a:gd name="connsiteY11" fmla="*/ 26591 h 102220"/>
                <a:gd name="connsiteX12" fmla="*/ 76812 w 128019"/>
                <a:gd name="connsiteY12" fmla="*/ 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8019" h="102220">
                  <a:moveTo>
                    <a:pt x="76812" y="0"/>
                  </a:moveTo>
                  <a:lnTo>
                    <a:pt x="0" y="0"/>
                  </a:lnTo>
                  <a:lnTo>
                    <a:pt x="0" y="25555"/>
                  </a:lnTo>
                  <a:lnTo>
                    <a:pt x="76812" y="25555"/>
                  </a:lnTo>
                  <a:cubicBezTo>
                    <a:pt x="90306" y="25555"/>
                    <a:pt x="102416" y="37297"/>
                    <a:pt x="102416" y="51110"/>
                  </a:cubicBezTo>
                  <a:cubicBezTo>
                    <a:pt x="102416" y="64924"/>
                    <a:pt x="90652" y="76665"/>
                    <a:pt x="76812" y="76665"/>
                  </a:cubicBezTo>
                  <a:lnTo>
                    <a:pt x="0" y="76665"/>
                  </a:lnTo>
                  <a:lnTo>
                    <a:pt x="0" y="102221"/>
                  </a:lnTo>
                  <a:lnTo>
                    <a:pt x="76812" y="102221"/>
                  </a:lnTo>
                  <a:cubicBezTo>
                    <a:pt x="96188" y="102221"/>
                    <a:pt x="113142" y="91515"/>
                    <a:pt x="121792" y="75629"/>
                  </a:cubicBezTo>
                  <a:cubicBezTo>
                    <a:pt x="125598" y="68377"/>
                    <a:pt x="128020" y="59744"/>
                    <a:pt x="128020" y="51110"/>
                  </a:cubicBezTo>
                  <a:cubicBezTo>
                    <a:pt x="128020" y="42477"/>
                    <a:pt x="125598" y="33843"/>
                    <a:pt x="121792" y="26591"/>
                  </a:cubicBezTo>
                  <a:cubicBezTo>
                    <a:pt x="113142" y="10706"/>
                    <a:pt x="96188" y="0"/>
                    <a:pt x="76812" y="0"/>
                  </a:cubicBezTo>
                  <a:close/>
                </a:path>
              </a:pathLst>
            </a:custGeom>
            <a:grpFill/>
            <a:ln w="3458" cap="flat">
              <a:noFill/>
              <a:prstDash val="solid"/>
              <a:miter/>
            </a:ln>
          </p:spPr>
          <p:txBody>
            <a:bodyPr rtlCol="0" anchor="ctr"/>
            <a:lstStyle/>
            <a:p>
              <a:endParaRPr lang="en-US" sz="1800"/>
            </a:p>
          </p:txBody>
        </p:sp>
        <p:sp>
          <p:nvSpPr>
            <p:cNvPr id="22" name="Freeform 21">
              <a:extLst>
                <a:ext uri="{FF2B5EF4-FFF2-40B4-BE49-F238E27FC236}">
                  <a16:creationId xmlns:a16="http://schemas.microsoft.com/office/drawing/2014/main" id="{142F149E-6873-D283-0DA0-18010F05859D}"/>
                </a:ext>
              </a:extLst>
            </p:cNvPr>
            <p:cNvSpPr/>
            <p:nvPr/>
          </p:nvSpPr>
          <p:spPr>
            <a:xfrm>
              <a:off x="9080478" y="7685087"/>
              <a:ext cx="40481" cy="102220"/>
            </a:xfrm>
            <a:custGeom>
              <a:avLst/>
              <a:gdLst>
                <a:gd name="connsiteX0" fmla="*/ 5190 w 40481"/>
                <a:gd name="connsiteY0" fmla="*/ 25555 h 102220"/>
                <a:gd name="connsiteX1" fmla="*/ 7266 w 40481"/>
                <a:gd name="connsiteY1" fmla="*/ 25555 h 102220"/>
                <a:gd name="connsiteX2" fmla="*/ 14878 w 40481"/>
                <a:gd name="connsiteY2" fmla="*/ 35225 h 102220"/>
                <a:gd name="connsiteX3" fmla="*/ 14878 w 40481"/>
                <a:gd name="connsiteY3" fmla="*/ 102221 h 102220"/>
                <a:gd name="connsiteX4" fmla="*/ 40482 w 40481"/>
                <a:gd name="connsiteY4" fmla="*/ 102221 h 102220"/>
                <a:gd name="connsiteX5" fmla="*/ 40482 w 40481"/>
                <a:gd name="connsiteY5" fmla="*/ 0 h 102220"/>
                <a:gd name="connsiteX6" fmla="*/ 0 w 40481"/>
                <a:gd name="connsiteY6" fmla="*/ 0 h 102220"/>
                <a:gd name="connsiteX7" fmla="*/ 0 w 40481"/>
                <a:gd name="connsiteY7" fmla="*/ 25555 h 102220"/>
                <a:gd name="connsiteX8" fmla="*/ 5536 w 40481"/>
                <a:gd name="connsiteY8" fmla="*/ 25555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481" h="102220">
                  <a:moveTo>
                    <a:pt x="5190" y="25555"/>
                  </a:moveTo>
                  <a:cubicBezTo>
                    <a:pt x="5882" y="25555"/>
                    <a:pt x="6574" y="25555"/>
                    <a:pt x="7266" y="25555"/>
                  </a:cubicBezTo>
                  <a:cubicBezTo>
                    <a:pt x="12110" y="26246"/>
                    <a:pt x="14878" y="30045"/>
                    <a:pt x="14878" y="35225"/>
                  </a:cubicBezTo>
                  <a:lnTo>
                    <a:pt x="14878" y="102221"/>
                  </a:lnTo>
                  <a:lnTo>
                    <a:pt x="40482" y="102221"/>
                  </a:lnTo>
                  <a:lnTo>
                    <a:pt x="40482" y="0"/>
                  </a:lnTo>
                  <a:lnTo>
                    <a:pt x="0" y="0"/>
                  </a:lnTo>
                  <a:lnTo>
                    <a:pt x="0" y="25555"/>
                  </a:lnTo>
                  <a:lnTo>
                    <a:pt x="5536" y="25555"/>
                  </a:lnTo>
                  <a:close/>
                </a:path>
              </a:pathLst>
            </a:custGeom>
            <a:grpFill/>
            <a:ln w="3458" cap="flat">
              <a:noFill/>
              <a:prstDash val="solid"/>
              <a:miter/>
            </a:ln>
          </p:spPr>
          <p:txBody>
            <a:bodyPr rtlCol="0" anchor="ctr"/>
            <a:lstStyle/>
            <a:p>
              <a:endParaRPr lang="en-US" sz="1800"/>
            </a:p>
          </p:txBody>
        </p:sp>
        <p:sp>
          <p:nvSpPr>
            <p:cNvPr id="23" name="Freeform 22">
              <a:extLst>
                <a:ext uri="{FF2B5EF4-FFF2-40B4-BE49-F238E27FC236}">
                  <a16:creationId xmlns:a16="http://schemas.microsoft.com/office/drawing/2014/main" id="{20F40659-20B1-F441-4897-5A556619185A}"/>
                </a:ext>
              </a:extLst>
            </p:cNvPr>
            <p:cNvSpPr/>
            <p:nvPr/>
          </p:nvSpPr>
          <p:spPr>
            <a:xfrm>
              <a:off x="9146218" y="7685087"/>
              <a:ext cx="128365" cy="102220"/>
            </a:xfrm>
            <a:custGeom>
              <a:avLst/>
              <a:gdLst>
                <a:gd name="connsiteX0" fmla="*/ 128365 w 128365"/>
                <a:gd name="connsiteY0" fmla="*/ 81846 h 102220"/>
                <a:gd name="connsiteX1" fmla="*/ 128365 w 128365"/>
                <a:gd name="connsiteY1" fmla="*/ 102221 h 102220"/>
                <a:gd name="connsiteX2" fmla="*/ 19722 w 128365"/>
                <a:gd name="connsiteY2" fmla="*/ 60780 h 102220"/>
                <a:gd name="connsiteX3" fmla="*/ 0 w 128365"/>
                <a:gd name="connsiteY3" fmla="*/ 30735 h 102220"/>
                <a:gd name="connsiteX4" fmla="*/ 31140 w 128365"/>
                <a:gd name="connsiteY4" fmla="*/ 0 h 102220"/>
                <a:gd name="connsiteX5" fmla="*/ 128020 w 128365"/>
                <a:gd name="connsiteY5" fmla="*/ 0 h 102220"/>
                <a:gd name="connsiteX6" fmla="*/ 128020 w 128365"/>
                <a:gd name="connsiteY6" fmla="*/ 40059 h 102220"/>
                <a:gd name="connsiteX7" fmla="*/ 102416 w 128365"/>
                <a:gd name="connsiteY7" fmla="*/ 40059 h 102220"/>
                <a:gd name="connsiteX8" fmla="*/ 102416 w 128365"/>
                <a:gd name="connsiteY8" fmla="*/ 32807 h 102220"/>
                <a:gd name="connsiteX9" fmla="*/ 94458 w 128365"/>
                <a:gd name="connsiteY9" fmla="*/ 25555 h 102220"/>
                <a:gd name="connsiteX10" fmla="*/ 37714 w 128365"/>
                <a:gd name="connsiteY10" fmla="*/ 25555 h 102220"/>
                <a:gd name="connsiteX11" fmla="*/ 29756 w 128365"/>
                <a:gd name="connsiteY11" fmla="*/ 33498 h 102220"/>
                <a:gd name="connsiteX12" fmla="*/ 34946 w 128365"/>
                <a:gd name="connsiteY12" fmla="*/ 41095 h 102220"/>
                <a:gd name="connsiteX13" fmla="*/ 119370 w 128365"/>
                <a:gd name="connsiteY13" fmla="*/ 70795 h 102220"/>
                <a:gd name="connsiteX14" fmla="*/ 127674 w 128365"/>
                <a:gd name="connsiteY14"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8365" h="102220">
                  <a:moveTo>
                    <a:pt x="128365" y="81846"/>
                  </a:moveTo>
                  <a:lnTo>
                    <a:pt x="128365"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close/>
                </a:path>
              </a:pathLst>
            </a:custGeom>
            <a:grpFill/>
            <a:ln w="3458" cap="flat">
              <a:noFill/>
              <a:prstDash val="solid"/>
              <a:miter/>
            </a:ln>
          </p:spPr>
          <p:txBody>
            <a:bodyPr rtlCol="0" anchor="ctr"/>
            <a:lstStyle/>
            <a:p>
              <a:endParaRPr lang="en-US" sz="1800"/>
            </a:p>
          </p:txBody>
        </p:sp>
        <p:sp>
          <p:nvSpPr>
            <p:cNvPr id="24" name="Freeform 23">
              <a:extLst>
                <a:ext uri="{FF2B5EF4-FFF2-40B4-BE49-F238E27FC236}">
                  <a16:creationId xmlns:a16="http://schemas.microsoft.com/office/drawing/2014/main" id="{EF41CF2C-C479-03FD-A940-AD524158EA44}"/>
                </a:ext>
              </a:extLst>
            </p:cNvPr>
            <p:cNvSpPr/>
            <p:nvPr/>
          </p:nvSpPr>
          <p:spPr>
            <a:xfrm>
              <a:off x="9146564" y="7761753"/>
              <a:ext cx="25258" cy="25555"/>
            </a:xfrm>
            <a:custGeom>
              <a:avLst/>
              <a:gdLst>
                <a:gd name="connsiteX0" fmla="*/ 25258 w 25258"/>
                <a:gd name="connsiteY0" fmla="*/ 0 h 25555"/>
                <a:gd name="connsiteX1" fmla="*/ 0 w 25258"/>
                <a:gd name="connsiteY1" fmla="*/ 0 h 25555"/>
                <a:gd name="connsiteX2" fmla="*/ 0 w 25258"/>
                <a:gd name="connsiteY2" fmla="*/ 25555 h 25555"/>
                <a:gd name="connsiteX3" fmla="*/ 25258 w 25258"/>
                <a:gd name="connsiteY3" fmla="*/ 25555 h 25555"/>
                <a:gd name="connsiteX4" fmla="*/ 25258 w 25258"/>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8"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25" name="Freeform 24">
              <a:extLst>
                <a:ext uri="{FF2B5EF4-FFF2-40B4-BE49-F238E27FC236}">
                  <a16:creationId xmlns:a16="http://schemas.microsoft.com/office/drawing/2014/main" id="{B4A86CF7-AB7B-BE2F-18D8-B07905D46010}"/>
                </a:ext>
              </a:extLst>
            </p:cNvPr>
            <p:cNvSpPr/>
            <p:nvPr/>
          </p:nvSpPr>
          <p:spPr>
            <a:xfrm>
              <a:off x="8480170" y="7685087"/>
              <a:ext cx="128019" cy="102220"/>
            </a:xfrm>
            <a:custGeom>
              <a:avLst/>
              <a:gdLst>
                <a:gd name="connsiteX0" fmla="*/ 128020 w 128019"/>
                <a:gd name="connsiteY0" fmla="*/ 81846 h 102220"/>
                <a:gd name="connsiteX1" fmla="*/ 128020 w 128019"/>
                <a:gd name="connsiteY1" fmla="*/ 102221 h 102220"/>
                <a:gd name="connsiteX2" fmla="*/ 19722 w 128019"/>
                <a:gd name="connsiteY2" fmla="*/ 60780 h 102220"/>
                <a:gd name="connsiteX3" fmla="*/ 0 w 128019"/>
                <a:gd name="connsiteY3" fmla="*/ 30735 h 102220"/>
                <a:gd name="connsiteX4" fmla="*/ 31140 w 128019"/>
                <a:gd name="connsiteY4" fmla="*/ 0 h 102220"/>
                <a:gd name="connsiteX5" fmla="*/ 128020 w 128019"/>
                <a:gd name="connsiteY5" fmla="*/ 0 h 102220"/>
                <a:gd name="connsiteX6" fmla="*/ 128020 w 128019"/>
                <a:gd name="connsiteY6" fmla="*/ 40059 h 102220"/>
                <a:gd name="connsiteX7" fmla="*/ 102416 w 128019"/>
                <a:gd name="connsiteY7" fmla="*/ 40059 h 102220"/>
                <a:gd name="connsiteX8" fmla="*/ 102416 w 128019"/>
                <a:gd name="connsiteY8" fmla="*/ 32807 h 102220"/>
                <a:gd name="connsiteX9" fmla="*/ 94458 w 128019"/>
                <a:gd name="connsiteY9" fmla="*/ 25555 h 102220"/>
                <a:gd name="connsiteX10" fmla="*/ 37714 w 128019"/>
                <a:gd name="connsiteY10" fmla="*/ 25555 h 102220"/>
                <a:gd name="connsiteX11" fmla="*/ 29756 w 128019"/>
                <a:gd name="connsiteY11" fmla="*/ 33498 h 102220"/>
                <a:gd name="connsiteX12" fmla="*/ 34946 w 128019"/>
                <a:gd name="connsiteY12" fmla="*/ 41095 h 102220"/>
                <a:gd name="connsiteX13" fmla="*/ 119370 w 128019"/>
                <a:gd name="connsiteY13" fmla="*/ 70795 h 102220"/>
                <a:gd name="connsiteX14" fmla="*/ 127674 w 128019"/>
                <a:gd name="connsiteY14" fmla="*/ 81846 h 102220"/>
                <a:gd name="connsiteX15" fmla="*/ 127674 w 128019"/>
                <a:gd name="connsiteY15"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8019" h="102220">
                  <a:moveTo>
                    <a:pt x="128020" y="81846"/>
                  </a:moveTo>
                  <a:lnTo>
                    <a:pt x="128020"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lnTo>
                    <a:pt x="127674" y="81846"/>
                  </a:lnTo>
                  <a:close/>
                </a:path>
              </a:pathLst>
            </a:custGeom>
            <a:grpFill/>
            <a:ln w="3458" cap="flat">
              <a:noFill/>
              <a:prstDash val="solid"/>
              <a:miter/>
            </a:ln>
          </p:spPr>
          <p:txBody>
            <a:bodyPr rtlCol="0" anchor="ctr"/>
            <a:lstStyle/>
            <a:p>
              <a:endParaRPr lang="en-US" sz="1800"/>
            </a:p>
          </p:txBody>
        </p:sp>
        <p:sp>
          <p:nvSpPr>
            <p:cNvPr id="26" name="Freeform 25">
              <a:extLst>
                <a:ext uri="{FF2B5EF4-FFF2-40B4-BE49-F238E27FC236}">
                  <a16:creationId xmlns:a16="http://schemas.microsoft.com/office/drawing/2014/main" id="{C477B0D6-C4D1-A790-B6A0-964722CE8C67}"/>
                </a:ext>
              </a:extLst>
            </p:cNvPr>
            <p:cNvSpPr/>
            <p:nvPr/>
          </p:nvSpPr>
          <p:spPr>
            <a:xfrm>
              <a:off x="8480516" y="7761753"/>
              <a:ext cx="25257" cy="25555"/>
            </a:xfrm>
            <a:custGeom>
              <a:avLst/>
              <a:gdLst>
                <a:gd name="connsiteX0" fmla="*/ 25258 w 25257"/>
                <a:gd name="connsiteY0" fmla="*/ 0 h 25555"/>
                <a:gd name="connsiteX1" fmla="*/ 0 w 25257"/>
                <a:gd name="connsiteY1" fmla="*/ 0 h 25555"/>
                <a:gd name="connsiteX2" fmla="*/ 0 w 25257"/>
                <a:gd name="connsiteY2" fmla="*/ 25555 h 25555"/>
                <a:gd name="connsiteX3" fmla="*/ 25258 w 25257"/>
                <a:gd name="connsiteY3" fmla="*/ 25555 h 25555"/>
                <a:gd name="connsiteX4" fmla="*/ 25258 w 25257"/>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7"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27" name="Freeform 26">
              <a:extLst>
                <a:ext uri="{FF2B5EF4-FFF2-40B4-BE49-F238E27FC236}">
                  <a16:creationId xmlns:a16="http://schemas.microsoft.com/office/drawing/2014/main" id="{2050C485-7816-EC75-A8F0-1E989B63068F}"/>
                </a:ext>
              </a:extLst>
            </p:cNvPr>
            <p:cNvSpPr/>
            <p:nvPr/>
          </p:nvSpPr>
          <p:spPr>
            <a:xfrm>
              <a:off x="9300533" y="7685087"/>
              <a:ext cx="128019" cy="102220"/>
            </a:xfrm>
            <a:custGeom>
              <a:avLst/>
              <a:gdLst>
                <a:gd name="connsiteX0" fmla="*/ 128020 w 128019"/>
                <a:gd name="connsiteY0" fmla="*/ 25555 h 102220"/>
                <a:gd name="connsiteX1" fmla="*/ 128020 w 128019"/>
                <a:gd name="connsiteY1" fmla="*/ 0 h 102220"/>
                <a:gd name="connsiteX2" fmla="*/ 105530 w 128019"/>
                <a:gd name="connsiteY2" fmla="*/ 0 h 102220"/>
                <a:gd name="connsiteX3" fmla="*/ 100686 w 128019"/>
                <a:gd name="connsiteY3" fmla="*/ 1727 h 102220"/>
                <a:gd name="connsiteX4" fmla="*/ 60550 w 128019"/>
                <a:gd name="connsiteY4" fmla="*/ 37987 h 102220"/>
                <a:gd name="connsiteX5" fmla="*/ 56398 w 128019"/>
                <a:gd name="connsiteY5" fmla="*/ 39714 h 102220"/>
                <a:gd name="connsiteX6" fmla="*/ 28372 w 128019"/>
                <a:gd name="connsiteY6" fmla="*/ 39714 h 102220"/>
                <a:gd name="connsiteX7" fmla="*/ 25258 w 128019"/>
                <a:gd name="connsiteY7" fmla="*/ 36606 h 102220"/>
                <a:gd name="connsiteX8" fmla="*/ 25258 w 128019"/>
                <a:gd name="connsiteY8" fmla="*/ 0 h 102220"/>
                <a:gd name="connsiteX9" fmla="*/ 0 w 128019"/>
                <a:gd name="connsiteY9" fmla="*/ 0 h 102220"/>
                <a:gd name="connsiteX10" fmla="*/ 0 w 128019"/>
                <a:gd name="connsiteY10" fmla="*/ 102221 h 102220"/>
                <a:gd name="connsiteX11" fmla="*/ 25258 w 128019"/>
                <a:gd name="connsiteY11" fmla="*/ 102221 h 102220"/>
                <a:gd name="connsiteX12" fmla="*/ 25258 w 128019"/>
                <a:gd name="connsiteY12" fmla="*/ 65615 h 102220"/>
                <a:gd name="connsiteX13" fmla="*/ 28372 w 128019"/>
                <a:gd name="connsiteY13" fmla="*/ 62507 h 102220"/>
                <a:gd name="connsiteX14" fmla="*/ 56398 w 128019"/>
                <a:gd name="connsiteY14" fmla="*/ 62507 h 102220"/>
                <a:gd name="connsiteX15" fmla="*/ 60550 w 128019"/>
                <a:gd name="connsiteY15" fmla="*/ 64233 h 102220"/>
                <a:gd name="connsiteX16" fmla="*/ 100686 w 128019"/>
                <a:gd name="connsiteY16" fmla="*/ 100494 h 102220"/>
                <a:gd name="connsiteX17" fmla="*/ 105530 w 128019"/>
                <a:gd name="connsiteY17" fmla="*/ 102221 h 102220"/>
                <a:gd name="connsiteX18" fmla="*/ 128020 w 128019"/>
                <a:gd name="connsiteY18" fmla="*/ 102221 h 102220"/>
                <a:gd name="connsiteX19" fmla="*/ 128020 w 128019"/>
                <a:gd name="connsiteY19" fmla="*/ 76665 h 102220"/>
                <a:gd name="connsiteX20" fmla="*/ 115564 w 128019"/>
                <a:gd name="connsiteY20" fmla="*/ 76665 h 102220"/>
                <a:gd name="connsiteX21" fmla="*/ 105184 w 128019"/>
                <a:gd name="connsiteY21" fmla="*/ 72867 h 102220"/>
                <a:gd name="connsiteX22" fmla="*/ 86154 w 128019"/>
                <a:gd name="connsiteY22" fmla="*/ 55945 h 102220"/>
                <a:gd name="connsiteX23" fmla="*/ 86154 w 128019"/>
                <a:gd name="connsiteY23" fmla="*/ 45930 h 102220"/>
                <a:gd name="connsiteX24" fmla="*/ 105184 w 128019"/>
                <a:gd name="connsiteY24" fmla="*/ 29009 h 102220"/>
                <a:gd name="connsiteX25" fmla="*/ 115564 w 128019"/>
                <a:gd name="connsiteY25" fmla="*/ 25210 h 102220"/>
                <a:gd name="connsiteX26" fmla="*/ 128020 w 128019"/>
                <a:gd name="connsiteY26" fmla="*/ 2521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8019" h="102220">
                  <a:moveTo>
                    <a:pt x="128020" y="25555"/>
                  </a:moveTo>
                  <a:lnTo>
                    <a:pt x="128020" y="0"/>
                  </a:lnTo>
                  <a:lnTo>
                    <a:pt x="105530" y="0"/>
                  </a:lnTo>
                  <a:cubicBezTo>
                    <a:pt x="103800" y="0"/>
                    <a:pt x="102070" y="691"/>
                    <a:pt x="100686" y="1727"/>
                  </a:cubicBezTo>
                  <a:lnTo>
                    <a:pt x="60550" y="37987"/>
                  </a:lnTo>
                  <a:cubicBezTo>
                    <a:pt x="59512" y="39023"/>
                    <a:pt x="58128" y="39714"/>
                    <a:pt x="56398" y="39714"/>
                  </a:cubicBezTo>
                  <a:lnTo>
                    <a:pt x="28372" y="39714"/>
                  </a:lnTo>
                  <a:cubicBezTo>
                    <a:pt x="26642" y="39714"/>
                    <a:pt x="25258" y="38333"/>
                    <a:pt x="25258" y="36606"/>
                  </a:cubicBezTo>
                  <a:lnTo>
                    <a:pt x="25258" y="0"/>
                  </a:lnTo>
                  <a:lnTo>
                    <a:pt x="0" y="0"/>
                  </a:lnTo>
                  <a:lnTo>
                    <a:pt x="0" y="102221"/>
                  </a:lnTo>
                  <a:lnTo>
                    <a:pt x="25258" y="102221"/>
                  </a:lnTo>
                  <a:lnTo>
                    <a:pt x="25258" y="65615"/>
                  </a:lnTo>
                  <a:cubicBezTo>
                    <a:pt x="25258" y="63888"/>
                    <a:pt x="26642" y="62507"/>
                    <a:pt x="28372" y="62507"/>
                  </a:cubicBezTo>
                  <a:lnTo>
                    <a:pt x="56398" y="62507"/>
                  </a:lnTo>
                  <a:cubicBezTo>
                    <a:pt x="57782" y="62507"/>
                    <a:pt x="59512" y="62852"/>
                    <a:pt x="60550" y="64233"/>
                  </a:cubicBezTo>
                  <a:lnTo>
                    <a:pt x="100686" y="100494"/>
                  </a:lnTo>
                  <a:cubicBezTo>
                    <a:pt x="102070" y="101530"/>
                    <a:pt x="103800" y="102221"/>
                    <a:pt x="105530" y="102221"/>
                  </a:cubicBezTo>
                  <a:lnTo>
                    <a:pt x="128020" y="102221"/>
                  </a:lnTo>
                  <a:lnTo>
                    <a:pt x="128020" y="76665"/>
                  </a:lnTo>
                  <a:lnTo>
                    <a:pt x="115564" y="76665"/>
                  </a:lnTo>
                  <a:cubicBezTo>
                    <a:pt x="111758" y="76665"/>
                    <a:pt x="107952" y="75284"/>
                    <a:pt x="105184" y="72867"/>
                  </a:cubicBezTo>
                  <a:lnTo>
                    <a:pt x="86154" y="55945"/>
                  </a:lnTo>
                  <a:cubicBezTo>
                    <a:pt x="83040" y="53528"/>
                    <a:pt x="83040" y="48693"/>
                    <a:pt x="86154" y="45930"/>
                  </a:cubicBezTo>
                  <a:lnTo>
                    <a:pt x="105184" y="29009"/>
                  </a:lnTo>
                  <a:cubicBezTo>
                    <a:pt x="108298" y="26591"/>
                    <a:pt x="111758" y="25210"/>
                    <a:pt x="115564" y="25210"/>
                  </a:cubicBezTo>
                  <a:lnTo>
                    <a:pt x="128020" y="25210"/>
                  </a:lnTo>
                  <a:close/>
                </a:path>
              </a:pathLst>
            </a:custGeom>
            <a:grpFill/>
            <a:ln w="3458" cap="flat">
              <a:noFill/>
              <a:prstDash val="solid"/>
              <a:miter/>
            </a:ln>
          </p:spPr>
          <p:txBody>
            <a:bodyPr rtlCol="0" anchor="ctr"/>
            <a:lstStyle/>
            <a:p>
              <a:endParaRPr lang="en-US" sz="1800"/>
            </a:p>
          </p:txBody>
        </p:sp>
        <p:sp>
          <p:nvSpPr>
            <p:cNvPr id="28" name="Freeform 27">
              <a:extLst>
                <a:ext uri="{FF2B5EF4-FFF2-40B4-BE49-F238E27FC236}">
                  <a16:creationId xmlns:a16="http://schemas.microsoft.com/office/drawing/2014/main" id="{7441CEAD-6437-E895-E401-B754FBC2BAE0}"/>
                </a:ext>
              </a:extLst>
            </p:cNvPr>
            <p:cNvSpPr/>
            <p:nvPr/>
          </p:nvSpPr>
          <p:spPr>
            <a:xfrm>
              <a:off x="8623760" y="7684742"/>
              <a:ext cx="138053" cy="102565"/>
            </a:xfrm>
            <a:custGeom>
              <a:avLst/>
              <a:gdLst>
                <a:gd name="connsiteX0" fmla="*/ 99302 w 138053"/>
                <a:gd name="connsiteY0" fmla="*/ 345 h 102565"/>
                <a:gd name="connsiteX1" fmla="*/ 70238 w 138053"/>
                <a:gd name="connsiteY1" fmla="*/ 14850 h 102565"/>
                <a:gd name="connsiteX2" fmla="*/ 0 w 138053"/>
                <a:gd name="connsiteY2" fmla="*/ 102566 h 102565"/>
                <a:gd name="connsiteX3" fmla="*/ 35638 w 138053"/>
                <a:gd name="connsiteY3" fmla="*/ 102566 h 102565"/>
                <a:gd name="connsiteX4" fmla="*/ 93420 w 138053"/>
                <a:gd name="connsiteY4" fmla="*/ 31426 h 102565"/>
                <a:gd name="connsiteX5" fmla="*/ 102762 w 138053"/>
                <a:gd name="connsiteY5" fmla="*/ 26246 h 102565"/>
                <a:gd name="connsiteX6" fmla="*/ 112450 w 138053"/>
                <a:gd name="connsiteY6" fmla="*/ 36951 h 102565"/>
                <a:gd name="connsiteX7" fmla="*/ 112450 w 138053"/>
                <a:gd name="connsiteY7" fmla="*/ 68032 h 102565"/>
                <a:gd name="connsiteX8" fmla="*/ 105184 w 138053"/>
                <a:gd name="connsiteY8" fmla="*/ 77011 h 102565"/>
                <a:gd name="connsiteX9" fmla="*/ 97918 w 138053"/>
                <a:gd name="connsiteY9" fmla="*/ 77011 h 102565"/>
                <a:gd name="connsiteX10" fmla="*/ 97918 w 138053"/>
                <a:gd name="connsiteY10" fmla="*/ 102566 h 102565"/>
                <a:gd name="connsiteX11" fmla="*/ 138054 w 138053"/>
                <a:gd name="connsiteY11" fmla="*/ 102566 h 102565"/>
                <a:gd name="connsiteX12" fmla="*/ 138054 w 138053"/>
                <a:gd name="connsiteY12" fmla="*/ 38333 h 102565"/>
                <a:gd name="connsiteX13" fmla="*/ 98956 w 138053"/>
                <a:gd name="connsiteY13" fmla="*/ 0 h 102565"/>
                <a:gd name="connsiteX14" fmla="*/ 98956 w 138053"/>
                <a:gd name="connsiteY14" fmla="*/ 0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8053" h="102565">
                  <a:moveTo>
                    <a:pt x="99302" y="345"/>
                  </a:moveTo>
                  <a:cubicBezTo>
                    <a:pt x="87884" y="345"/>
                    <a:pt x="77158" y="5871"/>
                    <a:pt x="70238" y="14850"/>
                  </a:cubicBezTo>
                  <a:lnTo>
                    <a:pt x="0" y="102566"/>
                  </a:lnTo>
                  <a:lnTo>
                    <a:pt x="35638" y="102566"/>
                  </a:lnTo>
                  <a:lnTo>
                    <a:pt x="93420" y="31426"/>
                  </a:lnTo>
                  <a:cubicBezTo>
                    <a:pt x="96188" y="27973"/>
                    <a:pt x="98264" y="26246"/>
                    <a:pt x="102762" y="26246"/>
                  </a:cubicBezTo>
                  <a:cubicBezTo>
                    <a:pt x="107260" y="26246"/>
                    <a:pt x="112450" y="31081"/>
                    <a:pt x="112450" y="36951"/>
                  </a:cubicBezTo>
                  <a:lnTo>
                    <a:pt x="112450" y="68032"/>
                  </a:lnTo>
                  <a:cubicBezTo>
                    <a:pt x="112450" y="72867"/>
                    <a:pt x="110028" y="77011"/>
                    <a:pt x="105184" y="77011"/>
                  </a:cubicBezTo>
                  <a:lnTo>
                    <a:pt x="97918" y="77011"/>
                  </a:lnTo>
                  <a:lnTo>
                    <a:pt x="97918" y="102566"/>
                  </a:lnTo>
                  <a:lnTo>
                    <a:pt x="138054" y="102566"/>
                  </a:lnTo>
                  <a:lnTo>
                    <a:pt x="138054" y="38333"/>
                  </a:lnTo>
                  <a:cubicBezTo>
                    <a:pt x="138054" y="33153"/>
                    <a:pt x="138054" y="0"/>
                    <a:pt x="98956" y="0"/>
                  </a:cubicBezTo>
                  <a:lnTo>
                    <a:pt x="98956" y="0"/>
                  </a:lnTo>
                  <a:close/>
                </a:path>
              </a:pathLst>
            </a:custGeom>
            <a:grpFill/>
            <a:ln w="3458" cap="flat">
              <a:noFill/>
              <a:prstDash val="solid"/>
              <a:miter/>
            </a:ln>
          </p:spPr>
          <p:txBody>
            <a:bodyPr rtlCol="0" anchor="ctr"/>
            <a:lstStyle/>
            <a:p>
              <a:endParaRPr lang="en-US" sz="1800"/>
            </a:p>
          </p:txBody>
        </p:sp>
        <p:sp>
          <p:nvSpPr>
            <p:cNvPr id="29" name="Freeform 28">
              <a:extLst>
                <a:ext uri="{FF2B5EF4-FFF2-40B4-BE49-F238E27FC236}">
                  <a16:creationId xmlns:a16="http://schemas.microsoft.com/office/drawing/2014/main" id="{F6744FFA-4E92-F613-7AA5-92C01C3B9D6F}"/>
                </a:ext>
              </a:extLst>
            </p:cNvPr>
            <p:cNvSpPr/>
            <p:nvPr/>
          </p:nvSpPr>
          <p:spPr>
            <a:xfrm>
              <a:off x="9480453" y="7685087"/>
              <a:ext cx="30793" cy="25555"/>
            </a:xfrm>
            <a:custGeom>
              <a:avLst/>
              <a:gdLst>
                <a:gd name="connsiteX0" fmla="*/ 30448 w 30793"/>
                <a:gd name="connsiteY0" fmla="*/ 0 h 25555"/>
                <a:gd name="connsiteX1" fmla="*/ 30448 w 30793"/>
                <a:gd name="connsiteY1" fmla="*/ 25555 h 25555"/>
                <a:gd name="connsiteX2" fmla="*/ 24912 w 30793"/>
                <a:gd name="connsiteY2" fmla="*/ 25555 h 25555"/>
                <a:gd name="connsiteX3" fmla="*/ 24912 w 30793"/>
                <a:gd name="connsiteY3" fmla="*/ 5180 h 25555"/>
                <a:gd name="connsiteX4" fmla="*/ 24912 w 30793"/>
                <a:gd name="connsiteY4" fmla="*/ 5180 h 25555"/>
                <a:gd name="connsiteX5" fmla="*/ 17646 w 30793"/>
                <a:gd name="connsiteY5" fmla="*/ 25555 h 25555"/>
                <a:gd name="connsiteX6" fmla="*/ 12802 w 30793"/>
                <a:gd name="connsiteY6" fmla="*/ 25555 h 25555"/>
                <a:gd name="connsiteX7" fmla="*/ 5536 w 30793"/>
                <a:gd name="connsiteY7" fmla="*/ 5180 h 25555"/>
                <a:gd name="connsiteX8" fmla="*/ 5536 w 30793"/>
                <a:gd name="connsiteY8" fmla="*/ 5180 h 25555"/>
                <a:gd name="connsiteX9" fmla="*/ 5536 w 30793"/>
                <a:gd name="connsiteY9" fmla="*/ 25555 h 25555"/>
                <a:gd name="connsiteX10" fmla="*/ 0 w 30793"/>
                <a:gd name="connsiteY10" fmla="*/ 25555 h 25555"/>
                <a:gd name="connsiteX11" fmla="*/ 0 w 30793"/>
                <a:gd name="connsiteY11" fmla="*/ 0 h 25555"/>
                <a:gd name="connsiteX12" fmla="*/ 9688 w 30793"/>
                <a:gd name="connsiteY12" fmla="*/ 0 h 25555"/>
                <a:gd name="connsiteX13" fmla="*/ 15570 w 30793"/>
                <a:gd name="connsiteY13" fmla="*/ 17267 h 25555"/>
                <a:gd name="connsiteX14" fmla="*/ 15570 w 30793"/>
                <a:gd name="connsiteY14" fmla="*/ 17267 h 25555"/>
                <a:gd name="connsiteX15" fmla="*/ 21798 w 30793"/>
                <a:gd name="connsiteY15" fmla="*/ 0 h 25555"/>
                <a:gd name="connsiteX16" fmla="*/ 30794 w 30793"/>
                <a:gd name="connsiteY16" fmla="*/ 0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793" h="25555">
                  <a:moveTo>
                    <a:pt x="30448" y="0"/>
                  </a:moveTo>
                  <a:lnTo>
                    <a:pt x="30448" y="25555"/>
                  </a:lnTo>
                  <a:lnTo>
                    <a:pt x="24912" y="25555"/>
                  </a:lnTo>
                  <a:lnTo>
                    <a:pt x="24912" y="5180"/>
                  </a:lnTo>
                  <a:lnTo>
                    <a:pt x="24912" y="5180"/>
                  </a:lnTo>
                  <a:lnTo>
                    <a:pt x="17646" y="25555"/>
                  </a:lnTo>
                  <a:lnTo>
                    <a:pt x="12802" y="25555"/>
                  </a:lnTo>
                  <a:lnTo>
                    <a:pt x="5536" y="5180"/>
                  </a:lnTo>
                  <a:lnTo>
                    <a:pt x="5536" y="5180"/>
                  </a:lnTo>
                  <a:lnTo>
                    <a:pt x="5536" y="25555"/>
                  </a:lnTo>
                  <a:lnTo>
                    <a:pt x="0" y="25555"/>
                  </a:lnTo>
                  <a:lnTo>
                    <a:pt x="0" y="0"/>
                  </a:lnTo>
                  <a:lnTo>
                    <a:pt x="9688" y="0"/>
                  </a:lnTo>
                  <a:lnTo>
                    <a:pt x="15570" y="17267"/>
                  </a:lnTo>
                  <a:lnTo>
                    <a:pt x="15570" y="17267"/>
                  </a:lnTo>
                  <a:lnTo>
                    <a:pt x="21798" y="0"/>
                  </a:lnTo>
                  <a:lnTo>
                    <a:pt x="30794" y="0"/>
                  </a:lnTo>
                  <a:close/>
                </a:path>
              </a:pathLst>
            </a:custGeom>
            <a:grpFill/>
            <a:ln w="3458" cap="flat">
              <a:noFill/>
              <a:prstDash val="solid"/>
              <a:miter/>
            </a:ln>
          </p:spPr>
          <p:txBody>
            <a:bodyPr rtlCol="0" anchor="ctr"/>
            <a:lstStyle/>
            <a:p>
              <a:endParaRPr lang="en-US" sz="1800"/>
            </a:p>
          </p:txBody>
        </p:sp>
        <p:sp>
          <p:nvSpPr>
            <p:cNvPr id="30" name="Freeform 29">
              <a:extLst>
                <a:ext uri="{FF2B5EF4-FFF2-40B4-BE49-F238E27FC236}">
                  <a16:creationId xmlns:a16="http://schemas.microsoft.com/office/drawing/2014/main" id="{54439DC5-B658-774B-2032-D21C7FEAA41B}"/>
                </a:ext>
              </a:extLst>
            </p:cNvPr>
            <p:cNvSpPr/>
            <p:nvPr/>
          </p:nvSpPr>
          <p:spPr>
            <a:xfrm>
              <a:off x="9453811" y="7685087"/>
              <a:ext cx="21451" cy="25555"/>
            </a:xfrm>
            <a:custGeom>
              <a:avLst/>
              <a:gdLst>
                <a:gd name="connsiteX0" fmla="*/ 13840 w 21451"/>
                <a:gd name="connsiteY0" fmla="*/ 4835 h 25555"/>
                <a:gd name="connsiteX1" fmla="*/ 13840 w 21451"/>
                <a:gd name="connsiteY1" fmla="*/ 25555 h 25555"/>
                <a:gd name="connsiteX2" fmla="*/ 7958 w 21451"/>
                <a:gd name="connsiteY2" fmla="*/ 25555 h 25555"/>
                <a:gd name="connsiteX3" fmla="*/ 7958 w 21451"/>
                <a:gd name="connsiteY3" fmla="*/ 4835 h 25555"/>
                <a:gd name="connsiteX4" fmla="*/ 0 w 21451"/>
                <a:gd name="connsiteY4" fmla="*/ 4835 h 25555"/>
                <a:gd name="connsiteX5" fmla="*/ 0 w 21451"/>
                <a:gd name="connsiteY5" fmla="*/ 0 h 25555"/>
                <a:gd name="connsiteX6" fmla="*/ 21452 w 21451"/>
                <a:gd name="connsiteY6" fmla="*/ 0 h 25555"/>
                <a:gd name="connsiteX7" fmla="*/ 21452 w 21451"/>
                <a:gd name="connsiteY7" fmla="*/ 4835 h 25555"/>
                <a:gd name="connsiteX8" fmla="*/ 13494 w 21451"/>
                <a:gd name="connsiteY8" fmla="*/ 4835 h 25555"/>
                <a:gd name="connsiteX9" fmla="*/ 13494 w 21451"/>
                <a:gd name="connsiteY9" fmla="*/ 4835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451" h="25555">
                  <a:moveTo>
                    <a:pt x="13840" y="4835"/>
                  </a:moveTo>
                  <a:lnTo>
                    <a:pt x="13840" y="25555"/>
                  </a:lnTo>
                  <a:lnTo>
                    <a:pt x="7958" y="25555"/>
                  </a:lnTo>
                  <a:lnTo>
                    <a:pt x="7958" y="4835"/>
                  </a:lnTo>
                  <a:lnTo>
                    <a:pt x="0" y="4835"/>
                  </a:lnTo>
                  <a:lnTo>
                    <a:pt x="0" y="0"/>
                  </a:lnTo>
                  <a:lnTo>
                    <a:pt x="21452" y="0"/>
                  </a:lnTo>
                  <a:lnTo>
                    <a:pt x="21452" y="4835"/>
                  </a:lnTo>
                  <a:lnTo>
                    <a:pt x="13494" y="4835"/>
                  </a:lnTo>
                  <a:lnTo>
                    <a:pt x="13494" y="4835"/>
                  </a:lnTo>
                  <a:close/>
                </a:path>
              </a:pathLst>
            </a:custGeom>
            <a:grpFill/>
            <a:ln w="3458" cap="flat">
              <a:noFill/>
              <a:prstDash val="solid"/>
              <a:miter/>
            </a:ln>
          </p:spPr>
          <p:txBody>
            <a:bodyPr rtlCol="0" anchor="ctr"/>
            <a:lstStyle/>
            <a:p>
              <a:endParaRPr lang="en-US" sz="1800"/>
            </a:p>
          </p:txBody>
        </p:sp>
      </p:grpSp>
      <p:sp>
        <p:nvSpPr>
          <p:cNvPr id="33" name="name_2024 sandisk or its affiliates All rights reserved">
            <a:extLst>
              <a:ext uri="{FF2B5EF4-FFF2-40B4-BE49-F238E27FC236}">
                <a16:creationId xmlns:a16="http://schemas.microsoft.com/office/drawing/2014/main" id="{72F8658A-7DDF-1A0E-9043-BDEC07FAFDB0}"/>
              </a:ext>
            </a:extLst>
          </p:cNvPr>
          <p:cNvSpPr txBox="1"/>
          <p:nvPr/>
        </p:nvSpPr>
        <p:spPr>
          <a:xfrm>
            <a:off x="6096000" y="6437971"/>
            <a:ext cx="5803900"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b">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r" defTabSz="609412" hangingPunct="0">
              <a:lnSpc>
                <a:spcPct val="100000"/>
              </a:lnSpc>
            </a:pPr>
            <a:r>
              <a:rPr lang="en-US" sz="1000" b="0" i="0" kern="0" spc="0" baseline="0">
                <a:solidFill>
                  <a:schemeClr val="tx2"/>
                </a:solidFill>
                <a:latin typeface="NB Architekt Pro Neue" panose="02010509020201040001" pitchFamily="49" charset="77"/>
                <a:cs typeface="Consolas" panose="020B0609020204030204" pitchFamily="49" charset="0"/>
              </a:rPr>
              <a:t>©2025 SANDISK CORPORATION OR ITS AFFILIATES ALL RIGHTS RESERVED</a:t>
            </a:r>
          </a:p>
        </p:txBody>
      </p:sp>
      <p:sp>
        <p:nvSpPr>
          <p:cNvPr id="35" name="name_2024 sandisk or its affiliates All rights reserved">
            <a:extLst>
              <a:ext uri="{FF2B5EF4-FFF2-40B4-BE49-F238E27FC236}">
                <a16:creationId xmlns:a16="http://schemas.microsoft.com/office/drawing/2014/main" id="{CBE807D9-F695-A0B4-A653-328CF15F3DD2}"/>
              </a:ext>
            </a:extLst>
          </p:cNvPr>
          <p:cNvSpPr txBox="1"/>
          <p:nvPr/>
        </p:nvSpPr>
        <p:spPr>
          <a:xfrm>
            <a:off x="8997951" y="267518"/>
            <a:ext cx="2242276"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tx1"/>
                </a:solidFill>
                <a:latin typeface="NB Architekt Pro Neue" panose="02010509020201040001" pitchFamily="49" charset="77"/>
                <a:cs typeface="Consolas" panose="020B0609020204030204" pitchFamily="49" charset="0"/>
              </a:rPr>
              <a:t>“START” “REPEAT” “1988/2025”</a:t>
            </a:r>
          </a:p>
        </p:txBody>
      </p:sp>
      <p:sp>
        <p:nvSpPr>
          <p:cNvPr id="36" name="Rectangle 35">
            <a:extLst>
              <a:ext uri="{FF2B5EF4-FFF2-40B4-BE49-F238E27FC236}">
                <a16:creationId xmlns:a16="http://schemas.microsoft.com/office/drawing/2014/main" id="{B57C35AE-61A7-BB1B-B1A0-A6A5B41E1E65}"/>
              </a:ext>
            </a:extLst>
          </p:cNvPr>
          <p:cNvSpPr/>
          <p:nvPr/>
        </p:nvSpPr>
        <p:spPr>
          <a:xfrm>
            <a:off x="11808843" y="296581"/>
            <a:ext cx="91057" cy="9105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8" name="Content Placeholder 8">
            <a:extLst>
              <a:ext uri="{FF2B5EF4-FFF2-40B4-BE49-F238E27FC236}">
                <a16:creationId xmlns:a16="http://schemas.microsoft.com/office/drawing/2014/main" id="{98395796-33AA-51E3-CE74-B5F0900243A6}"/>
              </a:ext>
            </a:extLst>
          </p:cNvPr>
          <p:cNvSpPr>
            <a:spLocks noGrp="1"/>
          </p:cNvSpPr>
          <p:nvPr>
            <p:ph sz="quarter" idx="11" hasCustomPrompt="1"/>
          </p:nvPr>
        </p:nvSpPr>
        <p:spPr>
          <a:xfrm>
            <a:off x="292099" y="2284930"/>
            <a:ext cx="11607801" cy="3885745"/>
          </a:xfrm>
          <a:prstGeom prst="rect">
            <a:avLst/>
          </a:prstGeom>
        </p:spPr>
        <p:txBody>
          <a:bodyPr lIns="0" bIns="0">
            <a:noAutofit/>
          </a:bodyPr>
          <a:lstStyle>
            <a:lvl1pPr marL="292608" indent="-292608">
              <a:lnSpc>
                <a:spcPct val="100000"/>
              </a:lnSpc>
              <a:spcBef>
                <a:spcPts val="0"/>
              </a:spcBef>
              <a:spcAft>
                <a:spcPts val="1000"/>
              </a:spcAft>
              <a:buClrTx/>
              <a:buSzPct val="100000"/>
              <a:buFont typeface="Pilat Regular" panose="020B0604020202020204" pitchFamily="34" charset="0"/>
              <a:buChar char="•"/>
              <a:defRPr sz="2000" spc="0">
                <a:solidFill>
                  <a:schemeClr val="tx1"/>
                </a:solidFill>
              </a:defRPr>
            </a:lvl1pPr>
            <a:lvl2pPr marL="585216" indent="-292608">
              <a:lnSpc>
                <a:spcPct val="100000"/>
              </a:lnSpc>
              <a:spcBef>
                <a:spcPts val="0"/>
              </a:spcBef>
              <a:spcAft>
                <a:spcPts val="1000"/>
              </a:spcAft>
              <a:buClrTx/>
              <a:buSzPct val="100000"/>
              <a:buFont typeface="Pilat Regular" panose="020B0604020202020204" pitchFamily="34" charset="0"/>
              <a:buChar char="•"/>
              <a:defRPr sz="2000" spc="0">
                <a:solidFill>
                  <a:schemeClr val="tx1"/>
                </a:solidFill>
              </a:defRPr>
            </a:lvl2pPr>
            <a:lvl3pPr marL="877824" indent="-292608">
              <a:lnSpc>
                <a:spcPct val="100000"/>
              </a:lnSpc>
              <a:spcBef>
                <a:spcPts val="0"/>
              </a:spcBef>
              <a:spcAft>
                <a:spcPts val="1000"/>
              </a:spcAft>
              <a:buClrTx/>
              <a:buSzPct val="100000"/>
              <a:buFont typeface="Pilat Regular" panose="020B0604020202020204" pitchFamily="34" charset="0"/>
              <a:buChar char="•"/>
              <a:defRPr sz="2000" spc="0">
                <a:solidFill>
                  <a:schemeClr val="tx1"/>
                </a:solidFill>
              </a:defRPr>
            </a:lvl3pPr>
            <a:lvl4pPr marL="1170432" indent="-292608">
              <a:lnSpc>
                <a:spcPct val="100000"/>
              </a:lnSpc>
              <a:spcBef>
                <a:spcPts val="0"/>
              </a:spcBef>
              <a:spcAft>
                <a:spcPts val="1000"/>
              </a:spcAft>
              <a:buClrTx/>
              <a:buSzPct val="100000"/>
              <a:buFont typeface="Pilat Regular" panose="020B0604020202020204" pitchFamily="34" charset="0"/>
              <a:buChar char="•"/>
              <a:defRPr sz="2000" spc="0">
                <a:solidFill>
                  <a:schemeClr val="tx1"/>
                </a:solidFill>
              </a:defRPr>
            </a:lvl4pPr>
            <a:lvl5pPr marL="1463040" indent="-292608">
              <a:lnSpc>
                <a:spcPct val="100000"/>
              </a:lnSpc>
              <a:spcBef>
                <a:spcPts val="0"/>
              </a:spcBef>
              <a:spcAft>
                <a:spcPts val="1000"/>
              </a:spcAft>
              <a:buClrTx/>
              <a:buSzPct val="100000"/>
              <a:buFont typeface="Pilat Regular" panose="020B0604020202020204" pitchFamily="34" charset="0"/>
              <a:buChar char="•"/>
              <a:defRPr sz="2000" spc="0">
                <a:solidFill>
                  <a:schemeClr val="tx1"/>
                </a:solidFill>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94731337"/>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 White">
    <p:bg>
      <p:bgPr>
        <a:solidFill>
          <a:schemeClr val="bg1"/>
        </a:solidFill>
        <a:effectLst/>
      </p:bgPr>
    </p:bg>
    <p:spTree>
      <p:nvGrpSpPr>
        <p:cNvPr id="1" name=""/>
        <p:cNvGrpSpPr/>
        <p:nvPr/>
      </p:nvGrpSpPr>
      <p:grpSpPr>
        <a:xfrm>
          <a:off x="0" y="0"/>
          <a:ext cx="0" cy="0"/>
          <a:chOff x="0" y="0"/>
          <a:chExt cx="0" cy="0"/>
        </a:xfrm>
      </p:grpSpPr>
      <p:sp>
        <p:nvSpPr>
          <p:cNvPr id="5" name="name_2024 sandisk or its affiliates All rights reserved">
            <a:extLst>
              <a:ext uri="{FF2B5EF4-FFF2-40B4-BE49-F238E27FC236}">
                <a16:creationId xmlns:a16="http://schemas.microsoft.com/office/drawing/2014/main" id="{EFFFC07D-0CF9-FFD6-F0CD-D4D74A7F1D23}"/>
              </a:ext>
            </a:extLst>
          </p:cNvPr>
          <p:cNvSpPr txBox="1"/>
          <p:nvPr/>
        </p:nvSpPr>
        <p:spPr>
          <a:xfrm>
            <a:off x="292100" y="267518"/>
            <a:ext cx="1323975"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tx1"/>
                </a:solidFill>
                <a:latin typeface="NB Architekt Pro Neue" panose="02010509020201040001" pitchFamily="49" charset="77"/>
                <a:cs typeface="Consolas" panose="020B0609020204030204" pitchFamily="49" charset="0"/>
              </a:rPr>
              <a:t>[Confidential]</a:t>
            </a:r>
          </a:p>
        </p:txBody>
      </p:sp>
      <p:sp>
        <p:nvSpPr>
          <p:cNvPr id="52" name="Title 1">
            <a:extLst>
              <a:ext uri="{FF2B5EF4-FFF2-40B4-BE49-F238E27FC236}">
                <a16:creationId xmlns:a16="http://schemas.microsoft.com/office/drawing/2014/main" id="{44B28BD3-18EC-FB95-1877-48A10F09B7B0}"/>
              </a:ext>
            </a:extLst>
          </p:cNvPr>
          <p:cNvSpPr>
            <a:spLocks noGrp="1"/>
          </p:cNvSpPr>
          <p:nvPr>
            <p:ph type="title" hasCustomPrompt="1"/>
          </p:nvPr>
        </p:nvSpPr>
        <p:spPr>
          <a:xfrm>
            <a:off x="292100" y="439244"/>
            <a:ext cx="11607800" cy="1425347"/>
          </a:xfrm>
          <a:prstGeom prst="rect">
            <a:avLst/>
          </a:prstGeom>
        </p:spPr>
        <p:txBody>
          <a:bodyPr wrap="square" lIns="0" anchor="b">
            <a:noAutofit/>
          </a:bodyPr>
          <a:lstStyle>
            <a:lvl1pPr>
              <a:lnSpc>
                <a:spcPct val="100000"/>
              </a:lnSpc>
              <a:defRPr sz="3000" b="0" spc="0" baseline="0">
                <a:solidFill>
                  <a:schemeClr val="tx1"/>
                </a:solidFill>
                <a:latin typeface="+mj-lt"/>
              </a:defRPr>
            </a:lvl1pPr>
          </a:lstStyle>
          <a:p>
            <a:r>
              <a:rPr lang="en-US"/>
              <a:t>CLICK TO ADD TITLE</a:t>
            </a:r>
          </a:p>
        </p:txBody>
      </p:sp>
      <p:sp>
        <p:nvSpPr>
          <p:cNvPr id="3" name="Slide Number Placeholder 5">
            <a:extLst>
              <a:ext uri="{FF2B5EF4-FFF2-40B4-BE49-F238E27FC236}">
                <a16:creationId xmlns:a16="http://schemas.microsoft.com/office/drawing/2014/main" id="{2809DECB-5936-5428-8883-81380D690903}"/>
              </a:ext>
            </a:extLst>
          </p:cNvPr>
          <p:cNvSpPr>
            <a:spLocks noGrp="1"/>
          </p:cNvSpPr>
          <p:nvPr>
            <p:ph type="sldNum" sz="quarter" idx="4"/>
          </p:nvPr>
        </p:nvSpPr>
        <p:spPr>
          <a:xfrm>
            <a:off x="3194050" y="6455472"/>
            <a:ext cx="855221" cy="118872"/>
          </a:xfrm>
          <a:prstGeom prst="rect">
            <a:avLst/>
          </a:prstGeom>
        </p:spPr>
        <p:txBody>
          <a:bodyPr vert="horz" lIns="0" tIns="0" rIns="0" bIns="0" rtlCol="0" anchor="ctr"/>
          <a:lstStyle>
            <a:lvl1pPr algn="l">
              <a:defRPr sz="1000" b="0" i="0" spc="0" baseline="0">
                <a:solidFill>
                  <a:schemeClr val="tx1"/>
                </a:solidFill>
                <a:latin typeface="NB Architekt Pro Neue" panose="02010509020201040001" pitchFamily="49" charset="77"/>
                <a:cs typeface="Consolas" panose="020B0609020204030204" pitchFamily="49" charset="0"/>
              </a:defRPr>
            </a:lvl1pPr>
          </a:lstStyle>
          <a:p>
            <a:r>
              <a:rPr lang="en-US"/>
              <a:t>00.0</a:t>
            </a:r>
            <a:fld id="{4571BA12-316B-0A40-BB3D-1A8CDD33E9E5}" type="slidenum">
              <a:rPr lang="en-US" smtClean="0"/>
              <a:pPr/>
              <a:t>‹#›</a:t>
            </a:fld>
            <a:endParaRPr lang="en-US"/>
          </a:p>
        </p:txBody>
      </p:sp>
      <p:grpSp>
        <p:nvGrpSpPr>
          <p:cNvPr id="12" name="Group 11">
            <a:extLst>
              <a:ext uri="{FF2B5EF4-FFF2-40B4-BE49-F238E27FC236}">
                <a16:creationId xmlns:a16="http://schemas.microsoft.com/office/drawing/2014/main" id="{68F43665-ADE7-01E8-0170-7FE3F702A28E}"/>
              </a:ext>
            </a:extLst>
          </p:cNvPr>
          <p:cNvGrpSpPr>
            <a:grpSpLocks noChangeAspect="1"/>
          </p:cNvGrpSpPr>
          <p:nvPr/>
        </p:nvGrpSpPr>
        <p:grpSpPr>
          <a:xfrm>
            <a:off x="297027" y="6344485"/>
            <a:ext cx="2240280" cy="218081"/>
            <a:chOff x="8480170" y="7684742"/>
            <a:chExt cx="1031076" cy="102566"/>
          </a:xfrm>
          <a:solidFill>
            <a:schemeClr val="accent3"/>
          </a:solidFill>
        </p:grpSpPr>
        <p:sp>
          <p:nvSpPr>
            <p:cNvPr id="13" name="Freeform 12">
              <a:extLst>
                <a:ext uri="{FF2B5EF4-FFF2-40B4-BE49-F238E27FC236}">
                  <a16:creationId xmlns:a16="http://schemas.microsoft.com/office/drawing/2014/main" id="{E697CA37-B9D0-BF99-9E1D-F0FE058DA195}"/>
                </a:ext>
              </a:extLst>
            </p:cNvPr>
            <p:cNvSpPr/>
            <p:nvPr/>
          </p:nvSpPr>
          <p:spPr>
            <a:xfrm>
              <a:off x="8788109" y="7684742"/>
              <a:ext cx="128019" cy="102565"/>
            </a:xfrm>
            <a:custGeom>
              <a:avLst/>
              <a:gdLst>
                <a:gd name="connsiteX0" fmla="*/ 102070 w 128019"/>
                <a:gd name="connsiteY0" fmla="*/ 70104 h 102565"/>
                <a:gd name="connsiteX1" fmla="*/ 96188 w 128019"/>
                <a:gd name="connsiteY1" fmla="*/ 77011 h 102565"/>
                <a:gd name="connsiteX2" fmla="*/ 89268 w 128019"/>
                <a:gd name="connsiteY2" fmla="*/ 72521 h 102565"/>
                <a:gd name="connsiteX3" fmla="*/ 65740 w 128019"/>
                <a:gd name="connsiteY3" fmla="*/ 8288 h 102565"/>
                <a:gd name="connsiteX4" fmla="*/ 54668 w 128019"/>
                <a:gd name="connsiteY4" fmla="*/ 0 h 102565"/>
                <a:gd name="connsiteX5" fmla="*/ 0 w 128019"/>
                <a:gd name="connsiteY5" fmla="*/ 0 h 102565"/>
                <a:gd name="connsiteX6" fmla="*/ 0 w 128019"/>
                <a:gd name="connsiteY6" fmla="*/ 102221 h 102565"/>
                <a:gd name="connsiteX7" fmla="*/ 40136 w 128019"/>
                <a:gd name="connsiteY7" fmla="*/ 102221 h 102565"/>
                <a:gd name="connsiteX8" fmla="*/ 40136 w 128019"/>
                <a:gd name="connsiteY8" fmla="*/ 76665 h 102565"/>
                <a:gd name="connsiteX9" fmla="*/ 32870 w 128019"/>
                <a:gd name="connsiteY9" fmla="*/ 76665 h 102565"/>
                <a:gd name="connsiteX10" fmla="*/ 25604 w 128019"/>
                <a:gd name="connsiteY10" fmla="*/ 67687 h 102565"/>
                <a:gd name="connsiteX11" fmla="*/ 25604 w 128019"/>
                <a:gd name="connsiteY11" fmla="*/ 36951 h 102565"/>
                <a:gd name="connsiteX12" fmla="*/ 39790 w 128019"/>
                <a:gd name="connsiteY12" fmla="*/ 26591 h 102565"/>
                <a:gd name="connsiteX13" fmla="*/ 45672 w 128019"/>
                <a:gd name="connsiteY13" fmla="*/ 32807 h 102565"/>
                <a:gd name="connsiteX14" fmla="*/ 64356 w 128019"/>
                <a:gd name="connsiteY14" fmla="*/ 81500 h 102565"/>
                <a:gd name="connsiteX15" fmla="*/ 95150 w 128019"/>
                <a:gd name="connsiteY15" fmla="*/ 102566 h 102565"/>
                <a:gd name="connsiteX16" fmla="*/ 95842 w 128019"/>
                <a:gd name="connsiteY16" fmla="*/ 102566 h 102565"/>
                <a:gd name="connsiteX17" fmla="*/ 128020 w 128019"/>
                <a:gd name="connsiteY17" fmla="*/ 70795 h 102565"/>
                <a:gd name="connsiteX18" fmla="*/ 128020 w 128019"/>
                <a:gd name="connsiteY18" fmla="*/ 345 h 102565"/>
                <a:gd name="connsiteX19" fmla="*/ 102416 w 128019"/>
                <a:gd name="connsiteY19" fmla="*/ 345 h 102565"/>
                <a:gd name="connsiteX20" fmla="*/ 102416 w 128019"/>
                <a:gd name="connsiteY20" fmla="*/ 70104 h 102565"/>
                <a:gd name="connsiteX21" fmla="*/ 102416 w 128019"/>
                <a:gd name="connsiteY21" fmla="*/ 70104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8019" h="102565">
                  <a:moveTo>
                    <a:pt x="102070" y="70104"/>
                  </a:moveTo>
                  <a:cubicBezTo>
                    <a:pt x="102070" y="73557"/>
                    <a:pt x="99648" y="76665"/>
                    <a:pt x="96188" y="77011"/>
                  </a:cubicBezTo>
                  <a:cubicBezTo>
                    <a:pt x="93074" y="77356"/>
                    <a:pt x="90306" y="75629"/>
                    <a:pt x="89268" y="72521"/>
                  </a:cubicBezTo>
                  <a:lnTo>
                    <a:pt x="65740" y="8288"/>
                  </a:lnTo>
                  <a:cubicBezTo>
                    <a:pt x="64010" y="3108"/>
                    <a:pt x="59858" y="0"/>
                    <a:pt x="54668" y="0"/>
                  </a:cubicBezTo>
                  <a:lnTo>
                    <a:pt x="0" y="0"/>
                  </a:lnTo>
                  <a:lnTo>
                    <a:pt x="0" y="102221"/>
                  </a:lnTo>
                  <a:lnTo>
                    <a:pt x="40136" y="102221"/>
                  </a:lnTo>
                  <a:lnTo>
                    <a:pt x="40136" y="76665"/>
                  </a:lnTo>
                  <a:lnTo>
                    <a:pt x="32870" y="76665"/>
                  </a:lnTo>
                  <a:cubicBezTo>
                    <a:pt x="28026" y="76665"/>
                    <a:pt x="25604" y="72521"/>
                    <a:pt x="25604" y="67687"/>
                  </a:cubicBezTo>
                  <a:lnTo>
                    <a:pt x="25604" y="36951"/>
                  </a:lnTo>
                  <a:cubicBezTo>
                    <a:pt x="25604" y="29354"/>
                    <a:pt x="32870" y="23828"/>
                    <a:pt x="39790" y="26591"/>
                  </a:cubicBezTo>
                  <a:cubicBezTo>
                    <a:pt x="42212" y="27627"/>
                    <a:pt x="44634" y="30045"/>
                    <a:pt x="45672" y="32807"/>
                  </a:cubicBezTo>
                  <a:lnTo>
                    <a:pt x="64356" y="81500"/>
                  </a:lnTo>
                  <a:cubicBezTo>
                    <a:pt x="69200" y="94278"/>
                    <a:pt x="81310" y="102566"/>
                    <a:pt x="95150" y="102566"/>
                  </a:cubicBezTo>
                  <a:lnTo>
                    <a:pt x="95842" y="102566"/>
                  </a:lnTo>
                  <a:cubicBezTo>
                    <a:pt x="113488" y="102566"/>
                    <a:pt x="128020" y="88407"/>
                    <a:pt x="128020" y="70795"/>
                  </a:cubicBezTo>
                  <a:lnTo>
                    <a:pt x="128020" y="345"/>
                  </a:lnTo>
                  <a:lnTo>
                    <a:pt x="102416" y="345"/>
                  </a:lnTo>
                  <a:lnTo>
                    <a:pt x="102416" y="70104"/>
                  </a:lnTo>
                  <a:lnTo>
                    <a:pt x="102416" y="70104"/>
                  </a:lnTo>
                  <a:close/>
                </a:path>
              </a:pathLst>
            </a:custGeom>
            <a:grpFill/>
            <a:ln w="3458" cap="flat">
              <a:noFill/>
              <a:prstDash val="solid"/>
              <a:miter/>
            </a:ln>
          </p:spPr>
          <p:txBody>
            <a:bodyPr rtlCol="0" anchor="ctr"/>
            <a:lstStyle/>
            <a:p>
              <a:endParaRPr lang="en-US" sz="1800"/>
            </a:p>
          </p:txBody>
        </p:sp>
        <p:sp>
          <p:nvSpPr>
            <p:cNvPr id="14" name="Freeform 13">
              <a:extLst>
                <a:ext uri="{FF2B5EF4-FFF2-40B4-BE49-F238E27FC236}">
                  <a16:creationId xmlns:a16="http://schemas.microsoft.com/office/drawing/2014/main" id="{FFF59A5B-6547-4923-2DCD-3DEE1DBF56E7}"/>
                </a:ext>
              </a:extLst>
            </p:cNvPr>
            <p:cNvSpPr/>
            <p:nvPr/>
          </p:nvSpPr>
          <p:spPr>
            <a:xfrm>
              <a:off x="8941733" y="7685087"/>
              <a:ext cx="128019" cy="102220"/>
            </a:xfrm>
            <a:custGeom>
              <a:avLst/>
              <a:gdLst>
                <a:gd name="connsiteX0" fmla="*/ 76812 w 128019"/>
                <a:gd name="connsiteY0" fmla="*/ 0 h 102220"/>
                <a:gd name="connsiteX1" fmla="*/ 0 w 128019"/>
                <a:gd name="connsiteY1" fmla="*/ 0 h 102220"/>
                <a:gd name="connsiteX2" fmla="*/ 0 w 128019"/>
                <a:gd name="connsiteY2" fmla="*/ 25555 h 102220"/>
                <a:gd name="connsiteX3" fmla="*/ 76812 w 128019"/>
                <a:gd name="connsiteY3" fmla="*/ 25555 h 102220"/>
                <a:gd name="connsiteX4" fmla="*/ 102416 w 128019"/>
                <a:gd name="connsiteY4" fmla="*/ 51110 h 102220"/>
                <a:gd name="connsiteX5" fmla="*/ 76812 w 128019"/>
                <a:gd name="connsiteY5" fmla="*/ 76665 h 102220"/>
                <a:gd name="connsiteX6" fmla="*/ 0 w 128019"/>
                <a:gd name="connsiteY6" fmla="*/ 76665 h 102220"/>
                <a:gd name="connsiteX7" fmla="*/ 0 w 128019"/>
                <a:gd name="connsiteY7" fmla="*/ 102221 h 102220"/>
                <a:gd name="connsiteX8" fmla="*/ 76812 w 128019"/>
                <a:gd name="connsiteY8" fmla="*/ 102221 h 102220"/>
                <a:gd name="connsiteX9" fmla="*/ 121792 w 128019"/>
                <a:gd name="connsiteY9" fmla="*/ 75629 h 102220"/>
                <a:gd name="connsiteX10" fmla="*/ 128020 w 128019"/>
                <a:gd name="connsiteY10" fmla="*/ 51110 h 102220"/>
                <a:gd name="connsiteX11" fmla="*/ 121792 w 128019"/>
                <a:gd name="connsiteY11" fmla="*/ 26591 h 102220"/>
                <a:gd name="connsiteX12" fmla="*/ 76812 w 128019"/>
                <a:gd name="connsiteY12" fmla="*/ 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8019" h="102220">
                  <a:moveTo>
                    <a:pt x="76812" y="0"/>
                  </a:moveTo>
                  <a:lnTo>
                    <a:pt x="0" y="0"/>
                  </a:lnTo>
                  <a:lnTo>
                    <a:pt x="0" y="25555"/>
                  </a:lnTo>
                  <a:lnTo>
                    <a:pt x="76812" y="25555"/>
                  </a:lnTo>
                  <a:cubicBezTo>
                    <a:pt x="90306" y="25555"/>
                    <a:pt x="102416" y="37297"/>
                    <a:pt x="102416" y="51110"/>
                  </a:cubicBezTo>
                  <a:cubicBezTo>
                    <a:pt x="102416" y="64924"/>
                    <a:pt x="90652" y="76665"/>
                    <a:pt x="76812" y="76665"/>
                  </a:cubicBezTo>
                  <a:lnTo>
                    <a:pt x="0" y="76665"/>
                  </a:lnTo>
                  <a:lnTo>
                    <a:pt x="0" y="102221"/>
                  </a:lnTo>
                  <a:lnTo>
                    <a:pt x="76812" y="102221"/>
                  </a:lnTo>
                  <a:cubicBezTo>
                    <a:pt x="96188" y="102221"/>
                    <a:pt x="113142" y="91515"/>
                    <a:pt x="121792" y="75629"/>
                  </a:cubicBezTo>
                  <a:cubicBezTo>
                    <a:pt x="125598" y="68377"/>
                    <a:pt x="128020" y="59744"/>
                    <a:pt x="128020" y="51110"/>
                  </a:cubicBezTo>
                  <a:cubicBezTo>
                    <a:pt x="128020" y="42477"/>
                    <a:pt x="125598" y="33843"/>
                    <a:pt x="121792" y="26591"/>
                  </a:cubicBezTo>
                  <a:cubicBezTo>
                    <a:pt x="113142" y="10706"/>
                    <a:pt x="96188" y="0"/>
                    <a:pt x="76812" y="0"/>
                  </a:cubicBezTo>
                  <a:close/>
                </a:path>
              </a:pathLst>
            </a:custGeom>
            <a:grpFill/>
            <a:ln w="3458" cap="flat">
              <a:noFill/>
              <a:prstDash val="solid"/>
              <a:miter/>
            </a:ln>
          </p:spPr>
          <p:txBody>
            <a:bodyPr rtlCol="0" anchor="ctr"/>
            <a:lstStyle/>
            <a:p>
              <a:endParaRPr lang="en-US" sz="1800"/>
            </a:p>
          </p:txBody>
        </p:sp>
        <p:sp>
          <p:nvSpPr>
            <p:cNvPr id="22" name="Freeform 21">
              <a:extLst>
                <a:ext uri="{FF2B5EF4-FFF2-40B4-BE49-F238E27FC236}">
                  <a16:creationId xmlns:a16="http://schemas.microsoft.com/office/drawing/2014/main" id="{A6622E23-4806-0482-605D-D57F8001076F}"/>
                </a:ext>
              </a:extLst>
            </p:cNvPr>
            <p:cNvSpPr/>
            <p:nvPr/>
          </p:nvSpPr>
          <p:spPr>
            <a:xfrm>
              <a:off x="9080478" y="7685087"/>
              <a:ext cx="40481" cy="102220"/>
            </a:xfrm>
            <a:custGeom>
              <a:avLst/>
              <a:gdLst>
                <a:gd name="connsiteX0" fmla="*/ 5190 w 40481"/>
                <a:gd name="connsiteY0" fmla="*/ 25555 h 102220"/>
                <a:gd name="connsiteX1" fmla="*/ 7266 w 40481"/>
                <a:gd name="connsiteY1" fmla="*/ 25555 h 102220"/>
                <a:gd name="connsiteX2" fmla="*/ 14878 w 40481"/>
                <a:gd name="connsiteY2" fmla="*/ 35225 h 102220"/>
                <a:gd name="connsiteX3" fmla="*/ 14878 w 40481"/>
                <a:gd name="connsiteY3" fmla="*/ 102221 h 102220"/>
                <a:gd name="connsiteX4" fmla="*/ 40482 w 40481"/>
                <a:gd name="connsiteY4" fmla="*/ 102221 h 102220"/>
                <a:gd name="connsiteX5" fmla="*/ 40482 w 40481"/>
                <a:gd name="connsiteY5" fmla="*/ 0 h 102220"/>
                <a:gd name="connsiteX6" fmla="*/ 0 w 40481"/>
                <a:gd name="connsiteY6" fmla="*/ 0 h 102220"/>
                <a:gd name="connsiteX7" fmla="*/ 0 w 40481"/>
                <a:gd name="connsiteY7" fmla="*/ 25555 h 102220"/>
                <a:gd name="connsiteX8" fmla="*/ 5536 w 40481"/>
                <a:gd name="connsiteY8" fmla="*/ 25555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481" h="102220">
                  <a:moveTo>
                    <a:pt x="5190" y="25555"/>
                  </a:moveTo>
                  <a:cubicBezTo>
                    <a:pt x="5882" y="25555"/>
                    <a:pt x="6574" y="25555"/>
                    <a:pt x="7266" y="25555"/>
                  </a:cubicBezTo>
                  <a:cubicBezTo>
                    <a:pt x="12110" y="26246"/>
                    <a:pt x="14878" y="30045"/>
                    <a:pt x="14878" y="35225"/>
                  </a:cubicBezTo>
                  <a:lnTo>
                    <a:pt x="14878" y="102221"/>
                  </a:lnTo>
                  <a:lnTo>
                    <a:pt x="40482" y="102221"/>
                  </a:lnTo>
                  <a:lnTo>
                    <a:pt x="40482" y="0"/>
                  </a:lnTo>
                  <a:lnTo>
                    <a:pt x="0" y="0"/>
                  </a:lnTo>
                  <a:lnTo>
                    <a:pt x="0" y="25555"/>
                  </a:lnTo>
                  <a:lnTo>
                    <a:pt x="5536" y="25555"/>
                  </a:lnTo>
                  <a:close/>
                </a:path>
              </a:pathLst>
            </a:custGeom>
            <a:grpFill/>
            <a:ln w="3458" cap="flat">
              <a:noFill/>
              <a:prstDash val="solid"/>
              <a:miter/>
            </a:ln>
          </p:spPr>
          <p:txBody>
            <a:bodyPr rtlCol="0" anchor="ctr"/>
            <a:lstStyle/>
            <a:p>
              <a:endParaRPr lang="en-US" sz="1800"/>
            </a:p>
          </p:txBody>
        </p:sp>
        <p:sp>
          <p:nvSpPr>
            <p:cNvPr id="23" name="Freeform 22">
              <a:extLst>
                <a:ext uri="{FF2B5EF4-FFF2-40B4-BE49-F238E27FC236}">
                  <a16:creationId xmlns:a16="http://schemas.microsoft.com/office/drawing/2014/main" id="{A7F6BAB7-1CE0-3383-B22D-2451C12477C0}"/>
                </a:ext>
              </a:extLst>
            </p:cNvPr>
            <p:cNvSpPr/>
            <p:nvPr/>
          </p:nvSpPr>
          <p:spPr>
            <a:xfrm>
              <a:off x="9146218" y="7685087"/>
              <a:ext cx="128365" cy="102220"/>
            </a:xfrm>
            <a:custGeom>
              <a:avLst/>
              <a:gdLst>
                <a:gd name="connsiteX0" fmla="*/ 128365 w 128365"/>
                <a:gd name="connsiteY0" fmla="*/ 81846 h 102220"/>
                <a:gd name="connsiteX1" fmla="*/ 128365 w 128365"/>
                <a:gd name="connsiteY1" fmla="*/ 102221 h 102220"/>
                <a:gd name="connsiteX2" fmla="*/ 19722 w 128365"/>
                <a:gd name="connsiteY2" fmla="*/ 60780 h 102220"/>
                <a:gd name="connsiteX3" fmla="*/ 0 w 128365"/>
                <a:gd name="connsiteY3" fmla="*/ 30735 h 102220"/>
                <a:gd name="connsiteX4" fmla="*/ 31140 w 128365"/>
                <a:gd name="connsiteY4" fmla="*/ 0 h 102220"/>
                <a:gd name="connsiteX5" fmla="*/ 128020 w 128365"/>
                <a:gd name="connsiteY5" fmla="*/ 0 h 102220"/>
                <a:gd name="connsiteX6" fmla="*/ 128020 w 128365"/>
                <a:gd name="connsiteY6" fmla="*/ 40059 h 102220"/>
                <a:gd name="connsiteX7" fmla="*/ 102416 w 128365"/>
                <a:gd name="connsiteY7" fmla="*/ 40059 h 102220"/>
                <a:gd name="connsiteX8" fmla="*/ 102416 w 128365"/>
                <a:gd name="connsiteY8" fmla="*/ 32807 h 102220"/>
                <a:gd name="connsiteX9" fmla="*/ 94458 w 128365"/>
                <a:gd name="connsiteY9" fmla="*/ 25555 h 102220"/>
                <a:gd name="connsiteX10" fmla="*/ 37714 w 128365"/>
                <a:gd name="connsiteY10" fmla="*/ 25555 h 102220"/>
                <a:gd name="connsiteX11" fmla="*/ 29756 w 128365"/>
                <a:gd name="connsiteY11" fmla="*/ 33498 h 102220"/>
                <a:gd name="connsiteX12" fmla="*/ 34946 w 128365"/>
                <a:gd name="connsiteY12" fmla="*/ 41095 h 102220"/>
                <a:gd name="connsiteX13" fmla="*/ 119370 w 128365"/>
                <a:gd name="connsiteY13" fmla="*/ 70795 h 102220"/>
                <a:gd name="connsiteX14" fmla="*/ 127674 w 128365"/>
                <a:gd name="connsiteY14"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8365" h="102220">
                  <a:moveTo>
                    <a:pt x="128365" y="81846"/>
                  </a:moveTo>
                  <a:lnTo>
                    <a:pt x="128365"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close/>
                </a:path>
              </a:pathLst>
            </a:custGeom>
            <a:grpFill/>
            <a:ln w="3458" cap="flat">
              <a:noFill/>
              <a:prstDash val="solid"/>
              <a:miter/>
            </a:ln>
          </p:spPr>
          <p:txBody>
            <a:bodyPr rtlCol="0" anchor="ctr"/>
            <a:lstStyle/>
            <a:p>
              <a:endParaRPr lang="en-US" sz="1800"/>
            </a:p>
          </p:txBody>
        </p:sp>
        <p:sp>
          <p:nvSpPr>
            <p:cNvPr id="24" name="Freeform 23">
              <a:extLst>
                <a:ext uri="{FF2B5EF4-FFF2-40B4-BE49-F238E27FC236}">
                  <a16:creationId xmlns:a16="http://schemas.microsoft.com/office/drawing/2014/main" id="{9869B75A-4312-079A-DB76-312B5FF8A041}"/>
                </a:ext>
              </a:extLst>
            </p:cNvPr>
            <p:cNvSpPr/>
            <p:nvPr/>
          </p:nvSpPr>
          <p:spPr>
            <a:xfrm>
              <a:off x="9146564" y="7761753"/>
              <a:ext cx="25258" cy="25555"/>
            </a:xfrm>
            <a:custGeom>
              <a:avLst/>
              <a:gdLst>
                <a:gd name="connsiteX0" fmla="*/ 25258 w 25258"/>
                <a:gd name="connsiteY0" fmla="*/ 0 h 25555"/>
                <a:gd name="connsiteX1" fmla="*/ 0 w 25258"/>
                <a:gd name="connsiteY1" fmla="*/ 0 h 25555"/>
                <a:gd name="connsiteX2" fmla="*/ 0 w 25258"/>
                <a:gd name="connsiteY2" fmla="*/ 25555 h 25555"/>
                <a:gd name="connsiteX3" fmla="*/ 25258 w 25258"/>
                <a:gd name="connsiteY3" fmla="*/ 25555 h 25555"/>
                <a:gd name="connsiteX4" fmla="*/ 25258 w 25258"/>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8"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25" name="Freeform 24">
              <a:extLst>
                <a:ext uri="{FF2B5EF4-FFF2-40B4-BE49-F238E27FC236}">
                  <a16:creationId xmlns:a16="http://schemas.microsoft.com/office/drawing/2014/main" id="{003CCD0F-6B57-E374-3261-B843A2B9E98C}"/>
                </a:ext>
              </a:extLst>
            </p:cNvPr>
            <p:cNvSpPr/>
            <p:nvPr/>
          </p:nvSpPr>
          <p:spPr>
            <a:xfrm>
              <a:off x="8480170" y="7685087"/>
              <a:ext cx="128019" cy="102220"/>
            </a:xfrm>
            <a:custGeom>
              <a:avLst/>
              <a:gdLst>
                <a:gd name="connsiteX0" fmla="*/ 128020 w 128019"/>
                <a:gd name="connsiteY0" fmla="*/ 81846 h 102220"/>
                <a:gd name="connsiteX1" fmla="*/ 128020 w 128019"/>
                <a:gd name="connsiteY1" fmla="*/ 102221 h 102220"/>
                <a:gd name="connsiteX2" fmla="*/ 19722 w 128019"/>
                <a:gd name="connsiteY2" fmla="*/ 60780 h 102220"/>
                <a:gd name="connsiteX3" fmla="*/ 0 w 128019"/>
                <a:gd name="connsiteY3" fmla="*/ 30735 h 102220"/>
                <a:gd name="connsiteX4" fmla="*/ 31140 w 128019"/>
                <a:gd name="connsiteY4" fmla="*/ 0 h 102220"/>
                <a:gd name="connsiteX5" fmla="*/ 128020 w 128019"/>
                <a:gd name="connsiteY5" fmla="*/ 0 h 102220"/>
                <a:gd name="connsiteX6" fmla="*/ 128020 w 128019"/>
                <a:gd name="connsiteY6" fmla="*/ 40059 h 102220"/>
                <a:gd name="connsiteX7" fmla="*/ 102416 w 128019"/>
                <a:gd name="connsiteY7" fmla="*/ 40059 h 102220"/>
                <a:gd name="connsiteX8" fmla="*/ 102416 w 128019"/>
                <a:gd name="connsiteY8" fmla="*/ 32807 h 102220"/>
                <a:gd name="connsiteX9" fmla="*/ 94458 w 128019"/>
                <a:gd name="connsiteY9" fmla="*/ 25555 h 102220"/>
                <a:gd name="connsiteX10" fmla="*/ 37714 w 128019"/>
                <a:gd name="connsiteY10" fmla="*/ 25555 h 102220"/>
                <a:gd name="connsiteX11" fmla="*/ 29756 w 128019"/>
                <a:gd name="connsiteY11" fmla="*/ 33498 h 102220"/>
                <a:gd name="connsiteX12" fmla="*/ 34946 w 128019"/>
                <a:gd name="connsiteY12" fmla="*/ 41095 h 102220"/>
                <a:gd name="connsiteX13" fmla="*/ 119370 w 128019"/>
                <a:gd name="connsiteY13" fmla="*/ 70795 h 102220"/>
                <a:gd name="connsiteX14" fmla="*/ 127674 w 128019"/>
                <a:gd name="connsiteY14" fmla="*/ 81846 h 102220"/>
                <a:gd name="connsiteX15" fmla="*/ 127674 w 128019"/>
                <a:gd name="connsiteY15"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8019" h="102220">
                  <a:moveTo>
                    <a:pt x="128020" y="81846"/>
                  </a:moveTo>
                  <a:lnTo>
                    <a:pt x="128020"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lnTo>
                    <a:pt x="127674" y="81846"/>
                  </a:lnTo>
                  <a:close/>
                </a:path>
              </a:pathLst>
            </a:custGeom>
            <a:grpFill/>
            <a:ln w="3458" cap="flat">
              <a:noFill/>
              <a:prstDash val="solid"/>
              <a:miter/>
            </a:ln>
          </p:spPr>
          <p:txBody>
            <a:bodyPr rtlCol="0" anchor="ctr"/>
            <a:lstStyle/>
            <a:p>
              <a:endParaRPr lang="en-US" sz="1800"/>
            </a:p>
          </p:txBody>
        </p:sp>
        <p:sp>
          <p:nvSpPr>
            <p:cNvPr id="26" name="Freeform 25">
              <a:extLst>
                <a:ext uri="{FF2B5EF4-FFF2-40B4-BE49-F238E27FC236}">
                  <a16:creationId xmlns:a16="http://schemas.microsoft.com/office/drawing/2014/main" id="{82B70F33-1D4C-8DC0-1F38-B911C8D81BE7}"/>
                </a:ext>
              </a:extLst>
            </p:cNvPr>
            <p:cNvSpPr/>
            <p:nvPr/>
          </p:nvSpPr>
          <p:spPr>
            <a:xfrm>
              <a:off x="8480516" y="7761753"/>
              <a:ext cx="25257" cy="25555"/>
            </a:xfrm>
            <a:custGeom>
              <a:avLst/>
              <a:gdLst>
                <a:gd name="connsiteX0" fmla="*/ 25258 w 25257"/>
                <a:gd name="connsiteY0" fmla="*/ 0 h 25555"/>
                <a:gd name="connsiteX1" fmla="*/ 0 w 25257"/>
                <a:gd name="connsiteY1" fmla="*/ 0 h 25555"/>
                <a:gd name="connsiteX2" fmla="*/ 0 w 25257"/>
                <a:gd name="connsiteY2" fmla="*/ 25555 h 25555"/>
                <a:gd name="connsiteX3" fmla="*/ 25258 w 25257"/>
                <a:gd name="connsiteY3" fmla="*/ 25555 h 25555"/>
                <a:gd name="connsiteX4" fmla="*/ 25258 w 25257"/>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7"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27" name="Freeform 26">
              <a:extLst>
                <a:ext uri="{FF2B5EF4-FFF2-40B4-BE49-F238E27FC236}">
                  <a16:creationId xmlns:a16="http://schemas.microsoft.com/office/drawing/2014/main" id="{39FBC49B-A162-7935-10EF-6FBAF8003975}"/>
                </a:ext>
              </a:extLst>
            </p:cNvPr>
            <p:cNvSpPr/>
            <p:nvPr/>
          </p:nvSpPr>
          <p:spPr>
            <a:xfrm>
              <a:off x="9300533" y="7685087"/>
              <a:ext cx="128019" cy="102220"/>
            </a:xfrm>
            <a:custGeom>
              <a:avLst/>
              <a:gdLst>
                <a:gd name="connsiteX0" fmla="*/ 128020 w 128019"/>
                <a:gd name="connsiteY0" fmla="*/ 25555 h 102220"/>
                <a:gd name="connsiteX1" fmla="*/ 128020 w 128019"/>
                <a:gd name="connsiteY1" fmla="*/ 0 h 102220"/>
                <a:gd name="connsiteX2" fmla="*/ 105530 w 128019"/>
                <a:gd name="connsiteY2" fmla="*/ 0 h 102220"/>
                <a:gd name="connsiteX3" fmla="*/ 100686 w 128019"/>
                <a:gd name="connsiteY3" fmla="*/ 1727 h 102220"/>
                <a:gd name="connsiteX4" fmla="*/ 60550 w 128019"/>
                <a:gd name="connsiteY4" fmla="*/ 37987 h 102220"/>
                <a:gd name="connsiteX5" fmla="*/ 56398 w 128019"/>
                <a:gd name="connsiteY5" fmla="*/ 39714 h 102220"/>
                <a:gd name="connsiteX6" fmla="*/ 28372 w 128019"/>
                <a:gd name="connsiteY6" fmla="*/ 39714 h 102220"/>
                <a:gd name="connsiteX7" fmla="*/ 25258 w 128019"/>
                <a:gd name="connsiteY7" fmla="*/ 36606 h 102220"/>
                <a:gd name="connsiteX8" fmla="*/ 25258 w 128019"/>
                <a:gd name="connsiteY8" fmla="*/ 0 h 102220"/>
                <a:gd name="connsiteX9" fmla="*/ 0 w 128019"/>
                <a:gd name="connsiteY9" fmla="*/ 0 h 102220"/>
                <a:gd name="connsiteX10" fmla="*/ 0 w 128019"/>
                <a:gd name="connsiteY10" fmla="*/ 102221 h 102220"/>
                <a:gd name="connsiteX11" fmla="*/ 25258 w 128019"/>
                <a:gd name="connsiteY11" fmla="*/ 102221 h 102220"/>
                <a:gd name="connsiteX12" fmla="*/ 25258 w 128019"/>
                <a:gd name="connsiteY12" fmla="*/ 65615 h 102220"/>
                <a:gd name="connsiteX13" fmla="*/ 28372 w 128019"/>
                <a:gd name="connsiteY13" fmla="*/ 62507 h 102220"/>
                <a:gd name="connsiteX14" fmla="*/ 56398 w 128019"/>
                <a:gd name="connsiteY14" fmla="*/ 62507 h 102220"/>
                <a:gd name="connsiteX15" fmla="*/ 60550 w 128019"/>
                <a:gd name="connsiteY15" fmla="*/ 64233 h 102220"/>
                <a:gd name="connsiteX16" fmla="*/ 100686 w 128019"/>
                <a:gd name="connsiteY16" fmla="*/ 100494 h 102220"/>
                <a:gd name="connsiteX17" fmla="*/ 105530 w 128019"/>
                <a:gd name="connsiteY17" fmla="*/ 102221 h 102220"/>
                <a:gd name="connsiteX18" fmla="*/ 128020 w 128019"/>
                <a:gd name="connsiteY18" fmla="*/ 102221 h 102220"/>
                <a:gd name="connsiteX19" fmla="*/ 128020 w 128019"/>
                <a:gd name="connsiteY19" fmla="*/ 76665 h 102220"/>
                <a:gd name="connsiteX20" fmla="*/ 115564 w 128019"/>
                <a:gd name="connsiteY20" fmla="*/ 76665 h 102220"/>
                <a:gd name="connsiteX21" fmla="*/ 105184 w 128019"/>
                <a:gd name="connsiteY21" fmla="*/ 72867 h 102220"/>
                <a:gd name="connsiteX22" fmla="*/ 86154 w 128019"/>
                <a:gd name="connsiteY22" fmla="*/ 55945 h 102220"/>
                <a:gd name="connsiteX23" fmla="*/ 86154 w 128019"/>
                <a:gd name="connsiteY23" fmla="*/ 45930 h 102220"/>
                <a:gd name="connsiteX24" fmla="*/ 105184 w 128019"/>
                <a:gd name="connsiteY24" fmla="*/ 29009 h 102220"/>
                <a:gd name="connsiteX25" fmla="*/ 115564 w 128019"/>
                <a:gd name="connsiteY25" fmla="*/ 25210 h 102220"/>
                <a:gd name="connsiteX26" fmla="*/ 128020 w 128019"/>
                <a:gd name="connsiteY26" fmla="*/ 2521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8019" h="102220">
                  <a:moveTo>
                    <a:pt x="128020" y="25555"/>
                  </a:moveTo>
                  <a:lnTo>
                    <a:pt x="128020" y="0"/>
                  </a:lnTo>
                  <a:lnTo>
                    <a:pt x="105530" y="0"/>
                  </a:lnTo>
                  <a:cubicBezTo>
                    <a:pt x="103800" y="0"/>
                    <a:pt x="102070" y="691"/>
                    <a:pt x="100686" y="1727"/>
                  </a:cubicBezTo>
                  <a:lnTo>
                    <a:pt x="60550" y="37987"/>
                  </a:lnTo>
                  <a:cubicBezTo>
                    <a:pt x="59512" y="39023"/>
                    <a:pt x="58128" y="39714"/>
                    <a:pt x="56398" y="39714"/>
                  </a:cubicBezTo>
                  <a:lnTo>
                    <a:pt x="28372" y="39714"/>
                  </a:lnTo>
                  <a:cubicBezTo>
                    <a:pt x="26642" y="39714"/>
                    <a:pt x="25258" y="38333"/>
                    <a:pt x="25258" y="36606"/>
                  </a:cubicBezTo>
                  <a:lnTo>
                    <a:pt x="25258" y="0"/>
                  </a:lnTo>
                  <a:lnTo>
                    <a:pt x="0" y="0"/>
                  </a:lnTo>
                  <a:lnTo>
                    <a:pt x="0" y="102221"/>
                  </a:lnTo>
                  <a:lnTo>
                    <a:pt x="25258" y="102221"/>
                  </a:lnTo>
                  <a:lnTo>
                    <a:pt x="25258" y="65615"/>
                  </a:lnTo>
                  <a:cubicBezTo>
                    <a:pt x="25258" y="63888"/>
                    <a:pt x="26642" y="62507"/>
                    <a:pt x="28372" y="62507"/>
                  </a:cubicBezTo>
                  <a:lnTo>
                    <a:pt x="56398" y="62507"/>
                  </a:lnTo>
                  <a:cubicBezTo>
                    <a:pt x="57782" y="62507"/>
                    <a:pt x="59512" y="62852"/>
                    <a:pt x="60550" y="64233"/>
                  </a:cubicBezTo>
                  <a:lnTo>
                    <a:pt x="100686" y="100494"/>
                  </a:lnTo>
                  <a:cubicBezTo>
                    <a:pt x="102070" y="101530"/>
                    <a:pt x="103800" y="102221"/>
                    <a:pt x="105530" y="102221"/>
                  </a:cubicBezTo>
                  <a:lnTo>
                    <a:pt x="128020" y="102221"/>
                  </a:lnTo>
                  <a:lnTo>
                    <a:pt x="128020" y="76665"/>
                  </a:lnTo>
                  <a:lnTo>
                    <a:pt x="115564" y="76665"/>
                  </a:lnTo>
                  <a:cubicBezTo>
                    <a:pt x="111758" y="76665"/>
                    <a:pt x="107952" y="75284"/>
                    <a:pt x="105184" y="72867"/>
                  </a:cubicBezTo>
                  <a:lnTo>
                    <a:pt x="86154" y="55945"/>
                  </a:lnTo>
                  <a:cubicBezTo>
                    <a:pt x="83040" y="53528"/>
                    <a:pt x="83040" y="48693"/>
                    <a:pt x="86154" y="45930"/>
                  </a:cubicBezTo>
                  <a:lnTo>
                    <a:pt x="105184" y="29009"/>
                  </a:lnTo>
                  <a:cubicBezTo>
                    <a:pt x="108298" y="26591"/>
                    <a:pt x="111758" y="25210"/>
                    <a:pt x="115564" y="25210"/>
                  </a:cubicBezTo>
                  <a:lnTo>
                    <a:pt x="128020" y="25210"/>
                  </a:lnTo>
                  <a:close/>
                </a:path>
              </a:pathLst>
            </a:custGeom>
            <a:grpFill/>
            <a:ln w="3458" cap="flat">
              <a:noFill/>
              <a:prstDash val="solid"/>
              <a:miter/>
            </a:ln>
          </p:spPr>
          <p:txBody>
            <a:bodyPr rtlCol="0" anchor="ctr"/>
            <a:lstStyle/>
            <a:p>
              <a:endParaRPr lang="en-US" sz="1800"/>
            </a:p>
          </p:txBody>
        </p:sp>
        <p:sp>
          <p:nvSpPr>
            <p:cNvPr id="28" name="Freeform 27">
              <a:extLst>
                <a:ext uri="{FF2B5EF4-FFF2-40B4-BE49-F238E27FC236}">
                  <a16:creationId xmlns:a16="http://schemas.microsoft.com/office/drawing/2014/main" id="{CA72D42B-2AF8-6787-0226-B1B0C75ED8F3}"/>
                </a:ext>
              </a:extLst>
            </p:cNvPr>
            <p:cNvSpPr/>
            <p:nvPr/>
          </p:nvSpPr>
          <p:spPr>
            <a:xfrm>
              <a:off x="8623760" y="7684742"/>
              <a:ext cx="138053" cy="102565"/>
            </a:xfrm>
            <a:custGeom>
              <a:avLst/>
              <a:gdLst>
                <a:gd name="connsiteX0" fmla="*/ 99302 w 138053"/>
                <a:gd name="connsiteY0" fmla="*/ 345 h 102565"/>
                <a:gd name="connsiteX1" fmla="*/ 70238 w 138053"/>
                <a:gd name="connsiteY1" fmla="*/ 14850 h 102565"/>
                <a:gd name="connsiteX2" fmla="*/ 0 w 138053"/>
                <a:gd name="connsiteY2" fmla="*/ 102566 h 102565"/>
                <a:gd name="connsiteX3" fmla="*/ 35638 w 138053"/>
                <a:gd name="connsiteY3" fmla="*/ 102566 h 102565"/>
                <a:gd name="connsiteX4" fmla="*/ 93420 w 138053"/>
                <a:gd name="connsiteY4" fmla="*/ 31426 h 102565"/>
                <a:gd name="connsiteX5" fmla="*/ 102762 w 138053"/>
                <a:gd name="connsiteY5" fmla="*/ 26246 h 102565"/>
                <a:gd name="connsiteX6" fmla="*/ 112450 w 138053"/>
                <a:gd name="connsiteY6" fmla="*/ 36951 h 102565"/>
                <a:gd name="connsiteX7" fmla="*/ 112450 w 138053"/>
                <a:gd name="connsiteY7" fmla="*/ 68032 h 102565"/>
                <a:gd name="connsiteX8" fmla="*/ 105184 w 138053"/>
                <a:gd name="connsiteY8" fmla="*/ 77011 h 102565"/>
                <a:gd name="connsiteX9" fmla="*/ 97918 w 138053"/>
                <a:gd name="connsiteY9" fmla="*/ 77011 h 102565"/>
                <a:gd name="connsiteX10" fmla="*/ 97918 w 138053"/>
                <a:gd name="connsiteY10" fmla="*/ 102566 h 102565"/>
                <a:gd name="connsiteX11" fmla="*/ 138054 w 138053"/>
                <a:gd name="connsiteY11" fmla="*/ 102566 h 102565"/>
                <a:gd name="connsiteX12" fmla="*/ 138054 w 138053"/>
                <a:gd name="connsiteY12" fmla="*/ 38333 h 102565"/>
                <a:gd name="connsiteX13" fmla="*/ 98956 w 138053"/>
                <a:gd name="connsiteY13" fmla="*/ 0 h 102565"/>
                <a:gd name="connsiteX14" fmla="*/ 98956 w 138053"/>
                <a:gd name="connsiteY14" fmla="*/ 0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8053" h="102565">
                  <a:moveTo>
                    <a:pt x="99302" y="345"/>
                  </a:moveTo>
                  <a:cubicBezTo>
                    <a:pt x="87884" y="345"/>
                    <a:pt x="77158" y="5871"/>
                    <a:pt x="70238" y="14850"/>
                  </a:cubicBezTo>
                  <a:lnTo>
                    <a:pt x="0" y="102566"/>
                  </a:lnTo>
                  <a:lnTo>
                    <a:pt x="35638" y="102566"/>
                  </a:lnTo>
                  <a:lnTo>
                    <a:pt x="93420" y="31426"/>
                  </a:lnTo>
                  <a:cubicBezTo>
                    <a:pt x="96188" y="27973"/>
                    <a:pt x="98264" y="26246"/>
                    <a:pt x="102762" y="26246"/>
                  </a:cubicBezTo>
                  <a:cubicBezTo>
                    <a:pt x="107260" y="26246"/>
                    <a:pt x="112450" y="31081"/>
                    <a:pt x="112450" y="36951"/>
                  </a:cubicBezTo>
                  <a:lnTo>
                    <a:pt x="112450" y="68032"/>
                  </a:lnTo>
                  <a:cubicBezTo>
                    <a:pt x="112450" y="72867"/>
                    <a:pt x="110028" y="77011"/>
                    <a:pt x="105184" y="77011"/>
                  </a:cubicBezTo>
                  <a:lnTo>
                    <a:pt x="97918" y="77011"/>
                  </a:lnTo>
                  <a:lnTo>
                    <a:pt x="97918" y="102566"/>
                  </a:lnTo>
                  <a:lnTo>
                    <a:pt x="138054" y="102566"/>
                  </a:lnTo>
                  <a:lnTo>
                    <a:pt x="138054" y="38333"/>
                  </a:lnTo>
                  <a:cubicBezTo>
                    <a:pt x="138054" y="33153"/>
                    <a:pt x="138054" y="0"/>
                    <a:pt x="98956" y="0"/>
                  </a:cubicBezTo>
                  <a:lnTo>
                    <a:pt x="98956" y="0"/>
                  </a:lnTo>
                  <a:close/>
                </a:path>
              </a:pathLst>
            </a:custGeom>
            <a:grpFill/>
            <a:ln w="3458" cap="flat">
              <a:noFill/>
              <a:prstDash val="solid"/>
              <a:miter/>
            </a:ln>
          </p:spPr>
          <p:txBody>
            <a:bodyPr rtlCol="0" anchor="ctr"/>
            <a:lstStyle/>
            <a:p>
              <a:endParaRPr lang="en-US" sz="1800"/>
            </a:p>
          </p:txBody>
        </p:sp>
        <p:sp>
          <p:nvSpPr>
            <p:cNvPr id="29" name="Freeform 28">
              <a:extLst>
                <a:ext uri="{FF2B5EF4-FFF2-40B4-BE49-F238E27FC236}">
                  <a16:creationId xmlns:a16="http://schemas.microsoft.com/office/drawing/2014/main" id="{28349935-8A31-53C3-F92C-EADE49842785}"/>
                </a:ext>
              </a:extLst>
            </p:cNvPr>
            <p:cNvSpPr/>
            <p:nvPr/>
          </p:nvSpPr>
          <p:spPr>
            <a:xfrm>
              <a:off x="9480453" y="7685087"/>
              <a:ext cx="30793" cy="25555"/>
            </a:xfrm>
            <a:custGeom>
              <a:avLst/>
              <a:gdLst>
                <a:gd name="connsiteX0" fmla="*/ 30448 w 30793"/>
                <a:gd name="connsiteY0" fmla="*/ 0 h 25555"/>
                <a:gd name="connsiteX1" fmla="*/ 30448 w 30793"/>
                <a:gd name="connsiteY1" fmla="*/ 25555 h 25555"/>
                <a:gd name="connsiteX2" fmla="*/ 24912 w 30793"/>
                <a:gd name="connsiteY2" fmla="*/ 25555 h 25555"/>
                <a:gd name="connsiteX3" fmla="*/ 24912 w 30793"/>
                <a:gd name="connsiteY3" fmla="*/ 5180 h 25555"/>
                <a:gd name="connsiteX4" fmla="*/ 24912 w 30793"/>
                <a:gd name="connsiteY4" fmla="*/ 5180 h 25555"/>
                <a:gd name="connsiteX5" fmla="*/ 17646 w 30793"/>
                <a:gd name="connsiteY5" fmla="*/ 25555 h 25555"/>
                <a:gd name="connsiteX6" fmla="*/ 12802 w 30793"/>
                <a:gd name="connsiteY6" fmla="*/ 25555 h 25555"/>
                <a:gd name="connsiteX7" fmla="*/ 5536 w 30793"/>
                <a:gd name="connsiteY7" fmla="*/ 5180 h 25555"/>
                <a:gd name="connsiteX8" fmla="*/ 5536 w 30793"/>
                <a:gd name="connsiteY8" fmla="*/ 5180 h 25555"/>
                <a:gd name="connsiteX9" fmla="*/ 5536 w 30793"/>
                <a:gd name="connsiteY9" fmla="*/ 25555 h 25555"/>
                <a:gd name="connsiteX10" fmla="*/ 0 w 30793"/>
                <a:gd name="connsiteY10" fmla="*/ 25555 h 25555"/>
                <a:gd name="connsiteX11" fmla="*/ 0 w 30793"/>
                <a:gd name="connsiteY11" fmla="*/ 0 h 25555"/>
                <a:gd name="connsiteX12" fmla="*/ 9688 w 30793"/>
                <a:gd name="connsiteY12" fmla="*/ 0 h 25555"/>
                <a:gd name="connsiteX13" fmla="*/ 15570 w 30793"/>
                <a:gd name="connsiteY13" fmla="*/ 17267 h 25555"/>
                <a:gd name="connsiteX14" fmla="*/ 15570 w 30793"/>
                <a:gd name="connsiteY14" fmla="*/ 17267 h 25555"/>
                <a:gd name="connsiteX15" fmla="*/ 21798 w 30793"/>
                <a:gd name="connsiteY15" fmla="*/ 0 h 25555"/>
                <a:gd name="connsiteX16" fmla="*/ 30794 w 30793"/>
                <a:gd name="connsiteY16" fmla="*/ 0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793" h="25555">
                  <a:moveTo>
                    <a:pt x="30448" y="0"/>
                  </a:moveTo>
                  <a:lnTo>
                    <a:pt x="30448" y="25555"/>
                  </a:lnTo>
                  <a:lnTo>
                    <a:pt x="24912" y="25555"/>
                  </a:lnTo>
                  <a:lnTo>
                    <a:pt x="24912" y="5180"/>
                  </a:lnTo>
                  <a:lnTo>
                    <a:pt x="24912" y="5180"/>
                  </a:lnTo>
                  <a:lnTo>
                    <a:pt x="17646" y="25555"/>
                  </a:lnTo>
                  <a:lnTo>
                    <a:pt x="12802" y="25555"/>
                  </a:lnTo>
                  <a:lnTo>
                    <a:pt x="5536" y="5180"/>
                  </a:lnTo>
                  <a:lnTo>
                    <a:pt x="5536" y="5180"/>
                  </a:lnTo>
                  <a:lnTo>
                    <a:pt x="5536" y="25555"/>
                  </a:lnTo>
                  <a:lnTo>
                    <a:pt x="0" y="25555"/>
                  </a:lnTo>
                  <a:lnTo>
                    <a:pt x="0" y="0"/>
                  </a:lnTo>
                  <a:lnTo>
                    <a:pt x="9688" y="0"/>
                  </a:lnTo>
                  <a:lnTo>
                    <a:pt x="15570" y="17267"/>
                  </a:lnTo>
                  <a:lnTo>
                    <a:pt x="15570" y="17267"/>
                  </a:lnTo>
                  <a:lnTo>
                    <a:pt x="21798" y="0"/>
                  </a:lnTo>
                  <a:lnTo>
                    <a:pt x="30794" y="0"/>
                  </a:lnTo>
                  <a:close/>
                </a:path>
              </a:pathLst>
            </a:custGeom>
            <a:grpFill/>
            <a:ln w="3458" cap="flat">
              <a:noFill/>
              <a:prstDash val="solid"/>
              <a:miter/>
            </a:ln>
          </p:spPr>
          <p:txBody>
            <a:bodyPr rtlCol="0" anchor="ctr"/>
            <a:lstStyle/>
            <a:p>
              <a:endParaRPr lang="en-US" sz="1800"/>
            </a:p>
          </p:txBody>
        </p:sp>
        <p:sp>
          <p:nvSpPr>
            <p:cNvPr id="30" name="Freeform 29">
              <a:extLst>
                <a:ext uri="{FF2B5EF4-FFF2-40B4-BE49-F238E27FC236}">
                  <a16:creationId xmlns:a16="http://schemas.microsoft.com/office/drawing/2014/main" id="{E3FC1670-0286-A12F-DF8D-7F0B38C12572}"/>
                </a:ext>
              </a:extLst>
            </p:cNvPr>
            <p:cNvSpPr/>
            <p:nvPr/>
          </p:nvSpPr>
          <p:spPr>
            <a:xfrm>
              <a:off x="9453811" y="7685087"/>
              <a:ext cx="21451" cy="25555"/>
            </a:xfrm>
            <a:custGeom>
              <a:avLst/>
              <a:gdLst>
                <a:gd name="connsiteX0" fmla="*/ 13840 w 21451"/>
                <a:gd name="connsiteY0" fmla="*/ 4835 h 25555"/>
                <a:gd name="connsiteX1" fmla="*/ 13840 w 21451"/>
                <a:gd name="connsiteY1" fmla="*/ 25555 h 25555"/>
                <a:gd name="connsiteX2" fmla="*/ 7958 w 21451"/>
                <a:gd name="connsiteY2" fmla="*/ 25555 h 25555"/>
                <a:gd name="connsiteX3" fmla="*/ 7958 w 21451"/>
                <a:gd name="connsiteY3" fmla="*/ 4835 h 25555"/>
                <a:gd name="connsiteX4" fmla="*/ 0 w 21451"/>
                <a:gd name="connsiteY4" fmla="*/ 4835 h 25555"/>
                <a:gd name="connsiteX5" fmla="*/ 0 w 21451"/>
                <a:gd name="connsiteY5" fmla="*/ 0 h 25555"/>
                <a:gd name="connsiteX6" fmla="*/ 21452 w 21451"/>
                <a:gd name="connsiteY6" fmla="*/ 0 h 25555"/>
                <a:gd name="connsiteX7" fmla="*/ 21452 w 21451"/>
                <a:gd name="connsiteY7" fmla="*/ 4835 h 25555"/>
                <a:gd name="connsiteX8" fmla="*/ 13494 w 21451"/>
                <a:gd name="connsiteY8" fmla="*/ 4835 h 25555"/>
                <a:gd name="connsiteX9" fmla="*/ 13494 w 21451"/>
                <a:gd name="connsiteY9" fmla="*/ 4835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451" h="25555">
                  <a:moveTo>
                    <a:pt x="13840" y="4835"/>
                  </a:moveTo>
                  <a:lnTo>
                    <a:pt x="13840" y="25555"/>
                  </a:lnTo>
                  <a:lnTo>
                    <a:pt x="7958" y="25555"/>
                  </a:lnTo>
                  <a:lnTo>
                    <a:pt x="7958" y="4835"/>
                  </a:lnTo>
                  <a:lnTo>
                    <a:pt x="0" y="4835"/>
                  </a:lnTo>
                  <a:lnTo>
                    <a:pt x="0" y="0"/>
                  </a:lnTo>
                  <a:lnTo>
                    <a:pt x="21452" y="0"/>
                  </a:lnTo>
                  <a:lnTo>
                    <a:pt x="21452" y="4835"/>
                  </a:lnTo>
                  <a:lnTo>
                    <a:pt x="13494" y="4835"/>
                  </a:lnTo>
                  <a:lnTo>
                    <a:pt x="13494" y="4835"/>
                  </a:lnTo>
                  <a:close/>
                </a:path>
              </a:pathLst>
            </a:custGeom>
            <a:grpFill/>
            <a:ln w="3458" cap="flat">
              <a:noFill/>
              <a:prstDash val="solid"/>
              <a:miter/>
            </a:ln>
          </p:spPr>
          <p:txBody>
            <a:bodyPr rtlCol="0" anchor="ctr"/>
            <a:lstStyle/>
            <a:p>
              <a:endParaRPr lang="en-US" sz="1800"/>
            </a:p>
          </p:txBody>
        </p:sp>
      </p:grpSp>
      <p:sp>
        <p:nvSpPr>
          <p:cNvPr id="33" name="name_2024 sandisk or its affiliates All rights reserved">
            <a:extLst>
              <a:ext uri="{FF2B5EF4-FFF2-40B4-BE49-F238E27FC236}">
                <a16:creationId xmlns:a16="http://schemas.microsoft.com/office/drawing/2014/main" id="{7B158CA7-6BD7-4A79-CA3C-EFD2F50C9790}"/>
              </a:ext>
            </a:extLst>
          </p:cNvPr>
          <p:cNvSpPr txBox="1"/>
          <p:nvPr/>
        </p:nvSpPr>
        <p:spPr>
          <a:xfrm>
            <a:off x="6096000" y="6437971"/>
            <a:ext cx="5803900"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b">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r" defTabSz="609412" hangingPunct="0">
              <a:lnSpc>
                <a:spcPct val="100000"/>
              </a:lnSpc>
            </a:pPr>
            <a:r>
              <a:rPr lang="en-US" sz="1000" b="0" i="0" kern="0" spc="0" baseline="0">
                <a:solidFill>
                  <a:schemeClr val="tx2"/>
                </a:solidFill>
                <a:latin typeface="NB Architekt Pro Neue" panose="02010509020201040001" pitchFamily="49" charset="77"/>
                <a:cs typeface="Consolas" panose="020B0609020204030204" pitchFamily="49" charset="0"/>
              </a:rPr>
              <a:t>©2025 SANDISK CORPORATION OR ITS AFFILIATES ALL RIGHTS RESERVED</a:t>
            </a:r>
          </a:p>
        </p:txBody>
      </p:sp>
      <p:sp>
        <p:nvSpPr>
          <p:cNvPr id="35" name="name_2024 sandisk or its affiliates All rights reserved">
            <a:extLst>
              <a:ext uri="{FF2B5EF4-FFF2-40B4-BE49-F238E27FC236}">
                <a16:creationId xmlns:a16="http://schemas.microsoft.com/office/drawing/2014/main" id="{50D7B5B4-45F6-C52A-103A-232CD5411C0A}"/>
              </a:ext>
            </a:extLst>
          </p:cNvPr>
          <p:cNvSpPr txBox="1"/>
          <p:nvPr/>
        </p:nvSpPr>
        <p:spPr>
          <a:xfrm>
            <a:off x="8997951" y="267518"/>
            <a:ext cx="2242276"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tx1"/>
                </a:solidFill>
                <a:latin typeface="NB Architekt Pro Neue" panose="02010509020201040001" pitchFamily="49" charset="77"/>
                <a:cs typeface="Consolas" panose="020B0609020204030204" pitchFamily="49" charset="0"/>
              </a:rPr>
              <a:t>“START” “REPEAT” “1988/2025”</a:t>
            </a:r>
          </a:p>
        </p:txBody>
      </p:sp>
      <p:sp>
        <p:nvSpPr>
          <p:cNvPr id="36" name="Rectangle 35">
            <a:extLst>
              <a:ext uri="{FF2B5EF4-FFF2-40B4-BE49-F238E27FC236}">
                <a16:creationId xmlns:a16="http://schemas.microsoft.com/office/drawing/2014/main" id="{1EE45B96-414A-F378-EB73-6FCEEED0CE78}"/>
              </a:ext>
            </a:extLst>
          </p:cNvPr>
          <p:cNvSpPr/>
          <p:nvPr/>
        </p:nvSpPr>
        <p:spPr>
          <a:xfrm>
            <a:off x="11808843" y="296581"/>
            <a:ext cx="91057" cy="9105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8" name="Content Placeholder 8">
            <a:extLst>
              <a:ext uri="{FF2B5EF4-FFF2-40B4-BE49-F238E27FC236}">
                <a16:creationId xmlns:a16="http://schemas.microsoft.com/office/drawing/2014/main" id="{E1D4FC08-8E31-A604-4A57-3FF232DD4FA8}"/>
              </a:ext>
            </a:extLst>
          </p:cNvPr>
          <p:cNvSpPr>
            <a:spLocks noGrp="1"/>
          </p:cNvSpPr>
          <p:nvPr>
            <p:ph sz="quarter" idx="11" hasCustomPrompt="1"/>
          </p:nvPr>
        </p:nvSpPr>
        <p:spPr>
          <a:xfrm>
            <a:off x="292099" y="2284930"/>
            <a:ext cx="11607801" cy="3885745"/>
          </a:xfrm>
          <a:prstGeom prst="rect">
            <a:avLst/>
          </a:prstGeom>
        </p:spPr>
        <p:txBody>
          <a:bodyPr lIns="0" bIns="0">
            <a:noAutofit/>
          </a:bodyPr>
          <a:lstStyle>
            <a:lvl1pPr marL="292608" indent="-292608">
              <a:lnSpc>
                <a:spcPct val="100000"/>
              </a:lnSpc>
              <a:spcBef>
                <a:spcPts val="0"/>
              </a:spcBef>
              <a:spcAft>
                <a:spcPts val="1000"/>
              </a:spcAft>
              <a:buClrTx/>
              <a:buSzPct val="100000"/>
              <a:buFont typeface="Pilat Regular" panose="020B0604020202020204" pitchFamily="34" charset="0"/>
              <a:buChar char="•"/>
              <a:defRPr sz="2000" spc="0">
                <a:solidFill>
                  <a:schemeClr val="tx1"/>
                </a:solidFill>
              </a:defRPr>
            </a:lvl1pPr>
            <a:lvl2pPr marL="585216" indent="-292608">
              <a:lnSpc>
                <a:spcPct val="100000"/>
              </a:lnSpc>
              <a:spcBef>
                <a:spcPts val="0"/>
              </a:spcBef>
              <a:spcAft>
                <a:spcPts val="1000"/>
              </a:spcAft>
              <a:buClrTx/>
              <a:buSzPct val="100000"/>
              <a:buFont typeface="Pilat Regular" panose="020B0604020202020204" pitchFamily="34" charset="0"/>
              <a:buChar char="•"/>
              <a:defRPr sz="2000" spc="0">
                <a:solidFill>
                  <a:schemeClr val="tx1"/>
                </a:solidFill>
              </a:defRPr>
            </a:lvl2pPr>
            <a:lvl3pPr marL="877824" indent="-292608">
              <a:lnSpc>
                <a:spcPct val="100000"/>
              </a:lnSpc>
              <a:spcBef>
                <a:spcPts val="0"/>
              </a:spcBef>
              <a:spcAft>
                <a:spcPts val="1000"/>
              </a:spcAft>
              <a:buClrTx/>
              <a:buSzPct val="100000"/>
              <a:buFont typeface="Pilat Regular" panose="020B0604020202020204" pitchFamily="34" charset="0"/>
              <a:buChar char="•"/>
              <a:defRPr sz="2000" spc="0">
                <a:solidFill>
                  <a:schemeClr val="tx1"/>
                </a:solidFill>
              </a:defRPr>
            </a:lvl3pPr>
            <a:lvl4pPr marL="1170432" indent="-292608">
              <a:lnSpc>
                <a:spcPct val="100000"/>
              </a:lnSpc>
              <a:spcBef>
                <a:spcPts val="0"/>
              </a:spcBef>
              <a:spcAft>
                <a:spcPts val="1000"/>
              </a:spcAft>
              <a:buClrTx/>
              <a:buSzPct val="100000"/>
              <a:buFont typeface="Pilat Regular" panose="020B0604020202020204" pitchFamily="34" charset="0"/>
              <a:buChar char="•"/>
              <a:defRPr sz="2000" spc="0">
                <a:solidFill>
                  <a:schemeClr val="tx1"/>
                </a:solidFill>
              </a:defRPr>
            </a:lvl4pPr>
            <a:lvl5pPr marL="1463040" indent="-292608">
              <a:lnSpc>
                <a:spcPct val="100000"/>
              </a:lnSpc>
              <a:spcBef>
                <a:spcPts val="0"/>
              </a:spcBef>
              <a:spcAft>
                <a:spcPts val="1000"/>
              </a:spcAft>
              <a:buClrTx/>
              <a:buSzPct val="100000"/>
              <a:buFont typeface="Pilat Regular" panose="020B0604020202020204" pitchFamily="34" charset="0"/>
              <a:buChar char="•"/>
              <a:defRPr sz="2000" spc="0">
                <a:solidFill>
                  <a:schemeClr val="tx1"/>
                </a:solidFill>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527867"/>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Subtitle Black">
    <p:bg>
      <p:bgPr>
        <a:solidFill>
          <a:schemeClr val="tx1"/>
        </a:solidFill>
        <a:effectLst/>
      </p:bgPr>
    </p:bg>
    <p:spTree>
      <p:nvGrpSpPr>
        <p:cNvPr id="1" name=""/>
        <p:cNvGrpSpPr/>
        <p:nvPr/>
      </p:nvGrpSpPr>
      <p:grpSpPr>
        <a:xfrm>
          <a:off x="0" y="0"/>
          <a:ext cx="0" cy="0"/>
          <a:chOff x="0" y="0"/>
          <a:chExt cx="0" cy="0"/>
        </a:xfrm>
      </p:grpSpPr>
      <p:sp>
        <p:nvSpPr>
          <p:cNvPr id="2" name="name_2024 sandisk or its affiliates All rights reserved">
            <a:extLst>
              <a:ext uri="{FF2B5EF4-FFF2-40B4-BE49-F238E27FC236}">
                <a16:creationId xmlns:a16="http://schemas.microsoft.com/office/drawing/2014/main" id="{EF2E9E0C-E8BF-E64B-88D1-09D94508D838}"/>
              </a:ext>
            </a:extLst>
          </p:cNvPr>
          <p:cNvSpPr txBox="1"/>
          <p:nvPr/>
        </p:nvSpPr>
        <p:spPr>
          <a:xfrm>
            <a:off x="292100" y="267518"/>
            <a:ext cx="1323975"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bg1"/>
                </a:solidFill>
                <a:latin typeface="NB Architekt Pro Neue" panose="02010509020201040001" pitchFamily="49" charset="77"/>
                <a:cs typeface="Consolas" panose="020B0609020204030204" pitchFamily="49" charset="0"/>
              </a:rPr>
              <a:t>[Confidential]</a:t>
            </a:r>
          </a:p>
        </p:txBody>
      </p:sp>
      <p:sp>
        <p:nvSpPr>
          <p:cNvPr id="60" name="Title 1">
            <a:extLst>
              <a:ext uri="{FF2B5EF4-FFF2-40B4-BE49-F238E27FC236}">
                <a16:creationId xmlns:a16="http://schemas.microsoft.com/office/drawing/2014/main" id="{DC22E9CB-00DB-F8F3-4E25-BF980D833313}"/>
              </a:ext>
            </a:extLst>
          </p:cNvPr>
          <p:cNvSpPr>
            <a:spLocks noGrp="1"/>
          </p:cNvSpPr>
          <p:nvPr>
            <p:ph type="title" hasCustomPrompt="1"/>
          </p:nvPr>
        </p:nvSpPr>
        <p:spPr>
          <a:xfrm>
            <a:off x="292099" y="442939"/>
            <a:ext cx="11607801" cy="964579"/>
          </a:xfrm>
          <a:prstGeom prst="rect">
            <a:avLst/>
          </a:prstGeom>
        </p:spPr>
        <p:txBody>
          <a:bodyPr wrap="square" lIns="0" anchor="b">
            <a:noAutofit/>
          </a:bodyPr>
          <a:lstStyle>
            <a:lvl1pPr>
              <a:lnSpc>
                <a:spcPct val="100000"/>
              </a:lnSpc>
              <a:defRPr sz="3000" b="0" spc="0" baseline="0">
                <a:solidFill>
                  <a:schemeClr val="bg1"/>
                </a:solidFill>
                <a:latin typeface="+mj-lt"/>
              </a:defRPr>
            </a:lvl1pPr>
          </a:lstStyle>
          <a:p>
            <a:r>
              <a:rPr lang="en-US"/>
              <a:t>CLICK TO ADD TITLE</a:t>
            </a:r>
          </a:p>
        </p:txBody>
      </p:sp>
      <p:sp>
        <p:nvSpPr>
          <p:cNvPr id="61" name="Text Placeholder 13">
            <a:extLst>
              <a:ext uri="{FF2B5EF4-FFF2-40B4-BE49-F238E27FC236}">
                <a16:creationId xmlns:a16="http://schemas.microsoft.com/office/drawing/2014/main" id="{958C97A4-E8B0-290A-15E7-CED030171903}"/>
              </a:ext>
            </a:extLst>
          </p:cNvPr>
          <p:cNvSpPr>
            <a:spLocks noGrp="1"/>
          </p:cNvSpPr>
          <p:nvPr>
            <p:ph type="body" sz="quarter" idx="12" hasCustomPrompt="1"/>
          </p:nvPr>
        </p:nvSpPr>
        <p:spPr>
          <a:xfrm>
            <a:off x="292099" y="1407519"/>
            <a:ext cx="11607801" cy="496143"/>
          </a:xfrm>
          <a:prstGeom prst="rect">
            <a:avLst/>
          </a:prstGeom>
        </p:spPr>
        <p:txBody>
          <a:bodyPr wrap="none" lIns="0" bIns="0">
            <a:noAutofit/>
          </a:bodyPr>
          <a:lstStyle>
            <a:lvl1pPr marL="0" indent="0">
              <a:lnSpc>
                <a:spcPct val="100000"/>
              </a:lnSpc>
              <a:spcAft>
                <a:spcPts val="0"/>
              </a:spcAft>
              <a:buNone/>
              <a:defRPr sz="3000" b="0" spc="0" baseline="0">
                <a:solidFill>
                  <a:schemeClr val="accent1"/>
                </a:solidFill>
                <a:latin typeface="+mj-lt"/>
              </a:defRPr>
            </a:lvl1pPr>
            <a:lvl2pPr marL="274304" indent="0">
              <a:buNone/>
              <a:defRPr/>
            </a:lvl2pPr>
            <a:lvl3pPr marL="914346" indent="0">
              <a:buNone/>
              <a:defRPr/>
            </a:lvl3pPr>
            <a:lvl4pPr marL="1371519" indent="0">
              <a:buNone/>
              <a:defRPr/>
            </a:lvl4pPr>
            <a:lvl5pPr marL="1828693" indent="0">
              <a:buNone/>
              <a:defRPr/>
            </a:lvl5pPr>
          </a:lstStyle>
          <a:p>
            <a:pPr lvl="0"/>
            <a:r>
              <a:rPr lang="en-US"/>
              <a:t>Click to Add Subtitle</a:t>
            </a:r>
          </a:p>
        </p:txBody>
      </p:sp>
      <p:sp>
        <p:nvSpPr>
          <p:cNvPr id="3" name="Slide Number Placeholder 5">
            <a:extLst>
              <a:ext uri="{FF2B5EF4-FFF2-40B4-BE49-F238E27FC236}">
                <a16:creationId xmlns:a16="http://schemas.microsoft.com/office/drawing/2014/main" id="{B3E99B66-6085-AF23-EFBE-ECBF95F2CCD6}"/>
              </a:ext>
            </a:extLst>
          </p:cNvPr>
          <p:cNvSpPr>
            <a:spLocks noGrp="1"/>
          </p:cNvSpPr>
          <p:nvPr>
            <p:ph type="sldNum" sz="quarter" idx="4"/>
          </p:nvPr>
        </p:nvSpPr>
        <p:spPr>
          <a:xfrm>
            <a:off x="3194050" y="6455472"/>
            <a:ext cx="855221" cy="118872"/>
          </a:xfrm>
          <a:prstGeom prst="rect">
            <a:avLst/>
          </a:prstGeom>
        </p:spPr>
        <p:txBody>
          <a:bodyPr vert="horz" lIns="0" tIns="0" rIns="0" bIns="0" rtlCol="0" anchor="ctr"/>
          <a:lstStyle>
            <a:lvl1pPr algn="l">
              <a:defRPr sz="1000" b="0" i="0" spc="0" baseline="0">
                <a:solidFill>
                  <a:schemeClr val="bg1"/>
                </a:solidFill>
                <a:latin typeface="NB Architekt Pro Neue" panose="02010509020201040001" pitchFamily="49" charset="77"/>
                <a:cs typeface="Consolas" panose="020B0609020204030204" pitchFamily="49" charset="0"/>
              </a:defRPr>
            </a:lvl1pPr>
          </a:lstStyle>
          <a:p>
            <a:r>
              <a:rPr lang="en-US"/>
              <a:t>00.0</a:t>
            </a:r>
            <a:fld id="{4571BA12-316B-0A40-BB3D-1A8CDD33E9E5}" type="slidenum">
              <a:rPr lang="en-US" smtClean="0"/>
              <a:pPr/>
              <a:t>‹#›</a:t>
            </a:fld>
            <a:endParaRPr lang="en-US"/>
          </a:p>
        </p:txBody>
      </p:sp>
      <p:grpSp>
        <p:nvGrpSpPr>
          <p:cNvPr id="17" name="Group 16">
            <a:extLst>
              <a:ext uri="{FF2B5EF4-FFF2-40B4-BE49-F238E27FC236}">
                <a16:creationId xmlns:a16="http://schemas.microsoft.com/office/drawing/2014/main" id="{46EE3D5D-5564-276A-F946-9C889AE6DC05}"/>
              </a:ext>
            </a:extLst>
          </p:cNvPr>
          <p:cNvGrpSpPr>
            <a:grpSpLocks noChangeAspect="1"/>
          </p:cNvGrpSpPr>
          <p:nvPr/>
        </p:nvGrpSpPr>
        <p:grpSpPr>
          <a:xfrm>
            <a:off x="297027" y="6344485"/>
            <a:ext cx="2240280" cy="218081"/>
            <a:chOff x="8480170" y="7684742"/>
            <a:chExt cx="1031076" cy="102566"/>
          </a:xfrm>
          <a:solidFill>
            <a:schemeClr val="accent3"/>
          </a:solidFill>
        </p:grpSpPr>
        <p:sp>
          <p:nvSpPr>
            <p:cNvPr id="18" name="Freeform 17">
              <a:extLst>
                <a:ext uri="{FF2B5EF4-FFF2-40B4-BE49-F238E27FC236}">
                  <a16:creationId xmlns:a16="http://schemas.microsoft.com/office/drawing/2014/main" id="{88A85A7E-F460-1F7E-16E3-2759A2BCF211}"/>
                </a:ext>
              </a:extLst>
            </p:cNvPr>
            <p:cNvSpPr/>
            <p:nvPr/>
          </p:nvSpPr>
          <p:spPr>
            <a:xfrm>
              <a:off x="8788109" y="7684742"/>
              <a:ext cx="128019" cy="102565"/>
            </a:xfrm>
            <a:custGeom>
              <a:avLst/>
              <a:gdLst>
                <a:gd name="connsiteX0" fmla="*/ 102070 w 128019"/>
                <a:gd name="connsiteY0" fmla="*/ 70104 h 102565"/>
                <a:gd name="connsiteX1" fmla="*/ 96188 w 128019"/>
                <a:gd name="connsiteY1" fmla="*/ 77011 h 102565"/>
                <a:gd name="connsiteX2" fmla="*/ 89268 w 128019"/>
                <a:gd name="connsiteY2" fmla="*/ 72521 h 102565"/>
                <a:gd name="connsiteX3" fmla="*/ 65740 w 128019"/>
                <a:gd name="connsiteY3" fmla="*/ 8288 h 102565"/>
                <a:gd name="connsiteX4" fmla="*/ 54668 w 128019"/>
                <a:gd name="connsiteY4" fmla="*/ 0 h 102565"/>
                <a:gd name="connsiteX5" fmla="*/ 0 w 128019"/>
                <a:gd name="connsiteY5" fmla="*/ 0 h 102565"/>
                <a:gd name="connsiteX6" fmla="*/ 0 w 128019"/>
                <a:gd name="connsiteY6" fmla="*/ 102221 h 102565"/>
                <a:gd name="connsiteX7" fmla="*/ 40136 w 128019"/>
                <a:gd name="connsiteY7" fmla="*/ 102221 h 102565"/>
                <a:gd name="connsiteX8" fmla="*/ 40136 w 128019"/>
                <a:gd name="connsiteY8" fmla="*/ 76665 h 102565"/>
                <a:gd name="connsiteX9" fmla="*/ 32870 w 128019"/>
                <a:gd name="connsiteY9" fmla="*/ 76665 h 102565"/>
                <a:gd name="connsiteX10" fmla="*/ 25604 w 128019"/>
                <a:gd name="connsiteY10" fmla="*/ 67687 h 102565"/>
                <a:gd name="connsiteX11" fmla="*/ 25604 w 128019"/>
                <a:gd name="connsiteY11" fmla="*/ 36951 h 102565"/>
                <a:gd name="connsiteX12" fmla="*/ 39790 w 128019"/>
                <a:gd name="connsiteY12" fmla="*/ 26591 h 102565"/>
                <a:gd name="connsiteX13" fmla="*/ 45672 w 128019"/>
                <a:gd name="connsiteY13" fmla="*/ 32807 h 102565"/>
                <a:gd name="connsiteX14" fmla="*/ 64356 w 128019"/>
                <a:gd name="connsiteY14" fmla="*/ 81500 h 102565"/>
                <a:gd name="connsiteX15" fmla="*/ 95150 w 128019"/>
                <a:gd name="connsiteY15" fmla="*/ 102566 h 102565"/>
                <a:gd name="connsiteX16" fmla="*/ 95842 w 128019"/>
                <a:gd name="connsiteY16" fmla="*/ 102566 h 102565"/>
                <a:gd name="connsiteX17" fmla="*/ 128020 w 128019"/>
                <a:gd name="connsiteY17" fmla="*/ 70795 h 102565"/>
                <a:gd name="connsiteX18" fmla="*/ 128020 w 128019"/>
                <a:gd name="connsiteY18" fmla="*/ 345 h 102565"/>
                <a:gd name="connsiteX19" fmla="*/ 102416 w 128019"/>
                <a:gd name="connsiteY19" fmla="*/ 345 h 102565"/>
                <a:gd name="connsiteX20" fmla="*/ 102416 w 128019"/>
                <a:gd name="connsiteY20" fmla="*/ 70104 h 102565"/>
                <a:gd name="connsiteX21" fmla="*/ 102416 w 128019"/>
                <a:gd name="connsiteY21" fmla="*/ 70104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8019" h="102565">
                  <a:moveTo>
                    <a:pt x="102070" y="70104"/>
                  </a:moveTo>
                  <a:cubicBezTo>
                    <a:pt x="102070" y="73557"/>
                    <a:pt x="99648" y="76665"/>
                    <a:pt x="96188" y="77011"/>
                  </a:cubicBezTo>
                  <a:cubicBezTo>
                    <a:pt x="93074" y="77356"/>
                    <a:pt x="90306" y="75629"/>
                    <a:pt x="89268" y="72521"/>
                  </a:cubicBezTo>
                  <a:lnTo>
                    <a:pt x="65740" y="8288"/>
                  </a:lnTo>
                  <a:cubicBezTo>
                    <a:pt x="64010" y="3108"/>
                    <a:pt x="59858" y="0"/>
                    <a:pt x="54668" y="0"/>
                  </a:cubicBezTo>
                  <a:lnTo>
                    <a:pt x="0" y="0"/>
                  </a:lnTo>
                  <a:lnTo>
                    <a:pt x="0" y="102221"/>
                  </a:lnTo>
                  <a:lnTo>
                    <a:pt x="40136" y="102221"/>
                  </a:lnTo>
                  <a:lnTo>
                    <a:pt x="40136" y="76665"/>
                  </a:lnTo>
                  <a:lnTo>
                    <a:pt x="32870" y="76665"/>
                  </a:lnTo>
                  <a:cubicBezTo>
                    <a:pt x="28026" y="76665"/>
                    <a:pt x="25604" y="72521"/>
                    <a:pt x="25604" y="67687"/>
                  </a:cubicBezTo>
                  <a:lnTo>
                    <a:pt x="25604" y="36951"/>
                  </a:lnTo>
                  <a:cubicBezTo>
                    <a:pt x="25604" y="29354"/>
                    <a:pt x="32870" y="23828"/>
                    <a:pt x="39790" y="26591"/>
                  </a:cubicBezTo>
                  <a:cubicBezTo>
                    <a:pt x="42212" y="27627"/>
                    <a:pt x="44634" y="30045"/>
                    <a:pt x="45672" y="32807"/>
                  </a:cubicBezTo>
                  <a:lnTo>
                    <a:pt x="64356" y="81500"/>
                  </a:lnTo>
                  <a:cubicBezTo>
                    <a:pt x="69200" y="94278"/>
                    <a:pt x="81310" y="102566"/>
                    <a:pt x="95150" y="102566"/>
                  </a:cubicBezTo>
                  <a:lnTo>
                    <a:pt x="95842" y="102566"/>
                  </a:lnTo>
                  <a:cubicBezTo>
                    <a:pt x="113488" y="102566"/>
                    <a:pt x="128020" y="88407"/>
                    <a:pt x="128020" y="70795"/>
                  </a:cubicBezTo>
                  <a:lnTo>
                    <a:pt x="128020" y="345"/>
                  </a:lnTo>
                  <a:lnTo>
                    <a:pt x="102416" y="345"/>
                  </a:lnTo>
                  <a:lnTo>
                    <a:pt x="102416" y="70104"/>
                  </a:lnTo>
                  <a:lnTo>
                    <a:pt x="102416" y="70104"/>
                  </a:lnTo>
                  <a:close/>
                </a:path>
              </a:pathLst>
            </a:custGeom>
            <a:grpFill/>
            <a:ln w="3458" cap="flat">
              <a:noFill/>
              <a:prstDash val="solid"/>
              <a:miter/>
            </a:ln>
          </p:spPr>
          <p:txBody>
            <a:bodyPr rtlCol="0" anchor="ctr"/>
            <a:lstStyle/>
            <a:p>
              <a:endParaRPr lang="en-US" sz="1800"/>
            </a:p>
          </p:txBody>
        </p:sp>
        <p:sp>
          <p:nvSpPr>
            <p:cNvPr id="19" name="Freeform 18">
              <a:extLst>
                <a:ext uri="{FF2B5EF4-FFF2-40B4-BE49-F238E27FC236}">
                  <a16:creationId xmlns:a16="http://schemas.microsoft.com/office/drawing/2014/main" id="{FE2AAA60-E5A9-2903-6149-D4823B3D04D7}"/>
                </a:ext>
              </a:extLst>
            </p:cNvPr>
            <p:cNvSpPr/>
            <p:nvPr/>
          </p:nvSpPr>
          <p:spPr>
            <a:xfrm>
              <a:off x="8941733" y="7685087"/>
              <a:ext cx="128019" cy="102220"/>
            </a:xfrm>
            <a:custGeom>
              <a:avLst/>
              <a:gdLst>
                <a:gd name="connsiteX0" fmla="*/ 76812 w 128019"/>
                <a:gd name="connsiteY0" fmla="*/ 0 h 102220"/>
                <a:gd name="connsiteX1" fmla="*/ 0 w 128019"/>
                <a:gd name="connsiteY1" fmla="*/ 0 h 102220"/>
                <a:gd name="connsiteX2" fmla="*/ 0 w 128019"/>
                <a:gd name="connsiteY2" fmla="*/ 25555 h 102220"/>
                <a:gd name="connsiteX3" fmla="*/ 76812 w 128019"/>
                <a:gd name="connsiteY3" fmla="*/ 25555 h 102220"/>
                <a:gd name="connsiteX4" fmla="*/ 102416 w 128019"/>
                <a:gd name="connsiteY4" fmla="*/ 51110 h 102220"/>
                <a:gd name="connsiteX5" fmla="*/ 76812 w 128019"/>
                <a:gd name="connsiteY5" fmla="*/ 76665 h 102220"/>
                <a:gd name="connsiteX6" fmla="*/ 0 w 128019"/>
                <a:gd name="connsiteY6" fmla="*/ 76665 h 102220"/>
                <a:gd name="connsiteX7" fmla="*/ 0 w 128019"/>
                <a:gd name="connsiteY7" fmla="*/ 102221 h 102220"/>
                <a:gd name="connsiteX8" fmla="*/ 76812 w 128019"/>
                <a:gd name="connsiteY8" fmla="*/ 102221 h 102220"/>
                <a:gd name="connsiteX9" fmla="*/ 121792 w 128019"/>
                <a:gd name="connsiteY9" fmla="*/ 75629 h 102220"/>
                <a:gd name="connsiteX10" fmla="*/ 128020 w 128019"/>
                <a:gd name="connsiteY10" fmla="*/ 51110 h 102220"/>
                <a:gd name="connsiteX11" fmla="*/ 121792 w 128019"/>
                <a:gd name="connsiteY11" fmla="*/ 26591 h 102220"/>
                <a:gd name="connsiteX12" fmla="*/ 76812 w 128019"/>
                <a:gd name="connsiteY12" fmla="*/ 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8019" h="102220">
                  <a:moveTo>
                    <a:pt x="76812" y="0"/>
                  </a:moveTo>
                  <a:lnTo>
                    <a:pt x="0" y="0"/>
                  </a:lnTo>
                  <a:lnTo>
                    <a:pt x="0" y="25555"/>
                  </a:lnTo>
                  <a:lnTo>
                    <a:pt x="76812" y="25555"/>
                  </a:lnTo>
                  <a:cubicBezTo>
                    <a:pt x="90306" y="25555"/>
                    <a:pt x="102416" y="37297"/>
                    <a:pt x="102416" y="51110"/>
                  </a:cubicBezTo>
                  <a:cubicBezTo>
                    <a:pt x="102416" y="64924"/>
                    <a:pt x="90652" y="76665"/>
                    <a:pt x="76812" y="76665"/>
                  </a:cubicBezTo>
                  <a:lnTo>
                    <a:pt x="0" y="76665"/>
                  </a:lnTo>
                  <a:lnTo>
                    <a:pt x="0" y="102221"/>
                  </a:lnTo>
                  <a:lnTo>
                    <a:pt x="76812" y="102221"/>
                  </a:lnTo>
                  <a:cubicBezTo>
                    <a:pt x="96188" y="102221"/>
                    <a:pt x="113142" y="91515"/>
                    <a:pt x="121792" y="75629"/>
                  </a:cubicBezTo>
                  <a:cubicBezTo>
                    <a:pt x="125598" y="68377"/>
                    <a:pt x="128020" y="59744"/>
                    <a:pt x="128020" y="51110"/>
                  </a:cubicBezTo>
                  <a:cubicBezTo>
                    <a:pt x="128020" y="42477"/>
                    <a:pt x="125598" y="33843"/>
                    <a:pt x="121792" y="26591"/>
                  </a:cubicBezTo>
                  <a:cubicBezTo>
                    <a:pt x="113142" y="10706"/>
                    <a:pt x="96188" y="0"/>
                    <a:pt x="76812" y="0"/>
                  </a:cubicBezTo>
                  <a:close/>
                </a:path>
              </a:pathLst>
            </a:custGeom>
            <a:grpFill/>
            <a:ln w="3458" cap="flat">
              <a:noFill/>
              <a:prstDash val="solid"/>
              <a:miter/>
            </a:ln>
          </p:spPr>
          <p:txBody>
            <a:bodyPr rtlCol="0" anchor="ctr"/>
            <a:lstStyle/>
            <a:p>
              <a:endParaRPr lang="en-US" sz="1800"/>
            </a:p>
          </p:txBody>
        </p:sp>
        <p:sp>
          <p:nvSpPr>
            <p:cNvPr id="20" name="Freeform 19">
              <a:extLst>
                <a:ext uri="{FF2B5EF4-FFF2-40B4-BE49-F238E27FC236}">
                  <a16:creationId xmlns:a16="http://schemas.microsoft.com/office/drawing/2014/main" id="{B81679E5-E8BE-FC00-512F-C377F77A70D0}"/>
                </a:ext>
              </a:extLst>
            </p:cNvPr>
            <p:cNvSpPr/>
            <p:nvPr/>
          </p:nvSpPr>
          <p:spPr>
            <a:xfrm>
              <a:off x="9080478" y="7685087"/>
              <a:ext cx="40481" cy="102220"/>
            </a:xfrm>
            <a:custGeom>
              <a:avLst/>
              <a:gdLst>
                <a:gd name="connsiteX0" fmla="*/ 5190 w 40481"/>
                <a:gd name="connsiteY0" fmla="*/ 25555 h 102220"/>
                <a:gd name="connsiteX1" fmla="*/ 7266 w 40481"/>
                <a:gd name="connsiteY1" fmla="*/ 25555 h 102220"/>
                <a:gd name="connsiteX2" fmla="*/ 14878 w 40481"/>
                <a:gd name="connsiteY2" fmla="*/ 35225 h 102220"/>
                <a:gd name="connsiteX3" fmla="*/ 14878 w 40481"/>
                <a:gd name="connsiteY3" fmla="*/ 102221 h 102220"/>
                <a:gd name="connsiteX4" fmla="*/ 40482 w 40481"/>
                <a:gd name="connsiteY4" fmla="*/ 102221 h 102220"/>
                <a:gd name="connsiteX5" fmla="*/ 40482 w 40481"/>
                <a:gd name="connsiteY5" fmla="*/ 0 h 102220"/>
                <a:gd name="connsiteX6" fmla="*/ 0 w 40481"/>
                <a:gd name="connsiteY6" fmla="*/ 0 h 102220"/>
                <a:gd name="connsiteX7" fmla="*/ 0 w 40481"/>
                <a:gd name="connsiteY7" fmla="*/ 25555 h 102220"/>
                <a:gd name="connsiteX8" fmla="*/ 5536 w 40481"/>
                <a:gd name="connsiteY8" fmla="*/ 25555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481" h="102220">
                  <a:moveTo>
                    <a:pt x="5190" y="25555"/>
                  </a:moveTo>
                  <a:cubicBezTo>
                    <a:pt x="5882" y="25555"/>
                    <a:pt x="6574" y="25555"/>
                    <a:pt x="7266" y="25555"/>
                  </a:cubicBezTo>
                  <a:cubicBezTo>
                    <a:pt x="12110" y="26246"/>
                    <a:pt x="14878" y="30045"/>
                    <a:pt x="14878" y="35225"/>
                  </a:cubicBezTo>
                  <a:lnTo>
                    <a:pt x="14878" y="102221"/>
                  </a:lnTo>
                  <a:lnTo>
                    <a:pt x="40482" y="102221"/>
                  </a:lnTo>
                  <a:lnTo>
                    <a:pt x="40482" y="0"/>
                  </a:lnTo>
                  <a:lnTo>
                    <a:pt x="0" y="0"/>
                  </a:lnTo>
                  <a:lnTo>
                    <a:pt x="0" y="25555"/>
                  </a:lnTo>
                  <a:lnTo>
                    <a:pt x="5536" y="25555"/>
                  </a:lnTo>
                  <a:close/>
                </a:path>
              </a:pathLst>
            </a:custGeom>
            <a:grpFill/>
            <a:ln w="3458" cap="flat">
              <a:noFill/>
              <a:prstDash val="solid"/>
              <a:miter/>
            </a:ln>
          </p:spPr>
          <p:txBody>
            <a:bodyPr rtlCol="0" anchor="ctr"/>
            <a:lstStyle/>
            <a:p>
              <a:endParaRPr lang="en-US" sz="1800"/>
            </a:p>
          </p:txBody>
        </p:sp>
        <p:sp>
          <p:nvSpPr>
            <p:cNvPr id="21" name="Freeform 20">
              <a:extLst>
                <a:ext uri="{FF2B5EF4-FFF2-40B4-BE49-F238E27FC236}">
                  <a16:creationId xmlns:a16="http://schemas.microsoft.com/office/drawing/2014/main" id="{5308F59A-B699-AB3E-CF97-5EF299ECC0A1}"/>
                </a:ext>
              </a:extLst>
            </p:cNvPr>
            <p:cNvSpPr/>
            <p:nvPr/>
          </p:nvSpPr>
          <p:spPr>
            <a:xfrm>
              <a:off x="9146218" y="7685087"/>
              <a:ext cx="128365" cy="102220"/>
            </a:xfrm>
            <a:custGeom>
              <a:avLst/>
              <a:gdLst>
                <a:gd name="connsiteX0" fmla="*/ 128365 w 128365"/>
                <a:gd name="connsiteY0" fmla="*/ 81846 h 102220"/>
                <a:gd name="connsiteX1" fmla="*/ 128365 w 128365"/>
                <a:gd name="connsiteY1" fmla="*/ 102221 h 102220"/>
                <a:gd name="connsiteX2" fmla="*/ 19722 w 128365"/>
                <a:gd name="connsiteY2" fmla="*/ 60780 h 102220"/>
                <a:gd name="connsiteX3" fmla="*/ 0 w 128365"/>
                <a:gd name="connsiteY3" fmla="*/ 30735 h 102220"/>
                <a:gd name="connsiteX4" fmla="*/ 31140 w 128365"/>
                <a:gd name="connsiteY4" fmla="*/ 0 h 102220"/>
                <a:gd name="connsiteX5" fmla="*/ 128020 w 128365"/>
                <a:gd name="connsiteY5" fmla="*/ 0 h 102220"/>
                <a:gd name="connsiteX6" fmla="*/ 128020 w 128365"/>
                <a:gd name="connsiteY6" fmla="*/ 40059 h 102220"/>
                <a:gd name="connsiteX7" fmla="*/ 102416 w 128365"/>
                <a:gd name="connsiteY7" fmla="*/ 40059 h 102220"/>
                <a:gd name="connsiteX8" fmla="*/ 102416 w 128365"/>
                <a:gd name="connsiteY8" fmla="*/ 32807 h 102220"/>
                <a:gd name="connsiteX9" fmla="*/ 94458 w 128365"/>
                <a:gd name="connsiteY9" fmla="*/ 25555 h 102220"/>
                <a:gd name="connsiteX10" fmla="*/ 37714 w 128365"/>
                <a:gd name="connsiteY10" fmla="*/ 25555 h 102220"/>
                <a:gd name="connsiteX11" fmla="*/ 29756 w 128365"/>
                <a:gd name="connsiteY11" fmla="*/ 33498 h 102220"/>
                <a:gd name="connsiteX12" fmla="*/ 34946 w 128365"/>
                <a:gd name="connsiteY12" fmla="*/ 41095 h 102220"/>
                <a:gd name="connsiteX13" fmla="*/ 119370 w 128365"/>
                <a:gd name="connsiteY13" fmla="*/ 70795 h 102220"/>
                <a:gd name="connsiteX14" fmla="*/ 127674 w 128365"/>
                <a:gd name="connsiteY14"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8365" h="102220">
                  <a:moveTo>
                    <a:pt x="128365" y="81846"/>
                  </a:moveTo>
                  <a:lnTo>
                    <a:pt x="128365"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close/>
                </a:path>
              </a:pathLst>
            </a:custGeom>
            <a:grpFill/>
            <a:ln w="3458" cap="flat">
              <a:noFill/>
              <a:prstDash val="solid"/>
              <a:miter/>
            </a:ln>
          </p:spPr>
          <p:txBody>
            <a:bodyPr rtlCol="0" anchor="ctr"/>
            <a:lstStyle/>
            <a:p>
              <a:endParaRPr lang="en-US" sz="1800"/>
            </a:p>
          </p:txBody>
        </p:sp>
        <p:sp>
          <p:nvSpPr>
            <p:cNvPr id="22" name="Freeform 21">
              <a:extLst>
                <a:ext uri="{FF2B5EF4-FFF2-40B4-BE49-F238E27FC236}">
                  <a16:creationId xmlns:a16="http://schemas.microsoft.com/office/drawing/2014/main" id="{39954F61-7834-C29E-6112-788A0F461E59}"/>
                </a:ext>
              </a:extLst>
            </p:cNvPr>
            <p:cNvSpPr/>
            <p:nvPr/>
          </p:nvSpPr>
          <p:spPr>
            <a:xfrm>
              <a:off x="9146564" y="7761753"/>
              <a:ext cx="25258" cy="25555"/>
            </a:xfrm>
            <a:custGeom>
              <a:avLst/>
              <a:gdLst>
                <a:gd name="connsiteX0" fmla="*/ 25258 w 25258"/>
                <a:gd name="connsiteY0" fmla="*/ 0 h 25555"/>
                <a:gd name="connsiteX1" fmla="*/ 0 w 25258"/>
                <a:gd name="connsiteY1" fmla="*/ 0 h 25555"/>
                <a:gd name="connsiteX2" fmla="*/ 0 w 25258"/>
                <a:gd name="connsiteY2" fmla="*/ 25555 h 25555"/>
                <a:gd name="connsiteX3" fmla="*/ 25258 w 25258"/>
                <a:gd name="connsiteY3" fmla="*/ 25555 h 25555"/>
                <a:gd name="connsiteX4" fmla="*/ 25258 w 25258"/>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8"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23" name="Freeform 22">
              <a:extLst>
                <a:ext uri="{FF2B5EF4-FFF2-40B4-BE49-F238E27FC236}">
                  <a16:creationId xmlns:a16="http://schemas.microsoft.com/office/drawing/2014/main" id="{0CB30C72-CD21-56E2-7058-306294D997F0}"/>
                </a:ext>
              </a:extLst>
            </p:cNvPr>
            <p:cNvSpPr/>
            <p:nvPr/>
          </p:nvSpPr>
          <p:spPr>
            <a:xfrm>
              <a:off x="8480170" y="7685087"/>
              <a:ext cx="128019" cy="102220"/>
            </a:xfrm>
            <a:custGeom>
              <a:avLst/>
              <a:gdLst>
                <a:gd name="connsiteX0" fmla="*/ 128020 w 128019"/>
                <a:gd name="connsiteY0" fmla="*/ 81846 h 102220"/>
                <a:gd name="connsiteX1" fmla="*/ 128020 w 128019"/>
                <a:gd name="connsiteY1" fmla="*/ 102221 h 102220"/>
                <a:gd name="connsiteX2" fmla="*/ 19722 w 128019"/>
                <a:gd name="connsiteY2" fmla="*/ 60780 h 102220"/>
                <a:gd name="connsiteX3" fmla="*/ 0 w 128019"/>
                <a:gd name="connsiteY3" fmla="*/ 30735 h 102220"/>
                <a:gd name="connsiteX4" fmla="*/ 31140 w 128019"/>
                <a:gd name="connsiteY4" fmla="*/ 0 h 102220"/>
                <a:gd name="connsiteX5" fmla="*/ 128020 w 128019"/>
                <a:gd name="connsiteY5" fmla="*/ 0 h 102220"/>
                <a:gd name="connsiteX6" fmla="*/ 128020 w 128019"/>
                <a:gd name="connsiteY6" fmla="*/ 40059 h 102220"/>
                <a:gd name="connsiteX7" fmla="*/ 102416 w 128019"/>
                <a:gd name="connsiteY7" fmla="*/ 40059 h 102220"/>
                <a:gd name="connsiteX8" fmla="*/ 102416 w 128019"/>
                <a:gd name="connsiteY8" fmla="*/ 32807 h 102220"/>
                <a:gd name="connsiteX9" fmla="*/ 94458 w 128019"/>
                <a:gd name="connsiteY9" fmla="*/ 25555 h 102220"/>
                <a:gd name="connsiteX10" fmla="*/ 37714 w 128019"/>
                <a:gd name="connsiteY10" fmla="*/ 25555 h 102220"/>
                <a:gd name="connsiteX11" fmla="*/ 29756 w 128019"/>
                <a:gd name="connsiteY11" fmla="*/ 33498 h 102220"/>
                <a:gd name="connsiteX12" fmla="*/ 34946 w 128019"/>
                <a:gd name="connsiteY12" fmla="*/ 41095 h 102220"/>
                <a:gd name="connsiteX13" fmla="*/ 119370 w 128019"/>
                <a:gd name="connsiteY13" fmla="*/ 70795 h 102220"/>
                <a:gd name="connsiteX14" fmla="*/ 127674 w 128019"/>
                <a:gd name="connsiteY14" fmla="*/ 81846 h 102220"/>
                <a:gd name="connsiteX15" fmla="*/ 127674 w 128019"/>
                <a:gd name="connsiteY15"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8019" h="102220">
                  <a:moveTo>
                    <a:pt x="128020" y="81846"/>
                  </a:moveTo>
                  <a:lnTo>
                    <a:pt x="128020"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lnTo>
                    <a:pt x="127674" y="81846"/>
                  </a:lnTo>
                  <a:close/>
                </a:path>
              </a:pathLst>
            </a:custGeom>
            <a:grpFill/>
            <a:ln w="3458" cap="flat">
              <a:noFill/>
              <a:prstDash val="solid"/>
              <a:miter/>
            </a:ln>
          </p:spPr>
          <p:txBody>
            <a:bodyPr rtlCol="0" anchor="ctr"/>
            <a:lstStyle/>
            <a:p>
              <a:endParaRPr lang="en-US" sz="1800"/>
            </a:p>
          </p:txBody>
        </p:sp>
        <p:sp>
          <p:nvSpPr>
            <p:cNvPr id="24" name="Freeform 23">
              <a:extLst>
                <a:ext uri="{FF2B5EF4-FFF2-40B4-BE49-F238E27FC236}">
                  <a16:creationId xmlns:a16="http://schemas.microsoft.com/office/drawing/2014/main" id="{8A0F8160-C1DB-CC8A-E39C-FE00E705DBF0}"/>
                </a:ext>
              </a:extLst>
            </p:cNvPr>
            <p:cNvSpPr/>
            <p:nvPr/>
          </p:nvSpPr>
          <p:spPr>
            <a:xfrm>
              <a:off x="8480516" y="7761753"/>
              <a:ext cx="25257" cy="25555"/>
            </a:xfrm>
            <a:custGeom>
              <a:avLst/>
              <a:gdLst>
                <a:gd name="connsiteX0" fmla="*/ 25258 w 25257"/>
                <a:gd name="connsiteY0" fmla="*/ 0 h 25555"/>
                <a:gd name="connsiteX1" fmla="*/ 0 w 25257"/>
                <a:gd name="connsiteY1" fmla="*/ 0 h 25555"/>
                <a:gd name="connsiteX2" fmla="*/ 0 w 25257"/>
                <a:gd name="connsiteY2" fmla="*/ 25555 h 25555"/>
                <a:gd name="connsiteX3" fmla="*/ 25258 w 25257"/>
                <a:gd name="connsiteY3" fmla="*/ 25555 h 25555"/>
                <a:gd name="connsiteX4" fmla="*/ 25258 w 25257"/>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7"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25" name="Freeform 24">
              <a:extLst>
                <a:ext uri="{FF2B5EF4-FFF2-40B4-BE49-F238E27FC236}">
                  <a16:creationId xmlns:a16="http://schemas.microsoft.com/office/drawing/2014/main" id="{83695381-7278-5305-A523-B7EAE6B9582B}"/>
                </a:ext>
              </a:extLst>
            </p:cNvPr>
            <p:cNvSpPr/>
            <p:nvPr/>
          </p:nvSpPr>
          <p:spPr>
            <a:xfrm>
              <a:off x="9300533" y="7685087"/>
              <a:ext cx="128019" cy="102220"/>
            </a:xfrm>
            <a:custGeom>
              <a:avLst/>
              <a:gdLst>
                <a:gd name="connsiteX0" fmla="*/ 128020 w 128019"/>
                <a:gd name="connsiteY0" fmla="*/ 25555 h 102220"/>
                <a:gd name="connsiteX1" fmla="*/ 128020 w 128019"/>
                <a:gd name="connsiteY1" fmla="*/ 0 h 102220"/>
                <a:gd name="connsiteX2" fmla="*/ 105530 w 128019"/>
                <a:gd name="connsiteY2" fmla="*/ 0 h 102220"/>
                <a:gd name="connsiteX3" fmla="*/ 100686 w 128019"/>
                <a:gd name="connsiteY3" fmla="*/ 1727 h 102220"/>
                <a:gd name="connsiteX4" fmla="*/ 60550 w 128019"/>
                <a:gd name="connsiteY4" fmla="*/ 37987 h 102220"/>
                <a:gd name="connsiteX5" fmla="*/ 56398 w 128019"/>
                <a:gd name="connsiteY5" fmla="*/ 39714 h 102220"/>
                <a:gd name="connsiteX6" fmla="*/ 28372 w 128019"/>
                <a:gd name="connsiteY6" fmla="*/ 39714 h 102220"/>
                <a:gd name="connsiteX7" fmla="*/ 25258 w 128019"/>
                <a:gd name="connsiteY7" fmla="*/ 36606 h 102220"/>
                <a:gd name="connsiteX8" fmla="*/ 25258 w 128019"/>
                <a:gd name="connsiteY8" fmla="*/ 0 h 102220"/>
                <a:gd name="connsiteX9" fmla="*/ 0 w 128019"/>
                <a:gd name="connsiteY9" fmla="*/ 0 h 102220"/>
                <a:gd name="connsiteX10" fmla="*/ 0 w 128019"/>
                <a:gd name="connsiteY10" fmla="*/ 102221 h 102220"/>
                <a:gd name="connsiteX11" fmla="*/ 25258 w 128019"/>
                <a:gd name="connsiteY11" fmla="*/ 102221 h 102220"/>
                <a:gd name="connsiteX12" fmla="*/ 25258 w 128019"/>
                <a:gd name="connsiteY12" fmla="*/ 65615 h 102220"/>
                <a:gd name="connsiteX13" fmla="*/ 28372 w 128019"/>
                <a:gd name="connsiteY13" fmla="*/ 62507 h 102220"/>
                <a:gd name="connsiteX14" fmla="*/ 56398 w 128019"/>
                <a:gd name="connsiteY14" fmla="*/ 62507 h 102220"/>
                <a:gd name="connsiteX15" fmla="*/ 60550 w 128019"/>
                <a:gd name="connsiteY15" fmla="*/ 64233 h 102220"/>
                <a:gd name="connsiteX16" fmla="*/ 100686 w 128019"/>
                <a:gd name="connsiteY16" fmla="*/ 100494 h 102220"/>
                <a:gd name="connsiteX17" fmla="*/ 105530 w 128019"/>
                <a:gd name="connsiteY17" fmla="*/ 102221 h 102220"/>
                <a:gd name="connsiteX18" fmla="*/ 128020 w 128019"/>
                <a:gd name="connsiteY18" fmla="*/ 102221 h 102220"/>
                <a:gd name="connsiteX19" fmla="*/ 128020 w 128019"/>
                <a:gd name="connsiteY19" fmla="*/ 76665 h 102220"/>
                <a:gd name="connsiteX20" fmla="*/ 115564 w 128019"/>
                <a:gd name="connsiteY20" fmla="*/ 76665 h 102220"/>
                <a:gd name="connsiteX21" fmla="*/ 105184 w 128019"/>
                <a:gd name="connsiteY21" fmla="*/ 72867 h 102220"/>
                <a:gd name="connsiteX22" fmla="*/ 86154 w 128019"/>
                <a:gd name="connsiteY22" fmla="*/ 55945 h 102220"/>
                <a:gd name="connsiteX23" fmla="*/ 86154 w 128019"/>
                <a:gd name="connsiteY23" fmla="*/ 45930 h 102220"/>
                <a:gd name="connsiteX24" fmla="*/ 105184 w 128019"/>
                <a:gd name="connsiteY24" fmla="*/ 29009 h 102220"/>
                <a:gd name="connsiteX25" fmla="*/ 115564 w 128019"/>
                <a:gd name="connsiteY25" fmla="*/ 25210 h 102220"/>
                <a:gd name="connsiteX26" fmla="*/ 128020 w 128019"/>
                <a:gd name="connsiteY26" fmla="*/ 2521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8019" h="102220">
                  <a:moveTo>
                    <a:pt x="128020" y="25555"/>
                  </a:moveTo>
                  <a:lnTo>
                    <a:pt x="128020" y="0"/>
                  </a:lnTo>
                  <a:lnTo>
                    <a:pt x="105530" y="0"/>
                  </a:lnTo>
                  <a:cubicBezTo>
                    <a:pt x="103800" y="0"/>
                    <a:pt x="102070" y="691"/>
                    <a:pt x="100686" y="1727"/>
                  </a:cubicBezTo>
                  <a:lnTo>
                    <a:pt x="60550" y="37987"/>
                  </a:lnTo>
                  <a:cubicBezTo>
                    <a:pt x="59512" y="39023"/>
                    <a:pt x="58128" y="39714"/>
                    <a:pt x="56398" y="39714"/>
                  </a:cubicBezTo>
                  <a:lnTo>
                    <a:pt x="28372" y="39714"/>
                  </a:lnTo>
                  <a:cubicBezTo>
                    <a:pt x="26642" y="39714"/>
                    <a:pt x="25258" y="38333"/>
                    <a:pt x="25258" y="36606"/>
                  </a:cubicBezTo>
                  <a:lnTo>
                    <a:pt x="25258" y="0"/>
                  </a:lnTo>
                  <a:lnTo>
                    <a:pt x="0" y="0"/>
                  </a:lnTo>
                  <a:lnTo>
                    <a:pt x="0" y="102221"/>
                  </a:lnTo>
                  <a:lnTo>
                    <a:pt x="25258" y="102221"/>
                  </a:lnTo>
                  <a:lnTo>
                    <a:pt x="25258" y="65615"/>
                  </a:lnTo>
                  <a:cubicBezTo>
                    <a:pt x="25258" y="63888"/>
                    <a:pt x="26642" y="62507"/>
                    <a:pt x="28372" y="62507"/>
                  </a:cubicBezTo>
                  <a:lnTo>
                    <a:pt x="56398" y="62507"/>
                  </a:lnTo>
                  <a:cubicBezTo>
                    <a:pt x="57782" y="62507"/>
                    <a:pt x="59512" y="62852"/>
                    <a:pt x="60550" y="64233"/>
                  </a:cubicBezTo>
                  <a:lnTo>
                    <a:pt x="100686" y="100494"/>
                  </a:lnTo>
                  <a:cubicBezTo>
                    <a:pt x="102070" y="101530"/>
                    <a:pt x="103800" y="102221"/>
                    <a:pt x="105530" y="102221"/>
                  </a:cubicBezTo>
                  <a:lnTo>
                    <a:pt x="128020" y="102221"/>
                  </a:lnTo>
                  <a:lnTo>
                    <a:pt x="128020" y="76665"/>
                  </a:lnTo>
                  <a:lnTo>
                    <a:pt x="115564" y="76665"/>
                  </a:lnTo>
                  <a:cubicBezTo>
                    <a:pt x="111758" y="76665"/>
                    <a:pt x="107952" y="75284"/>
                    <a:pt x="105184" y="72867"/>
                  </a:cubicBezTo>
                  <a:lnTo>
                    <a:pt x="86154" y="55945"/>
                  </a:lnTo>
                  <a:cubicBezTo>
                    <a:pt x="83040" y="53528"/>
                    <a:pt x="83040" y="48693"/>
                    <a:pt x="86154" y="45930"/>
                  </a:cubicBezTo>
                  <a:lnTo>
                    <a:pt x="105184" y="29009"/>
                  </a:lnTo>
                  <a:cubicBezTo>
                    <a:pt x="108298" y="26591"/>
                    <a:pt x="111758" y="25210"/>
                    <a:pt x="115564" y="25210"/>
                  </a:cubicBezTo>
                  <a:lnTo>
                    <a:pt x="128020" y="25210"/>
                  </a:lnTo>
                  <a:close/>
                </a:path>
              </a:pathLst>
            </a:custGeom>
            <a:grpFill/>
            <a:ln w="3458" cap="flat">
              <a:noFill/>
              <a:prstDash val="solid"/>
              <a:miter/>
            </a:ln>
          </p:spPr>
          <p:txBody>
            <a:bodyPr rtlCol="0" anchor="ctr"/>
            <a:lstStyle/>
            <a:p>
              <a:endParaRPr lang="en-US" sz="1800"/>
            </a:p>
          </p:txBody>
        </p:sp>
        <p:sp>
          <p:nvSpPr>
            <p:cNvPr id="26" name="Freeform 25">
              <a:extLst>
                <a:ext uri="{FF2B5EF4-FFF2-40B4-BE49-F238E27FC236}">
                  <a16:creationId xmlns:a16="http://schemas.microsoft.com/office/drawing/2014/main" id="{F9303C80-5A5C-92C6-4960-E066E5DA9F6B}"/>
                </a:ext>
              </a:extLst>
            </p:cNvPr>
            <p:cNvSpPr/>
            <p:nvPr/>
          </p:nvSpPr>
          <p:spPr>
            <a:xfrm>
              <a:off x="8623760" y="7684742"/>
              <a:ext cx="138053" cy="102565"/>
            </a:xfrm>
            <a:custGeom>
              <a:avLst/>
              <a:gdLst>
                <a:gd name="connsiteX0" fmla="*/ 99302 w 138053"/>
                <a:gd name="connsiteY0" fmla="*/ 345 h 102565"/>
                <a:gd name="connsiteX1" fmla="*/ 70238 w 138053"/>
                <a:gd name="connsiteY1" fmla="*/ 14850 h 102565"/>
                <a:gd name="connsiteX2" fmla="*/ 0 w 138053"/>
                <a:gd name="connsiteY2" fmla="*/ 102566 h 102565"/>
                <a:gd name="connsiteX3" fmla="*/ 35638 w 138053"/>
                <a:gd name="connsiteY3" fmla="*/ 102566 h 102565"/>
                <a:gd name="connsiteX4" fmla="*/ 93420 w 138053"/>
                <a:gd name="connsiteY4" fmla="*/ 31426 h 102565"/>
                <a:gd name="connsiteX5" fmla="*/ 102762 w 138053"/>
                <a:gd name="connsiteY5" fmla="*/ 26246 h 102565"/>
                <a:gd name="connsiteX6" fmla="*/ 112450 w 138053"/>
                <a:gd name="connsiteY6" fmla="*/ 36951 h 102565"/>
                <a:gd name="connsiteX7" fmla="*/ 112450 w 138053"/>
                <a:gd name="connsiteY7" fmla="*/ 68032 h 102565"/>
                <a:gd name="connsiteX8" fmla="*/ 105184 w 138053"/>
                <a:gd name="connsiteY8" fmla="*/ 77011 h 102565"/>
                <a:gd name="connsiteX9" fmla="*/ 97918 w 138053"/>
                <a:gd name="connsiteY9" fmla="*/ 77011 h 102565"/>
                <a:gd name="connsiteX10" fmla="*/ 97918 w 138053"/>
                <a:gd name="connsiteY10" fmla="*/ 102566 h 102565"/>
                <a:gd name="connsiteX11" fmla="*/ 138054 w 138053"/>
                <a:gd name="connsiteY11" fmla="*/ 102566 h 102565"/>
                <a:gd name="connsiteX12" fmla="*/ 138054 w 138053"/>
                <a:gd name="connsiteY12" fmla="*/ 38333 h 102565"/>
                <a:gd name="connsiteX13" fmla="*/ 98956 w 138053"/>
                <a:gd name="connsiteY13" fmla="*/ 0 h 102565"/>
                <a:gd name="connsiteX14" fmla="*/ 98956 w 138053"/>
                <a:gd name="connsiteY14" fmla="*/ 0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8053" h="102565">
                  <a:moveTo>
                    <a:pt x="99302" y="345"/>
                  </a:moveTo>
                  <a:cubicBezTo>
                    <a:pt x="87884" y="345"/>
                    <a:pt x="77158" y="5871"/>
                    <a:pt x="70238" y="14850"/>
                  </a:cubicBezTo>
                  <a:lnTo>
                    <a:pt x="0" y="102566"/>
                  </a:lnTo>
                  <a:lnTo>
                    <a:pt x="35638" y="102566"/>
                  </a:lnTo>
                  <a:lnTo>
                    <a:pt x="93420" y="31426"/>
                  </a:lnTo>
                  <a:cubicBezTo>
                    <a:pt x="96188" y="27973"/>
                    <a:pt x="98264" y="26246"/>
                    <a:pt x="102762" y="26246"/>
                  </a:cubicBezTo>
                  <a:cubicBezTo>
                    <a:pt x="107260" y="26246"/>
                    <a:pt x="112450" y="31081"/>
                    <a:pt x="112450" y="36951"/>
                  </a:cubicBezTo>
                  <a:lnTo>
                    <a:pt x="112450" y="68032"/>
                  </a:lnTo>
                  <a:cubicBezTo>
                    <a:pt x="112450" y="72867"/>
                    <a:pt x="110028" y="77011"/>
                    <a:pt x="105184" y="77011"/>
                  </a:cubicBezTo>
                  <a:lnTo>
                    <a:pt x="97918" y="77011"/>
                  </a:lnTo>
                  <a:lnTo>
                    <a:pt x="97918" y="102566"/>
                  </a:lnTo>
                  <a:lnTo>
                    <a:pt x="138054" y="102566"/>
                  </a:lnTo>
                  <a:lnTo>
                    <a:pt x="138054" y="38333"/>
                  </a:lnTo>
                  <a:cubicBezTo>
                    <a:pt x="138054" y="33153"/>
                    <a:pt x="138054" y="0"/>
                    <a:pt x="98956" y="0"/>
                  </a:cubicBezTo>
                  <a:lnTo>
                    <a:pt x="98956" y="0"/>
                  </a:lnTo>
                  <a:close/>
                </a:path>
              </a:pathLst>
            </a:custGeom>
            <a:grpFill/>
            <a:ln w="3458" cap="flat">
              <a:noFill/>
              <a:prstDash val="solid"/>
              <a:miter/>
            </a:ln>
          </p:spPr>
          <p:txBody>
            <a:bodyPr rtlCol="0" anchor="ctr"/>
            <a:lstStyle/>
            <a:p>
              <a:endParaRPr lang="en-US" sz="1800"/>
            </a:p>
          </p:txBody>
        </p:sp>
        <p:sp>
          <p:nvSpPr>
            <p:cNvPr id="27" name="Freeform 26">
              <a:extLst>
                <a:ext uri="{FF2B5EF4-FFF2-40B4-BE49-F238E27FC236}">
                  <a16:creationId xmlns:a16="http://schemas.microsoft.com/office/drawing/2014/main" id="{FF1929CF-D5C2-9070-55B0-3C7531FDD463}"/>
                </a:ext>
              </a:extLst>
            </p:cNvPr>
            <p:cNvSpPr/>
            <p:nvPr/>
          </p:nvSpPr>
          <p:spPr>
            <a:xfrm>
              <a:off x="9480453" y="7685087"/>
              <a:ext cx="30793" cy="25555"/>
            </a:xfrm>
            <a:custGeom>
              <a:avLst/>
              <a:gdLst>
                <a:gd name="connsiteX0" fmla="*/ 30448 w 30793"/>
                <a:gd name="connsiteY0" fmla="*/ 0 h 25555"/>
                <a:gd name="connsiteX1" fmla="*/ 30448 w 30793"/>
                <a:gd name="connsiteY1" fmla="*/ 25555 h 25555"/>
                <a:gd name="connsiteX2" fmla="*/ 24912 w 30793"/>
                <a:gd name="connsiteY2" fmla="*/ 25555 h 25555"/>
                <a:gd name="connsiteX3" fmla="*/ 24912 w 30793"/>
                <a:gd name="connsiteY3" fmla="*/ 5180 h 25555"/>
                <a:gd name="connsiteX4" fmla="*/ 24912 w 30793"/>
                <a:gd name="connsiteY4" fmla="*/ 5180 h 25555"/>
                <a:gd name="connsiteX5" fmla="*/ 17646 w 30793"/>
                <a:gd name="connsiteY5" fmla="*/ 25555 h 25555"/>
                <a:gd name="connsiteX6" fmla="*/ 12802 w 30793"/>
                <a:gd name="connsiteY6" fmla="*/ 25555 h 25555"/>
                <a:gd name="connsiteX7" fmla="*/ 5536 w 30793"/>
                <a:gd name="connsiteY7" fmla="*/ 5180 h 25555"/>
                <a:gd name="connsiteX8" fmla="*/ 5536 w 30793"/>
                <a:gd name="connsiteY8" fmla="*/ 5180 h 25555"/>
                <a:gd name="connsiteX9" fmla="*/ 5536 w 30793"/>
                <a:gd name="connsiteY9" fmla="*/ 25555 h 25555"/>
                <a:gd name="connsiteX10" fmla="*/ 0 w 30793"/>
                <a:gd name="connsiteY10" fmla="*/ 25555 h 25555"/>
                <a:gd name="connsiteX11" fmla="*/ 0 w 30793"/>
                <a:gd name="connsiteY11" fmla="*/ 0 h 25555"/>
                <a:gd name="connsiteX12" fmla="*/ 9688 w 30793"/>
                <a:gd name="connsiteY12" fmla="*/ 0 h 25555"/>
                <a:gd name="connsiteX13" fmla="*/ 15570 w 30793"/>
                <a:gd name="connsiteY13" fmla="*/ 17267 h 25555"/>
                <a:gd name="connsiteX14" fmla="*/ 15570 w 30793"/>
                <a:gd name="connsiteY14" fmla="*/ 17267 h 25555"/>
                <a:gd name="connsiteX15" fmla="*/ 21798 w 30793"/>
                <a:gd name="connsiteY15" fmla="*/ 0 h 25555"/>
                <a:gd name="connsiteX16" fmla="*/ 30794 w 30793"/>
                <a:gd name="connsiteY16" fmla="*/ 0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793" h="25555">
                  <a:moveTo>
                    <a:pt x="30448" y="0"/>
                  </a:moveTo>
                  <a:lnTo>
                    <a:pt x="30448" y="25555"/>
                  </a:lnTo>
                  <a:lnTo>
                    <a:pt x="24912" y="25555"/>
                  </a:lnTo>
                  <a:lnTo>
                    <a:pt x="24912" y="5180"/>
                  </a:lnTo>
                  <a:lnTo>
                    <a:pt x="24912" y="5180"/>
                  </a:lnTo>
                  <a:lnTo>
                    <a:pt x="17646" y="25555"/>
                  </a:lnTo>
                  <a:lnTo>
                    <a:pt x="12802" y="25555"/>
                  </a:lnTo>
                  <a:lnTo>
                    <a:pt x="5536" y="5180"/>
                  </a:lnTo>
                  <a:lnTo>
                    <a:pt x="5536" y="5180"/>
                  </a:lnTo>
                  <a:lnTo>
                    <a:pt x="5536" y="25555"/>
                  </a:lnTo>
                  <a:lnTo>
                    <a:pt x="0" y="25555"/>
                  </a:lnTo>
                  <a:lnTo>
                    <a:pt x="0" y="0"/>
                  </a:lnTo>
                  <a:lnTo>
                    <a:pt x="9688" y="0"/>
                  </a:lnTo>
                  <a:lnTo>
                    <a:pt x="15570" y="17267"/>
                  </a:lnTo>
                  <a:lnTo>
                    <a:pt x="15570" y="17267"/>
                  </a:lnTo>
                  <a:lnTo>
                    <a:pt x="21798" y="0"/>
                  </a:lnTo>
                  <a:lnTo>
                    <a:pt x="30794" y="0"/>
                  </a:lnTo>
                  <a:close/>
                </a:path>
              </a:pathLst>
            </a:custGeom>
            <a:grpFill/>
            <a:ln w="3458" cap="flat">
              <a:noFill/>
              <a:prstDash val="solid"/>
              <a:miter/>
            </a:ln>
          </p:spPr>
          <p:txBody>
            <a:bodyPr rtlCol="0" anchor="ctr"/>
            <a:lstStyle/>
            <a:p>
              <a:endParaRPr lang="en-US" sz="1800"/>
            </a:p>
          </p:txBody>
        </p:sp>
        <p:sp>
          <p:nvSpPr>
            <p:cNvPr id="28" name="Freeform 27">
              <a:extLst>
                <a:ext uri="{FF2B5EF4-FFF2-40B4-BE49-F238E27FC236}">
                  <a16:creationId xmlns:a16="http://schemas.microsoft.com/office/drawing/2014/main" id="{32FF1998-5937-9DFC-DA03-C6C693287226}"/>
                </a:ext>
              </a:extLst>
            </p:cNvPr>
            <p:cNvSpPr/>
            <p:nvPr/>
          </p:nvSpPr>
          <p:spPr>
            <a:xfrm>
              <a:off x="9453811" y="7685087"/>
              <a:ext cx="21451" cy="25555"/>
            </a:xfrm>
            <a:custGeom>
              <a:avLst/>
              <a:gdLst>
                <a:gd name="connsiteX0" fmla="*/ 13840 w 21451"/>
                <a:gd name="connsiteY0" fmla="*/ 4835 h 25555"/>
                <a:gd name="connsiteX1" fmla="*/ 13840 w 21451"/>
                <a:gd name="connsiteY1" fmla="*/ 25555 h 25555"/>
                <a:gd name="connsiteX2" fmla="*/ 7958 w 21451"/>
                <a:gd name="connsiteY2" fmla="*/ 25555 h 25555"/>
                <a:gd name="connsiteX3" fmla="*/ 7958 w 21451"/>
                <a:gd name="connsiteY3" fmla="*/ 4835 h 25555"/>
                <a:gd name="connsiteX4" fmla="*/ 0 w 21451"/>
                <a:gd name="connsiteY4" fmla="*/ 4835 h 25555"/>
                <a:gd name="connsiteX5" fmla="*/ 0 w 21451"/>
                <a:gd name="connsiteY5" fmla="*/ 0 h 25555"/>
                <a:gd name="connsiteX6" fmla="*/ 21452 w 21451"/>
                <a:gd name="connsiteY6" fmla="*/ 0 h 25555"/>
                <a:gd name="connsiteX7" fmla="*/ 21452 w 21451"/>
                <a:gd name="connsiteY7" fmla="*/ 4835 h 25555"/>
                <a:gd name="connsiteX8" fmla="*/ 13494 w 21451"/>
                <a:gd name="connsiteY8" fmla="*/ 4835 h 25555"/>
                <a:gd name="connsiteX9" fmla="*/ 13494 w 21451"/>
                <a:gd name="connsiteY9" fmla="*/ 4835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451" h="25555">
                  <a:moveTo>
                    <a:pt x="13840" y="4835"/>
                  </a:moveTo>
                  <a:lnTo>
                    <a:pt x="13840" y="25555"/>
                  </a:lnTo>
                  <a:lnTo>
                    <a:pt x="7958" y="25555"/>
                  </a:lnTo>
                  <a:lnTo>
                    <a:pt x="7958" y="4835"/>
                  </a:lnTo>
                  <a:lnTo>
                    <a:pt x="0" y="4835"/>
                  </a:lnTo>
                  <a:lnTo>
                    <a:pt x="0" y="0"/>
                  </a:lnTo>
                  <a:lnTo>
                    <a:pt x="21452" y="0"/>
                  </a:lnTo>
                  <a:lnTo>
                    <a:pt x="21452" y="4835"/>
                  </a:lnTo>
                  <a:lnTo>
                    <a:pt x="13494" y="4835"/>
                  </a:lnTo>
                  <a:lnTo>
                    <a:pt x="13494" y="4835"/>
                  </a:lnTo>
                  <a:close/>
                </a:path>
              </a:pathLst>
            </a:custGeom>
            <a:grpFill/>
            <a:ln w="3458" cap="flat">
              <a:noFill/>
              <a:prstDash val="solid"/>
              <a:miter/>
            </a:ln>
          </p:spPr>
          <p:txBody>
            <a:bodyPr rtlCol="0" anchor="ctr"/>
            <a:lstStyle/>
            <a:p>
              <a:endParaRPr lang="en-US" sz="1800"/>
            </a:p>
          </p:txBody>
        </p:sp>
      </p:grpSp>
      <p:sp>
        <p:nvSpPr>
          <p:cNvPr id="32" name="name_2024 sandisk or its affiliates All rights reserved">
            <a:extLst>
              <a:ext uri="{FF2B5EF4-FFF2-40B4-BE49-F238E27FC236}">
                <a16:creationId xmlns:a16="http://schemas.microsoft.com/office/drawing/2014/main" id="{FFB30446-98ED-E20A-5D61-9A227D4A47B3}"/>
              </a:ext>
            </a:extLst>
          </p:cNvPr>
          <p:cNvSpPr txBox="1"/>
          <p:nvPr/>
        </p:nvSpPr>
        <p:spPr>
          <a:xfrm>
            <a:off x="6096000" y="6437971"/>
            <a:ext cx="5803900"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b">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r" defTabSz="609412" hangingPunct="0">
              <a:lnSpc>
                <a:spcPct val="100000"/>
              </a:lnSpc>
            </a:pPr>
            <a:r>
              <a:rPr lang="en-US" sz="1000" b="0" i="0" kern="0" spc="0" baseline="0">
                <a:solidFill>
                  <a:schemeClr val="bg1"/>
                </a:solidFill>
                <a:latin typeface="NB Architekt Pro Neue" panose="02010509020201040001" pitchFamily="49" charset="77"/>
                <a:cs typeface="Consolas" panose="020B0609020204030204" pitchFamily="49" charset="0"/>
              </a:rPr>
              <a:t>©2025 SANDISK CORPORATION OR ITS AFFILIATES ALL RIGHTS RESERVED</a:t>
            </a:r>
          </a:p>
        </p:txBody>
      </p:sp>
      <p:sp>
        <p:nvSpPr>
          <p:cNvPr id="33" name="name_2024 sandisk or its affiliates All rights reserved">
            <a:extLst>
              <a:ext uri="{FF2B5EF4-FFF2-40B4-BE49-F238E27FC236}">
                <a16:creationId xmlns:a16="http://schemas.microsoft.com/office/drawing/2014/main" id="{73062082-7507-CB6E-07EA-9A09200BDCE0}"/>
              </a:ext>
            </a:extLst>
          </p:cNvPr>
          <p:cNvSpPr txBox="1"/>
          <p:nvPr/>
        </p:nvSpPr>
        <p:spPr>
          <a:xfrm>
            <a:off x="8997951" y="267518"/>
            <a:ext cx="2242276"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bg1"/>
                </a:solidFill>
                <a:latin typeface="NB Architekt Pro Neue" panose="02010509020201040001" pitchFamily="49" charset="77"/>
                <a:cs typeface="Consolas" panose="020B0609020204030204" pitchFamily="49" charset="0"/>
              </a:rPr>
              <a:t>“START” “REPEAT” “1988/2025”</a:t>
            </a:r>
          </a:p>
        </p:txBody>
      </p:sp>
      <p:sp>
        <p:nvSpPr>
          <p:cNvPr id="35" name="Rectangle 34">
            <a:extLst>
              <a:ext uri="{FF2B5EF4-FFF2-40B4-BE49-F238E27FC236}">
                <a16:creationId xmlns:a16="http://schemas.microsoft.com/office/drawing/2014/main" id="{1A12CBE4-3356-D233-C1C6-57028888BA46}"/>
              </a:ext>
            </a:extLst>
          </p:cNvPr>
          <p:cNvSpPr/>
          <p:nvPr/>
        </p:nvSpPr>
        <p:spPr>
          <a:xfrm>
            <a:off x="11808843" y="296581"/>
            <a:ext cx="91057" cy="9105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995390453"/>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Subtitle Gray">
    <p:bg>
      <p:bgPr>
        <a:solidFill>
          <a:schemeClr val="accent1"/>
        </a:solidFill>
        <a:effectLst/>
      </p:bgPr>
    </p:bg>
    <p:spTree>
      <p:nvGrpSpPr>
        <p:cNvPr id="1" name=""/>
        <p:cNvGrpSpPr/>
        <p:nvPr/>
      </p:nvGrpSpPr>
      <p:grpSpPr>
        <a:xfrm>
          <a:off x="0" y="0"/>
          <a:ext cx="0" cy="0"/>
          <a:chOff x="0" y="0"/>
          <a:chExt cx="0" cy="0"/>
        </a:xfrm>
      </p:grpSpPr>
      <p:sp>
        <p:nvSpPr>
          <p:cNvPr id="2" name="name_2024 sandisk or its affiliates All rights reserved">
            <a:extLst>
              <a:ext uri="{FF2B5EF4-FFF2-40B4-BE49-F238E27FC236}">
                <a16:creationId xmlns:a16="http://schemas.microsoft.com/office/drawing/2014/main" id="{EF2E9E0C-E8BF-E64B-88D1-09D94508D838}"/>
              </a:ext>
            </a:extLst>
          </p:cNvPr>
          <p:cNvSpPr txBox="1"/>
          <p:nvPr/>
        </p:nvSpPr>
        <p:spPr>
          <a:xfrm>
            <a:off x="292100" y="267518"/>
            <a:ext cx="1323975"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tx1"/>
                </a:solidFill>
                <a:latin typeface="NB Architekt Pro Neue" panose="02010509020201040001" pitchFamily="49" charset="77"/>
                <a:cs typeface="Consolas" panose="020B0609020204030204" pitchFamily="49" charset="0"/>
              </a:rPr>
              <a:t>[Confidential]</a:t>
            </a:r>
          </a:p>
        </p:txBody>
      </p:sp>
      <p:sp>
        <p:nvSpPr>
          <p:cNvPr id="60" name="Title 1">
            <a:extLst>
              <a:ext uri="{FF2B5EF4-FFF2-40B4-BE49-F238E27FC236}">
                <a16:creationId xmlns:a16="http://schemas.microsoft.com/office/drawing/2014/main" id="{DC22E9CB-00DB-F8F3-4E25-BF980D833313}"/>
              </a:ext>
            </a:extLst>
          </p:cNvPr>
          <p:cNvSpPr>
            <a:spLocks noGrp="1"/>
          </p:cNvSpPr>
          <p:nvPr>
            <p:ph type="title" hasCustomPrompt="1"/>
          </p:nvPr>
        </p:nvSpPr>
        <p:spPr>
          <a:xfrm>
            <a:off x="292098" y="442939"/>
            <a:ext cx="11607801" cy="960120"/>
          </a:xfrm>
          <a:prstGeom prst="rect">
            <a:avLst/>
          </a:prstGeom>
        </p:spPr>
        <p:txBody>
          <a:bodyPr wrap="square" lIns="0" anchor="b">
            <a:noAutofit/>
          </a:bodyPr>
          <a:lstStyle>
            <a:lvl1pPr>
              <a:lnSpc>
                <a:spcPct val="100000"/>
              </a:lnSpc>
              <a:defRPr sz="3000" b="0" spc="0" baseline="0">
                <a:solidFill>
                  <a:schemeClr val="tx1"/>
                </a:solidFill>
                <a:latin typeface="+mj-lt"/>
              </a:defRPr>
            </a:lvl1pPr>
          </a:lstStyle>
          <a:p>
            <a:r>
              <a:rPr lang="en-US"/>
              <a:t>CLICK TO ADD TITLE</a:t>
            </a:r>
          </a:p>
        </p:txBody>
      </p:sp>
      <p:sp>
        <p:nvSpPr>
          <p:cNvPr id="61" name="Text Placeholder 13">
            <a:extLst>
              <a:ext uri="{FF2B5EF4-FFF2-40B4-BE49-F238E27FC236}">
                <a16:creationId xmlns:a16="http://schemas.microsoft.com/office/drawing/2014/main" id="{958C97A4-E8B0-290A-15E7-CED030171903}"/>
              </a:ext>
            </a:extLst>
          </p:cNvPr>
          <p:cNvSpPr>
            <a:spLocks noGrp="1"/>
          </p:cNvSpPr>
          <p:nvPr>
            <p:ph type="body" sz="quarter" idx="12" hasCustomPrompt="1"/>
          </p:nvPr>
        </p:nvSpPr>
        <p:spPr>
          <a:xfrm>
            <a:off x="292099" y="1407519"/>
            <a:ext cx="11608311" cy="496143"/>
          </a:xfrm>
          <a:prstGeom prst="rect">
            <a:avLst/>
          </a:prstGeom>
        </p:spPr>
        <p:txBody>
          <a:bodyPr wrap="none" lIns="0" bIns="0">
            <a:noAutofit/>
          </a:bodyPr>
          <a:lstStyle>
            <a:lvl1pPr marL="0" indent="0">
              <a:lnSpc>
                <a:spcPct val="100000"/>
              </a:lnSpc>
              <a:spcAft>
                <a:spcPts val="0"/>
              </a:spcAft>
              <a:buNone/>
              <a:defRPr sz="3000" b="0" spc="0" baseline="0">
                <a:solidFill>
                  <a:schemeClr val="accent1">
                    <a:lumMod val="50000"/>
                  </a:schemeClr>
                </a:solidFill>
                <a:latin typeface="+mj-lt"/>
              </a:defRPr>
            </a:lvl1pPr>
            <a:lvl2pPr marL="274304" indent="0">
              <a:buNone/>
              <a:defRPr/>
            </a:lvl2pPr>
            <a:lvl3pPr marL="914346" indent="0">
              <a:buNone/>
              <a:defRPr/>
            </a:lvl3pPr>
            <a:lvl4pPr marL="1371519" indent="0">
              <a:buNone/>
              <a:defRPr/>
            </a:lvl4pPr>
            <a:lvl5pPr marL="1828693" indent="0">
              <a:buNone/>
              <a:defRPr/>
            </a:lvl5pPr>
          </a:lstStyle>
          <a:p>
            <a:pPr lvl="0"/>
            <a:r>
              <a:rPr lang="en-US"/>
              <a:t>Click to Add Subtitle</a:t>
            </a:r>
          </a:p>
        </p:txBody>
      </p:sp>
      <p:sp>
        <p:nvSpPr>
          <p:cNvPr id="3" name="Slide Number Placeholder 5">
            <a:extLst>
              <a:ext uri="{FF2B5EF4-FFF2-40B4-BE49-F238E27FC236}">
                <a16:creationId xmlns:a16="http://schemas.microsoft.com/office/drawing/2014/main" id="{B3E99B66-6085-AF23-EFBE-ECBF95F2CCD6}"/>
              </a:ext>
            </a:extLst>
          </p:cNvPr>
          <p:cNvSpPr>
            <a:spLocks noGrp="1"/>
          </p:cNvSpPr>
          <p:nvPr>
            <p:ph type="sldNum" sz="quarter" idx="4"/>
          </p:nvPr>
        </p:nvSpPr>
        <p:spPr>
          <a:xfrm>
            <a:off x="3194050" y="6455472"/>
            <a:ext cx="855221" cy="118872"/>
          </a:xfrm>
          <a:prstGeom prst="rect">
            <a:avLst/>
          </a:prstGeom>
        </p:spPr>
        <p:txBody>
          <a:bodyPr vert="horz" lIns="0" tIns="0" rIns="0" bIns="0" rtlCol="0" anchor="ctr"/>
          <a:lstStyle>
            <a:lvl1pPr algn="l">
              <a:defRPr sz="1000" b="0" i="0" spc="0" baseline="0">
                <a:solidFill>
                  <a:schemeClr val="tx1"/>
                </a:solidFill>
                <a:latin typeface="NB Architekt Pro Neue" panose="02010509020201040001" pitchFamily="49" charset="77"/>
                <a:cs typeface="Consolas" panose="020B0609020204030204" pitchFamily="49" charset="0"/>
              </a:defRPr>
            </a:lvl1pPr>
          </a:lstStyle>
          <a:p>
            <a:r>
              <a:rPr lang="en-US"/>
              <a:t>00.0</a:t>
            </a:r>
            <a:fld id="{4571BA12-316B-0A40-BB3D-1A8CDD33E9E5}" type="slidenum">
              <a:rPr lang="en-US" smtClean="0"/>
              <a:pPr/>
              <a:t>‹#›</a:t>
            </a:fld>
            <a:endParaRPr lang="en-US"/>
          </a:p>
        </p:txBody>
      </p:sp>
      <p:grpSp>
        <p:nvGrpSpPr>
          <p:cNvPr id="17" name="Group 16">
            <a:extLst>
              <a:ext uri="{FF2B5EF4-FFF2-40B4-BE49-F238E27FC236}">
                <a16:creationId xmlns:a16="http://schemas.microsoft.com/office/drawing/2014/main" id="{E6B2361C-1FF1-AEB6-6713-E0281B36B064}"/>
              </a:ext>
            </a:extLst>
          </p:cNvPr>
          <p:cNvGrpSpPr>
            <a:grpSpLocks noChangeAspect="1"/>
          </p:cNvGrpSpPr>
          <p:nvPr/>
        </p:nvGrpSpPr>
        <p:grpSpPr>
          <a:xfrm>
            <a:off x="297027" y="6344485"/>
            <a:ext cx="2240280" cy="218081"/>
            <a:chOff x="8480170" y="7684742"/>
            <a:chExt cx="1031076" cy="102566"/>
          </a:xfrm>
          <a:solidFill>
            <a:schemeClr val="accent3"/>
          </a:solidFill>
        </p:grpSpPr>
        <p:sp>
          <p:nvSpPr>
            <p:cNvPr id="18" name="Freeform 17">
              <a:extLst>
                <a:ext uri="{FF2B5EF4-FFF2-40B4-BE49-F238E27FC236}">
                  <a16:creationId xmlns:a16="http://schemas.microsoft.com/office/drawing/2014/main" id="{B9EE28EB-F6F1-36C1-2B7E-8D95ED05FB19}"/>
                </a:ext>
              </a:extLst>
            </p:cNvPr>
            <p:cNvSpPr/>
            <p:nvPr/>
          </p:nvSpPr>
          <p:spPr>
            <a:xfrm>
              <a:off x="8788109" y="7684742"/>
              <a:ext cx="128019" cy="102565"/>
            </a:xfrm>
            <a:custGeom>
              <a:avLst/>
              <a:gdLst>
                <a:gd name="connsiteX0" fmla="*/ 102070 w 128019"/>
                <a:gd name="connsiteY0" fmla="*/ 70104 h 102565"/>
                <a:gd name="connsiteX1" fmla="*/ 96188 w 128019"/>
                <a:gd name="connsiteY1" fmla="*/ 77011 h 102565"/>
                <a:gd name="connsiteX2" fmla="*/ 89268 w 128019"/>
                <a:gd name="connsiteY2" fmla="*/ 72521 h 102565"/>
                <a:gd name="connsiteX3" fmla="*/ 65740 w 128019"/>
                <a:gd name="connsiteY3" fmla="*/ 8288 h 102565"/>
                <a:gd name="connsiteX4" fmla="*/ 54668 w 128019"/>
                <a:gd name="connsiteY4" fmla="*/ 0 h 102565"/>
                <a:gd name="connsiteX5" fmla="*/ 0 w 128019"/>
                <a:gd name="connsiteY5" fmla="*/ 0 h 102565"/>
                <a:gd name="connsiteX6" fmla="*/ 0 w 128019"/>
                <a:gd name="connsiteY6" fmla="*/ 102221 h 102565"/>
                <a:gd name="connsiteX7" fmla="*/ 40136 w 128019"/>
                <a:gd name="connsiteY7" fmla="*/ 102221 h 102565"/>
                <a:gd name="connsiteX8" fmla="*/ 40136 w 128019"/>
                <a:gd name="connsiteY8" fmla="*/ 76665 h 102565"/>
                <a:gd name="connsiteX9" fmla="*/ 32870 w 128019"/>
                <a:gd name="connsiteY9" fmla="*/ 76665 h 102565"/>
                <a:gd name="connsiteX10" fmla="*/ 25604 w 128019"/>
                <a:gd name="connsiteY10" fmla="*/ 67687 h 102565"/>
                <a:gd name="connsiteX11" fmla="*/ 25604 w 128019"/>
                <a:gd name="connsiteY11" fmla="*/ 36951 h 102565"/>
                <a:gd name="connsiteX12" fmla="*/ 39790 w 128019"/>
                <a:gd name="connsiteY12" fmla="*/ 26591 h 102565"/>
                <a:gd name="connsiteX13" fmla="*/ 45672 w 128019"/>
                <a:gd name="connsiteY13" fmla="*/ 32807 h 102565"/>
                <a:gd name="connsiteX14" fmla="*/ 64356 w 128019"/>
                <a:gd name="connsiteY14" fmla="*/ 81500 h 102565"/>
                <a:gd name="connsiteX15" fmla="*/ 95150 w 128019"/>
                <a:gd name="connsiteY15" fmla="*/ 102566 h 102565"/>
                <a:gd name="connsiteX16" fmla="*/ 95842 w 128019"/>
                <a:gd name="connsiteY16" fmla="*/ 102566 h 102565"/>
                <a:gd name="connsiteX17" fmla="*/ 128020 w 128019"/>
                <a:gd name="connsiteY17" fmla="*/ 70795 h 102565"/>
                <a:gd name="connsiteX18" fmla="*/ 128020 w 128019"/>
                <a:gd name="connsiteY18" fmla="*/ 345 h 102565"/>
                <a:gd name="connsiteX19" fmla="*/ 102416 w 128019"/>
                <a:gd name="connsiteY19" fmla="*/ 345 h 102565"/>
                <a:gd name="connsiteX20" fmla="*/ 102416 w 128019"/>
                <a:gd name="connsiteY20" fmla="*/ 70104 h 102565"/>
                <a:gd name="connsiteX21" fmla="*/ 102416 w 128019"/>
                <a:gd name="connsiteY21" fmla="*/ 70104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8019" h="102565">
                  <a:moveTo>
                    <a:pt x="102070" y="70104"/>
                  </a:moveTo>
                  <a:cubicBezTo>
                    <a:pt x="102070" y="73557"/>
                    <a:pt x="99648" y="76665"/>
                    <a:pt x="96188" y="77011"/>
                  </a:cubicBezTo>
                  <a:cubicBezTo>
                    <a:pt x="93074" y="77356"/>
                    <a:pt x="90306" y="75629"/>
                    <a:pt x="89268" y="72521"/>
                  </a:cubicBezTo>
                  <a:lnTo>
                    <a:pt x="65740" y="8288"/>
                  </a:lnTo>
                  <a:cubicBezTo>
                    <a:pt x="64010" y="3108"/>
                    <a:pt x="59858" y="0"/>
                    <a:pt x="54668" y="0"/>
                  </a:cubicBezTo>
                  <a:lnTo>
                    <a:pt x="0" y="0"/>
                  </a:lnTo>
                  <a:lnTo>
                    <a:pt x="0" y="102221"/>
                  </a:lnTo>
                  <a:lnTo>
                    <a:pt x="40136" y="102221"/>
                  </a:lnTo>
                  <a:lnTo>
                    <a:pt x="40136" y="76665"/>
                  </a:lnTo>
                  <a:lnTo>
                    <a:pt x="32870" y="76665"/>
                  </a:lnTo>
                  <a:cubicBezTo>
                    <a:pt x="28026" y="76665"/>
                    <a:pt x="25604" y="72521"/>
                    <a:pt x="25604" y="67687"/>
                  </a:cubicBezTo>
                  <a:lnTo>
                    <a:pt x="25604" y="36951"/>
                  </a:lnTo>
                  <a:cubicBezTo>
                    <a:pt x="25604" y="29354"/>
                    <a:pt x="32870" y="23828"/>
                    <a:pt x="39790" y="26591"/>
                  </a:cubicBezTo>
                  <a:cubicBezTo>
                    <a:pt x="42212" y="27627"/>
                    <a:pt x="44634" y="30045"/>
                    <a:pt x="45672" y="32807"/>
                  </a:cubicBezTo>
                  <a:lnTo>
                    <a:pt x="64356" y="81500"/>
                  </a:lnTo>
                  <a:cubicBezTo>
                    <a:pt x="69200" y="94278"/>
                    <a:pt x="81310" y="102566"/>
                    <a:pt x="95150" y="102566"/>
                  </a:cubicBezTo>
                  <a:lnTo>
                    <a:pt x="95842" y="102566"/>
                  </a:lnTo>
                  <a:cubicBezTo>
                    <a:pt x="113488" y="102566"/>
                    <a:pt x="128020" y="88407"/>
                    <a:pt x="128020" y="70795"/>
                  </a:cubicBezTo>
                  <a:lnTo>
                    <a:pt x="128020" y="345"/>
                  </a:lnTo>
                  <a:lnTo>
                    <a:pt x="102416" y="345"/>
                  </a:lnTo>
                  <a:lnTo>
                    <a:pt x="102416" y="70104"/>
                  </a:lnTo>
                  <a:lnTo>
                    <a:pt x="102416" y="70104"/>
                  </a:lnTo>
                  <a:close/>
                </a:path>
              </a:pathLst>
            </a:custGeom>
            <a:grpFill/>
            <a:ln w="3458" cap="flat">
              <a:noFill/>
              <a:prstDash val="solid"/>
              <a:miter/>
            </a:ln>
          </p:spPr>
          <p:txBody>
            <a:bodyPr rtlCol="0" anchor="ctr"/>
            <a:lstStyle/>
            <a:p>
              <a:endParaRPr lang="en-US" sz="1800"/>
            </a:p>
          </p:txBody>
        </p:sp>
        <p:sp>
          <p:nvSpPr>
            <p:cNvPr id="19" name="Freeform 18">
              <a:extLst>
                <a:ext uri="{FF2B5EF4-FFF2-40B4-BE49-F238E27FC236}">
                  <a16:creationId xmlns:a16="http://schemas.microsoft.com/office/drawing/2014/main" id="{EB4C1E28-F21E-4009-364A-DE62868FCC6C}"/>
                </a:ext>
              </a:extLst>
            </p:cNvPr>
            <p:cNvSpPr/>
            <p:nvPr/>
          </p:nvSpPr>
          <p:spPr>
            <a:xfrm>
              <a:off x="8941733" y="7685087"/>
              <a:ext cx="128019" cy="102220"/>
            </a:xfrm>
            <a:custGeom>
              <a:avLst/>
              <a:gdLst>
                <a:gd name="connsiteX0" fmla="*/ 76812 w 128019"/>
                <a:gd name="connsiteY0" fmla="*/ 0 h 102220"/>
                <a:gd name="connsiteX1" fmla="*/ 0 w 128019"/>
                <a:gd name="connsiteY1" fmla="*/ 0 h 102220"/>
                <a:gd name="connsiteX2" fmla="*/ 0 w 128019"/>
                <a:gd name="connsiteY2" fmla="*/ 25555 h 102220"/>
                <a:gd name="connsiteX3" fmla="*/ 76812 w 128019"/>
                <a:gd name="connsiteY3" fmla="*/ 25555 h 102220"/>
                <a:gd name="connsiteX4" fmla="*/ 102416 w 128019"/>
                <a:gd name="connsiteY4" fmla="*/ 51110 h 102220"/>
                <a:gd name="connsiteX5" fmla="*/ 76812 w 128019"/>
                <a:gd name="connsiteY5" fmla="*/ 76665 h 102220"/>
                <a:gd name="connsiteX6" fmla="*/ 0 w 128019"/>
                <a:gd name="connsiteY6" fmla="*/ 76665 h 102220"/>
                <a:gd name="connsiteX7" fmla="*/ 0 w 128019"/>
                <a:gd name="connsiteY7" fmla="*/ 102221 h 102220"/>
                <a:gd name="connsiteX8" fmla="*/ 76812 w 128019"/>
                <a:gd name="connsiteY8" fmla="*/ 102221 h 102220"/>
                <a:gd name="connsiteX9" fmla="*/ 121792 w 128019"/>
                <a:gd name="connsiteY9" fmla="*/ 75629 h 102220"/>
                <a:gd name="connsiteX10" fmla="*/ 128020 w 128019"/>
                <a:gd name="connsiteY10" fmla="*/ 51110 h 102220"/>
                <a:gd name="connsiteX11" fmla="*/ 121792 w 128019"/>
                <a:gd name="connsiteY11" fmla="*/ 26591 h 102220"/>
                <a:gd name="connsiteX12" fmla="*/ 76812 w 128019"/>
                <a:gd name="connsiteY12" fmla="*/ 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8019" h="102220">
                  <a:moveTo>
                    <a:pt x="76812" y="0"/>
                  </a:moveTo>
                  <a:lnTo>
                    <a:pt x="0" y="0"/>
                  </a:lnTo>
                  <a:lnTo>
                    <a:pt x="0" y="25555"/>
                  </a:lnTo>
                  <a:lnTo>
                    <a:pt x="76812" y="25555"/>
                  </a:lnTo>
                  <a:cubicBezTo>
                    <a:pt x="90306" y="25555"/>
                    <a:pt x="102416" y="37297"/>
                    <a:pt x="102416" y="51110"/>
                  </a:cubicBezTo>
                  <a:cubicBezTo>
                    <a:pt x="102416" y="64924"/>
                    <a:pt x="90652" y="76665"/>
                    <a:pt x="76812" y="76665"/>
                  </a:cubicBezTo>
                  <a:lnTo>
                    <a:pt x="0" y="76665"/>
                  </a:lnTo>
                  <a:lnTo>
                    <a:pt x="0" y="102221"/>
                  </a:lnTo>
                  <a:lnTo>
                    <a:pt x="76812" y="102221"/>
                  </a:lnTo>
                  <a:cubicBezTo>
                    <a:pt x="96188" y="102221"/>
                    <a:pt x="113142" y="91515"/>
                    <a:pt x="121792" y="75629"/>
                  </a:cubicBezTo>
                  <a:cubicBezTo>
                    <a:pt x="125598" y="68377"/>
                    <a:pt x="128020" y="59744"/>
                    <a:pt x="128020" y="51110"/>
                  </a:cubicBezTo>
                  <a:cubicBezTo>
                    <a:pt x="128020" y="42477"/>
                    <a:pt x="125598" y="33843"/>
                    <a:pt x="121792" y="26591"/>
                  </a:cubicBezTo>
                  <a:cubicBezTo>
                    <a:pt x="113142" y="10706"/>
                    <a:pt x="96188" y="0"/>
                    <a:pt x="76812" y="0"/>
                  </a:cubicBezTo>
                  <a:close/>
                </a:path>
              </a:pathLst>
            </a:custGeom>
            <a:grpFill/>
            <a:ln w="3458" cap="flat">
              <a:noFill/>
              <a:prstDash val="solid"/>
              <a:miter/>
            </a:ln>
          </p:spPr>
          <p:txBody>
            <a:bodyPr rtlCol="0" anchor="ctr"/>
            <a:lstStyle/>
            <a:p>
              <a:endParaRPr lang="en-US" sz="1800"/>
            </a:p>
          </p:txBody>
        </p:sp>
        <p:sp>
          <p:nvSpPr>
            <p:cNvPr id="20" name="Freeform 19">
              <a:extLst>
                <a:ext uri="{FF2B5EF4-FFF2-40B4-BE49-F238E27FC236}">
                  <a16:creationId xmlns:a16="http://schemas.microsoft.com/office/drawing/2014/main" id="{107B6AB7-06DE-2432-5F21-63EE86265FC7}"/>
                </a:ext>
              </a:extLst>
            </p:cNvPr>
            <p:cNvSpPr/>
            <p:nvPr/>
          </p:nvSpPr>
          <p:spPr>
            <a:xfrm>
              <a:off x="9080478" y="7685087"/>
              <a:ext cx="40481" cy="102220"/>
            </a:xfrm>
            <a:custGeom>
              <a:avLst/>
              <a:gdLst>
                <a:gd name="connsiteX0" fmla="*/ 5190 w 40481"/>
                <a:gd name="connsiteY0" fmla="*/ 25555 h 102220"/>
                <a:gd name="connsiteX1" fmla="*/ 7266 w 40481"/>
                <a:gd name="connsiteY1" fmla="*/ 25555 h 102220"/>
                <a:gd name="connsiteX2" fmla="*/ 14878 w 40481"/>
                <a:gd name="connsiteY2" fmla="*/ 35225 h 102220"/>
                <a:gd name="connsiteX3" fmla="*/ 14878 w 40481"/>
                <a:gd name="connsiteY3" fmla="*/ 102221 h 102220"/>
                <a:gd name="connsiteX4" fmla="*/ 40482 w 40481"/>
                <a:gd name="connsiteY4" fmla="*/ 102221 h 102220"/>
                <a:gd name="connsiteX5" fmla="*/ 40482 w 40481"/>
                <a:gd name="connsiteY5" fmla="*/ 0 h 102220"/>
                <a:gd name="connsiteX6" fmla="*/ 0 w 40481"/>
                <a:gd name="connsiteY6" fmla="*/ 0 h 102220"/>
                <a:gd name="connsiteX7" fmla="*/ 0 w 40481"/>
                <a:gd name="connsiteY7" fmla="*/ 25555 h 102220"/>
                <a:gd name="connsiteX8" fmla="*/ 5536 w 40481"/>
                <a:gd name="connsiteY8" fmla="*/ 25555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481" h="102220">
                  <a:moveTo>
                    <a:pt x="5190" y="25555"/>
                  </a:moveTo>
                  <a:cubicBezTo>
                    <a:pt x="5882" y="25555"/>
                    <a:pt x="6574" y="25555"/>
                    <a:pt x="7266" y="25555"/>
                  </a:cubicBezTo>
                  <a:cubicBezTo>
                    <a:pt x="12110" y="26246"/>
                    <a:pt x="14878" y="30045"/>
                    <a:pt x="14878" y="35225"/>
                  </a:cubicBezTo>
                  <a:lnTo>
                    <a:pt x="14878" y="102221"/>
                  </a:lnTo>
                  <a:lnTo>
                    <a:pt x="40482" y="102221"/>
                  </a:lnTo>
                  <a:lnTo>
                    <a:pt x="40482" y="0"/>
                  </a:lnTo>
                  <a:lnTo>
                    <a:pt x="0" y="0"/>
                  </a:lnTo>
                  <a:lnTo>
                    <a:pt x="0" y="25555"/>
                  </a:lnTo>
                  <a:lnTo>
                    <a:pt x="5536" y="25555"/>
                  </a:lnTo>
                  <a:close/>
                </a:path>
              </a:pathLst>
            </a:custGeom>
            <a:grpFill/>
            <a:ln w="3458" cap="flat">
              <a:noFill/>
              <a:prstDash val="solid"/>
              <a:miter/>
            </a:ln>
          </p:spPr>
          <p:txBody>
            <a:bodyPr rtlCol="0" anchor="ctr"/>
            <a:lstStyle/>
            <a:p>
              <a:endParaRPr lang="en-US" sz="1800"/>
            </a:p>
          </p:txBody>
        </p:sp>
        <p:sp>
          <p:nvSpPr>
            <p:cNvPr id="21" name="Freeform 20">
              <a:extLst>
                <a:ext uri="{FF2B5EF4-FFF2-40B4-BE49-F238E27FC236}">
                  <a16:creationId xmlns:a16="http://schemas.microsoft.com/office/drawing/2014/main" id="{B44C2123-F401-DA5E-2E1B-BC06F75AF327}"/>
                </a:ext>
              </a:extLst>
            </p:cNvPr>
            <p:cNvSpPr/>
            <p:nvPr/>
          </p:nvSpPr>
          <p:spPr>
            <a:xfrm>
              <a:off x="9146218" y="7685087"/>
              <a:ext cx="128365" cy="102220"/>
            </a:xfrm>
            <a:custGeom>
              <a:avLst/>
              <a:gdLst>
                <a:gd name="connsiteX0" fmla="*/ 128365 w 128365"/>
                <a:gd name="connsiteY0" fmla="*/ 81846 h 102220"/>
                <a:gd name="connsiteX1" fmla="*/ 128365 w 128365"/>
                <a:gd name="connsiteY1" fmla="*/ 102221 h 102220"/>
                <a:gd name="connsiteX2" fmla="*/ 19722 w 128365"/>
                <a:gd name="connsiteY2" fmla="*/ 60780 h 102220"/>
                <a:gd name="connsiteX3" fmla="*/ 0 w 128365"/>
                <a:gd name="connsiteY3" fmla="*/ 30735 h 102220"/>
                <a:gd name="connsiteX4" fmla="*/ 31140 w 128365"/>
                <a:gd name="connsiteY4" fmla="*/ 0 h 102220"/>
                <a:gd name="connsiteX5" fmla="*/ 128020 w 128365"/>
                <a:gd name="connsiteY5" fmla="*/ 0 h 102220"/>
                <a:gd name="connsiteX6" fmla="*/ 128020 w 128365"/>
                <a:gd name="connsiteY6" fmla="*/ 40059 h 102220"/>
                <a:gd name="connsiteX7" fmla="*/ 102416 w 128365"/>
                <a:gd name="connsiteY7" fmla="*/ 40059 h 102220"/>
                <a:gd name="connsiteX8" fmla="*/ 102416 w 128365"/>
                <a:gd name="connsiteY8" fmla="*/ 32807 h 102220"/>
                <a:gd name="connsiteX9" fmla="*/ 94458 w 128365"/>
                <a:gd name="connsiteY9" fmla="*/ 25555 h 102220"/>
                <a:gd name="connsiteX10" fmla="*/ 37714 w 128365"/>
                <a:gd name="connsiteY10" fmla="*/ 25555 h 102220"/>
                <a:gd name="connsiteX11" fmla="*/ 29756 w 128365"/>
                <a:gd name="connsiteY11" fmla="*/ 33498 h 102220"/>
                <a:gd name="connsiteX12" fmla="*/ 34946 w 128365"/>
                <a:gd name="connsiteY12" fmla="*/ 41095 h 102220"/>
                <a:gd name="connsiteX13" fmla="*/ 119370 w 128365"/>
                <a:gd name="connsiteY13" fmla="*/ 70795 h 102220"/>
                <a:gd name="connsiteX14" fmla="*/ 127674 w 128365"/>
                <a:gd name="connsiteY14"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8365" h="102220">
                  <a:moveTo>
                    <a:pt x="128365" y="81846"/>
                  </a:moveTo>
                  <a:lnTo>
                    <a:pt x="128365"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close/>
                </a:path>
              </a:pathLst>
            </a:custGeom>
            <a:grpFill/>
            <a:ln w="3458" cap="flat">
              <a:noFill/>
              <a:prstDash val="solid"/>
              <a:miter/>
            </a:ln>
          </p:spPr>
          <p:txBody>
            <a:bodyPr rtlCol="0" anchor="ctr"/>
            <a:lstStyle/>
            <a:p>
              <a:endParaRPr lang="en-US" sz="1800"/>
            </a:p>
          </p:txBody>
        </p:sp>
        <p:sp>
          <p:nvSpPr>
            <p:cNvPr id="22" name="Freeform 21">
              <a:extLst>
                <a:ext uri="{FF2B5EF4-FFF2-40B4-BE49-F238E27FC236}">
                  <a16:creationId xmlns:a16="http://schemas.microsoft.com/office/drawing/2014/main" id="{73A91731-E5A9-3219-EC9D-A11740DE7B2F}"/>
                </a:ext>
              </a:extLst>
            </p:cNvPr>
            <p:cNvSpPr/>
            <p:nvPr/>
          </p:nvSpPr>
          <p:spPr>
            <a:xfrm>
              <a:off x="9146564" y="7761753"/>
              <a:ext cx="25258" cy="25555"/>
            </a:xfrm>
            <a:custGeom>
              <a:avLst/>
              <a:gdLst>
                <a:gd name="connsiteX0" fmla="*/ 25258 w 25258"/>
                <a:gd name="connsiteY0" fmla="*/ 0 h 25555"/>
                <a:gd name="connsiteX1" fmla="*/ 0 w 25258"/>
                <a:gd name="connsiteY1" fmla="*/ 0 h 25555"/>
                <a:gd name="connsiteX2" fmla="*/ 0 w 25258"/>
                <a:gd name="connsiteY2" fmla="*/ 25555 h 25555"/>
                <a:gd name="connsiteX3" fmla="*/ 25258 w 25258"/>
                <a:gd name="connsiteY3" fmla="*/ 25555 h 25555"/>
                <a:gd name="connsiteX4" fmla="*/ 25258 w 25258"/>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8"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23" name="Freeform 22">
              <a:extLst>
                <a:ext uri="{FF2B5EF4-FFF2-40B4-BE49-F238E27FC236}">
                  <a16:creationId xmlns:a16="http://schemas.microsoft.com/office/drawing/2014/main" id="{06F72D44-45C2-4750-6FAC-C96D33746180}"/>
                </a:ext>
              </a:extLst>
            </p:cNvPr>
            <p:cNvSpPr/>
            <p:nvPr/>
          </p:nvSpPr>
          <p:spPr>
            <a:xfrm>
              <a:off x="8480170" y="7685087"/>
              <a:ext cx="128019" cy="102220"/>
            </a:xfrm>
            <a:custGeom>
              <a:avLst/>
              <a:gdLst>
                <a:gd name="connsiteX0" fmla="*/ 128020 w 128019"/>
                <a:gd name="connsiteY0" fmla="*/ 81846 h 102220"/>
                <a:gd name="connsiteX1" fmla="*/ 128020 w 128019"/>
                <a:gd name="connsiteY1" fmla="*/ 102221 h 102220"/>
                <a:gd name="connsiteX2" fmla="*/ 19722 w 128019"/>
                <a:gd name="connsiteY2" fmla="*/ 60780 h 102220"/>
                <a:gd name="connsiteX3" fmla="*/ 0 w 128019"/>
                <a:gd name="connsiteY3" fmla="*/ 30735 h 102220"/>
                <a:gd name="connsiteX4" fmla="*/ 31140 w 128019"/>
                <a:gd name="connsiteY4" fmla="*/ 0 h 102220"/>
                <a:gd name="connsiteX5" fmla="*/ 128020 w 128019"/>
                <a:gd name="connsiteY5" fmla="*/ 0 h 102220"/>
                <a:gd name="connsiteX6" fmla="*/ 128020 w 128019"/>
                <a:gd name="connsiteY6" fmla="*/ 40059 h 102220"/>
                <a:gd name="connsiteX7" fmla="*/ 102416 w 128019"/>
                <a:gd name="connsiteY7" fmla="*/ 40059 h 102220"/>
                <a:gd name="connsiteX8" fmla="*/ 102416 w 128019"/>
                <a:gd name="connsiteY8" fmla="*/ 32807 h 102220"/>
                <a:gd name="connsiteX9" fmla="*/ 94458 w 128019"/>
                <a:gd name="connsiteY9" fmla="*/ 25555 h 102220"/>
                <a:gd name="connsiteX10" fmla="*/ 37714 w 128019"/>
                <a:gd name="connsiteY10" fmla="*/ 25555 h 102220"/>
                <a:gd name="connsiteX11" fmla="*/ 29756 w 128019"/>
                <a:gd name="connsiteY11" fmla="*/ 33498 h 102220"/>
                <a:gd name="connsiteX12" fmla="*/ 34946 w 128019"/>
                <a:gd name="connsiteY12" fmla="*/ 41095 h 102220"/>
                <a:gd name="connsiteX13" fmla="*/ 119370 w 128019"/>
                <a:gd name="connsiteY13" fmla="*/ 70795 h 102220"/>
                <a:gd name="connsiteX14" fmla="*/ 127674 w 128019"/>
                <a:gd name="connsiteY14" fmla="*/ 81846 h 102220"/>
                <a:gd name="connsiteX15" fmla="*/ 127674 w 128019"/>
                <a:gd name="connsiteY15"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8019" h="102220">
                  <a:moveTo>
                    <a:pt x="128020" y="81846"/>
                  </a:moveTo>
                  <a:lnTo>
                    <a:pt x="128020"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lnTo>
                    <a:pt x="127674" y="81846"/>
                  </a:lnTo>
                  <a:close/>
                </a:path>
              </a:pathLst>
            </a:custGeom>
            <a:grpFill/>
            <a:ln w="3458" cap="flat">
              <a:noFill/>
              <a:prstDash val="solid"/>
              <a:miter/>
            </a:ln>
          </p:spPr>
          <p:txBody>
            <a:bodyPr rtlCol="0" anchor="ctr"/>
            <a:lstStyle/>
            <a:p>
              <a:endParaRPr lang="en-US" sz="1800"/>
            </a:p>
          </p:txBody>
        </p:sp>
        <p:sp>
          <p:nvSpPr>
            <p:cNvPr id="24" name="Freeform 23">
              <a:extLst>
                <a:ext uri="{FF2B5EF4-FFF2-40B4-BE49-F238E27FC236}">
                  <a16:creationId xmlns:a16="http://schemas.microsoft.com/office/drawing/2014/main" id="{BF18C05A-E7A3-39BB-6B14-7375C0AB406B}"/>
                </a:ext>
              </a:extLst>
            </p:cNvPr>
            <p:cNvSpPr/>
            <p:nvPr/>
          </p:nvSpPr>
          <p:spPr>
            <a:xfrm>
              <a:off x="8480516" y="7761753"/>
              <a:ext cx="25257" cy="25555"/>
            </a:xfrm>
            <a:custGeom>
              <a:avLst/>
              <a:gdLst>
                <a:gd name="connsiteX0" fmla="*/ 25258 w 25257"/>
                <a:gd name="connsiteY0" fmla="*/ 0 h 25555"/>
                <a:gd name="connsiteX1" fmla="*/ 0 w 25257"/>
                <a:gd name="connsiteY1" fmla="*/ 0 h 25555"/>
                <a:gd name="connsiteX2" fmla="*/ 0 w 25257"/>
                <a:gd name="connsiteY2" fmla="*/ 25555 h 25555"/>
                <a:gd name="connsiteX3" fmla="*/ 25258 w 25257"/>
                <a:gd name="connsiteY3" fmla="*/ 25555 h 25555"/>
                <a:gd name="connsiteX4" fmla="*/ 25258 w 25257"/>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7"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25" name="Freeform 24">
              <a:extLst>
                <a:ext uri="{FF2B5EF4-FFF2-40B4-BE49-F238E27FC236}">
                  <a16:creationId xmlns:a16="http://schemas.microsoft.com/office/drawing/2014/main" id="{225E9975-A4AD-1ED7-ED3A-27B284DF66EA}"/>
                </a:ext>
              </a:extLst>
            </p:cNvPr>
            <p:cNvSpPr/>
            <p:nvPr/>
          </p:nvSpPr>
          <p:spPr>
            <a:xfrm>
              <a:off x="9300533" y="7685087"/>
              <a:ext cx="128019" cy="102220"/>
            </a:xfrm>
            <a:custGeom>
              <a:avLst/>
              <a:gdLst>
                <a:gd name="connsiteX0" fmla="*/ 128020 w 128019"/>
                <a:gd name="connsiteY0" fmla="*/ 25555 h 102220"/>
                <a:gd name="connsiteX1" fmla="*/ 128020 w 128019"/>
                <a:gd name="connsiteY1" fmla="*/ 0 h 102220"/>
                <a:gd name="connsiteX2" fmla="*/ 105530 w 128019"/>
                <a:gd name="connsiteY2" fmla="*/ 0 h 102220"/>
                <a:gd name="connsiteX3" fmla="*/ 100686 w 128019"/>
                <a:gd name="connsiteY3" fmla="*/ 1727 h 102220"/>
                <a:gd name="connsiteX4" fmla="*/ 60550 w 128019"/>
                <a:gd name="connsiteY4" fmla="*/ 37987 h 102220"/>
                <a:gd name="connsiteX5" fmla="*/ 56398 w 128019"/>
                <a:gd name="connsiteY5" fmla="*/ 39714 h 102220"/>
                <a:gd name="connsiteX6" fmla="*/ 28372 w 128019"/>
                <a:gd name="connsiteY6" fmla="*/ 39714 h 102220"/>
                <a:gd name="connsiteX7" fmla="*/ 25258 w 128019"/>
                <a:gd name="connsiteY7" fmla="*/ 36606 h 102220"/>
                <a:gd name="connsiteX8" fmla="*/ 25258 w 128019"/>
                <a:gd name="connsiteY8" fmla="*/ 0 h 102220"/>
                <a:gd name="connsiteX9" fmla="*/ 0 w 128019"/>
                <a:gd name="connsiteY9" fmla="*/ 0 h 102220"/>
                <a:gd name="connsiteX10" fmla="*/ 0 w 128019"/>
                <a:gd name="connsiteY10" fmla="*/ 102221 h 102220"/>
                <a:gd name="connsiteX11" fmla="*/ 25258 w 128019"/>
                <a:gd name="connsiteY11" fmla="*/ 102221 h 102220"/>
                <a:gd name="connsiteX12" fmla="*/ 25258 w 128019"/>
                <a:gd name="connsiteY12" fmla="*/ 65615 h 102220"/>
                <a:gd name="connsiteX13" fmla="*/ 28372 w 128019"/>
                <a:gd name="connsiteY13" fmla="*/ 62507 h 102220"/>
                <a:gd name="connsiteX14" fmla="*/ 56398 w 128019"/>
                <a:gd name="connsiteY14" fmla="*/ 62507 h 102220"/>
                <a:gd name="connsiteX15" fmla="*/ 60550 w 128019"/>
                <a:gd name="connsiteY15" fmla="*/ 64233 h 102220"/>
                <a:gd name="connsiteX16" fmla="*/ 100686 w 128019"/>
                <a:gd name="connsiteY16" fmla="*/ 100494 h 102220"/>
                <a:gd name="connsiteX17" fmla="*/ 105530 w 128019"/>
                <a:gd name="connsiteY17" fmla="*/ 102221 h 102220"/>
                <a:gd name="connsiteX18" fmla="*/ 128020 w 128019"/>
                <a:gd name="connsiteY18" fmla="*/ 102221 h 102220"/>
                <a:gd name="connsiteX19" fmla="*/ 128020 w 128019"/>
                <a:gd name="connsiteY19" fmla="*/ 76665 h 102220"/>
                <a:gd name="connsiteX20" fmla="*/ 115564 w 128019"/>
                <a:gd name="connsiteY20" fmla="*/ 76665 h 102220"/>
                <a:gd name="connsiteX21" fmla="*/ 105184 w 128019"/>
                <a:gd name="connsiteY21" fmla="*/ 72867 h 102220"/>
                <a:gd name="connsiteX22" fmla="*/ 86154 w 128019"/>
                <a:gd name="connsiteY22" fmla="*/ 55945 h 102220"/>
                <a:gd name="connsiteX23" fmla="*/ 86154 w 128019"/>
                <a:gd name="connsiteY23" fmla="*/ 45930 h 102220"/>
                <a:gd name="connsiteX24" fmla="*/ 105184 w 128019"/>
                <a:gd name="connsiteY24" fmla="*/ 29009 h 102220"/>
                <a:gd name="connsiteX25" fmla="*/ 115564 w 128019"/>
                <a:gd name="connsiteY25" fmla="*/ 25210 h 102220"/>
                <a:gd name="connsiteX26" fmla="*/ 128020 w 128019"/>
                <a:gd name="connsiteY26" fmla="*/ 2521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8019" h="102220">
                  <a:moveTo>
                    <a:pt x="128020" y="25555"/>
                  </a:moveTo>
                  <a:lnTo>
                    <a:pt x="128020" y="0"/>
                  </a:lnTo>
                  <a:lnTo>
                    <a:pt x="105530" y="0"/>
                  </a:lnTo>
                  <a:cubicBezTo>
                    <a:pt x="103800" y="0"/>
                    <a:pt x="102070" y="691"/>
                    <a:pt x="100686" y="1727"/>
                  </a:cubicBezTo>
                  <a:lnTo>
                    <a:pt x="60550" y="37987"/>
                  </a:lnTo>
                  <a:cubicBezTo>
                    <a:pt x="59512" y="39023"/>
                    <a:pt x="58128" y="39714"/>
                    <a:pt x="56398" y="39714"/>
                  </a:cubicBezTo>
                  <a:lnTo>
                    <a:pt x="28372" y="39714"/>
                  </a:lnTo>
                  <a:cubicBezTo>
                    <a:pt x="26642" y="39714"/>
                    <a:pt x="25258" y="38333"/>
                    <a:pt x="25258" y="36606"/>
                  </a:cubicBezTo>
                  <a:lnTo>
                    <a:pt x="25258" y="0"/>
                  </a:lnTo>
                  <a:lnTo>
                    <a:pt x="0" y="0"/>
                  </a:lnTo>
                  <a:lnTo>
                    <a:pt x="0" y="102221"/>
                  </a:lnTo>
                  <a:lnTo>
                    <a:pt x="25258" y="102221"/>
                  </a:lnTo>
                  <a:lnTo>
                    <a:pt x="25258" y="65615"/>
                  </a:lnTo>
                  <a:cubicBezTo>
                    <a:pt x="25258" y="63888"/>
                    <a:pt x="26642" y="62507"/>
                    <a:pt x="28372" y="62507"/>
                  </a:cubicBezTo>
                  <a:lnTo>
                    <a:pt x="56398" y="62507"/>
                  </a:lnTo>
                  <a:cubicBezTo>
                    <a:pt x="57782" y="62507"/>
                    <a:pt x="59512" y="62852"/>
                    <a:pt x="60550" y="64233"/>
                  </a:cubicBezTo>
                  <a:lnTo>
                    <a:pt x="100686" y="100494"/>
                  </a:lnTo>
                  <a:cubicBezTo>
                    <a:pt x="102070" y="101530"/>
                    <a:pt x="103800" y="102221"/>
                    <a:pt x="105530" y="102221"/>
                  </a:cubicBezTo>
                  <a:lnTo>
                    <a:pt x="128020" y="102221"/>
                  </a:lnTo>
                  <a:lnTo>
                    <a:pt x="128020" y="76665"/>
                  </a:lnTo>
                  <a:lnTo>
                    <a:pt x="115564" y="76665"/>
                  </a:lnTo>
                  <a:cubicBezTo>
                    <a:pt x="111758" y="76665"/>
                    <a:pt x="107952" y="75284"/>
                    <a:pt x="105184" y="72867"/>
                  </a:cubicBezTo>
                  <a:lnTo>
                    <a:pt x="86154" y="55945"/>
                  </a:lnTo>
                  <a:cubicBezTo>
                    <a:pt x="83040" y="53528"/>
                    <a:pt x="83040" y="48693"/>
                    <a:pt x="86154" y="45930"/>
                  </a:cubicBezTo>
                  <a:lnTo>
                    <a:pt x="105184" y="29009"/>
                  </a:lnTo>
                  <a:cubicBezTo>
                    <a:pt x="108298" y="26591"/>
                    <a:pt x="111758" y="25210"/>
                    <a:pt x="115564" y="25210"/>
                  </a:cubicBezTo>
                  <a:lnTo>
                    <a:pt x="128020" y="25210"/>
                  </a:lnTo>
                  <a:close/>
                </a:path>
              </a:pathLst>
            </a:custGeom>
            <a:grpFill/>
            <a:ln w="3458" cap="flat">
              <a:noFill/>
              <a:prstDash val="solid"/>
              <a:miter/>
            </a:ln>
          </p:spPr>
          <p:txBody>
            <a:bodyPr rtlCol="0" anchor="ctr"/>
            <a:lstStyle/>
            <a:p>
              <a:endParaRPr lang="en-US" sz="1800"/>
            </a:p>
          </p:txBody>
        </p:sp>
        <p:sp>
          <p:nvSpPr>
            <p:cNvPr id="26" name="Freeform 25">
              <a:extLst>
                <a:ext uri="{FF2B5EF4-FFF2-40B4-BE49-F238E27FC236}">
                  <a16:creationId xmlns:a16="http://schemas.microsoft.com/office/drawing/2014/main" id="{B3740024-9CAF-9332-202F-21692E9002CC}"/>
                </a:ext>
              </a:extLst>
            </p:cNvPr>
            <p:cNvSpPr/>
            <p:nvPr/>
          </p:nvSpPr>
          <p:spPr>
            <a:xfrm>
              <a:off x="8623760" y="7684742"/>
              <a:ext cx="138053" cy="102565"/>
            </a:xfrm>
            <a:custGeom>
              <a:avLst/>
              <a:gdLst>
                <a:gd name="connsiteX0" fmla="*/ 99302 w 138053"/>
                <a:gd name="connsiteY0" fmla="*/ 345 h 102565"/>
                <a:gd name="connsiteX1" fmla="*/ 70238 w 138053"/>
                <a:gd name="connsiteY1" fmla="*/ 14850 h 102565"/>
                <a:gd name="connsiteX2" fmla="*/ 0 w 138053"/>
                <a:gd name="connsiteY2" fmla="*/ 102566 h 102565"/>
                <a:gd name="connsiteX3" fmla="*/ 35638 w 138053"/>
                <a:gd name="connsiteY3" fmla="*/ 102566 h 102565"/>
                <a:gd name="connsiteX4" fmla="*/ 93420 w 138053"/>
                <a:gd name="connsiteY4" fmla="*/ 31426 h 102565"/>
                <a:gd name="connsiteX5" fmla="*/ 102762 w 138053"/>
                <a:gd name="connsiteY5" fmla="*/ 26246 h 102565"/>
                <a:gd name="connsiteX6" fmla="*/ 112450 w 138053"/>
                <a:gd name="connsiteY6" fmla="*/ 36951 h 102565"/>
                <a:gd name="connsiteX7" fmla="*/ 112450 w 138053"/>
                <a:gd name="connsiteY7" fmla="*/ 68032 h 102565"/>
                <a:gd name="connsiteX8" fmla="*/ 105184 w 138053"/>
                <a:gd name="connsiteY8" fmla="*/ 77011 h 102565"/>
                <a:gd name="connsiteX9" fmla="*/ 97918 w 138053"/>
                <a:gd name="connsiteY9" fmla="*/ 77011 h 102565"/>
                <a:gd name="connsiteX10" fmla="*/ 97918 w 138053"/>
                <a:gd name="connsiteY10" fmla="*/ 102566 h 102565"/>
                <a:gd name="connsiteX11" fmla="*/ 138054 w 138053"/>
                <a:gd name="connsiteY11" fmla="*/ 102566 h 102565"/>
                <a:gd name="connsiteX12" fmla="*/ 138054 w 138053"/>
                <a:gd name="connsiteY12" fmla="*/ 38333 h 102565"/>
                <a:gd name="connsiteX13" fmla="*/ 98956 w 138053"/>
                <a:gd name="connsiteY13" fmla="*/ 0 h 102565"/>
                <a:gd name="connsiteX14" fmla="*/ 98956 w 138053"/>
                <a:gd name="connsiteY14" fmla="*/ 0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8053" h="102565">
                  <a:moveTo>
                    <a:pt x="99302" y="345"/>
                  </a:moveTo>
                  <a:cubicBezTo>
                    <a:pt x="87884" y="345"/>
                    <a:pt x="77158" y="5871"/>
                    <a:pt x="70238" y="14850"/>
                  </a:cubicBezTo>
                  <a:lnTo>
                    <a:pt x="0" y="102566"/>
                  </a:lnTo>
                  <a:lnTo>
                    <a:pt x="35638" y="102566"/>
                  </a:lnTo>
                  <a:lnTo>
                    <a:pt x="93420" y="31426"/>
                  </a:lnTo>
                  <a:cubicBezTo>
                    <a:pt x="96188" y="27973"/>
                    <a:pt x="98264" y="26246"/>
                    <a:pt x="102762" y="26246"/>
                  </a:cubicBezTo>
                  <a:cubicBezTo>
                    <a:pt x="107260" y="26246"/>
                    <a:pt x="112450" y="31081"/>
                    <a:pt x="112450" y="36951"/>
                  </a:cubicBezTo>
                  <a:lnTo>
                    <a:pt x="112450" y="68032"/>
                  </a:lnTo>
                  <a:cubicBezTo>
                    <a:pt x="112450" y="72867"/>
                    <a:pt x="110028" y="77011"/>
                    <a:pt x="105184" y="77011"/>
                  </a:cubicBezTo>
                  <a:lnTo>
                    <a:pt x="97918" y="77011"/>
                  </a:lnTo>
                  <a:lnTo>
                    <a:pt x="97918" y="102566"/>
                  </a:lnTo>
                  <a:lnTo>
                    <a:pt x="138054" y="102566"/>
                  </a:lnTo>
                  <a:lnTo>
                    <a:pt x="138054" y="38333"/>
                  </a:lnTo>
                  <a:cubicBezTo>
                    <a:pt x="138054" y="33153"/>
                    <a:pt x="138054" y="0"/>
                    <a:pt x="98956" y="0"/>
                  </a:cubicBezTo>
                  <a:lnTo>
                    <a:pt x="98956" y="0"/>
                  </a:lnTo>
                  <a:close/>
                </a:path>
              </a:pathLst>
            </a:custGeom>
            <a:grpFill/>
            <a:ln w="3458" cap="flat">
              <a:noFill/>
              <a:prstDash val="solid"/>
              <a:miter/>
            </a:ln>
          </p:spPr>
          <p:txBody>
            <a:bodyPr rtlCol="0" anchor="ctr"/>
            <a:lstStyle/>
            <a:p>
              <a:endParaRPr lang="en-US" sz="1800"/>
            </a:p>
          </p:txBody>
        </p:sp>
        <p:sp>
          <p:nvSpPr>
            <p:cNvPr id="27" name="Freeform 26">
              <a:extLst>
                <a:ext uri="{FF2B5EF4-FFF2-40B4-BE49-F238E27FC236}">
                  <a16:creationId xmlns:a16="http://schemas.microsoft.com/office/drawing/2014/main" id="{743AB835-9015-A043-665E-B4CB3DCA0125}"/>
                </a:ext>
              </a:extLst>
            </p:cNvPr>
            <p:cNvSpPr/>
            <p:nvPr/>
          </p:nvSpPr>
          <p:spPr>
            <a:xfrm>
              <a:off x="9480453" y="7685087"/>
              <a:ext cx="30793" cy="25555"/>
            </a:xfrm>
            <a:custGeom>
              <a:avLst/>
              <a:gdLst>
                <a:gd name="connsiteX0" fmla="*/ 30448 w 30793"/>
                <a:gd name="connsiteY0" fmla="*/ 0 h 25555"/>
                <a:gd name="connsiteX1" fmla="*/ 30448 w 30793"/>
                <a:gd name="connsiteY1" fmla="*/ 25555 h 25555"/>
                <a:gd name="connsiteX2" fmla="*/ 24912 w 30793"/>
                <a:gd name="connsiteY2" fmla="*/ 25555 h 25555"/>
                <a:gd name="connsiteX3" fmla="*/ 24912 w 30793"/>
                <a:gd name="connsiteY3" fmla="*/ 5180 h 25555"/>
                <a:gd name="connsiteX4" fmla="*/ 24912 w 30793"/>
                <a:gd name="connsiteY4" fmla="*/ 5180 h 25555"/>
                <a:gd name="connsiteX5" fmla="*/ 17646 w 30793"/>
                <a:gd name="connsiteY5" fmla="*/ 25555 h 25555"/>
                <a:gd name="connsiteX6" fmla="*/ 12802 w 30793"/>
                <a:gd name="connsiteY6" fmla="*/ 25555 h 25555"/>
                <a:gd name="connsiteX7" fmla="*/ 5536 w 30793"/>
                <a:gd name="connsiteY7" fmla="*/ 5180 h 25555"/>
                <a:gd name="connsiteX8" fmla="*/ 5536 w 30793"/>
                <a:gd name="connsiteY8" fmla="*/ 5180 h 25555"/>
                <a:gd name="connsiteX9" fmla="*/ 5536 w 30793"/>
                <a:gd name="connsiteY9" fmla="*/ 25555 h 25555"/>
                <a:gd name="connsiteX10" fmla="*/ 0 w 30793"/>
                <a:gd name="connsiteY10" fmla="*/ 25555 h 25555"/>
                <a:gd name="connsiteX11" fmla="*/ 0 w 30793"/>
                <a:gd name="connsiteY11" fmla="*/ 0 h 25555"/>
                <a:gd name="connsiteX12" fmla="*/ 9688 w 30793"/>
                <a:gd name="connsiteY12" fmla="*/ 0 h 25555"/>
                <a:gd name="connsiteX13" fmla="*/ 15570 w 30793"/>
                <a:gd name="connsiteY13" fmla="*/ 17267 h 25555"/>
                <a:gd name="connsiteX14" fmla="*/ 15570 w 30793"/>
                <a:gd name="connsiteY14" fmla="*/ 17267 h 25555"/>
                <a:gd name="connsiteX15" fmla="*/ 21798 w 30793"/>
                <a:gd name="connsiteY15" fmla="*/ 0 h 25555"/>
                <a:gd name="connsiteX16" fmla="*/ 30794 w 30793"/>
                <a:gd name="connsiteY16" fmla="*/ 0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793" h="25555">
                  <a:moveTo>
                    <a:pt x="30448" y="0"/>
                  </a:moveTo>
                  <a:lnTo>
                    <a:pt x="30448" y="25555"/>
                  </a:lnTo>
                  <a:lnTo>
                    <a:pt x="24912" y="25555"/>
                  </a:lnTo>
                  <a:lnTo>
                    <a:pt x="24912" y="5180"/>
                  </a:lnTo>
                  <a:lnTo>
                    <a:pt x="24912" y="5180"/>
                  </a:lnTo>
                  <a:lnTo>
                    <a:pt x="17646" y="25555"/>
                  </a:lnTo>
                  <a:lnTo>
                    <a:pt x="12802" y="25555"/>
                  </a:lnTo>
                  <a:lnTo>
                    <a:pt x="5536" y="5180"/>
                  </a:lnTo>
                  <a:lnTo>
                    <a:pt x="5536" y="5180"/>
                  </a:lnTo>
                  <a:lnTo>
                    <a:pt x="5536" y="25555"/>
                  </a:lnTo>
                  <a:lnTo>
                    <a:pt x="0" y="25555"/>
                  </a:lnTo>
                  <a:lnTo>
                    <a:pt x="0" y="0"/>
                  </a:lnTo>
                  <a:lnTo>
                    <a:pt x="9688" y="0"/>
                  </a:lnTo>
                  <a:lnTo>
                    <a:pt x="15570" y="17267"/>
                  </a:lnTo>
                  <a:lnTo>
                    <a:pt x="15570" y="17267"/>
                  </a:lnTo>
                  <a:lnTo>
                    <a:pt x="21798" y="0"/>
                  </a:lnTo>
                  <a:lnTo>
                    <a:pt x="30794" y="0"/>
                  </a:lnTo>
                  <a:close/>
                </a:path>
              </a:pathLst>
            </a:custGeom>
            <a:grpFill/>
            <a:ln w="3458" cap="flat">
              <a:noFill/>
              <a:prstDash val="solid"/>
              <a:miter/>
            </a:ln>
          </p:spPr>
          <p:txBody>
            <a:bodyPr rtlCol="0" anchor="ctr"/>
            <a:lstStyle/>
            <a:p>
              <a:endParaRPr lang="en-US" sz="1800"/>
            </a:p>
          </p:txBody>
        </p:sp>
        <p:sp>
          <p:nvSpPr>
            <p:cNvPr id="28" name="Freeform 27">
              <a:extLst>
                <a:ext uri="{FF2B5EF4-FFF2-40B4-BE49-F238E27FC236}">
                  <a16:creationId xmlns:a16="http://schemas.microsoft.com/office/drawing/2014/main" id="{E99A9EB5-C5F9-B01B-DB12-5EB220293892}"/>
                </a:ext>
              </a:extLst>
            </p:cNvPr>
            <p:cNvSpPr/>
            <p:nvPr/>
          </p:nvSpPr>
          <p:spPr>
            <a:xfrm>
              <a:off x="9453811" y="7685087"/>
              <a:ext cx="21451" cy="25555"/>
            </a:xfrm>
            <a:custGeom>
              <a:avLst/>
              <a:gdLst>
                <a:gd name="connsiteX0" fmla="*/ 13840 w 21451"/>
                <a:gd name="connsiteY0" fmla="*/ 4835 h 25555"/>
                <a:gd name="connsiteX1" fmla="*/ 13840 w 21451"/>
                <a:gd name="connsiteY1" fmla="*/ 25555 h 25555"/>
                <a:gd name="connsiteX2" fmla="*/ 7958 w 21451"/>
                <a:gd name="connsiteY2" fmla="*/ 25555 h 25555"/>
                <a:gd name="connsiteX3" fmla="*/ 7958 w 21451"/>
                <a:gd name="connsiteY3" fmla="*/ 4835 h 25555"/>
                <a:gd name="connsiteX4" fmla="*/ 0 w 21451"/>
                <a:gd name="connsiteY4" fmla="*/ 4835 h 25555"/>
                <a:gd name="connsiteX5" fmla="*/ 0 w 21451"/>
                <a:gd name="connsiteY5" fmla="*/ 0 h 25555"/>
                <a:gd name="connsiteX6" fmla="*/ 21452 w 21451"/>
                <a:gd name="connsiteY6" fmla="*/ 0 h 25555"/>
                <a:gd name="connsiteX7" fmla="*/ 21452 w 21451"/>
                <a:gd name="connsiteY7" fmla="*/ 4835 h 25555"/>
                <a:gd name="connsiteX8" fmla="*/ 13494 w 21451"/>
                <a:gd name="connsiteY8" fmla="*/ 4835 h 25555"/>
                <a:gd name="connsiteX9" fmla="*/ 13494 w 21451"/>
                <a:gd name="connsiteY9" fmla="*/ 4835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451" h="25555">
                  <a:moveTo>
                    <a:pt x="13840" y="4835"/>
                  </a:moveTo>
                  <a:lnTo>
                    <a:pt x="13840" y="25555"/>
                  </a:lnTo>
                  <a:lnTo>
                    <a:pt x="7958" y="25555"/>
                  </a:lnTo>
                  <a:lnTo>
                    <a:pt x="7958" y="4835"/>
                  </a:lnTo>
                  <a:lnTo>
                    <a:pt x="0" y="4835"/>
                  </a:lnTo>
                  <a:lnTo>
                    <a:pt x="0" y="0"/>
                  </a:lnTo>
                  <a:lnTo>
                    <a:pt x="21452" y="0"/>
                  </a:lnTo>
                  <a:lnTo>
                    <a:pt x="21452" y="4835"/>
                  </a:lnTo>
                  <a:lnTo>
                    <a:pt x="13494" y="4835"/>
                  </a:lnTo>
                  <a:lnTo>
                    <a:pt x="13494" y="4835"/>
                  </a:lnTo>
                  <a:close/>
                </a:path>
              </a:pathLst>
            </a:custGeom>
            <a:grpFill/>
            <a:ln w="3458" cap="flat">
              <a:noFill/>
              <a:prstDash val="solid"/>
              <a:miter/>
            </a:ln>
          </p:spPr>
          <p:txBody>
            <a:bodyPr rtlCol="0" anchor="ctr"/>
            <a:lstStyle/>
            <a:p>
              <a:endParaRPr lang="en-US" sz="1800"/>
            </a:p>
          </p:txBody>
        </p:sp>
      </p:grpSp>
      <p:sp>
        <p:nvSpPr>
          <p:cNvPr id="31" name="name_2024 sandisk or its affiliates All rights reserved">
            <a:extLst>
              <a:ext uri="{FF2B5EF4-FFF2-40B4-BE49-F238E27FC236}">
                <a16:creationId xmlns:a16="http://schemas.microsoft.com/office/drawing/2014/main" id="{6CC8F73B-3287-7018-969A-E477DF85FCD3}"/>
              </a:ext>
            </a:extLst>
          </p:cNvPr>
          <p:cNvSpPr txBox="1"/>
          <p:nvPr/>
        </p:nvSpPr>
        <p:spPr>
          <a:xfrm>
            <a:off x="6096000" y="6437971"/>
            <a:ext cx="5803900"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b">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r" defTabSz="609412" hangingPunct="0">
              <a:lnSpc>
                <a:spcPct val="100000"/>
              </a:lnSpc>
            </a:pPr>
            <a:r>
              <a:rPr lang="en-US" sz="1000" b="0" i="0" kern="0" spc="0" baseline="0">
                <a:solidFill>
                  <a:schemeClr val="tx2"/>
                </a:solidFill>
                <a:latin typeface="NB Architekt Pro Neue" panose="02010509020201040001" pitchFamily="49" charset="77"/>
                <a:cs typeface="Consolas" panose="020B0609020204030204" pitchFamily="49" charset="0"/>
              </a:rPr>
              <a:t>©2025 SANDISK CORPORATION OR ITS AFFILIATES ALL RIGHTS RESERVED</a:t>
            </a:r>
          </a:p>
        </p:txBody>
      </p:sp>
      <p:sp>
        <p:nvSpPr>
          <p:cNvPr id="32" name="name_2024 sandisk or its affiliates All rights reserved">
            <a:extLst>
              <a:ext uri="{FF2B5EF4-FFF2-40B4-BE49-F238E27FC236}">
                <a16:creationId xmlns:a16="http://schemas.microsoft.com/office/drawing/2014/main" id="{7F30C189-812E-A59B-A8ED-2B9F5383F40D}"/>
              </a:ext>
            </a:extLst>
          </p:cNvPr>
          <p:cNvSpPr txBox="1"/>
          <p:nvPr/>
        </p:nvSpPr>
        <p:spPr>
          <a:xfrm>
            <a:off x="8997951" y="267518"/>
            <a:ext cx="2242276"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tx1"/>
                </a:solidFill>
                <a:latin typeface="NB Architekt Pro Neue" panose="02010509020201040001" pitchFamily="49" charset="77"/>
                <a:cs typeface="Consolas" panose="020B0609020204030204" pitchFamily="49" charset="0"/>
              </a:rPr>
              <a:t>“START” “REPEAT” “1988/2025”</a:t>
            </a:r>
          </a:p>
        </p:txBody>
      </p:sp>
      <p:sp>
        <p:nvSpPr>
          <p:cNvPr id="33" name="Rectangle 32">
            <a:extLst>
              <a:ext uri="{FF2B5EF4-FFF2-40B4-BE49-F238E27FC236}">
                <a16:creationId xmlns:a16="http://schemas.microsoft.com/office/drawing/2014/main" id="{CFCF90C0-B53F-05D6-27F6-03EEBAF2E63F}"/>
              </a:ext>
            </a:extLst>
          </p:cNvPr>
          <p:cNvSpPr/>
          <p:nvPr/>
        </p:nvSpPr>
        <p:spPr>
          <a:xfrm>
            <a:off x="11808843" y="296581"/>
            <a:ext cx="91057" cy="9105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092708453"/>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Subtitle White">
    <p:bg>
      <p:bgPr>
        <a:solidFill>
          <a:schemeClr val="bg1"/>
        </a:solidFill>
        <a:effectLst/>
      </p:bgPr>
    </p:bg>
    <p:spTree>
      <p:nvGrpSpPr>
        <p:cNvPr id="1" name=""/>
        <p:cNvGrpSpPr/>
        <p:nvPr/>
      </p:nvGrpSpPr>
      <p:grpSpPr>
        <a:xfrm>
          <a:off x="0" y="0"/>
          <a:ext cx="0" cy="0"/>
          <a:chOff x="0" y="0"/>
          <a:chExt cx="0" cy="0"/>
        </a:xfrm>
      </p:grpSpPr>
      <p:sp>
        <p:nvSpPr>
          <p:cNvPr id="2" name="name_2024 sandisk or its affiliates All rights reserved">
            <a:extLst>
              <a:ext uri="{FF2B5EF4-FFF2-40B4-BE49-F238E27FC236}">
                <a16:creationId xmlns:a16="http://schemas.microsoft.com/office/drawing/2014/main" id="{EF2E9E0C-E8BF-E64B-88D1-09D94508D838}"/>
              </a:ext>
            </a:extLst>
          </p:cNvPr>
          <p:cNvSpPr txBox="1"/>
          <p:nvPr/>
        </p:nvSpPr>
        <p:spPr>
          <a:xfrm>
            <a:off x="292100" y="267518"/>
            <a:ext cx="1323975"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tx1"/>
                </a:solidFill>
                <a:latin typeface="NB Architekt Pro Neue" panose="02010509020201040001" pitchFamily="49" charset="77"/>
                <a:cs typeface="Consolas" panose="020B0609020204030204" pitchFamily="49" charset="0"/>
              </a:rPr>
              <a:t>[Confidential]</a:t>
            </a:r>
          </a:p>
        </p:txBody>
      </p:sp>
      <p:sp>
        <p:nvSpPr>
          <p:cNvPr id="60" name="Title 1">
            <a:extLst>
              <a:ext uri="{FF2B5EF4-FFF2-40B4-BE49-F238E27FC236}">
                <a16:creationId xmlns:a16="http://schemas.microsoft.com/office/drawing/2014/main" id="{DC22E9CB-00DB-F8F3-4E25-BF980D833313}"/>
              </a:ext>
            </a:extLst>
          </p:cNvPr>
          <p:cNvSpPr>
            <a:spLocks noGrp="1"/>
          </p:cNvSpPr>
          <p:nvPr>
            <p:ph type="title" hasCustomPrompt="1"/>
          </p:nvPr>
        </p:nvSpPr>
        <p:spPr>
          <a:xfrm>
            <a:off x="292099" y="442939"/>
            <a:ext cx="11607801" cy="960120"/>
          </a:xfrm>
          <a:prstGeom prst="rect">
            <a:avLst/>
          </a:prstGeom>
        </p:spPr>
        <p:txBody>
          <a:bodyPr wrap="square" lIns="0" anchor="b">
            <a:noAutofit/>
          </a:bodyPr>
          <a:lstStyle>
            <a:lvl1pPr>
              <a:lnSpc>
                <a:spcPct val="100000"/>
              </a:lnSpc>
              <a:defRPr sz="3000" b="0" spc="0" baseline="0">
                <a:solidFill>
                  <a:schemeClr val="tx1"/>
                </a:solidFill>
                <a:latin typeface="+mj-lt"/>
              </a:defRPr>
            </a:lvl1pPr>
          </a:lstStyle>
          <a:p>
            <a:r>
              <a:rPr lang="en-US"/>
              <a:t>CLICK TO ADD TITLE</a:t>
            </a:r>
          </a:p>
        </p:txBody>
      </p:sp>
      <p:sp>
        <p:nvSpPr>
          <p:cNvPr id="61" name="Text Placeholder 13">
            <a:extLst>
              <a:ext uri="{FF2B5EF4-FFF2-40B4-BE49-F238E27FC236}">
                <a16:creationId xmlns:a16="http://schemas.microsoft.com/office/drawing/2014/main" id="{958C97A4-E8B0-290A-15E7-CED030171903}"/>
              </a:ext>
            </a:extLst>
          </p:cNvPr>
          <p:cNvSpPr>
            <a:spLocks noGrp="1"/>
          </p:cNvSpPr>
          <p:nvPr>
            <p:ph type="body" sz="quarter" idx="12" hasCustomPrompt="1"/>
          </p:nvPr>
        </p:nvSpPr>
        <p:spPr>
          <a:xfrm>
            <a:off x="292099" y="1407519"/>
            <a:ext cx="11607801" cy="496143"/>
          </a:xfrm>
          <a:prstGeom prst="rect">
            <a:avLst/>
          </a:prstGeom>
        </p:spPr>
        <p:txBody>
          <a:bodyPr wrap="none" lIns="0" bIns="0">
            <a:noAutofit/>
          </a:bodyPr>
          <a:lstStyle>
            <a:lvl1pPr marL="0" indent="0">
              <a:lnSpc>
                <a:spcPct val="100000"/>
              </a:lnSpc>
              <a:spcAft>
                <a:spcPts val="0"/>
              </a:spcAft>
              <a:buNone/>
              <a:defRPr sz="3000" b="0" spc="0" baseline="0">
                <a:solidFill>
                  <a:schemeClr val="accent1">
                    <a:lumMod val="75000"/>
                  </a:schemeClr>
                </a:solidFill>
                <a:latin typeface="+mj-lt"/>
              </a:defRPr>
            </a:lvl1pPr>
            <a:lvl2pPr marL="274304" indent="0">
              <a:buNone/>
              <a:defRPr/>
            </a:lvl2pPr>
            <a:lvl3pPr marL="914346" indent="0">
              <a:buNone/>
              <a:defRPr/>
            </a:lvl3pPr>
            <a:lvl4pPr marL="1371519" indent="0">
              <a:buNone/>
              <a:defRPr/>
            </a:lvl4pPr>
            <a:lvl5pPr marL="1828693" indent="0">
              <a:buNone/>
              <a:defRPr/>
            </a:lvl5pPr>
          </a:lstStyle>
          <a:p>
            <a:pPr lvl="0"/>
            <a:r>
              <a:rPr lang="en-US"/>
              <a:t>Click to Add Subtitle</a:t>
            </a:r>
          </a:p>
        </p:txBody>
      </p:sp>
      <p:sp>
        <p:nvSpPr>
          <p:cNvPr id="3" name="Slide Number Placeholder 5">
            <a:extLst>
              <a:ext uri="{FF2B5EF4-FFF2-40B4-BE49-F238E27FC236}">
                <a16:creationId xmlns:a16="http://schemas.microsoft.com/office/drawing/2014/main" id="{B3E99B66-6085-AF23-EFBE-ECBF95F2CCD6}"/>
              </a:ext>
            </a:extLst>
          </p:cNvPr>
          <p:cNvSpPr>
            <a:spLocks noGrp="1"/>
          </p:cNvSpPr>
          <p:nvPr>
            <p:ph type="sldNum" sz="quarter" idx="4"/>
          </p:nvPr>
        </p:nvSpPr>
        <p:spPr>
          <a:xfrm>
            <a:off x="3192106" y="6455472"/>
            <a:ext cx="857165" cy="118872"/>
          </a:xfrm>
          <a:prstGeom prst="rect">
            <a:avLst/>
          </a:prstGeom>
        </p:spPr>
        <p:txBody>
          <a:bodyPr vert="horz" lIns="0" tIns="0" rIns="0" bIns="0" rtlCol="0" anchor="ctr"/>
          <a:lstStyle>
            <a:lvl1pPr algn="l">
              <a:defRPr sz="1000" b="0" i="0" spc="0" baseline="0">
                <a:solidFill>
                  <a:schemeClr val="tx1"/>
                </a:solidFill>
                <a:latin typeface="NB Architekt Pro Neue" panose="02010509020201040001" pitchFamily="49" charset="77"/>
                <a:cs typeface="Consolas" panose="020B0609020204030204" pitchFamily="49" charset="0"/>
              </a:defRPr>
            </a:lvl1pPr>
          </a:lstStyle>
          <a:p>
            <a:r>
              <a:rPr lang="en-US"/>
              <a:t>00.0</a:t>
            </a:r>
            <a:fld id="{4571BA12-316B-0A40-BB3D-1A8CDD33E9E5}" type="slidenum">
              <a:rPr lang="en-US" smtClean="0"/>
              <a:pPr/>
              <a:t>‹#›</a:t>
            </a:fld>
            <a:endParaRPr lang="en-US"/>
          </a:p>
        </p:txBody>
      </p:sp>
      <p:grpSp>
        <p:nvGrpSpPr>
          <p:cNvPr id="17" name="Group 16">
            <a:extLst>
              <a:ext uri="{FF2B5EF4-FFF2-40B4-BE49-F238E27FC236}">
                <a16:creationId xmlns:a16="http://schemas.microsoft.com/office/drawing/2014/main" id="{FBA640EA-9B40-3BEC-FE96-3C5E85AFA20F}"/>
              </a:ext>
            </a:extLst>
          </p:cNvPr>
          <p:cNvGrpSpPr>
            <a:grpSpLocks noChangeAspect="1"/>
          </p:cNvGrpSpPr>
          <p:nvPr/>
        </p:nvGrpSpPr>
        <p:grpSpPr>
          <a:xfrm>
            <a:off x="297027" y="6344485"/>
            <a:ext cx="2240280" cy="218081"/>
            <a:chOff x="8480170" y="7684742"/>
            <a:chExt cx="1031076" cy="102566"/>
          </a:xfrm>
          <a:solidFill>
            <a:schemeClr val="accent3"/>
          </a:solidFill>
        </p:grpSpPr>
        <p:sp>
          <p:nvSpPr>
            <p:cNvPr id="18" name="Freeform 17">
              <a:extLst>
                <a:ext uri="{FF2B5EF4-FFF2-40B4-BE49-F238E27FC236}">
                  <a16:creationId xmlns:a16="http://schemas.microsoft.com/office/drawing/2014/main" id="{733CE88C-9F15-6B6E-D642-E88B5A5FA738}"/>
                </a:ext>
              </a:extLst>
            </p:cNvPr>
            <p:cNvSpPr/>
            <p:nvPr/>
          </p:nvSpPr>
          <p:spPr>
            <a:xfrm>
              <a:off x="8788109" y="7684742"/>
              <a:ext cx="128019" cy="102565"/>
            </a:xfrm>
            <a:custGeom>
              <a:avLst/>
              <a:gdLst>
                <a:gd name="connsiteX0" fmla="*/ 102070 w 128019"/>
                <a:gd name="connsiteY0" fmla="*/ 70104 h 102565"/>
                <a:gd name="connsiteX1" fmla="*/ 96188 w 128019"/>
                <a:gd name="connsiteY1" fmla="*/ 77011 h 102565"/>
                <a:gd name="connsiteX2" fmla="*/ 89268 w 128019"/>
                <a:gd name="connsiteY2" fmla="*/ 72521 h 102565"/>
                <a:gd name="connsiteX3" fmla="*/ 65740 w 128019"/>
                <a:gd name="connsiteY3" fmla="*/ 8288 h 102565"/>
                <a:gd name="connsiteX4" fmla="*/ 54668 w 128019"/>
                <a:gd name="connsiteY4" fmla="*/ 0 h 102565"/>
                <a:gd name="connsiteX5" fmla="*/ 0 w 128019"/>
                <a:gd name="connsiteY5" fmla="*/ 0 h 102565"/>
                <a:gd name="connsiteX6" fmla="*/ 0 w 128019"/>
                <a:gd name="connsiteY6" fmla="*/ 102221 h 102565"/>
                <a:gd name="connsiteX7" fmla="*/ 40136 w 128019"/>
                <a:gd name="connsiteY7" fmla="*/ 102221 h 102565"/>
                <a:gd name="connsiteX8" fmla="*/ 40136 w 128019"/>
                <a:gd name="connsiteY8" fmla="*/ 76665 h 102565"/>
                <a:gd name="connsiteX9" fmla="*/ 32870 w 128019"/>
                <a:gd name="connsiteY9" fmla="*/ 76665 h 102565"/>
                <a:gd name="connsiteX10" fmla="*/ 25604 w 128019"/>
                <a:gd name="connsiteY10" fmla="*/ 67687 h 102565"/>
                <a:gd name="connsiteX11" fmla="*/ 25604 w 128019"/>
                <a:gd name="connsiteY11" fmla="*/ 36951 h 102565"/>
                <a:gd name="connsiteX12" fmla="*/ 39790 w 128019"/>
                <a:gd name="connsiteY12" fmla="*/ 26591 h 102565"/>
                <a:gd name="connsiteX13" fmla="*/ 45672 w 128019"/>
                <a:gd name="connsiteY13" fmla="*/ 32807 h 102565"/>
                <a:gd name="connsiteX14" fmla="*/ 64356 w 128019"/>
                <a:gd name="connsiteY14" fmla="*/ 81500 h 102565"/>
                <a:gd name="connsiteX15" fmla="*/ 95150 w 128019"/>
                <a:gd name="connsiteY15" fmla="*/ 102566 h 102565"/>
                <a:gd name="connsiteX16" fmla="*/ 95842 w 128019"/>
                <a:gd name="connsiteY16" fmla="*/ 102566 h 102565"/>
                <a:gd name="connsiteX17" fmla="*/ 128020 w 128019"/>
                <a:gd name="connsiteY17" fmla="*/ 70795 h 102565"/>
                <a:gd name="connsiteX18" fmla="*/ 128020 w 128019"/>
                <a:gd name="connsiteY18" fmla="*/ 345 h 102565"/>
                <a:gd name="connsiteX19" fmla="*/ 102416 w 128019"/>
                <a:gd name="connsiteY19" fmla="*/ 345 h 102565"/>
                <a:gd name="connsiteX20" fmla="*/ 102416 w 128019"/>
                <a:gd name="connsiteY20" fmla="*/ 70104 h 102565"/>
                <a:gd name="connsiteX21" fmla="*/ 102416 w 128019"/>
                <a:gd name="connsiteY21" fmla="*/ 70104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8019" h="102565">
                  <a:moveTo>
                    <a:pt x="102070" y="70104"/>
                  </a:moveTo>
                  <a:cubicBezTo>
                    <a:pt x="102070" y="73557"/>
                    <a:pt x="99648" y="76665"/>
                    <a:pt x="96188" y="77011"/>
                  </a:cubicBezTo>
                  <a:cubicBezTo>
                    <a:pt x="93074" y="77356"/>
                    <a:pt x="90306" y="75629"/>
                    <a:pt x="89268" y="72521"/>
                  </a:cubicBezTo>
                  <a:lnTo>
                    <a:pt x="65740" y="8288"/>
                  </a:lnTo>
                  <a:cubicBezTo>
                    <a:pt x="64010" y="3108"/>
                    <a:pt x="59858" y="0"/>
                    <a:pt x="54668" y="0"/>
                  </a:cubicBezTo>
                  <a:lnTo>
                    <a:pt x="0" y="0"/>
                  </a:lnTo>
                  <a:lnTo>
                    <a:pt x="0" y="102221"/>
                  </a:lnTo>
                  <a:lnTo>
                    <a:pt x="40136" y="102221"/>
                  </a:lnTo>
                  <a:lnTo>
                    <a:pt x="40136" y="76665"/>
                  </a:lnTo>
                  <a:lnTo>
                    <a:pt x="32870" y="76665"/>
                  </a:lnTo>
                  <a:cubicBezTo>
                    <a:pt x="28026" y="76665"/>
                    <a:pt x="25604" y="72521"/>
                    <a:pt x="25604" y="67687"/>
                  </a:cubicBezTo>
                  <a:lnTo>
                    <a:pt x="25604" y="36951"/>
                  </a:lnTo>
                  <a:cubicBezTo>
                    <a:pt x="25604" y="29354"/>
                    <a:pt x="32870" y="23828"/>
                    <a:pt x="39790" y="26591"/>
                  </a:cubicBezTo>
                  <a:cubicBezTo>
                    <a:pt x="42212" y="27627"/>
                    <a:pt x="44634" y="30045"/>
                    <a:pt x="45672" y="32807"/>
                  </a:cubicBezTo>
                  <a:lnTo>
                    <a:pt x="64356" y="81500"/>
                  </a:lnTo>
                  <a:cubicBezTo>
                    <a:pt x="69200" y="94278"/>
                    <a:pt x="81310" y="102566"/>
                    <a:pt x="95150" y="102566"/>
                  </a:cubicBezTo>
                  <a:lnTo>
                    <a:pt x="95842" y="102566"/>
                  </a:lnTo>
                  <a:cubicBezTo>
                    <a:pt x="113488" y="102566"/>
                    <a:pt x="128020" y="88407"/>
                    <a:pt x="128020" y="70795"/>
                  </a:cubicBezTo>
                  <a:lnTo>
                    <a:pt x="128020" y="345"/>
                  </a:lnTo>
                  <a:lnTo>
                    <a:pt x="102416" y="345"/>
                  </a:lnTo>
                  <a:lnTo>
                    <a:pt x="102416" y="70104"/>
                  </a:lnTo>
                  <a:lnTo>
                    <a:pt x="102416" y="70104"/>
                  </a:lnTo>
                  <a:close/>
                </a:path>
              </a:pathLst>
            </a:custGeom>
            <a:grpFill/>
            <a:ln w="3458" cap="flat">
              <a:noFill/>
              <a:prstDash val="solid"/>
              <a:miter/>
            </a:ln>
          </p:spPr>
          <p:txBody>
            <a:bodyPr rtlCol="0" anchor="ctr"/>
            <a:lstStyle/>
            <a:p>
              <a:endParaRPr lang="en-US" sz="1800"/>
            </a:p>
          </p:txBody>
        </p:sp>
        <p:sp>
          <p:nvSpPr>
            <p:cNvPr id="19" name="Freeform 18">
              <a:extLst>
                <a:ext uri="{FF2B5EF4-FFF2-40B4-BE49-F238E27FC236}">
                  <a16:creationId xmlns:a16="http://schemas.microsoft.com/office/drawing/2014/main" id="{C1EF5B5C-ED2F-6102-6EB7-CEEE9D03EEEB}"/>
                </a:ext>
              </a:extLst>
            </p:cNvPr>
            <p:cNvSpPr/>
            <p:nvPr/>
          </p:nvSpPr>
          <p:spPr>
            <a:xfrm>
              <a:off x="8941733" y="7685087"/>
              <a:ext cx="128019" cy="102220"/>
            </a:xfrm>
            <a:custGeom>
              <a:avLst/>
              <a:gdLst>
                <a:gd name="connsiteX0" fmla="*/ 76812 w 128019"/>
                <a:gd name="connsiteY0" fmla="*/ 0 h 102220"/>
                <a:gd name="connsiteX1" fmla="*/ 0 w 128019"/>
                <a:gd name="connsiteY1" fmla="*/ 0 h 102220"/>
                <a:gd name="connsiteX2" fmla="*/ 0 w 128019"/>
                <a:gd name="connsiteY2" fmla="*/ 25555 h 102220"/>
                <a:gd name="connsiteX3" fmla="*/ 76812 w 128019"/>
                <a:gd name="connsiteY3" fmla="*/ 25555 h 102220"/>
                <a:gd name="connsiteX4" fmla="*/ 102416 w 128019"/>
                <a:gd name="connsiteY4" fmla="*/ 51110 h 102220"/>
                <a:gd name="connsiteX5" fmla="*/ 76812 w 128019"/>
                <a:gd name="connsiteY5" fmla="*/ 76665 h 102220"/>
                <a:gd name="connsiteX6" fmla="*/ 0 w 128019"/>
                <a:gd name="connsiteY6" fmla="*/ 76665 h 102220"/>
                <a:gd name="connsiteX7" fmla="*/ 0 w 128019"/>
                <a:gd name="connsiteY7" fmla="*/ 102221 h 102220"/>
                <a:gd name="connsiteX8" fmla="*/ 76812 w 128019"/>
                <a:gd name="connsiteY8" fmla="*/ 102221 h 102220"/>
                <a:gd name="connsiteX9" fmla="*/ 121792 w 128019"/>
                <a:gd name="connsiteY9" fmla="*/ 75629 h 102220"/>
                <a:gd name="connsiteX10" fmla="*/ 128020 w 128019"/>
                <a:gd name="connsiteY10" fmla="*/ 51110 h 102220"/>
                <a:gd name="connsiteX11" fmla="*/ 121792 w 128019"/>
                <a:gd name="connsiteY11" fmla="*/ 26591 h 102220"/>
                <a:gd name="connsiteX12" fmla="*/ 76812 w 128019"/>
                <a:gd name="connsiteY12" fmla="*/ 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8019" h="102220">
                  <a:moveTo>
                    <a:pt x="76812" y="0"/>
                  </a:moveTo>
                  <a:lnTo>
                    <a:pt x="0" y="0"/>
                  </a:lnTo>
                  <a:lnTo>
                    <a:pt x="0" y="25555"/>
                  </a:lnTo>
                  <a:lnTo>
                    <a:pt x="76812" y="25555"/>
                  </a:lnTo>
                  <a:cubicBezTo>
                    <a:pt x="90306" y="25555"/>
                    <a:pt x="102416" y="37297"/>
                    <a:pt x="102416" y="51110"/>
                  </a:cubicBezTo>
                  <a:cubicBezTo>
                    <a:pt x="102416" y="64924"/>
                    <a:pt x="90652" y="76665"/>
                    <a:pt x="76812" y="76665"/>
                  </a:cubicBezTo>
                  <a:lnTo>
                    <a:pt x="0" y="76665"/>
                  </a:lnTo>
                  <a:lnTo>
                    <a:pt x="0" y="102221"/>
                  </a:lnTo>
                  <a:lnTo>
                    <a:pt x="76812" y="102221"/>
                  </a:lnTo>
                  <a:cubicBezTo>
                    <a:pt x="96188" y="102221"/>
                    <a:pt x="113142" y="91515"/>
                    <a:pt x="121792" y="75629"/>
                  </a:cubicBezTo>
                  <a:cubicBezTo>
                    <a:pt x="125598" y="68377"/>
                    <a:pt x="128020" y="59744"/>
                    <a:pt x="128020" y="51110"/>
                  </a:cubicBezTo>
                  <a:cubicBezTo>
                    <a:pt x="128020" y="42477"/>
                    <a:pt x="125598" y="33843"/>
                    <a:pt x="121792" y="26591"/>
                  </a:cubicBezTo>
                  <a:cubicBezTo>
                    <a:pt x="113142" y="10706"/>
                    <a:pt x="96188" y="0"/>
                    <a:pt x="76812" y="0"/>
                  </a:cubicBezTo>
                  <a:close/>
                </a:path>
              </a:pathLst>
            </a:custGeom>
            <a:grpFill/>
            <a:ln w="3458" cap="flat">
              <a:noFill/>
              <a:prstDash val="solid"/>
              <a:miter/>
            </a:ln>
          </p:spPr>
          <p:txBody>
            <a:bodyPr rtlCol="0" anchor="ctr"/>
            <a:lstStyle/>
            <a:p>
              <a:endParaRPr lang="en-US" sz="1800"/>
            </a:p>
          </p:txBody>
        </p:sp>
        <p:sp>
          <p:nvSpPr>
            <p:cNvPr id="20" name="Freeform 19">
              <a:extLst>
                <a:ext uri="{FF2B5EF4-FFF2-40B4-BE49-F238E27FC236}">
                  <a16:creationId xmlns:a16="http://schemas.microsoft.com/office/drawing/2014/main" id="{825DA8C4-BD9E-7093-4D00-C226C34B9A15}"/>
                </a:ext>
              </a:extLst>
            </p:cNvPr>
            <p:cNvSpPr/>
            <p:nvPr/>
          </p:nvSpPr>
          <p:spPr>
            <a:xfrm>
              <a:off x="9080478" y="7685087"/>
              <a:ext cx="40481" cy="102220"/>
            </a:xfrm>
            <a:custGeom>
              <a:avLst/>
              <a:gdLst>
                <a:gd name="connsiteX0" fmla="*/ 5190 w 40481"/>
                <a:gd name="connsiteY0" fmla="*/ 25555 h 102220"/>
                <a:gd name="connsiteX1" fmla="*/ 7266 w 40481"/>
                <a:gd name="connsiteY1" fmla="*/ 25555 h 102220"/>
                <a:gd name="connsiteX2" fmla="*/ 14878 w 40481"/>
                <a:gd name="connsiteY2" fmla="*/ 35225 h 102220"/>
                <a:gd name="connsiteX3" fmla="*/ 14878 w 40481"/>
                <a:gd name="connsiteY3" fmla="*/ 102221 h 102220"/>
                <a:gd name="connsiteX4" fmla="*/ 40482 w 40481"/>
                <a:gd name="connsiteY4" fmla="*/ 102221 h 102220"/>
                <a:gd name="connsiteX5" fmla="*/ 40482 w 40481"/>
                <a:gd name="connsiteY5" fmla="*/ 0 h 102220"/>
                <a:gd name="connsiteX6" fmla="*/ 0 w 40481"/>
                <a:gd name="connsiteY6" fmla="*/ 0 h 102220"/>
                <a:gd name="connsiteX7" fmla="*/ 0 w 40481"/>
                <a:gd name="connsiteY7" fmla="*/ 25555 h 102220"/>
                <a:gd name="connsiteX8" fmla="*/ 5536 w 40481"/>
                <a:gd name="connsiteY8" fmla="*/ 25555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481" h="102220">
                  <a:moveTo>
                    <a:pt x="5190" y="25555"/>
                  </a:moveTo>
                  <a:cubicBezTo>
                    <a:pt x="5882" y="25555"/>
                    <a:pt x="6574" y="25555"/>
                    <a:pt x="7266" y="25555"/>
                  </a:cubicBezTo>
                  <a:cubicBezTo>
                    <a:pt x="12110" y="26246"/>
                    <a:pt x="14878" y="30045"/>
                    <a:pt x="14878" y="35225"/>
                  </a:cubicBezTo>
                  <a:lnTo>
                    <a:pt x="14878" y="102221"/>
                  </a:lnTo>
                  <a:lnTo>
                    <a:pt x="40482" y="102221"/>
                  </a:lnTo>
                  <a:lnTo>
                    <a:pt x="40482" y="0"/>
                  </a:lnTo>
                  <a:lnTo>
                    <a:pt x="0" y="0"/>
                  </a:lnTo>
                  <a:lnTo>
                    <a:pt x="0" y="25555"/>
                  </a:lnTo>
                  <a:lnTo>
                    <a:pt x="5536" y="25555"/>
                  </a:lnTo>
                  <a:close/>
                </a:path>
              </a:pathLst>
            </a:custGeom>
            <a:grpFill/>
            <a:ln w="3458" cap="flat">
              <a:noFill/>
              <a:prstDash val="solid"/>
              <a:miter/>
            </a:ln>
          </p:spPr>
          <p:txBody>
            <a:bodyPr rtlCol="0" anchor="ctr"/>
            <a:lstStyle/>
            <a:p>
              <a:endParaRPr lang="en-US" sz="1800"/>
            </a:p>
          </p:txBody>
        </p:sp>
        <p:sp>
          <p:nvSpPr>
            <p:cNvPr id="21" name="Freeform 20">
              <a:extLst>
                <a:ext uri="{FF2B5EF4-FFF2-40B4-BE49-F238E27FC236}">
                  <a16:creationId xmlns:a16="http://schemas.microsoft.com/office/drawing/2014/main" id="{A3A35920-5BE9-0EEB-2932-7B8A60BF23FD}"/>
                </a:ext>
              </a:extLst>
            </p:cNvPr>
            <p:cNvSpPr/>
            <p:nvPr/>
          </p:nvSpPr>
          <p:spPr>
            <a:xfrm>
              <a:off x="9146218" y="7685087"/>
              <a:ext cx="128365" cy="102220"/>
            </a:xfrm>
            <a:custGeom>
              <a:avLst/>
              <a:gdLst>
                <a:gd name="connsiteX0" fmla="*/ 128365 w 128365"/>
                <a:gd name="connsiteY0" fmla="*/ 81846 h 102220"/>
                <a:gd name="connsiteX1" fmla="*/ 128365 w 128365"/>
                <a:gd name="connsiteY1" fmla="*/ 102221 h 102220"/>
                <a:gd name="connsiteX2" fmla="*/ 19722 w 128365"/>
                <a:gd name="connsiteY2" fmla="*/ 60780 h 102220"/>
                <a:gd name="connsiteX3" fmla="*/ 0 w 128365"/>
                <a:gd name="connsiteY3" fmla="*/ 30735 h 102220"/>
                <a:gd name="connsiteX4" fmla="*/ 31140 w 128365"/>
                <a:gd name="connsiteY4" fmla="*/ 0 h 102220"/>
                <a:gd name="connsiteX5" fmla="*/ 128020 w 128365"/>
                <a:gd name="connsiteY5" fmla="*/ 0 h 102220"/>
                <a:gd name="connsiteX6" fmla="*/ 128020 w 128365"/>
                <a:gd name="connsiteY6" fmla="*/ 40059 h 102220"/>
                <a:gd name="connsiteX7" fmla="*/ 102416 w 128365"/>
                <a:gd name="connsiteY7" fmla="*/ 40059 h 102220"/>
                <a:gd name="connsiteX8" fmla="*/ 102416 w 128365"/>
                <a:gd name="connsiteY8" fmla="*/ 32807 h 102220"/>
                <a:gd name="connsiteX9" fmla="*/ 94458 w 128365"/>
                <a:gd name="connsiteY9" fmla="*/ 25555 h 102220"/>
                <a:gd name="connsiteX10" fmla="*/ 37714 w 128365"/>
                <a:gd name="connsiteY10" fmla="*/ 25555 h 102220"/>
                <a:gd name="connsiteX11" fmla="*/ 29756 w 128365"/>
                <a:gd name="connsiteY11" fmla="*/ 33498 h 102220"/>
                <a:gd name="connsiteX12" fmla="*/ 34946 w 128365"/>
                <a:gd name="connsiteY12" fmla="*/ 41095 h 102220"/>
                <a:gd name="connsiteX13" fmla="*/ 119370 w 128365"/>
                <a:gd name="connsiteY13" fmla="*/ 70795 h 102220"/>
                <a:gd name="connsiteX14" fmla="*/ 127674 w 128365"/>
                <a:gd name="connsiteY14"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8365" h="102220">
                  <a:moveTo>
                    <a:pt x="128365" y="81846"/>
                  </a:moveTo>
                  <a:lnTo>
                    <a:pt x="128365"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close/>
                </a:path>
              </a:pathLst>
            </a:custGeom>
            <a:grpFill/>
            <a:ln w="3458" cap="flat">
              <a:noFill/>
              <a:prstDash val="solid"/>
              <a:miter/>
            </a:ln>
          </p:spPr>
          <p:txBody>
            <a:bodyPr rtlCol="0" anchor="ctr"/>
            <a:lstStyle/>
            <a:p>
              <a:endParaRPr lang="en-US" sz="1800"/>
            </a:p>
          </p:txBody>
        </p:sp>
        <p:sp>
          <p:nvSpPr>
            <p:cNvPr id="22" name="Freeform 21">
              <a:extLst>
                <a:ext uri="{FF2B5EF4-FFF2-40B4-BE49-F238E27FC236}">
                  <a16:creationId xmlns:a16="http://schemas.microsoft.com/office/drawing/2014/main" id="{CDCC467F-79EF-99F0-0BA6-99DF0BF0CED0}"/>
                </a:ext>
              </a:extLst>
            </p:cNvPr>
            <p:cNvSpPr/>
            <p:nvPr/>
          </p:nvSpPr>
          <p:spPr>
            <a:xfrm>
              <a:off x="9146564" y="7761753"/>
              <a:ext cx="25258" cy="25555"/>
            </a:xfrm>
            <a:custGeom>
              <a:avLst/>
              <a:gdLst>
                <a:gd name="connsiteX0" fmla="*/ 25258 w 25258"/>
                <a:gd name="connsiteY0" fmla="*/ 0 h 25555"/>
                <a:gd name="connsiteX1" fmla="*/ 0 w 25258"/>
                <a:gd name="connsiteY1" fmla="*/ 0 h 25555"/>
                <a:gd name="connsiteX2" fmla="*/ 0 w 25258"/>
                <a:gd name="connsiteY2" fmla="*/ 25555 h 25555"/>
                <a:gd name="connsiteX3" fmla="*/ 25258 w 25258"/>
                <a:gd name="connsiteY3" fmla="*/ 25555 h 25555"/>
                <a:gd name="connsiteX4" fmla="*/ 25258 w 25258"/>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8"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23" name="Freeform 22">
              <a:extLst>
                <a:ext uri="{FF2B5EF4-FFF2-40B4-BE49-F238E27FC236}">
                  <a16:creationId xmlns:a16="http://schemas.microsoft.com/office/drawing/2014/main" id="{9412588D-3E04-0183-9916-AC7A460A87E4}"/>
                </a:ext>
              </a:extLst>
            </p:cNvPr>
            <p:cNvSpPr/>
            <p:nvPr/>
          </p:nvSpPr>
          <p:spPr>
            <a:xfrm>
              <a:off x="8480170" y="7685087"/>
              <a:ext cx="128019" cy="102220"/>
            </a:xfrm>
            <a:custGeom>
              <a:avLst/>
              <a:gdLst>
                <a:gd name="connsiteX0" fmla="*/ 128020 w 128019"/>
                <a:gd name="connsiteY0" fmla="*/ 81846 h 102220"/>
                <a:gd name="connsiteX1" fmla="*/ 128020 w 128019"/>
                <a:gd name="connsiteY1" fmla="*/ 102221 h 102220"/>
                <a:gd name="connsiteX2" fmla="*/ 19722 w 128019"/>
                <a:gd name="connsiteY2" fmla="*/ 60780 h 102220"/>
                <a:gd name="connsiteX3" fmla="*/ 0 w 128019"/>
                <a:gd name="connsiteY3" fmla="*/ 30735 h 102220"/>
                <a:gd name="connsiteX4" fmla="*/ 31140 w 128019"/>
                <a:gd name="connsiteY4" fmla="*/ 0 h 102220"/>
                <a:gd name="connsiteX5" fmla="*/ 128020 w 128019"/>
                <a:gd name="connsiteY5" fmla="*/ 0 h 102220"/>
                <a:gd name="connsiteX6" fmla="*/ 128020 w 128019"/>
                <a:gd name="connsiteY6" fmla="*/ 40059 h 102220"/>
                <a:gd name="connsiteX7" fmla="*/ 102416 w 128019"/>
                <a:gd name="connsiteY7" fmla="*/ 40059 h 102220"/>
                <a:gd name="connsiteX8" fmla="*/ 102416 w 128019"/>
                <a:gd name="connsiteY8" fmla="*/ 32807 h 102220"/>
                <a:gd name="connsiteX9" fmla="*/ 94458 w 128019"/>
                <a:gd name="connsiteY9" fmla="*/ 25555 h 102220"/>
                <a:gd name="connsiteX10" fmla="*/ 37714 w 128019"/>
                <a:gd name="connsiteY10" fmla="*/ 25555 h 102220"/>
                <a:gd name="connsiteX11" fmla="*/ 29756 w 128019"/>
                <a:gd name="connsiteY11" fmla="*/ 33498 h 102220"/>
                <a:gd name="connsiteX12" fmla="*/ 34946 w 128019"/>
                <a:gd name="connsiteY12" fmla="*/ 41095 h 102220"/>
                <a:gd name="connsiteX13" fmla="*/ 119370 w 128019"/>
                <a:gd name="connsiteY13" fmla="*/ 70795 h 102220"/>
                <a:gd name="connsiteX14" fmla="*/ 127674 w 128019"/>
                <a:gd name="connsiteY14" fmla="*/ 81846 h 102220"/>
                <a:gd name="connsiteX15" fmla="*/ 127674 w 128019"/>
                <a:gd name="connsiteY15"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8019" h="102220">
                  <a:moveTo>
                    <a:pt x="128020" y="81846"/>
                  </a:moveTo>
                  <a:lnTo>
                    <a:pt x="128020"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lnTo>
                    <a:pt x="127674" y="81846"/>
                  </a:lnTo>
                  <a:close/>
                </a:path>
              </a:pathLst>
            </a:custGeom>
            <a:grpFill/>
            <a:ln w="3458" cap="flat">
              <a:noFill/>
              <a:prstDash val="solid"/>
              <a:miter/>
            </a:ln>
          </p:spPr>
          <p:txBody>
            <a:bodyPr rtlCol="0" anchor="ctr"/>
            <a:lstStyle/>
            <a:p>
              <a:endParaRPr lang="en-US" sz="1800"/>
            </a:p>
          </p:txBody>
        </p:sp>
        <p:sp>
          <p:nvSpPr>
            <p:cNvPr id="24" name="Freeform 23">
              <a:extLst>
                <a:ext uri="{FF2B5EF4-FFF2-40B4-BE49-F238E27FC236}">
                  <a16:creationId xmlns:a16="http://schemas.microsoft.com/office/drawing/2014/main" id="{D02A2C69-23CD-0B4F-1282-5B5C05F9B7B1}"/>
                </a:ext>
              </a:extLst>
            </p:cNvPr>
            <p:cNvSpPr/>
            <p:nvPr/>
          </p:nvSpPr>
          <p:spPr>
            <a:xfrm>
              <a:off x="8480516" y="7761753"/>
              <a:ext cx="25257" cy="25555"/>
            </a:xfrm>
            <a:custGeom>
              <a:avLst/>
              <a:gdLst>
                <a:gd name="connsiteX0" fmla="*/ 25258 w 25257"/>
                <a:gd name="connsiteY0" fmla="*/ 0 h 25555"/>
                <a:gd name="connsiteX1" fmla="*/ 0 w 25257"/>
                <a:gd name="connsiteY1" fmla="*/ 0 h 25555"/>
                <a:gd name="connsiteX2" fmla="*/ 0 w 25257"/>
                <a:gd name="connsiteY2" fmla="*/ 25555 h 25555"/>
                <a:gd name="connsiteX3" fmla="*/ 25258 w 25257"/>
                <a:gd name="connsiteY3" fmla="*/ 25555 h 25555"/>
                <a:gd name="connsiteX4" fmla="*/ 25258 w 25257"/>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7"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25" name="Freeform 24">
              <a:extLst>
                <a:ext uri="{FF2B5EF4-FFF2-40B4-BE49-F238E27FC236}">
                  <a16:creationId xmlns:a16="http://schemas.microsoft.com/office/drawing/2014/main" id="{82F7100C-ED57-D482-2C29-3A73DD5516B2}"/>
                </a:ext>
              </a:extLst>
            </p:cNvPr>
            <p:cNvSpPr/>
            <p:nvPr/>
          </p:nvSpPr>
          <p:spPr>
            <a:xfrm>
              <a:off x="9300533" y="7685087"/>
              <a:ext cx="128019" cy="102220"/>
            </a:xfrm>
            <a:custGeom>
              <a:avLst/>
              <a:gdLst>
                <a:gd name="connsiteX0" fmla="*/ 128020 w 128019"/>
                <a:gd name="connsiteY0" fmla="*/ 25555 h 102220"/>
                <a:gd name="connsiteX1" fmla="*/ 128020 w 128019"/>
                <a:gd name="connsiteY1" fmla="*/ 0 h 102220"/>
                <a:gd name="connsiteX2" fmla="*/ 105530 w 128019"/>
                <a:gd name="connsiteY2" fmla="*/ 0 h 102220"/>
                <a:gd name="connsiteX3" fmla="*/ 100686 w 128019"/>
                <a:gd name="connsiteY3" fmla="*/ 1727 h 102220"/>
                <a:gd name="connsiteX4" fmla="*/ 60550 w 128019"/>
                <a:gd name="connsiteY4" fmla="*/ 37987 h 102220"/>
                <a:gd name="connsiteX5" fmla="*/ 56398 w 128019"/>
                <a:gd name="connsiteY5" fmla="*/ 39714 h 102220"/>
                <a:gd name="connsiteX6" fmla="*/ 28372 w 128019"/>
                <a:gd name="connsiteY6" fmla="*/ 39714 h 102220"/>
                <a:gd name="connsiteX7" fmla="*/ 25258 w 128019"/>
                <a:gd name="connsiteY7" fmla="*/ 36606 h 102220"/>
                <a:gd name="connsiteX8" fmla="*/ 25258 w 128019"/>
                <a:gd name="connsiteY8" fmla="*/ 0 h 102220"/>
                <a:gd name="connsiteX9" fmla="*/ 0 w 128019"/>
                <a:gd name="connsiteY9" fmla="*/ 0 h 102220"/>
                <a:gd name="connsiteX10" fmla="*/ 0 w 128019"/>
                <a:gd name="connsiteY10" fmla="*/ 102221 h 102220"/>
                <a:gd name="connsiteX11" fmla="*/ 25258 w 128019"/>
                <a:gd name="connsiteY11" fmla="*/ 102221 h 102220"/>
                <a:gd name="connsiteX12" fmla="*/ 25258 w 128019"/>
                <a:gd name="connsiteY12" fmla="*/ 65615 h 102220"/>
                <a:gd name="connsiteX13" fmla="*/ 28372 w 128019"/>
                <a:gd name="connsiteY13" fmla="*/ 62507 h 102220"/>
                <a:gd name="connsiteX14" fmla="*/ 56398 w 128019"/>
                <a:gd name="connsiteY14" fmla="*/ 62507 h 102220"/>
                <a:gd name="connsiteX15" fmla="*/ 60550 w 128019"/>
                <a:gd name="connsiteY15" fmla="*/ 64233 h 102220"/>
                <a:gd name="connsiteX16" fmla="*/ 100686 w 128019"/>
                <a:gd name="connsiteY16" fmla="*/ 100494 h 102220"/>
                <a:gd name="connsiteX17" fmla="*/ 105530 w 128019"/>
                <a:gd name="connsiteY17" fmla="*/ 102221 h 102220"/>
                <a:gd name="connsiteX18" fmla="*/ 128020 w 128019"/>
                <a:gd name="connsiteY18" fmla="*/ 102221 h 102220"/>
                <a:gd name="connsiteX19" fmla="*/ 128020 w 128019"/>
                <a:gd name="connsiteY19" fmla="*/ 76665 h 102220"/>
                <a:gd name="connsiteX20" fmla="*/ 115564 w 128019"/>
                <a:gd name="connsiteY20" fmla="*/ 76665 h 102220"/>
                <a:gd name="connsiteX21" fmla="*/ 105184 w 128019"/>
                <a:gd name="connsiteY21" fmla="*/ 72867 h 102220"/>
                <a:gd name="connsiteX22" fmla="*/ 86154 w 128019"/>
                <a:gd name="connsiteY22" fmla="*/ 55945 h 102220"/>
                <a:gd name="connsiteX23" fmla="*/ 86154 w 128019"/>
                <a:gd name="connsiteY23" fmla="*/ 45930 h 102220"/>
                <a:gd name="connsiteX24" fmla="*/ 105184 w 128019"/>
                <a:gd name="connsiteY24" fmla="*/ 29009 h 102220"/>
                <a:gd name="connsiteX25" fmla="*/ 115564 w 128019"/>
                <a:gd name="connsiteY25" fmla="*/ 25210 h 102220"/>
                <a:gd name="connsiteX26" fmla="*/ 128020 w 128019"/>
                <a:gd name="connsiteY26" fmla="*/ 2521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8019" h="102220">
                  <a:moveTo>
                    <a:pt x="128020" y="25555"/>
                  </a:moveTo>
                  <a:lnTo>
                    <a:pt x="128020" y="0"/>
                  </a:lnTo>
                  <a:lnTo>
                    <a:pt x="105530" y="0"/>
                  </a:lnTo>
                  <a:cubicBezTo>
                    <a:pt x="103800" y="0"/>
                    <a:pt x="102070" y="691"/>
                    <a:pt x="100686" y="1727"/>
                  </a:cubicBezTo>
                  <a:lnTo>
                    <a:pt x="60550" y="37987"/>
                  </a:lnTo>
                  <a:cubicBezTo>
                    <a:pt x="59512" y="39023"/>
                    <a:pt x="58128" y="39714"/>
                    <a:pt x="56398" y="39714"/>
                  </a:cubicBezTo>
                  <a:lnTo>
                    <a:pt x="28372" y="39714"/>
                  </a:lnTo>
                  <a:cubicBezTo>
                    <a:pt x="26642" y="39714"/>
                    <a:pt x="25258" y="38333"/>
                    <a:pt x="25258" y="36606"/>
                  </a:cubicBezTo>
                  <a:lnTo>
                    <a:pt x="25258" y="0"/>
                  </a:lnTo>
                  <a:lnTo>
                    <a:pt x="0" y="0"/>
                  </a:lnTo>
                  <a:lnTo>
                    <a:pt x="0" y="102221"/>
                  </a:lnTo>
                  <a:lnTo>
                    <a:pt x="25258" y="102221"/>
                  </a:lnTo>
                  <a:lnTo>
                    <a:pt x="25258" y="65615"/>
                  </a:lnTo>
                  <a:cubicBezTo>
                    <a:pt x="25258" y="63888"/>
                    <a:pt x="26642" y="62507"/>
                    <a:pt x="28372" y="62507"/>
                  </a:cubicBezTo>
                  <a:lnTo>
                    <a:pt x="56398" y="62507"/>
                  </a:lnTo>
                  <a:cubicBezTo>
                    <a:pt x="57782" y="62507"/>
                    <a:pt x="59512" y="62852"/>
                    <a:pt x="60550" y="64233"/>
                  </a:cubicBezTo>
                  <a:lnTo>
                    <a:pt x="100686" y="100494"/>
                  </a:lnTo>
                  <a:cubicBezTo>
                    <a:pt x="102070" y="101530"/>
                    <a:pt x="103800" y="102221"/>
                    <a:pt x="105530" y="102221"/>
                  </a:cubicBezTo>
                  <a:lnTo>
                    <a:pt x="128020" y="102221"/>
                  </a:lnTo>
                  <a:lnTo>
                    <a:pt x="128020" y="76665"/>
                  </a:lnTo>
                  <a:lnTo>
                    <a:pt x="115564" y="76665"/>
                  </a:lnTo>
                  <a:cubicBezTo>
                    <a:pt x="111758" y="76665"/>
                    <a:pt x="107952" y="75284"/>
                    <a:pt x="105184" y="72867"/>
                  </a:cubicBezTo>
                  <a:lnTo>
                    <a:pt x="86154" y="55945"/>
                  </a:lnTo>
                  <a:cubicBezTo>
                    <a:pt x="83040" y="53528"/>
                    <a:pt x="83040" y="48693"/>
                    <a:pt x="86154" y="45930"/>
                  </a:cubicBezTo>
                  <a:lnTo>
                    <a:pt x="105184" y="29009"/>
                  </a:lnTo>
                  <a:cubicBezTo>
                    <a:pt x="108298" y="26591"/>
                    <a:pt x="111758" y="25210"/>
                    <a:pt x="115564" y="25210"/>
                  </a:cubicBezTo>
                  <a:lnTo>
                    <a:pt x="128020" y="25210"/>
                  </a:lnTo>
                  <a:close/>
                </a:path>
              </a:pathLst>
            </a:custGeom>
            <a:grpFill/>
            <a:ln w="3458" cap="flat">
              <a:noFill/>
              <a:prstDash val="solid"/>
              <a:miter/>
            </a:ln>
          </p:spPr>
          <p:txBody>
            <a:bodyPr rtlCol="0" anchor="ctr"/>
            <a:lstStyle/>
            <a:p>
              <a:endParaRPr lang="en-US" sz="1800"/>
            </a:p>
          </p:txBody>
        </p:sp>
        <p:sp>
          <p:nvSpPr>
            <p:cNvPr id="26" name="Freeform 25">
              <a:extLst>
                <a:ext uri="{FF2B5EF4-FFF2-40B4-BE49-F238E27FC236}">
                  <a16:creationId xmlns:a16="http://schemas.microsoft.com/office/drawing/2014/main" id="{EA1A0846-AB2E-5352-6E4A-CDB4C0660200}"/>
                </a:ext>
              </a:extLst>
            </p:cNvPr>
            <p:cNvSpPr/>
            <p:nvPr/>
          </p:nvSpPr>
          <p:spPr>
            <a:xfrm>
              <a:off x="8623760" y="7684742"/>
              <a:ext cx="138053" cy="102565"/>
            </a:xfrm>
            <a:custGeom>
              <a:avLst/>
              <a:gdLst>
                <a:gd name="connsiteX0" fmla="*/ 99302 w 138053"/>
                <a:gd name="connsiteY0" fmla="*/ 345 h 102565"/>
                <a:gd name="connsiteX1" fmla="*/ 70238 w 138053"/>
                <a:gd name="connsiteY1" fmla="*/ 14850 h 102565"/>
                <a:gd name="connsiteX2" fmla="*/ 0 w 138053"/>
                <a:gd name="connsiteY2" fmla="*/ 102566 h 102565"/>
                <a:gd name="connsiteX3" fmla="*/ 35638 w 138053"/>
                <a:gd name="connsiteY3" fmla="*/ 102566 h 102565"/>
                <a:gd name="connsiteX4" fmla="*/ 93420 w 138053"/>
                <a:gd name="connsiteY4" fmla="*/ 31426 h 102565"/>
                <a:gd name="connsiteX5" fmla="*/ 102762 w 138053"/>
                <a:gd name="connsiteY5" fmla="*/ 26246 h 102565"/>
                <a:gd name="connsiteX6" fmla="*/ 112450 w 138053"/>
                <a:gd name="connsiteY6" fmla="*/ 36951 h 102565"/>
                <a:gd name="connsiteX7" fmla="*/ 112450 w 138053"/>
                <a:gd name="connsiteY7" fmla="*/ 68032 h 102565"/>
                <a:gd name="connsiteX8" fmla="*/ 105184 w 138053"/>
                <a:gd name="connsiteY8" fmla="*/ 77011 h 102565"/>
                <a:gd name="connsiteX9" fmla="*/ 97918 w 138053"/>
                <a:gd name="connsiteY9" fmla="*/ 77011 h 102565"/>
                <a:gd name="connsiteX10" fmla="*/ 97918 w 138053"/>
                <a:gd name="connsiteY10" fmla="*/ 102566 h 102565"/>
                <a:gd name="connsiteX11" fmla="*/ 138054 w 138053"/>
                <a:gd name="connsiteY11" fmla="*/ 102566 h 102565"/>
                <a:gd name="connsiteX12" fmla="*/ 138054 w 138053"/>
                <a:gd name="connsiteY12" fmla="*/ 38333 h 102565"/>
                <a:gd name="connsiteX13" fmla="*/ 98956 w 138053"/>
                <a:gd name="connsiteY13" fmla="*/ 0 h 102565"/>
                <a:gd name="connsiteX14" fmla="*/ 98956 w 138053"/>
                <a:gd name="connsiteY14" fmla="*/ 0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8053" h="102565">
                  <a:moveTo>
                    <a:pt x="99302" y="345"/>
                  </a:moveTo>
                  <a:cubicBezTo>
                    <a:pt x="87884" y="345"/>
                    <a:pt x="77158" y="5871"/>
                    <a:pt x="70238" y="14850"/>
                  </a:cubicBezTo>
                  <a:lnTo>
                    <a:pt x="0" y="102566"/>
                  </a:lnTo>
                  <a:lnTo>
                    <a:pt x="35638" y="102566"/>
                  </a:lnTo>
                  <a:lnTo>
                    <a:pt x="93420" y="31426"/>
                  </a:lnTo>
                  <a:cubicBezTo>
                    <a:pt x="96188" y="27973"/>
                    <a:pt x="98264" y="26246"/>
                    <a:pt x="102762" y="26246"/>
                  </a:cubicBezTo>
                  <a:cubicBezTo>
                    <a:pt x="107260" y="26246"/>
                    <a:pt x="112450" y="31081"/>
                    <a:pt x="112450" y="36951"/>
                  </a:cubicBezTo>
                  <a:lnTo>
                    <a:pt x="112450" y="68032"/>
                  </a:lnTo>
                  <a:cubicBezTo>
                    <a:pt x="112450" y="72867"/>
                    <a:pt x="110028" y="77011"/>
                    <a:pt x="105184" y="77011"/>
                  </a:cubicBezTo>
                  <a:lnTo>
                    <a:pt x="97918" y="77011"/>
                  </a:lnTo>
                  <a:lnTo>
                    <a:pt x="97918" y="102566"/>
                  </a:lnTo>
                  <a:lnTo>
                    <a:pt x="138054" y="102566"/>
                  </a:lnTo>
                  <a:lnTo>
                    <a:pt x="138054" y="38333"/>
                  </a:lnTo>
                  <a:cubicBezTo>
                    <a:pt x="138054" y="33153"/>
                    <a:pt x="138054" y="0"/>
                    <a:pt x="98956" y="0"/>
                  </a:cubicBezTo>
                  <a:lnTo>
                    <a:pt x="98956" y="0"/>
                  </a:lnTo>
                  <a:close/>
                </a:path>
              </a:pathLst>
            </a:custGeom>
            <a:grpFill/>
            <a:ln w="3458" cap="flat">
              <a:noFill/>
              <a:prstDash val="solid"/>
              <a:miter/>
            </a:ln>
          </p:spPr>
          <p:txBody>
            <a:bodyPr rtlCol="0" anchor="ctr"/>
            <a:lstStyle/>
            <a:p>
              <a:endParaRPr lang="en-US" sz="1800"/>
            </a:p>
          </p:txBody>
        </p:sp>
        <p:sp>
          <p:nvSpPr>
            <p:cNvPr id="27" name="Freeform 26">
              <a:extLst>
                <a:ext uri="{FF2B5EF4-FFF2-40B4-BE49-F238E27FC236}">
                  <a16:creationId xmlns:a16="http://schemas.microsoft.com/office/drawing/2014/main" id="{F2BDD6B2-45C9-1C85-564A-1A1E07443A4D}"/>
                </a:ext>
              </a:extLst>
            </p:cNvPr>
            <p:cNvSpPr/>
            <p:nvPr/>
          </p:nvSpPr>
          <p:spPr>
            <a:xfrm>
              <a:off x="9480453" y="7685087"/>
              <a:ext cx="30793" cy="25555"/>
            </a:xfrm>
            <a:custGeom>
              <a:avLst/>
              <a:gdLst>
                <a:gd name="connsiteX0" fmla="*/ 30448 w 30793"/>
                <a:gd name="connsiteY0" fmla="*/ 0 h 25555"/>
                <a:gd name="connsiteX1" fmla="*/ 30448 w 30793"/>
                <a:gd name="connsiteY1" fmla="*/ 25555 h 25555"/>
                <a:gd name="connsiteX2" fmla="*/ 24912 w 30793"/>
                <a:gd name="connsiteY2" fmla="*/ 25555 h 25555"/>
                <a:gd name="connsiteX3" fmla="*/ 24912 w 30793"/>
                <a:gd name="connsiteY3" fmla="*/ 5180 h 25555"/>
                <a:gd name="connsiteX4" fmla="*/ 24912 w 30793"/>
                <a:gd name="connsiteY4" fmla="*/ 5180 h 25555"/>
                <a:gd name="connsiteX5" fmla="*/ 17646 w 30793"/>
                <a:gd name="connsiteY5" fmla="*/ 25555 h 25555"/>
                <a:gd name="connsiteX6" fmla="*/ 12802 w 30793"/>
                <a:gd name="connsiteY6" fmla="*/ 25555 h 25555"/>
                <a:gd name="connsiteX7" fmla="*/ 5536 w 30793"/>
                <a:gd name="connsiteY7" fmla="*/ 5180 h 25555"/>
                <a:gd name="connsiteX8" fmla="*/ 5536 w 30793"/>
                <a:gd name="connsiteY8" fmla="*/ 5180 h 25555"/>
                <a:gd name="connsiteX9" fmla="*/ 5536 w 30793"/>
                <a:gd name="connsiteY9" fmla="*/ 25555 h 25555"/>
                <a:gd name="connsiteX10" fmla="*/ 0 w 30793"/>
                <a:gd name="connsiteY10" fmla="*/ 25555 h 25555"/>
                <a:gd name="connsiteX11" fmla="*/ 0 w 30793"/>
                <a:gd name="connsiteY11" fmla="*/ 0 h 25555"/>
                <a:gd name="connsiteX12" fmla="*/ 9688 w 30793"/>
                <a:gd name="connsiteY12" fmla="*/ 0 h 25555"/>
                <a:gd name="connsiteX13" fmla="*/ 15570 w 30793"/>
                <a:gd name="connsiteY13" fmla="*/ 17267 h 25555"/>
                <a:gd name="connsiteX14" fmla="*/ 15570 w 30793"/>
                <a:gd name="connsiteY14" fmla="*/ 17267 h 25555"/>
                <a:gd name="connsiteX15" fmla="*/ 21798 w 30793"/>
                <a:gd name="connsiteY15" fmla="*/ 0 h 25555"/>
                <a:gd name="connsiteX16" fmla="*/ 30794 w 30793"/>
                <a:gd name="connsiteY16" fmla="*/ 0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793" h="25555">
                  <a:moveTo>
                    <a:pt x="30448" y="0"/>
                  </a:moveTo>
                  <a:lnTo>
                    <a:pt x="30448" y="25555"/>
                  </a:lnTo>
                  <a:lnTo>
                    <a:pt x="24912" y="25555"/>
                  </a:lnTo>
                  <a:lnTo>
                    <a:pt x="24912" y="5180"/>
                  </a:lnTo>
                  <a:lnTo>
                    <a:pt x="24912" y="5180"/>
                  </a:lnTo>
                  <a:lnTo>
                    <a:pt x="17646" y="25555"/>
                  </a:lnTo>
                  <a:lnTo>
                    <a:pt x="12802" y="25555"/>
                  </a:lnTo>
                  <a:lnTo>
                    <a:pt x="5536" y="5180"/>
                  </a:lnTo>
                  <a:lnTo>
                    <a:pt x="5536" y="5180"/>
                  </a:lnTo>
                  <a:lnTo>
                    <a:pt x="5536" y="25555"/>
                  </a:lnTo>
                  <a:lnTo>
                    <a:pt x="0" y="25555"/>
                  </a:lnTo>
                  <a:lnTo>
                    <a:pt x="0" y="0"/>
                  </a:lnTo>
                  <a:lnTo>
                    <a:pt x="9688" y="0"/>
                  </a:lnTo>
                  <a:lnTo>
                    <a:pt x="15570" y="17267"/>
                  </a:lnTo>
                  <a:lnTo>
                    <a:pt x="15570" y="17267"/>
                  </a:lnTo>
                  <a:lnTo>
                    <a:pt x="21798" y="0"/>
                  </a:lnTo>
                  <a:lnTo>
                    <a:pt x="30794" y="0"/>
                  </a:lnTo>
                  <a:close/>
                </a:path>
              </a:pathLst>
            </a:custGeom>
            <a:grpFill/>
            <a:ln w="3458" cap="flat">
              <a:noFill/>
              <a:prstDash val="solid"/>
              <a:miter/>
            </a:ln>
          </p:spPr>
          <p:txBody>
            <a:bodyPr rtlCol="0" anchor="ctr"/>
            <a:lstStyle/>
            <a:p>
              <a:endParaRPr lang="en-US" sz="1800"/>
            </a:p>
          </p:txBody>
        </p:sp>
        <p:sp>
          <p:nvSpPr>
            <p:cNvPr id="28" name="Freeform 27">
              <a:extLst>
                <a:ext uri="{FF2B5EF4-FFF2-40B4-BE49-F238E27FC236}">
                  <a16:creationId xmlns:a16="http://schemas.microsoft.com/office/drawing/2014/main" id="{FE7D8272-799E-EECA-29EC-2F2D61E6D10B}"/>
                </a:ext>
              </a:extLst>
            </p:cNvPr>
            <p:cNvSpPr/>
            <p:nvPr/>
          </p:nvSpPr>
          <p:spPr>
            <a:xfrm>
              <a:off x="9453811" y="7685087"/>
              <a:ext cx="21451" cy="25555"/>
            </a:xfrm>
            <a:custGeom>
              <a:avLst/>
              <a:gdLst>
                <a:gd name="connsiteX0" fmla="*/ 13840 w 21451"/>
                <a:gd name="connsiteY0" fmla="*/ 4835 h 25555"/>
                <a:gd name="connsiteX1" fmla="*/ 13840 w 21451"/>
                <a:gd name="connsiteY1" fmla="*/ 25555 h 25555"/>
                <a:gd name="connsiteX2" fmla="*/ 7958 w 21451"/>
                <a:gd name="connsiteY2" fmla="*/ 25555 h 25555"/>
                <a:gd name="connsiteX3" fmla="*/ 7958 w 21451"/>
                <a:gd name="connsiteY3" fmla="*/ 4835 h 25555"/>
                <a:gd name="connsiteX4" fmla="*/ 0 w 21451"/>
                <a:gd name="connsiteY4" fmla="*/ 4835 h 25555"/>
                <a:gd name="connsiteX5" fmla="*/ 0 w 21451"/>
                <a:gd name="connsiteY5" fmla="*/ 0 h 25555"/>
                <a:gd name="connsiteX6" fmla="*/ 21452 w 21451"/>
                <a:gd name="connsiteY6" fmla="*/ 0 h 25555"/>
                <a:gd name="connsiteX7" fmla="*/ 21452 w 21451"/>
                <a:gd name="connsiteY7" fmla="*/ 4835 h 25555"/>
                <a:gd name="connsiteX8" fmla="*/ 13494 w 21451"/>
                <a:gd name="connsiteY8" fmla="*/ 4835 h 25555"/>
                <a:gd name="connsiteX9" fmla="*/ 13494 w 21451"/>
                <a:gd name="connsiteY9" fmla="*/ 4835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451" h="25555">
                  <a:moveTo>
                    <a:pt x="13840" y="4835"/>
                  </a:moveTo>
                  <a:lnTo>
                    <a:pt x="13840" y="25555"/>
                  </a:lnTo>
                  <a:lnTo>
                    <a:pt x="7958" y="25555"/>
                  </a:lnTo>
                  <a:lnTo>
                    <a:pt x="7958" y="4835"/>
                  </a:lnTo>
                  <a:lnTo>
                    <a:pt x="0" y="4835"/>
                  </a:lnTo>
                  <a:lnTo>
                    <a:pt x="0" y="0"/>
                  </a:lnTo>
                  <a:lnTo>
                    <a:pt x="21452" y="0"/>
                  </a:lnTo>
                  <a:lnTo>
                    <a:pt x="21452" y="4835"/>
                  </a:lnTo>
                  <a:lnTo>
                    <a:pt x="13494" y="4835"/>
                  </a:lnTo>
                  <a:lnTo>
                    <a:pt x="13494" y="4835"/>
                  </a:lnTo>
                  <a:close/>
                </a:path>
              </a:pathLst>
            </a:custGeom>
            <a:grpFill/>
            <a:ln w="3458" cap="flat">
              <a:noFill/>
              <a:prstDash val="solid"/>
              <a:miter/>
            </a:ln>
          </p:spPr>
          <p:txBody>
            <a:bodyPr rtlCol="0" anchor="ctr"/>
            <a:lstStyle/>
            <a:p>
              <a:endParaRPr lang="en-US" sz="1800"/>
            </a:p>
          </p:txBody>
        </p:sp>
      </p:grpSp>
      <p:sp>
        <p:nvSpPr>
          <p:cNvPr id="32" name="name_2024 sandisk or its affiliates All rights reserved">
            <a:extLst>
              <a:ext uri="{FF2B5EF4-FFF2-40B4-BE49-F238E27FC236}">
                <a16:creationId xmlns:a16="http://schemas.microsoft.com/office/drawing/2014/main" id="{C6D3E968-6B55-F788-09CE-3B20B871322A}"/>
              </a:ext>
            </a:extLst>
          </p:cNvPr>
          <p:cNvSpPr txBox="1"/>
          <p:nvPr/>
        </p:nvSpPr>
        <p:spPr>
          <a:xfrm>
            <a:off x="6096000" y="6437971"/>
            <a:ext cx="5803900"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b">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r" defTabSz="609412" hangingPunct="0">
              <a:lnSpc>
                <a:spcPct val="100000"/>
              </a:lnSpc>
            </a:pPr>
            <a:r>
              <a:rPr lang="en-US" sz="1000" b="0" i="0" kern="0" spc="0" baseline="0">
                <a:solidFill>
                  <a:schemeClr val="tx2"/>
                </a:solidFill>
                <a:latin typeface="NB Architekt Pro Neue" panose="02010509020201040001" pitchFamily="49" charset="77"/>
                <a:cs typeface="Consolas" panose="020B0609020204030204" pitchFamily="49" charset="0"/>
              </a:rPr>
              <a:t>©2025 SANDISK CORPORATION OR ITS AFFILIATES ALL RIGHTS RESERVED</a:t>
            </a:r>
          </a:p>
        </p:txBody>
      </p:sp>
      <p:sp>
        <p:nvSpPr>
          <p:cNvPr id="33" name="name_2024 sandisk or its affiliates All rights reserved">
            <a:extLst>
              <a:ext uri="{FF2B5EF4-FFF2-40B4-BE49-F238E27FC236}">
                <a16:creationId xmlns:a16="http://schemas.microsoft.com/office/drawing/2014/main" id="{80576D53-058E-8C70-D884-0222E72AFFCE}"/>
              </a:ext>
            </a:extLst>
          </p:cNvPr>
          <p:cNvSpPr txBox="1"/>
          <p:nvPr/>
        </p:nvSpPr>
        <p:spPr>
          <a:xfrm>
            <a:off x="8997951" y="267518"/>
            <a:ext cx="2242276"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tx1"/>
                </a:solidFill>
                <a:latin typeface="NB Architekt Pro Neue" panose="02010509020201040001" pitchFamily="49" charset="77"/>
                <a:cs typeface="Consolas" panose="020B0609020204030204" pitchFamily="49" charset="0"/>
              </a:rPr>
              <a:t>“START” “REPEAT” “1988/2025”</a:t>
            </a:r>
          </a:p>
        </p:txBody>
      </p:sp>
      <p:sp>
        <p:nvSpPr>
          <p:cNvPr id="35" name="Rectangle 34">
            <a:extLst>
              <a:ext uri="{FF2B5EF4-FFF2-40B4-BE49-F238E27FC236}">
                <a16:creationId xmlns:a16="http://schemas.microsoft.com/office/drawing/2014/main" id="{7E6667A2-32FE-537D-7753-A0E6BFCABFF9}"/>
              </a:ext>
            </a:extLst>
          </p:cNvPr>
          <p:cNvSpPr/>
          <p:nvPr/>
        </p:nvSpPr>
        <p:spPr>
          <a:xfrm>
            <a:off x="11808843" y="296581"/>
            <a:ext cx="91057" cy="9105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44104952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Only Black">
    <p:bg>
      <p:bgPr>
        <a:solidFill>
          <a:schemeClr val="tx1"/>
        </a:solidFill>
        <a:effectLst/>
      </p:bgPr>
    </p:bg>
    <p:spTree>
      <p:nvGrpSpPr>
        <p:cNvPr id="1" name=""/>
        <p:cNvGrpSpPr/>
        <p:nvPr/>
      </p:nvGrpSpPr>
      <p:grpSpPr>
        <a:xfrm>
          <a:off x="0" y="0"/>
          <a:ext cx="0" cy="0"/>
          <a:chOff x="0" y="0"/>
          <a:chExt cx="0" cy="0"/>
        </a:xfrm>
      </p:grpSpPr>
      <p:sp>
        <p:nvSpPr>
          <p:cNvPr id="2" name="name_2024 sandisk or its affiliates All rights reserved">
            <a:extLst>
              <a:ext uri="{FF2B5EF4-FFF2-40B4-BE49-F238E27FC236}">
                <a16:creationId xmlns:a16="http://schemas.microsoft.com/office/drawing/2014/main" id="{642738AB-3A39-2252-D671-A3F2FA22F793}"/>
              </a:ext>
            </a:extLst>
          </p:cNvPr>
          <p:cNvSpPr txBox="1"/>
          <p:nvPr/>
        </p:nvSpPr>
        <p:spPr>
          <a:xfrm>
            <a:off x="292100" y="267518"/>
            <a:ext cx="1323975"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bg1"/>
                </a:solidFill>
                <a:latin typeface="NB Architekt Pro Neue" panose="02010509020201040001" pitchFamily="49" charset="77"/>
                <a:cs typeface="Consolas" panose="020B0609020204030204" pitchFamily="49" charset="0"/>
              </a:rPr>
              <a:t>[Confidential]</a:t>
            </a:r>
          </a:p>
        </p:txBody>
      </p:sp>
      <p:sp>
        <p:nvSpPr>
          <p:cNvPr id="45" name="Title 1">
            <a:extLst>
              <a:ext uri="{FF2B5EF4-FFF2-40B4-BE49-F238E27FC236}">
                <a16:creationId xmlns:a16="http://schemas.microsoft.com/office/drawing/2014/main" id="{62239A96-4E89-32CE-B159-D2D7803736E7}"/>
              </a:ext>
            </a:extLst>
          </p:cNvPr>
          <p:cNvSpPr>
            <a:spLocks noGrp="1"/>
          </p:cNvSpPr>
          <p:nvPr>
            <p:ph type="title" hasCustomPrompt="1"/>
          </p:nvPr>
        </p:nvSpPr>
        <p:spPr>
          <a:xfrm>
            <a:off x="292100" y="439244"/>
            <a:ext cx="11607800" cy="1425347"/>
          </a:xfrm>
          <a:prstGeom prst="rect">
            <a:avLst/>
          </a:prstGeom>
        </p:spPr>
        <p:txBody>
          <a:bodyPr wrap="square" lIns="0" anchor="b">
            <a:noAutofit/>
          </a:bodyPr>
          <a:lstStyle>
            <a:lvl1pPr>
              <a:lnSpc>
                <a:spcPct val="100000"/>
              </a:lnSpc>
              <a:defRPr sz="3000" b="0" spc="0" baseline="0">
                <a:solidFill>
                  <a:schemeClr val="bg1"/>
                </a:solidFill>
                <a:latin typeface="+mj-lt"/>
              </a:defRPr>
            </a:lvl1pPr>
          </a:lstStyle>
          <a:p>
            <a:r>
              <a:rPr lang="en-US"/>
              <a:t>CLICK TO ADD TITLE</a:t>
            </a:r>
          </a:p>
        </p:txBody>
      </p:sp>
      <p:sp>
        <p:nvSpPr>
          <p:cNvPr id="4" name="Slide Number Placeholder 5">
            <a:extLst>
              <a:ext uri="{FF2B5EF4-FFF2-40B4-BE49-F238E27FC236}">
                <a16:creationId xmlns:a16="http://schemas.microsoft.com/office/drawing/2014/main" id="{44AF6968-53B8-DA7A-894B-17605E587FBB}"/>
              </a:ext>
            </a:extLst>
          </p:cNvPr>
          <p:cNvSpPr>
            <a:spLocks noGrp="1"/>
          </p:cNvSpPr>
          <p:nvPr>
            <p:ph type="sldNum" sz="quarter" idx="4"/>
          </p:nvPr>
        </p:nvSpPr>
        <p:spPr>
          <a:xfrm>
            <a:off x="3194050" y="6455472"/>
            <a:ext cx="855221" cy="118872"/>
          </a:xfrm>
          <a:prstGeom prst="rect">
            <a:avLst/>
          </a:prstGeom>
        </p:spPr>
        <p:txBody>
          <a:bodyPr vert="horz" lIns="0" tIns="0" rIns="0" bIns="0" rtlCol="0" anchor="ctr"/>
          <a:lstStyle>
            <a:lvl1pPr algn="l">
              <a:defRPr sz="1000" b="0" i="0" spc="0" baseline="0">
                <a:solidFill>
                  <a:schemeClr val="bg1"/>
                </a:solidFill>
                <a:latin typeface="NB Architekt Pro Neue" panose="02010509020201040001" pitchFamily="49" charset="77"/>
                <a:cs typeface="Consolas" panose="020B0609020204030204" pitchFamily="49" charset="0"/>
              </a:defRPr>
            </a:lvl1pPr>
          </a:lstStyle>
          <a:p>
            <a:r>
              <a:rPr lang="en-US"/>
              <a:t>00.0</a:t>
            </a:r>
            <a:fld id="{4571BA12-316B-0A40-BB3D-1A8CDD33E9E5}" type="slidenum">
              <a:rPr lang="en-US" smtClean="0"/>
              <a:pPr/>
              <a:t>‹#›</a:t>
            </a:fld>
            <a:endParaRPr lang="en-US"/>
          </a:p>
        </p:txBody>
      </p:sp>
      <p:grpSp>
        <p:nvGrpSpPr>
          <p:cNvPr id="19" name="Group 18">
            <a:extLst>
              <a:ext uri="{FF2B5EF4-FFF2-40B4-BE49-F238E27FC236}">
                <a16:creationId xmlns:a16="http://schemas.microsoft.com/office/drawing/2014/main" id="{834F35CF-6B39-916F-A9C2-CDB74BB1B774}"/>
              </a:ext>
            </a:extLst>
          </p:cNvPr>
          <p:cNvGrpSpPr>
            <a:grpSpLocks noChangeAspect="1"/>
          </p:cNvGrpSpPr>
          <p:nvPr/>
        </p:nvGrpSpPr>
        <p:grpSpPr>
          <a:xfrm>
            <a:off x="297027" y="6344485"/>
            <a:ext cx="2240280" cy="218081"/>
            <a:chOff x="8480170" y="7684742"/>
            <a:chExt cx="1031076" cy="102566"/>
          </a:xfrm>
          <a:solidFill>
            <a:schemeClr val="accent3"/>
          </a:solidFill>
        </p:grpSpPr>
        <p:sp>
          <p:nvSpPr>
            <p:cNvPr id="20" name="Freeform 19">
              <a:extLst>
                <a:ext uri="{FF2B5EF4-FFF2-40B4-BE49-F238E27FC236}">
                  <a16:creationId xmlns:a16="http://schemas.microsoft.com/office/drawing/2014/main" id="{20411C25-D090-D0B2-F12F-22B74FC7BF48}"/>
                </a:ext>
              </a:extLst>
            </p:cNvPr>
            <p:cNvSpPr/>
            <p:nvPr/>
          </p:nvSpPr>
          <p:spPr>
            <a:xfrm>
              <a:off x="8788109" y="7684742"/>
              <a:ext cx="128019" cy="102565"/>
            </a:xfrm>
            <a:custGeom>
              <a:avLst/>
              <a:gdLst>
                <a:gd name="connsiteX0" fmla="*/ 102070 w 128019"/>
                <a:gd name="connsiteY0" fmla="*/ 70104 h 102565"/>
                <a:gd name="connsiteX1" fmla="*/ 96188 w 128019"/>
                <a:gd name="connsiteY1" fmla="*/ 77011 h 102565"/>
                <a:gd name="connsiteX2" fmla="*/ 89268 w 128019"/>
                <a:gd name="connsiteY2" fmla="*/ 72521 h 102565"/>
                <a:gd name="connsiteX3" fmla="*/ 65740 w 128019"/>
                <a:gd name="connsiteY3" fmla="*/ 8288 h 102565"/>
                <a:gd name="connsiteX4" fmla="*/ 54668 w 128019"/>
                <a:gd name="connsiteY4" fmla="*/ 0 h 102565"/>
                <a:gd name="connsiteX5" fmla="*/ 0 w 128019"/>
                <a:gd name="connsiteY5" fmla="*/ 0 h 102565"/>
                <a:gd name="connsiteX6" fmla="*/ 0 w 128019"/>
                <a:gd name="connsiteY6" fmla="*/ 102221 h 102565"/>
                <a:gd name="connsiteX7" fmla="*/ 40136 w 128019"/>
                <a:gd name="connsiteY7" fmla="*/ 102221 h 102565"/>
                <a:gd name="connsiteX8" fmla="*/ 40136 w 128019"/>
                <a:gd name="connsiteY8" fmla="*/ 76665 h 102565"/>
                <a:gd name="connsiteX9" fmla="*/ 32870 w 128019"/>
                <a:gd name="connsiteY9" fmla="*/ 76665 h 102565"/>
                <a:gd name="connsiteX10" fmla="*/ 25604 w 128019"/>
                <a:gd name="connsiteY10" fmla="*/ 67687 h 102565"/>
                <a:gd name="connsiteX11" fmla="*/ 25604 w 128019"/>
                <a:gd name="connsiteY11" fmla="*/ 36951 h 102565"/>
                <a:gd name="connsiteX12" fmla="*/ 39790 w 128019"/>
                <a:gd name="connsiteY12" fmla="*/ 26591 h 102565"/>
                <a:gd name="connsiteX13" fmla="*/ 45672 w 128019"/>
                <a:gd name="connsiteY13" fmla="*/ 32807 h 102565"/>
                <a:gd name="connsiteX14" fmla="*/ 64356 w 128019"/>
                <a:gd name="connsiteY14" fmla="*/ 81500 h 102565"/>
                <a:gd name="connsiteX15" fmla="*/ 95150 w 128019"/>
                <a:gd name="connsiteY15" fmla="*/ 102566 h 102565"/>
                <a:gd name="connsiteX16" fmla="*/ 95842 w 128019"/>
                <a:gd name="connsiteY16" fmla="*/ 102566 h 102565"/>
                <a:gd name="connsiteX17" fmla="*/ 128020 w 128019"/>
                <a:gd name="connsiteY17" fmla="*/ 70795 h 102565"/>
                <a:gd name="connsiteX18" fmla="*/ 128020 w 128019"/>
                <a:gd name="connsiteY18" fmla="*/ 345 h 102565"/>
                <a:gd name="connsiteX19" fmla="*/ 102416 w 128019"/>
                <a:gd name="connsiteY19" fmla="*/ 345 h 102565"/>
                <a:gd name="connsiteX20" fmla="*/ 102416 w 128019"/>
                <a:gd name="connsiteY20" fmla="*/ 70104 h 102565"/>
                <a:gd name="connsiteX21" fmla="*/ 102416 w 128019"/>
                <a:gd name="connsiteY21" fmla="*/ 70104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8019" h="102565">
                  <a:moveTo>
                    <a:pt x="102070" y="70104"/>
                  </a:moveTo>
                  <a:cubicBezTo>
                    <a:pt x="102070" y="73557"/>
                    <a:pt x="99648" y="76665"/>
                    <a:pt x="96188" y="77011"/>
                  </a:cubicBezTo>
                  <a:cubicBezTo>
                    <a:pt x="93074" y="77356"/>
                    <a:pt x="90306" y="75629"/>
                    <a:pt x="89268" y="72521"/>
                  </a:cubicBezTo>
                  <a:lnTo>
                    <a:pt x="65740" y="8288"/>
                  </a:lnTo>
                  <a:cubicBezTo>
                    <a:pt x="64010" y="3108"/>
                    <a:pt x="59858" y="0"/>
                    <a:pt x="54668" y="0"/>
                  </a:cubicBezTo>
                  <a:lnTo>
                    <a:pt x="0" y="0"/>
                  </a:lnTo>
                  <a:lnTo>
                    <a:pt x="0" y="102221"/>
                  </a:lnTo>
                  <a:lnTo>
                    <a:pt x="40136" y="102221"/>
                  </a:lnTo>
                  <a:lnTo>
                    <a:pt x="40136" y="76665"/>
                  </a:lnTo>
                  <a:lnTo>
                    <a:pt x="32870" y="76665"/>
                  </a:lnTo>
                  <a:cubicBezTo>
                    <a:pt x="28026" y="76665"/>
                    <a:pt x="25604" y="72521"/>
                    <a:pt x="25604" y="67687"/>
                  </a:cubicBezTo>
                  <a:lnTo>
                    <a:pt x="25604" y="36951"/>
                  </a:lnTo>
                  <a:cubicBezTo>
                    <a:pt x="25604" y="29354"/>
                    <a:pt x="32870" y="23828"/>
                    <a:pt x="39790" y="26591"/>
                  </a:cubicBezTo>
                  <a:cubicBezTo>
                    <a:pt x="42212" y="27627"/>
                    <a:pt x="44634" y="30045"/>
                    <a:pt x="45672" y="32807"/>
                  </a:cubicBezTo>
                  <a:lnTo>
                    <a:pt x="64356" y="81500"/>
                  </a:lnTo>
                  <a:cubicBezTo>
                    <a:pt x="69200" y="94278"/>
                    <a:pt x="81310" y="102566"/>
                    <a:pt x="95150" y="102566"/>
                  </a:cubicBezTo>
                  <a:lnTo>
                    <a:pt x="95842" y="102566"/>
                  </a:lnTo>
                  <a:cubicBezTo>
                    <a:pt x="113488" y="102566"/>
                    <a:pt x="128020" y="88407"/>
                    <a:pt x="128020" y="70795"/>
                  </a:cubicBezTo>
                  <a:lnTo>
                    <a:pt x="128020" y="345"/>
                  </a:lnTo>
                  <a:lnTo>
                    <a:pt x="102416" y="345"/>
                  </a:lnTo>
                  <a:lnTo>
                    <a:pt x="102416" y="70104"/>
                  </a:lnTo>
                  <a:lnTo>
                    <a:pt x="102416" y="70104"/>
                  </a:lnTo>
                  <a:close/>
                </a:path>
              </a:pathLst>
            </a:custGeom>
            <a:grpFill/>
            <a:ln w="3458" cap="flat">
              <a:noFill/>
              <a:prstDash val="solid"/>
              <a:miter/>
            </a:ln>
          </p:spPr>
          <p:txBody>
            <a:bodyPr rtlCol="0" anchor="ctr"/>
            <a:lstStyle/>
            <a:p>
              <a:endParaRPr lang="en-US" sz="1800"/>
            </a:p>
          </p:txBody>
        </p:sp>
        <p:sp>
          <p:nvSpPr>
            <p:cNvPr id="21" name="Freeform 20">
              <a:extLst>
                <a:ext uri="{FF2B5EF4-FFF2-40B4-BE49-F238E27FC236}">
                  <a16:creationId xmlns:a16="http://schemas.microsoft.com/office/drawing/2014/main" id="{93FFAF4C-85A9-20F2-2147-D51823291C6F}"/>
                </a:ext>
              </a:extLst>
            </p:cNvPr>
            <p:cNvSpPr/>
            <p:nvPr/>
          </p:nvSpPr>
          <p:spPr>
            <a:xfrm>
              <a:off x="8941733" y="7685087"/>
              <a:ext cx="128019" cy="102220"/>
            </a:xfrm>
            <a:custGeom>
              <a:avLst/>
              <a:gdLst>
                <a:gd name="connsiteX0" fmla="*/ 76812 w 128019"/>
                <a:gd name="connsiteY0" fmla="*/ 0 h 102220"/>
                <a:gd name="connsiteX1" fmla="*/ 0 w 128019"/>
                <a:gd name="connsiteY1" fmla="*/ 0 h 102220"/>
                <a:gd name="connsiteX2" fmla="*/ 0 w 128019"/>
                <a:gd name="connsiteY2" fmla="*/ 25555 h 102220"/>
                <a:gd name="connsiteX3" fmla="*/ 76812 w 128019"/>
                <a:gd name="connsiteY3" fmla="*/ 25555 h 102220"/>
                <a:gd name="connsiteX4" fmla="*/ 102416 w 128019"/>
                <a:gd name="connsiteY4" fmla="*/ 51110 h 102220"/>
                <a:gd name="connsiteX5" fmla="*/ 76812 w 128019"/>
                <a:gd name="connsiteY5" fmla="*/ 76665 h 102220"/>
                <a:gd name="connsiteX6" fmla="*/ 0 w 128019"/>
                <a:gd name="connsiteY6" fmla="*/ 76665 h 102220"/>
                <a:gd name="connsiteX7" fmla="*/ 0 w 128019"/>
                <a:gd name="connsiteY7" fmla="*/ 102221 h 102220"/>
                <a:gd name="connsiteX8" fmla="*/ 76812 w 128019"/>
                <a:gd name="connsiteY8" fmla="*/ 102221 h 102220"/>
                <a:gd name="connsiteX9" fmla="*/ 121792 w 128019"/>
                <a:gd name="connsiteY9" fmla="*/ 75629 h 102220"/>
                <a:gd name="connsiteX10" fmla="*/ 128020 w 128019"/>
                <a:gd name="connsiteY10" fmla="*/ 51110 h 102220"/>
                <a:gd name="connsiteX11" fmla="*/ 121792 w 128019"/>
                <a:gd name="connsiteY11" fmla="*/ 26591 h 102220"/>
                <a:gd name="connsiteX12" fmla="*/ 76812 w 128019"/>
                <a:gd name="connsiteY12" fmla="*/ 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8019" h="102220">
                  <a:moveTo>
                    <a:pt x="76812" y="0"/>
                  </a:moveTo>
                  <a:lnTo>
                    <a:pt x="0" y="0"/>
                  </a:lnTo>
                  <a:lnTo>
                    <a:pt x="0" y="25555"/>
                  </a:lnTo>
                  <a:lnTo>
                    <a:pt x="76812" y="25555"/>
                  </a:lnTo>
                  <a:cubicBezTo>
                    <a:pt x="90306" y="25555"/>
                    <a:pt x="102416" y="37297"/>
                    <a:pt x="102416" y="51110"/>
                  </a:cubicBezTo>
                  <a:cubicBezTo>
                    <a:pt x="102416" y="64924"/>
                    <a:pt x="90652" y="76665"/>
                    <a:pt x="76812" y="76665"/>
                  </a:cubicBezTo>
                  <a:lnTo>
                    <a:pt x="0" y="76665"/>
                  </a:lnTo>
                  <a:lnTo>
                    <a:pt x="0" y="102221"/>
                  </a:lnTo>
                  <a:lnTo>
                    <a:pt x="76812" y="102221"/>
                  </a:lnTo>
                  <a:cubicBezTo>
                    <a:pt x="96188" y="102221"/>
                    <a:pt x="113142" y="91515"/>
                    <a:pt x="121792" y="75629"/>
                  </a:cubicBezTo>
                  <a:cubicBezTo>
                    <a:pt x="125598" y="68377"/>
                    <a:pt x="128020" y="59744"/>
                    <a:pt x="128020" y="51110"/>
                  </a:cubicBezTo>
                  <a:cubicBezTo>
                    <a:pt x="128020" y="42477"/>
                    <a:pt x="125598" y="33843"/>
                    <a:pt x="121792" y="26591"/>
                  </a:cubicBezTo>
                  <a:cubicBezTo>
                    <a:pt x="113142" y="10706"/>
                    <a:pt x="96188" y="0"/>
                    <a:pt x="76812" y="0"/>
                  </a:cubicBezTo>
                  <a:close/>
                </a:path>
              </a:pathLst>
            </a:custGeom>
            <a:grpFill/>
            <a:ln w="3458" cap="flat">
              <a:noFill/>
              <a:prstDash val="solid"/>
              <a:miter/>
            </a:ln>
          </p:spPr>
          <p:txBody>
            <a:bodyPr rtlCol="0" anchor="ctr"/>
            <a:lstStyle/>
            <a:p>
              <a:endParaRPr lang="en-US" sz="1800"/>
            </a:p>
          </p:txBody>
        </p:sp>
        <p:sp>
          <p:nvSpPr>
            <p:cNvPr id="22" name="Freeform 21">
              <a:extLst>
                <a:ext uri="{FF2B5EF4-FFF2-40B4-BE49-F238E27FC236}">
                  <a16:creationId xmlns:a16="http://schemas.microsoft.com/office/drawing/2014/main" id="{CF1428A7-2EFE-9248-2527-67C887F1A14D}"/>
                </a:ext>
              </a:extLst>
            </p:cNvPr>
            <p:cNvSpPr/>
            <p:nvPr/>
          </p:nvSpPr>
          <p:spPr>
            <a:xfrm>
              <a:off x="9080478" y="7685087"/>
              <a:ext cx="40481" cy="102220"/>
            </a:xfrm>
            <a:custGeom>
              <a:avLst/>
              <a:gdLst>
                <a:gd name="connsiteX0" fmla="*/ 5190 w 40481"/>
                <a:gd name="connsiteY0" fmla="*/ 25555 h 102220"/>
                <a:gd name="connsiteX1" fmla="*/ 7266 w 40481"/>
                <a:gd name="connsiteY1" fmla="*/ 25555 h 102220"/>
                <a:gd name="connsiteX2" fmla="*/ 14878 w 40481"/>
                <a:gd name="connsiteY2" fmla="*/ 35225 h 102220"/>
                <a:gd name="connsiteX3" fmla="*/ 14878 w 40481"/>
                <a:gd name="connsiteY3" fmla="*/ 102221 h 102220"/>
                <a:gd name="connsiteX4" fmla="*/ 40482 w 40481"/>
                <a:gd name="connsiteY4" fmla="*/ 102221 h 102220"/>
                <a:gd name="connsiteX5" fmla="*/ 40482 w 40481"/>
                <a:gd name="connsiteY5" fmla="*/ 0 h 102220"/>
                <a:gd name="connsiteX6" fmla="*/ 0 w 40481"/>
                <a:gd name="connsiteY6" fmla="*/ 0 h 102220"/>
                <a:gd name="connsiteX7" fmla="*/ 0 w 40481"/>
                <a:gd name="connsiteY7" fmla="*/ 25555 h 102220"/>
                <a:gd name="connsiteX8" fmla="*/ 5536 w 40481"/>
                <a:gd name="connsiteY8" fmla="*/ 25555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481" h="102220">
                  <a:moveTo>
                    <a:pt x="5190" y="25555"/>
                  </a:moveTo>
                  <a:cubicBezTo>
                    <a:pt x="5882" y="25555"/>
                    <a:pt x="6574" y="25555"/>
                    <a:pt x="7266" y="25555"/>
                  </a:cubicBezTo>
                  <a:cubicBezTo>
                    <a:pt x="12110" y="26246"/>
                    <a:pt x="14878" y="30045"/>
                    <a:pt x="14878" y="35225"/>
                  </a:cubicBezTo>
                  <a:lnTo>
                    <a:pt x="14878" y="102221"/>
                  </a:lnTo>
                  <a:lnTo>
                    <a:pt x="40482" y="102221"/>
                  </a:lnTo>
                  <a:lnTo>
                    <a:pt x="40482" y="0"/>
                  </a:lnTo>
                  <a:lnTo>
                    <a:pt x="0" y="0"/>
                  </a:lnTo>
                  <a:lnTo>
                    <a:pt x="0" y="25555"/>
                  </a:lnTo>
                  <a:lnTo>
                    <a:pt x="5536" y="25555"/>
                  </a:lnTo>
                  <a:close/>
                </a:path>
              </a:pathLst>
            </a:custGeom>
            <a:grpFill/>
            <a:ln w="3458" cap="flat">
              <a:noFill/>
              <a:prstDash val="solid"/>
              <a:miter/>
            </a:ln>
          </p:spPr>
          <p:txBody>
            <a:bodyPr rtlCol="0" anchor="ctr"/>
            <a:lstStyle/>
            <a:p>
              <a:endParaRPr lang="en-US" sz="1800"/>
            </a:p>
          </p:txBody>
        </p:sp>
        <p:sp>
          <p:nvSpPr>
            <p:cNvPr id="23" name="Freeform 22">
              <a:extLst>
                <a:ext uri="{FF2B5EF4-FFF2-40B4-BE49-F238E27FC236}">
                  <a16:creationId xmlns:a16="http://schemas.microsoft.com/office/drawing/2014/main" id="{060A0A5F-B898-7474-4E1B-F982699C6B65}"/>
                </a:ext>
              </a:extLst>
            </p:cNvPr>
            <p:cNvSpPr/>
            <p:nvPr/>
          </p:nvSpPr>
          <p:spPr>
            <a:xfrm>
              <a:off x="9146218" y="7685087"/>
              <a:ext cx="128365" cy="102220"/>
            </a:xfrm>
            <a:custGeom>
              <a:avLst/>
              <a:gdLst>
                <a:gd name="connsiteX0" fmla="*/ 128365 w 128365"/>
                <a:gd name="connsiteY0" fmla="*/ 81846 h 102220"/>
                <a:gd name="connsiteX1" fmla="*/ 128365 w 128365"/>
                <a:gd name="connsiteY1" fmla="*/ 102221 h 102220"/>
                <a:gd name="connsiteX2" fmla="*/ 19722 w 128365"/>
                <a:gd name="connsiteY2" fmla="*/ 60780 h 102220"/>
                <a:gd name="connsiteX3" fmla="*/ 0 w 128365"/>
                <a:gd name="connsiteY3" fmla="*/ 30735 h 102220"/>
                <a:gd name="connsiteX4" fmla="*/ 31140 w 128365"/>
                <a:gd name="connsiteY4" fmla="*/ 0 h 102220"/>
                <a:gd name="connsiteX5" fmla="*/ 128020 w 128365"/>
                <a:gd name="connsiteY5" fmla="*/ 0 h 102220"/>
                <a:gd name="connsiteX6" fmla="*/ 128020 w 128365"/>
                <a:gd name="connsiteY6" fmla="*/ 40059 h 102220"/>
                <a:gd name="connsiteX7" fmla="*/ 102416 w 128365"/>
                <a:gd name="connsiteY7" fmla="*/ 40059 h 102220"/>
                <a:gd name="connsiteX8" fmla="*/ 102416 w 128365"/>
                <a:gd name="connsiteY8" fmla="*/ 32807 h 102220"/>
                <a:gd name="connsiteX9" fmla="*/ 94458 w 128365"/>
                <a:gd name="connsiteY9" fmla="*/ 25555 h 102220"/>
                <a:gd name="connsiteX10" fmla="*/ 37714 w 128365"/>
                <a:gd name="connsiteY10" fmla="*/ 25555 h 102220"/>
                <a:gd name="connsiteX11" fmla="*/ 29756 w 128365"/>
                <a:gd name="connsiteY11" fmla="*/ 33498 h 102220"/>
                <a:gd name="connsiteX12" fmla="*/ 34946 w 128365"/>
                <a:gd name="connsiteY12" fmla="*/ 41095 h 102220"/>
                <a:gd name="connsiteX13" fmla="*/ 119370 w 128365"/>
                <a:gd name="connsiteY13" fmla="*/ 70795 h 102220"/>
                <a:gd name="connsiteX14" fmla="*/ 127674 w 128365"/>
                <a:gd name="connsiteY14"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8365" h="102220">
                  <a:moveTo>
                    <a:pt x="128365" y="81846"/>
                  </a:moveTo>
                  <a:lnTo>
                    <a:pt x="128365"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close/>
                </a:path>
              </a:pathLst>
            </a:custGeom>
            <a:grpFill/>
            <a:ln w="3458" cap="flat">
              <a:noFill/>
              <a:prstDash val="solid"/>
              <a:miter/>
            </a:ln>
          </p:spPr>
          <p:txBody>
            <a:bodyPr rtlCol="0" anchor="ctr"/>
            <a:lstStyle/>
            <a:p>
              <a:endParaRPr lang="en-US" sz="1800"/>
            </a:p>
          </p:txBody>
        </p:sp>
        <p:sp>
          <p:nvSpPr>
            <p:cNvPr id="24" name="Freeform 23">
              <a:extLst>
                <a:ext uri="{FF2B5EF4-FFF2-40B4-BE49-F238E27FC236}">
                  <a16:creationId xmlns:a16="http://schemas.microsoft.com/office/drawing/2014/main" id="{04C08D48-6ADF-0478-4FD8-285B14571158}"/>
                </a:ext>
              </a:extLst>
            </p:cNvPr>
            <p:cNvSpPr/>
            <p:nvPr/>
          </p:nvSpPr>
          <p:spPr>
            <a:xfrm>
              <a:off x="9146564" y="7761753"/>
              <a:ext cx="25258" cy="25555"/>
            </a:xfrm>
            <a:custGeom>
              <a:avLst/>
              <a:gdLst>
                <a:gd name="connsiteX0" fmla="*/ 25258 w 25258"/>
                <a:gd name="connsiteY0" fmla="*/ 0 h 25555"/>
                <a:gd name="connsiteX1" fmla="*/ 0 w 25258"/>
                <a:gd name="connsiteY1" fmla="*/ 0 h 25555"/>
                <a:gd name="connsiteX2" fmla="*/ 0 w 25258"/>
                <a:gd name="connsiteY2" fmla="*/ 25555 h 25555"/>
                <a:gd name="connsiteX3" fmla="*/ 25258 w 25258"/>
                <a:gd name="connsiteY3" fmla="*/ 25555 h 25555"/>
                <a:gd name="connsiteX4" fmla="*/ 25258 w 25258"/>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8"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25" name="Freeform 24">
              <a:extLst>
                <a:ext uri="{FF2B5EF4-FFF2-40B4-BE49-F238E27FC236}">
                  <a16:creationId xmlns:a16="http://schemas.microsoft.com/office/drawing/2014/main" id="{FB516320-324E-D2BF-4324-B5C57EC5247D}"/>
                </a:ext>
              </a:extLst>
            </p:cNvPr>
            <p:cNvSpPr/>
            <p:nvPr/>
          </p:nvSpPr>
          <p:spPr>
            <a:xfrm>
              <a:off x="8480170" y="7685087"/>
              <a:ext cx="128019" cy="102220"/>
            </a:xfrm>
            <a:custGeom>
              <a:avLst/>
              <a:gdLst>
                <a:gd name="connsiteX0" fmla="*/ 128020 w 128019"/>
                <a:gd name="connsiteY0" fmla="*/ 81846 h 102220"/>
                <a:gd name="connsiteX1" fmla="*/ 128020 w 128019"/>
                <a:gd name="connsiteY1" fmla="*/ 102221 h 102220"/>
                <a:gd name="connsiteX2" fmla="*/ 19722 w 128019"/>
                <a:gd name="connsiteY2" fmla="*/ 60780 h 102220"/>
                <a:gd name="connsiteX3" fmla="*/ 0 w 128019"/>
                <a:gd name="connsiteY3" fmla="*/ 30735 h 102220"/>
                <a:gd name="connsiteX4" fmla="*/ 31140 w 128019"/>
                <a:gd name="connsiteY4" fmla="*/ 0 h 102220"/>
                <a:gd name="connsiteX5" fmla="*/ 128020 w 128019"/>
                <a:gd name="connsiteY5" fmla="*/ 0 h 102220"/>
                <a:gd name="connsiteX6" fmla="*/ 128020 w 128019"/>
                <a:gd name="connsiteY6" fmla="*/ 40059 h 102220"/>
                <a:gd name="connsiteX7" fmla="*/ 102416 w 128019"/>
                <a:gd name="connsiteY7" fmla="*/ 40059 h 102220"/>
                <a:gd name="connsiteX8" fmla="*/ 102416 w 128019"/>
                <a:gd name="connsiteY8" fmla="*/ 32807 h 102220"/>
                <a:gd name="connsiteX9" fmla="*/ 94458 w 128019"/>
                <a:gd name="connsiteY9" fmla="*/ 25555 h 102220"/>
                <a:gd name="connsiteX10" fmla="*/ 37714 w 128019"/>
                <a:gd name="connsiteY10" fmla="*/ 25555 h 102220"/>
                <a:gd name="connsiteX11" fmla="*/ 29756 w 128019"/>
                <a:gd name="connsiteY11" fmla="*/ 33498 h 102220"/>
                <a:gd name="connsiteX12" fmla="*/ 34946 w 128019"/>
                <a:gd name="connsiteY12" fmla="*/ 41095 h 102220"/>
                <a:gd name="connsiteX13" fmla="*/ 119370 w 128019"/>
                <a:gd name="connsiteY13" fmla="*/ 70795 h 102220"/>
                <a:gd name="connsiteX14" fmla="*/ 127674 w 128019"/>
                <a:gd name="connsiteY14" fmla="*/ 81846 h 102220"/>
                <a:gd name="connsiteX15" fmla="*/ 127674 w 128019"/>
                <a:gd name="connsiteY15"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8019" h="102220">
                  <a:moveTo>
                    <a:pt x="128020" y="81846"/>
                  </a:moveTo>
                  <a:lnTo>
                    <a:pt x="128020"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lnTo>
                    <a:pt x="127674" y="81846"/>
                  </a:lnTo>
                  <a:close/>
                </a:path>
              </a:pathLst>
            </a:custGeom>
            <a:grpFill/>
            <a:ln w="3458" cap="flat">
              <a:noFill/>
              <a:prstDash val="solid"/>
              <a:miter/>
            </a:ln>
          </p:spPr>
          <p:txBody>
            <a:bodyPr rtlCol="0" anchor="ctr"/>
            <a:lstStyle/>
            <a:p>
              <a:endParaRPr lang="en-US" sz="1800"/>
            </a:p>
          </p:txBody>
        </p:sp>
        <p:sp>
          <p:nvSpPr>
            <p:cNvPr id="26" name="Freeform 25">
              <a:extLst>
                <a:ext uri="{FF2B5EF4-FFF2-40B4-BE49-F238E27FC236}">
                  <a16:creationId xmlns:a16="http://schemas.microsoft.com/office/drawing/2014/main" id="{9EA04773-863C-996F-24B6-DDA959717712}"/>
                </a:ext>
              </a:extLst>
            </p:cNvPr>
            <p:cNvSpPr/>
            <p:nvPr/>
          </p:nvSpPr>
          <p:spPr>
            <a:xfrm>
              <a:off x="8480516" y="7761753"/>
              <a:ext cx="25257" cy="25555"/>
            </a:xfrm>
            <a:custGeom>
              <a:avLst/>
              <a:gdLst>
                <a:gd name="connsiteX0" fmla="*/ 25258 w 25257"/>
                <a:gd name="connsiteY0" fmla="*/ 0 h 25555"/>
                <a:gd name="connsiteX1" fmla="*/ 0 w 25257"/>
                <a:gd name="connsiteY1" fmla="*/ 0 h 25555"/>
                <a:gd name="connsiteX2" fmla="*/ 0 w 25257"/>
                <a:gd name="connsiteY2" fmla="*/ 25555 h 25555"/>
                <a:gd name="connsiteX3" fmla="*/ 25258 w 25257"/>
                <a:gd name="connsiteY3" fmla="*/ 25555 h 25555"/>
                <a:gd name="connsiteX4" fmla="*/ 25258 w 25257"/>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7"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27" name="Freeform 26">
              <a:extLst>
                <a:ext uri="{FF2B5EF4-FFF2-40B4-BE49-F238E27FC236}">
                  <a16:creationId xmlns:a16="http://schemas.microsoft.com/office/drawing/2014/main" id="{FE69647E-A7E5-5FEA-1387-7BDE955235D0}"/>
                </a:ext>
              </a:extLst>
            </p:cNvPr>
            <p:cNvSpPr/>
            <p:nvPr/>
          </p:nvSpPr>
          <p:spPr>
            <a:xfrm>
              <a:off x="9300533" y="7685087"/>
              <a:ext cx="128019" cy="102220"/>
            </a:xfrm>
            <a:custGeom>
              <a:avLst/>
              <a:gdLst>
                <a:gd name="connsiteX0" fmla="*/ 128020 w 128019"/>
                <a:gd name="connsiteY0" fmla="*/ 25555 h 102220"/>
                <a:gd name="connsiteX1" fmla="*/ 128020 w 128019"/>
                <a:gd name="connsiteY1" fmla="*/ 0 h 102220"/>
                <a:gd name="connsiteX2" fmla="*/ 105530 w 128019"/>
                <a:gd name="connsiteY2" fmla="*/ 0 h 102220"/>
                <a:gd name="connsiteX3" fmla="*/ 100686 w 128019"/>
                <a:gd name="connsiteY3" fmla="*/ 1727 h 102220"/>
                <a:gd name="connsiteX4" fmla="*/ 60550 w 128019"/>
                <a:gd name="connsiteY4" fmla="*/ 37987 h 102220"/>
                <a:gd name="connsiteX5" fmla="*/ 56398 w 128019"/>
                <a:gd name="connsiteY5" fmla="*/ 39714 h 102220"/>
                <a:gd name="connsiteX6" fmla="*/ 28372 w 128019"/>
                <a:gd name="connsiteY6" fmla="*/ 39714 h 102220"/>
                <a:gd name="connsiteX7" fmla="*/ 25258 w 128019"/>
                <a:gd name="connsiteY7" fmla="*/ 36606 h 102220"/>
                <a:gd name="connsiteX8" fmla="*/ 25258 w 128019"/>
                <a:gd name="connsiteY8" fmla="*/ 0 h 102220"/>
                <a:gd name="connsiteX9" fmla="*/ 0 w 128019"/>
                <a:gd name="connsiteY9" fmla="*/ 0 h 102220"/>
                <a:gd name="connsiteX10" fmla="*/ 0 w 128019"/>
                <a:gd name="connsiteY10" fmla="*/ 102221 h 102220"/>
                <a:gd name="connsiteX11" fmla="*/ 25258 w 128019"/>
                <a:gd name="connsiteY11" fmla="*/ 102221 h 102220"/>
                <a:gd name="connsiteX12" fmla="*/ 25258 w 128019"/>
                <a:gd name="connsiteY12" fmla="*/ 65615 h 102220"/>
                <a:gd name="connsiteX13" fmla="*/ 28372 w 128019"/>
                <a:gd name="connsiteY13" fmla="*/ 62507 h 102220"/>
                <a:gd name="connsiteX14" fmla="*/ 56398 w 128019"/>
                <a:gd name="connsiteY14" fmla="*/ 62507 h 102220"/>
                <a:gd name="connsiteX15" fmla="*/ 60550 w 128019"/>
                <a:gd name="connsiteY15" fmla="*/ 64233 h 102220"/>
                <a:gd name="connsiteX16" fmla="*/ 100686 w 128019"/>
                <a:gd name="connsiteY16" fmla="*/ 100494 h 102220"/>
                <a:gd name="connsiteX17" fmla="*/ 105530 w 128019"/>
                <a:gd name="connsiteY17" fmla="*/ 102221 h 102220"/>
                <a:gd name="connsiteX18" fmla="*/ 128020 w 128019"/>
                <a:gd name="connsiteY18" fmla="*/ 102221 h 102220"/>
                <a:gd name="connsiteX19" fmla="*/ 128020 w 128019"/>
                <a:gd name="connsiteY19" fmla="*/ 76665 h 102220"/>
                <a:gd name="connsiteX20" fmla="*/ 115564 w 128019"/>
                <a:gd name="connsiteY20" fmla="*/ 76665 h 102220"/>
                <a:gd name="connsiteX21" fmla="*/ 105184 w 128019"/>
                <a:gd name="connsiteY21" fmla="*/ 72867 h 102220"/>
                <a:gd name="connsiteX22" fmla="*/ 86154 w 128019"/>
                <a:gd name="connsiteY22" fmla="*/ 55945 h 102220"/>
                <a:gd name="connsiteX23" fmla="*/ 86154 w 128019"/>
                <a:gd name="connsiteY23" fmla="*/ 45930 h 102220"/>
                <a:gd name="connsiteX24" fmla="*/ 105184 w 128019"/>
                <a:gd name="connsiteY24" fmla="*/ 29009 h 102220"/>
                <a:gd name="connsiteX25" fmla="*/ 115564 w 128019"/>
                <a:gd name="connsiteY25" fmla="*/ 25210 h 102220"/>
                <a:gd name="connsiteX26" fmla="*/ 128020 w 128019"/>
                <a:gd name="connsiteY26" fmla="*/ 2521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8019" h="102220">
                  <a:moveTo>
                    <a:pt x="128020" y="25555"/>
                  </a:moveTo>
                  <a:lnTo>
                    <a:pt x="128020" y="0"/>
                  </a:lnTo>
                  <a:lnTo>
                    <a:pt x="105530" y="0"/>
                  </a:lnTo>
                  <a:cubicBezTo>
                    <a:pt x="103800" y="0"/>
                    <a:pt x="102070" y="691"/>
                    <a:pt x="100686" y="1727"/>
                  </a:cubicBezTo>
                  <a:lnTo>
                    <a:pt x="60550" y="37987"/>
                  </a:lnTo>
                  <a:cubicBezTo>
                    <a:pt x="59512" y="39023"/>
                    <a:pt x="58128" y="39714"/>
                    <a:pt x="56398" y="39714"/>
                  </a:cubicBezTo>
                  <a:lnTo>
                    <a:pt x="28372" y="39714"/>
                  </a:lnTo>
                  <a:cubicBezTo>
                    <a:pt x="26642" y="39714"/>
                    <a:pt x="25258" y="38333"/>
                    <a:pt x="25258" y="36606"/>
                  </a:cubicBezTo>
                  <a:lnTo>
                    <a:pt x="25258" y="0"/>
                  </a:lnTo>
                  <a:lnTo>
                    <a:pt x="0" y="0"/>
                  </a:lnTo>
                  <a:lnTo>
                    <a:pt x="0" y="102221"/>
                  </a:lnTo>
                  <a:lnTo>
                    <a:pt x="25258" y="102221"/>
                  </a:lnTo>
                  <a:lnTo>
                    <a:pt x="25258" y="65615"/>
                  </a:lnTo>
                  <a:cubicBezTo>
                    <a:pt x="25258" y="63888"/>
                    <a:pt x="26642" y="62507"/>
                    <a:pt x="28372" y="62507"/>
                  </a:cubicBezTo>
                  <a:lnTo>
                    <a:pt x="56398" y="62507"/>
                  </a:lnTo>
                  <a:cubicBezTo>
                    <a:pt x="57782" y="62507"/>
                    <a:pt x="59512" y="62852"/>
                    <a:pt x="60550" y="64233"/>
                  </a:cubicBezTo>
                  <a:lnTo>
                    <a:pt x="100686" y="100494"/>
                  </a:lnTo>
                  <a:cubicBezTo>
                    <a:pt x="102070" y="101530"/>
                    <a:pt x="103800" y="102221"/>
                    <a:pt x="105530" y="102221"/>
                  </a:cubicBezTo>
                  <a:lnTo>
                    <a:pt x="128020" y="102221"/>
                  </a:lnTo>
                  <a:lnTo>
                    <a:pt x="128020" y="76665"/>
                  </a:lnTo>
                  <a:lnTo>
                    <a:pt x="115564" y="76665"/>
                  </a:lnTo>
                  <a:cubicBezTo>
                    <a:pt x="111758" y="76665"/>
                    <a:pt x="107952" y="75284"/>
                    <a:pt x="105184" y="72867"/>
                  </a:cubicBezTo>
                  <a:lnTo>
                    <a:pt x="86154" y="55945"/>
                  </a:lnTo>
                  <a:cubicBezTo>
                    <a:pt x="83040" y="53528"/>
                    <a:pt x="83040" y="48693"/>
                    <a:pt x="86154" y="45930"/>
                  </a:cubicBezTo>
                  <a:lnTo>
                    <a:pt x="105184" y="29009"/>
                  </a:lnTo>
                  <a:cubicBezTo>
                    <a:pt x="108298" y="26591"/>
                    <a:pt x="111758" y="25210"/>
                    <a:pt x="115564" y="25210"/>
                  </a:cubicBezTo>
                  <a:lnTo>
                    <a:pt x="128020" y="25210"/>
                  </a:lnTo>
                  <a:close/>
                </a:path>
              </a:pathLst>
            </a:custGeom>
            <a:grpFill/>
            <a:ln w="3458" cap="flat">
              <a:noFill/>
              <a:prstDash val="solid"/>
              <a:miter/>
            </a:ln>
          </p:spPr>
          <p:txBody>
            <a:bodyPr rtlCol="0" anchor="ctr"/>
            <a:lstStyle/>
            <a:p>
              <a:endParaRPr lang="en-US" sz="1800"/>
            </a:p>
          </p:txBody>
        </p:sp>
        <p:sp>
          <p:nvSpPr>
            <p:cNvPr id="28" name="Freeform 27">
              <a:extLst>
                <a:ext uri="{FF2B5EF4-FFF2-40B4-BE49-F238E27FC236}">
                  <a16:creationId xmlns:a16="http://schemas.microsoft.com/office/drawing/2014/main" id="{606CDCC5-8E11-E5AF-1221-1142F287EFC6}"/>
                </a:ext>
              </a:extLst>
            </p:cNvPr>
            <p:cNvSpPr/>
            <p:nvPr/>
          </p:nvSpPr>
          <p:spPr>
            <a:xfrm>
              <a:off x="8623760" y="7684742"/>
              <a:ext cx="138053" cy="102565"/>
            </a:xfrm>
            <a:custGeom>
              <a:avLst/>
              <a:gdLst>
                <a:gd name="connsiteX0" fmla="*/ 99302 w 138053"/>
                <a:gd name="connsiteY0" fmla="*/ 345 h 102565"/>
                <a:gd name="connsiteX1" fmla="*/ 70238 w 138053"/>
                <a:gd name="connsiteY1" fmla="*/ 14850 h 102565"/>
                <a:gd name="connsiteX2" fmla="*/ 0 w 138053"/>
                <a:gd name="connsiteY2" fmla="*/ 102566 h 102565"/>
                <a:gd name="connsiteX3" fmla="*/ 35638 w 138053"/>
                <a:gd name="connsiteY3" fmla="*/ 102566 h 102565"/>
                <a:gd name="connsiteX4" fmla="*/ 93420 w 138053"/>
                <a:gd name="connsiteY4" fmla="*/ 31426 h 102565"/>
                <a:gd name="connsiteX5" fmla="*/ 102762 w 138053"/>
                <a:gd name="connsiteY5" fmla="*/ 26246 h 102565"/>
                <a:gd name="connsiteX6" fmla="*/ 112450 w 138053"/>
                <a:gd name="connsiteY6" fmla="*/ 36951 h 102565"/>
                <a:gd name="connsiteX7" fmla="*/ 112450 w 138053"/>
                <a:gd name="connsiteY7" fmla="*/ 68032 h 102565"/>
                <a:gd name="connsiteX8" fmla="*/ 105184 w 138053"/>
                <a:gd name="connsiteY8" fmla="*/ 77011 h 102565"/>
                <a:gd name="connsiteX9" fmla="*/ 97918 w 138053"/>
                <a:gd name="connsiteY9" fmla="*/ 77011 h 102565"/>
                <a:gd name="connsiteX10" fmla="*/ 97918 w 138053"/>
                <a:gd name="connsiteY10" fmla="*/ 102566 h 102565"/>
                <a:gd name="connsiteX11" fmla="*/ 138054 w 138053"/>
                <a:gd name="connsiteY11" fmla="*/ 102566 h 102565"/>
                <a:gd name="connsiteX12" fmla="*/ 138054 w 138053"/>
                <a:gd name="connsiteY12" fmla="*/ 38333 h 102565"/>
                <a:gd name="connsiteX13" fmla="*/ 98956 w 138053"/>
                <a:gd name="connsiteY13" fmla="*/ 0 h 102565"/>
                <a:gd name="connsiteX14" fmla="*/ 98956 w 138053"/>
                <a:gd name="connsiteY14" fmla="*/ 0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8053" h="102565">
                  <a:moveTo>
                    <a:pt x="99302" y="345"/>
                  </a:moveTo>
                  <a:cubicBezTo>
                    <a:pt x="87884" y="345"/>
                    <a:pt x="77158" y="5871"/>
                    <a:pt x="70238" y="14850"/>
                  </a:cubicBezTo>
                  <a:lnTo>
                    <a:pt x="0" y="102566"/>
                  </a:lnTo>
                  <a:lnTo>
                    <a:pt x="35638" y="102566"/>
                  </a:lnTo>
                  <a:lnTo>
                    <a:pt x="93420" y="31426"/>
                  </a:lnTo>
                  <a:cubicBezTo>
                    <a:pt x="96188" y="27973"/>
                    <a:pt x="98264" y="26246"/>
                    <a:pt x="102762" y="26246"/>
                  </a:cubicBezTo>
                  <a:cubicBezTo>
                    <a:pt x="107260" y="26246"/>
                    <a:pt x="112450" y="31081"/>
                    <a:pt x="112450" y="36951"/>
                  </a:cubicBezTo>
                  <a:lnTo>
                    <a:pt x="112450" y="68032"/>
                  </a:lnTo>
                  <a:cubicBezTo>
                    <a:pt x="112450" y="72867"/>
                    <a:pt x="110028" y="77011"/>
                    <a:pt x="105184" y="77011"/>
                  </a:cubicBezTo>
                  <a:lnTo>
                    <a:pt x="97918" y="77011"/>
                  </a:lnTo>
                  <a:lnTo>
                    <a:pt x="97918" y="102566"/>
                  </a:lnTo>
                  <a:lnTo>
                    <a:pt x="138054" y="102566"/>
                  </a:lnTo>
                  <a:lnTo>
                    <a:pt x="138054" y="38333"/>
                  </a:lnTo>
                  <a:cubicBezTo>
                    <a:pt x="138054" y="33153"/>
                    <a:pt x="138054" y="0"/>
                    <a:pt x="98956" y="0"/>
                  </a:cubicBezTo>
                  <a:lnTo>
                    <a:pt x="98956" y="0"/>
                  </a:lnTo>
                  <a:close/>
                </a:path>
              </a:pathLst>
            </a:custGeom>
            <a:grpFill/>
            <a:ln w="3458" cap="flat">
              <a:noFill/>
              <a:prstDash val="solid"/>
              <a:miter/>
            </a:ln>
          </p:spPr>
          <p:txBody>
            <a:bodyPr rtlCol="0" anchor="ctr"/>
            <a:lstStyle/>
            <a:p>
              <a:endParaRPr lang="en-US" sz="1800"/>
            </a:p>
          </p:txBody>
        </p:sp>
        <p:sp>
          <p:nvSpPr>
            <p:cNvPr id="29" name="Freeform 28">
              <a:extLst>
                <a:ext uri="{FF2B5EF4-FFF2-40B4-BE49-F238E27FC236}">
                  <a16:creationId xmlns:a16="http://schemas.microsoft.com/office/drawing/2014/main" id="{47CEBA78-6D0C-2B8B-290A-9082FB900EA5}"/>
                </a:ext>
              </a:extLst>
            </p:cNvPr>
            <p:cNvSpPr/>
            <p:nvPr/>
          </p:nvSpPr>
          <p:spPr>
            <a:xfrm>
              <a:off x="9480453" y="7685087"/>
              <a:ext cx="30793" cy="25555"/>
            </a:xfrm>
            <a:custGeom>
              <a:avLst/>
              <a:gdLst>
                <a:gd name="connsiteX0" fmla="*/ 30448 w 30793"/>
                <a:gd name="connsiteY0" fmla="*/ 0 h 25555"/>
                <a:gd name="connsiteX1" fmla="*/ 30448 w 30793"/>
                <a:gd name="connsiteY1" fmla="*/ 25555 h 25555"/>
                <a:gd name="connsiteX2" fmla="*/ 24912 w 30793"/>
                <a:gd name="connsiteY2" fmla="*/ 25555 h 25555"/>
                <a:gd name="connsiteX3" fmla="*/ 24912 w 30793"/>
                <a:gd name="connsiteY3" fmla="*/ 5180 h 25555"/>
                <a:gd name="connsiteX4" fmla="*/ 24912 w 30793"/>
                <a:gd name="connsiteY4" fmla="*/ 5180 h 25555"/>
                <a:gd name="connsiteX5" fmla="*/ 17646 w 30793"/>
                <a:gd name="connsiteY5" fmla="*/ 25555 h 25555"/>
                <a:gd name="connsiteX6" fmla="*/ 12802 w 30793"/>
                <a:gd name="connsiteY6" fmla="*/ 25555 h 25555"/>
                <a:gd name="connsiteX7" fmla="*/ 5536 w 30793"/>
                <a:gd name="connsiteY7" fmla="*/ 5180 h 25555"/>
                <a:gd name="connsiteX8" fmla="*/ 5536 w 30793"/>
                <a:gd name="connsiteY8" fmla="*/ 5180 h 25555"/>
                <a:gd name="connsiteX9" fmla="*/ 5536 w 30793"/>
                <a:gd name="connsiteY9" fmla="*/ 25555 h 25555"/>
                <a:gd name="connsiteX10" fmla="*/ 0 w 30793"/>
                <a:gd name="connsiteY10" fmla="*/ 25555 h 25555"/>
                <a:gd name="connsiteX11" fmla="*/ 0 w 30793"/>
                <a:gd name="connsiteY11" fmla="*/ 0 h 25555"/>
                <a:gd name="connsiteX12" fmla="*/ 9688 w 30793"/>
                <a:gd name="connsiteY12" fmla="*/ 0 h 25555"/>
                <a:gd name="connsiteX13" fmla="*/ 15570 w 30793"/>
                <a:gd name="connsiteY13" fmla="*/ 17267 h 25555"/>
                <a:gd name="connsiteX14" fmla="*/ 15570 w 30793"/>
                <a:gd name="connsiteY14" fmla="*/ 17267 h 25555"/>
                <a:gd name="connsiteX15" fmla="*/ 21798 w 30793"/>
                <a:gd name="connsiteY15" fmla="*/ 0 h 25555"/>
                <a:gd name="connsiteX16" fmla="*/ 30794 w 30793"/>
                <a:gd name="connsiteY16" fmla="*/ 0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793" h="25555">
                  <a:moveTo>
                    <a:pt x="30448" y="0"/>
                  </a:moveTo>
                  <a:lnTo>
                    <a:pt x="30448" y="25555"/>
                  </a:lnTo>
                  <a:lnTo>
                    <a:pt x="24912" y="25555"/>
                  </a:lnTo>
                  <a:lnTo>
                    <a:pt x="24912" y="5180"/>
                  </a:lnTo>
                  <a:lnTo>
                    <a:pt x="24912" y="5180"/>
                  </a:lnTo>
                  <a:lnTo>
                    <a:pt x="17646" y="25555"/>
                  </a:lnTo>
                  <a:lnTo>
                    <a:pt x="12802" y="25555"/>
                  </a:lnTo>
                  <a:lnTo>
                    <a:pt x="5536" y="5180"/>
                  </a:lnTo>
                  <a:lnTo>
                    <a:pt x="5536" y="5180"/>
                  </a:lnTo>
                  <a:lnTo>
                    <a:pt x="5536" y="25555"/>
                  </a:lnTo>
                  <a:lnTo>
                    <a:pt x="0" y="25555"/>
                  </a:lnTo>
                  <a:lnTo>
                    <a:pt x="0" y="0"/>
                  </a:lnTo>
                  <a:lnTo>
                    <a:pt x="9688" y="0"/>
                  </a:lnTo>
                  <a:lnTo>
                    <a:pt x="15570" y="17267"/>
                  </a:lnTo>
                  <a:lnTo>
                    <a:pt x="15570" y="17267"/>
                  </a:lnTo>
                  <a:lnTo>
                    <a:pt x="21798" y="0"/>
                  </a:lnTo>
                  <a:lnTo>
                    <a:pt x="30794" y="0"/>
                  </a:lnTo>
                  <a:close/>
                </a:path>
              </a:pathLst>
            </a:custGeom>
            <a:grpFill/>
            <a:ln w="3458" cap="flat">
              <a:noFill/>
              <a:prstDash val="solid"/>
              <a:miter/>
            </a:ln>
          </p:spPr>
          <p:txBody>
            <a:bodyPr rtlCol="0" anchor="ctr"/>
            <a:lstStyle/>
            <a:p>
              <a:endParaRPr lang="en-US" sz="1800"/>
            </a:p>
          </p:txBody>
        </p:sp>
        <p:sp>
          <p:nvSpPr>
            <p:cNvPr id="30" name="Freeform 29">
              <a:extLst>
                <a:ext uri="{FF2B5EF4-FFF2-40B4-BE49-F238E27FC236}">
                  <a16:creationId xmlns:a16="http://schemas.microsoft.com/office/drawing/2014/main" id="{2A678A48-94C4-0442-B88E-F437670FBFD8}"/>
                </a:ext>
              </a:extLst>
            </p:cNvPr>
            <p:cNvSpPr/>
            <p:nvPr/>
          </p:nvSpPr>
          <p:spPr>
            <a:xfrm>
              <a:off x="9453811" y="7685087"/>
              <a:ext cx="21451" cy="25555"/>
            </a:xfrm>
            <a:custGeom>
              <a:avLst/>
              <a:gdLst>
                <a:gd name="connsiteX0" fmla="*/ 13840 w 21451"/>
                <a:gd name="connsiteY0" fmla="*/ 4835 h 25555"/>
                <a:gd name="connsiteX1" fmla="*/ 13840 w 21451"/>
                <a:gd name="connsiteY1" fmla="*/ 25555 h 25555"/>
                <a:gd name="connsiteX2" fmla="*/ 7958 w 21451"/>
                <a:gd name="connsiteY2" fmla="*/ 25555 h 25555"/>
                <a:gd name="connsiteX3" fmla="*/ 7958 w 21451"/>
                <a:gd name="connsiteY3" fmla="*/ 4835 h 25555"/>
                <a:gd name="connsiteX4" fmla="*/ 0 w 21451"/>
                <a:gd name="connsiteY4" fmla="*/ 4835 h 25555"/>
                <a:gd name="connsiteX5" fmla="*/ 0 w 21451"/>
                <a:gd name="connsiteY5" fmla="*/ 0 h 25555"/>
                <a:gd name="connsiteX6" fmla="*/ 21452 w 21451"/>
                <a:gd name="connsiteY6" fmla="*/ 0 h 25555"/>
                <a:gd name="connsiteX7" fmla="*/ 21452 w 21451"/>
                <a:gd name="connsiteY7" fmla="*/ 4835 h 25555"/>
                <a:gd name="connsiteX8" fmla="*/ 13494 w 21451"/>
                <a:gd name="connsiteY8" fmla="*/ 4835 h 25555"/>
                <a:gd name="connsiteX9" fmla="*/ 13494 w 21451"/>
                <a:gd name="connsiteY9" fmla="*/ 4835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451" h="25555">
                  <a:moveTo>
                    <a:pt x="13840" y="4835"/>
                  </a:moveTo>
                  <a:lnTo>
                    <a:pt x="13840" y="25555"/>
                  </a:lnTo>
                  <a:lnTo>
                    <a:pt x="7958" y="25555"/>
                  </a:lnTo>
                  <a:lnTo>
                    <a:pt x="7958" y="4835"/>
                  </a:lnTo>
                  <a:lnTo>
                    <a:pt x="0" y="4835"/>
                  </a:lnTo>
                  <a:lnTo>
                    <a:pt x="0" y="0"/>
                  </a:lnTo>
                  <a:lnTo>
                    <a:pt x="21452" y="0"/>
                  </a:lnTo>
                  <a:lnTo>
                    <a:pt x="21452" y="4835"/>
                  </a:lnTo>
                  <a:lnTo>
                    <a:pt x="13494" y="4835"/>
                  </a:lnTo>
                  <a:lnTo>
                    <a:pt x="13494" y="4835"/>
                  </a:lnTo>
                  <a:close/>
                </a:path>
              </a:pathLst>
            </a:custGeom>
            <a:grpFill/>
            <a:ln w="3458" cap="flat">
              <a:noFill/>
              <a:prstDash val="solid"/>
              <a:miter/>
            </a:ln>
          </p:spPr>
          <p:txBody>
            <a:bodyPr rtlCol="0" anchor="ctr"/>
            <a:lstStyle/>
            <a:p>
              <a:endParaRPr lang="en-US" sz="1800"/>
            </a:p>
          </p:txBody>
        </p:sp>
      </p:grpSp>
      <p:sp>
        <p:nvSpPr>
          <p:cNvPr id="32" name="name_2024 sandisk or its affiliates All rights reserved">
            <a:extLst>
              <a:ext uri="{FF2B5EF4-FFF2-40B4-BE49-F238E27FC236}">
                <a16:creationId xmlns:a16="http://schemas.microsoft.com/office/drawing/2014/main" id="{22280101-B852-305A-1BD3-59B6B361FC3C}"/>
              </a:ext>
            </a:extLst>
          </p:cNvPr>
          <p:cNvSpPr txBox="1"/>
          <p:nvPr/>
        </p:nvSpPr>
        <p:spPr>
          <a:xfrm>
            <a:off x="6096000" y="6437971"/>
            <a:ext cx="5803900"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b">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r" defTabSz="609412" hangingPunct="0">
              <a:lnSpc>
                <a:spcPct val="100000"/>
              </a:lnSpc>
            </a:pPr>
            <a:r>
              <a:rPr lang="en-US" sz="1000" b="0" i="0" kern="0" spc="0" baseline="0">
                <a:solidFill>
                  <a:schemeClr val="bg1"/>
                </a:solidFill>
                <a:latin typeface="NB Architekt Pro Neue" panose="02010509020201040001" pitchFamily="49" charset="77"/>
                <a:cs typeface="Consolas" panose="020B0609020204030204" pitchFamily="49" charset="0"/>
              </a:rPr>
              <a:t>©2025 SANDISK CORPORATION OR ITS AFFILIATES ALL RIGHTS RESERVED</a:t>
            </a:r>
          </a:p>
        </p:txBody>
      </p:sp>
      <p:sp>
        <p:nvSpPr>
          <p:cNvPr id="33" name="name_2024 sandisk or its affiliates All rights reserved">
            <a:extLst>
              <a:ext uri="{FF2B5EF4-FFF2-40B4-BE49-F238E27FC236}">
                <a16:creationId xmlns:a16="http://schemas.microsoft.com/office/drawing/2014/main" id="{E095BAF6-CB05-FD2B-88EE-80784301AA7B}"/>
              </a:ext>
            </a:extLst>
          </p:cNvPr>
          <p:cNvSpPr txBox="1"/>
          <p:nvPr/>
        </p:nvSpPr>
        <p:spPr>
          <a:xfrm>
            <a:off x="8997951" y="267518"/>
            <a:ext cx="2242276"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bg1"/>
                </a:solidFill>
                <a:latin typeface="NB Architekt Pro Neue" panose="02010509020201040001" pitchFamily="49" charset="77"/>
                <a:cs typeface="Consolas" panose="020B0609020204030204" pitchFamily="49" charset="0"/>
              </a:rPr>
              <a:t>“START” “REPEAT” “1988/2025”</a:t>
            </a:r>
          </a:p>
        </p:txBody>
      </p:sp>
      <p:sp>
        <p:nvSpPr>
          <p:cNvPr id="34" name="Rectangle 33">
            <a:extLst>
              <a:ext uri="{FF2B5EF4-FFF2-40B4-BE49-F238E27FC236}">
                <a16:creationId xmlns:a16="http://schemas.microsoft.com/office/drawing/2014/main" id="{AB2E12A4-8161-676E-B0BC-CD336BCD436E}"/>
              </a:ext>
            </a:extLst>
          </p:cNvPr>
          <p:cNvSpPr/>
          <p:nvPr/>
        </p:nvSpPr>
        <p:spPr>
          <a:xfrm>
            <a:off x="11808843" y="296581"/>
            <a:ext cx="91057" cy="9105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642404090"/>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Only Gray">
    <p:bg>
      <p:bgPr>
        <a:solidFill>
          <a:schemeClr val="accent1"/>
        </a:solidFill>
        <a:effectLst/>
      </p:bgPr>
    </p:bg>
    <p:spTree>
      <p:nvGrpSpPr>
        <p:cNvPr id="1" name=""/>
        <p:cNvGrpSpPr/>
        <p:nvPr/>
      </p:nvGrpSpPr>
      <p:grpSpPr>
        <a:xfrm>
          <a:off x="0" y="0"/>
          <a:ext cx="0" cy="0"/>
          <a:chOff x="0" y="0"/>
          <a:chExt cx="0" cy="0"/>
        </a:xfrm>
      </p:grpSpPr>
      <p:sp>
        <p:nvSpPr>
          <p:cNvPr id="2" name="name_2024 sandisk or its affiliates All rights reserved">
            <a:extLst>
              <a:ext uri="{FF2B5EF4-FFF2-40B4-BE49-F238E27FC236}">
                <a16:creationId xmlns:a16="http://schemas.microsoft.com/office/drawing/2014/main" id="{642738AB-3A39-2252-D671-A3F2FA22F793}"/>
              </a:ext>
            </a:extLst>
          </p:cNvPr>
          <p:cNvSpPr txBox="1"/>
          <p:nvPr/>
        </p:nvSpPr>
        <p:spPr>
          <a:xfrm>
            <a:off x="292100" y="267518"/>
            <a:ext cx="1323975"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tx1"/>
                </a:solidFill>
                <a:latin typeface="NB Architekt Pro Neue" panose="02010509020201040001" pitchFamily="49" charset="77"/>
                <a:cs typeface="Consolas" panose="020B0609020204030204" pitchFamily="49" charset="0"/>
              </a:rPr>
              <a:t>[Confidential]</a:t>
            </a:r>
          </a:p>
        </p:txBody>
      </p:sp>
      <p:sp>
        <p:nvSpPr>
          <p:cNvPr id="45" name="Title 1">
            <a:extLst>
              <a:ext uri="{FF2B5EF4-FFF2-40B4-BE49-F238E27FC236}">
                <a16:creationId xmlns:a16="http://schemas.microsoft.com/office/drawing/2014/main" id="{62239A96-4E89-32CE-B159-D2D7803736E7}"/>
              </a:ext>
            </a:extLst>
          </p:cNvPr>
          <p:cNvSpPr>
            <a:spLocks noGrp="1"/>
          </p:cNvSpPr>
          <p:nvPr>
            <p:ph type="title" hasCustomPrompt="1"/>
          </p:nvPr>
        </p:nvSpPr>
        <p:spPr>
          <a:xfrm>
            <a:off x="292100" y="439244"/>
            <a:ext cx="11607800" cy="1425347"/>
          </a:xfrm>
          <a:prstGeom prst="rect">
            <a:avLst/>
          </a:prstGeom>
        </p:spPr>
        <p:txBody>
          <a:bodyPr wrap="square" lIns="0" anchor="b">
            <a:noAutofit/>
          </a:bodyPr>
          <a:lstStyle>
            <a:lvl1pPr>
              <a:lnSpc>
                <a:spcPct val="100000"/>
              </a:lnSpc>
              <a:defRPr sz="3000" b="0" spc="0" baseline="0">
                <a:solidFill>
                  <a:schemeClr val="tx1"/>
                </a:solidFill>
                <a:latin typeface="+mj-lt"/>
              </a:defRPr>
            </a:lvl1pPr>
          </a:lstStyle>
          <a:p>
            <a:r>
              <a:rPr lang="en-US"/>
              <a:t>CLICK TO ADD TITLE</a:t>
            </a:r>
          </a:p>
        </p:txBody>
      </p:sp>
      <p:sp>
        <p:nvSpPr>
          <p:cNvPr id="4" name="Slide Number Placeholder 5">
            <a:extLst>
              <a:ext uri="{FF2B5EF4-FFF2-40B4-BE49-F238E27FC236}">
                <a16:creationId xmlns:a16="http://schemas.microsoft.com/office/drawing/2014/main" id="{44AF6968-53B8-DA7A-894B-17605E587FBB}"/>
              </a:ext>
            </a:extLst>
          </p:cNvPr>
          <p:cNvSpPr>
            <a:spLocks noGrp="1"/>
          </p:cNvSpPr>
          <p:nvPr>
            <p:ph type="sldNum" sz="quarter" idx="4"/>
          </p:nvPr>
        </p:nvSpPr>
        <p:spPr>
          <a:xfrm>
            <a:off x="3194050" y="6455472"/>
            <a:ext cx="855221" cy="118872"/>
          </a:xfrm>
          <a:prstGeom prst="rect">
            <a:avLst/>
          </a:prstGeom>
        </p:spPr>
        <p:txBody>
          <a:bodyPr vert="horz" lIns="0" tIns="0" rIns="0" bIns="0" rtlCol="0" anchor="ctr"/>
          <a:lstStyle>
            <a:lvl1pPr algn="l">
              <a:defRPr sz="1000" b="0" i="0" spc="0" baseline="0">
                <a:solidFill>
                  <a:schemeClr val="tx1"/>
                </a:solidFill>
                <a:latin typeface="NB Architekt Pro Neue" panose="02010509020201040001" pitchFamily="49" charset="77"/>
                <a:cs typeface="Consolas" panose="020B0609020204030204" pitchFamily="49" charset="0"/>
              </a:defRPr>
            </a:lvl1pPr>
          </a:lstStyle>
          <a:p>
            <a:r>
              <a:rPr lang="en-US"/>
              <a:t>00.0</a:t>
            </a:r>
            <a:fld id="{4571BA12-316B-0A40-BB3D-1A8CDD33E9E5}" type="slidenum">
              <a:rPr lang="en-US" smtClean="0"/>
              <a:pPr/>
              <a:t>‹#›</a:t>
            </a:fld>
            <a:endParaRPr lang="en-US"/>
          </a:p>
        </p:txBody>
      </p:sp>
      <p:grpSp>
        <p:nvGrpSpPr>
          <p:cNvPr id="19" name="Group 18">
            <a:extLst>
              <a:ext uri="{FF2B5EF4-FFF2-40B4-BE49-F238E27FC236}">
                <a16:creationId xmlns:a16="http://schemas.microsoft.com/office/drawing/2014/main" id="{FE76FBDE-17D0-4DA3-A8FB-9D9B252458B2}"/>
              </a:ext>
            </a:extLst>
          </p:cNvPr>
          <p:cNvGrpSpPr>
            <a:grpSpLocks noChangeAspect="1"/>
          </p:cNvGrpSpPr>
          <p:nvPr/>
        </p:nvGrpSpPr>
        <p:grpSpPr>
          <a:xfrm>
            <a:off x="297027" y="6344485"/>
            <a:ext cx="2240280" cy="218081"/>
            <a:chOff x="8480170" y="7684742"/>
            <a:chExt cx="1031076" cy="102566"/>
          </a:xfrm>
          <a:solidFill>
            <a:schemeClr val="accent3"/>
          </a:solidFill>
        </p:grpSpPr>
        <p:sp>
          <p:nvSpPr>
            <p:cNvPr id="20" name="Freeform 19">
              <a:extLst>
                <a:ext uri="{FF2B5EF4-FFF2-40B4-BE49-F238E27FC236}">
                  <a16:creationId xmlns:a16="http://schemas.microsoft.com/office/drawing/2014/main" id="{4ACE6E5F-2549-F335-1306-68261507B180}"/>
                </a:ext>
              </a:extLst>
            </p:cNvPr>
            <p:cNvSpPr/>
            <p:nvPr/>
          </p:nvSpPr>
          <p:spPr>
            <a:xfrm>
              <a:off x="8788109" y="7684742"/>
              <a:ext cx="128019" cy="102565"/>
            </a:xfrm>
            <a:custGeom>
              <a:avLst/>
              <a:gdLst>
                <a:gd name="connsiteX0" fmla="*/ 102070 w 128019"/>
                <a:gd name="connsiteY0" fmla="*/ 70104 h 102565"/>
                <a:gd name="connsiteX1" fmla="*/ 96188 w 128019"/>
                <a:gd name="connsiteY1" fmla="*/ 77011 h 102565"/>
                <a:gd name="connsiteX2" fmla="*/ 89268 w 128019"/>
                <a:gd name="connsiteY2" fmla="*/ 72521 h 102565"/>
                <a:gd name="connsiteX3" fmla="*/ 65740 w 128019"/>
                <a:gd name="connsiteY3" fmla="*/ 8288 h 102565"/>
                <a:gd name="connsiteX4" fmla="*/ 54668 w 128019"/>
                <a:gd name="connsiteY4" fmla="*/ 0 h 102565"/>
                <a:gd name="connsiteX5" fmla="*/ 0 w 128019"/>
                <a:gd name="connsiteY5" fmla="*/ 0 h 102565"/>
                <a:gd name="connsiteX6" fmla="*/ 0 w 128019"/>
                <a:gd name="connsiteY6" fmla="*/ 102221 h 102565"/>
                <a:gd name="connsiteX7" fmla="*/ 40136 w 128019"/>
                <a:gd name="connsiteY7" fmla="*/ 102221 h 102565"/>
                <a:gd name="connsiteX8" fmla="*/ 40136 w 128019"/>
                <a:gd name="connsiteY8" fmla="*/ 76665 h 102565"/>
                <a:gd name="connsiteX9" fmla="*/ 32870 w 128019"/>
                <a:gd name="connsiteY9" fmla="*/ 76665 h 102565"/>
                <a:gd name="connsiteX10" fmla="*/ 25604 w 128019"/>
                <a:gd name="connsiteY10" fmla="*/ 67687 h 102565"/>
                <a:gd name="connsiteX11" fmla="*/ 25604 w 128019"/>
                <a:gd name="connsiteY11" fmla="*/ 36951 h 102565"/>
                <a:gd name="connsiteX12" fmla="*/ 39790 w 128019"/>
                <a:gd name="connsiteY12" fmla="*/ 26591 h 102565"/>
                <a:gd name="connsiteX13" fmla="*/ 45672 w 128019"/>
                <a:gd name="connsiteY13" fmla="*/ 32807 h 102565"/>
                <a:gd name="connsiteX14" fmla="*/ 64356 w 128019"/>
                <a:gd name="connsiteY14" fmla="*/ 81500 h 102565"/>
                <a:gd name="connsiteX15" fmla="*/ 95150 w 128019"/>
                <a:gd name="connsiteY15" fmla="*/ 102566 h 102565"/>
                <a:gd name="connsiteX16" fmla="*/ 95842 w 128019"/>
                <a:gd name="connsiteY16" fmla="*/ 102566 h 102565"/>
                <a:gd name="connsiteX17" fmla="*/ 128020 w 128019"/>
                <a:gd name="connsiteY17" fmla="*/ 70795 h 102565"/>
                <a:gd name="connsiteX18" fmla="*/ 128020 w 128019"/>
                <a:gd name="connsiteY18" fmla="*/ 345 h 102565"/>
                <a:gd name="connsiteX19" fmla="*/ 102416 w 128019"/>
                <a:gd name="connsiteY19" fmla="*/ 345 h 102565"/>
                <a:gd name="connsiteX20" fmla="*/ 102416 w 128019"/>
                <a:gd name="connsiteY20" fmla="*/ 70104 h 102565"/>
                <a:gd name="connsiteX21" fmla="*/ 102416 w 128019"/>
                <a:gd name="connsiteY21" fmla="*/ 70104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8019" h="102565">
                  <a:moveTo>
                    <a:pt x="102070" y="70104"/>
                  </a:moveTo>
                  <a:cubicBezTo>
                    <a:pt x="102070" y="73557"/>
                    <a:pt x="99648" y="76665"/>
                    <a:pt x="96188" y="77011"/>
                  </a:cubicBezTo>
                  <a:cubicBezTo>
                    <a:pt x="93074" y="77356"/>
                    <a:pt x="90306" y="75629"/>
                    <a:pt x="89268" y="72521"/>
                  </a:cubicBezTo>
                  <a:lnTo>
                    <a:pt x="65740" y="8288"/>
                  </a:lnTo>
                  <a:cubicBezTo>
                    <a:pt x="64010" y="3108"/>
                    <a:pt x="59858" y="0"/>
                    <a:pt x="54668" y="0"/>
                  </a:cubicBezTo>
                  <a:lnTo>
                    <a:pt x="0" y="0"/>
                  </a:lnTo>
                  <a:lnTo>
                    <a:pt x="0" y="102221"/>
                  </a:lnTo>
                  <a:lnTo>
                    <a:pt x="40136" y="102221"/>
                  </a:lnTo>
                  <a:lnTo>
                    <a:pt x="40136" y="76665"/>
                  </a:lnTo>
                  <a:lnTo>
                    <a:pt x="32870" y="76665"/>
                  </a:lnTo>
                  <a:cubicBezTo>
                    <a:pt x="28026" y="76665"/>
                    <a:pt x="25604" y="72521"/>
                    <a:pt x="25604" y="67687"/>
                  </a:cubicBezTo>
                  <a:lnTo>
                    <a:pt x="25604" y="36951"/>
                  </a:lnTo>
                  <a:cubicBezTo>
                    <a:pt x="25604" y="29354"/>
                    <a:pt x="32870" y="23828"/>
                    <a:pt x="39790" y="26591"/>
                  </a:cubicBezTo>
                  <a:cubicBezTo>
                    <a:pt x="42212" y="27627"/>
                    <a:pt x="44634" y="30045"/>
                    <a:pt x="45672" y="32807"/>
                  </a:cubicBezTo>
                  <a:lnTo>
                    <a:pt x="64356" y="81500"/>
                  </a:lnTo>
                  <a:cubicBezTo>
                    <a:pt x="69200" y="94278"/>
                    <a:pt x="81310" y="102566"/>
                    <a:pt x="95150" y="102566"/>
                  </a:cubicBezTo>
                  <a:lnTo>
                    <a:pt x="95842" y="102566"/>
                  </a:lnTo>
                  <a:cubicBezTo>
                    <a:pt x="113488" y="102566"/>
                    <a:pt x="128020" y="88407"/>
                    <a:pt x="128020" y="70795"/>
                  </a:cubicBezTo>
                  <a:lnTo>
                    <a:pt x="128020" y="345"/>
                  </a:lnTo>
                  <a:lnTo>
                    <a:pt x="102416" y="345"/>
                  </a:lnTo>
                  <a:lnTo>
                    <a:pt x="102416" y="70104"/>
                  </a:lnTo>
                  <a:lnTo>
                    <a:pt x="102416" y="70104"/>
                  </a:lnTo>
                  <a:close/>
                </a:path>
              </a:pathLst>
            </a:custGeom>
            <a:grpFill/>
            <a:ln w="3458" cap="flat">
              <a:noFill/>
              <a:prstDash val="solid"/>
              <a:miter/>
            </a:ln>
          </p:spPr>
          <p:txBody>
            <a:bodyPr rtlCol="0" anchor="ctr"/>
            <a:lstStyle/>
            <a:p>
              <a:endParaRPr lang="en-US" sz="1800"/>
            </a:p>
          </p:txBody>
        </p:sp>
        <p:sp>
          <p:nvSpPr>
            <p:cNvPr id="21" name="Freeform 20">
              <a:extLst>
                <a:ext uri="{FF2B5EF4-FFF2-40B4-BE49-F238E27FC236}">
                  <a16:creationId xmlns:a16="http://schemas.microsoft.com/office/drawing/2014/main" id="{35212BCC-AD18-02BB-8B33-B2194EA20DAF}"/>
                </a:ext>
              </a:extLst>
            </p:cNvPr>
            <p:cNvSpPr/>
            <p:nvPr/>
          </p:nvSpPr>
          <p:spPr>
            <a:xfrm>
              <a:off x="8941733" y="7685087"/>
              <a:ext cx="128019" cy="102220"/>
            </a:xfrm>
            <a:custGeom>
              <a:avLst/>
              <a:gdLst>
                <a:gd name="connsiteX0" fmla="*/ 76812 w 128019"/>
                <a:gd name="connsiteY0" fmla="*/ 0 h 102220"/>
                <a:gd name="connsiteX1" fmla="*/ 0 w 128019"/>
                <a:gd name="connsiteY1" fmla="*/ 0 h 102220"/>
                <a:gd name="connsiteX2" fmla="*/ 0 w 128019"/>
                <a:gd name="connsiteY2" fmla="*/ 25555 h 102220"/>
                <a:gd name="connsiteX3" fmla="*/ 76812 w 128019"/>
                <a:gd name="connsiteY3" fmla="*/ 25555 h 102220"/>
                <a:gd name="connsiteX4" fmla="*/ 102416 w 128019"/>
                <a:gd name="connsiteY4" fmla="*/ 51110 h 102220"/>
                <a:gd name="connsiteX5" fmla="*/ 76812 w 128019"/>
                <a:gd name="connsiteY5" fmla="*/ 76665 h 102220"/>
                <a:gd name="connsiteX6" fmla="*/ 0 w 128019"/>
                <a:gd name="connsiteY6" fmla="*/ 76665 h 102220"/>
                <a:gd name="connsiteX7" fmla="*/ 0 w 128019"/>
                <a:gd name="connsiteY7" fmla="*/ 102221 h 102220"/>
                <a:gd name="connsiteX8" fmla="*/ 76812 w 128019"/>
                <a:gd name="connsiteY8" fmla="*/ 102221 h 102220"/>
                <a:gd name="connsiteX9" fmla="*/ 121792 w 128019"/>
                <a:gd name="connsiteY9" fmla="*/ 75629 h 102220"/>
                <a:gd name="connsiteX10" fmla="*/ 128020 w 128019"/>
                <a:gd name="connsiteY10" fmla="*/ 51110 h 102220"/>
                <a:gd name="connsiteX11" fmla="*/ 121792 w 128019"/>
                <a:gd name="connsiteY11" fmla="*/ 26591 h 102220"/>
                <a:gd name="connsiteX12" fmla="*/ 76812 w 128019"/>
                <a:gd name="connsiteY12" fmla="*/ 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8019" h="102220">
                  <a:moveTo>
                    <a:pt x="76812" y="0"/>
                  </a:moveTo>
                  <a:lnTo>
                    <a:pt x="0" y="0"/>
                  </a:lnTo>
                  <a:lnTo>
                    <a:pt x="0" y="25555"/>
                  </a:lnTo>
                  <a:lnTo>
                    <a:pt x="76812" y="25555"/>
                  </a:lnTo>
                  <a:cubicBezTo>
                    <a:pt x="90306" y="25555"/>
                    <a:pt x="102416" y="37297"/>
                    <a:pt x="102416" y="51110"/>
                  </a:cubicBezTo>
                  <a:cubicBezTo>
                    <a:pt x="102416" y="64924"/>
                    <a:pt x="90652" y="76665"/>
                    <a:pt x="76812" y="76665"/>
                  </a:cubicBezTo>
                  <a:lnTo>
                    <a:pt x="0" y="76665"/>
                  </a:lnTo>
                  <a:lnTo>
                    <a:pt x="0" y="102221"/>
                  </a:lnTo>
                  <a:lnTo>
                    <a:pt x="76812" y="102221"/>
                  </a:lnTo>
                  <a:cubicBezTo>
                    <a:pt x="96188" y="102221"/>
                    <a:pt x="113142" y="91515"/>
                    <a:pt x="121792" y="75629"/>
                  </a:cubicBezTo>
                  <a:cubicBezTo>
                    <a:pt x="125598" y="68377"/>
                    <a:pt x="128020" y="59744"/>
                    <a:pt x="128020" y="51110"/>
                  </a:cubicBezTo>
                  <a:cubicBezTo>
                    <a:pt x="128020" y="42477"/>
                    <a:pt x="125598" y="33843"/>
                    <a:pt x="121792" y="26591"/>
                  </a:cubicBezTo>
                  <a:cubicBezTo>
                    <a:pt x="113142" y="10706"/>
                    <a:pt x="96188" y="0"/>
                    <a:pt x="76812" y="0"/>
                  </a:cubicBezTo>
                  <a:close/>
                </a:path>
              </a:pathLst>
            </a:custGeom>
            <a:grpFill/>
            <a:ln w="3458" cap="flat">
              <a:noFill/>
              <a:prstDash val="solid"/>
              <a:miter/>
            </a:ln>
          </p:spPr>
          <p:txBody>
            <a:bodyPr rtlCol="0" anchor="ctr"/>
            <a:lstStyle/>
            <a:p>
              <a:endParaRPr lang="en-US" sz="1800"/>
            </a:p>
          </p:txBody>
        </p:sp>
        <p:sp>
          <p:nvSpPr>
            <p:cNvPr id="22" name="Freeform 21">
              <a:extLst>
                <a:ext uri="{FF2B5EF4-FFF2-40B4-BE49-F238E27FC236}">
                  <a16:creationId xmlns:a16="http://schemas.microsoft.com/office/drawing/2014/main" id="{9643817C-95E5-D4D0-D54C-6AE3A82850D8}"/>
                </a:ext>
              </a:extLst>
            </p:cNvPr>
            <p:cNvSpPr/>
            <p:nvPr/>
          </p:nvSpPr>
          <p:spPr>
            <a:xfrm>
              <a:off x="9080478" y="7685087"/>
              <a:ext cx="40481" cy="102220"/>
            </a:xfrm>
            <a:custGeom>
              <a:avLst/>
              <a:gdLst>
                <a:gd name="connsiteX0" fmla="*/ 5190 w 40481"/>
                <a:gd name="connsiteY0" fmla="*/ 25555 h 102220"/>
                <a:gd name="connsiteX1" fmla="*/ 7266 w 40481"/>
                <a:gd name="connsiteY1" fmla="*/ 25555 h 102220"/>
                <a:gd name="connsiteX2" fmla="*/ 14878 w 40481"/>
                <a:gd name="connsiteY2" fmla="*/ 35225 h 102220"/>
                <a:gd name="connsiteX3" fmla="*/ 14878 w 40481"/>
                <a:gd name="connsiteY3" fmla="*/ 102221 h 102220"/>
                <a:gd name="connsiteX4" fmla="*/ 40482 w 40481"/>
                <a:gd name="connsiteY4" fmla="*/ 102221 h 102220"/>
                <a:gd name="connsiteX5" fmla="*/ 40482 w 40481"/>
                <a:gd name="connsiteY5" fmla="*/ 0 h 102220"/>
                <a:gd name="connsiteX6" fmla="*/ 0 w 40481"/>
                <a:gd name="connsiteY6" fmla="*/ 0 h 102220"/>
                <a:gd name="connsiteX7" fmla="*/ 0 w 40481"/>
                <a:gd name="connsiteY7" fmla="*/ 25555 h 102220"/>
                <a:gd name="connsiteX8" fmla="*/ 5536 w 40481"/>
                <a:gd name="connsiteY8" fmla="*/ 25555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481" h="102220">
                  <a:moveTo>
                    <a:pt x="5190" y="25555"/>
                  </a:moveTo>
                  <a:cubicBezTo>
                    <a:pt x="5882" y="25555"/>
                    <a:pt x="6574" y="25555"/>
                    <a:pt x="7266" y="25555"/>
                  </a:cubicBezTo>
                  <a:cubicBezTo>
                    <a:pt x="12110" y="26246"/>
                    <a:pt x="14878" y="30045"/>
                    <a:pt x="14878" y="35225"/>
                  </a:cubicBezTo>
                  <a:lnTo>
                    <a:pt x="14878" y="102221"/>
                  </a:lnTo>
                  <a:lnTo>
                    <a:pt x="40482" y="102221"/>
                  </a:lnTo>
                  <a:lnTo>
                    <a:pt x="40482" y="0"/>
                  </a:lnTo>
                  <a:lnTo>
                    <a:pt x="0" y="0"/>
                  </a:lnTo>
                  <a:lnTo>
                    <a:pt x="0" y="25555"/>
                  </a:lnTo>
                  <a:lnTo>
                    <a:pt x="5536" y="25555"/>
                  </a:lnTo>
                  <a:close/>
                </a:path>
              </a:pathLst>
            </a:custGeom>
            <a:grpFill/>
            <a:ln w="3458" cap="flat">
              <a:noFill/>
              <a:prstDash val="solid"/>
              <a:miter/>
            </a:ln>
          </p:spPr>
          <p:txBody>
            <a:bodyPr rtlCol="0" anchor="ctr"/>
            <a:lstStyle/>
            <a:p>
              <a:endParaRPr lang="en-US" sz="1800"/>
            </a:p>
          </p:txBody>
        </p:sp>
        <p:sp>
          <p:nvSpPr>
            <p:cNvPr id="23" name="Freeform 22">
              <a:extLst>
                <a:ext uri="{FF2B5EF4-FFF2-40B4-BE49-F238E27FC236}">
                  <a16:creationId xmlns:a16="http://schemas.microsoft.com/office/drawing/2014/main" id="{7300BA43-134C-DBA1-5272-99BAB06FF14A}"/>
                </a:ext>
              </a:extLst>
            </p:cNvPr>
            <p:cNvSpPr/>
            <p:nvPr/>
          </p:nvSpPr>
          <p:spPr>
            <a:xfrm>
              <a:off x="9146218" y="7685087"/>
              <a:ext cx="128365" cy="102220"/>
            </a:xfrm>
            <a:custGeom>
              <a:avLst/>
              <a:gdLst>
                <a:gd name="connsiteX0" fmla="*/ 128365 w 128365"/>
                <a:gd name="connsiteY0" fmla="*/ 81846 h 102220"/>
                <a:gd name="connsiteX1" fmla="*/ 128365 w 128365"/>
                <a:gd name="connsiteY1" fmla="*/ 102221 h 102220"/>
                <a:gd name="connsiteX2" fmla="*/ 19722 w 128365"/>
                <a:gd name="connsiteY2" fmla="*/ 60780 h 102220"/>
                <a:gd name="connsiteX3" fmla="*/ 0 w 128365"/>
                <a:gd name="connsiteY3" fmla="*/ 30735 h 102220"/>
                <a:gd name="connsiteX4" fmla="*/ 31140 w 128365"/>
                <a:gd name="connsiteY4" fmla="*/ 0 h 102220"/>
                <a:gd name="connsiteX5" fmla="*/ 128020 w 128365"/>
                <a:gd name="connsiteY5" fmla="*/ 0 h 102220"/>
                <a:gd name="connsiteX6" fmla="*/ 128020 w 128365"/>
                <a:gd name="connsiteY6" fmla="*/ 40059 h 102220"/>
                <a:gd name="connsiteX7" fmla="*/ 102416 w 128365"/>
                <a:gd name="connsiteY7" fmla="*/ 40059 h 102220"/>
                <a:gd name="connsiteX8" fmla="*/ 102416 w 128365"/>
                <a:gd name="connsiteY8" fmla="*/ 32807 h 102220"/>
                <a:gd name="connsiteX9" fmla="*/ 94458 w 128365"/>
                <a:gd name="connsiteY9" fmla="*/ 25555 h 102220"/>
                <a:gd name="connsiteX10" fmla="*/ 37714 w 128365"/>
                <a:gd name="connsiteY10" fmla="*/ 25555 h 102220"/>
                <a:gd name="connsiteX11" fmla="*/ 29756 w 128365"/>
                <a:gd name="connsiteY11" fmla="*/ 33498 h 102220"/>
                <a:gd name="connsiteX12" fmla="*/ 34946 w 128365"/>
                <a:gd name="connsiteY12" fmla="*/ 41095 h 102220"/>
                <a:gd name="connsiteX13" fmla="*/ 119370 w 128365"/>
                <a:gd name="connsiteY13" fmla="*/ 70795 h 102220"/>
                <a:gd name="connsiteX14" fmla="*/ 127674 w 128365"/>
                <a:gd name="connsiteY14"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8365" h="102220">
                  <a:moveTo>
                    <a:pt x="128365" y="81846"/>
                  </a:moveTo>
                  <a:lnTo>
                    <a:pt x="128365"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close/>
                </a:path>
              </a:pathLst>
            </a:custGeom>
            <a:grpFill/>
            <a:ln w="3458" cap="flat">
              <a:noFill/>
              <a:prstDash val="solid"/>
              <a:miter/>
            </a:ln>
          </p:spPr>
          <p:txBody>
            <a:bodyPr rtlCol="0" anchor="ctr"/>
            <a:lstStyle/>
            <a:p>
              <a:endParaRPr lang="en-US" sz="1800"/>
            </a:p>
          </p:txBody>
        </p:sp>
        <p:sp>
          <p:nvSpPr>
            <p:cNvPr id="24" name="Freeform 23">
              <a:extLst>
                <a:ext uri="{FF2B5EF4-FFF2-40B4-BE49-F238E27FC236}">
                  <a16:creationId xmlns:a16="http://schemas.microsoft.com/office/drawing/2014/main" id="{EBD5B91B-0CE6-0C22-DF37-D38902F5BE82}"/>
                </a:ext>
              </a:extLst>
            </p:cNvPr>
            <p:cNvSpPr/>
            <p:nvPr/>
          </p:nvSpPr>
          <p:spPr>
            <a:xfrm>
              <a:off x="9146564" y="7761753"/>
              <a:ext cx="25258" cy="25555"/>
            </a:xfrm>
            <a:custGeom>
              <a:avLst/>
              <a:gdLst>
                <a:gd name="connsiteX0" fmla="*/ 25258 w 25258"/>
                <a:gd name="connsiteY0" fmla="*/ 0 h 25555"/>
                <a:gd name="connsiteX1" fmla="*/ 0 w 25258"/>
                <a:gd name="connsiteY1" fmla="*/ 0 h 25555"/>
                <a:gd name="connsiteX2" fmla="*/ 0 w 25258"/>
                <a:gd name="connsiteY2" fmla="*/ 25555 h 25555"/>
                <a:gd name="connsiteX3" fmla="*/ 25258 w 25258"/>
                <a:gd name="connsiteY3" fmla="*/ 25555 h 25555"/>
                <a:gd name="connsiteX4" fmla="*/ 25258 w 25258"/>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8"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25" name="Freeform 24">
              <a:extLst>
                <a:ext uri="{FF2B5EF4-FFF2-40B4-BE49-F238E27FC236}">
                  <a16:creationId xmlns:a16="http://schemas.microsoft.com/office/drawing/2014/main" id="{0D10FAD8-C83B-8723-1D36-1C855F85F30B}"/>
                </a:ext>
              </a:extLst>
            </p:cNvPr>
            <p:cNvSpPr/>
            <p:nvPr/>
          </p:nvSpPr>
          <p:spPr>
            <a:xfrm>
              <a:off x="8480170" y="7685087"/>
              <a:ext cx="128019" cy="102220"/>
            </a:xfrm>
            <a:custGeom>
              <a:avLst/>
              <a:gdLst>
                <a:gd name="connsiteX0" fmla="*/ 128020 w 128019"/>
                <a:gd name="connsiteY0" fmla="*/ 81846 h 102220"/>
                <a:gd name="connsiteX1" fmla="*/ 128020 w 128019"/>
                <a:gd name="connsiteY1" fmla="*/ 102221 h 102220"/>
                <a:gd name="connsiteX2" fmla="*/ 19722 w 128019"/>
                <a:gd name="connsiteY2" fmla="*/ 60780 h 102220"/>
                <a:gd name="connsiteX3" fmla="*/ 0 w 128019"/>
                <a:gd name="connsiteY3" fmla="*/ 30735 h 102220"/>
                <a:gd name="connsiteX4" fmla="*/ 31140 w 128019"/>
                <a:gd name="connsiteY4" fmla="*/ 0 h 102220"/>
                <a:gd name="connsiteX5" fmla="*/ 128020 w 128019"/>
                <a:gd name="connsiteY5" fmla="*/ 0 h 102220"/>
                <a:gd name="connsiteX6" fmla="*/ 128020 w 128019"/>
                <a:gd name="connsiteY6" fmla="*/ 40059 h 102220"/>
                <a:gd name="connsiteX7" fmla="*/ 102416 w 128019"/>
                <a:gd name="connsiteY7" fmla="*/ 40059 h 102220"/>
                <a:gd name="connsiteX8" fmla="*/ 102416 w 128019"/>
                <a:gd name="connsiteY8" fmla="*/ 32807 h 102220"/>
                <a:gd name="connsiteX9" fmla="*/ 94458 w 128019"/>
                <a:gd name="connsiteY9" fmla="*/ 25555 h 102220"/>
                <a:gd name="connsiteX10" fmla="*/ 37714 w 128019"/>
                <a:gd name="connsiteY10" fmla="*/ 25555 h 102220"/>
                <a:gd name="connsiteX11" fmla="*/ 29756 w 128019"/>
                <a:gd name="connsiteY11" fmla="*/ 33498 h 102220"/>
                <a:gd name="connsiteX12" fmla="*/ 34946 w 128019"/>
                <a:gd name="connsiteY12" fmla="*/ 41095 h 102220"/>
                <a:gd name="connsiteX13" fmla="*/ 119370 w 128019"/>
                <a:gd name="connsiteY13" fmla="*/ 70795 h 102220"/>
                <a:gd name="connsiteX14" fmla="*/ 127674 w 128019"/>
                <a:gd name="connsiteY14" fmla="*/ 81846 h 102220"/>
                <a:gd name="connsiteX15" fmla="*/ 127674 w 128019"/>
                <a:gd name="connsiteY15"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8019" h="102220">
                  <a:moveTo>
                    <a:pt x="128020" y="81846"/>
                  </a:moveTo>
                  <a:lnTo>
                    <a:pt x="128020"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lnTo>
                    <a:pt x="127674" y="81846"/>
                  </a:lnTo>
                  <a:close/>
                </a:path>
              </a:pathLst>
            </a:custGeom>
            <a:grpFill/>
            <a:ln w="3458" cap="flat">
              <a:noFill/>
              <a:prstDash val="solid"/>
              <a:miter/>
            </a:ln>
          </p:spPr>
          <p:txBody>
            <a:bodyPr rtlCol="0" anchor="ctr"/>
            <a:lstStyle/>
            <a:p>
              <a:endParaRPr lang="en-US" sz="1800"/>
            </a:p>
          </p:txBody>
        </p:sp>
        <p:sp>
          <p:nvSpPr>
            <p:cNvPr id="26" name="Freeform 25">
              <a:extLst>
                <a:ext uri="{FF2B5EF4-FFF2-40B4-BE49-F238E27FC236}">
                  <a16:creationId xmlns:a16="http://schemas.microsoft.com/office/drawing/2014/main" id="{EF43D845-BFD3-5105-A206-71E806A63698}"/>
                </a:ext>
              </a:extLst>
            </p:cNvPr>
            <p:cNvSpPr/>
            <p:nvPr/>
          </p:nvSpPr>
          <p:spPr>
            <a:xfrm>
              <a:off x="8480516" y="7761753"/>
              <a:ext cx="25257" cy="25555"/>
            </a:xfrm>
            <a:custGeom>
              <a:avLst/>
              <a:gdLst>
                <a:gd name="connsiteX0" fmla="*/ 25258 w 25257"/>
                <a:gd name="connsiteY0" fmla="*/ 0 h 25555"/>
                <a:gd name="connsiteX1" fmla="*/ 0 w 25257"/>
                <a:gd name="connsiteY1" fmla="*/ 0 h 25555"/>
                <a:gd name="connsiteX2" fmla="*/ 0 w 25257"/>
                <a:gd name="connsiteY2" fmla="*/ 25555 h 25555"/>
                <a:gd name="connsiteX3" fmla="*/ 25258 w 25257"/>
                <a:gd name="connsiteY3" fmla="*/ 25555 h 25555"/>
                <a:gd name="connsiteX4" fmla="*/ 25258 w 25257"/>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7"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27" name="Freeform 26">
              <a:extLst>
                <a:ext uri="{FF2B5EF4-FFF2-40B4-BE49-F238E27FC236}">
                  <a16:creationId xmlns:a16="http://schemas.microsoft.com/office/drawing/2014/main" id="{A35DCF02-48D8-2DC2-CB99-DE8C34C91439}"/>
                </a:ext>
              </a:extLst>
            </p:cNvPr>
            <p:cNvSpPr/>
            <p:nvPr/>
          </p:nvSpPr>
          <p:spPr>
            <a:xfrm>
              <a:off x="9300533" y="7685087"/>
              <a:ext cx="128019" cy="102220"/>
            </a:xfrm>
            <a:custGeom>
              <a:avLst/>
              <a:gdLst>
                <a:gd name="connsiteX0" fmla="*/ 128020 w 128019"/>
                <a:gd name="connsiteY0" fmla="*/ 25555 h 102220"/>
                <a:gd name="connsiteX1" fmla="*/ 128020 w 128019"/>
                <a:gd name="connsiteY1" fmla="*/ 0 h 102220"/>
                <a:gd name="connsiteX2" fmla="*/ 105530 w 128019"/>
                <a:gd name="connsiteY2" fmla="*/ 0 h 102220"/>
                <a:gd name="connsiteX3" fmla="*/ 100686 w 128019"/>
                <a:gd name="connsiteY3" fmla="*/ 1727 h 102220"/>
                <a:gd name="connsiteX4" fmla="*/ 60550 w 128019"/>
                <a:gd name="connsiteY4" fmla="*/ 37987 h 102220"/>
                <a:gd name="connsiteX5" fmla="*/ 56398 w 128019"/>
                <a:gd name="connsiteY5" fmla="*/ 39714 h 102220"/>
                <a:gd name="connsiteX6" fmla="*/ 28372 w 128019"/>
                <a:gd name="connsiteY6" fmla="*/ 39714 h 102220"/>
                <a:gd name="connsiteX7" fmla="*/ 25258 w 128019"/>
                <a:gd name="connsiteY7" fmla="*/ 36606 h 102220"/>
                <a:gd name="connsiteX8" fmla="*/ 25258 w 128019"/>
                <a:gd name="connsiteY8" fmla="*/ 0 h 102220"/>
                <a:gd name="connsiteX9" fmla="*/ 0 w 128019"/>
                <a:gd name="connsiteY9" fmla="*/ 0 h 102220"/>
                <a:gd name="connsiteX10" fmla="*/ 0 w 128019"/>
                <a:gd name="connsiteY10" fmla="*/ 102221 h 102220"/>
                <a:gd name="connsiteX11" fmla="*/ 25258 w 128019"/>
                <a:gd name="connsiteY11" fmla="*/ 102221 h 102220"/>
                <a:gd name="connsiteX12" fmla="*/ 25258 w 128019"/>
                <a:gd name="connsiteY12" fmla="*/ 65615 h 102220"/>
                <a:gd name="connsiteX13" fmla="*/ 28372 w 128019"/>
                <a:gd name="connsiteY13" fmla="*/ 62507 h 102220"/>
                <a:gd name="connsiteX14" fmla="*/ 56398 w 128019"/>
                <a:gd name="connsiteY14" fmla="*/ 62507 h 102220"/>
                <a:gd name="connsiteX15" fmla="*/ 60550 w 128019"/>
                <a:gd name="connsiteY15" fmla="*/ 64233 h 102220"/>
                <a:gd name="connsiteX16" fmla="*/ 100686 w 128019"/>
                <a:gd name="connsiteY16" fmla="*/ 100494 h 102220"/>
                <a:gd name="connsiteX17" fmla="*/ 105530 w 128019"/>
                <a:gd name="connsiteY17" fmla="*/ 102221 h 102220"/>
                <a:gd name="connsiteX18" fmla="*/ 128020 w 128019"/>
                <a:gd name="connsiteY18" fmla="*/ 102221 h 102220"/>
                <a:gd name="connsiteX19" fmla="*/ 128020 w 128019"/>
                <a:gd name="connsiteY19" fmla="*/ 76665 h 102220"/>
                <a:gd name="connsiteX20" fmla="*/ 115564 w 128019"/>
                <a:gd name="connsiteY20" fmla="*/ 76665 h 102220"/>
                <a:gd name="connsiteX21" fmla="*/ 105184 w 128019"/>
                <a:gd name="connsiteY21" fmla="*/ 72867 h 102220"/>
                <a:gd name="connsiteX22" fmla="*/ 86154 w 128019"/>
                <a:gd name="connsiteY22" fmla="*/ 55945 h 102220"/>
                <a:gd name="connsiteX23" fmla="*/ 86154 w 128019"/>
                <a:gd name="connsiteY23" fmla="*/ 45930 h 102220"/>
                <a:gd name="connsiteX24" fmla="*/ 105184 w 128019"/>
                <a:gd name="connsiteY24" fmla="*/ 29009 h 102220"/>
                <a:gd name="connsiteX25" fmla="*/ 115564 w 128019"/>
                <a:gd name="connsiteY25" fmla="*/ 25210 h 102220"/>
                <a:gd name="connsiteX26" fmla="*/ 128020 w 128019"/>
                <a:gd name="connsiteY26" fmla="*/ 2521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8019" h="102220">
                  <a:moveTo>
                    <a:pt x="128020" y="25555"/>
                  </a:moveTo>
                  <a:lnTo>
                    <a:pt x="128020" y="0"/>
                  </a:lnTo>
                  <a:lnTo>
                    <a:pt x="105530" y="0"/>
                  </a:lnTo>
                  <a:cubicBezTo>
                    <a:pt x="103800" y="0"/>
                    <a:pt x="102070" y="691"/>
                    <a:pt x="100686" y="1727"/>
                  </a:cubicBezTo>
                  <a:lnTo>
                    <a:pt x="60550" y="37987"/>
                  </a:lnTo>
                  <a:cubicBezTo>
                    <a:pt x="59512" y="39023"/>
                    <a:pt x="58128" y="39714"/>
                    <a:pt x="56398" y="39714"/>
                  </a:cubicBezTo>
                  <a:lnTo>
                    <a:pt x="28372" y="39714"/>
                  </a:lnTo>
                  <a:cubicBezTo>
                    <a:pt x="26642" y="39714"/>
                    <a:pt x="25258" y="38333"/>
                    <a:pt x="25258" y="36606"/>
                  </a:cubicBezTo>
                  <a:lnTo>
                    <a:pt x="25258" y="0"/>
                  </a:lnTo>
                  <a:lnTo>
                    <a:pt x="0" y="0"/>
                  </a:lnTo>
                  <a:lnTo>
                    <a:pt x="0" y="102221"/>
                  </a:lnTo>
                  <a:lnTo>
                    <a:pt x="25258" y="102221"/>
                  </a:lnTo>
                  <a:lnTo>
                    <a:pt x="25258" y="65615"/>
                  </a:lnTo>
                  <a:cubicBezTo>
                    <a:pt x="25258" y="63888"/>
                    <a:pt x="26642" y="62507"/>
                    <a:pt x="28372" y="62507"/>
                  </a:cubicBezTo>
                  <a:lnTo>
                    <a:pt x="56398" y="62507"/>
                  </a:lnTo>
                  <a:cubicBezTo>
                    <a:pt x="57782" y="62507"/>
                    <a:pt x="59512" y="62852"/>
                    <a:pt x="60550" y="64233"/>
                  </a:cubicBezTo>
                  <a:lnTo>
                    <a:pt x="100686" y="100494"/>
                  </a:lnTo>
                  <a:cubicBezTo>
                    <a:pt x="102070" y="101530"/>
                    <a:pt x="103800" y="102221"/>
                    <a:pt x="105530" y="102221"/>
                  </a:cubicBezTo>
                  <a:lnTo>
                    <a:pt x="128020" y="102221"/>
                  </a:lnTo>
                  <a:lnTo>
                    <a:pt x="128020" y="76665"/>
                  </a:lnTo>
                  <a:lnTo>
                    <a:pt x="115564" y="76665"/>
                  </a:lnTo>
                  <a:cubicBezTo>
                    <a:pt x="111758" y="76665"/>
                    <a:pt x="107952" y="75284"/>
                    <a:pt x="105184" y="72867"/>
                  </a:cubicBezTo>
                  <a:lnTo>
                    <a:pt x="86154" y="55945"/>
                  </a:lnTo>
                  <a:cubicBezTo>
                    <a:pt x="83040" y="53528"/>
                    <a:pt x="83040" y="48693"/>
                    <a:pt x="86154" y="45930"/>
                  </a:cubicBezTo>
                  <a:lnTo>
                    <a:pt x="105184" y="29009"/>
                  </a:lnTo>
                  <a:cubicBezTo>
                    <a:pt x="108298" y="26591"/>
                    <a:pt x="111758" y="25210"/>
                    <a:pt x="115564" y="25210"/>
                  </a:cubicBezTo>
                  <a:lnTo>
                    <a:pt x="128020" y="25210"/>
                  </a:lnTo>
                  <a:close/>
                </a:path>
              </a:pathLst>
            </a:custGeom>
            <a:grpFill/>
            <a:ln w="3458" cap="flat">
              <a:noFill/>
              <a:prstDash val="solid"/>
              <a:miter/>
            </a:ln>
          </p:spPr>
          <p:txBody>
            <a:bodyPr rtlCol="0" anchor="ctr"/>
            <a:lstStyle/>
            <a:p>
              <a:endParaRPr lang="en-US" sz="1800"/>
            </a:p>
          </p:txBody>
        </p:sp>
        <p:sp>
          <p:nvSpPr>
            <p:cNvPr id="28" name="Freeform 27">
              <a:extLst>
                <a:ext uri="{FF2B5EF4-FFF2-40B4-BE49-F238E27FC236}">
                  <a16:creationId xmlns:a16="http://schemas.microsoft.com/office/drawing/2014/main" id="{4E8843F8-5643-AA25-1221-68D578117320}"/>
                </a:ext>
              </a:extLst>
            </p:cNvPr>
            <p:cNvSpPr/>
            <p:nvPr/>
          </p:nvSpPr>
          <p:spPr>
            <a:xfrm>
              <a:off x="8623760" y="7684742"/>
              <a:ext cx="138053" cy="102565"/>
            </a:xfrm>
            <a:custGeom>
              <a:avLst/>
              <a:gdLst>
                <a:gd name="connsiteX0" fmla="*/ 99302 w 138053"/>
                <a:gd name="connsiteY0" fmla="*/ 345 h 102565"/>
                <a:gd name="connsiteX1" fmla="*/ 70238 w 138053"/>
                <a:gd name="connsiteY1" fmla="*/ 14850 h 102565"/>
                <a:gd name="connsiteX2" fmla="*/ 0 w 138053"/>
                <a:gd name="connsiteY2" fmla="*/ 102566 h 102565"/>
                <a:gd name="connsiteX3" fmla="*/ 35638 w 138053"/>
                <a:gd name="connsiteY3" fmla="*/ 102566 h 102565"/>
                <a:gd name="connsiteX4" fmla="*/ 93420 w 138053"/>
                <a:gd name="connsiteY4" fmla="*/ 31426 h 102565"/>
                <a:gd name="connsiteX5" fmla="*/ 102762 w 138053"/>
                <a:gd name="connsiteY5" fmla="*/ 26246 h 102565"/>
                <a:gd name="connsiteX6" fmla="*/ 112450 w 138053"/>
                <a:gd name="connsiteY6" fmla="*/ 36951 h 102565"/>
                <a:gd name="connsiteX7" fmla="*/ 112450 w 138053"/>
                <a:gd name="connsiteY7" fmla="*/ 68032 h 102565"/>
                <a:gd name="connsiteX8" fmla="*/ 105184 w 138053"/>
                <a:gd name="connsiteY8" fmla="*/ 77011 h 102565"/>
                <a:gd name="connsiteX9" fmla="*/ 97918 w 138053"/>
                <a:gd name="connsiteY9" fmla="*/ 77011 h 102565"/>
                <a:gd name="connsiteX10" fmla="*/ 97918 w 138053"/>
                <a:gd name="connsiteY10" fmla="*/ 102566 h 102565"/>
                <a:gd name="connsiteX11" fmla="*/ 138054 w 138053"/>
                <a:gd name="connsiteY11" fmla="*/ 102566 h 102565"/>
                <a:gd name="connsiteX12" fmla="*/ 138054 w 138053"/>
                <a:gd name="connsiteY12" fmla="*/ 38333 h 102565"/>
                <a:gd name="connsiteX13" fmla="*/ 98956 w 138053"/>
                <a:gd name="connsiteY13" fmla="*/ 0 h 102565"/>
                <a:gd name="connsiteX14" fmla="*/ 98956 w 138053"/>
                <a:gd name="connsiteY14" fmla="*/ 0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8053" h="102565">
                  <a:moveTo>
                    <a:pt x="99302" y="345"/>
                  </a:moveTo>
                  <a:cubicBezTo>
                    <a:pt x="87884" y="345"/>
                    <a:pt x="77158" y="5871"/>
                    <a:pt x="70238" y="14850"/>
                  </a:cubicBezTo>
                  <a:lnTo>
                    <a:pt x="0" y="102566"/>
                  </a:lnTo>
                  <a:lnTo>
                    <a:pt x="35638" y="102566"/>
                  </a:lnTo>
                  <a:lnTo>
                    <a:pt x="93420" y="31426"/>
                  </a:lnTo>
                  <a:cubicBezTo>
                    <a:pt x="96188" y="27973"/>
                    <a:pt x="98264" y="26246"/>
                    <a:pt x="102762" y="26246"/>
                  </a:cubicBezTo>
                  <a:cubicBezTo>
                    <a:pt x="107260" y="26246"/>
                    <a:pt x="112450" y="31081"/>
                    <a:pt x="112450" y="36951"/>
                  </a:cubicBezTo>
                  <a:lnTo>
                    <a:pt x="112450" y="68032"/>
                  </a:lnTo>
                  <a:cubicBezTo>
                    <a:pt x="112450" y="72867"/>
                    <a:pt x="110028" y="77011"/>
                    <a:pt x="105184" y="77011"/>
                  </a:cubicBezTo>
                  <a:lnTo>
                    <a:pt x="97918" y="77011"/>
                  </a:lnTo>
                  <a:lnTo>
                    <a:pt x="97918" y="102566"/>
                  </a:lnTo>
                  <a:lnTo>
                    <a:pt x="138054" y="102566"/>
                  </a:lnTo>
                  <a:lnTo>
                    <a:pt x="138054" y="38333"/>
                  </a:lnTo>
                  <a:cubicBezTo>
                    <a:pt x="138054" y="33153"/>
                    <a:pt x="138054" y="0"/>
                    <a:pt x="98956" y="0"/>
                  </a:cubicBezTo>
                  <a:lnTo>
                    <a:pt x="98956" y="0"/>
                  </a:lnTo>
                  <a:close/>
                </a:path>
              </a:pathLst>
            </a:custGeom>
            <a:grpFill/>
            <a:ln w="3458" cap="flat">
              <a:noFill/>
              <a:prstDash val="solid"/>
              <a:miter/>
            </a:ln>
          </p:spPr>
          <p:txBody>
            <a:bodyPr rtlCol="0" anchor="ctr"/>
            <a:lstStyle/>
            <a:p>
              <a:endParaRPr lang="en-US" sz="1800"/>
            </a:p>
          </p:txBody>
        </p:sp>
        <p:sp>
          <p:nvSpPr>
            <p:cNvPr id="29" name="Freeform 28">
              <a:extLst>
                <a:ext uri="{FF2B5EF4-FFF2-40B4-BE49-F238E27FC236}">
                  <a16:creationId xmlns:a16="http://schemas.microsoft.com/office/drawing/2014/main" id="{91427FBE-6FF2-E92A-973F-0A76280150DA}"/>
                </a:ext>
              </a:extLst>
            </p:cNvPr>
            <p:cNvSpPr/>
            <p:nvPr/>
          </p:nvSpPr>
          <p:spPr>
            <a:xfrm>
              <a:off x="9480453" y="7685087"/>
              <a:ext cx="30793" cy="25555"/>
            </a:xfrm>
            <a:custGeom>
              <a:avLst/>
              <a:gdLst>
                <a:gd name="connsiteX0" fmla="*/ 30448 w 30793"/>
                <a:gd name="connsiteY0" fmla="*/ 0 h 25555"/>
                <a:gd name="connsiteX1" fmla="*/ 30448 w 30793"/>
                <a:gd name="connsiteY1" fmla="*/ 25555 h 25555"/>
                <a:gd name="connsiteX2" fmla="*/ 24912 w 30793"/>
                <a:gd name="connsiteY2" fmla="*/ 25555 h 25555"/>
                <a:gd name="connsiteX3" fmla="*/ 24912 w 30793"/>
                <a:gd name="connsiteY3" fmla="*/ 5180 h 25555"/>
                <a:gd name="connsiteX4" fmla="*/ 24912 w 30793"/>
                <a:gd name="connsiteY4" fmla="*/ 5180 h 25555"/>
                <a:gd name="connsiteX5" fmla="*/ 17646 w 30793"/>
                <a:gd name="connsiteY5" fmla="*/ 25555 h 25555"/>
                <a:gd name="connsiteX6" fmla="*/ 12802 w 30793"/>
                <a:gd name="connsiteY6" fmla="*/ 25555 h 25555"/>
                <a:gd name="connsiteX7" fmla="*/ 5536 w 30793"/>
                <a:gd name="connsiteY7" fmla="*/ 5180 h 25555"/>
                <a:gd name="connsiteX8" fmla="*/ 5536 w 30793"/>
                <a:gd name="connsiteY8" fmla="*/ 5180 h 25555"/>
                <a:gd name="connsiteX9" fmla="*/ 5536 w 30793"/>
                <a:gd name="connsiteY9" fmla="*/ 25555 h 25555"/>
                <a:gd name="connsiteX10" fmla="*/ 0 w 30793"/>
                <a:gd name="connsiteY10" fmla="*/ 25555 h 25555"/>
                <a:gd name="connsiteX11" fmla="*/ 0 w 30793"/>
                <a:gd name="connsiteY11" fmla="*/ 0 h 25555"/>
                <a:gd name="connsiteX12" fmla="*/ 9688 w 30793"/>
                <a:gd name="connsiteY12" fmla="*/ 0 h 25555"/>
                <a:gd name="connsiteX13" fmla="*/ 15570 w 30793"/>
                <a:gd name="connsiteY13" fmla="*/ 17267 h 25555"/>
                <a:gd name="connsiteX14" fmla="*/ 15570 w 30793"/>
                <a:gd name="connsiteY14" fmla="*/ 17267 h 25555"/>
                <a:gd name="connsiteX15" fmla="*/ 21798 w 30793"/>
                <a:gd name="connsiteY15" fmla="*/ 0 h 25555"/>
                <a:gd name="connsiteX16" fmla="*/ 30794 w 30793"/>
                <a:gd name="connsiteY16" fmla="*/ 0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793" h="25555">
                  <a:moveTo>
                    <a:pt x="30448" y="0"/>
                  </a:moveTo>
                  <a:lnTo>
                    <a:pt x="30448" y="25555"/>
                  </a:lnTo>
                  <a:lnTo>
                    <a:pt x="24912" y="25555"/>
                  </a:lnTo>
                  <a:lnTo>
                    <a:pt x="24912" y="5180"/>
                  </a:lnTo>
                  <a:lnTo>
                    <a:pt x="24912" y="5180"/>
                  </a:lnTo>
                  <a:lnTo>
                    <a:pt x="17646" y="25555"/>
                  </a:lnTo>
                  <a:lnTo>
                    <a:pt x="12802" y="25555"/>
                  </a:lnTo>
                  <a:lnTo>
                    <a:pt x="5536" y="5180"/>
                  </a:lnTo>
                  <a:lnTo>
                    <a:pt x="5536" y="5180"/>
                  </a:lnTo>
                  <a:lnTo>
                    <a:pt x="5536" y="25555"/>
                  </a:lnTo>
                  <a:lnTo>
                    <a:pt x="0" y="25555"/>
                  </a:lnTo>
                  <a:lnTo>
                    <a:pt x="0" y="0"/>
                  </a:lnTo>
                  <a:lnTo>
                    <a:pt x="9688" y="0"/>
                  </a:lnTo>
                  <a:lnTo>
                    <a:pt x="15570" y="17267"/>
                  </a:lnTo>
                  <a:lnTo>
                    <a:pt x="15570" y="17267"/>
                  </a:lnTo>
                  <a:lnTo>
                    <a:pt x="21798" y="0"/>
                  </a:lnTo>
                  <a:lnTo>
                    <a:pt x="30794" y="0"/>
                  </a:lnTo>
                  <a:close/>
                </a:path>
              </a:pathLst>
            </a:custGeom>
            <a:grpFill/>
            <a:ln w="3458" cap="flat">
              <a:noFill/>
              <a:prstDash val="solid"/>
              <a:miter/>
            </a:ln>
          </p:spPr>
          <p:txBody>
            <a:bodyPr rtlCol="0" anchor="ctr"/>
            <a:lstStyle/>
            <a:p>
              <a:endParaRPr lang="en-US" sz="1800"/>
            </a:p>
          </p:txBody>
        </p:sp>
        <p:sp>
          <p:nvSpPr>
            <p:cNvPr id="30" name="Freeform 29">
              <a:extLst>
                <a:ext uri="{FF2B5EF4-FFF2-40B4-BE49-F238E27FC236}">
                  <a16:creationId xmlns:a16="http://schemas.microsoft.com/office/drawing/2014/main" id="{6E9A3582-36D4-3DB2-7408-DEC61231181B}"/>
                </a:ext>
              </a:extLst>
            </p:cNvPr>
            <p:cNvSpPr/>
            <p:nvPr/>
          </p:nvSpPr>
          <p:spPr>
            <a:xfrm>
              <a:off x="9453811" y="7685087"/>
              <a:ext cx="21451" cy="25555"/>
            </a:xfrm>
            <a:custGeom>
              <a:avLst/>
              <a:gdLst>
                <a:gd name="connsiteX0" fmla="*/ 13840 w 21451"/>
                <a:gd name="connsiteY0" fmla="*/ 4835 h 25555"/>
                <a:gd name="connsiteX1" fmla="*/ 13840 w 21451"/>
                <a:gd name="connsiteY1" fmla="*/ 25555 h 25555"/>
                <a:gd name="connsiteX2" fmla="*/ 7958 w 21451"/>
                <a:gd name="connsiteY2" fmla="*/ 25555 h 25555"/>
                <a:gd name="connsiteX3" fmla="*/ 7958 w 21451"/>
                <a:gd name="connsiteY3" fmla="*/ 4835 h 25555"/>
                <a:gd name="connsiteX4" fmla="*/ 0 w 21451"/>
                <a:gd name="connsiteY4" fmla="*/ 4835 h 25555"/>
                <a:gd name="connsiteX5" fmla="*/ 0 w 21451"/>
                <a:gd name="connsiteY5" fmla="*/ 0 h 25555"/>
                <a:gd name="connsiteX6" fmla="*/ 21452 w 21451"/>
                <a:gd name="connsiteY6" fmla="*/ 0 h 25555"/>
                <a:gd name="connsiteX7" fmla="*/ 21452 w 21451"/>
                <a:gd name="connsiteY7" fmla="*/ 4835 h 25555"/>
                <a:gd name="connsiteX8" fmla="*/ 13494 w 21451"/>
                <a:gd name="connsiteY8" fmla="*/ 4835 h 25555"/>
                <a:gd name="connsiteX9" fmla="*/ 13494 w 21451"/>
                <a:gd name="connsiteY9" fmla="*/ 4835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451" h="25555">
                  <a:moveTo>
                    <a:pt x="13840" y="4835"/>
                  </a:moveTo>
                  <a:lnTo>
                    <a:pt x="13840" y="25555"/>
                  </a:lnTo>
                  <a:lnTo>
                    <a:pt x="7958" y="25555"/>
                  </a:lnTo>
                  <a:lnTo>
                    <a:pt x="7958" y="4835"/>
                  </a:lnTo>
                  <a:lnTo>
                    <a:pt x="0" y="4835"/>
                  </a:lnTo>
                  <a:lnTo>
                    <a:pt x="0" y="0"/>
                  </a:lnTo>
                  <a:lnTo>
                    <a:pt x="21452" y="0"/>
                  </a:lnTo>
                  <a:lnTo>
                    <a:pt x="21452" y="4835"/>
                  </a:lnTo>
                  <a:lnTo>
                    <a:pt x="13494" y="4835"/>
                  </a:lnTo>
                  <a:lnTo>
                    <a:pt x="13494" y="4835"/>
                  </a:lnTo>
                  <a:close/>
                </a:path>
              </a:pathLst>
            </a:custGeom>
            <a:grpFill/>
            <a:ln w="3458" cap="flat">
              <a:noFill/>
              <a:prstDash val="solid"/>
              <a:miter/>
            </a:ln>
          </p:spPr>
          <p:txBody>
            <a:bodyPr rtlCol="0" anchor="ctr"/>
            <a:lstStyle/>
            <a:p>
              <a:endParaRPr lang="en-US" sz="1800"/>
            </a:p>
          </p:txBody>
        </p:sp>
      </p:grpSp>
      <p:sp>
        <p:nvSpPr>
          <p:cNvPr id="32" name="name_2024 sandisk or its affiliates All rights reserved">
            <a:extLst>
              <a:ext uri="{FF2B5EF4-FFF2-40B4-BE49-F238E27FC236}">
                <a16:creationId xmlns:a16="http://schemas.microsoft.com/office/drawing/2014/main" id="{643D72E0-7B3C-64A0-D80E-D1E987BA52CD}"/>
              </a:ext>
            </a:extLst>
          </p:cNvPr>
          <p:cNvSpPr txBox="1"/>
          <p:nvPr/>
        </p:nvSpPr>
        <p:spPr>
          <a:xfrm>
            <a:off x="6096000" y="6437971"/>
            <a:ext cx="5803900"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b">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r" defTabSz="609412" hangingPunct="0">
              <a:lnSpc>
                <a:spcPct val="100000"/>
              </a:lnSpc>
            </a:pPr>
            <a:r>
              <a:rPr lang="en-US" sz="1000" b="0" i="0" kern="0" spc="0" baseline="0">
                <a:solidFill>
                  <a:schemeClr val="tx2"/>
                </a:solidFill>
                <a:latin typeface="NB Architekt Pro Neue" panose="02010509020201040001" pitchFamily="49" charset="77"/>
                <a:cs typeface="Consolas" panose="020B0609020204030204" pitchFamily="49" charset="0"/>
              </a:rPr>
              <a:t>©2025 SANDISK CORPORATION OR ITS AFFILIATES ALL RIGHTS RESERVED</a:t>
            </a:r>
          </a:p>
        </p:txBody>
      </p:sp>
      <p:sp>
        <p:nvSpPr>
          <p:cNvPr id="33" name="name_2024 sandisk or its affiliates All rights reserved">
            <a:extLst>
              <a:ext uri="{FF2B5EF4-FFF2-40B4-BE49-F238E27FC236}">
                <a16:creationId xmlns:a16="http://schemas.microsoft.com/office/drawing/2014/main" id="{8E94B2FB-FB6B-7F08-A9EC-FB4F25889317}"/>
              </a:ext>
            </a:extLst>
          </p:cNvPr>
          <p:cNvSpPr txBox="1"/>
          <p:nvPr/>
        </p:nvSpPr>
        <p:spPr>
          <a:xfrm>
            <a:off x="8997951" y="267518"/>
            <a:ext cx="2242276"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tx1"/>
                </a:solidFill>
                <a:latin typeface="NB Architekt Pro Neue" panose="02010509020201040001" pitchFamily="49" charset="77"/>
                <a:cs typeface="Consolas" panose="020B0609020204030204" pitchFamily="49" charset="0"/>
              </a:rPr>
              <a:t>“START” “REPEAT” “1988/2025”</a:t>
            </a:r>
          </a:p>
        </p:txBody>
      </p:sp>
      <p:sp>
        <p:nvSpPr>
          <p:cNvPr id="34" name="Rectangle 33">
            <a:extLst>
              <a:ext uri="{FF2B5EF4-FFF2-40B4-BE49-F238E27FC236}">
                <a16:creationId xmlns:a16="http://schemas.microsoft.com/office/drawing/2014/main" id="{3A21EAF7-0FA9-C747-FADE-EB9909F140A5}"/>
              </a:ext>
            </a:extLst>
          </p:cNvPr>
          <p:cNvSpPr/>
          <p:nvPr/>
        </p:nvSpPr>
        <p:spPr>
          <a:xfrm>
            <a:off x="11808843" y="296581"/>
            <a:ext cx="91057" cy="9105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99711931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Only White">
    <p:bg>
      <p:bgPr>
        <a:solidFill>
          <a:schemeClr val="bg1"/>
        </a:solidFill>
        <a:effectLst/>
      </p:bgPr>
    </p:bg>
    <p:spTree>
      <p:nvGrpSpPr>
        <p:cNvPr id="1" name=""/>
        <p:cNvGrpSpPr/>
        <p:nvPr/>
      </p:nvGrpSpPr>
      <p:grpSpPr>
        <a:xfrm>
          <a:off x="0" y="0"/>
          <a:ext cx="0" cy="0"/>
          <a:chOff x="0" y="0"/>
          <a:chExt cx="0" cy="0"/>
        </a:xfrm>
      </p:grpSpPr>
      <p:sp>
        <p:nvSpPr>
          <p:cNvPr id="2" name="name_2024 sandisk or its affiliates All rights reserved">
            <a:extLst>
              <a:ext uri="{FF2B5EF4-FFF2-40B4-BE49-F238E27FC236}">
                <a16:creationId xmlns:a16="http://schemas.microsoft.com/office/drawing/2014/main" id="{642738AB-3A39-2252-D671-A3F2FA22F793}"/>
              </a:ext>
            </a:extLst>
          </p:cNvPr>
          <p:cNvSpPr txBox="1"/>
          <p:nvPr/>
        </p:nvSpPr>
        <p:spPr>
          <a:xfrm>
            <a:off x="292100" y="267518"/>
            <a:ext cx="1323975"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tx1"/>
                </a:solidFill>
                <a:latin typeface="NB Architekt Pro Neue" panose="02010509020201040001" pitchFamily="49" charset="77"/>
                <a:cs typeface="Consolas" panose="020B0609020204030204" pitchFamily="49" charset="0"/>
              </a:rPr>
              <a:t>[Confidential]</a:t>
            </a:r>
          </a:p>
        </p:txBody>
      </p:sp>
      <p:sp>
        <p:nvSpPr>
          <p:cNvPr id="45" name="Title 1">
            <a:extLst>
              <a:ext uri="{FF2B5EF4-FFF2-40B4-BE49-F238E27FC236}">
                <a16:creationId xmlns:a16="http://schemas.microsoft.com/office/drawing/2014/main" id="{62239A96-4E89-32CE-B159-D2D7803736E7}"/>
              </a:ext>
            </a:extLst>
          </p:cNvPr>
          <p:cNvSpPr>
            <a:spLocks noGrp="1"/>
          </p:cNvSpPr>
          <p:nvPr>
            <p:ph type="title" hasCustomPrompt="1"/>
          </p:nvPr>
        </p:nvSpPr>
        <p:spPr>
          <a:xfrm>
            <a:off x="292100" y="439244"/>
            <a:ext cx="11607800" cy="1425347"/>
          </a:xfrm>
          <a:prstGeom prst="rect">
            <a:avLst/>
          </a:prstGeom>
        </p:spPr>
        <p:txBody>
          <a:bodyPr wrap="square" lIns="0" anchor="b">
            <a:noAutofit/>
          </a:bodyPr>
          <a:lstStyle>
            <a:lvl1pPr>
              <a:lnSpc>
                <a:spcPct val="100000"/>
              </a:lnSpc>
              <a:defRPr sz="3000" b="0" spc="0" baseline="0">
                <a:solidFill>
                  <a:schemeClr val="tx1"/>
                </a:solidFill>
                <a:latin typeface="+mj-lt"/>
              </a:defRPr>
            </a:lvl1pPr>
          </a:lstStyle>
          <a:p>
            <a:r>
              <a:rPr lang="en-US"/>
              <a:t>CLICK TO ADD TITLE</a:t>
            </a:r>
          </a:p>
        </p:txBody>
      </p:sp>
      <p:sp>
        <p:nvSpPr>
          <p:cNvPr id="4" name="Slide Number Placeholder 5">
            <a:extLst>
              <a:ext uri="{FF2B5EF4-FFF2-40B4-BE49-F238E27FC236}">
                <a16:creationId xmlns:a16="http://schemas.microsoft.com/office/drawing/2014/main" id="{44AF6968-53B8-DA7A-894B-17605E587FBB}"/>
              </a:ext>
            </a:extLst>
          </p:cNvPr>
          <p:cNvSpPr>
            <a:spLocks noGrp="1"/>
          </p:cNvSpPr>
          <p:nvPr>
            <p:ph type="sldNum" sz="quarter" idx="4"/>
          </p:nvPr>
        </p:nvSpPr>
        <p:spPr>
          <a:xfrm>
            <a:off x="3194050" y="6455472"/>
            <a:ext cx="855221" cy="118872"/>
          </a:xfrm>
          <a:prstGeom prst="rect">
            <a:avLst/>
          </a:prstGeom>
        </p:spPr>
        <p:txBody>
          <a:bodyPr vert="horz" lIns="0" tIns="0" rIns="0" bIns="0" rtlCol="0" anchor="ctr"/>
          <a:lstStyle>
            <a:lvl1pPr algn="l">
              <a:defRPr sz="1000" b="0" i="0" spc="0" baseline="0">
                <a:solidFill>
                  <a:schemeClr val="tx1"/>
                </a:solidFill>
                <a:latin typeface="NB Architekt Pro Neue" panose="02010509020201040001" pitchFamily="49" charset="77"/>
                <a:cs typeface="Consolas" panose="020B0609020204030204" pitchFamily="49" charset="0"/>
              </a:defRPr>
            </a:lvl1pPr>
          </a:lstStyle>
          <a:p>
            <a:r>
              <a:rPr lang="en-US"/>
              <a:t>00.0</a:t>
            </a:r>
            <a:fld id="{4571BA12-316B-0A40-BB3D-1A8CDD33E9E5}" type="slidenum">
              <a:rPr lang="en-US" smtClean="0"/>
              <a:pPr/>
              <a:t>‹#›</a:t>
            </a:fld>
            <a:endParaRPr lang="en-US"/>
          </a:p>
        </p:txBody>
      </p:sp>
      <p:grpSp>
        <p:nvGrpSpPr>
          <p:cNvPr id="19" name="Group 18">
            <a:extLst>
              <a:ext uri="{FF2B5EF4-FFF2-40B4-BE49-F238E27FC236}">
                <a16:creationId xmlns:a16="http://schemas.microsoft.com/office/drawing/2014/main" id="{7F0406A0-E371-CCA0-0E3C-011931EE09EC}"/>
              </a:ext>
            </a:extLst>
          </p:cNvPr>
          <p:cNvGrpSpPr>
            <a:grpSpLocks noChangeAspect="1"/>
          </p:cNvGrpSpPr>
          <p:nvPr/>
        </p:nvGrpSpPr>
        <p:grpSpPr>
          <a:xfrm>
            <a:off x="297027" y="6344485"/>
            <a:ext cx="2240280" cy="218081"/>
            <a:chOff x="8480170" y="7684742"/>
            <a:chExt cx="1031076" cy="102566"/>
          </a:xfrm>
          <a:solidFill>
            <a:schemeClr val="accent3"/>
          </a:solidFill>
        </p:grpSpPr>
        <p:sp>
          <p:nvSpPr>
            <p:cNvPr id="20" name="Freeform 19">
              <a:extLst>
                <a:ext uri="{FF2B5EF4-FFF2-40B4-BE49-F238E27FC236}">
                  <a16:creationId xmlns:a16="http://schemas.microsoft.com/office/drawing/2014/main" id="{D64245B2-0CB5-7B8B-CC15-AE5BA4296F27}"/>
                </a:ext>
              </a:extLst>
            </p:cNvPr>
            <p:cNvSpPr/>
            <p:nvPr/>
          </p:nvSpPr>
          <p:spPr>
            <a:xfrm>
              <a:off x="8788109" y="7684742"/>
              <a:ext cx="128019" cy="102565"/>
            </a:xfrm>
            <a:custGeom>
              <a:avLst/>
              <a:gdLst>
                <a:gd name="connsiteX0" fmla="*/ 102070 w 128019"/>
                <a:gd name="connsiteY0" fmla="*/ 70104 h 102565"/>
                <a:gd name="connsiteX1" fmla="*/ 96188 w 128019"/>
                <a:gd name="connsiteY1" fmla="*/ 77011 h 102565"/>
                <a:gd name="connsiteX2" fmla="*/ 89268 w 128019"/>
                <a:gd name="connsiteY2" fmla="*/ 72521 h 102565"/>
                <a:gd name="connsiteX3" fmla="*/ 65740 w 128019"/>
                <a:gd name="connsiteY3" fmla="*/ 8288 h 102565"/>
                <a:gd name="connsiteX4" fmla="*/ 54668 w 128019"/>
                <a:gd name="connsiteY4" fmla="*/ 0 h 102565"/>
                <a:gd name="connsiteX5" fmla="*/ 0 w 128019"/>
                <a:gd name="connsiteY5" fmla="*/ 0 h 102565"/>
                <a:gd name="connsiteX6" fmla="*/ 0 w 128019"/>
                <a:gd name="connsiteY6" fmla="*/ 102221 h 102565"/>
                <a:gd name="connsiteX7" fmla="*/ 40136 w 128019"/>
                <a:gd name="connsiteY7" fmla="*/ 102221 h 102565"/>
                <a:gd name="connsiteX8" fmla="*/ 40136 w 128019"/>
                <a:gd name="connsiteY8" fmla="*/ 76665 h 102565"/>
                <a:gd name="connsiteX9" fmla="*/ 32870 w 128019"/>
                <a:gd name="connsiteY9" fmla="*/ 76665 h 102565"/>
                <a:gd name="connsiteX10" fmla="*/ 25604 w 128019"/>
                <a:gd name="connsiteY10" fmla="*/ 67687 h 102565"/>
                <a:gd name="connsiteX11" fmla="*/ 25604 w 128019"/>
                <a:gd name="connsiteY11" fmla="*/ 36951 h 102565"/>
                <a:gd name="connsiteX12" fmla="*/ 39790 w 128019"/>
                <a:gd name="connsiteY12" fmla="*/ 26591 h 102565"/>
                <a:gd name="connsiteX13" fmla="*/ 45672 w 128019"/>
                <a:gd name="connsiteY13" fmla="*/ 32807 h 102565"/>
                <a:gd name="connsiteX14" fmla="*/ 64356 w 128019"/>
                <a:gd name="connsiteY14" fmla="*/ 81500 h 102565"/>
                <a:gd name="connsiteX15" fmla="*/ 95150 w 128019"/>
                <a:gd name="connsiteY15" fmla="*/ 102566 h 102565"/>
                <a:gd name="connsiteX16" fmla="*/ 95842 w 128019"/>
                <a:gd name="connsiteY16" fmla="*/ 102566 h 102565"/>
                <a:gd name="connsiteX17" fmla="*/ 128020 w 128019"/>
                <a:gd name="connsiteY17" fmla="*/ 70795 h 102565"/>
                <a:gd name="connsiteX18" fmla="*/ 128020 w 128019"/>
                <a:gd name="connsiteY18" fmla="*/ 345 h 102565"/>
                <a:gd name="connsiteX19" fmla="*/ 102416 w 128019"/>
                <a:gd name="connsiteY19" fmla="*/ 345 h 102565"/>
                <a:gd name="connsiteX20" fmla="*/ 102416 w 128019"/>
                <a:gd name="connsiteY20" fmla="*/ 70104 h 102565"/>
                <a:gd name="connsiteX21" fmla="*/ 102416 w 128019"/>
                <a:gd name="connsiteY21" fmla="*/ 70104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8019" h="102565">
                  <a:moveTo>
                    <a:pt x="102070" y="70104"/>
                  </a:moveTo>
                  <a:cubicBezTo>
                    <a:pt x="102070" y="73557"/>
                    <a:pt x="99648" y="76665"/>
                    <a:pt x="96188" y="77011"/>
                  </a:cubicBezTo>
                  <a:cubicBezTo>
                    <a:pt x="93074" y="77356"/>
                    <a:pt x="90306" y="75629"/>
                    <a:pt x="89268" y="72521"/>
                  </a:cubicBezTo>
                  <a:lnTo>
                    <a:pt x="65740" y="8288"/>
                  </a:lnTo>
                  <a:cubicBezTo>
                    <a:pt x="64010" y="3108"/>
                    <a:pt x="59858" y="0"/>
                    <a:pt x="54668" y="0"/>
                  </a:cubicBezTo>
                  <a:lnTo>
                    <a:pt x="0" y="0"/>
                  </a:lnTo>
                  <a:lnTo>
                    <a:pt x="0" y="102221"/>
                  </a:lnTo>
                  <a:lnTo>
                    <a:pt x="40136" y="102221"/>
                  </a:lnTo>
                  <a:lnTo>
                    <a:pt x="40136" y="76665"/>
                  </a:lnTo>
                  <a:lnTo>
                    <a:pt x="32870" y="76665"/>
                  </a:lnTo>
                  <a:cubicBezTo>
                    <a:pt x="28026" y="76665"/>
                    <a:pt x="25604" y="72521"/>
                    <a:pt x="25604" y="67687"/>
                  </a:cubicBezTo>
                  <a:lnTo>
                    <a:pt x="25604" y="36951"/>
                  </a:lnTo>
                  <a:cubicBezTo>
                    <a:pt x="25604" y="29354"/>
                    <a:pt x="32870" y="23828"/>
                    <a:pt x="39790" y="26591"/>
                  </a:cubicBezTo>
                  <a:cubicBezTo>
                    <a:pt x="42212" y="27627"/>
                    <a:pt x="44634" y="30045"/>
                    <a:pt x="45672" y="32807"/>
                  </a:cubicBezTo>
                  <a:lnTo>
                    <a:pt x="64356" y="81500"/>
                  </a:lnTo>
                  <a:cubicBezTo>
                    <a:pt x="69200" y="94278"/>
                    <a:pt x="81310" y="102566"/>
                    <a:pt x="95150" y="102566"/>
                  </a:cubicBezTo>
                  <a:lnTo>
                    <a:pt x="95842" y="102566"/>
                  </a:lnTo>
                  <a:cubicBezTo>
                    <a:pt x="113488" y="102566"/>
                    <a:pt x="128020" y="88407"/>
                    <a:pt x="128020" y="70795"/>
                  </a:cubicBezTo>
                  <a:lnTo>
                    <a:pt x="128020" y="345"/>
                  </a:lnTo>
                  <a:lnTo>
                    <a:pt x="102416" y="345"/>
                  </a:lnTo>
                  <a:lnTo>
                    <a:pt x="102416" y="70104"/>
                  </a:lnTo>
                  <a:lnTo>
                    <a:pt x="102416" y="70104"/>
                  </a:lnTo>
                  <a:close/>
                </a:path>
              </a:pathLst>
            </a:custGeom>
            <a:grpFill/>
            <a:ln w="3458" cap="flat">
              <a:noFill/>
              <a:prstDash val="solid"/>
              <a:miter/>
            </a:ln>
          </p:spPr>
          <p:txBody>
            <a:bodyPr rtlCol="0" anchor="ctr"/>
            <a:lstStyle/>
            <a:p>
              <a:endParaRPr lang="en-US" sz="1800"/>
            </a:p>
          </p:txBody>
        </p:sp>
        <p:sp>
          <p:nvSpPr>
            <p:cNvPr id="21" name="Freeform 20">
              <a:extLst>
                <a:ext uri="{FF2B5EF4-FFF2-40B4-BE49-F238E27FC236}">
                  <a16:creationId xmlns:a16="http://schemas.microsoft.com/office/drawing/2014/main" id="{2FF7457D-84BE-C4EA-EC45-E88013B6E66B}"/>
                </a:ext>
              </a:extLst>
            </p:cNvPr>
            <p:cNvSpPr/>
            <p:nvPr/>
          </p:nvSpPr>
          <p:spPr>
            <a:xfrm>
              <a:off x="8941733" y="7685087"/>
              <a:ext cx="128019" cy="102220"/>
            </a:xfrm>
            <a:custGeom>
              <a:avLst/>
              <a:gdLst>
                <a:gd name="connsiteX0" fmla="*/ 76812 w 128019"/>
                <a:gd name="connsiteY0" fmla="*/ 0 h 102220"/>
                <a:gd name="connsiteX1" fmla="*/ 0 w 128019"/>
                <a:gd name="connsiteY1" fmla="*/ 0 h 102220"/>
                <a:gd name="connsiteX2" fmla="*/ 0 w 128019"/>
                <a:gd name="connsiteY2" fmla="*/ 25555 h 102220"/>
                <a:gd name="connsiteX3" fmla="*/ 76812 w 128019"/>
                <a:gd name="connsiteY3" fmla="*/ 25555 h 102220"/>
                <a:gd name="connsiteX4" fmla="*/ 102416 w 128019"/>
                <a:gd name="connsiteY4" fmla="*/ 51110 h 102220"/>
                <a:gd name="connsiteX5" fmla="*/ 76812 w 128019"/>
                <a:gd name="connsiteY5" fmla="*/ 76665 h 102220"/>
                <a:gd name="connsiteX6" fmla="*/ 0 w 128019"/>
                <a:gd name="connsiteY6" fmla="*/ 76665 h 102220"/>
                <a:gd name="connsiteX7" fmla="*/ 0 w 128019"/>
                <a:gd name="connsiteY7" fmla="*/ 102221 h 102220"/>
                <a:gd name="connsiteX8" fmla="*/ 76812 w 128019"/>
                <a:gd name="connsiteY8" fmla="*/ 102221 h 102220"/>
                <a:gd name="connsiteX9" fmla="*/ 121792 w 128019"/>
                <a:gd name="connsiteY9" fmla="*/ 75629 h 102220"/>
                <a:gd name="connsiteX10" fmla="*/ 128020 w 128019"/>
                <a:gd name="connsiteY10" fmla="*/ 51110 h 102220"/>
                <a:gd name="connsiteX11" fmla="*/ 121792 w 128019"/>
                <a:gd name="connsiteY11" fmla="*/ 26591 h 102220"/>
                <a:gd name="connsiteX12" fmla="*/ 76812 w 128019"/>
                <a:gd name="connsiteY12" fmla="*/ 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8019" h="102220">
                  <a:moveTo>
                    <a:pt x="76812" y="0"/>
                  </a:moveTo>
                  <a:lnTo>
                    <a:pt x="0" y="0"/>
                  </a:lnTo>
                  <a:lnTo>
                    <a:pt x="0" y="25555"/>
                  </a:lnTo>
                  <a:lnTo>
                    <a:pt x="76812" y="25555"/>
                  </a:lnTo>
                  <a:cubicBezTo>
                    <a:pt x="90306" y="25555"/>
                    <a:pt x="102416" y="37297"/>
                    <a:pt x="102416" y="51110"/>
                  </a:cubicBezTo>
                  <a:cubicBezTo>
                    <a:pt x="102416" y="64924"/>
                    <a:pt x="90652" y="76665"/>
                    <a:pt x="76812" y="76665"/>
                  </a:cubicBezTo>
                  <a:lnTo>
                    <a:pt x="0" y="76665"/>
                  </a:lnTo>
                  <a:lnTo>
                    <a:pt x="0" y="102221"/>
                  </a:lnTo>
                  <a:lnTo>
                    <a:pt x="76812" y="102221"/>
                  </a:lnTo>
                  <a:cubicBezTo>
                    <a:pt x="96188" y="102221"/>
                    <a:pt x="113142" y="91515"/>
                    <a:pt x="121792" y="75629"/>
                  </a:cubicBezTo>
                  <a:cubicBezTo>
                    <a:pt x="125598" y="68377"/>
                    <a:pt x="128020" y="59744"/>
                    <a:pt x="128020" y="51110"/>
                  </a:cubicBezTo>
                  <a:cubicBezTo>
                    <a:pt x="128020" y="42477"/>
                    <a:pt x="125598" y="33843"/>
                    <a:pt x="121792" y="26591"/>
                  </a:cubicBezTo>
                  <a:cubicBezTo>
                    <a:pt x="113142" y="10706"/>
                    <a:pt x="96188" y="0"/>
                    <a:pt x="76812" y="0"/>
                  </a:cubicBezTo>
                  <a:close/>
                </a:path>
              </a:pathLst>
            </a:custGeom>
            <a:grpFill/>
            <a:ln w="3458" cap="flat">
              <a:noFill/>
              <a:prstDash val="solid"/>
              <a:miter/>
            </a:ln>
          </p:spPr>
          <p:txBody>
            <a:bodyPr rtlCol="0" anchor="ctr"/>
            <a:lstStyle/>
            <a:p>
              <a:endParaRPr lang="en-US" sz="1800"/>
            </a:p>
          </p:txBody>
        </p:sp>
        <p:sp>
          <p:nvSpPr>
            <p:cNvPr id="22" name="Freeform 21">
              <a:extLst>
                <a:ext uri="{FF2B5EF4-FFF2-40B4-BE49-F238E27FC236}">
                  <a16:creationId xmlns:a16="http://schemas.microsoft.com/office/drawing/2014/main" id="{7A08D193-7FD6-1CBA-BC5D-3B74B7BCBF16}"/>
                </a:ext>
              </a:extLst>
            </p:cNvPr>
            <p:cNvSpPr/>
            <p:nvPr/>
          </p:nvSpPr>
          <p:spPr>
            <a:xfrm>
              <a:off x="9080478" y="7685087"/>
              <a:ext cx="40481" cy="102220"/>
            </a:xfrm>
            <a:custGeom>
              <a:avLst/>
              <a:gdLst>
                <a:gd name="connsiteX0" fmla="*/ 5190 w 40481"/>
                <a:gd name="connsiteY0" fmla="*/ 25555 h 102220"/>
                <a:gd name="connsiteX1" fmla="*/ 7266 w 40481"/>
                <a:gd name="connsiteY1" fmla="*/ 25555 h 102220"/>
                <a:gd name="connsiteX2" fmla="*/ 14878 w 40481"/>
                <a:gd name="connsiteY2" fmla="*/ 35225 h 102220"/>
                <a:gd name="connsiteX3" fmla="*/ 14878 w 40481"/>
                <a:gd name="connsiteY3" fmla="*/ 102221 h 102220"/>
                <a:gd name="connsiteX4" fmla="*/ 40482 w 40481"/>
                <a:gd name="connsiteY4" fmla="*/ 102221 h 102220"/>
                <a:gd name="connsiteX5" fmla="*/ 40482 w 40481"/>
                <a:gd name="connsiteY5" fmla="*/ 0 h 102220"/>
                <a:gd name="connsiteX6" fmla="*/ 0 w 40481"/>
                <a:gd name="connsiteY6" fmla="*/ 0 h 102220"/>
                <a:gd name="connsiteX7" fmla="*/ 0 w 40481"/>
                <a:gd name="connsiteY7" fmla="*/ 25555 h 102220"/>
                <a:gd name="connsiteX8" fmla="*/ 5536 w 40481"/>
                <a:gd name="connsiteY8" fmla="*/ 25555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481" h="102220">
                  <a:moveTo>
                    <a:pt x="5190" y="25555"/>
                  </a:moveTo>
                  <a:cubicBezTo>
                    <a:pt x="5882" y="25555"/>
                    <a:pt x="6574" y="25555"/>
                    <a:pt x="7266" y="25555"/>
                  </a:cubicBezTo>
                  <a:cubicBezTo>
                    <a:pt x="12110" y="26246"/>
                    <a:pt x="14878" y="30045"/>
                    <a:pt x="14878" y="35225"/>
                  </a:cubicBezTo>
                  <a:lnTo>
                    <a:pt x="14878" y="102221"/>
                  </a:lnTo>
                  <a:lnTo>
                    <a:pt x="40482" y="102221"/>
                  </a:lnTo>
                  <a:lnTo>
                    <a:pt x="40482" y="0"/>
                  </a:lnTo>
                  <a:lnTo>
                    <a:pt x="0" y="0"/>
                  </a:lnTo>
                  <a:lnTo>
                    <a:pt x="0" y="25555"/>
                  </a:lnTo>
                  <a:lnTo>
                    <a:pt x="5536" y="25555"/>
                  </a:lnTo>
                  <a:close/>
                </a:path>
              </a:pathLst>
            </a:custGeom>
            <a:grpFill/>
            <a:ln w="3458" cap="flat">
              <a:noFill/>
              <a:prstDash val="solid"/>
              <a:miter/>
            </a:ln>
          </p:spPr>
          <p:txBody>
            <a:bodyPr rtlCol="0" anchor="ctr"/>
            <a:lstStyle/>
            <a:p>
              <a:endParaRPr lang="en-US" sz="1800"/>
            </a:p>
          </p:txBody>
        </p:sp>
        <p:sp>
          <p:nvSpPr>
            <p:cNvPr id="23" name="Freeform 22">
              <a:extLst>
                <a:ext uri="{FF2B5EF4-FFF2-40B4-BE49-F238E27FC236}">
                  <a16:creationId xmlns:a16="http://schemas.microsoft.com/office/drawing/2014/main" id="{7EB08EFB-08ED-E974-2DAA-2DEC28F0E39B}"/>
                </a:ext>
              </a:extLst>
            </p:cNvPr>
            <p:cNvSpPr/>
            <p:nvPr/>
          </p:nvSpPr>
          <p:spPr>
            <a:xfrm>
              <a:off x="9146218" y="7685087"/>
              <a:ext cx="128365" cy="102220"/>
            </a:xfrm>
            <a:custGeom>
              <a:avLst/>
              <a:gdLst>
                <a:gd name="connsiteX0" fmla="*/ 128365 w 128365"/>
                <a:gd name="connsiteY0" fmla="*/ 81846 h 102220"/>
                <a:gd name="connsiteX1" fmla="*/ 128365 w 128365"/>
                <a:gd name="connsiteY1" fmla="*/ 102221 h 102220"/>
                <a:gd name="connsiteX2" fmla="*/ 19722 w 128365"/>
                <a:gd name="connsiteY2" fmla="*/ 60780 h 102220"/>
                <a:gd name="connsiteX3" fmla="*/ 0 w 128365"/>
                <a:gd name="connsiteY3" fmla="*/ 30735 h 102220"/>
                <a:gd name="connsiteX4" fmla="*/ 31140 w 128365"/>
                <a:gd name="connsiteY4" fmla="*/ 0 h 102220"/>
                <a:gd name="connsiteX5" fmla="*/ 128020 w 128365"/>
                <a:gd name="connsiteY5" fmla="*/ 0 h 102220"/>
                <a:gd name="connsiteX6" fmla="*/ 128020 w 128365"/>
                <a:gd name="connsiteY6" fmla="*/ 40059 h 102220"/>
                <a:gd name="connsiteX7" fmla="*/ 102416 w 128365"/>
                <a:gd name="connsiteY7" fmla="*/ 40059 h 102220"/>
                <a:gd name="connsiteX8" fmla="*/ 102416 w 128365"/>
                <a:gd name="connsiteY8" fmla="*/ 32807 h 102220"/>
                <a:gd name="connsiteX9" fmla="*/ 94458 w 128365"/>
                <a:gd name="connsiteY9" fmla="*/ 25555 h 102220"/>
                <a:gd name="connsiteX10" fmla="*/ 37714 w 128365"/>
                <a:gd name="connsiteY10" fmla="*/ 25555 h 102220"/>
                <a:gd name="connsiteX11" fmla="*/ 29756 w 128365"/>
                <a:gd name="connsiteY11" fmla="*/ 33498 h 102220"/>
                <a:gd name="connsiteX12" fmla="*/ 34946 w 128365"/>
                <a:gd name="connsiteY12" fmla="*/ 41095 h 102220"/>
                <a:gd name="connsiteX13" fmla="*/ 119370 w 128365"/>
                <a:gd name="connsiteY13" fmla="*/ 70795 h 102220"/>
                <a:gd name="connsiteX14" fmla="*/ 127674 w 128365"/>
                <a:gd name="connsiteY14"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8365" h="102220">
                  <a:moveTo>
                    <a:pt x="128365" y="81846"/>
                  </a:moveTo>
                  <a:lnTo>
                    <a:pt x="128365"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close/>
                </a:path>
              </a:pathLst>
            </a:custGeom>
            <a:grpFill/>
            <a:ln w="3458" cap="flat">
              <a:noFill/>
              <a:prstDash val="solid"/>
              <a:miter/>
            </a:ln>
          </p:spPr>
          <p:txBody>
            <a:bodyPr rtlCol="0" anchor="ctr"/>
            <a:lstStyle/>
            <a:p>
              <a:endParaRPr lang="en-US" sz="1800"/>
            </a:p>
          </p:txBody>
        </p:sp>
        <p:sp>
          <p:nvSpPr>
            <p:cNvPr id="24" name="Freeform 23">
              <a:extLst>
                <a:ext uri="{FF2B5EF4-FFF2-40B4-BE49-F238E27FC236}">
                  <a16:creationId xmlns:a16="http://schemas.microsoft.com/office/drawing/2014/main" id="{0ED1BC95-58DF-138C-CDA1-26DFC53D4DCF}"/>
                </a:ext>
              </a:extLst>
            </p:cNvPr>
            <p:cNvSpPr/>
            <p:nvPr/>
          </p:nvSpPr>
          <p:spPr>
            <a:xfrm>
              <a:off x="9146564" y="7761753"/>
              <a:ext cx="25258" cy="25555"/>
            </a:xfrm>
            <a:custGeom>
              <a:avLst/>
              <a:gdLst>
                <a:gd name="connsiteX0" fmla="*/ 25258 w 25258"/>
                <a:gd name="connsiteY0" fmla="*/ 0 h 25555"/>
                <a:gd name="connsiteX1" fmla="*/ 0 w 25258"/>
                <a:gd name="connsiteY1" fmla="*/ 0 h 25555"/>
                <a:gd name="connsiteX2" fmla="*/ 0 w 25258"/>
                <a:gd name="connsiteY2" fmla="*/ 25555 h 25555"/>
                <a:gd name="connsiteX3" fmla="*/ 25258 w 25258"/>
                <a:gd name="connsiteY3" fmla="*/ 25555 h 25555"/>
                <a:gd name="connsiteX4" fmla="*/ 25258 w 25258"/>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8"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25" name="Freeform 24">
              <a:extLst>
                <a:ext uri="{FF2B5EF4-FFF2-40B4-BE49-F238E27FC236}">
                  <a16:creationId xmlns:a16="http://schemas.microsoft.com/office/drawing/2014/main" id="{10BDCFD7-3FBF-9E3E-E741-AA0496901016}"/>
                </a:ext>
              </a:extLst>
            </p:cNvPr>
            <p:cNvSpPr/>
            <p:nvPr/>
          </p:nvSpPr>
          <p:spPr>
            <a:xfrm>
              <a:off x="8480170" y="7685087"/>
              <a:ext cx="128019" cy="102220"/>
            </a:xfrm>
            <a:custGeom>
              <a:avLst/>
              <a:gdLst>
                <a:gd name="connsiteX0" fmla="*/ 128020 w 128019"/>
                <a:gd name="connsiteY0" fmla="*/ 81846 h 102220"/>
                <a:gd name="connsiteX1" fmla="*/ 128020 w 128019"/>
                <a:gd name="connsiteY1" fmla="*/ 102221 h 102220"/>
                <a:gd name="connsiteX2" fmla="*/ 19722 w 128019"/>
                <a:gd name="connsiteY2" fmla="*/ 60780 h 102220"/>
                <a:gd name="connsiteX3" fmla="*/ 0 w 128019"/>
                <a:gd name="connsiteY3" fmla="*/ 30735 h 102220"/>
                <a:gd name="connsiteX4" fmla="*/ 31140 w 128019"/>
                <a:gd name="connsiteY4" fmla="*/ 0 h 102220"/>
                <a:gd name="connsiteX5" fmla="*/ 128020 w 128019"/>
                <a:gd name="connsiteY5" fmla="*/ 0 h 102220"/>
                <a:gd name="connsiteX6" fmla="*/ 128020 w 128019"/>
                <a:gd name="connsiteY6" fmla="*/ 40059 h 102220"/>
                <a:gd name="connsiteX7" fmla="*/ 102416 w 128019"/>
                <a:gd name="connsiteY7" fmla="*/ 40059 h 102220"/>
                <a:gd name="connsiteX8" fmla="*/ 102416 w 128019"/>
                <a:gd name="connsiteY8" fmla="*/ 32807 h 102220"/>
                <a:gd name="connsiteX9" fmla="*/ 94458 w 128019"/>
                <a:gd name="connsiteY9" fmla="*/ 25555 h 102220"/>
                <a:gd name="connsiteX10" fmla="*/ 37714 w 128019"/>
                <a:gd name="connsiteY10" fmla="*/ 25555 h 102220"/>
                <a:gd name="connsiteX11" fmla="*/ 29756 w 128019"/>
                <a:gd name="connsiteY11" fmla="*/ 33498 h 102220"/>
                <a:gd name="connsiteX12" fmla="*/ 34946 w 128019"/>
                <a:gd name="connsiteY12" fmla="*/ 41095 h 102220"/>
                <a:gd name="connsiteX13" fmla="*/ 119370 w 128019"/>
                <a:gd name="connsiteY13" fmla="*/ 70795 h 102220"/>
                <a:gd name="connsiteX14" fmla="*/ 127674 w 128019"/>
                <a:gd name="connsiteY14" fmla="*/ 81846 h 102220"/>
                <a:gd name="connsiteX15" fmla="*/ 127674 w 128019"/>
                <a:gd name="connsiteY15"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8019" h="102220">
                  <a:moveTo>
                    <a:pt x="128020" y="81846"/>
                  </a:moveTo>
                  <a:lnTo>
                    <a:pt x="128020"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lnTo>
                    <a:pt x="127674" y="81846"/>
                  </a:lnTo>
                  <a:close/>
                </a:path>
              </a:pathLst>
            </a:custGeom>
            <a:grpFill/>
            <a:ln w="3458" cap="flat">
              <a:noFill/>
              <a:prstDash val="solid"/>
              <a:miter/>
            </a:ln>
          </p:spPr>
          <p:txBody>
            <a:bodyPr rtlCol="0" anchor="ctr"/>
            <a:lstStyle/>
            <a:p>
              <a:endParaRPr lang="en-US" sz="1800"/>
            </a:p>
          </p:txBody>
        </p:sp>
        <p:sp>
          <p:nvSpPr>
            <p:cNvPr id="26" name="Freeform 25">
              <a:extLst>
                <a:ext uri="{FF2B5EF4-FFF2-40B4-BE49-F238E27FC236}">
                  <a16:creationId xmlns:a16="http://schemas.microsoft.com/office/drawing/2014/main" id="{23FA7BB8-3B27-1071-F195-CFD17D443085}"/>
                </a:ext>
              </a:extLst>
            </p:cNvPr>
            <p:cNvSpPr/>
            <p:nvPr/>
          </p:nvSpPr>
          <p:spPr>
            <a:xfrm>
              <a:off x="8480516" y="7761753"/>
              <a:ext cx="25257" cy="25555"/>
            </a:xfrm>
            <a:custGeom>
              <a:avLst/>
              <a:gdLst>
                <a:gd name="connsiteX0" fmla="*/ 25258 w 25257"/>
                <a:gd name="connsiteY0" fmla="*/ 0 h 25555"/>
                <a:gd name="connsiteX1" fmla="*/ 0 w 25257"/>
                <a:gd name="connsiteY1" fmla="*/ 0 h 25555"/>
                <a:gd name="connsiteX2" fmla="*/ 0 w 25257"/>
                <a:gd name="connsiteY2" fmla="*/ 25555 h 25555"/>
                <a:gd name="connsiteX3" fmla="*/ 25258 w 25257"/>
                <a:gd name="connsiteY3" fmla="*/ 25555 h 25555"/>
                <a:gd name="connsiteX4" fmla="*/ 25258 w 25257"/>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7"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27" name="Freeform 26">
              <a:extLst>
                <a:ext uri="{FF2B5EF4-FFF2-40B4-BE49-F238E27FC236}">
                  <a16:creationId xmlns:a16="http://schemas.microsoft.com/office/drawing/2014/main" id="{4BAE674E-096B-E0A5-B7C3-120F887949EF}"/>
                </a:ext>
              </a:extLst>
            </p:cNvPr>
            <p:cNvSpPr/>
            <p:nvPr/>
          </p:nvSpPr>
          <p:spPr>
            <a:xfrm>
              <a:off x="9300533" y="7685087"/>
              <a:ext cx="128019" cy="102220"/>
            </a:xfrm>
            <a:custGeom>
              <a:avLst/>
              <a:gdLst>
                <a:gd name="connsiteX0" fmla="*/ 128020 w 128019"/>
                <a:gd name="connsiteY0" fmla="*/ 25555 h 102220"/>
                <a:gd name="connsiteX1" fmla="*/ 128020 w 128019"/>
                <a:gd name="connsiteY1" fmla="*/ 0 h 102220"/>
                <a:gd name="connsiteX2" fmla="*/ 105530 w 128019"/>
                <a:gd name="connsiteY2" fmla="*/ 0 h 102220"/>
                <a:gd name="connsiteX3" fmla="*/ 100686 w 128019"/>
                <a:gd name="connsiteY3" fmla="*/ 1727 h 102220"/>
                <a:gd name="connsiteX4" fmla="*/ 60550 w 128019"/>
                <a:gd name="connsiteY4" fmla="*/ 37987 h 102220"/>
                <a:gd name="connsiteX5" fmla="*/ 56398 w 128019"/>
                <a:gd name="connsiteY5" fmla="*/ 39714 h 102220"/>
                <a:gd name="connsiteX6" fmla="*/ 28372 w 128019"/>
                <a:gd name="connsiteY6" fmla="*/ 39714 h 102220"/>
                <a:gd name="connsiteX7" fmla="*/ 25258 w 128019"/>
                <a:gd name="connsiteY7" fmla="*/ 36606 h 102220"/>
                <a:gd name="connsiteX8" fmla="*/ 25258 w 128019"/>
                <a:gd name="connsiteY8" fmla="*/ 0 h 102220"/>
                <a:gd name="connsiteX9" fmla="*/ 0 w 128019"/>
                <a:gd name="connsiteY9" fmla="*/ 0 h 102220"/>
                <a:gd name="connsiteX10" fmla="*/ 0 w 128019"/>
                <a:gd name="connsiteY10" fmla="*/ 102221 h 102220"/>
                <a:gd name="connsiteX11" fmla="*/ 25258 w 128019"/>
                <a:gd name="connsiteY11" fmla="*/ 102221 h 102220"/>
                <a:gd name="connsiteX12" fmla="*/ 25258 w 128019"/>
                <a:gd name="connsiteY12" fmla="*/ 65615 h 102220"/>
                <a:gd name="connsiteX13" fmla="*/ 28372 w 128019"/>
                <a:gd name="connsiteY13" fmla="*/ 62507 h 102220"/>
                <a:gd name="connsiteX14" fmla="*/ 56398 w 128019"/>
                <a:gd name="connsiteY14" fmla="*/ 62507 h 102220"/>
                <a:gd name="connsiteX15" fmla="*/ 60550 w 128019"/>
                <a:gd name="connsiteY15" fmla="*/ 64233 h 102220"/>
                <a:gd name="connsiteX16" fmla="*/ 100686 w 128019"/>
                <a:gd name="connsiteY16" fmla="*/ 100494 h 102220"/>
                <a:gd name="connsiteX17" fmla="*/ 105530 w 128019"/>
                <a:gd name="connsiteY17" fmla="*/ 102221 h 102220"/>
                <a:gd name="connsiteX18" fmla="*/ 128020 w 128019"/>
                <a:gd name="connsiteY18" fmla="*/ 102221 h 102220"/>
                <a:gd name="connsiteX19" fmla="*/ 128020 w 128019"/>
                <a:gd name="connsiteY19" fmla="*/ 76665 h 102220"/>
                <a:gd name="connsiteX20" fmla="*/ 115564 w 128019"/>
                <a:gd name="connsiteY20" fmla="*/ 76665 h 102220"/>
                <a:gd name="connsiteX21" fmla="*/ 105184 w 128019"/>
                <a:gd name="connsiteY21" fmla="*/ 72867 h 102220"/>
                <a:gd name="connsiteX22" fmla="*/ 86154 w 128019"/>
                <a:gd name="connsiteY22" fmla="*/ 55945 h 102220"/>
                <a:gd name="connsiteX23" fmla="*/ 86154 w 128019"/>
                <a:gd name="connsiteY23" fmla="*/ 45930 h 102220"/>
                <a:gd name="connsiteX24" fmla="*/ 105184 w 128019"/>
                <a:gd name="connsiteY24" fmla="*/ 29009 h 102220"/>
                <a:gd name="connsiteX25" fmla="*/ 115564 w 128019"/>
                <a:gd name="connsiteY25" fmla="*/ 25210 h 102220"/>
                <a:gd name="connsiteX26" fmla="*/ 128020 w 128019"/>
                <a:gd name="connsiteY26" fmla="*/ 2521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8019" h="102220">
                  <a:moveTo>
                    <a:pt x="128020" y="25555"/>
                  </a:moveTo>
                  <a:lnTo>
                    <a:pt x="128020" y="0"/>
                  </a:lnTo>
                  <a:lnTo>
                    <a:pt x="105530" y="0"/>
                  </a:lnTo>
                  <a:cubicBezTo>
                    <a:pt x="103800" y="0"/>
                    <a:pt x="102070" y="691"/>
                    <a:pt x="100686" y="1727"/>
                  </a:cubicBezTo>
                  <a:lnTo>
                    <a:pt x="60550" y="37987"/>
                  </a:lnTo>
                  <a:cubicBezTo>
                    <a:pt x="59512" y="39023"/>
                    <a:pt x="58128" y="39714"/>
                    <a:pt x="56398" y="39714"/>
                  </a:cubicBezTo>
                  <a:lnTo>
                    <a:pt x="28372" y="39714"/>
                  </a:lnTo>
                  <a:cubicBezTo>
                    <a:pt x="26642" y="39714"/>
                    <a:pt x="25258" y="38333"/>
                    <a:pt x="25258" y="36606"/>
                  </a:cubicBezTo>
                  <a:lnTo>
                    <a:pt x="25258" y="0"/>
                  </a:lnTo>
                  <a:lnTo>
                    <a:pt x="0" y="0"/>
                  </a:lnTo>
                  <a:lnTo>
                    <a:pt x="0" y="102221"/>
                  </a:lnTo>
                  <a:lnTo>
                    <a:pt x="25258" y="102221"/>
                  </a:lnTo>
                  <a:lnTo>
                    <a:pt x="25258" y="65615"/>
                  </a:lnTo>
                  <a:cubicBezTo>
                    <a:pt x="25258" y="63888"/>
                    <a:pt x="26642" y="62507"/>
                    <a:pt x="28372" y="62507"/>
                  </a:cubicBezTo>
                  <a:lnTo>
                    <a:pt x="56398" y="62507"/>
                  </a:lnTo>
                  <a:cubicBezTo>
                    <a:pt x="57782" y="62507"/>
                    <a:pt x="59512" y="62852"/>
                    <a:pt x="60550" y="64233"/>
                  </a:cubicBezTo>
                  <a:lnTo>
                    <a:pt x="100686" y="100494"/>
                  </a:lnTo>
                  <a:cubicBezTo>
                    <a:pt x="102070" y="101530"/>
                    <a:pt x="103800" y="102221"/>
                    <a:pt x="105530" y="102221"/>
                  </a:cubicBezTo>
                  <a:lnTo>
                    <a:pt x="128020" y="102221"/>
                  </a:lnTo>
                  <a:lnTo>
                    <a:pt x="128020" y="76665"/>
                  </a:lnTo>
                  <a:lnTo>
                    <a:pt x="115564" y="76665"/>
                  </a:lnTo>
                  <a:cubicBezTo>
                    <a:pt x="111758" y="76665"/>
                    <a:pt x="107952" y="75284"/>
                    <a:pt x="105184" y="72867"/>
                  </a:cubicBezTo>
                  <a:lnTo>
                    <a:pt x="86154" y="55945"/>
                  </a:lnTo>
                  <a:cubicBezTo>
                    <a:pt x="83040" y="53528"/>
                    <a:pt x="83040" y="48693"/>
                    <a:pt x="86154" y="45930"/>
                  </a:cubicBezTo>
                  <a:lnTo>
                    <a:pt x="105184" y="29009"/>
                  </a:lnTo>
                  <a:cubicBezTo>
                    <a:pt x="108298" y="26591"/>
                    <a:pt x="111758" y="25210"/>
                    <a:pt x="115564" y="25210"/>
                  </a:cubicBezTo>
                  <a:lnTo>
                    <a:pt x="128020" y="25210"/>
                  </a:lnTo>
                  <a:close/>
                </a:path>
              </a:pathLst>
            </a:custGeom>
            <a:grpFill/>
            <a:ln w="3458" cap="flat">
              <a:noFill/>
              <a:prstDash val="solid"/>
              <a:miter/>
            </a:ln>
          </p:spPr>
          <p:txBody>
            <a:bodyPr rtlCol="0" anchor="ctr"/>
            <a:lstStyle/>
            <a:p>
              <a:endParaRPr lang="en-US" sz="1800"/>
            </a:p>
          </p:txBody>
        </p:sp>
        <p:sp>
          <p:nvSpPr>
            <p:cNvPr id="28" name="Freeform 27">
              <a:extLst>
                <a:ext uri="{FF2B5EF4-FFF2-40B4-BE49-F238E27FC236}">
                  <a16:creationId xmlns:a16="http://schemas.microsoft.com/office/drawing/2014/main" id="{302645B4-5800-7AAB-AC5A-09ED8D6FF050}"/>
                </a:ext>
              </a:extLst>
            </p:cNvPr>
            <p:cNvSpPr/>
            <p:nvPr/>
          </p:nvSpPr>
          <p:spPr>
            <a:xfrm>
              <a:off x="8623760" y="7684742"/>
              <a:ext cx="138053" cy="102565"/>
            </a:xfrm>
            <a:custGeom>
              <a:avLst/>
              <a:gdLst>
                <a:gd name="connsiteX0" fmla="*/ 99302 w 138053"/>
                <a:gd name="connsiteY0" fmla="*/ 345 h 102565"/>
                <a:gd name="connsiteX1" fmla="*/ 70238 w 138053"/>
                <a:gd name="connsiteY1" fmla="*/ 14850 h 102565"/>
                <a:gd name="connsiteX2" fmla="*/ 0 w 138053"/>
                <a:gd name="connsiteY2" fmla="*/ 102566 h 102565"/>
                <a:gd name="connsiteX3" fmla="*/ 35638 w 138053"/>
                <a:gd name="connsiteY3" fmla="*/ 102566 h 102565"/>
                <a:gd name="connsiteX4" fmla="*/ 93420 w 138053"/>
                <a:gd name="connsiteY4" fmla="*/ 31426 h 102565"/>
                <a:gd name="connsiteX5" fmla="*/ 102762 w 138053"/>
                <a:gd name="connsiteY5" fmla="*/ 26246 h 102565"/>
                <a:gd name="connsiteX6" fmla="*/ 112450 w 138053"/>
                <a:gd name="connsiteY6" fmla="*/ 36951 h 102565"/>
                <a:gd name="connsiteX7" fmla="*/ 112450 w 138053"/>
                <a:gd name="connsiteY7" fmla="*/ 68032 h 102565"/>
                <a:gd name="connsiteX8" fmla="*/ 105184 w 138053"/>
                <a:gd name="connsiteY8" fmla="*/ 77011 h 102565"/>
                <a:gd name="connsiteX9" fmla="*/ 97918 w 138053"/>
                <a:gd name="connsiteY9" fmla="*/ 77011 h 102565"/>
                <a:gd name="connsiteX10" fmla="*/ 97918 w 138053"/>
                <a:gd name="connsiteY10" fmla="*/ 102566 h 102565"/>
                <a:gd name="connsiteX11" fmla="*/ 138054 w 138053"/>
                <a:gd name="connsiteY11" fmla="*/ 102566 h 102565"/>
                <a:gd name="connsiteX12" fmla="*/ 138054 w 138053"/>
                <a:gd name="connsiteY12" fmla="*/ 38333 h 102565"/>
                <a:gd name="connsiteX13" fmla="*/ 98956 w 138053"/>
                <a:gd name="connsiteY13" fmla="*/ 0 h 102565"/>
                <a:gd name="connsiteX14" fmla="*/ 98956 w 138053"/>
                <a:gd name="connsiteY14" fmla="*/ 0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8053" h="102565">
                  <a:moveTo>
                    <a:pt x="99302" y="345"/>
                  </a:moveTo>
                  <a:cubicBezTo>
                    <a:pt x="87884" y="345"/>
                    <a:pt x="77158" y="5871"/>
                    <a:pt x="70238" y="14850"/>
                  </a:cubicBezTo>
                  <a:lnTo>
                    <a:pt x="0" y="102566"/>
                  </a:lnTo>
                  <a:lnTo>
                    <a:pt x="35638" y="102566"/>
                  </a:lnTo>
                  <a:lnTo>
                    <a:pt x="93420" y="31426"/>
                  </a:lnTo>
                  <a:cubicBezTo>
                    <a:pt x="96188" y="27973"/>
                    <a:pt x="98264" y="26246"/>
                    <a:pt x="102762" y="26246"/>
                  </a:cubicBezTo>
                  <a:cubicBezTo>
                    <a:pt x="107260" y="26246"/>
                    <a:pt x="112450" y="31081"/>
                    <a:pt x="112450" y="36951"/>
                  </a:cubicBezTo>
                  <a:lnTo>
                    <a:pt x="112450" y="68032"/>
                  </a:lnTo>
                  <a:cubicBezTo>
                    <a:pt x="112450" y="72867"/>
                    <a:pt x="110028" y="77011"/>
                    <a:pt x="105184" y="77011"/>
                  </a:cubicBezTo>
                  <a:lnTo>
                    <a:pt x="97918" y="77011"/>
                  </a:lnTo>
                  <a:lnTo>
                    <a:pt x="97918" y="102566"/>
                  </a:lnTo>
                  <a:lnTo>
                    <a:pt x="138054" y="102566"/>
                  </a:lnTo>
                  <a:lnTo>
                    <a:pt x="138054" y="38333"/>
                  </a:lnTo>
                  <a:cubicBezTo>
                    <a:pt x="138054" y="33153"/>
                    <a:pt x="138054" y="0"/>
                    <a:pt x="98956" y="0"/>
                  </a:cubicBezTo>
                  <a:lnTo>
                    <a:pt x="98956" y="0"/>
                  </a:lnTo>
                  <a:close/>
                </a:path>
              </a:pathLst>
            </a:custGeom>
            <a:grpFill/>
            <a:ln w="3458" cap="flat">
              <a:noFill/>
              <a:prstDash val="solid"/>
              <a:miter/>
            </a:ln>
          </p:spPr>
          <p:txBody>
            <a:bodyPr rtlCol="0" anchor="ctr"/>
            <a:lstStyle/>
            <a:p>
              <a:endParaRPr lang="en-US" sz="1800"/>
            </a:p>
          </p:txBody>
        </p:sp>
        <p:sp>
          <p:nvSpPr>
            <p:cNvPr id="29" name="Freeform 28">
              <a:extLst>
                <a:ext uri="{FF2B5EF4-FFF2-40B4-BE49-F238E27FC236}">
                  <a16:creationId xmlns:a16="http://schemas.microsoft.com/office/drawing/2014/main" id="{DC99294D-BF32-6EAD-73D3-0606521CE43C}"/>
                </a:ext>
              </a:extLst>
            </p:cNvPr>
            <p:cNvSpPr/>
            <p:nvPr/>
          </p:nvSpPr>
          <p:spPr>
            <a:xfrm>
              <a:off x="9480453" y="7685087"/>
              <a:ext cx="30793" cy="25555"/>
            </a:xfrm>
            <a:custGeom>
              <a:avLst/>
              <a:gdLst>
                <a:gd name="connsiteX0" fmla="*/ 30448 w 30793"/>
                <a:gd name="connsiteY0" fmla="*/ 0 h 25555"/>
                <a:gd name="connsiteX1" fmla="*/ 30448 w 30793"/>
                <a:gd name="connsiteY1" fmla="*/ 25555 h 25555"/>
                <a:gd name="connsiteX2" fmla="*/ 24912 w 30793"/>
                <a:gd name="connsiteY2" fmla="*/ 25555 h 25555"/>
                <a:gd name="connsiteX3" fmla="*/ 24912 w 30793"/>
                <a:gd name="connsiteY3" fmla="*/ 5180 h 25555"/>
                <a:gd name="connsiteX4" fmla="*/ 24912 w 30793"/>
                <a:gd name="connsiteY4" fmla="*/ 5180 h 25555"/>
                <a:gd name="connsiteX5" fmla="*/ 17646 w 30793"/>
                <a:gd name="connsiteY5" fmla="*/ 25555 h 25555"/>
                <a:gd name="connsiteX6" fmla="*/ 12802 w 30793"/>
                <a:gd name="connsiteY6" fmla="*/ 25555 h 25555"/>
                <a:gd name="connsiteX7" fmla="*/ 5536 w 30793"/>
                <a:gd name="connsiteY7" fmla="*/ 5180 h 25555"/>
                <a:gd name="connsiteX8" fmla="*/ 5536 w 30793"/>
                <a:gd name="connsiteY8" fmla="*/ 5180 h 25555"/>
                <a:gd name="connsiteX9" fmla="*/ 5536 w 30793"/>
                <a:gd name="connsiteY9" fmla="*/ 25555 h 25555"/>
                <a:gd name="connsiteX10" fmla="*/ 0 w 30793"/>
                <a:gd name="connsiteY10" fmla="*/ 25555 h 25555"/>
                <a:gd name="connsiteX11" fmla="*/ 0 w 30793"/>
                <a:gd name="connsiteY11" fmla="*/ 0 h 25555"/>
                <a:gd name="connsiteX12" fmla="*/ 9688 w 30793"/>
                <a:gd name="connsiteY12" fmla="*/ 0 h 25555"/>
                <a:gd name="connsiteX13" fmla="*/ 15570 w 30793"/>
                <a:gd name="connsiteY13" fmla="*/ 17267 h 25555"/>
                <a:gd name="connsiteX14" fmla="*/ 15570 w 30793"/>
                <a:gd name="connsiteY14" fmla="*/ 17267 h 25555"/>
                <a:gd name="connsiteX15" fmla="*/ 21798 w 30793"/>
                <a:gd name="connsiteY15" fmla="*/ 0 h 25555"/>
                <a:gd name="connsiteX16" fmla="*/ 30794 w 30793"/>
                <a:gd name="connsiteY16" fmla="*/ 0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793" h="25555">
                  <a:moveTo>
                    <a:pt x="30448" y="0"/>
                  </a:moveTo>
                  <a:lnTo>
                    <a:pt x="30448" y="25555"/>
                  </a:lnTo>
                  <a:lnTo>
                    <a:pt x="24912" y="25555"/>
                  </a:lnTo>
                  <a:lnTo>
                    <a:pt x="24912" y="5180"/>
                  </a:lnTo>
                  <a:lnTo>
                    <a:pt x="24912" y="5180"/>
                  </a:lnTo>
                  <a:lnTo>
                    <a:pt x="17646" y="25555"/>
                  </a:lnTo>
                  <a:lnTo>
                    <a:pt x="12802" y="25555"/>
                  </a:lnTo>
                  <a:lnTo>
                    <a:pt x="5536" y="5180"/>
                  </a:lnTo>
                  <a:lnTo>
                    <a:pt x="5536" y="5180"/>
                  </a:lnTo>
                  <a:lnTo>
                    <a:pt x="5536" y="25555"/>
                  </a:lnTo>
                  <a:lnTo>
                    <a:pt x="0" y="25555"/>
                  </a:lnTo>
                  <a:lnTo>
                    <a:pt x="0" y="0"/>
                  </a:lnTo>
                  <a:lnTo>
                    <a:pt x="9688" y="0"/>
                  </a:lnTo>
                  <a:lnTo>
                    <a:pt x="15570" y="17267"/>
                  </a:lnTo>
                  <a:lnTo>
                    <a:pt x="15570" y="17267"/>
                  </a:lnTo>
                  <a:lnTo>
                    <a:pt x="21798" y="0"/>
                  </a:lnTo>
                  <a:lnTo>
                    <a:pt x="30794" y="0"/>
                  </a:lnTo>
                  <a:close/>
                </a:path>
              </a:pathLst>
            </a:custGeom>
            <a:grpFill/>
            <a:ln w="3458" cap="flat">
              <a:noFill/>
              <a:prstDash val="solid"/>
              <a:miter/>
            </a:ln>
          </p:spPr>
          <p:txBody>
            <a:bodyPr rtlCol="0" anchor="ctr"/>
            <a:lstStyle/>
            <a:p>
              <a:endParaRPr lang="en-US" sz="1800"/>
            </a:p>
          </p:txBody>
        </p:sp>
        <p:sp>
          <p:nvSpPr>
            <p:cNvPr id="30" name="Freeform 29">
              <a:extLst>
                <a:ext uri="{FF2B5EF4-FFF2-40B4-BE49-F238E27FC236}">
                  <a16:creationId xmlns:a16="http://schemas.microsoft.com/office/drawing/2014/main" id="{B214E987-5A69-8703-F571-5E68DF37A9D6}"/>
                </a:ext>
              </a:extLst>
            </p:cNvPr>
            <p:cNvSpPr/>
            <p:nvPr/>
          </p:nvSpPr>
          <p:spPr>
            <a:xfrm>
              <a:off x="9453811" y="7685087"/>
              <a:ext cx="21451" cy="25555"/>
            </a:xfrm>
            <a:custGeom>
              <a:avLst/>
              <a:gdLst>
                <a:gd name="connsiteX0" fmla="*/ 13840 w 21451"/>
                <a:gd name="connsiteY0" fmla="*/ 4835 h 25555"/>
                <a:gd name="connsiteX1" fmla="*/ 13840 w 21451"/>
                <a:gd name="connsiteY1" fmla="*/ 25555 h 25555"/>
                <a:gd name="connsiteX2" fmla="*/ 7958 w 21451"/>
                <a:gd name="connsiteY2" fmla="*/ 25555 h 25555"/>
                <a:gd name="connsiteX3" fmla="*/ 7958 w 21451"/>
                <a:gd name="connsiteY3" fmla="*/ 4835 h 25555"/>
                <a:gd name="connsiteX4" fmla="*/ 0 w 21451"/>
                <a:gd name="connsiteY4" fmla="*/ 4835 h 25555"/>
                <a:gd name="connsiteX5" fmla="*/ 0 w 21451"/>
                <a:gd name="connsiteY5" fmla="*/ 0 h 25555"/>
                <a:gd name="connsiteX6" fmla="*/ 21452 w 21451"/>
                <a:gd name="connsiteY6" fmla="*/ 0 h 25555"/>
                <a:gd name="connsiteX7" fmla="*/ 21452 w 21451"/>
                <a:gd name="connsiteY7" fmla="*/ 4835 h 25555"/>
                <a:gd name="connsiteX8" fmla="*/ 13494 w 21451"/>
                <a:gd name="connsiteY8" fmla="*/ 4835 h 25555"/>
                <a:gd name="connsiteX9" fmla="*/ 13494 w 21451"/>
                <a:gd name="connsiteY9" fmla="*/ 4835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451" h="25555">
                  <a:moveTo>
                    <a:pt x="13840" y="4835"/>
                  </a:moveTo>
                  <a:lnTo>
                    <a:pt x="13840" y="25555"/>
                  </a:lnTo>
                  <a:lnTo>
                    <a:pt x="7958" y="25555"/>
                  </a:lnTo>
                  <a:lnTo>
                    <a:pt x="7958" y="4835"/>
                  </a:lnTo>
                  <a:lnTo>
                    <a:pt x="0" y="4835"/>
                  </a:lnTo>
                  <a:lnTo>
                    <a:pt x="0" y="0"/>
                  </a:lnTo>
                  <a:lnTo>
                    <a:pt x="21452" y="0"/>
                  </a:lnTo>
                  <a:lnTo>
                    <a:pt x="21452" y="4835"/>
                  </a:lnTo>
                  <a:lnTo>
                    <a:pt x="13494" y="4835"/>
                  </a:lnTo>
                  <a:lnTo>
                    <a:pt x="13494" y="4835"/>
                  </a:lnTo>
                  <a:close/>
                </a:path>
              </a:pathLst>
            </a:custGeom>
            <a:grpFill/>
            <a:ln w="3458" cap="flat">
              <a:noFill/>
              <a:prstDash val="solid"/>
              <a:miter/>
            </a:ln>
          </p:spPr>
          <p:txBody>
            <a:bodyPr rtlCol="0" anchor="ctr"/>
            <a:lstStyle/>
            <a:p>
              <a:endParaRPr lang="en-US" sz="1800"/>
            </a:p>
          </p:txBody>
        </p:sp>
      </p:grpSp>
      <p:sp>
        <p:nvSpPr>
          <p:cNvPr id="32" name="name_2024 sandisk or its affiliates All rights reserved">
            <a:extLst>
              <a:ext uri="{FF2B5EF4-FFF2-40B4-BE49-F238E27FC236}">
                <a16:creationId xmlns:a16="http://schemas.microsoft.com/office/drawing/2014/main" id="{B1951E7E-D22B-360E-A694-AD8930F2BDE4}"/>
              </a:ext>
            </a:extLst>
          </p:cNvPr>
          <p:cNvSpPr txBox="1"/>
          <p:nvPr/>
        </p:nvSpPr>
        <p:spPr>
          <a:xfrm>
            <a:off x="6096000" y="6437971"/>
            <a:ext cx="5803900"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b">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r" defTabSz="609412" hangingPunct="0">
              <a:lnSpc>
                <a:spcPct val="100000"/>
              </a:lnSpc>
            </a:pPr>
            <a:r>
              <a:rPr lang="en-US" sz="1000" b="0" i="0" kern="0" spc="0" baseline="0">
                <a:solidFill>
                  <a:schemeClr val="tx2"/>
                </a:solidFill>
                <a:latin typeface="NB Architekt Pro Neue" panose="02010509020201040001" pitchFamily="49" charset="77"/>
                <a:cs typeface="Consolas" panose="020B0609020204030204" pitchFamily="49" charset="0"/>
              </a:rPr>
              <a:t>©2025 SANDISK CORPORATION OR ITS AFFILIATES ALL RIGHTS RESERVED</a:t>
            </a:r>
          </a:p>
        </p:txBody>
      </p:sp>
      <p:sp>
        <p:nvSpPr>
          <p:cNvPr id="33" name="name_2024 sandisk or its affiliates All rights reserved">
            <a:extLst>
              <a:ext uri="{FF2B5EF4-FFF2-40B4-BE49-F238E27FC236}">
                <a16:creationId xmlns:a16="http://schemas.microsoft.com/office/drawing/2014/main" id="{480C0E7B-FC10-7560-47C4-23ED64BAFA41}"/>
              </a:ext>
            </a:extLst>
          </p:cNvPr>
          <p:cNvSpPr txBox="1"/>
          <p:nvPr/>
        </p:nvSpPr>
        <p:spPr>
          <a:xfrm>
            <a:off x="8997951" y="267518"/>
            <a:ext cx="2242276"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tx1"/>
                </a:solidFill>
                <a:latin typeface="NB Architekt Pro Neue" panose="02010509020201040001" pitchFamily="49" charset="77"/>
                <a:cs typeface="Consolas" panose="020B0609020204030204" pitchFamily="49" charset="0"/>
              </a:rPr>
              <a:t>“START” “REPEAT” “1988/2025”</a:t>
            </a:r>
          </a:p>
        </p:txBody>
      </p:sp>
      <p:sp>
        <p:nvSpPr>
          <p:cNvPr id="34" name="Rectangle 33">
            <a:extLst>
              <a:ext uri="{FF2B5EF4-FFF2-40B4-BE49-F238E27FC236}">
                <a16:creationId xmlns:a16="http://schemas.microsoft.com/office/drawing/2014/main" id="{1FF71922-37DB-D48B-0C10-D21700C2ED8E}"/>
              </a:ext>
            </a:extLst>
          </p:cNvPr>
          <p:cNvSpPr/>
          <p:nvPr/>
        </p:nvSpPr>
        <p:spPr>
          <a:xfrm>
            <a:off x="11808843" y="296581"/>
            <a:ext cx="91057" cy="9105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397319526"/>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Blank Black">
    <p:bg>
      <p:bgPr>
        <a:solidFill>
          <a:schemeClr val="tx1"/>
        </a:solidFill>
        <a:effectLst/>
      </p:bgPr>
    </p:bg>
    <p:spTree>
      <p:nvGrpSpPr>
        <p:cNvPr id="1" name=""/>
        <p:cNvGrpSpPr/>
        <p:nvPr/>
      </p:nvGrpSpPr>
      <p:grpSpPr>
        <a:xfrm>
          <a:off x="0" y="0"/>
          <a:ext cx="0" cy="0"/>
          <a:chOff x="0" y="0"/>
          <a:chExt cx="0" cy="0"/>
        </a:xfrm>
      </p:grpSpPr>
      <p:sp>
        <p:nvSpPr>
          <p:cNvPr id="14" name="name_2024 sandisk or its affiliates All rights reserved">
            <a:extLst>
              <a:ext uri="{FF2B5EF4-FFF2-40B4-BE49-F238E27FC236}">
                <a16:creationId xmlns:a16="http://schemas.microsoft.com/office/drawing/2014/main" id="{C2EB78CC-5952-6B45-686A-74177B116777}"/>
              </a:ext>
            </a:extLst>
          </p:cNvPr>
          <p:cNvSpPr txBox="1"/>
          <p:nvPr/>
        </p:nvSpPr>
        <p:spPr>
          <a:xfrm>
            <a:off x="292100" y="267518"/>
            <a:ext cx="1323975"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bg1"/>
                </a:solidFill>
                <a:latin typeface="NB Architekt Pro Neue" panose="02010509020201040001" pitchFamily="49" charset="77"/>
                <a:cs typeface="Consolas" panose="020B0609020204030204" pitchFamily="49" charset="0"/>
              </a:rPr>
              <a:t>[CONFIDENTIAL]</a:t>
            </a:r>
          </a:p>
        </p:txBody>
      </p:sp>
      <p:sp>
        <p:nvSpPr>
          <p:cNvPr id="2" name="Slide Number Placeholder 5">
            <a:extLst>
              <a:ext uri="{FF2B5EF4-FFF2-40B4-BE49-F238E27FC236}">
                <a16:creationId xmlns:a16="http://schemas.microsoft.com/office/drawing/2014/main" id="{432E9088-7CE0-031E-34ED-0A51A9E0C3EA}"/>
              </a:ext>
            </a:extLst>
          </p:cNvPr>
          <p:cNvSpPr>
            <a:spLocks noGrp="1"/>
          </p:cNvSpPr>
          <p:nvPr>
            <p:ph type="sldNum" sz="quarter" idx="4"/>
          </p:nvPr>
        </p:nvSpPr>
        <p:spPr>
          <a:xfrm>
            <a:off x="3192106" y="6455472"/>
            <a:ext cx="857165" cy="118872"/>
          </a:xfrm>
          <a:prstGeom prst="rect">
            <a:avLst/>
          </a:prstGeom>
        </p:spPr>
        <p:txBody>
          <a:bodyPr vert="horz" lIns="0" tIns="0" rIns="0" bIns="0" rtlCol="0" anchor="ctr"/>
          <a:lstStyle>
            <a:lvl1pPr algn="l">
              <a:defRPr sz="1000" b="0" i="0" spc="0" baseline="0">
                <a:solidFill>
                  <a:schemeClr val="bg1"/>
                </a:solidFill>
                <a:latin typeface="NB Architekt Pro Neue" panose="02010509020201040001" pitchFamily="49" charset="77"/>
                <a:cs typeface="Consolas" panose="020B0609020204030204" pitchFamily="49" charset="0"/>
              </a:defRPr>
            </a:lvl1pPr>
          </a:lstStyle>
          <a:p>
            <a:r>
              <a:rPr lang="en-US"/>
              <a:t>00.0</a:t>
            </a:r>
            <a:fld id="{4571BA12-316B-0A40-BB3D-1A8CDD33E9E5}" type="slidenum">
              <a:rPr lang="en-US" smtClean="0"/>
              <a:pPr/>
              <a:t>‹#›</a:t>
            </a:fld>
            <a:endParaRPr lang="en-US"/>
          </a:p>
        </p:txBody>
      </p:sp>
      <p:grpSp>
        <p:nvGrpSpPr>
          <p:cNvPr id="18" name="Group 17">
            <a:extLst>
              <a:ext uri="{FF2B5EF4-FFF2-40B4-BE49-F238E27FC236}">
                <a16:creationId xmlns:a16="http://schemas.microsoft.com/office/drawing/2014/main" id="{551DE8E8-DED1-1D29-3F20-99D6DF25CAF6}"/>
              </a:ext>
            </a:extLst>
          </p:cNvPr>
          <p:cNvGrpSpPr>
            <a:grpSpLocks noChangeAspect="1"/>
          </p:cNvGrpSpPr>
          <p:nvPr/>
        </p:nvGrpSpPr>
        <p:grpSpPr>
          <a:xfrm>
            <a:off x="297027" y="6344485"/>
            <a:ext cx="2240280" cy="218081"/>
            <a:chOff x="8480170" y="7684742"/>
            <a:chExt cx="1031076" cy="102566"/>
          </a:xfrm>
          <a:solidFill>
            <a:schemeClr val="accent3"/>
          </a:solidFill>
        </p:grpSpPr>
        <p:sp>
          <p:nvSpPr>
            <p:cNvPr id="19" name="Freeform 18">
              <a:extLst>
                <a:ext uri="{FF2B5EF4-FFF2-40B4-BE49-F238E27FC236}">
                  <a16:creationId xmlns:a16="http://schemas.microsoft.com/office/drawing/2014/main" id="{57E56DC0-31DB-A07E-9417-7BD33DD9F470}"/>
                </a:ext>
              </a:extLst>
            </p:cNvPr>
            <p:cNvSpPr/>
            <p:nvPr/>
          </p:nvSpPr>
          <p:spPr>
            <a:xfrm>
              <a:off x="8788109" y="7684742"/>
              <a:ext cx="128019" cy="102565"/>
            </a:xfrm>
            <a:custGeom>
              <a:avLst/>
              <a:gdLst>
                <a:gd name="connsiteX0" fmla="*/ 102070 w 128019"/>
                <a:gd name="connsiteY0" fmla="*/ 70104 h 102565"/>
                <a:gd name="connsiteX1" fmla="*/ 96188 w 128019"/>
                <a:gd name="connsiteY1" fmla="*/ 77011 h 102565"/>
                <a:gd name="connsiteX2" fmla="*/ 89268 w 128019"/>
                <a:gd name="connsiteY2" fmla="*/ 72521 h 102565"/>
                <a:gd name="connsiteX3" fmla="*/ 65740 w 128019"/>
                <a:gd name="connsiteY3" fmla="*/ 8288 h 102565"/>
                <a:gd name="connsiteX4" fmla="*/ 54668 w 128019"/>
                <a:gd name="connsiteY4" fmla="*/ 0 h 102565"/>
                <a:gd name="connsiteX5" fmla="*/ 0 w 128019"/>
                <a:gd name="connsiteY5" fmla="*/ 0 h 102565"/>
                <a:gd name="connsiteX6" fmla="*/ 0 w 128019"/>
                <a:gd name="connsiteY6" fmla="*/ 102221 h 102565"/>
                <a:gd name="connsiteX7" fmla="*/ 40136 w 128019"/>
                <a:gd name="connsiteY7" fmla="*/ 102221 h 102565"/>
                <a:gd name="connsiteX8" fmla="*/ 40136 w 128019"/>
                <a:gd name="connsiteY8" fmla="*/ 76665 h 102565"/>
                <a:gd name="connsiteX9" fmla="*/ 32870 w 128019"/>
                <a:gd name="connsiteY9" fmla="*/ 76665 h 102565"/>
                <a:gd name="connsiteX10" fmla="*/ 25604 w 128019"/>
                <a:gd name="connsiteY10" fmla="*/ 67687 h 102565"/>
                <a:gd name="connsiteX11" fmla="*/ 25604 w 128019"/>
                <a:gd name="connsiteY11" fmla="*/ 36951 h 102565"/>
                <a:gd name="connsiteX12" fmla="*/ 39790 w 128019"/>
                <a:gd name="connsiteY12" fmla="*/ 26591 h 102565"/>
                <a:gd name="connsiteX13" fmla="*/ 45672 w 128019"/>
                <a:gd name="connsiteY13" fmla="*/ 32807 h 102565"/>
                <a:gd name="connsiteX14" fmla="*/ 64356 w 128019"/>
                <a:gd name="connsiteY14" fmla="*/ 81500 h 102565"/>
                <a:gd name="connsiteX15" fmla="*/ 95150 w 128019"/>
                <a:gd name="connsiteY15" fmla="*/ 102566 h 102565"/>
                <a:gd name="connsiteX16" fmla="*/ 95842 w 128019"/>
                <a:gd name="connsiteY16" fmla="*/ 102566 h 102565"/>
                <a:gd name="connsiteX17" fmla="*/ 128020 w 128019"/>
                <a:gd name="connsiteY17" fmla="*/ 70795 h 102565"/>
                <a:gd name="connsiteX18" fmla="*/ 128020 w 128019"/>
                <a:gd name="connsiteY18" fmla="*/ 345 h 102565"/>
                <a:gd name="connsiteX19" fmla="*/ 102416 w 128019"/>
                <a:gd name="connsiteY19" fmla="*/ 345 h 102565"/>
                <a:gd name="connsiteX20" fmla="*/ 102416 w 128019"/>
                <a:gd name="connsiteY20" fmla="*/ 70104 h 102565"/>
                <a:gd name="connsiteX21" fmla="*/ 102416 w 128019"/>
                <a:gd name="connsiteY21" fmla="*/ 70104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8019" h="102565">
                  <a:moveTo>
                    <a:pt x="102070" y="70104"/>
                  </a:moveTo>
                  <a:cubicBezTo>
                    <a:pt x="102070" y="73557"/>
                    <a:pt x="99648" y="76665"/>
                    <a:pt x="96188" y="77011"/>
                  </a:cubicBezTo>
                  <a:cubicBezTo>
                    <a:pt x="93074" y="77356"/>
                    <a:pt x="90306" y="75629"/>
                    <a:pt x="89268" y="72521"/>
                  </a:cubicBezTo>
                  <a:lnTo>
                    <a:pt x="65740" y="8288"/>
                  </a:lnTo>
                  <a:cubicBezTo>
                    <a:pt x="64010" y="3108"/>
                    <a:pt x="59858" y="0"/>
                    <a:pt x="54668" y="0"/>
                  </a:cubicBezTo>
                  <a:lnTo>
                    <a:pt x="0" y="0"/>
                  </a:lnTo>
                  <a:lnTo>
                    <a:pt x="0" y="102221"/>
                  </a:lnTo>
                  <a:lnTo>
                    <a:pt x="40136" y="102221"/>
                  </a:lnTo>
                  <a:lnTo>
                    <a:pt x="40136" y="76665"/>
                  </a:lnTo>
                  <a:lnTo>
                    <a:pt x="32870" y="76665"/>
                  </a:lnTo>
                  <a:cubicBezTo>
                    <a:pt x="28026" y="76665"/>
                    <a:pt x="25604" y="72521"/>
                    <a:pt x="25604" y="67687"/>
                  </a:cubicBezTo>
                  <a:lnTo>
                    <a:pt x="25604" y="36951"/>
                  </a:lnTo>
                  <a:cubicBezTo>
                    <a:pt x="25604" y="29354"/>
                    <a:pt x="32870" y="23828"/>
                    <a:pt x="39790" y="26591"/>
                  </a:cubicBezTo>
                  <a:cubicBezTo>
                    <a:pt x="42212" y="27627"/>
                    <a:pt x="44634" y="30045"/>
                    <a:pt x="45672" y="32807"/>
                  </a:cubicBezTo>
                  <a:lnTo>
                    <a:pt x="64356" y="81500"/>
                  </a:lnTo>
                  <a:cubicBezTo>
                    <a:pt x="69200" y="94278"/>
                    <a:pt x="81310" y="102566"/>
                    <a:pt x="95150" y="102566"/>
                  </a:cubicBezTo>
                  <a:lnTo>
                    <a:pt x="95842" y="102566"/>
                  </a:lnTo>
                  <a:cubicBezTo>
                    <a:pt x="113488" y="102566"/>
                    <a:pt x="128020" y="88407"/>
                    <a:pt x="128020" y="70795"/>
                  </a:cubicBezTo>
                  <a:lnTo>
                    <a:pt x="128020" y="345"/>
                  </a:lnTo>
                  <a:lnTo>
                    <a:pt x="102416" y="345"/>
                  </a:lnTo>
                  <a:lnTo>
                    <a:pt x="102416" y="70104"/>
                  </a:lnTo>
                  <a:lnTo>
                    <a:pt x="102416" y="70104"/>
                  </a:lnTo>
                  <a:close/>
                </a:path>
              </a:pathLst>
            </a:custGeom>
            <a:grpFill/>
            <a:ln w="3458" cap="flat">
              <a:noFill/>
              <a:prstDash val="solid"/>
              <a:miter/>
            </a:ln>
          </p:spPr>
          <p:txBody>
            <a:bodyPr rtlCol="0" anchor="ctr"/>
            <a:lstStyle/>
            <a:p>
              <a:endParaRPr lang="en-US" sz="1800"/>
            </a:p>
          </p:txBody>
        </p:sp>
        <p:sp>
          <p:nvSpPr>
            <p:cNvPr id="20" name="Freeform 19">
              <a:extLst>
                <a:ext uri="{FF2B5EF4-FFF2-40B4-BE49-F238E27FC236}">
                  <a16:creationId xmlns:a16="http://schemas.microsoft.com/office/drawing/2014/main" id="{95685BBB-0254-E69E-5D07-AD1621E30874}"/>
                </a:ext>
              </a:extLst>
            </p:cNvPr>
            <p:cNvSpPr/>
            <p:nvPr/>
          </p:nvSpPr>
          <p:spPr>
            <a:xfrm>
              <a:off x="8941733" y="7685087"/>
              <a:ext cx="128019" cy="102220"/>
            </a:xfrm>
            <a:custGeom>
              <a:avLst/>
              <a:gdLst>
                <a:gd name="connsiteX0" fmla="*/ 76812 w 128019"/>
                <a:gd name="connsiteY0" fmla="*/ 0 h 102220"/>
                <a:gd name="connsiteX1" fmla="*/ 0 w 128019"/>
                <a:gd name="connsiteY1" fmla="*/ 0 h 102220"/>
                <a:gd name="connsiteX2" fmla="*/ 0 w 128019"/>
                <a:gd name="connsiteY2" fmla="*/ 25555 h 102220"/>
                <a:gd name="connsiteX3" fmla="*/ 76812 w 128019"/>
                <a:gd name="connsiteY3" fmla="*/ 25555 h 102220"/>
                <a:gd name="connsiteX4" fmla="*/ 102416 w 128019"/>
                <a:gd name="connsiteY4" fmla="*/ 51110 h 102220"/>
                <a:gd name="connsiteX5" fmla="*/ 76812 w 128019"/>
                <a:gd name="connsiteY5" fmla="*/ 76665 h 102220"/>
                <a:gd name="connsiteX6" fmla="*/ 0 w 128019"/>
                <a:gd name="connsiteY6" fmla="*/ 76665 h 102220"/>
                <a:gd name="connsiteX7" fmla="*/ 0 w 128019"/>
                <a:gd name="connsiteY7" fmla="*/ 102221 h 102220"/>
                <a:gd name="connsiteX8" fmla="*/ 76812 w 128019"/>
                <a:gd name="connsiteY8" fmla="*/ 102221 h 102220"/>
                <a:gd name="connsiteX9" fmla="*/ 121792 w 128019"/>
                <a:gd name="connsiteY9" fmla="*/ 75629 h 102220"/>
                <a:gd name="connsiteX10" fmla="*/ 128020 w 128019"/>
                <a:gd name="connsiteY10" fmla="*/ 51110 h 102220"/>
                <a:gd name="connsiteX11" fmla="*/ 121792 w 128019"/>
                <a:gd name="connsiteY11" fmla="*/ 26591 h 102220"/>
                <a:gd name="connsiteX12" fmla="*/ 76812 w 128019"/>
                <a:gd name="connsiteY12" fmla="*/ 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8019" h="102220">
                  <a:moveTo>
                    <a:pt x="76812" y="0"/>
                  </a:moveTo>
                  <a:lnTo>
                    <a:pt x="0" y="0"/>
                  </a:lnTo>
                  <a:lnTo>
                    <a:pt x="0" y="25555"/>
                  </a:lnTo>
                  <a:lnTo>
                    <a:pt x="76812" y="25555"/>
                  </a:lnTo>
                  <a:cubicBezTo>
                    <a:pt x="90306" y="25555"/>
                    <a:pt x="102416" y="37297"/>
                    <a:pt x="102416" y="51110"/>
                  </a:cubicBezTo>
                  <a:cubicBezTo>
                    <a:pt x="102416" y="64924"/>
                    <a:pt x="90652" y="76665"/>
                    <a:pt x="76812" y="76665"/>
                  </a:cubicBezTo>
                  <a:lnTo>
                    <a:pt x="0" y="76665"/>
                  </a:lnTo>
                  <a:lnTo>
                    <a:pt x="0" y="102221"/>
                  </a:lnTo>
                  <a:lnTo>
                    <a:pt x="76812" y="102221"/>
                  </a:lnTo>
                  <a:cubicBezTo>
                    <a:pt x="96188" y="102221"/>
                    <a:pt x="113142" y="91515"/>
                    <a:pt x="121792" y="75629"/>
                  </a:cubicBezTo>
                  <a:cubicBezTo>
                    <a:pt x="125598" y="68377"/>
                    <a:pt x="128020" y="59744"/>
                    <a:pt x="128020" y="51110"/>
                  </a:cubicBezTo>
                  <a:cubicBezTo>
                    <a:pt x="128020" y="42477"/>
                    <a:pt x="125598" y="33843"/>
                    <a:pt x="121792" y="26591"/>
                  </a:cubicBezTo>
                  <a:cubicBezTo>
                    <a:pt x="113142" y="10706"/>
                    <a:pt x="96188" y="0"/>
                    <a:pt x="76812" y="0"/>
                  </a:cubicBezTo>
                  <a:close/>
                </a:path>
              </a:pathLst>
            </a:custGeom>
            <a:grpFill/>
            <a:ln w="3458" cap="flat">
              <a:noFill/>
              <a:prstDash val="solid"/>
              <a:miter/>
            </a:ln>
          </p:spPr>
          <p:txBody>
            <a:bodyPr rtlCol="0" anchor="ctr"/>
            <a:lstStyle/>
            <a:p>
              <a:endParaRPr lang="en-US" sz="1800"/>
            </a:p>
          </p:txBody>
        </p:sp>
        <p:sp>
          <p:nvSpPr>
            <p:cNvPr id="21" name="Freeform 20">
              <a:extLst>
                <a:ext uri="{FF2B5EF4-FFF2-40B4-BE49-F238E27FC236}">
                  <a16:creationId xmlns:a16="http://schemas.microsoft.com/office/drawing/2014/main" id="{CF020F4D-A232-EAB3-613A-D6528C5D6DB8}"/>
                </a:ext>
              </a:extLst>
            </p:cNvPr>
            <p:cNvSpPr/>
            <p:nvPr/>
          </p:nvSpPr>
          <p:spPr>
            <a:xfrm>
              <a:off x="9080478" y="7685087"/>
              <a:ext cx="40481" cy="102220"/>
            </a:xfrm>
            <a:custGeom>
              <a:avLst/>
              <a:gdLst>
                <a:gd name="connsiteX0" fmla="*/ 5190 w 40481"/>
                <a:gd name="connsiteY0" fmla="*/ 25555 h 102220"/>
                <a:gd name="connsiteX1" fmla="*/ 7266 w 40481"/>
                <a:gd name="connsiteY1" fmla="*/ 25555 h 102220"/>
                <a:gd name="connsiteX2" fmla="*/ 14878 w 40481"/>
                <a:gd name="connsiteY2" fmla="*/ 35225 h 102220"/>
                <a:gd name="connsiteX3" fmla="*/ 14878 w 40481"/>
                <a:gd name="connsiteY3" fmla="*/ 102221 h 102220"/>
                <a:gd name="connsiteX4" fmla="*/ 40482 w 40481"/>
                <a:gd name="connsiteY4" fmla="*/ 102221 h 102220"/>
                <a:gd name="connsiteX5" fmla="*/ 40482 w 40481"/>
                <a:gd name="connsiteY5" fmla="*/ 0 h 102220"/>
                <a:gd name="connsiteX6" fmla="*/ 0 w 40481"/>
                <a:gd name="connsiteY6" fmla="*/ 0 h 102220"/>
                <a:gd name="connsiteX7" fmla="*/ 0 w 40481"/>
                <a:gd name="connsiteY7" fmla="*/ 25555 h 102220"/>
                <a:gd name="connsiteX8" fmla="*/ 5536 w 40481"/>
                <a:gd name="connsiteY8" fmla="*/ 25555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481" h="102220">
                  <a:moveTo>
                    <a:pt x="5190" y="25555"/>
                  </a:moveTo>
                  <a:cubicBezTo>
                    <a:pt x="5882" y="25555"/>
                    <a:pt x="6574" y="25555"/>
                    <a:pt x="7266" y="25555"/>
                  </a:cubicBezTo>
                  <a:cubicBezTo>
                    <a:pt x="12110" y="26246"/>
                    <a:pt x="14878" y="30045"/>
                    <a:pt x="14878" y="35225"/>
                  </a:cubicBezTo>
                  <a:lnTo>
                    <a:pt x="14878" y="102221"/>
                  </a:lnTo>
                  <a:lnTo>
                    <a:pt x="40482" y="102221"/>
                  </a:lnTo>
                  <a:lnTo>
                    <a:pt x="40482" y="0"/>
                  </a:lnTo>
                  <a:lnTo>
                    <a:pt x="0" y="0"/>
                  </a:lnTo>
                  <a:lnTo>
                    <a:pt x="0" y="25555"/>
                  </a:lnTo>
                  <a:lnTo>
                    <a:pt x="5536" y="25555"/>
                  </a:lnTo>
                  <a:close/>
                </a:path>
              </a:pathLst>
            </a:custGeom>
            <a:grpFill/>
            <a:ln w="3458" cap="flat">
              <a:noFill/>
              <a:prstDash val="solid"/>
              <a:miter/>
            </a:ln>
          </p:spPr>
          <p:txBody>
            <a:bodyPr rtlCol="0" anchor="ctr"/>
            <a:lstStyle/>
            <a:p>
              <a:endParaRPr lang="en-US" sz="1800"/>
            </a:p>
          </p:txBody>
        </p:sp>
        <p:sp>
          <p:nvSpPr>
            <p:cNvPr id="23" name="Freeform 22">
              <a:extLst>
                <a:ext uri="{FF2B5EF4-FFF2-40B4-BE49-F238E27FC236}">
                  <a16:creationId xmlns:a16="http://schemas.microsoft.com/office/drawing/2014/main" id="{2C835825-62DB-79DC-84B5-AF013BCBBA82}"/>
                </a:ext>
              </a:extLst>
            </p:cNvPr>
            <p:cNvSpPr/>
            <p:nvPr/>
          </p:nvSpPr>
          <p:spPr>
            <a:xfrm>
              <a:off x="9146218" y="7685087"/>
              <a:ext cx="128365" cy="102220"/>
            </a:xfrm>
            <a:custGeom>
              <a:avLst/>
              <a:gdLst>
                <a:gd name="connsiteX0" fmla="*/ 128365 w 128365"/>
                <a:gd name="connsiteY0" fmla="*/ 81846 h 102220"/>
                <a:gd name="connsiteX1" fmla="*/ 128365 w 128365"/>
                <a:gd name="connsiteY1" fmla="*/ 102221 h 102220"/>
                <a:gd name="connsiteX2" fmla="*/ 19722 w 128365"/>
                <a:gd name="connsiteY2" fmla="*/ 60780 h 102220"/>
                <a:gd name="connsiteX3" fmla="*/ 0 w 128365"/>
                <a:gd name="connsiteY3" fmla="*/ 30735 h 102220"/>
                <a:gd name="connsiteX4" fmla="*/ 31140 w 128365"/>
                <a:gd name="connsiteY4" fmla="*/ 0 h 102220"/>
                <a:gd name="connsiteX5" fmla="*/ 128020 w 128365"/>
                <a:gd name="connsiteY5" fmla="*/ 0 h 102220"/>
                <a:gd name="connsiteX6" fmla="*/ 128020 w 128365"/>
                <a:gd name="connsiteY6" fmla="*/ 40059 h 102220"/>
                <a:gd name="connsiteX7" fmla="*/ 102416 w 128365"/>
                <a:gd name="connsiteY7" fmla="*/ 40059 h 102220"/>
                <a:gd name="connsiteX8" fmla="*/ 102416 w 128365"/>
                <a:gd name="connsiteY8" fmla="*/ 32807 h 102220"/>
                <a:gd name="connsiteX9" fmla="*/ 94458 w 128365"/>
                <a:gd name="connsiteY9" fmla="*/ 25555 h 102220"/>
                <a:gd name="connsiteX10" fmla="*/ 37714 w 128365"/>
                <a:gd name="connsiteY10" fmla="*/ 25555 h 102220"/>
                <a:gd name="connsiteX11" fmla="*/ 29756 w 128365"/>
                <a:gd name="connsiteY11" fmla="*/ 33498 h 102220"/>
                <a:gd name="connsiteX12" fmla="*/ 34946 w 128365"/>
                <a:gd name="connsiteY12" fmla="*/ 41095 h 102220"/>
                <a:gd name="connsiteX13" fmla="*/ 119370 w 128365"/>
                <a:gd name="connsiteY13" fmla="*/ 70795 h 102220"/>
                <a:gd name="connsiteX14" fmla="*/ 127674 w 128365"/>
                <a:gd name="connsiteY14"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8365" h="102220">
                  <a:moveTo>
                    <a:pt x="128365" y="81846"/>
                  </a:moveTo>
                  <a:lnTo>
                    <a:pt x="128365"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close/>
                </a:path>
              </a:pathLst>
            </a:custGeom>
            <a:grpFill/>
            <a:ln w="3458" cap="flat">
              <a:noFill/>
              <a:prstDash val="solid"/>
              <a:miter/>
            </a:ln>
          </p:spPr>
          <p:txBody>
            <a:bodyPr rtlCol="0" anchor="ctr"/>
            <a:lstStyle/>
            <a:p>
              <a:endParaRPr lang="en-US" sz="1800"/>
            </a:p>
          </p:txBody>
        </p:sp>
        <p:sp>
          <p:nvSpPr>
            <p:cNvPr id="24" name="Freeform 23">
              <a:extLst>
                <a:ext uri="{FF2B5EF4-FFF2-40B4-BE49-F238E27FC236}">
                  <a16:creationId xmlns:a16="http://schemas.microsoft.com/office/drawing/2014/main" id="{1EBDEF4D-90B4-ECF7-E20C-B40CD532D704}"/>
                </a:ext>
              </a:extLst>
            </p:cNvPr>
            <p:cNvSpPr/>
            <p:nvPr/>
          </p:nvSpPr>
          <p:spPr>
            <a:xfrm>
              <a:off x="9146564" y="7761753"/>
              <a:ext cx="25258" cy="25555"/>
            </a:xfrm>
            <a:custGeom>
              <a:avLst/>
              <a:gdLst>
                <a:gd name="connsiteX0" fmla="*/ 25258 w 25258"/>
                <a:gd name="connsiteY0" fmla="*/ 0 h 25555"/>
                <a:gd name="connsiteX1" fmla="*/ 0 w 25258"/>
                <a:gd name="connsiteY1" fmla="*/ 0 h 25555"/>
                <a:gd name="connsiteX2" fmla="*/ 0 w 25258"/>
                <a:gd name="connsiteY2" fmla="*/ 25555 h 25555"/>
                <a:gd name="connsiteX3" fmla="*/ 25258 w 25258"/>
                <a:gd name="connsiteY3" fmla="*/ 25555 h 25555"/>
                <a:gd name="connsiteX4" fmla="*/ 25258 w 25258"/>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8"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25" name="Freeform 24">
              <a:extLst>
                <a:ext uri="{FF2B5EF4-FFF2-40B4-BE49-F238E27FC236}">
                  <a16:creationId xmlns:a16="http://schemas.microsoft.com/office/drawing/2014/main" id="{0F9463C2-B66A-BDEE-7F76-534FFA69D139}"/>
                </a:ext>
              </a:extLst>
            </p:cNvPr>
            <p:cNvSpPr/>
            <p:nvPr/>
          </p:nvSpPr>
          <p:spPr>
            <a:xfrm>
              <a:off x="8480170" y="7685087"/>
              <a:ext cx="128019" cy="102220"/>
            </a:xfrm>
            <a:custGeom>
              <a:avLst/>
              <a:gdLst>
                <a:gd name="connsiteX0" fmla="*/ 128020 w 128019"/>
                <a:gd name="connsiteY0" fmla="*/ 81846 h 102220"/>
                <a:gd name="connsiteX1" fmla="*/ 128020 w 128019"/>
                <a:gd name="connsiteY1" fmla="*/ 102221 h 102220"/>
                <a:gd name="connsiteX2" fmla="*/ 19722 w 128019"/>
                <a:gd name="connsiteY2" fmla="*/ 60780 h 102220"/>
                <a:gd name="connsiteX3" fmla="*/ 0 w 128019"/>
                <a:gd name="connsiteY3" fmla="*/ 30735 h 102220"/>
                <a:gd name="connsiteX4" fmla="*/ 31140 w 128019"/>
                <a:gd name="connsiteY4" fmla="*/ 0 h 102220"/>
                <a:gd name="connsiteX5" fmla="*/ 128020 w 128019"/>
                <a:gd name="connsiteY5" fmla="*/ 0 h 102220"/>
                <a:gd name="connsiteX6" fmla="*/ 128020 w 128019"/>
                <a:gd name="connsiteY6" fmla="*/ 40059 h 102220"/>
                <a:gd name="connsiteX7" fmla="*/ 102416 w 128019"/>
                <a:gd name="connsiteY7" fmla="*/ 40059 h 102220"/>
                <a:gd name="connsiteX8" fmla="*/ 102416 w 128019"/>
                <a:gd name="connsiteY8" fmla="*/ 32807 h 102220"/>
                <a:gd name="connsiteX9" fmla="*/ 94458 w 128019"/>
                <a:gd name="connsiteY9" fmla="*/ 25555 h 102220"/>
                <a:gd name="connsiteX10" fmla="*/ 37714 w 128019"/>
                <a:gd name="connsiteY10" fmla="*/ 25555 h 102220"/>
                <a:gd name="connsiteX11" fmla="*/ 29756 w 128019"/>
                <a:gd name="connsiteY11" fmla="*/ 33498 h 102220"/>
                <a:gd name="connsiteX12" fmla="*/ 34946 w 128019"/>
                <a:gd name="connsiteY12" fmla="*/ 41095 h 102220"/>
                <a:gd name="connsiteX13" fmla="*/ 119370 w 128019"/>
                <a:gd name="connsiteY13" fmla="*/ 70795 h 102220"/>
                <a:gd name="connsiteX14" fmla="*/ 127674 w 128019"/>
                <a:gd name="connsiteY14" fmla="*/ 81846 h 102220"/>
                <a:gd name="connsiteX15" fmla="*/ 127674 w 128019"/>
                <a:gd name="connsiteY15"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8019" h="102220">
                  <a:moveTo>
                    <a:pt x="128020" y="81846"/>
                  </a:moveTo>
                  <a:lnTo>
                    <a:pt x="128020"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lnTo>
                    <a:pt x="127674" y="81846"/>
                  </a:lnTo>
                  <a:close/>
                </a:path>
              </a:pathLst>
            </a:custGeom>
            <a:grpFill/>
            <a:ln w="3458" cap="flat">
              <a:noFill/>
              <a:prstDash val="solid"/>
              <a:miter/>
            </a:ln>
          </p:spPr>
          <p:txBody>
            <a:bodyPr rtlCol="0" anchor="ctr"/>
            <a:lstStyle/>
            <a:p>
              <a:endParaRPr lang="en-US" sz="1800"/>
            </a:p>
          </p:txBody>
        </p:sp>
        <p:sp>
          <p:nvSpPr>
            <p:cNvPr id="26" name="Freeform 25">
              <a:extLst>
                <a:ext uri="{FF2B5EF4-FFF2-40B4-BE49-F238E27FC236}">
                  <a16:creationId xmlns:a16="http://schemas.microsoft.com/office/drawing/2014/main" id="{3FDF4D4A-BBD5-D4D0-4D13-878A7CC67720}"/>
                </a:ext>
              </a:extLst>
            </p:cNvPr>
            <p:cNvSpPr/>
            <p:nvPr/>
          </p:nvSpPr>
          <p:spPr>
            <a:xfrm>
              <a:off x="8480516" y="7761753"/>
              <a:ext cx="25257" cy="25555"/>
            </a:xfrm>
            <a:custGeom>
              <a:avLst/>
              <a:gdLst>
                <a:gd name="connsiteX0" fmla="*/ 25258 w 25257"/>
                <a:gd name="connsiteY0" fmla="*/ 0 h 25555"/>
                <a:gd name="connsiteX1" fmla="*/ 0 w 25257"/>
                <a:gd name="connsiteY1" fmla="*/ 0 h 25555"/>
                <a:gd name="connsiteX2" fmla="*/ 0 w 25257"/>
                <a:gd name="connsiteY2" fmla="*/ 25555 h 25555"/>
                <a:gd name="connsiteX3" fmla="*/ 25258 w 25257"/>
                <a:gd name="connsiteY3" fmla="*/ 25555 h 25555"/>
                <a:gd name="connsiteX4" fmla="*/ 25258 w 25257"/>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7"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27" name="Freeform 26">
              <a:extLst>
                <a:ext uri="{FF2B5EF4-FFF2-40B4-BE49-F238E27FC236}">
                  <a16:creationId xmlns:a16="http://schemas.microsoft.com/office/drawing/2014/main" id="{4CFF5657-4BE2-F62A-7761-118F0B7C39FF}"/>
                </a:ext>
              </a:extLst>
            </p:cNvPr>
            <p:cNvSpPr/>
            <p:nvPr/>
          </p:nvSpPr>
          <p:spPr>
            <a:xfrm>
              <a:off x="9300533" y="7685087"/>
              <a:ext cx="128019" cy="102220"/>
            </a:xfrm>
            <a:custGeom>
              <a:avLst/>
              <a:gdLst>
                <a:gd name="connsiteX0" fmla="*/ 128020 w 128019"/>
                <a:gd name="connsiteY0" fmla="*/ 25555 h 102220"/>
                <a:gd name="connsiteX1" fmla="*/ 128020 w 128019"/>
                <a:gd name="connsiteY1" fmla="*/ 0 h 102220"/>
                <a:gd name="connsiteX2" fmla="*/ 105530 w 128019"/>
                <a:gd name="connsiteY2" fmla="*/ 0 h 102220"/>
                <a:gd name="connsiteX3" fmla="*/ 100686 w 128019"/>
                <a:gd name="connsiteY3" fmla="*/ 1727 h 102220"/>
                <a:gd name="connsiteX4" fmla="*/ 60550 w 128019"/>
                <a:gd name="connsiteY4" fmla="*/ 37987 h 102220"/>
                <a:gd name="connsiteX5" fmla="*/ 56398 w 128019"/>
                <a:gd name="connsiteY5" fmla="*/ 39714 h 102220"/>
                <a:gd name="connsiteX6" fmla="*/ 28372 w 128019"/>
                <a:gd name="connsiteY6" fmla="*/ 39714 h 102220"/>
                <a:gd name="connsiteX7" fmla="*/ 25258 w 128019"/>
                <a:gd name="connsiteY7" fmla="*/ 36606 h 102220"/>
                <a:gd name="connsiteX8" fmla="*/ 25258 w 128019"/>
                <a:gd name="connsiteY8" fmla="*/ 0 h 102220"/>
                <a:gd name="connsiteX9" fmla="*/ 0 w 128019"/>
                <a:gd name="connsiteY9" fmla="*/ 0 h 102220"/>
                <a:gd name="connsiteX10" fmla="*/ 0 w 128019"/>
                <a:gd name="connsiteY10" fmla="*/ 102221 h 102220"/>
                <a:gd name="connsiteX11" fmla="*/ 25258 w 128019"/>
                <a:gd name="connsiteY11" fmla="*/ 102221 h 102220"/>
                <a:gd name="connsiteX12" fmla="*/ 25258 w 128019"/>
                <a:gd name="connsiteY12" fmla="*/ 65615 h 102220"/>
                <a:gd name="connsiteX13" fmla="*/ 28372 w 128019"/>
                <a:gd name="connsiteY13" fmla="*/ 62507 h 102220"/>
                <a:gd name="connsiteX14" fmla="*/ 56398 w 128019"/>
                <a:gd name="connsiteY14" fmla="*/ 62507 h 102220"/>
                <a:gd name="connsiteX15" fmla="*/ 60550 w 128019"/>
                <a:gd name="connsiteY15" fmla="*/ 64233 h 102220"/>
                <a:gd name="connsiteX16" fmla="*/ 100686 w 128019"/>
                <a:gd name="connsiteY16" fmla="*/ 100494 h 102220"/>
                <a:gd name="connsiteX17" fmla="*/ 105530 w 128019"/>
                <a:gd name="connsiteY17" fmla="*/ 102221 h 102220"/>
                <a:gd name="connsiteX18" fmla="*/ 128020 w 128019"/>
                <a:gd name="connsiteY18" fmla="*/ 102221 h 102220"/>
                <a:gd name="connsiteX19" fmla="*/ 128020 w 128019"/>
                <a:gd name="connsiteY19" fmla="*/ 76665 h 102220"/>
                <a:gd name="connsiteX20" fmla="*/ 115564 w 128019"/>
                <a:gd name="connsiteY20" fmla="*/ 76665 h 102220"/>
                <a:gd name="connsiteX21" fmla="*/ 105184 w 128019"/>
                <a:gd name="connsiteY21" fmla="*/ 72867 h 102220"/>
                <a:gd name="connsiteX22" fmla="*/ 86154 w 128019"/>
                <a:gd name="connsiteY22" fmla="*/ 55945 h 102220"/>
                <a:gd name="connsiteX23" fmla="*/ 86154 w 128019"/>
                <a:gd name="connsiteY23" fmla="*/ 45930 h 102220"/>
                <a:gd name="connsiteX24" fmla="*/ 105184 w 128019"/>
                <a:gd name="connsiteY24" fmla="*/ 29009 h 102220"/>
                <a:gd name="connsiteX25" fmla="*/ 115564 w 128019"/>
                <a:gd name="connsiteY25" fmla="*/ 25210 h 102220"/>
                <a:gd name="connsiteX26" fmla="*/ 128020 w 128019"/>
                <a:gd name="connsiteY26" fmla="*/ 2521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8019" h="102220">
                  <a:moveTo>
                    <a:pt x="128020" y="25555"/>
                  </a:moveTo>
                  <a:lnTo>
                    <a:pt x="128020" y="0"/>
                  </a:lnTo>
                  <a:lnTo>
                    <a:pt x="105530" y="0"/>
                  </a:lnTo>
                  <a:cubicBezTo>
                    <a:pt x="103800" y="0"/>
                    <a:pt x="102070" y="691"/>
                    <a:pt x="100686" y="1727"/>
                  </a:cubicBezTo>
                  <a:lnTo>
                    <a:pt x="60550" y="37987"/>
                  </a:lnTo>
                  <a:cubicBezTo>
                    <a:pt x="59512" y="39023"/>
                    <a:pt x="58128" y="39714"/>
                    <a:pt x="56398" y="39714"/>
                  </a:cubicBezTo>
                  <a:lnTo>
                    <a:pt x="28372" y="39714"/>
                  </a:lnTo>
                  <a:cubicBezTo>
                    <a:pt x="26642" y="39714"/>
                    <a:pt x="25258" y="38333"/>
                    <a:pt x="25258" y="36606"/>
                  </a:cubicBezTo>
                  <a:lnTo>
                    <a:pt x="25258" y="0"/>
                  </a:lnTo>
                  <a:lnTo>
                    <a:pt x="0" y="0"/>
                  </a:lnTo>
                  <a:lnTo>
                    <a:pt x="0" y="102221"/>
                  </a:lnTo>
                  <a:lnTo>
                    <a:pt x="25258" y="102221"/>
                  </a:lnTo>
                  <a:lnTo>
                    <a:pt x="25258" y="65615"/>
                  </a:lnTo>
                  <a:cubicBezTo>
                    <a:pt x="25258" y="63888"/>
                    <a:pt x="26642" y="62507"/>
                    <a:pt x="28372" y="62507"/>
                  </a:cubicBezTo>
                  <a:lnTo>
                    <a:pt x="56398" y="62507"/>
                  </a:lnTo>
                  <a:cubicBezTo>
                    <a:pt x="57782" y="62507"/>
                    <a:pt x="59512" y="62852"/>
                    <a:pt x="60550" y="64233"/>
                  </a:cubicBezTo>
                  <a:lnTo>
                    <a:pt x="100686" y="100494"/>
                  </a:lnTo>
                  <a:cubicBezTo>
                    <a:pt x="102070" y="101530"/>
                    <a:pt x="103800" y="102221"/>
                    <a:pt x="105530" y="102221"/>
                  </a:cubicBezTo>
                  <a:lnTo>
                    <a:pt x="128020" y="102221"/>
                  </a:lnTo>
                  <a:lnTo>
                    <a:pt x="128020" y="76665"/>
                  </a:lnTo>
                  <a:lnTo>
                    <a:pt x="115564" y="76665"/>
                  </a:lnTo>
                  <a:cubicBezTo>
                    <a:pt x="111758" y="76665"/>
                    <a:pt x="107952" y="75284"/>
                    <a:pt x="105184" y="72867"/>
                  </a:cubicBezTo>
                  <a:lnTo>
                    <a:pt x="86154" y="55945"/>
                  </a:lnTo>
                  <a:cubicBezTo>
                    <a:pt x="83040" y="53528"/>
                    <a:pt x="83040" y="48693"/>
                    <a:pt x="86154" y="45930"/>
                  </a:cubicBezTo>
                  <a:lnTo>
                    <a:pt x="105184" y="29009"/>
                  </a:lnTo>
                  <a:cubicBezTo>
                    <a:pt x="108298" y="26591"/>
                    <a:pt x="111758" y="25210"/>
                    <a:pt x="115564" y="25210"/>
                  </a:cubicBezTo>
                  <a:lnTo>
                    <a:pt x="128020" y="25210"/>
                  </a:lnTo>
                  <a:close/>
                </a:path>
              </a:pathLst>
            </a:custGeom>
            <a:grpFill/>
            <a:ln w="3458" cap="flat">
              <a:noFill/>
              <a:prstDash val="solid"/>
              <a:miter/>
            </a:ln>
          </p:spPr>
          <p:txBody>
            <a:bodyPr rtlCol="0" anchor="ctr"/>
            <a:lstStyle/>
            <a:p>
              <a:endParaRPr lang="en-US" sz="1800"/>
            </a:p>
          </p:txBody>
        </p:sp>
        <p:sp>
          <p:nvSpPr>
            <p:cNvPr id="28" name="Freeform 27">
              <a:extLst>
                <a:ext uri="{FF2B5EF4-FFF2-40B4-BE49-F238E27FC236}">
                  <a16:creationId xmlns:a16="http://schemas.microsoft.com/office/drawing/2014/main" id="{F191E492-027A-F9BF-82DA-B57CDDE7381E}"/>
                </a:ext>
              </a:extLst>
            </p:cNvPr>
            <p:cNvSpPr/>
            <p:nvPr/>
          </p:nvSpPr>
          <p:spPr>
            <a:xfrm>
              <a:off x="8623760" y="7684742"/>
              <a:ext cx="138053" cy="102565"/>
            </a:xfrm>
            <a:custGeom>
              <a:avLst/>
              <a:gdLst>
                <a:gd name="connsiteX0" fmla="*/ 99302 w 138053"/>
                <a:gd name="connsiteY0" fmla="*/ 345 h 102565"/>
                <a:gd name="connsiteX1" fmla="*/ 70238 w 138053"/>
                <a:gd name="connsiteY1" fmla="*/ 14850 h 102565"/>
                <a:gd name="connsiteX2" fmla="*/ 0 w 138053"/>
                <a:gd name="connsiteY2" fmla="*/ 102566 h 102565"/>
                <a:gd name="connsiteX3" fmla="*/ 35638 w 138053"/>
                <a:gd name="connsiteY3" fmla="*/ 102566 h 102565"/>
                <a:gd name="connsiteX4" fmla="*/ 93420 w 138053"/>
                <a:gd name="connsiteY4" fmla="*/ 31426 h 102565"/>
                <a:gd name="connsiteX5" fmla="*/ 102762 w 138053"/>
                <a:gd name="connsiteY5" fmla="*/ 26246 h 102565"/>
                <a:gd name="connsiteX6" fmla="*/ 112450 w 138053"/>
                <a:gd name="connsiteY6" fmla="*/ 36951 h 102565"/>
                <a:gd name="connsiteX7" fmla="*/ 112450 w 138053"/>
                <a:gd name="connsiteY7" fmla="*/ 68032 h 102565"/>
                <a:gd name="connsiteX8" fmla="*/ 105184 w 138053"/>
                <a:gd name="connsiteY8" fmla="*/ 77011 h 102565"/>
                <a:gd name="connsiteX9" fmla="*/ 97918 w 138053"/>
                <a:gd name="connsiteY9" fmla="*/ 77011 h 102565"/>
                <a:gd name="connsiteX10" fmla="*/ 97918 w 138053"/>
                <a:gd name="connsiteY10" fmla="*/ 102566 h 102565"/>
                <a:gd name="connsiteX11" fmla="*/ 138054 w 138053"/>
                <a:gd name="connsiteY11" fmla="*/ 102566 h 102565"/>
                <a:gd name="connsiteX12" fmla="*/ 138054 w 138053"/>
                <a:gd name="connsiteY12" fmla="*/ 38333 h 102565"/>
                <a:gd name="connsiteX13" fmla="*/ 98956 w 138053"/>
                <a:gd name="connsiteY13" fmla="*/ 0 h 102565"/>
                <a:gd name="connsiteX14" fmla="*/ 98956 w 138053"/>
                <a:gd name="connsiteY14" fmla="*/ 0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8053" h="102565">
                  <a:moveTo>
                    <a:pt x="99302" y="345"/>
                  </a:moveTo>
                  <a:cubicBezTo>
                    <a:pt x="87884" y="345"/>
                    <a:pt x="77158" y="5871"/>
                    <a:pt x="70238" y="14850"/>
                  </a:cubicBezTo>
                  <a:lnTo>
                    <a:pt x="0" y="102566"/>
                  </a:lnTo>
                  <a:lnTo>
                    <a:pt x="35638" y="102566"/>
                  </a:lnTo>
                  <a:lnTo>
                    <a:pt x="93420" y="31426"/>
                  </a:lnTo>
                  <a:cubicBezTo>
                    <a:pt x="96188" y="27973"/>
                    <a:pt x="98264" y="26246"/>
                    <a:pt x="102762" y="26246"/>
                  </a:cubicBezTo>
                  <a:cubicBezTo>
                    <a:pt x="107260" y="26246"/>
                    <a:pt x="112450" y="31081"/>
                    <a:pt x="112450" y="36951"/>
                  </a:cubicBezTo>
                  <a:lnTo>
                    <a:pt x="112450" y="68032"/>
                  </a:lnTo>
                  <a:cubicBezTo>
                    <a:pt x="112450" y="72867"/>
                    <a:pt x="110028" y="77011"/>
                    <a:pt x="105184" y="77011"/>
                  </a:cubicBezTo>
                  <a:lnTo>
                    <a:pt x="97918" y="77011"/>
                  </a:lnTo>
                  <a:lnTo>
                    <a:pt x="97918" y="102566"/>
                  </a:lnTo>
                  <a:lnTo>
                    <a:pt x="138054" y="102566"/>
                  </a:lnTo>
                  <a:lnTo>
                    <a:pt x="138054" y="38333"/>
                  </a:lnTo>
                  <a:cubicBezTo>
                    <a:pt x="138054" y="33153"/>
                    <a:pt x="138054" y="0"/>
                    <a:pt x="98956" y="0"/>
                  </a:cubicBezTo>
                  <a:lnTo>
                    <a:pt x="98956" y="0"/>
                  </a:lnTo>
                  <a:close/>
                </a:path>
              </a:pathLst>
            </a:custGeom>
            <a:grpFill/>
            <a:ln w="3458" cap="flat">
              <a:noFill/>
              <a:prstDash val="solid"/>
              <a:miter/>
            </a:ln>
          </p:spPr>
          <p:txBody>
            <a:bodyPr rtlCol="0" anchor="ctr"/>
            <a:lstStyle/>
            <a:p>
              <a:endParaRPr lang="en-US" sz="1800"/>
            </a:p>
          </p:txBody>
        </p:sp>
        <p:sp>
          <p:nvSpPr>
            <p:cNvPr id="29" name="Freeform 28">
              <a:extLst>
                <a:ext uri="{FF2B5EF4-FFF2-40B4-BE49-F238E27FC236}">
                  <a16:creationId xmlns:a16="http://schemas.microsoft.com/office/drawing/2014/main" id="{9E572BC9-4326-44EB-5022-A00E8D09A174}"/>
                </a:ext>
              </a:extLst>
            </p:cNvPr>
            <p:cNvSpPr/>
            <p:nvPr/>
          </p:nvSpPr>
          <p:spPr>
            <a:xfrm>
              <a:off x="9480453" y="7685087"/>
              <a:ext cx="30793" cy="25555"/>
            </a:xfrm>
            <a:custGeom>
              <a:avLst/>
              <a:gdLst>
                <a:gd name="connsiteX0" fmla="*/ 30448 w 30793"/>
                <a:gd name="connsiteY0" fmla="*/ 0 h 25555"/>
                <a:gd name="connsiteX1" fmla="*/ 30448 w 30793"/>
                <a:gd name="connsiteY1" fmla="*/ 25555 h 25555"/>
                <a:gd name="connsiteX2" fmla="*/ 24912 w 30793"/>
                <a:gd name="connsiteY2" fmla="*/ 25555 h 25555"/>
                <a:gd name="connsiteX3" fmla="*/ 24912 w 30793"/>
                <a:gd name="connsiteY3" fmla="*/ 5180 h 25555"/>
                <a:gd name="connsiteX4" fmla="*/ 24912 w 30793"/>
                <a:gd name="connsiteY4" fmla="*/ 5180 h 25555"/>
                <a:gd name="connsiteX5" fmla="*/ 17646 w 30793"/>
                <a:gd name="connsiteY5" fmla="*/ 25555 h 25555"/>
                <a:gd name="connsiteX6" fmla="*/ 12802 w 30793"/>
                <a:gd name="connsiteY6" fmla="*/ 25555 h 25555"/>
                <a:gd name="connsiteX7" fmla="*/ 5536 w 30793"/>
                <a:gd name="connsiteY7" fmla="*/ 5180 h 25555"/>
                <a:gd name="connsiteX8" fmla="*/ 5536 w 30793"/>
                <a:gd name="connsiteY8" fmla="*/ 5180 h 25555"/>
                <a:gd name="connsiteX9" fmla="*/ 5536 w 30793"/>
                <a:gd name="connsiteY9" fmla="*/ 25555 h 25555"/>
                <a:gd name="connsiteX10" fmla="*/ 0 w 30793"/>
                <a:gd name="connsiteY10" fmla="*/ 25555 h 25555"/>
                <a:gd name="connsiteX11" fmla="*/ 0 w 30793"/>
                <a:gd name="connsiteY11" fmla="*/ 0 h 25555"/>
                <a:gd name="connsiteX12" fmla="*/ 9688 w 30793"/>
                <a:gd name="connsiteY12" fmla="*/ 0 h 25555"/>
                <a:gd name="connsiteX13" fmla="*/ 15570 w 30793"/>
                <a:gd name="connsiteY13" fmla="*/ 17267 h 25555"/>
                <a:gd name="connsiteX14" fmla="*/ 15570 w 30793"/>
                <a:gd name="connsiteY14" fmla="*/ 17267 h 25555"/>
                <a:gd name="connsiteX15" fmla="*/ 21798 w 30793"/>
                <a:gd name="connsiteY15" fmla="*/ 0 h 25555"/>
                <a:gd name="connsiteX16" fmla="*/ 30794 w 30793"/>
                <a:gd name="connsiteY16" fmla="*/ 0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793" h="25555">
                  <a:moveTo>
                    <a:pt x="30448" y="0"/>
                  </a:moveTo>
                  <a:lnTo>
                    <a:pt x="30448" y="25555"/>
                  </a:lnTo>
                  <a:lnTo>
                    <a:pt x="24912" y="25555"/>
                  </a:lnTo>
                  <a:lnTo>
                    <a:pt x="24912" y="5180"/>
                  </a:lnTo>
                  <a:lnTo>
                    <a:pt x="24912" y="5180"/>
                  </a:lnTo>
                  <a:lnTo>
                    <a:pt x="17646" y="25555"/>
                  </a:lnTo>
                  <a:lnTo>
                    <a:pt x="12802" y="25555"/>
                  </a:lnTo>
                  <a:lnTo>
                    <a:pt x="5536" y="5180"/>
                  </a:lnTo>
                  <a:lnTo>
                    <a:pt x="5536" y="5180"/>
                  </a:lnTo>
                  <a:lnTo>
                    <a:pt x="5536" y="25555"/>
                  </a:lnTo>
                  <a:lnTo>
                    <a:pt x="0" y="25555"/>
                  </a:lnTo>
                  <a:lnTo>
                    <a:pt x="0" y="0"/>
                  </a:lnTo>
                  <a:lnTo>
                    <a:pt x="9688" y="0"/>
                  </a:lnTo>
                  <a:lnTo>
                    <a:pt x="15570" y="17267"/>
                  </a:lnTo>
                  <a:lnTo>
                    <a:pt x="15570" y="17267"/>
                  </a:lnTo>
                  <a:lnTo>
                    <a:pt x="21798" y="0"/>
                  </a:lnTo>
                  <a:lnTo>
                    <a:pt x="30794" y="0"/>
                  </a:lnTo>
                  <a:close/>
                </a:path>
              </a:pathLst>
            </a:custGeom>
            <a:grpFill/>
            <a:ln w="3458" cap="flat">
              <a:noFill/>
              <a:prstDash val="solid"/>
              <a:miter/>
            </a:ln>
          </p:spPr>
          <p:txBody>
            <a:bodyPr rtlCol="0" anchor="ctr"/>
            <a:lstStyle/>
            <a:p>
              <a:endParaRPr lang="en-US" sz="1800"/>
            </a:p>
          </p:txBody>
        </p:sp>
        <p:sp>
          <p:nvSpPr>
            <p:cNvPr id="30" name="Freeform 29">
              <a:extLst>
                <a:ext uri="{FF2B5EF4-FFF2-40B4-BE49-F238E27FC236}">
                  <a16:creationId xmlns:a16="http://schemas.microsoft.com/office/drawing/2014/main" id="{E442AC51-7D65-93EB-6DF0-9ECAE1EDAEF4}"/>
                </a:ext>
              </a:extLst>
            </p:cNvPr>
            <p:cNvSpPr/>
            <p:nvPr/>
          </p:nvSpPr>
          <p:spPr>
            <a:xfrm>
              <a:off x="9453811" y="7685087"/>
              <a:ext cx="21451" cy="25555"/>
            </a:xfrm>
            <a:custGeom>
              <a:avLst/>
              <a:gdLst>
                <a:gd name="connsiteX0" fmla="*/ 13840 w 21451"/>
                <a:gd name="connsiteY0" fmla="*/ 4835 h 25555"/>
                <a:gd name="connsiteX1" fmla="*/ 13840 w 21451"/>
                <a:gd name="connsiteY1" fmla="*/ 25555 h 25555"/>
                <a:gd name="connsiteX2" fmla="*/ 7958 w 21451"/>
                <a:gd name="connsiteY2" fmla="*/ 25555 h 25555"/>
                <a:gd name="connsiteX3" fmla="*/ 7958 w 21451"/>
                <a:gd name="connsiteY3" fmla="*/ 4835 h 25555"/>
                <a:gd name="connsiteX4" fmla="*/ 0 w 21451"/>
                <a:gd name="connsiteY4" fmla="*/ 4835 h 25555"/>
                <a:gd name="connsiteX5" fmla="*/ 0 w 21451"/>
                <a:gd name="connsiteY5" fmla="*/ 0 h 25555"/>
                <a:gd name="connsiteX6" fmla="*/ 21452 w 21451"/>
                <a:gd name="connsiteY6" fmla="*/ 0 h 25555"/>
                <a:gd name="connsiteX7" fmla="*/ 21452 w 21451"/>
                <a:gd name="connsiteY7" fmla="*/ 4835 h 25555"/>
                <a:gd name="connsiteX8" fmla="*/ 13494 w 21451"/>
                <a:gd name="connsiteY8" fmla="*/ 4835 h 25555"/>
                <a:gd name="connsiteX9" fmla="*/ 13494 w 21451"/>
                <a:gd name="connsiteY9" fmla="*/ 4835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451" h="25555">
                  <a:moveTo>
                    <a:pt x="13840" y="4835"/>
                  </a:moveTo>
                  <a:lnTo>
                    <a:pt x="13840" y="25555"/>
                  </a:lnTo>
                  <a:lnTo>
                    <a:pt x="7958" y="25555"/>
                  </a:lnTo>
                  <a:lnTo>
                    <a:pt x="7958" y="4835"/>
                  </a:lnTo>
                  <a:lnTo>
                    <a:pt x="0" y="4835"/>
                  </a:lnTo>
                  <a:lnTo>
                    <a:pt x="0" y="0"/>
                  </a:lnTo>
                  <a:lnTo>
                    <a:pt x="21452" y="0"/>
                  </a:lnTo>
                  <a:lnTo>
                    <a:pt x="21452" y="4835"/>
                  </a:lnTo>
                  <a:lnTo>
                    <a:pt x="13494" y="4835"/>
                  </a:lnTo>
                  <a:lnTo>
                    <a:pt x="13494" y="4835"/>
                  </a:lnTo>
                  <a:close/>
                </a:path>
              </a:pathLst>
            </a:custGeom>
            <a:grpFill/>
            <a:ln w="3458" cap="flat">
              <a:noFill/>
              <a:prstDash val="solid"/>
              <a:miter/>
            </a:ln>
          </p:spPr>
          <p:txBody>
            <a:bodyPr rtlCol="0" anchor="ctr"/>
            <a:lstStyle/>
            <a:p>
              <a:endParaRPr lang="en-US" sz="1800"/>
            </a:p>
          </p:txBody>
        </p:sp>
      </p:grpSp>
      <p:sp>
        <p:nvSpPr>
          <p:cNvPr id="31" name="name_2024 sandisk or its affiliates All rights reserved">
            <a:extLst>
              <a:ext uri="{FF2B5EF4-FFF2-40B4-BE49-F238E27FC236}">
                <a16:creationId xmlns:a16="http://schemas.microsoft.com/office/drawing/2014/main" id="{A171EF2A-6057-D328-301B-4C75E036D718}"/>
              </a:ext>
            </a:extLst>
          </p:cNvPr>
          <p:cNvSpPr txBox="1"/>
          <p:nvPr/>
        </p:nvSpPr>
        <p:spPr>
          <a:xfrm>
            <a:off x="6096000" y="6437971"/>
            <a:ext cx="5803900"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b">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r" defTabSz="609412" hangingPunct="0">
              <a:lnSpc>
                <a:spcPct val="100000"/>
              </a:lnSpc>
            </a:pPr>
            <a:r>
              <a:rPr lang="en-US" sz="1000" b="0" i="0" kern="0" spc="0" baseline="0">
                <a:solidFill>
                  <a:schemeClr val="bg1"/>
                </a:solidFill>
                <a:latin typeface="NB Architekt Pro Neue" panose="02010509020201040001" pitchFamily="49" charset="77"/>
                <a:cs typeface="Consolas" panose="020B0609020204030204" pitchFamily="49" charset="0"/>
              </a:rPr>
              <a:t>©2025 SANDISK CORPORATION OR ITS AFFILIATES ALL RIGHTS RESERVED</a:t>
            </a:r>
          </a:p>
        </p:txBody>
      </p:sp>
      <p:sp>
        <p:nvSpPr>
          <p:cNvPr id="32" name="name_2024 sandisk or its affiliates All rights reserved">
            <a:extLst>
              <a:ext uri="{FF2B5EF4-FFF2-40B4-BE49-F238E27FC236}">
                <a16:creationId xmlns:a16="http://schemas.microsoft.com/office/drawing/2014/main" id="{922692D1-6778-C74C-7CEA-3EEA509C843D}"/>
              </a:ext>
            </a:extLst>
          </p:cNvPr>
          <p:cNvSpPr txBox="1"/>
          <p:nvPr/>
        </p:nvSpPr>
        <p:spPr>
          <a:xfrm>
            <a:off x="8997951" y="267518"/>
            <a:ext cx="2242276"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bg1"/>
                </a:solidFill>
                <a:latin typeface="NB Architekt Pro Neue" panose="02010509020201040001" pitchFamily="49" charset="77"/>
                <a:cs typeface="Consolas" panose="020B0609020204030204" pitchFamily="49" charset="0"/>
              </a:rPr>
              <a:t>“START” “REPEAT” “1988/2025”</a:t>
            </a:r>
          </a:p>
        </p:txBody>
      </p:sp>
      <p:sp>
        <p:nvSpPr>
          <p:cNvPr id="33" name="Rectangle 32">
            <a:extLst>
              <a:ext uri="{FF2B5EF4-FFF2-40B4-BE49-F238E27FC236}">
                <a16:creationId xmlns:a16="http://schemas.microsoft.com/office/drawing/2014/main" id="{255FAC2B-9831-FC3C-95E2-F09B96BD8117}"/>
              </a:ext>
            </a:extLst>
          </p:cNvPr>
          <p:cNvSpPr/>
          <p:nvPr/>
        </p:nvSpPr>
        <p:spPr>
          <a:xfrm>
            <a:off x="11808843" y="296581"/>
            <a:ext cx="91057" cy="9105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243558964"/>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lank Gray">
    <p:bg>
      <p:bgPr>
        <a:solidFill>
          <a:schemeClr val="accent1"/>
        </a:solidFill>
        <a:effectLst/>
      </p:bgPr>
    </p:bg>
    <p:spTree>
      <p:nvGrpSpPr>
        <p:cNvPr id="1" name=""/>
        <p:cNvGrpSpPr/>
        <p:nvPr/>
      </p:nvGrpSpPr>
      <p:grpSpPr>
        <a:xfrm>
          <a:off x="0" y="0"/>
          <a:ext cx="0" cy="0"/>
          <a:chOff x="0" y="0"/>
          <a:chExt cx="0" cy="0"/>
        </a:xfrm>
      </p:grpSpPr>
      <p:sp>
        <p:nvSpPr>
          <p:cNvPr id="14" name="name_2024 sandisk or its affiliates All rights reserved">
            <a:extLst>
              <a:ext uri="{FF2B5EF4-FFF2-40B4-BE49-F238E27FC236}">
                <a16:creationId xmlns:a16="http://schemas.microsoft.com/office/drawing/2014/main" id="{C2EB78CC-5952-6B45-686A-74177B116777}"/>
              </a:ext>
            </a:extLst>
          </p:cNvPr>
          <p:cNvSpPr txBox="1"/>
          <p:nvPr/>
        </p:nvSpPr>
        <p:spPr>
          <a:xfrm>
            <a:off x="292100" y="267518"/>
            <a:ext cx="1323975"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tx1"/>
                </a:solidFill>
                <a:latin typeface="NB Architekt Pro Neue" panose="02010509020201040001" pitchFamily="49" charset="77"/>
                <a:cs typeface="Consolas" panose="020B0609020204030204" pitchFamily="49" charset="0"/>
              </a:rPr>
              <a:t>[CONFIDENTIAL]</a:t>
            </a:r>
          </a:p>
        </p:txBody>
      </p:sp>
      <p:sp>
        <p:nvSpPr>
          <p:cNvPr id="2" name="Slide Number Placeholder 5">
            <a:extLst>
              <a:ext uri="{FF2B5EF4-FFF2-40B4-BE49-F238E27FC236}">
                <a16:creationId xmlns:a16="http://schemas.microsoft.com/office/drawing/2014/main" id="{432E9088-7CE0-031E-34ED-0A51A9E0C3EA}"/>
              </a:ext>
            </a:extLst>
          </p:cNvPr>
          <p:cNvSpPr>
            <a:spLocks noGrp="1"/>
          </p:cNvSpPr>
          <p:nvPr>
            <p:ph type="sldNum" sz="quarter" idx="4"/>
          </p:nvPr>
        </p:nvSpPr>
        <p:spPr>
          <a:xfrm>
            <a:off x="3194050" y="6455472"/>
            <a:ext cx="855221" cy="118872"/>
          </a:xfrm>
          <a:prstGeom prst="rect">
            <a:avLst/>
          </a:prstGeom>
        </p:spPr>
        <p:txBody>
          <a:bodyPr vert="horz" lIns="0" tIns="0" rIns="0" bIns="0" rtlCol="0" anchor="ctr"/>
          <a:lstStyle>
            <a:lvl1pPr algn="l">
              <a:defRPr sz="1000" b="0" i="0" spc="0" baseline="0">
                <a:solidFill>
                  <a:schemeClr val="tx1"/>
                </a:solidFill>
                <a:latin typeface="NB Architekt Pro Neue" panose="02010509020201040001" pitchFamily="49" charset="77"/>
                <a:cs typeface="Consolas" panose="020B0609020204030204" pitchFamily="49" charset="0"/>
              </a:defRPr>
            </a:lvl1pPr>
          </a:lstStyle>
          <a:p>
            <a:r>
              <a:rPr lang="en-US"/>
              <a:t>00.0</a:t>
            </a:r>
            <a:fld id="{4571BA12-316B-0A40-BB3D-1A8CDD33E9E5}" type="slidenum">
              <a:rPr lang="en-US" smtClean="0"/>
              <a:pPr/>
              <a:t>‹#›</a:t>
            </a:fld>
            <a:endParaRPr lang="en-US"/>
          </a:p>
        </p:txBody>
      </p:sp>
      <p:grpSp>
        <p:nvGrpSpPr>
          <p:cNvPr id="18" name="Group 17">
            <a:extLst>
              <a:ext uri="{FF2B5EF4-FFF2-40B4-BE49-F238E27FC236}">
                <a16:creationId xmlns:a16="http://schemas.microsoft.com/office/drawing/2014/main" id="{97D006E4-331A-0157-CE42-E8ACDAEB4FCB}"/>
              </a:ext>
            </a:extLst>
          </p:cNvPr>
          <p:cNvGrpSpPr>
            <a:grpSpLocks noChangeAspect="1"/>
          </p:cNvGrpSpPr>
          <p:nvPr/>
        </p:nvGrpSpPr>
        <p:grpSpPr>
          <a:xfrm>
            <a:off x="297027" y="6344485"/>
            <a:ext cx="2240280" cy="218081"/>
            <a:chOff x="8480170" y="7684742"/>
            <a:chExt cx="1031076" cy="102566"/>
          </a:xfrm>
          <a:solidFill>
            <a:schemeClr val="accent3"/>
          </a:solidFill>
        </p:grpSpPr>
        <p:sp>
          <p:nvSpPr>
            <p:cNvPr id="19" name="Freeform 18">
              <a:extLst>
                <a:ext uri="{FF2B5EF4-FFF2-40B4-BE49-F238E27FC236}">
                  <a16:creationId xmlns:a16="http://schemas.microsoft.com/office/drawing/2014/main" id="{34DA491E-AD65-B9A0-CD50-F8528A6520CC}"/>
                </a:ext>
              </a:extLst>
            </p:cNvPr>
            <p:cNvSpPr/>
            <p:nvPr/>
          </p:nvSpPr>
          <p:spPr>
            <a:xfrm>
              <a:off x="8788109" y="7684742"/>
              <a:ext cx="128019" cy="102565"/>
            </a:xfrm>
            <a:custGeom>
              <a:avLst/>
              <a:gdLst>
                <a:gd name="connsiteX0" fmla="*/ 102070 w 128019"/>
                <a:gd name="connsiteY0" fmla="*/ 70104 h 102565"/>
                <a:gd name="connsiteX1" fmla="*/ 96188 w 128019"/>
                <a:gd name="connsiteY1" fmla="*/ 77011 h 102565"/>
                <a:gd name="connsiteX2" fmla="*/ 89268 w 128019"/>
                <a:gd name="connsiteY2" fmla="*/ 72521 h 102565"/>
                <a:gd name="connsiteX3" fmla="*/ 65740 w 128019"/>
                <a:gd name="connsiteY3" fmla="*/ 8288 h 102565"/>
                <a:gd name="connsiteX4" fmla="*/ 54668 w 128019"/>
                <a:gd name="connsiteY4" fmla="*/ 0 h 102565"/>
                <a:gd name="connsiteX5" fmla="*/ 0 w 128019"/>
                <a:gd name="connsiteY5" fmla="*/ 0 h 102565"/>
                <a:gd name="connsiteX6" fmla="*/ 0 w 128019"/>
                <a:gd name="connsiteY6" fmla="*/ 102221 h 102565"/>
                <a:gd name="connsiteX7" fmla="*/ 40136 w 128019"/>
                <a:gd name="connsiteY7" fmla="*/ 102221 h 102565"/>
                <a:gd name="connsiteX8" fmla="*/ 40136 w 128019"/>
                <a:gd name="connsiteY8" fmla="*/ 76665 h 102565"/>
                <a:gd name="connsiteX9" fmla="*/ 32870 w 128019"/>
                <a:gd name="connsiteY9" fmla="*/ 76665 h 102565"/>
                <a:gd name="connsiteX10" fmla="*/ 25604 w 128019"/>
                <a:gd name="connsiteY10" fmla="*/ 67687 h 102565"/>
                <a:gd name="connsiteX11" fmla="*/ 25604 w 128019"/>
                <a:gd name="connsiteY11" fmla="*/ 36951 h 102565"/>
                <a:gd name="connsiteX12" fmla="*/ 39790 w 128019"/>
                <a:gd name="connsiteY12" fmla="*/ 26591 h 102565"/>
                <a:gd name="connsiteX13" fmla="*/ 45672 w 128019"/>
                <a:gd name="connsiteY13" fmla="*/ 32807 h 102565"/>
                <a:gd name="connsiteX14" fmla="*/ 64356 w 128019"/>
                <a:gd name="connsiteY14" fmla="*/ 81500 h 102565"/>
                <a:gd name="connsiteX15" fmla="*/ 95150 w 128019"/>
                <a:gd name="connsiteY15" fmla="*/ 102566 h 102565"/>
                <a:gd name="connsiteX16" fmla="*/ 95842 w 128019"/>
                <a:gd name="connsiteY16" fmla="*/ 102566 h 102565"/>
                <a:gd name="connsiteX17" fmla="*/ 128020 w 128019"/>
                <a:gd name="connsiteY17" fmla="*/ 70795 h 102565"/>
                <a:gd name="connsiteX18" fmla="*/ 128020 w 128019"/>
                <a:gd name="connsiteY18" fmla="*/ 345 h 102565"/>
                <a:gd name="connsiteX19" fmla="*/ 102416 w 128019"/>
                <a:gd name="connsiteY19" fmla="*/ 345 h 102565"/>
                <a:gd name="connsiteX20" fmla="*/ 102416 w 128019"/>
                <a:gd name="connsiteY20" fmla="*/ 70104 h 102565"/>
                <a:gd name="connsiteX21" fmla="*/ 102416 w 128019"/>
                <a:gd name="connsiteY21" fmla="*/ 70104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8019" h="102565">
                  <a:moveTo>
                    <a:pt x="102070" y="70104"/>
                  </a:moveTo>
                  <a:cubicBezTo>
                    <a:pt x="102070" y="73557"/>
                    <a:pt x="99648" y="76665"/>
                    <a:pt x="96188" y="77011"/>
                  </a:cubicBezTo>
                  <a:cubicBezTo>
                    <a:pt x="93074" y="77356"/>
                    <a:pt x="90306" y="75629"/>
                    <a:pt x="89268" y="72521"/>
                  </a:cubicBezTo>
                  <a:lnTo>
                    <a:pt x="65740" y="8288"/>
                  </a:lnTo>
                  <a:cubicBezTo>
                    <a:pt x="64010" y="3108"/>
                    <a:pt x="59858" y="0"/>
                    <a:pt x="54668" y="0"/>
                  </a:cubicBezTo>
                  <a:lnTo>
                    <a:pt x="0" y="0"/>
                  </a:lnTo>
                  <a:lnTo>
                    <a:pt x="0" y="102221"/>
                  </a:lnTo>
                  <a:lnTo>
                    <a:pt x="40136" y="102221"/>
                  </a:lnTo>
                  <a:lnTo>
                    <a:pt x="40136" y="76665"/>
                  </a:lnTo>
                  <a:lnTo>
                    <a:pt x="32870" y="76665"/>
                  </a:lnTo>
                  <a:cubicBezTo>
                    <a:pt x="28026" y="76665"/>
                    <a:pt x="25604" y="72521"/>
                    <a:pt x="25604" y="67687"/>
                  </a:cubicBezTo>
                  <a:lnTo>
                    <a:pt x="25604" y="36951"/>
                  </a:lnTo>
                  <a:cubicBezTo>
                    <a:pt x="25604" y="29354"/>
                    <a:pt x="32870" y="23828"/>
                    <a:pt x="39790" y="26591"/>
                  </a:cubicBezTo>
                  <a:cubicBezTo>
                    <a:pt x="42212" y="27627"/>
                    <a:pt x="44634" y="30045"/>
                    <a:pt x="45672" y="32807"/>
                  </a:cubicBezTo>
                  <a:lnTo>
                    <a:pt x="64356" y="81500"/>
                  </a:lnTo>
                  <a:cubicBezTo>
                    <a:pt x="69200" y="94278"/>
                    <a:pt x="81310" y="102566"/>
                    <a:pt x="95150" y="102566"/>
                  </a:cubicBezTo>
                  <a:lnTo>
                    <a:pt x="95842" y="102566"/>
                  </a:lnTo>
                  <a:cubicBezTo>
                    <a:pt x="113488" y="102566"/>
                    <a:pt x="128020" y="88407"/>
                    <a:pt x="128020" y="70795"/>
                  </a:cubicBezTo>
                  <a:lnTo>
                    <a:pt x="128020" y="345"/>
                  </a:lnTo>
                  <a:lnTo>
                    <a:pt x="102416" y="345"/>
                  </a:lnTo>
                  <a:lnTo>
                    <a:pt x="102416" y="70104"/>
                  </a:lnTo>
                  <a:lnTo>
                    <a:pt x="102416" y="70104"/>
                  </a:lnTo>
                  <a:close/>
                </a:path>
              </a:pathLst>
            </a:custGeom>
            <a:grpFill/>
            <a:ln w="3458" cap="flat">
              <a:noFill/>
              <a:prstDash val="solid"/>
              <a:miter/>
            </a:ln>
          </p:spPr>
          <p:txBody>
            <a:bodyPr rtlCol="0" anchor="ctr"/>
            <a:lstStyle/>
            <a:p>
              <a:endParaRPr lang="en-US" sz="1800"/>
            </a:p>
          </p:txBody>
        </p:sp>
        <p:sp>
          <p:nvSpPr>
            <p:cNvPr id="20" name="Freeform 19">
              <a:extLst>
                <a:ext uri="{FF2B5EF4-FFF2-40B4-BE49-F238E27FC236}">
                  <a16:creationId xmlns:a16="http://schemas.microsoft.com/office/drawing/2014/main" id="{7D9F07DA-F249-64FB-3CF8-93864734AAC8}"/>
                </a:ext>
              </a:extLst>
            </p:cNvPr>
            <p:cNvSpPr/>
            <p:nvPr/>
          </p:nvSpPr>
          <p:spPr>
            <a:xfrm>
              <a:off x="8941733" y="7685087"/>
              <a:ext cx="128019" cy="102220"/>
            </a:xfrm>
            <a:custGeom>
              <a:avLst/>
              <a:gdLst>
                <a:gd name="connsiteX0" fmla="*/ 76812 w 128019"/>
                <a:gd name="connsiteY0" fmla="*/ 0 h 102220"/>
                <a:gd name="connsiteX1" fmla="*/ 0 w 128019"/>
                <a:gd name="connsiteY1" fmla="*/ 0 h 102220"/>
                <a:gd name="connsiteX2" fmla="*/ 0 w 128019"/>
                <a:gd name="connsiteY2" fmla="*/ 25555 h 102220"/>
                <a:gd name="connsiteX3" fmla="*/ 76812 w 128019"/>
                <a:gd name="connsiteY3" fmla="*/ 25555 h 102220"/>
                <a:gd name="connsiteX4" fmla="*/ 102416 w 128019"/>
                <a:gd name="connsiteY4" fmla="*/ 51110 h 102220"/>
                <a:gd name="connsiteX5" fmla="*/ 76812 w 128019"/>
                <a:gd name="connsiteY5" fmla="*/ 76665 h 102220"/>
                <a:gd name="connsiteX6" fmla="*/ 0 w 128019"/>
                <a:gd name="connsiteY6" fmla="*/ 76665 h 102220"/>
                <a:gd name="connsiteX7" fmla="*/ 0 w 128019"/>
                <a:gd name="connsiteY7" fmla="*/ 102221 h 102220"/>
                <a:gd name="connsiteX8" fmla="*/ 76812 w 128019"/>
                <a:gd name="connsiteY8" fmla="*/ 102221 h 102220"/>
                <a:gd name="connsiteX9" fmla="*/ 121792 w 128019"/>
                <a:gd name="connsiteY9" fmla="*/ 75629 h 102220"/>
                <a:gd name="connsiteX10" fmla="*/ 128020 w 128019"/>
                <a:gd name="connsiteY10" fmla="*/ 51110 h 102220"/>
                <a:gd name="connsiteX11" fmla="*/ 121792 w 128019"/>
                <a:gd name="connsiteY11" fmla="*/ 26591 h 102220"/>
                <a:gd name="connsiteX12" fmla="*/ 76812 w 128019"/>
                <a:gd name="connsiteY12" fmla="*/ 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8019" h="102220">
                  <a:moveTo>
                    <a:pt x="76812" y="0"/>
                  </a:moveTo>
                  <a:lnTo>
                    <a:pt x="0" y="0"/>
                  </a:lnTo>
                  <a:lnTo>
                    <a:pt x="0" y="25555"/>
                  </a:lnTo>
                  <a:lnTo>
                    <a:pt x="76812" y="25555"/>
                  </a:lnTo>
                  <a:cubicBezTo>
                    <a:pt x="90306" y="25555"/>
                    <a:pt x="102416" y="37297"/>
                    <a:pt x="102416" y="51110"/>
                  </a:cubicBezTo>
                  <a:cubicBezTo>
                    <a:pt x="102416" y="64924"/>
                    <a:pt x="90652" y="76665"/>
                    <a:pt x="76812" y="76665"/>
                  </a:cubicBezTo>
                  <a:lnTo>
                    <a:pt x="0" y="76665"/>
                  </a:lnTo>
                  <a:lnTo>
                    <a:pt x="0" y="102221"/>
                  </a:lnTo>
                  <a:lnTo>
                    <a:pt x="76812" y="102221"/>
                  </a:lnTo>
                  <a:cubicBezTo>
                    <a:pt x="96188" y="102221"/>
                    <a:pt x="113142" y="91515"/>
                    <a:pt x="121792" y="75629"/>
                  </a:cubicBezTo>
                  <a:cubicBezTo>
                    <a:pt x="125598" y="68377"/>
                    <a:pt x="128020" y="59744"/>
                    <a:pt x="128020" y="51110"/>
                  </a:cubicBezTo>
                  <a:cubicBezTo>
                    <a:pt x="128020" y="42477"/>
                    <a:pt x="125598" y="33843"/>
                    <a:pt x="121792" y="26591"/>
                  </a:cubicBezTo>
                  <a:cubicBezTo>
                    <a:pt x="113142" y="10706"/>
                    <a:pt x="96188" y="0"/>
                    <a:pt x="76812" y="0"/>
                  </a:cubicBezTo>
                  <a:close/>
                </a:path>
              </a:pathLst>
            </a:custGeom>
            <a:grpFill/>
            <a:ln w="3458" cap="flat">
              <a:noFill/>
              <a:prstDash val="solid"/>
              <a:miter/>
            </a:ln>
          </p:spPr>
          <p:txBody>
            <a:bodyPr rtlCol="0" anchor="ctr"/>
            <a:lstStyle/>
            <a:p>
              <a:endParaRPr lang="en-US" sz="1800"/>
            </a:p>
          </p:txBody>
        </p:sp>
        <p:sp>
          <p:nvSpPr>
            <p:cNvPr id="21" name="Freeform 20">
              <a:extLst>
                <a:ext uri="{FF2B5EF4-FFF2-40B4-BE49-F238E27FC236}">
                  <a16:creationId xmlns:a16="http://schemas.microsoft.com/office/drawing/2014/main" id="{48F3FBA1-35AC-726D-6399-D908CB19A526}"/>
                </a:ext>
              </a:extLst>
            </p:cNvPr>
            <p:cNvSpPr/>
            <p:nvPr/>
          </p:nvSpPr>
          <p:spPr>
            <a:xfrm>
              <a:off x="9080478" y="7685087"/>
              <a:ext cx="40481" cy="102220"/>
            </a:xfrm>
            <a:custGeom>
              <a:avLst/>
              <a:gdLst>
                <a:gd name="connsiteX0" fmla="*/ 5190 w 40481"/>
                <a:gd name="connsiteY0" fmla="*/ 25555 h 102220"/>
                <a:gd name="connsiteX1" fmla="*/ 7266 w 40481"/>
                <a:gd name="connsiteY1" fmla="*/ 25555 h 102220"/>
                <a:gd name="connsiteX2" fmla="*/ 14878 w 40481"/>
                <a:gd name="connsiteY2" fmla="*/ 35225 h 102220"/>
                <a:gd name="connsiteX3" fmla="*/ 14878 w 40481"/>
                <a:gd name="connsiteY3" fmla="*/ 102221 h 102220"/>
                <a:gd name="connsiteX4" fmla="*/ 40482 w 40481"/>
                <a:gd name="connsiteY4" fmla="*/ 102221 h 102220"/>
                <a:gd name="connsiteX5" fmla="*/ 40482 w 40481"/>
                <a:gd name="connsiteY5" fmla="*/ 0 h 102220"/>
                <a:gd name="connsiteX6" fmla="*/ 0 w 40481"/>
                <a:gd name="connsiteY6" fmla="*/ 0 h 102220"/>
                <a:gd name="connsiteX7" fmla="*/ 0 w 40481"/>
                <a:gd name="connsiteY7" fmla="*/ 25555 h 102220"/>
                <a:gd name="connsiteX8" fmla="*/ 5536 w 40481"/>
                <a:gd name="connsiteY8" fmla="*/ 25555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481" h="102220">
                  <a:moveTo>
                    <a:pt x="5190" y="25555"/>
                  </a:moveTo>
                  <a:cubicBezTo>
                    <a:pt x="5882" y="25555"/>
                    <a:pt x="6574" y="25555"/>
                    <a:pt x="7266" y="25555"/>
                  </a:cubicBezTo>
                  <a:cubicBezTo>
                    <a:pt x="12110" y="26246"/>
                    <a:pt x="14878" y="30045"/>
                    <a:pt x="14878" y="35225"/>
                  </a:cubicBezTo>
                  <a:lnTo>
                    <a:pt x="14878" y="102221"/>
                  </a:lnTo>
                  <a:lnTo>
                    <a:pt x="40482" y="102221"/>
                  </a:lnTo>
                  <a:lnTo>
                    <a:pt x="40482" y="0"/>
                  </a:lnTo>
                  <a:lnTo>
                    <a:pt x="0" y="0"/>
                  </a:lnTo>
                  <a:lnTo>
                    <a:pt x="0" y="25555"/>
                  </a:lnTo>
                  <a:lnTo>
                    <a:pt x="5536" y="25555"/>
                  </a:lnTo>
                  <a:close/>
                </a:path>
              </a:pathLst>
            </a:custGeom>
            <a:grpFill/>
            <a:ln w="3458" cap="flat">
              <a:noFill/>
              <a:prstDash val="solid"/>
              <a:miter/>
            </a:ln>
          </p:spPr>
          <p:txBody>
            <a:bodyPr rtlCol="0" anchor="ctr"/>
            <a:lstStyle/>
            <a:p>
              <a:endParaRPr lang="en-US" sz="1800"/>
            </a:p>
          </p:txBody>
        </p:sp>
        <p:sp>
          <p:nvSpPr>
            <p:cNvPr id="23" name="Freeform 22">
              <a:extLst>
                <a:ext uri="{FF2B5EF4-FFF2-40B4-BE49-F238E27FC236}">
                  <a16:creationId xmlns:a16="http://schemas.microsoft.com/office/drawing/2014/main" id="{EC263DFF-B678-4483-215A-364A853D122D}"/>
                </a:ext>
              </a:extLst>
            </p:cNvPr>
            <p:cNvSpPr/>
            <p:nvPr/>
          </p:nvSpPr>
          <p:spPr>
            <a:xfrm>
              <a:off x="9146218" y="7685087"/>
              <a:ext cx="128365" cy="102220"/>
            </a:xfrm>
            <a:custGeom>
              <a:avLst/>
              <a:gdLst>
                <a:gd name="connsiteX0" fmla="*/ 128365 w 128365"/>
                <a:gd name="connsiteY0" fmla="*/ 81846 h 102220"/>
                <a:gd name="connsiteX1" fmla="*/ 128365 w 128365"/>
                <a:gd name="connsiteY1" fmla="*/ 102221 h 102220"/>
                <a:gd name="connsiteX2" fmla="*/ 19722 w 128365"/>
                <a:gd name="connsiteY2" fmla="*/ 60780 h 102220"/>
                <a:gd name="connsiteX3" fmla="*/ 0 w 128365"/>
                <a:gd name="connsiteY3" fmla="*/ 30735 h 102220"/>
                <a:gd name="connsiteX4" fmla="*/ 31140 w 128365"/>
                <a:gd name="connsiteY4" fmla="*/ 0 h 102220"/>
                <a:gd name="connsiteX5" fmla="*/ 128020 w 128365"/>
                <a:gd name="connsiteY5" fmla="*/ 0 h 102220"/>
                <a:gd name="connsiteX6" fmla="*/ 128020 w 128365"/>
                <a:gd name="connsiteY6" fmla="*/ 40059 h 102220"/>
                <a:gd name="connsiteX7" fmla="*/ 102416 w 128365"/>
                <a:gd name="connsiteY7" fmla="*/ 40059 h 102220"/>
                <a:gd name="connsiteX8" fmla="*/ 102416 w 128365"/>
                <a:gd name="connsiteY8" fmla="*/ 32807 h 102220"/>
                <a:gd name="connsiteX9" fmla="*/ 94458 w 128365"/>
                <a:gd name="connsiteY9" fmla="*/ 25555 h 102220"/>
                <a:gd name="connsiteX10" fmla="*/ 37714 w 128365"/>
                <a:gd name="connsiteY10" fmla="*/ 25555 h 102220"/>
                <a:gd name="connsiteX11" fmla="*/ 29756 w 128365"/>
                <a:gd name="connsiteY11" fmla="*/ 33498 h 102220"/>
                <a:gd name="connsiteX12" fmla="*/ 34946 w 128365"/>
                <a:gd name="connsiteY12" fmla="*/ 41095 h 102220"/>
                <a:gd name="connsiteX13" fmla="*/ 119370 w 128365"/>
                <a:gd name="connsiteY13" fmla="*/ 70795 h 102220"/>
                <a:gd name="connsiteX14" fmla="*/ 127674 w 128365"/>
                <a:gd name="connsiteY14"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8365" h="102220">
                  <a:moveTo>
                    <a:pt x="128365" y="81846"/>
                  </a:moveTo>
                  <a:lnTo>
                    <a:pt x="128365"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close/>
                </a:path>
              </a:pathLst>
            </a:custGeom>
            <a:grpFill/>
            <a:ln w="3458" cap="flat">
              <a:noFill/>
              <a:prstDash val="solid"/>
              <a:miter/>
            </a:ln>
          </p:spPr>
          <p:txBody>
            <a:bodyPr rtlCol="0" anchor="ctr"/>
            <a:lstStyle/>
            <a:p>
              <a:endParaRPr lang="en-US" sz="1800"/>
            </a:p>
          </p:txBody>
        </p:sp>
        <p:sp>
          <p:nvSpPr>
            <p:cNvPr id="24" name="Freeform 23">
              <a:extLst>
                <a:ext uri="{FF2B5EF4-FFF2-40B4-BE49-F238E27FC236}">
                  <a16:creationId xmlns:a16="http://schemas.microsoft.com/office/drawing/2014/main" id="{C321DD9C-27B2-F842-273D-04B417B33B13}"/>
                </a:ext>
              </a:extLst>
            </p:cNvPr>
            <p:cNvSpPr/>
            <p:nvPr/>
          </p:nvSpPr>
          <p:spPr>
            <a:xfrm>
              <a:off x="9146564" y="7761753"/>
              <a:ext cx="25258" cy="25555"/>
            </a:xfrm>
            <a:custGeom>
              <a:avLst/>
              <a:gdLst>
                <a:gd name="connsiteX0" fmla="*/ 25258 w 25258"/>
                <a:gd name="connsiteY0" fmla="*/ 0 h 25555"/>
                <a:gd name="connsiteX1" fmla="*/ 0 w 25258"/>
                <a:gd name="connsiteY1" fmla="*/ 0 h 25555"/>
                <a:gd name="connsiteX2" fmla="*/ 0 w 25258"/>
                <a:gd name="connsiteY2" fmla="*/ 25555 h 25555"/>
                <a:gd name="connsiteX3" fmla="*/ 25258 w 25258"/>
                <a:gd name="connsiteY3" fmla="*/ 25555 h 25555"/>
                <a:gd name="connsiteX4" fmla="*/ 25258 w 25258"/>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8"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25" name="Freeform 24">
              <a:extLst>
                <a:ext uri="{FF2B5EF4-FFF2-40B4-BE49-F238E27FC236}">
                  <a16:creationId xmlns:a16="http://schemas.microsoft.com/office/drawing/2014/main" id="{6E30CB79-03B3-FA26-2774-39F0E3051120}"/>
                </a:ext>
              </a:extLst>
            </p:cNvPr>
            <p:cNvSpPr/>
            <p:nvPr/>
          </p:nvSpPr>
          <p:spPr>
            <a:xfrm>
              <a:off x="8480170" y="7685087"/>
              <a:ext cx="128019" cy="102220"/>
            </a:xfrm>
            <a:custGeom>
              <a:avLst/>
              <a:gdLst>
                <a:gd name="connsiteX0" fmla="*/ 128020 w 128019"/>
                <a:gd name="connsiteY0" fmla="*/ 81846 h 102220"/>
                <a:gd name="connsiteX1" fmla="*/ 128020 w 128019"/>
                <a:gd name="connsiteY1" fmla="*/ 102221 h 102220"/>
                <a:gd name="connsiteX2" fmla="*/ 19722 w 128019"/>
                <a:gd name="connsiteY2" fmla="*/ 60780 h 102220"/>
                <a:gd name="connsiteX3" fmla="*/ 0 w 128019"/>
                <a:gd name="connsiteY3" fmla="*/ 30735 h 102220"/>
                <a:gd name="connsiteX4" fmla="*/ 31140 w 128019"/>
                <a:gd name="connsiteY4" fmla="*/ 0 h 102220"/>
                <a:gd name="connsiteX5" fmla="*/ 128020 w 128019"/>
                <a:gd name="connsiteY5" fmla="*/ 0 h 102220"/>
                <a:gd name="connsiteX6" fmla="*/ 128020 w 128019"/>
                <a:gd name="connsiteY6" fmla="*/ 40059 h 102220"/>
                <a:gd name="connsiteX7" fmla="*/ 102416 w 128019"/>
                <a:gd name="connsiteY7" fmla="*/ 40059 h 102220"/>
                <a:gd name="connsiteX8" fmla="*/ 102416 w 128019"/>
                <a:gd name="connsiteY8" fmla="*/ 32807 h 102220"/>
                <a:gd name="connsiteX9" fmla="*/ 94458 w 128019"/>
                <a:gd name="connsiteY9" fmla="*/ 25555 h 102220"/>
                <a:gd name="connsiteX10" fmla="*/ 37714 w 128019"/>
                <a:gd name="connsiteY10" fmla="*/ 25555 h 102220"/>
                <a:gd name="connsiteX11" fmla="*/ 29756 w 128019"/>
                <a:gd name="connsiteY11" fmla="*/ 33498 h 102220"/>
                <a:gd name="connsiteX12" fmla="*/ 34946 w 128019"/>
                <a:gd name="connsiteY12" fmla="*/ 41095 h 102220"/>
                <a:gd name="connsiteX13" fmla="*/ 119370 w 128019"/>
                <a:gd name="connsiteY13" fmla="*/ 70795 h 102220"/>
                <a:gd name="connsiteX14" fmla="*/ 127674 w 128019"/>
                <a:gd name="connsiteY14" fmla="*/ 81846 h 102220"/>
                <a:gd name="connsiteX15" fmla="*/ 127674 w 128019"/>
                <a:gd name="connsiteY15"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8019" h="102220">
                  <a:moveTo>
                    <a:pt x="128020" y="81846"/>
                  </a:moveTo>
                  <a:lnTo>
                    <a:pt x="128020"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lnTo>
                    <a:pt x="127674" y="81846"/>
                  </a:lnTo>
                  <a:close/>
                </a:path>
              </a:pathLst>
            </a:custGeom>
            <a:grpFill/>
            <a:ln w="3458" cap="flat">
              <a:noFill/>
              <a:prstDash val="solid"/>
              <a:miter/>
            </a:ln>
          </p:spPr>
          <p:txBody>
            <a:bodyPr rtlCol="0" anchor="ctr"/>
            <a:lstStyle/>
            <a:p>
              <a:endParaRPr lang="en-US" sz="1800"/>
            </a:p>
          </p:txBody>
        </p:sp>
        <p:sp>
          <p:nvSpPr>
            <p:cNvPr id="26" name="Freeform 25">
              <a:extLst>
                <a:ext uri="{FF2B5EF4-FFF2-40B4-BE49-F238E27FC236}">
                  <a16:creationId xmlns:a16="http://schemas.microsoft.com/office/drawing/2014/main" id="{C3E833F1-00BE-A879-3571-9D72200A00F5}"/>
                </a:ext>
              </a:extLst>
            </p:cNvPr>
            <p:cNvSpPr/>
            <p:nvPr/>
          </p:nvSpPr>
          <p:spPr>
            <a:xfrm>
              <a:off x="8480516" y="7761753"/>
              <a:ext cx="25257" cy="25555"/>
            </a:xfrm>
            <a:custGeom>
              <a:avLst/>
              <a:gdLst>
                <a:gd name="connsiteX0" fmla="*/ 25258 w 25257"/>
                <a:gd name="connsiteY0" fmla="*/ 0 h 25555"/>
                <a:gd name="connsiteX1" fmla="*/ 0 w 25257"/>
                <a:gd name="connsiteY1" fmla="*/ 0 h 25555"/>
                <a:gd name="connsiteX2" fmla="*/ 0 w 25257"/>
                <a:gd name="connsiteY2" fmla="*/ 25555 h 25555"/>
                <a:gd name="connsiteX3" fmla="*/ 25258 w 25257"/>
                <a:gd name="connsiteY3" fmla="*/ 25555 h 25555"/>
                <a:gd name="connsiteX4" fmla="*/ 25258 w 25257"/>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7"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27" name="Freeform 26">
              <a:extLst>
                <a:ext uri="{FF2B5EF4-FFF2-40B4-BE49-F238E27FC236}">
                  <a16:creationId xmlns:a16="http://schemas.microsoft.com/office/drawing/2014/main" id="{BC0B124E-9DD4-E41C-FA9F-B3884179147A}"/>
                </a:ext>
              </a:extLst>
            </p:cNvPr>
            <p:cNvSpPr/>
            <p:nvPr/>
          </p:nvSpPr>
          <p:spPr>
            <a:xfrm>
              <a:off x="9300533" y="7685087"/>
              <a:ext cx="128019" cy="102220"/>
            </a:xfrm>
            <a:custGeom>
              <a:avLst/>
              <a:gdLst>
                <a:gd name="connsiteX0" fmla="*/ 128020 w 128019"/>
                <a:gd name="connsiteY0" fmla="*/ 25555 h 102220"/>
                <a:gd name="connsiteX1" fmla="*/ 128020 w 128019"/>
                <a:gd name="connsiteY1" fmla="*/ 0 h 102220"/>
                <a:gd name="connsiteX2" fmla="*/ 105530 w 128019"/>
                <a:gd name="connsiteY2" fmla="*/ 0 h 102220"/>
                <a:gd name="connsiteX3" fmla="*/ 100686 w 128019"/>
                <a:gd name="connsiteY3" fmla="*/ 1727 h 102220"/>
                <a:gd name="connsiteX4" fmla="*/ 60550 w 128019"/>
                <a:gd name="connsiteY4" fmla="*/ 37987 h 102220"/>
                <a:gd name="connsiteX5" fmla="*/ 56398 w 128019"/>
                <a:gd name="connsiteY5" fmla="*/ 39714 h 102220"/>
                <a:gd name="connsiteX6" fmla="*/ 28372 w 128019"/>
                <a:gd name="connsiteY6" fmla="*/ 39714 h 102220"/>
                <a:gd name="connsiteX7" fmla="*/ 25258 w 128019"/>
                <a:gd name="connsiteY7" fmla="*/ 36606 h 102220"/>
                <a:gd name="connsiteX8" fmla="*/ 25258 w 128019"/>
                <a:gd name="connsiteY8" fmla="*/ 0 h 102220"/>
                <a:gd name="connsiteX9" fmla="*/ 0 w 128019"/>
                <a:gd name="connsiteY9" fmla="*/ 0 h 102220"/>
                <a:gd name="connsiteX10" fmla="*/ 0 w 128019"/>
                <a:gd name="connsiteY10" fmla="*/ 102221 h 102220"/>
                <a:gd name="connsiteX11" fmla="*/ 25258 w 128019"/>
                <a:gd name="connsiteY11" fmla="*/ 102221 h 102220"/>
                <a:gd name="connsiteX12" fmla="*/ 25258 w 128019"/>
                <a:gd name="connsiteY12" fmla="*/ 65615 h 102220"/>
                <a:gd name="connsiteX13" fmla="*/ 28372 w 128019"/>
                <a:gd name="connsiteY13" fmla="*/ 62507 h 102220"/>
                <a:gd name="connsiteX14" fmla="*/ 56398 w 128019"/>
                <a:gd name="connsiteY14" fmla="*/ 62507 h 102220"/>
                <a:gd name="connsiteX15" fmla="*/ 60550 w 128019"/>
                <a:gd name="connsiteY15" fmla="*/ 64233 h 102220"/>
                <a:gd name="connsiteX16" fmla="*/ 100686 w 128019"/>
                <a:gd name="connsiteY16" fmla="*/ 100494 h 102220"/>
                <a:gd name="connsiteX17" fmla="*/ 105530 w 128019"/>
                <a:gd name="connsiteY17" fmla="*/ 102221 h 102220"/>
                <a:gd name="connsiteX18" fmla="*/ 128020 w 128019"/>
                <a:gd name="connsiteY18" fmla="*/ 102221 h 102220"/>
                <a:gd name="connsiteX19" fmla="*/ 128020 w 128019"/>
                <a:gd name="connsiteY19" fmla="*/ 76665 h 102220"/>
                <a:gd name="connsiteX20" fmla="*/ 115564 w 128019"/>
                <a:gd name="connsiteY20" fmla="*/ 76665 h 102220"/>
                <a:gd name="connsiteX21" fmla="*/ 105184 w 128019"/>
                <a:gd name="connsiteY21" fmla="*/ 72867 h 102220"/>
                <a:gd name="connsiteX22" fmla="*/ 86154 w 128019"/>
                <a:gd name="connsiteY22" fmla="*/ 55945 h 102220"/>
                <a:gd name="connsiteX23" fmla="*/ 86154 w 128019"/>
                <a:gd name="connsiteY23" fmla="*/ 45930 h 102220"/>
                <a:gd name="connsiteX24" fmla="*/ 105184 w 128019"/>
                <a:gd name="connsiteY24" fmla="*/ 29009 h 102220"/>
                <a:gd name="connsiteX25" fmla="*/ 115564 w 128019"/>
                <a:gd name="connsiteY25" fmla="*/ 25210 h 102220"/>
                <a:gd name="connsiteX26" fmla="*/ 128020 w 128019"/>
                <a:gd name="connsiteY26" fmla="*/ 2521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8019" h="102220">
                  <a:moveTo>
                    <a:pt x="128020" y="25555"/>
                  </a:moveTo>
                  <a:lnTo>
                    <a:pt x="128020" y="0"/>
                  </a:lnTo>
                  <a:lnTo>
                    <a:pt x="105530" y="0"/>
                  </a:lnTo>
                  <a:cubicBezTo>
                    <a:pt x="103800" y="0"/>
                    <a:pt x="102070" y="691"/>
                    <a:pt x="100686" y="1727"/>
                  </a:cubicBezTo>
                  <a:lnTo>
                    <a:pt x="60550" y="37987"/>
                  </a:lnTo>
                  <a:cubicBezTo>
                    <a:pt x="59512" y="39023"/>
                    <a:pt x="58128" y="39714"/>
                    <a:pt x="56398" y="39714"/>
                  </a:cubicBezTo>
                  <a:lnTo>
                    <a:pt x="28372" y="39714"/>
                  </a:lnTo>
                  <a:cubicBezTo>
                    <a:pt x="26642" y="39714"/>
                    <a:pt x="25258" y="38333"/>
                    <a:pt x="25258" y="36606"/>
                  </a:cubicBezTo>
                  <a:lnTo>
                    <a:pt x="25258" y="0"/>
                  </a:lnTo>
                  <a:lnTo>
                    <a:pt x="0" y="0"/>
                  </a:lnTo>
                  <a:lnTo>
                    <a:pt x="0" y="102221"/>
                  </a:lnTo>
                  <a:lnTo>
                    <a:pt x="25258" y="102221"/>
                  </a:lnTo>
                  <a:lnTo>
                    <a:pt x="25258" y="65615"/>
                  </a:lnTo>
                  <a:cubicBezTo>
                    <a:pt x="25258" y="63888"/>
                    <a:pt x="26642" y="62507"/>
                    <a:pt x="28372" y="62507"/>
                  </a:cubicBezTo>
                  <a:lnTo>
                    <a:pt x="56398" y="62507"/>
                  </a:lnTo>
                  <a:cubicBezTo>
                    <a:pt x="57782" y="62507"/>
                    <a:pt x="59512" y="62852"/>
                    <a:pt x="60550" y="64233"/>
                  </a:cubicBezTo>
                  <a:lnTo>
                    <a:pt x="100686" y="100494"/>
                  </a:lnTo>
                  <a:cubicBezTo>
                    <a:pt x="102070" y="101530"/>
                    <a:pt x="103800" y="102221"/>
                    <a:pt x="105530" y="102221"/>
                  </a:cubicBezTo>
                  <a:lnTo>
                    <a:pt x="128020" y="102221"/>
                  </a:lnTo>
                  <a:lnTo>
                    <a:pt x="128020" y="76665"/>
                  </a:lnTo>
                  <a:lnTo>
                    <a:pt x="115564" y="76665"/>
                  </a:lnTo>
                  <a:cubicBezTo>
                    <a:pt x="111758" y="76665"/>
                    <a:pt x="107952" y="75284"/>
                    <a:pt x="105184" y="72867"/>
                  </a:cubicBezTo>
                  <a:lnTo>
                    <a:pt x="86154" y="55945"/>
                  </a:lnTo>
                  <a:cubicBezTo>
                    <a:pt x="83040" y="53528"/>
                    <a:pt x="83040" y="48693"/>
                    <a:pt x="86154" y="45930"/>
                  </a:cubicBezTo>
                  <a:lnTo>
                    <a:pt x="105184" y="29009"/>
                  </a:lnTo>
                  <a:cubicBezTo>
                    <a:pt x="108298" y="26591"/>
                    <a:pt x="111758" y="25210"/>
                    <a:pt x="115564" y="25210"/>
                  </a:cubicBezTo>
                  <a:lnTo>
                    <a:pt x="128020" y="25210"/>
                  </a:lnTo>
                  <a:close/>
                </a:path>
              </a:pathLst>
            </a:custGeom>
            <a:grpFill/>
            <a:ln w="3458" cap="flat">
              <a:noFill/>
              <a:prstDash val="solid"/>
              <a:miter/>
            </a:ln>
          </p:spPr>
          <p:txBody>
            <a:bodyPr rtlCol="0" anchor="ctr"/>
            <a:lstStyle/>
            <a:p>
              <a:endParaRPr lang="en-US" sz="1800"/>
            </a:p>
          </p:txBody>
        </p:sp>
        <p:sp>
          <p:nvSpPr>
            <p:cNvPr id="28" name="Freeform 27">
              <a:extLst>
                <a:ext uri="{FF2B5EF4-FFF2-40B4-BE49-F238E27FC236}">
                  <a16:creationId xmlns:a16="http://schemas.microsoft.com/office/drawing/2014/main" id="{9839A85B-EE68-41D2-0824-DE62976A2DA4}"/>
                </a:ext>
              </a:extLst>
            </p:cNvPr>
            <p:cNvSpPr/>
            <p:nvPr/>
          </p:nvSpPr>
          <p:spPr>
            <a:xfrm>
              <a:off x="8623760" y="7684742"/>
              <a:ext cx="138053" cy="102565"/>
            </a:xfrm>
            <a:custGeom>
              <a:avLst/>
              <a:gdLst>
                <a:gd name="connsiteX0" fmla="*/ 99302 w 138053"/>
                <a:gd name="connsiteY0" fmla="*/ 345 h 102565"/>
                <a:gd name="connsiteX1" fmla="*/ 70238 w 138053"/>
                <a:gd name="connsiteY1" fmla="*/ 14850 h 102565"/>
                <a:gd name="connsiteX2" fmla="*/ 0 w 138053"/>
                <a:gd name="connsiteY2" fmla="*/ 102566 h 102565"/>
                <a:gd name="connsiteX3" fmla="*/ 35638 w 138053"/>
                <a:gd name="connsiteY3" fmla="*/ 102566 h 102565"/>
                <a:gd name="connsiteX4" fmla="*/ 93420 w 138053"/>
                <a:gd name="connsiteY4" fmla="*/ 31426 h 102565"/>
                <a:gd name="connsiteX5" fmla="*/ 102762 w 138053"/>
                <a:gd name="connsiteY5" fmla="*/ 26246 h 102565"/>
                <a:gd name="connsiteX6" fmla="*/ 112450 w 138053"/>
                <a:gd name="connsiteY6" fmla="*/ 36951 h 102565"/>
                <a:gd name="connsiteX7" fmla="*/ 112450 w 138053"/>
                <a:gd name="connsiteY7" fmla="*/ 68032 h 102565"/>
                <a:gd name="connsiteX8" fmla="*/ 105184 w 138053"/>
                <a:gd name="connsiteY8" fmla="*/ 77011 h 102565"/>
                <a:gd name="connsiteX9" fmla="*/ 97918 w 138053"/>
                <a:gd name="connsiteY9" fmla="*/ 77011 h 102565"/>
                <a:gd name="connsiteX10" fmla="*/ 97918 w 138053"/>
                <a:gd name="connsiteY10" fmla="*/ 102566 h 102565"/>
                <a:gd name="connsiteX11" fmla="*/ 138054 w 138053"/>
                <a:gd name="connsiteY11" fmla="*/ 102566 h 102565"/>
                <a:gd name="connsiteX12" fmla="*/ 138054 w 138053"/>
                <a:gd name="connsiteY12" fmla="*/ 38333 h 102565"/>
                <a:gd name="connsiteX13" fmla="*/ 98956 w 138053"/>
                <a:gd name="connsiteY13" fmla="*/ 0 h 102565"/>
                <a:gd name="connsiteX14" fmla="*/ 98956 w 138053"/>
                <a:gd name="connsiteY14" fmla="*/ 0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8053" h="102565">
                  <a:moveTo>
                    <a:pt x="99302" y="345"/>
                  </a:moveTo>
                  <a:cubicBezTo>
                    <a:pt x="87884" y="345"/>
                    <a:pt x="77158" y="5871"/>
                    <a:pt x="70238" y="14850"/>
                  </a:cubicBezTo>
                  <a:lnTo>
                    <a:pt x="0" y="102566"/>
                  </a:lnTo>
                  <a:lnTo>
                    <a:pt x="35638" y="102566"/>
                  </a:lnTo>
                  <a:lnTo>
                    <a:pt x="93420" y="31426"/>
                  </a:lnTo>
                  <a:cubicBezTo>
                    <a:pt x="96188" y="27973"/>
                    <a:pt x="98264" y="26246"/>
                    <a:pt x="102762" y="26246"/>
                  </a:cubicBezTo>
                  <a:cubicBezTo>
                    <a:pt x="107260" y="26246"/>
                    <a:pt x="112450" y="31081"/>
                    <a:pt x="112450" y="36951"/>
                  </a:cubicBezTo>
                  <a:lnTo>
                    <a:pt x="112450" y="68032"/>
                  </a:lnTo>
                  <a:cubicBezTo>
                    <a:pt x="112450" y="72867"/>
                    <a:pt x="110028" y="77011"/>
                    <a:pt x="105184" y="77011"/>
                  </a:cubicBezTo>
                  <a:lnTo>
                    <a:pt x="97918" y="77011"/>
                  </a:lnTo>
                  <a:lnTo>
                    <a:pt x="97918" y="102566"/>
                  </a:lnTo>
                  <a:lnTo>
                    <a:pt x="138054" y="102566"/>
                  </a:lnTo>
                  <a:lnTo>
                    <a:pt x="138054" y="38333"/>
                  </a:lnTo>
                  <a:cubicBezTo>
                    <a:pt x="138054" y="33153"/>
                    <a:pt x="138054" y="0"/>
                    <a:pt x="98956" y="0"/>
                  </a:cubicBezTo>
                  <a:lnTo>
                    <a:pt x="98956" y="0"/>
                  </a:lnTo>
                  <a:close/>
                </a:path>
              </a:pathLst>
            </a:custGeom>
            <a:grpFill/>
            <a:ln w="3458" cap="flat">
              <a:noFill/>
              <a:prstDash val="solid"/>
              <a:miter/>
            </a:ln>
          </p:spPr>
          <p:txBody>
            <a:bodyPr rtlCol="0" anchor="ctr"/>
            <a:lstStyle/>
            <a:p>
              <a:endParaRPr lang="en-US" sz="1800"/>
            </a:p>
          </p:txBody>
        </p:sp>
        <p:sp>
          <p:nvSpPr>
            <p:cNvPr id="29" name="Freeform 28">
              <a:extLst>
                <a:ext uri="{FF2B5EF4-FFF2-40B4-BE49-F238E27FC236}">
                  <a16:creationId xmlns:a16="http://schemas.microsoft.com/office/drawing/2014/main" id="{1625E85A-99B8-5418-4AF2-4F9622A2121F}"/>
                </a:ext>
              </a:extLst>
            </p:cNvPr>
            <p:cNvSpPr/>
            <p:nvPr/>
          </p:nvSpPr>
          <p:spPr>
            <a:xfrm>
              <a:off x="9480453" y="7685087"/>
              <a:ext cx="30793" cy="25555"/>
            </a:xfrm>
            <a:custGeom>
              <a:avLst/>
              <a:gdLst>
                <a:gd name="connsiteX0" fmla="*/ 30448 w 30793"/>
                <a:gd name="connsiteY0" fmla="*/ 0 h 25555"/>
                <a:gd name="connsiteX1" fmla="*/ 30448 w 30793"/>
                <a:gd name="connsiteY1" fmla="*/ 25555 h 25555"/>
                <a:gd name="connsiteX2" fmla="*/ 24912 w 30793"/>
                <a:gd name="connsiteY2" fmla="*/ 25555 h 25555"/>
                <a:gd name="connsiteX3" fmla="*/ 24912 w 30793"/>
                <a:gd name="connsiteY3" fmla="*/ 5180 h 25555"/>
                <a:gd name="connsiteX4" fmla="*/ 24912 w 30793"/>
                <a:gd name="connsiteY4" fmla="*/ 5180 h 25555"/>
                <a:gd name="connsiteX5" fmla="*/ 17646 w 30793"/>
                <a:gd name="connsiteY5" fmla="*/ 25555 h 25555"/>
                <a:gd name="connsiteX6" fmla="*/ 12802 w 30793"/>
                <a:gd name="connsiteY6" fmla="*/ 25555 h 25555"/>
                <a:gd name="connsiteX7" fmla="*/ 5536 w 30793"/>
                <a:gd name="connsiteY7" fmla="*/ 5180 h 25555"/>
                <a:gd name="connsiteX8" fmla="*/ 5536 w 30793"/>
                <a:gd name="connsiteY8" fmla="*/ 5180 h 25555"/>
                <a:gd name="connsiteX9" fmla="*/ 5536 w 30793"/>
                <a:gd name="connsiteY9" fmla="*/ 25555 h 25555"/>
                <a:gd name="connsiteX10" fmla="*/ 0 w 30793"/>
                <a:gd name="connsiteY10" fmla="*/ 25555 h 25555"/>
                <a:gd name="connsiteX11" fmla="*/ 0 w 30793"/>
                <a:gd name="connsiteY11" fmla="*/ 0 h 25555"/>
                <a:gd name="connsiteX12" fmla="*/ 9688 w 30793"/>
                <a:gd name="connsiteY12" fmla="*/ 0 h 25555"/>
                <a:gd name="connsiteX13" fmla="*/ 15570 w 30793"/>
                <a:gd name="connsiteY13" fmla="*/ 17267 h 25555"/>
                <a:gd name="connsiteX14" fmla="*/ 15570 w 30793"/>
                <a:gd name="connsiteY14" fmla="*/ 17267 h 25555"/>
                <a:gd name="connsiteX15" fmla="*/ 21798 w 30793"/>
                <a:gd name="connsiteY15" fmla="*/ 0 h 25555"/>
                <a:gd name="connsiteX16" fmla="*/ 30794 w 30793"/>
                <a:gd name="connsiteY16" fmla="*/ 0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793" h="25555">
                  <a:moveTo>
                    <a:pt x="30448" y="0"/>
                  </a:moveTo>
                  <a:lnTo>
                    <a:pt x="30448" y="25555"/>
                  </a:lnTo>
                  <a:lnTo>
                    <a:pt x="24912" y="25555"/>
                  </a:lnTo>
                  <a:lnTo>
                    <a:pt x="24912" y="5180"/>
                  </a:lnTo>
                  <a:lnTo>
                    <a:pt x="24912" y="5180"/>
                  </a:lnTo>
                  <a:lnTo>
                    <a:pt x="17646" y="25555"/>
                  </a:lnTo>
                  <a:lnTo>
                    <a:pt x="12802" y="25555"/>
                  </a:lnTo>
                  <a:lnTo>
                    <a:pt x="5536" y="5180"/>
                  </a:lnTo>
                  <a:lnTo>
                    <a:pt x="5536" y="5180"/>
                  </a:lnTo>
                  <a:lnTo>
                    <a:pt x="5536" y="25555"/>
                  </a:lnTo>
                  <a:lnTo>
                    <a:pt x="0" y="25555"/>
                  </a:lnTo>
                  <a:lnTo>
                    <a:pt x="0" y="0"/>
                  </a:lnTo>
                  <a:lnTo>
                    <a:pt x="9688" y="0"/>
                  </a:lnTo>
                  <a:lnTo>
                    <a:pt x="15570" y="17267"/>
                  </a:lnTo>
                  <a:lnTo>
                    <a:pt x="15570" y="17267"/>
                  </a:lnTo>
                  <a:lnTo>
                    <a:pt x="21798" y="0"/>
                  </a:lnTo>
                  <a:lnTo>
                    <a:pt x="30794" y="0"/>
                  </a:lnTo>
                  <a:close/>
                </a:path>
              </a:pathLst>
            </a:custGeom>
            <a:grpFill/>
            <a:ln w="3458" cap="flat">
              <a:noFill/>
              <a:prstDash val="solid"/>
              <a:miter/>
            </a:ln>
          </p:spPr>
          <p:txBody>
            <a:bodyPr rtlCol="0" anchor="ctr"/>
            <a:lstStyle/>
            <a:p>
              <a:endParaRPr lang="en-US" sz="1800"/>
            </a:p>
          </p:txBody>
        </p:sp>
        <p:sp>
          <p:nvSpPr>
            <p:cNvPr id="30" name="Freeform 29">
              <a:extLst>
                <a:ext uri="{FF2B5EF4-FFF2-40B4-BE49-F238E27FC236}">
                  <a16:creationId xmlns:a16="http://schemas.microsoft.com/office/drawing/2014/main" id="{36B1124B-77F5-46A8-F91E-C5D44DF136D9}"/>
                </a:ext>
              </a:extLst>
            </p:cNvPr>
            <p:cNvSpPr/>
            <p:nvPr/>
          </p:nvSpPr>
          <p:spPr>
            <a:xfrm>
              <a:off x="9453811" y="7685087"/>
              <a:ext cx="21451" cy="25555"/>
            </a:xfrm>
            <a:custGeom>
              <a:avLst/>
              <a:gdLst>
                <a:gd name="connsiteX0" fmla="*/ 13840 w 21451"/>
                <a:gd name="connsiteY0" fmla="*/ 4835 h 25555"/>
                <a:gd name="connsiteX1" fmla="*/ 13840 w 21451"/>
                <a:gd name="connsiteY1" fmla="*/ 25555 h 25555"/>
                <a:gd name="connsiteX2" fmla="*/ 7958 w 21451"/>
                <a:gd name="connsiteY2" fmla="*/ 25555 h 25555"/>
                <a:gd name="connsiteX3" fmla="*/ 7958 w 21451"/>
                <a:gd name="connsiteY3" fmla="*/ 4835 h 25555"/>
                <a:gd name="connsiteX4" fmla="*/ 0 w 21451"/>
                <a:gd name="connsiteY4" fmla="*/ 4835 h 25555"/>
                <a:gd name="connsiteX5" fmla="*/ 0 w 21451"/>
                <a:gd name="connsiteY5" fmla="*/ 0 h 25555"/>
                <a:gd name="connsiteX6" fmla="*/ 21452 w 21451"/>
                <a:gd name="connsiteY6" fmla="*/ 0 h 25555"/>
                <a:gd name="connsiteX7" fmla="*/ 21452 w 21451"/>
                <a:gd name="connsiteY7" fmla="*/ 4835 h 25555"/>
                <a:gd name="connsiteX8" fmla="*/ 13494 w 21451"/>
                <a:gd name="connsiteY8" fmla="*/ 4835 h 25555"/>
                <a:gd name="connsiteX9" fmla="*/ 13494 w 21451"/>
                <a:gd name="connsiteY9" fmla="*/ 4835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451" h="25555">
                  <a:moveTo>
                    <a:pt x="13840" y="4835"/>
                  </a:moveTo>
                  <a:lnTo>
                    <a:pt x="13840" y="25555"/>
                  </a:lnTo>
                  <a:lnTo>
                    <a:pt x="7958" y="25555"/>
                  </a:lnTo>
                  <a:lnTo>
                    <a:pt x="7958" y="4835"/>
                  </a:lnTo>
                  <a:lnTo>
                    <a:pt x="0" y="4835"/>
                  </a:lnTo>
                  <a:lnTo>
                    <a:pt x="0" y="0"/>
                  </a:lnTo>
                  <a:lnTo>
                    <a:pt x="21452" y="0"/>
                  </a:lnTo>
                  <a:lnTo>
                    <a:pt x="21452" y="4835"/>
                  </a:lnTo>
                  <a:lnTo>
                    <a:pt x="13494" y="4835"/>
                  </a:lnTo>
                  <a:lnTo>
                    <a:pt x="13494" y="4835"/>
                  </a:lnTo>
                  <a:close/>
                </a:path>
              </a:pathLst>
            </a:custGeom>
            <a:grpFill/>
            <a:ln w="3458" cap="flat">
              <a:noFill/>
              <a:prstDash val="solid"/>
              <a:miter/>
            </a:ln>
          </p:spPr>
          <p:txBody>
            <a:bodyPr rtlCol="0" anchor="ctr"/>
            <a:lstStyle/>
            <a:p>
              <a:endParaRPr lang="en-US" sz="1800"/>
            </a:p>
          </p:txBody>
        </p:sp>
      </p:grpSp>
      <p:sp>
        <p:nvSpPr>
          <p:cNvPr id="31" name="name_2024 sandisk or its affiliates All rights reserved">
            <a:extLst>
              <a:ext uri="{FF2B5EF4-FFF2-40B4-BE49-F238E27FC236}">
                <a16:creationId xmlns:a16="http://schemas.microsoft.com/office/drawing/2014/main" id="{93273B7A-B931-7762-6EBA-C54C6875922C}"/>
              </a:ext>
            </a:extLst>
          </p:cNvPr>
          <p:cNvSpPr txBox="1"/>
          <p:nvPr/>
        </p:nvSpPr>
        <p:spPr>
          <a:xfrm>
            <a:off x="6096000" y="6437971"/>
            <a:ext cx="5803900"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b">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r" defTabSz="609412" hangingPunct="0">
              <a:lnSpc>
                <a:spcPct val="100000"/>
              </a:lnSpc>
            </a:pPr>
            <a:r>
              <a:rPr lang="en-US" sz="1000" b="0" i="0" kern="0" spc="0" baseline="0">
                <a:solidFill>
                  <a:schemeClr val="tx1"/>
                </a:solidFill>
                <a:latin typeface="NB Architekt Pro Neue" panose="02010509020201040001" pitchFamily="49" charset="77"/>
                <a:cs typeface="Consolas" panose="020B0609020204030204" pitchFamily="49" charset="0"/>
              </a:rPr>
              <a:t>©2025 SANDISK CORPORATION OR ITS AFFILIATES ALL RIGHTS RESERVED</a:t>
            </a:r>
          </a:p>
        </p:txBody>
      </p:sp>
      <p:sp>
        <p:nvSpPr>
          <p:cNvPr id="32" name="name_2024 sandisk or its affiliates All rights reserved">
            <a:extLst>
              <a:ext uri="{FF2B5EF4-FFF2-40B4-BE49-F238E27FC236}">
                <a16:creationId xmlns:a16="http://schemas.microsoft.com/office/drawing/2014/main" id="{AF5801BC-EEF9-D247-6632-C588D2B5D216}"/>
              </a:ext>
            </a:extLst>
          </p:cNvPr>
          <p:cNvSpPr txBox="1"/>
          <p:nvPr/>
        </p:nvSpPr>
        <p:spPr>
          <a:xfrm>
            <a:off x="8997951" y="267518"/>
            <a:ext cx="2242276"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tx1"/>
                </a:solidFill>
                <a:latin typeface="NB Architekt Pro Neue" panose="02010509020201040001" pitchFamily="49" charset="77"/>
                <a:cs typeface="Consolas" panose="020B0609020204030204" pitchFamily="49" charset="0"/>
              </a:rPr>
              <a:t>“START” “REPEAT” “1988/2025”</a:t>
            </a:r>
          </a:p>
        </p:txBody>
      </p:sp>
      <p:sp>
        <p:nvSpPr>
          <p:cNvPr id="33" name="Rectangle 32">
            <a:extLst>
              <a:ext uri="{FF2B5EF4-FFF2-40B4-BE49-F238E27FC236}">
                <a16:creationId xmlns:a16="http://schemas.microsoft.com/office/drawing/2014/main" id="{9C13D9AC-744A-467B-F85A-B6559BF714F7}"/>
              </a:ext>
            </a:extLst>
          </p:cNvPr>
          <p:cNvSpPr/>
          <p:nvPr/>
        </p:nvSpPr>
        <p:spPr>
          <a:xfrm>
            <a:off x="11808843" y="296581"/>
            <a:ext cx="91057" cy="9105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985548459"/>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lank White">
    <p:bg>
      <p:bgPr>
        <a:solidFill>
          <a:schemeClr val="bg1"/>
        </a:solidFill>
        <a:effectLst/>
      </p:bgPr>
    </p:bg>
    <p:spTree>
      <p:nvGrpSpPr>
        <p:cNvPr id="1" name=""/>
        <p:cNvGrpSpPr/>
        <p:nvPr/>
      </p:nvGrpSpPr>
      <p:grpSpPr>
        <a:xfrm>
          <a:off x="0" y="0"/>
          <a:ext cx="0" cy="0"/>
          <a:chOff x="0" y="0"/>
          <a:chExt cx="0" cy="0"/>
        </a:xfrm>
      </p:grpSpPr>
      <p:sp>
        <p:nvSpPr>
          <p:cNvPr id="14" name="name_2024 sandisk or its affiliates All rights reserved">
            <a:extLst>
              <a:ext uri="{FF2B5EF4-FFF2-40B4-BE49-F238E27FC236}">
                <a16:creationId xmlns:a16="http://schemas.microsoft.com/office/drawing/2014/main" id="{C2EB78CC-5952-6B45-686A-74177B116777}"/>
              </a:ext>
            </a:extLst>
          </p:cNvPr>
          <p:cNvSpPr txBox="1"/>
          <p:nvPr/>
        </p:nvSpPr>
        <p:spPr>
          <a:xfrm>
            <a:off x="292100" y="267518"/>
            <a:ext cx="1323975"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tx1"/>
                </a:solidFill>
                <a:latin typeface="NB Architekt Pro Neue" panose="02010509020201040001" pitchFamily="49" charset="77"/>
                <a:cs typeface="Consolas" panose="020B0609020204030204" pitchFamily="49" charset="0"/>
              </a:rPr>
              <a:t>[CONFIDENTIAL]</a:t>
            </a:r>
          </a:p>
        </p:txBody>
      </p:sp>
      <p:sp>
        <p:nvSpPr>
          <p:cNvPr id="2" name="Slide Number Placeholder 5">
            <a:extLst>
              <a:ext uri="{FF2B5EF4-FFF2-40B4-BE49-F238E27FC236}">
                <a16:creationId xmlns:a16="http://schemas.microsoft.com/office/drawing/2014/main" id="{432E9088-7CE0-031E-34ED-0A51A9E0C3EA}"/>
              </a:ext>
            </a:extLst>
          </p:cNvPr>
          <p:cNvSpPr>
            <a:spLocks noGrp="1"/>
          </p:cNvSpPr>
          <p:nvPr>
            <p:ph type="sldNum" sz="quarter" idx="4"/>
          </p:nvPr>
        </p:nvSpPr>
        <p:spPr>
          <a:xfrm>
            <a:off x="3194050" y="6455472"/>
            <a:ext cx="855221" cy="118872"/>
          </a:xfrm>
          <a:prstGeom prst="rect">
            <a:avLst/>
          </a:prstGeom>
        </p:spPr>
        <p:txBody>
          <a:bodyPr vert="horz" lIns="0" tIns="0" rIns="0" bIns="0" rtlCol="0" anchor="ctr"/>
          <a:lstStyle>
            <a:lvl1pPr algn="l">
              <a:defRPr sz="1000" b="0" i="0" spc="0" baseline="0">
                <a:solidFill>
                  <a:schemeClr val="tx1"/>
                </a:solidFill>
                <a:latin typeface="NB Architekt Pro Neue" panose="02010509020201040001" pitchFamily="49" charset="77"/>
                <a:cs typeface="Consolas" panose="020B0609020204030204" pitchFamily="49" charset="0"/>
              </a:defRPr>
            </a:lvl1pPr>
          </a:lstStyle>
          <a:p>
            <a:r>
              <a:rPr lang="en-US"/>
              <a:t>00.0</a:t>
            </a:r>
            <a:fld id="{4571BA12-316B-0A40-BB3D-1A8CDD33E9E5}" type="slidenum">
              <a:rPr lang="en-US" smtClean="0"/>
              <a:pPr/>
              <a:t>‹#›</a:t>
            </a:fld>
            <a:endParaRPr lang="en-US"/>
          </a:p>
        </p:txBody>
      </p:sp>
      <p:grpSp>
        <p:nvGrpSpPr>
          <p:cNvPr id="3" name="Group 2">
            <a:extLst>
              <a:ext uri="{FF2B5EF4-FFF2-40B4-BE49-F238E27FC236}">
                <a16:creationId xmlns:a16="http://schemas.microsoft.com/office/drawing/2014/main" id="{9B9D2557-6FDA-6735-D425-659ED0A5AF90}"/>
              </a:ext>
            </a:extLst>
          </p:cNvPr>
          <p:cNvGrpSpPr>
            <a:grpSpLocks noChangeAspect="1"/>
          </p:cNvGrpSpPr>
          <p:nvPr/>
        </p:nvGrpSpPr>
        <p:grpSpPr>
          <a:xfrm>
            <a:off x="297027" y="6344485"/>
            <a:ext cx="2240280" cy="218081"/>
            <a:chOff x="8480170" y="7684742"/>
            <a:chExt cx="1031076" cy="102566"/>
          </a:xfrm>
          <a:solidFill>
            <a:schemeClr val="accent3"/>
          </a:solidFill>
        </p:grpSpPr>
        <p:sp>
          <p:nvSpPr>
            <p:cNvPr id="4" name="Freeform 3">
              <a:extLst>
                <a:ext uri="{FF2B5EF4-FFF2-40B4-BE49-F238E27FC236}">
                  <a16:creationId xmlns:a16="http://schemas.microsoft.com/office/drawing/2014/main" id="{896512B5-8467-2E68-7FDB-AF04DD02FCBD}"/>
                </a:ext>
              </a:extLst>
            </p:cNvPr>
            <p:cNvSpPr/>
            <p:nvPr/>
          </p:nvSpPr>
          <p:spPr>
            <a:xfrm>
              <a:off x="8788109" y="7684742"/>
              <a:ext cx="128019" cy="102565"/>
            </a:xfrm>
            <a:custGeom>
              <a:avLst/>
              <a:gdLst>
                <a:gd name="connsiteX0" fmla="*/ 102070 w 128019"/>
                <a:gd name="connsiteY0" fmla="*/ 70104 h 102565"/>
                <a:gd name="connsiteX1" fmla="*/ 96188 w 128019"/>
                <a:gd name="connsiteY1" fmla="*/ 77011 h 102565"/>
                <a:gd name="connsiteX2" fmla="*/ 89268 w 128019"/>
                <a:gd name="connsiteY2" fmla="*/ 72521 h 102565"/>
                <a:gd name="connsiteX3" fmla="*/ 65740 w 128019"/>
                <a:gd name="connsiteY3" fmla="*/ 8288 h 102565"/>
                <a:gd name="connsiteX4" fmla="*/ 54668 w 128019"/>
                <a:gd name="connsiteY4" fmla="*/ 0 h 102565"/>
                <a:gd name="connsiteX5" fmla="*/ 0 w 128019"/>
                <a:gd name="connsiteY5" fmla="*/ 0 h 102565"/>
                <a:gd name="connsiteX6" fmla="*/ 0 w 128019"/>
                <a:gd name="connsiteY6" fmla="*/ 102221 h 102565"/>
                <a:gd name="connsiteX7" fmla="*/ 40136 w 128019"/>
                <a:gd name="connsiteY7" fmla="*/ 102221 h 102565"/>
                <a:gd name="connsiteX8" fmla="*/ 40136 w 128019"/>
                <a:gd name="connsiteY8" fmla="*/ 76665 h 102565"/>
                <a:gd name="connsiteX9" fmla="*/ 32870 w 128019"/>
                <a:gd name="connsiteY9" fmla="*/ 76665 h 102565"/>
                <a:gd name="connsiteX10" fmla="*/ 25604 w 128019"/>
                <a:gd name="connsiteY10" fmla="*/ 67687 h 102565"/>
                <a:gd name="connsiteX11" fmla="*/ 25604 w 128019"/>
                <a:gd name="connsiteY11" fmla="*/ 36951 h 102565"/>
                <a:gd name="connsiteX12" fmla="*/ 39790 w 128019"/>
                <a:gd name="connsiteY12" fmla="*/ 26591 h 102565"/>
                <a:gd name="connsiteX13" fmla="*/ 45672 w 128019"/>
                <a:gd name="connsiteY13" fmla="*/ 32807 h 102565"/>
                <a:gd name="connsiteX14" fmla="*/ 64356 w 128019"/>
                <a:gd name="connsiteY14" fmla="*/ 81500 h 102565"/>
                <a:gd name="connsiteX15" fmla="*/ 95150 w 128019"/>
                <a:gd name="connsiteY15" fmla="*/ 102566 h 102565"/>
                <a:gd name="connsiteX16" fmla="*/ 95842 w 128019"/>
                <a:gd name="connsiteY16" fmla="*/ 102566 h 102565"/>
                <a:gd name="connsiteX17" fmla="*/ 128020 w 128019"/>
                <a:gd name="connsiteY17" fmla="*/ 70795 h 102565"/>
                <a:gd name="connsiteX18" fmla="*/ 128020 w 128019"/>
                <a:gd name="connsiteY18" fmla="*/ 345 h 102565"/>
                <a:gd name="connsiteX19" fmla="*/ 102416 w 128019"/>
                <a:gd name="connsiteY19" fmla="*/ 345 h 102565"/>
                <a:gd name="connsiteX20" fmla="*/ 102416 w 128019"/>
                <a:gd name="connsiteY20" fmla="*/ 70104 h 102565"/>
                <a:gd name="connsiteX21" fmla="*/ 102416 w 128019"/>
                <a:gd name="connsiteY21" fmla="*/ 70104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8019" h="102565">
                  <a:moveTo>
                    <a:pt x="102070" y="70104"/>
                  </a:moveTo>
                  <a:cubicBezTo>
                    <a:pt x="102070" y="73557"/>
                    <a:pt x="99648" y="76665"/>
                    <a:pt x="96188" y="77011"/>
                  </a:cubicBezTo>
                  <a:cubicBezTo>
                    <a:pt x="93074" y="77356"/>
                    <a:pt x="90306" y="75629"/>
                    <a:pt x="89268" y="72521"/>
                  </a:cubicBezTo>
                  <a:lnTo>
                    <a:pt x="65740" y="8288"/>
                  </a:lnTo>
                  <a:cubicBezTo>
                    <a:pt x="64010" y="3108"/>
                    <a:pt x="59858" y="0"/>
                    <a:pt x="54668" y="0"/>
                  </a:cubicBezTo>
                  <a:lnTo>
                    <a:pt x="0" y="0"/>
                  </a:lnTo>
                  <a:lnTo>
                    <a:pt x="0" y="102221"/>
                  </a:lnTo>
                  <a:lnTo>
                    <a:pt x="40136" y="102221"/>
                  </a:lnTo>
                  <a:lnTo>
                    <a:pt x="40136" y="76665"/>
                  </a:lnTo>
                  <a:lnTo>
                    <a:pt x="32870" y="76665"/>
                  </a:lnTo>
                  <a:cubicBezTo>
                    <a:pt x="28026" y="76665"/>
                    <a:pt x="25604" y="72521"/>
                    <a:pt x="25604" y="67687"/>
                  </a:cubicBezTo>
                  <a:lnTo>
                    <a:pt x="25604" y="36951"/>
                  </a:lnTo>
                  <a:cubicBezTo>
                    <a:pt x="25604" y="29354"/>
                    <a:pt x="32870" y="23828"/>
                    <a:pt x="39790" y="26591"/>
                  </a:cubicBezTo>
                  <a:cubicBezTo>
                    <a:pt x="42212" y="27627"/>
                    <a:pt x="44634" y="30045"/>
                    <a:pt x="45672" y="32807"/>
                  </a:cubicBezTo>
                  <a:lnTo>
                    <a:pt x="64356" y="81500"/>
                  </a:lnTo>
                  <a:cubicBezTo>
                    <a:pt x="69200" y="94278"/>
                    <a:pt x="81310" y="102566"/>
                    <a:pt x="95150" y="102566"/>
                  </a:cubicBezTo>
                  <a:lnTo>
                    <a:pt x="95842" y="102566"/>
                  </a:lnTo>
                  <a:cubicBezTo>
                    <a:pt x="113488" y="102566"/>
                    <a:pt x="128020" y="88407"/>
                    <a:pt x="128020" y="70795"/>
                  </a:cubicBezTo>
                  <a:lnTo>
                    <a:pt x="128020" y="345"/>
                  </a:lnTo>
                  <a:lnTo>
                    <a:pt x="102416" y="345"/>
                  </a:lnTo>
                  <a:lnTo>
                    <a:pt x="102416" y="70104"/>
                  </a:lnTo>
                  <a:lnTo>
                    <a:pt x="102416" y="70104"/>
                  </a:lnTo>
                  <a:close/>
                </a:path>
              </a:pathLst>
            </a:custGeom>
            <a:grpFill/>
            <a:ln w="3458" cap="flat">
              <a:noFill/>
              <a:prstDash val="solid"/>
              <a:miter/>
            </a:ln>
          </p:spPr>
          <p:txBody>
            <a:bodyPr rtlCol="0" anchor="ctr"/>
            <a:lstStyle/>
            <a:p>
              <a:endParaRPr lang="en-US" sz="1800"/>
            </a:p>
          </p:txBody>
        </p:sp>
        <p:sp>
          <p:nvSpPr>
            <p:cNvPr id="5" name="Freeform 4">
              <a:extLst>
                <a:ext uri="{FF2B5EF4-FFF2-40B4-BE49-F238E27FC236}">
                  <a16:creationId xmlns:a16="http://schemas.microsoft.com/office/drawing/2014/main" id="{71E5AAF1-EF2B-9739-5D9B-B645FE80D891}"/>
                </a:ext>
              </a:extLst>
            </p:cNvPr>
            <p:cNvSpPr/>
            <p:nvPr/>
          </p:nvSpPr>
          <p:spPr>
            <a:xfrm>
              <a:off x="8941733" y="7685087"/>
              <a:ext cx="128019" cy="102220"/>
            </a:xfrm>
            <a:custGeom>
              <a:avLst/>
              <a:gdLst>
                <a:gd name="connsiteX0" fmla="*/ 76812 w 128019"/>
                <a:gd name="connsiteY0" fmla="*/ 0 h 102220"/>
                <a:gd name="connsiteX1" fmla="*/ 0 w 128019"/>
                <a:gd name="connsiteY1" fmla="*/ 0 h 102220"/>
                <a:gd name="connsiteX2" fmla="*/ 0 w 128019"/>
                <a:gd name="connsiteY2" fmla="*/ 25555 h 102220"/>
                <a:gd name="connsiteX3" fmla="*/ 76812 w 128019"/>
                <a:gd name="connsiteY3" fmla="*/ 25555 h 102220"/>
                <a:gd name="connsiteX4" fmla="*/ 102416 w 128019"/>
                <a:gd name="connsiteY4" fmla="*/ 51110 h 102220"/>
                <a:gd name="connsiteX5" fmla="*/ 76812 w 128019"/>
                <a:gd name="connsiteY5" fmla="*/ 76665 h 102220"/>
                <a:gd name="connsiteX6" fmla="*/ 0 w 128019"/>
                <a:gd name="connsiteY6" fmla="*/ 76665 h 102220"/>
                <a:gd name="connsiteX7" fmla="*/ 0 w 128019"/>
                <a:gd name="connsiteY7" fmla="*/ 102221 h 102220"/>
                <a:gd name="connsiteX8" fmla="*/ 76812 w 128019"/>
                <a:gd name="connsiteY8" fmla="*/ 102221 h 102220"/>
                <a:gd name="connsiteX9" fmla="*/ 121792 w 128019"/>
                <a:gd name="connsiteY9" fmla="*/ 75629 h 102220"/>
                <a:gd name="connsiteX10" fmla="*/ 128020 w 128019"/>
                <a:gd name="connsiteY10" fmla="*/ 51110 h 102220"/>
                <a:gd name="connsiteX11" fmla="*/ 121792 w 128019"/>
                <a:gd name="connsiteY11" fmla="*/ 26591 h 102220"/>
                <a:gd name="connsiteX12" fmla="*/ 76812 w 128019"/>
                <a:gd name="connsiteY12" fmla="*/ 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8019" h="102220">
                  <a:moveTo>
                    <a:pt x="76812" y="0"/>
                  </a:moveTo>
                  <a:lnTo>
                    <a:pt x="0" y="0"/>
                  </a:lnTo>
                  <a:lnTo>
                    <a:pt x="0" y="25555"/>
                  </a:lnTo>
                  <a:lnTo>
                    <a:pt x="76812" y="25555"/>
                  </a:lnTo>
                  <a:cubicBezTo>
                    <a:pt x="90306" y="25555"/>
                    <a:pt x="102416" y="37297"/>
                    <a:pt x="102416" y="51110"/>
                  </a:cubicBezTo>
                  <a:cubicBezTo>
                    <a:pt x="102416" y="64924"/>
                    <a:pt x="90652" y="76665"/>
                    <a:pt x="76812" y="76665"/>
                  </a:cubicBezTo>
                  <a:lnTo>
                    <a:pt x="0" y="76665"/>
                  </a:lnTo>
                  <a:lnTo>
                    <a:pt x="0" y="102221"/>
                  </a:lnTo>
                  <a:lnTo>
                    <a:pt x="76812" y="102221"/>
                  </a:lnTo>
                  <a:cubicBezTo>
                    <a:pt x="96188" y="102221"/>
                    <a:pt x="113142" y="91515"/>
                    <a:pt x="121792" y="75629"/>
                  </a:cubicBezTo>
                  <a:cubicBezTo>
                    <a:pt x="125598" y="68377"/>
                    <a:pt x="128020" y="59744"/>
                    <a:pt x="128020" y="51110"/>
                  </a:cubicBezTo>
                  <a:cubicBezTo>
                    <a:pt x="128020" y="42477"/>
                    <a:pt x="125598" y="33843"/>
                    <a:pt x="121792" y="26591"/>
                  </a:cubicBezTo>
                  <a:cubicBezTo>
                    <a:pt x="113142" y="10706"/>
                    <a:pt x="96188" y="0"/>
                    <a:pt x="76812" y="0"/>
                  </a:cubicBezTo>
                  <a:close/>
                </a:path>
              </a:pathLst>
            </a:custGeom>
            <a:grpFill/>
            <a:ln w="3458" cap="flat">
              <a:noFill/>
              <a:prstDash val="solid"/>
              <a:miter/>
            </a:ln>
          </p:spPr>
          <p:txBody>
            <a:bodyPr rtlCol="0" anchor="ctr"/>
            <a:lstStyle/>
            <a:p>
              <a:endParaRPr lang="en-US" sz="1800"/>
            </a:p>
          </p:txBody>
        </p:sp>
        <p:sp>
          <p:nvSpPr>
            <p:cNvPr id="6" name="Freeform 5">
              <a:extLst>
                <a:ext uri="{FF2B5EF4-FFF2-40B4-BE49-F238E27FC236}">
                  <a16:creationId xmlns:a16="http://schemas.microsoft.com/office/drawing/2014/main" id="{F5B551F8-CC41-C192-AEEB-E8BC63C57202}"/>
                </a:ext>
              </a:extLst>
            </p:cNvPr>
            <p:cNvSpPr/>
            <p:nvPr/>
          </p:nvSpPr>
          <p:spPr>
            <a:xfrm>
              <a:off x="9080478" y="7685087"/>
              <a:ext cx="40481" cy="102220"/>
            </a:xfrm>
            <a:custGeom>
              <a:avLst/>
              <a:gdLst>
                <a:gd name="connsiteX0" fmla="*/ 5190 w 40481"/>
                <a:gd name="connsiteY0" fmla="*/ 25555 h 102220"/>
                <a:gd name="connsiteX1" fmla="*/ 7266 w 40481"/>
                <a:gd name="connsiteY1" fmla="*/ 25555 h 102220"/>
                <a:gd name="connsiteX2" fmla="*/ 14878 w 40481"/>
                <a:gd name="connsiteY2" fmla="*/ 35225 h 102220"/>
                <a:gd name="connsiteX3" fmla="*/ 14878 w 40481"/>
                <a:gd name="connsiteY3" fmla="*/ 102221 h 102220"/>
                <a:gd name="connsiteX4" fmla="*/ 40482 w 40481"/>
                <a:gd name="connsiteY4" fmla="*/ 102221 h 102220"/>
                <a:gd name="connsiteX5" fmla="*/ 40482 w 40481"/>
                <a:gd name="connsiteY5" fmla="*/ 0 h 102220"/>
                <a:gd name="connsiteX6" fmla="*/ 0 w 40481"/>
                <a:gd name="connsiteY6" fmla="*/ 0 h 102220"/>
                <a:gd name="connsiteX7" fmla="*/ 0 w 40481"/>
                <a:gd name="connsiteY7" fmla="*/ 25555 h 102220"/>
                <a:gd name="connsiteX8" fmla="*/ 5536 w 40481"/>
                <a:gd name="connsiteY8" fmla="*/ 25555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481" h="102220">
                  <a:moveTo>
                    <a:pt x="5190" y="25555"/>
                  </a:moveTo>
                  <a:cubicBezTo>
                    <a:pt x="5882" y="25555"/>
                    <a:pt x="6574" y="25555"/>
                    <a:pt x="7266" y="25555"/>
                  </a:cubicBezTo>
                  <a:cubicBezTo>
                    <a:pt x="12110" y="26246"/>
                    <a:pt x="14878" y="30045"/>
                    <a:pt x="14878" y="35225"/>
                  </a:cubicBezTo>
                  <a:lnTo>
                    <a:pt x="14878" y="102221"/>
                  </a:lnTo>
                  <a:lnTo>
                    <a:pt x="40482" y="102221"/>
                  </a:lnTo>
                  <a:lnTo>
                    <a:pt x="40482" y="0"/>
                  </a:lnTo>
                  <a:lnTo>
                    <a:pt x="0" y="0"/>
                  </a:lnTo>
                  <a:lnTo>
                    <a:pt x="0" y="25555"/>
                  </a:lnTo>
                  <a:lnTo>
                    <a:pt x="5536" y="25555"/>
                  </a:lnTo>
                  <a:close/>
                </a:path>
              </a:pathLst>
            </a:custGeom>
            <a:grpFill/>
            <a:ln w="3458" cap="flat">
              <a:noFill/>
              <a:prstDash val="solid"/>
              <a:miter/>
            </a:ln>
          </p:spPr>
          <p:txBody>
            <a:bodyPr rtlCol="0" anchor="ctr"/>
            <a:lstStyle/>
            <a:p>
              <a:endParaRPr lang="en-US" sz="1800"/>
            </a:p>
          </p:txBody>
        </p:sp>
        <p:sp>
          <p:nvSpPr>
            <p:cNvPr id="7" name="Freeform 6">
              <a:extLst>
                <a:ext uri="{FF2B5EF4-FFF2-40B4-BE49-F238E27FC236}">
                  <a16:creationId xmlns:a16="http://schemas.microsoft.com/office/drawing/2014/main" id="{B1AA28DA-2E95-0179-9970-C56E7335AC4C}"/>
                </a:ext>
              </a:extLst>
            </p:cNvPr>
            <p:cNvSpPr/>
            <p:nvPr/>
          </p:nvSpPr>
          <p:spPr>
            <a:xfrm>
              <a:off x="9146218" y="7685087"/>
              <a:ext cx="128365" cy="102220"/>
            </a:xfrm>
            <a:custGeom>
              <a:avLst/>
              <a:gdLst>
                <a:gd name="connsiteX0" fmla="*/ 128365 w 128365"/>
                <a:gd name="connsiteY0" fmla="*/ 81846 h 102220"/>
                <a:gd name="connsiteX1" fmla="*/ 128365 w 128365"/>
                <a:gd name="connsiteY1" fmla="*/ 102221 h 102220"/>
                <a:gd name="connsiteX2" fmla="*/ 19722 w 128365"/>
                <a:gd name="connsiteY2" fmla="*/ 60780 h 102220"/>
                <a:gd name="connsiteX3" fmla="*/ 0 w 128365"/>
                <a:gd name="connsiteY3" fmla="*/ 30735 h 102220"/>
                <a:gd name="connsiteX4" fmla="*/ 31140 w 128365"/>
                <a:gd name="connsiteY4" fmla="*/ 0 h 102220"/>
                <a:gd name="connsiteX5" fmla="*/ 128020 w 128365"/>
                <a:gd name="connsiteY5" fmla="*/ 0 h 102220"/>
                <a:gd name="connsiteX6" fmla="*/ 128020 w 128365"/>
                <a:gd name="connsiteY6" fmla="*/ 40059 h 102220"/>
                <a:gd name="connsiteX7" fmla="*/ 102416 w 128365"/>
                <a:gd name="connsiteY7" fmla="*/ 40059 h 102220"/>
                <a:gd name="connsiteX8" fmla="*/ 102416 w 128365"/>
                <a:gd name="connsiteY8" fmla="*/ 32807 h 102220"/>
                <a:gd name="connsiteX9" fmla="*/ 94458 w 128365"/>
                <a:gd name="connsiteY9" fmla="*/ 25555 h 102220"/>
                <a:gd name="connsiteX10" fmla="*/ 37714 w 128365"/>
                <a:gd name="connsiteY10" fmla="*/ 25555 h 102220"/>
                <a:gd name="connsiteX11" fmla="*/ 29756 w 128365"/>
                <a:gd name="connsiteY11" fmla="*/ 33498 h 102220"/>
                <a:gd name="connsiteX12" fmla="*/ 34946 w 128365"/>
                <a:gd name="connsiteY12" fmla="*/ 41095 h 102220"/>
                <a:gd name="connsiteX13" fmla="*/ 119370 w 128365"/>
                <a:gd name="connsiteY13" fmla="*/ 70795 h 102220"/>
                <a:gd name="connsiteX14" fmla="*/ 127674 w 128365"/>
                <a:gd name="connsiteY14"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8365" h="102220">
                  <a:moveTo>
                    <a:pt x="128365" y="81846"/>
                  </a:moveTo>
                  <a:lnTo>
                    <a:pt x="128365"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close/>
                </a:path>
              </a:pathLst>
            </a:custGeom>
            <a:grpFill/>
            <a:ln w="3458" cap="flat">
              <a:noFill/>
              <a:prstDash val="solid"/>
              <a:miter/>
            </a:ln>
          </p:spPr>
          <p:txBody>
            <a:bodyPr rtlCol="0" anchor="ctr"/>
            <a:lstStyle/>
            <a:p>
              <a:endParaRPr lang="en-US" sz="1800"/>
            </a:p>
          </p:txBody>
        </p:sp>
        <p:sp>
          <p:nvSpPr>
            <p:cNvPr id="9" name="Freeform 8">
              <a:extLst>
                <a:ext uri="{FF2B5EF4-FFF2-40B4-BE49-F238E27FC236}">
                  <a16:creationId xmlns:a16="http://schemas.microsoft.com/office/drawing/2014/main" id="{8FAA860D-F792-6B31-70CC-2D382B0233C1}"/>
                </a:ext>
              </a:extLst>
            </p:cNvPr>
            <p:cNvSpPr/>
            <p:nvPr/>
          </p:nvSpPr>
          <p:spPr>
            <a:xfrm>
              <a:off x="9146564" y="7761753"/>
              <a:ext cx="25258" cy="25555"/>
            </a:xfrm>
            <a:custGeom>
              <a:avLst/>
              <a:gdLst>
                <a:gd name="connsiteX0" fmla="*/ 25258 w 25258"/>
                <a:gd name="connsiteY0" fmla="*/ 0 h 25555"/>
                <a:gd name="connsiteX1" fmla="*/ 0 w 25258"/>
                <a:gd name="connsiteY1" fmla="*/ 0 h 25555"/>
                <a:gd name="connsiteX2" fmla="*/ 0 w 25258"/>
                <a:gd name="connsiteY2" fmla="*/ 25555 h 25555"/>
                <a:gd name="connsiteX3" fmla="*/ 25258 w 25258"/>
                <a:gd name="connsiteY3" fmla="*/ 25555 h 25555"/>
                <a:gd name="connsiteX4" fmla="*/ 25258 w 25258"/>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8"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10" name="Freeform 9">
              <a:extLst>
                <a:ext uri="{FF2B5EF4-FFF2-40B4-BE49-F238E27FC236}">
                  <a16:creationId xmlns:a16="http://schemas.microsoft.com/office/drawing/2014/main" id="{6DA5B842-F4B2-1BAC-DA6D-5748A51E4EDA}"/>
                </a:ext>
              </a:extLst>
            </p:cNvPr>
            <p:cNvSpPr/>
            <p:nvPr/>
          </p:nvSpPr>
          <p:spPr>
            <a:xfrm>
              <a:off x="8480170" y="7685087"/>
              <a:ext cx="128019" cy="102220"/>
            </a:xfrm>
            <a:custGeom>
              <a:avLst/>
              <a:gdLst>
                <a:gd name="connsiteX0" fmla="*/ 128020 w 128019"/>
                <a:gd name="connsiteY0" fmla="*/ 81846 h 102220"/>
                <a:gd name="connsiteX1" fmla="*/ 128020 w 128019"/>
                <a:gd name="connsiteY1" fmla="*/ 102221 h 102220"/>
                <a:gd name="connsiteX2" fmla="*/ 19722 w 128019"/>
                <a:gd name="connsiteY2" fmla="*/ 60780 h 102220"/>
                <a:gd name="connsiteX3" fmla="*/ 0 w 128019"/>
                <a:gd name="connsiteY3" fmla="*/ 30735 h 102220"/>
                <a:gd name="connsiteX4" fmla="*/ 31140 w 128019"/>
                <a:gd name="connsiteY4" fmla="*/ 0 h 102220"/>
                <a:gd name="connsiteX5" fmla="*/ 128020 w 128019"/>
                <a:gd name="connsiteY5" fmla="*/ 0 h 102220"/>
                <a:gd name="connsiteX6" fmla="*/ 128020 w 128019"/>
                <a:gd name="connsiteY6" fmla="*/ 40059 h 102220"/>
                <a:gd name="connsiteX7" fmla="*/ 102416 w 128019"/>
                <a:gd name="connsiteY7" fmla="*/ 40059 h 102220"/>
                <a:gd name="connsiteX8" fmla="*/ 102416 w 128019"/>
                <a:gd name="connsiteY8" fmla="*/ 32807 h 102220"/>
                <a:gd name="connsiteX9" fmla="*/ 94458 w 128019"/>
                <a:gd name="connsiteY9" fmla="*/ 25555 h 102220"/>
                <a:gd name="connsiteX10" fmla="*/ 37714 w 128019"/>
                <a:gd name="connsiteY10" fmla="*/ 25555 h 102220"/>
                <a:gd name="connsiteX11" fmla="*/ 29756 w 128019"/>
                <a:gd name="connsiteY11" fmla="*/ 33498 h 102220"/>
                <a:gd name="connsiteX12" fmla="*/ 34946 w 128019"/>
                <a:gd name="connsiteY12" fmla="*/ 41095 h 102220"/>
                <a:gd name="connsiteX13" fmla="*/ 119370 w 128019"/>
                <a:gd name="connsiteY13" fmla="*/ 70795 h 102220"/>
                <a:gd name="connsiteX14" fmla="*/ 127674 w 128019"/>
                <a:gd name="connsiteY14" fmla="*/ 81846 h 102220"/>
                <a:gd name="connsiteX15" fmla="*/ 127674 w 128019"/>
                <a:gd name="connsiteY15" fmla="*/ 81846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8019" h="102220">
                  <a:moveTo>
                    <a:pt x="128020" y="81846"/>
                  </a:moveTo>
                  <a:lnTo>
                    <a:pt x="128020" y="102221"/>
                  </a:lnTo>
                  <a:lnTo>
                    <a:pt x="19722" y="60780"/>
                  </a:lnTo>
                  <a:cubicBezTo>
                    <a:pt x="2422" y="54218"/>
                    <a:pt x="0" y="41786"/>
                    <a:pt x="0" y="30735"/>
                  </a:cubicBezTo>
                  <a:cubicBezTo>
                    <a:pt x="0" y="13814"/>
                    <a:pt x="13840" y="0"/>
                    <a:pt x="31140" y="0"/>
                  </a:cubicBezTo>
                  <a:lnTo>
                    <a:pt x="128020" y="0"/>
                  </a:lnTo>
                  <a:lnTo>
                    <a:pt x="128020" y="40059"/>
                  </a:lnTo>
                  <a:lnTo>
                    <a:pt x="102416" y="40059"/>
                  </a:lnTo>
                  <a:lnTo>
                    <a:pt x="102416" y="32807"/>
                  </a:lnTo>
                  <a:cubicBezTo>
                    <a:pt x="102416" y="28663"/>
                    <a:pt x="98610" y="25555"/>
                    <a:pt x="94458" y="25555"/>
                  </a:cubicBezTo>
                  <a:lnTo>
                    <a:pt x="37714" y="25555"/>
                  </a:lnTo>
                  <a:cubicBezTo>
                    <a:pt x="33216" y="25555"/>
                    <a:pt x="29756" y="29009"/>
                    <a:pt x="29756" y="33498"/>
                  </a:cubicBezTo>
                  <a:cubicBezTo>
                    <a:pt x="29756" y="37987"/>
                    <a:pt x="31832" y="40059"/>
                    <a:pt x="34946" y="41095"/>
                  </a:cubicBezTo>
                  <a:lnTo>
                    <a:pt x="119370" y="70795"/>
                  </a:lnTo>
                  <a:cubicBezTo>
                    <a:pt x="119370" y="70795"/>
                    <a:pt x="127674" y="73212"/>
                    <a:pt x="127674" y="81846"/>
                  </a:cubicBezTo>
                  <a:lnTo>
                    <a:pt x="127674" y="81846"/>
                  </a:lnTo>
                  <a:close/>
                </a:path>
              </a:pathLst>
            </a:custGeom>
            <a:grpFill/>
            <a:ln w="3458" cap="flat">
              <a:noFill/>
              <a:prstDash val="solid"/>
              <a:miter/>
            </a:ln>
          </p:spPr>
          <p:txBody>
            <a:bodyPr rtlCol="0" anchor="ctr"/>
            <a:lstStyle/>
            <a:p>
              <a:endParaRPr lang="en-US" sz="1800"/>
            </a:p>
          </p:txBody>
        </p:sp>
        <p:sp>
          <p:nvSpPr>
            <p:cNvPr id="11" name="Freeform 10">
              <a:extLst>
                <a:ext uri="{FF2B5EF4-FFF2-40B4-BE49-F238E27FC236}">
                  <a16:creationId xmlns:a16="http://schemas.microsoft.com/office/drawing/2014/main" id="{7B41F635-5BCA-8F26-4CE2-A0E3F4DDC294}"/>
                </a:ext>
              </a:extLst>
            </p:cNvPr>
            <p:cNvSpPr/>
            <p:nvPr/>
          </p:nvSpPr>
          <p:spPr>
            <a:xfrm>
              <a:off x="8480516" y="7761753"/>
              <a:ext cx="25257" cy="25555"/>
            </a:xfrm>
            <a:custGeom>
              <a:avLst/>
              <a:gdLst>
                <a:gd name="connsiteX0" fmla="*/ 25258 w 25257"/>
                <a:gd name="connsiteY0" fmla="*/ 0 h 25555"/>
                <a:gd name="connsiteX1" fmla="*/ 0 w 25257"/>
                <a:gd name="connsiteY1" fmla="*/ 0 h 25555"/>
                <a:gd name="connsiteX2" fmla="*/ 0 w 25257"/>
                <a:gd name="connsiteY2" fmla="*/ 25555 h 25555"/>
                <a:gd name="connsiteX3" fmla="*/ 25258 w 25257"/>
                <a:gd name="connsiteY3" fmla="*/ 25555 h 25555"/>
                <a:gd name="connsiteX4" fmla="*/ 25258 w 25257"/>
                <a:gd name="connsiteY4" fmla="*/ 0 h 25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7" h="25555">
                  <a:moveTo>
                    <a:pt x="25258" y="0"/>
                  </a:moveTo>
                  <a:lnTo>
                    <a:pt x="0" y="0"/>
                  </a:lnTo>
                  <a:lnTo>
                    <a:pt x="0" y="25555"/>
                  </a:lnTo>
                  <a:lnTo>
                    <a:pt x="25258" y="25555"/>
                  </a:lnTo>
                  <a:lnTo>
                    <a:pt x="25258" y="0"/>
                  </a:lnTo>
                  <a:close/>
                </a:path>
              </a:pathLst>
            </a:custGeom>
            <a:grpFill/>
            <a:ln w="3458" cap="flat">
              <a:noFill/>
              <a:prstDash val="solid"/>
              <a:miter/>
            </a:ln>
          </p:spPr>
          <p:txBody>
            <a:bodyPr rtlCol="0" anchor="ctr"/>
            <a:lstStyle/>
            <a:p>
              <a:endParaRPr lang="en-US" sz="1800"/>
            </a:p>
          </p:txBody>
        </p:sp>
        <p:sp>
          <p:nvSpPr>
            <p:cNvPr id="12" name="Freeform 11">
              <a:extLst>
                <a:ext uri="{FF2B5EF4-FFF2-40B4-BE49-F238E27FC236}">
                  <a16:creationId xmlns:a16="http://schemas.microsoft.com/office/drawing/2014/main" id="{0B4A019A-92A5-B540-24B7-2BC0669BBBB9}"/>
                </a:ext>
              </a:extLst>
            </p:cNvPr>
            <p:cNvSpPr/>
            <p:nvPr/>
          </p:nvSpPr>
          <p:spPr>
            <a:xfrm>
              <a:off x="9300533" y="7685087"/>
              <a:ext cx="128019" cy="102220"/>
            </a:xfrm>
            <a:custGeom>
              <a:avLst/>
              <a:gdLst>
                <a:gd name="connsiteX0" fmla="*/ 128020 w 128019"/>
                <a:gd name="connsiteY0" fmla="*/ 25555 h 102220"/>
                <a:gd name="connsiteX1" fmla="*/ 128020 w 128019"/>
                <a:gd name="connsiteY1" fmla="*/ 0 h 102220"/>
                <a:gd name="connsiteX2" fmla="*/ 105530 w 128019"/>
                <a:gd name="connsiteY2" fmla="*/ 0 h 102220"/>
                <a:gd name="connsiteX3" fmla="*/ 100686 w 128019"/>
                <a:gd name="connsiteY3" fmla="*/ 1727 h 102220"/>
                <a:gd name="connsiteX4" fmla="*/ 60550 w 128019"/>
                <a:gd name="connsiteY4" fmla="*/ 37987 h 102220"/>
                <a:gd name="connsiteX5" fmla="*/ 56398 w 128019"/>
                <a:gd name="connsiteY5" fmla="*/ 39714 h 102220"/>
                <a:gd name="connsiteX6" fmla="*/ 28372 w 128019"/>
                <a:gd name="connsiteY6" fmla="*/ 39714 h 102220"/>
                <a:gd name="connsiteX7" fmla="*/ 25258 w 128019"/>
                <a:gd name="connsiteY7" fmla="*/ 36606 h 102220"/>
                <a:gd name="connsiteX8" fmla="*/ 25258 w 128019"/>
                <a:gd name="connsiteY8" fmla="*/ 0 h 102220"/>
                <a:gd name="connsiteX9" fmla="*/ 0 w 128019"/>
                <a:gd name="connsiteY9" fmla="*/ 0 h 102220"/>
                <a:gd name="connsiteX10" fmla="*/ 0 w 128019"/>
                <a:gd name="connsiteY10" fmla="*/ 102221 h 102220"/>
                <a:gd name="connsiteX11" fmla="*/ 25258 w 128019"/>
                <a:gd name="connsiteY11" fmla="*/ 102221 h 102220"/>
                <a:gd name="connsiteX12" fmla="*/ 25258 w 128019"/>
                <a:gd name="connsiteY12" fmla="*/ 65615 h 102220"/>
                <a:gd name="connsiteX13" fmla="*/ 28372 w 128019"/>
                <a:gd name="connsiteY13" fmla="*/ 62507 h 102220"/>
                <a:gd name="connsiteX14" fmla="*/ 56398 w 128019"/>
                <a:gd name="connsiteY14" fmla="*/ 62507 h 102220"/>
                <a:gd name="connsiteX15" fmla="*/ 60550 w 128019"/>
                <a:gd name="connsiteY15" fmla="*/ 64233 h 102220"/>
                <a:gd name="connsiteX16" fmla="*/ 100686 w 128019"/>
                <a:gd name="connsiteY16" fmla="*/ 100494 h 102220"/>
                <a:gd name="connsiteX17" fmla="*/ 105530 w 128019"/>
                <a:gd name="connsiteY17" fmla="*/ 102221 h 102220"/>
                <a:gd name="connsiteX18" fmla="*/ 128020 w 128019"/>
                <a:gd name="connsiteY18" fmla="*/ 102221 h 102220"/>
                <a:gd name="connsiteX19" fmla="*/ 128020 w 128019"/>
                <a:gd name="connsiteY19" fmla="*/ 76665 h 102220"/>
                <a:gd name="connsiteX20" fmla="*/ 115564 w 128019"/>
                <a:gd name="connsiteY20" fmla="*/ 76665 h 102220"/>
                <a:gd name="connsiteX21" fmla="*/ 105184 w 128019"/>
                <a:gd name="connsiteY21" fmla="*/ 72867 h 102220"/>
                <a:gd name="connsiteX22" fmla="*/ 86154 w 128019"/>
                <a:gd name="connsiteY22" fmla="*/ 55945 h 102220"/>
                <a:gd name="connsiteX23" fmla="*/ 86154 w 128019"/>
                <a:gd name="connsiteY23" fmla="*/ 45930 h 102220"/>
                <a:gd name="connsiteX24" fmla="*/ 105184 w 128019"/>
                <a:gd name="connsiteY24" fmla="*/ 29009 h 102220"/>
                <a:gd name="connsiteX25" fmla="*/ 115564 w 128019"/>
                <a:gd name="connsiteY25" fmla="*/ 25210 h 102220"/>
                <a:gd name="connsiteX26" fmla="*/ 128020 w 128019"/>
                <a:gd name="connsiteY26" fmla="*/ 25210 h 10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8019" h="102220">
                  <a:moveTo>
                    <a:pt x="128020" y="25555"/>
                  </a:moveTo>
                  <a:lnTo>
                    <a:pt x="128020" y="0"/>
                  </a:lnTo>
                  <a:lnTo>
                    <a:pt x="105530" y="0"/>
                  </a:lnTo>
                  <a:cubicBezTo>
                    <a:pt x="103800" y="0"/>
                    <a:pt x="102070" y="691"/>
                    <a:pt x="100686" y="1727"/>
                  </a:cubicBezTo>
                  <a:lnTo>
                    <a:pt x="60550" y="37987"/>
                  </a:lnTo>
                  <a:cubicBezTo>
                    <a:pt x="59512" y="39023"/>
                    <a:pt x="58128" y="39714"/>
                    <a:pt x="56398" y="39714"/>
                  </a:cubicBezTo>
                  <a:lnTo>
                    <a:pt x="28372" y="39714"/>
                  </a:lnTo>
                  <a:cubicBezTo>
                    <a:pt x="26642" y="39714"/>
                    <a:pt x="25258" y="38333"/>
                    <a:pt x="25258" y="36606"/>
                  </a:cubicBezTo>
                  <a:lnTo>
                    <a:pt x="25258" y="0"/>
                  </a:lnTo>
                  <a:lnTo>
                    <a:pt x="0" y="0"/>
                  </a:lnTo>
                  <a:lnTo>
                    <a:pt x="0" y="102221"/>
                  </a:lnTo>
                  <a:lnTo>
                    <a:pt x="25258" y="102221"/>
                  </a:lnTo>
                  <a:lnTo>
                    <a:pt x="25258" y="65615"/>
                  </a:lnTo>
                  <a:cubicBezTo>
                    <a:pt x="25258" y="63888"/>
                    <a:pt x="26642" y="62507"/>
                    <a:pt x="28372" y="62507"/>
                  </a:cubicBezTo>
                  <a:lnTo>
                    <a:pt x="56398" y="62507"/>
                  </a:lnTo>
                  <a:cubicBezTo>
                    <a:pt x="57782" y="62507"/>
                    <a:pt x="59512" y="62852"/>
                    <a:pt x="60550" y="64233"/>
                  </a:cubicBezTo>
                  <a:lnTo>
                    <a:pt x="100686" y="100494"/>
                  </a:lnTo>
                  <a:cubicBezTo>
                    <a:pt x="102070" y="101530"/>
                    <a:pt x="103800" y="102221"/>
                    <a:pt x="105530" y="102221"/>
                  </a:cubicBezTo>
                  <a:lnTo>
                    <a:pt x="128020" y="102221"/>
                  </a:lnTo>
                  <a:lnTo>
                    <a:pt x="128020" y="76665"/>
                  </a:lnTo>
                  <a:lnTo>
                    <a:pt x="115564" y="76665"/>
                  </a:lnTo>
                  <a:cubicBezTo>
                    <a:pt x="111758" y="76665"/>
                    <a:pt x="107952" y="75284"/>
                    <a:pt x="105184" y="72867"/>
                  </a:cubicBezTo>
                  <a:lnTo>
                    <a:pt x="86154" y="55945"/>
                  </a:lnTo>
                  <a:cubicBezTo>
                    <a:pt x="83040" y="53528"/>
                    <a:pt x="83040" y="48693"/>
                    <a:pt x="86154" y="45930"/>
                  </a:cubicBezTo>
                  <a:lnTo>
                    <a:pt x="105184" y="29009"/>
                  </a:lnTo>
                  <a:cubicBezTo>
                    <a:pt x="108298" y="26591"/>
                    <a:pt x="111758" y="25210"/>
                    <a:pt x="115564" y="25210"/>
                  </a:cubicBezTo>
                  <a:lnTo>
                    <a:pt x="128020" y="25210"/>
                  </a:lnTo>
                  <a:close/>
                </a:path>
              </a:pathLst>
            </a:custGeom>
            <a:grpFill/>
            <a:ln w="3458" cap="flat">
              <a:noFill/>
              <a:prstDash val="solid"/>
              <a:miter/>
            </a:ln>
          </p:spPr>
          <p:txBody>
            <a:bodyPr rtlCol="0" anchor="ctr"/>
            <a:lstStyle/>
            <a:p>
              <a:endParaRPr lang="en-US" sz="1800"/>
            </a:p>
          </p:txBody>
        </p:sp>
        <p:sp>
          <p:nvSpPr>
            <p:cNvPr id="15" name="Freeform 14">
              <a:extLst>
                <a:ext uri="{FF2B5EF4-FFF2-40B4-BE49-F238E27FC236}">
                  <a16:creationId xmlns:a16="http://schemas.microsoft.com/office/drawing/2014/main" id="{41CEC976-08A0-D21B-DE3A-969A1A77E8E8}"/>
                </a:ext>
              </a:extLst>
            </p:cNvPr>
            <p:cNvSpPr/>
            <p:nvPr/>
          </p:nvSpPr>
          <p:spPr>
            <a:xfrm>
              <a:off x="8623760" y="7684742"/>
              <a:ext cx="138053" cy="102565"/>
            </a:xfrm>
            <a:custGeom>
              <a:avLst/>
              <a:gdLst>
                <a:gd name="connsiteX0" fmla="*/ 99302 w 138053"/>
                <a:gd name="connsiteY0" fmla="*/ 345 h 102565"/>
                <a:gd name="connsiteX1" fmla="*/ 70238 w 138053"/>
                <a:gd name="connsiteY1" fmla="*/ 14850 h 102565"/>
                <a:gd name="connsiteX2" fmla="*/ 0 w 138053"/>
                <a:gd name="connsiteY2" fmla="*/ 102566 h 102565"/>
                <a:gd name="connsiteX3" fmla="*/ 35638 w 138053"/>
                <a:gd name="connsiteY3" fmla="*/ 102566 h 102565"/>
                <a:gd name="connsiteX4" fmla="*/ 93420 w 138053"/>
                <a:gd name="connsiteY4" fmla="*/ 31426 h 102565"/>
                <a:gd name="connsiteX5" fmla="*/ 102762 w 138053"/>
                <a:gd name="connsiteY5" fmla="*/ 26246 h 102565"/>
                <a:gd name="connsiteX6" fmla="*/ 112450 w 138053"/>
                <a:gd name="connsiteY6" fmla="*/ 36951 h 102565"/>
                <a:gd name="connsiteX7" fmla="*/ 112450 w 138053"/>
                <a:gd name="connsiteY7" fmla="*/ 68032 h 102565"/>
                <a:gd name="connsiteX8" fmla="*/ 105184 w 138053"/>
                <a:gd name="connsiteY8" fmla="*/ 77011 h 102565"/>
                <a:gd name="connsiteX9" fmla="*/ 97918 w 138053"/>
                <a:gd name="connsiteY9" fmla="*/ 77011 h 102565"/>
                <a:gd name="connsiteX10" fmla="*/ 97918 w 138053"/>
                <a:gd name="connsiteY10" fmla="*/ 102566 h 102565"/>
                <a:gd name="connsiteX11" fmla="*/ 138054 w 138053"/>
                <a:gd name="connsiteY11" fmla="*/ 102566 h 102565"/>
                <a:gd name="connsiteX12" fmla="*/ 138054 w 138053"/>
                <a:gd name="connsiteY12" fmla="*/ 38333 h 102565"/>
                <a:gd name="connsiteX13" fmla="*/ 98956 w 138053"/>
                <a:gd name="connsiteY13" fmla="*/ 0 h 102565"/>
                <a:gd name="connsiteX14" fmla="*/ 98956 w 138053"/>
                <a:gd name="connsiteY14" fmla="*/ 0 h 10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8053" h="102565">
                  <a:moveTo>
                    <a:pt x="99302" y="345"/>
                  </a:moveTo>
                  <a:cubicBezTo>
                    <a:pt x="87884" y="345"/>
                    <a:pt x="77158" y="5871"/>
                    <a:pt x="70238" y="14850"/>
                  </a:cubicBezTo>
                  <a:lnTo>
                    <a:pt x="0" y="102566"/>
                  </a:lnTo>
                  <a:lnTo>
                    <a:pt x="35638" y="102566"/>
                  </a:lnTo>
                  <a:lnTo>
                    <a:pt x="93420" y="31426"/>
                  </a:lnTo>
                  <a:cubicBezTo>
                    <a:pt x="96188" y="27973"/>
                    <a:pt x="98264" y="26246"/>
                    <a:pt x="102762" y="26246"/>
                  </a:cubicBezTo>
                  <a:cubicBezTo>
                    <a:pt x="107260" y="26246"/>
                    <a:pt x="112450" y="31081"/>
                    <a:pt x="112450" y="36951"/>
                  </a:cubicBezTo>
                  <a:lnTo>
                    <a:pt x="112450" y="68032"/>
                  </a:lnTo>
                  <a:cubicBezTo>
                    <a:pt x="112450" y="72867"/>
                    <a:pt x="110028" y="77011"/>
                    <a:pt x="105184" y="77011"/>
                  </a:cubicBezTo>
                  <a:lnTo>
                    <a:pt x="97918" y="77011"/>
                  </a:lnTo>
                  <a:lnTo>
                    <a:pt x="97918" y="102566"/>
                  </a:lnTo>
                  <a:lnTo>
                    <a:pt x="138054" y="102566"/>
                  </a:lnTo>
                  <a:lnTo>
                    <a:pt x="138054" y="38333"/>
                  </a:lnTo>
                  <a:cubicBezTo>
                    <a:pt x="138054" y="33153"/>
                    <a:pt x="138054" y="0"/>
                    <a:pt x="98956" y="0"/>
                  </a:cubicBezTo>
                  <a:lnTo>
                    <a:pt x="98956" y="0"/>
                  </a:lnTo>
                  <a:close/>
                </a:path>
              </a:pathLst>
            </a:custGeom>
            <a:grpFill/>
            <a:ln w="3458" cap="flat">
              <a:noFill/>
              <a:prstDash val="solid"/>
              <a:miter/>
            </a:ln>
          </p:spPr>
          <p:txBody>
            <a:bodyPr rtlCol="0" anchor="ctr"/>
            <a:lstStyle/>
            <a:p>
              <a:endParaRPr lang="en-US" sz="1800"/>
            </a:p>
          </p:txBody>
        </p:sp>
        <p:sp>
          <p:nvSpPr>
            <p:cNvPr id="16" name="Freeform 15">
              <a:extLst>
                <a:ext uri="{FF2B5EF4-FFF2-40B4-BE49-F238E27FC236}">
                  <a16:creationId xmlns:a16="http://schemas.microsoft.com/office/drawing/2014/main" id="{E9BAF7E9-12F6-020E-6463-855F7F358424}"/>
                </a:ext>
              </a:extLst>
            </p:cNvPr>
            <p:cNvSpPr/>
            <p:nvPr/>
          </p:nvSpPr>
          <p:spPr>
            <a:xfrm>
              <a:off x="9480453" y="7685087"/>
              <a:ext cx="30793" cy="25555"/>
            </a:xfrm>
            <a:custGeom>
              <a:avLst/>
              <a:gdLst>
                <a:gd name="connsiteX0" fmla="*/ 30448 w 30793"/>
                <a:gd name="connsiteY0" fmla="*/ 0 h 25555"/>
                <a:gd name="connsiteX1" fmla="*/ 30448 w 30793"/>
                <a:gd name="connsiteY1" fmla="*/ 25555 h 25555"/>
                <a:gd name="connsiteX2" fmla="*/ 24912 w 30793"/>
                <a:gd name="connsiteY2" fmla="*/ 25555 h 25555"/>
                <a:gd name="connsiteX3" fmla="*/ 24912 w 30793"/>
                <a:gd name="connsiteY3" fmla="*/ 5180 h 25555"/>
                <a:gd name="connsiteX4" fmla="*/ 24912 w 30793"/>
                <a:gd name="connsiteY4" fmla="*/ 5180 h 25555"/>
                <a:gd name="connsiteX5" fmla="*/ 17646 w 30793"/>
                <a:gd name="connsiteY5" fmla="*/ 25555 h 25555"/>
                <a:gd name="connsiteX6" fmla="*/ 12802 w 30793"/>
                <a:gd name="connsiteY6" fmla="*/ 25555 h 25555"/>
                <a:gd name="connsiteX7" fmla="*/ 5536 w 30793"/>
                <a:gd name="connsiteY7" fmla="*/ 5180 h 25555"/>
                <a:gd name="connsiteX8" fmla="*/ 5536 w 30793"/>
                <a:gd name="connsiteY8" fmla="*/ 5180 h 25555"/>
                <a:gd name="connsiteX9" fmla="*/ 5536 w 30793"/>
                <a:gd name="connsiteY9" fmla="*/ 25555 h 25555"/>
                <a:gd name="connsiteX10" fmla="*/ 0 w 30793"/>
                <a:gd name="connsiteY10" fmla="*/ 25555 h 25555"/>
                <a:gd name="connsiteX11" fmla="*/ 0 w 30793"/>
                <a:gd name="connsiteY11" fmla="*/ 0 h 25555"/>
                <a:gd name="connsiteX12" fmla="*/ 9688 w 30793"/>
                <a:gd name="connsiteY12" fmla="*/ 0 h 25555"/>
                <a:gd name="connsiteX13" fmla="*/ 15570 w 30793"/>
                <a:gd name="connsiteY13" fmla="*/ 17267 h 25555"/>
                <a:gd name="connsiteX14" fmla="*/ 15570 w 30793"/>
                <a:gd name="connsiteY14" fmla="*/ 17267 h 25555"/>
                <a:gd name="connsiteX15" fmla="*/ 21798 w 30793"/>
                <a:gd name="connsiteY15" fmla="*/ 0 h 25555"/>
                <a:gd name="connsiteX16" fmla="*/ 30794 w 30793"/>
                <a:gd name="connsiteY16" fmla="*/ 0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793" h="25555">
                  <a:moveTo>
                    <a:pt x="30448" y="0"/>
                  </a:moveTo>
                  <a:lnTo>
                    <a:pt x="30448" y="25555"/>
                  </a:lnTo>
                  <a:lnTo>
                    <a:pt x="24912" y="25555"/>
                  </a:lnTo>
                  <a:lnTo>
                    <a:pt x="24912" y="5180"/>
                  </a:lnTo>
                  <a:lnTo>
                    <a:pt x="24912" y="5180"/>
                  </a:lnTo>
                  <a:lnTo>
                    <a:pt x="17646" y="25555"/>
                  </a:lnTo>
                  <a:lnTo>
                    <a:pt x="12802" y="25555"/>
                  </a:lnTo>
                  <a:lnTo>
                    <a:pt x="5536" y="5180"/>
                  </a:lnTo>
                  <a:lnTo>
                    <a:pt x="5536" y="5180"/>
                  </a:lnTo>
                  <a:lnTo>
                    <a:pt x="5536" y="25555"/>
                  </a:lnTo>
                  <a:lnTo>
                    <a:pt x="0" y="25555"/>
                  </a:lnTo>
                  <a:lnTo>
                    <a:pt x="0" y="0"/>
                  </a:lnTo>
                  <a:lnTo>
                    <a:pt x="9688" y="0"/>
                  </a:lnTo>
                  <a:lnTo>
                    <a:pt x="15570" y="17267"/>
                  </a:lnTo>
                  <a:lnTo>
                    <a:pt x="15570" y="17267"/>
                  </a:lnTo>
                  <a:lnTo>
                    <a:pt x="21798" y="0"/>
                  </a:lnTo>
                  <a:lnTo>
                    <a:pt x="30794" y="0"/>
                  </a:lnTo>
                  <a:close/>
                </a:path>
              </a:pathLst>
            </a:custGeom>
            <a:grpFill/>
            <a:ln w="3458" cap="flat">
              <a:noFill/>
              <a:prstDash val="solid"/>
              <a:miter/>
            </a:ln>
          </p:spPr>
          <p:txBody>
            <a:bodyPr rtlCol="0" anchor="ctr"/>
            <a:lstStyle/>
            <a:p>
              <a:endParaRPr lang="en-US" sz="1800"/>
            </a:p>
          </p:txBody>
        </p:sp>
        <p:sp>
          <p:nvSpPr>
            <p:cNvPr id="22" name="Freeform 21">
              <a:extLst>
                <a:ext uri="{FF2B5EF4-FFF2-40B4-BE49-F238E27FC236}">
                  <a16:creationId xmlns:a16="http://schemas.microsoft.com/office/drawing/2014/main" id="{90B646BB-FA6B-5EC9-84E1-110EB9F849E9}"/>
                </a:ext>
              </a:extLst>
            </p:cNvPr>
            <p:cNvSpPr/>
            <p:nvPr/>
          </p:nvSpPr>
          <p:spPr>
            <a:xfrm>
              <a:off x="9453811" y="7685087"/>
              <a:ext cx="21451" cy="25555"/>
            </a:xfrm>
            <a:custGeom>
              <a:avLst/>
              <a:gdLst>
                <a:gd name="connsiteX0" fmla="*/ 13840 w 21451"/>
                <a:gd name="connsiteY0" fmla="*/ 4835 h 25555"/>
                <a:gd name="connsiteX1" fmla="*/ 13840 w 21451"/>
                <a:gd name="connsiteY1" fmla="*/ 25555 h 25555"/>
                <a:gd name="connsiteX2" fmla="*/ 7958 w 21451"/>
                <a:gd name="connsiteY2" fmla="*/ 25555 h 25555"/>
                <a:gd name="connsiteX3" fmla="*/ 7958 w 21451"/>
                <a:gd name="connsiteY3" fmla="*/ 4835 h 25555"/>
                <a:gd name="connsiteX4" fmla="*/ 0 w 21451"/>
                <a:gd name="connsiteY4" fmla="*/ 4835 h 25555"/>
                <a:gd name="connsiteX5" fmla="*/ 0 w 21451"/>
                <a:gd name="connsiteY5" fmla="*/ 0 h 25555"/>
                <a:gd name="connsiteX6" fmla="*/ 21452 w 21451"/>
                <a:gd name="connsiteY6" fmla="*/ 0 h 25555"/>
                <a:gd name="connsiteX7" fmla="*/ 21452 w 21451"/>
                <a:gd name="connsiteY7" fmla="*/ 4835 h 25555"/>
                <a:gd name="connsiteX8" fmla="*/ 13494 w 21451"/>
                <a:gd name="connsiteY8" fmla="*/ 4835 h 25555"/>
                <a:gd name="connsiteX9" fmla="*/ 13494 w 21451"/>
                <a:gd name="connsiteY9" fmla="*/ 4835 h 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451" h="25555">
                  <a:moveTo>
                    <a:pt x="13840" y="4835"/>
                  </a:moveTo>
                  <a:lnTo>
                    <a:pt x="13840" y="25555"/>
                  </a:lnTo>
                  <a:lnTo>
                    <a:pt x="7958" y="25555"/>
                  </a:lnTo>
                  <a:lnTo>
                    <a:pt x="7958" y="4835"/>
                  </a:lnTo>
                  <a:lnTo>
                    <a:pt x="0" y="4835"/>
                  </a:lnTo>
                  <a:lnTo>
                    <a:pt x="0" y="0"/>
                  </a:lnTo>
                  <a:lnTo>
                    <a:pt x="21452" y="0"/>
                  </a:lnTo>
                  <a:lnTo>
                    <a:pt x="21452" y="4835"/>
                  </a:lnTo>
                  <a:lnTo>
                    <a:pt x="13494" y="4835"/>
                  </a:lnTo>
                  <a:lnTo>
                    <a:pt x="13494" y="4835"/>
                  </a:lnTo>
                  <a:close/>
                </a:path>
              </a:pathLst>
            </a:custGeom>
            <a:grpFill/>
            <a:ln w="3458" cap="flat">
              <a:noFill/>
              <a:prstDash val="solid"/>
              <a:miter/>
            </a:ln>
          </p:spPr>
          <p:txBody>
            <a:bodyPr rtlCol="0" anchor="ctr"/>
            <a:lstStyle/>
            <a:p>
              <a:endParaRPr lang="en-US" sz="1800"/>
            </a:p>
          </p:txBody>
        </p:sp>
      </p:grpSp>
      <p:sp>
        <p:nvSpPr>
          <p:cNvPr id="17" name="name_2024 sandisk or its affiliates All rights reserved">
            <a:extLst>
              <a:ext uri="{FF2B5EF4-FFF2-40B4-BE49-F238E27FC236}">
                <a16:creationId xmlns:a16="http://schemas.microsoft.com/office/drawing/2014/main" id="{7277941F-042A-DDD9-FFC0-3FF7341DA41D}"/>
              </a:ext>
            </a:extLst>
          </p:cNvPr>
          <p:cNvSpPr txBox="1"/>
          <p:nvPr/>
        </p:nvSpPr>
        <p:spPr>
          <a:xfrm>
            <a:off x="6096000" y="6437971"/>
            <a:ext cx="5803900"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b">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r" defTabSz="609412" hangingPunct="0">
              <a:lnSpc>
                <a:spcPct val="100000"/>
              </a:lnSpc>
            </a:pPr>
            <a:r>
              <a:rPr lang="en-US" sz="1000" b="0" i="0" kern="0" spc="0" baseline="0">
                <a:solidFill>
                  <a:schemeClr val="tx1"/>
                </a:solidFill>
                <a:latin typeface="NB Architekt Pro Neue" panose="02010509020201040001" pitchFamily="49" charset="77"/>
                <a:cs typeface="Consolas" panose="020B0609020204030204" pitchFamily="49" charset="0"/>
              </a:rPr>
              <a:t>©2025 SANDISK CORPORATION OR ITS AFFILIATES ALL RIGHTS RESERVED</a:t>
            </a:r>
          </a:p>
        </p:txBody>
      </p:sp>
      <p:sp>
        <p:nvSpPr>
          <p:cNvPr id="18" name="name_2024 sandisk or its affiliates All rights reserved">
            <a:extLst>
              <a:ext uri="{FF2B5EF4-FFF2-40B4-BE49-F238E27FC236}">
                <a16:creationId xmlns:a16="http://schemas.microsoft.com/office/drawing/2014/main" id="{1F268A33-A3A9-A99D-27EE-263433500A18}"/>
              </a:ext>
            </a:extLst>
          </p:cNvPr>
          <p:cNvSpPr txBox="1"/>
          <p:nvPr/>
        </p:nvSpPr>
        <p:spPr>
          <a:xfrm>
            <a:off x="8997951" y="267518"/>
            <a:ext cx="2242276"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tx1"/>
                </a:solidFill>
                <a:latin typeface="NB Architekt Pro Neue" panose="02010509020201040001" pitchFamily="49" charset="77"/>
                <a:cs typeface="Consolas" panose="020B0609020204030204" pitchFamily="49" charset="0"/>
              </a:rPr>
              <a:t>“START” “REPEAT” “1988/2025”</a:t>
            </a:r>
          </a:p>
        </p:txBody>
      </p:sp>
      <p:sp>
        <p:nvSpPr>
          <p:cNvPr id="19" name="Rectangle 18">
            <a:extLst>
              <a:ext uri="{FF2B5EF4-FFF2-40B4-BE49-F238E27FC236}">
                <a16:creationId xmlns:a16="http://schemas.microsoft.com/office/drawing/2014/main" id="{259F53C3-7697-A35C-210D-0F5FD6FA0ACB}"/>
              </a:ext>
            </a:extLst>
          </p:cNvPr>
          <p:cNvSpPr/>
          <p:nvPr/>
        </p:nvSpPr>
        <p:spPr>
          <a:xfrm>
            <a:off x="11808843" y="296581"/>
            <a:ext cx="91057" cy="9105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151444502"/>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losing">
    <p:bg>
      <p:bgPr>
        <a:solidFill>
          <a:schemeClr val="accent3"/>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17447AFC-E5FB-9726-6C58-5928BBCDB57F}"/>
              </a:ext>
            </a:extLst>
          </p:cNvPr>
          <p:cNvSpPr/>
          <p:nvPr/>
        </p:nvSpPr>
        <p:spPr>
          <a:xfrm>
            <a:off x="11563470" y="293688"/>
            <a:ext cx="336430" cy="33643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F9BAFD44-DFAE-6584-F3C3-580D6907D1F7}"/>
              </a:ext>
            </a:extLst>
          </p:cNvPr>
          <p:cNvGrpSpPr/>
          <p:nvPr/>
        </p:nvGrpSpPr>
        <p:grpSpPr>
          <a:xfrm>
            <a:off x="292100" y="1792606"/>
            <a:ext cx="3849052" cy="924895"/>
            <a:chOff x="284163" y="2698150"/>
            <a:chExt cx="3767328" cy="905257"/>
          </a:xfrm>
        </p:grpSpPr>
        <p:sp>
          <p:nvSpPr>
            <p:cNvPr id="12" name="Rectangle 11">
              <a:extLst>
                <a:ext uri="{FF2B5EF4-FFF2-40B4-BE49-F238E27FC236}">
                  <a16:creationId xmlns:a16="http://schemas.microsoft.com/office/drawing/2014/main" id="{4608273A-8B55-6612-D34D-DD21B5B2F644}"/>
                </a:ext>
              </a:extLst>
            </p:cNvPr>
            <p:cNvSpPr/>
            <p:nvPr/>
          </p:nvSpPr>
          <p:spPr>
            <a:xfrm>
              <a:off x="284163" y="2698150"/>
              <a:ext cx="3767328" cy="90525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AEFD63FE-9E33-1709-7503-632601894250}"/>
                </a:ext>
              </a:extLst>
            </p:cNvPr>
            <p:cNvGrpSpPr/>
            <p:nvPr/>
          </p:nvGrpSpPr>
          <p:grpSpPr>
            <a:xfrm>
              <a:off x="284163" y="2698151"/>
              <a:ext cx="1806575" cy="905256"/>
              <a:chOff x="146137" y="3532340"/>
              <a:chExt cx="1944601" cy="975922"/>
            </a:xfrm>
            <a:solidFill>
              <a:srgbClr val="000000"/>
            </a:solidFill>
          </p:grpSpPr>
          <p:sp>
            <p:nvSpPr>
              <p:cNvPr id="13" name="Oval 12">
                <a:extLst>
                  <a:ext uri="{FF2B5EF4-FFF2-40B4-BE49-F238E27FC236}">
                    <a16:creationId xmlns:a16="http://schemas.microsoft.com/office/drawing/2014/main" id="{A408FA0B-C8DB-8EDE-6D02-265A26910C04}"/>
                  </a:ext>
                </a:extLst>
              </p:cNvPr>
              <p:cNvSpPr/>
              <p:nvPr/>
            </p:nvSpPr>
            <p:spPr>
              <a:xfrm>
                <a:off x="1114816" y="3532340"/>
                <a:ext cx="975922" cy="97592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B62C2BA-784A-BEFE-5180-8CE0136E5F8F}"/>
                  </a:ext>
                </a:extLst>
              </p:cNvPr>
              <p:cNvSpPr/>
              <p:nvPr/>
            </p:nvSpPr>
            <p:spPr>
              <a:xfrm>
                <a:off x="146137" y="3532340"/>
                <a:ext cx="975922" cy="97592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Rounded Rectangle 21">
              <a:extLst>
                <a:ext uri="{FF2B5EF4-FFF2-40B4-BE49-F238E27FC236}">
                  <a16:creationId xmlns:a16="http://schemas.microsoft.com/office/drawing/2014/main" id="{4E2F6E18-D576-9104-92EA-1D3249CB6E59}"/>
                </a:ext>
              </a:extLst>
            </p:cNvPr>
            <p:cNvSpPr/>
            <p:nvPr/>
          </p:nvSpPr>
          <p:spPr>
            <a:xfrm>
              <a:off x="2090738" y="2698150"/>
              <a:ext cx="1960753" cy="905256"/>
            </a:xfrm>
            <a:prstGeom prst="roundRect">
              <a:avLst>
                <a:gd name="adj"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5260F4A5-0682-45A4-1DE8-3A9DEABE8A84}"/>
              </a:ext>
            </a:extLst>
          </p:cNvPr>
          <p:cNvSpPr/>
          <p:nvPr/>
        </p:nvSpPr>
        <p:spPr>
          <a:xfrm>
            <a:off x="296520" y="5057542"/>
            <a:ext cx="77421" cy="7742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BD74B0FD-69F3-EE84-E7F8-4C06592C73BD}"/>
              </a:ext>
            </a:extLst>
          </p:cNvPr>
          <p:cNvSpPr/>
          <p:nvPr/>
        </p:nvSpPr>
        <p:spPr>
          <a:xfrm>
            <a:off x="11830417" y="5057542"/>
            <a:ext cx="77421" cy="7742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B71BF83A-FE06-1A4E-4956-EBC0863A698E}"/>
              </a:ext>
            </a:extLst>
          </p:cNvPr>
          <p:cNvSpPr/>
          <p:nvPr/>
        </p:nvSpPr>
        <p:spPr>
          <a:xfrm>
            <a:off x="4141152" y="5057542"/>
            <a:ext cx="77421" cy="7742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91AA5DDF-F55E-4BDA-414E-AF16AD2E7BE5}"/>
              </a:ext>
            </a:extLst>
          </p:cNvPr>
          <p:cNvSpPr/>
          <p:nvPr/>
        </p:nvSpPr>
        <p:spPr>
          <a:xfrm>
            <a:off x="7985784" y="5057542"/>
            <a:ext cx="77421" cy="7742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name_2024 sandisk or its affiliates All rights reserved">
            <a:extLst>
              <a:ext uri="{FF2B5EF4-FFF2-40B4-BE49-F238E27FC236}">
                <a16:creationId xmlns:a16="http://schemas.microsoft.com/office/drawing/2014/main" id="{41D57C59-E5E7-D579-7041-32BB79C964E3}"/>
              </a:ext>
            </a:extLst>
          </p:cNvPr>
          <p:cNvSpPr txBox="1"/>
          <p:nvPr/>
        </p:nvSpPr>
        <p:spPr>
          <a:xfrm>
            <a:off x="292100" y="267518"/>
            <a:ext cx="1323975"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tx1"/>
                </a:solidFill>
                <a:latin typeface="NB Architekt Pro Neue" panose="02010509020201040001" pitchFamily="49" charset="77"/>
                <a:cs typeface="Consolas" panose="020B0609020204030204" pitchFamily="49" charset="0"/>
              </a:rPr>
              <a:t>[Confidential]</a:t>
            </a:r>
          </a:p>
        </p:txBody>
      </p:sp>
      <p:grpSp>
        <p:nvGrpSpPr>
          <p:cNvPr id="4" name="Group 3">
            <a:extLst>
              <a:ext uri="{FF2B5EF4-FFF2-40B4-BE49-F238E27FC236}">
                <a16:creationId xmlns:a16="http://schemas.microsoft.com/office/drawing/2014/main" id="{6615B3D6-6E5F-FC36-12B7-E32FA59FFD2D}"/>
              </a:ext>
            </a:extLst>
          </p:cNvPr>
          <p:cNvGrpSpPr/>
          <p:nvPr/>
        </p:nvGrpSpPr>
        <p:grpSpPr>
          <a:xfrm>
            <a:off x="297005" y="5411270"/>
            <a:ext cx="11602895" cy="1158371"/>
            <a:chOff x="297005" y="5421618"/>
            <a:chExt cx="11585651" cy="1156649"/>
          </a:xfrm>
          <a:solidFill>
            <a:schemeClr val="tx1"/>
          </a:solidFill>
        </p:grpSpPr>
        <p:grpSp>
          <p:nvGrpSpPr>
            <p:cNvPr id="5" name="Group 4">
              <a:extLst>
                <a:ext uri="{FF2B5EF4-FFF2-40B4-BE49-F238E27FC236}">
                  <a16:creationId xmlns:a16="http://schemas.microsoft.com/office/drawing/2014/main" id="{F1A35D3C-BE3A-B65C-86FA-D3DF9111B169}"/>
                </a:ext>
              </a:extLst>
            </p:cNvPr>
            <p:cNvGrpSpPr/>
            <p:nvPr/>
          </p:nvGrpSpPr>
          <p:grpSpPr>
            <a:xfrm>
              <a:off x="297005" y="5421618"/>
              <a:ext cx="10643138" cy="1156649"/>
              <a:chOff x="3726006" y="3171824"/>
              <a:chExt cx="4740852" cy="515215"/>
            </a:xfrm>
            <a:grpFill/>
          </p:grpSpPr>
          <p:sp>
            <p:nvSpPr>
              <p:cNvPr id="9" name="Freeform 8">
                <a:extLst>
                  <a:ext uri="{FF2B5EF4-FFF2-40B4-BE49-F238E27FC236}">
                    <a16:creationId xmlns:a16="http://schemas.microsoft.com/office/drawing/2014/main" id="{012B8E4A-514E-CFC2-A740-665313E52DD9}"/>
                  </a:ext>
                </a:extLst>
              </p:cNvPr>
              <p:cNvSpPr/>
              <p:nvPr/>
            </p:nvSpPr>
            <p:spPr>
              <a:xfrm>
                <a:off x="5262995" y="3173556"/>
                <a:ext cx="639906" cy="512618"/>
              </a:xfrm>
              <a:custGeom>
                <a:avLst/>
                <a:gdLst>
                  <a:gd name="connsiteX0" fmla="*/ 512618 w 639906"/>
                  <a:gd name="connsiteY0" fmla="*/ 348961 h 512618"/>
                  <a:gd name="connsiteX1" fmla="*/ 482311 w 639906"/>
                  <a:gd name="connsiteY1" fmla="*/ 383598 h 512618"/>
                  <a:gd name="connsiteX2" fmla="*/ 446809 w 639906"/>
                  <a:gd name="connsiteY2" fmla="*/ 361950 h 512618"/>
                  <a:gd name="connsiteX3" fmla="*/ 329911 w 639906"/>
                  <a:gd name="connsiteY3" fmla="*/ 40698 h 512618"/>
                  <a:gd name="connsiteX4" fmla="*/ 274493 w 639906"/>
                  <a:gd name="connsiteY4" fmla="*/ 0 h 512618"/>
                  <a:gd name="connsiteX5" fmla="*/ 0 w 639906"/>
                  <a:gd name="connsiteY5" fmla="*/ 0 h 512618"/>
                  <a:gd name="connsiteX6" fmla="*/ 0 w 639906"/>
                  <a:gd name="connsiteY6" fmla="*/ 512618 h 512618"/>
                  <a:gd name="connsiteX7" fmla="*/ 200891 w 639906"/>
                  <a:gd name="connsiteY7" fmla="*/ 512618 h 512618"/>
                  <a:gd name="connsiteX8" fmla="*/ 200891 w 639906"/>
                  <a:gd name="connsiteY8" fmla="*/ 384464 h 512618"/>
                  <a:gd name="connsiteX9" fmla="*/ 165389 w 639906"/>
                  <a:gd name="connsiteY9" fmla="*/ 384464 h 512618"/>
                  <a:gd name="connsiteX10" fmla="*/ 128155 w 639906"/>
                  <a:gd name="connsiteY10" fmla="*/ 338571 h 512618"/>
                  <a:gd name="connsiteX11" fmla="*/ 128155 w 639906"/>
                  <a:gd name="connsiteY11" fmla="*/ 184439 h 512618"/>
                  <a:gd name="connsiteX12" fmla="*/ 200025 w 639906"/>
                  <a:gd name="connsiteY12" fmla="*/ 133350 h 512618"/>
                  <a:gd name="connsiteX13" fmla="*/ 228600 w 639906"/>
                  <a:gd name="connsiteY13" fmla="*/ 164523 h 512618"/>
                  <a:gd name="connsiteX14" fmla="*/ 322118 w 639906"/>
                  <a:gd name="connsiteY14" fmla="*/ 407843 h 512618"/>
                  <a:gd name="connsiteX15" fmla="*/ 475384 w 639906"/>
                  <a:gd name="connsiteY15" fmla="*/ 512618 h 512618"/>
                  <a:gd name="connsiteX16" fmla="*/ 478848 w 639906"/>
                  <a:gd name="connsiteY16" fmla="*/ 512618 h 512618"/>
                  <a:gd name="connsiteX17" fmla="*/ 639907 w 639906"/>
                  <a:gd name="connsiteY17" fmla="*/ 353291 h 512618"/>
                  <a:gd name="connsiteX18" fmla="*/ 639907 w 639906"/>
                  <a:gd name="connsiteY18" fmla="*/ 0 h 512618"/>
                  <a:gd name="connsiteX19" fmla="*/ 511752 w 639906"/>
                  <a:gd name="connsiteY19" fmla="*/ 0 h 512618"/>
                  <a:gd name="connsiteX20" fmla="*/ 511752 w 639906"/>
                  <a:gd name="connsiteY20" fmla="*/ 349827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39906" h="512618">
                    <a:moveTo>
                      <a:pt x="512618" y="348961"/>
                    </a:moveTo>
                    <a:cubicBezTo>
                      <a:pt x="512618" y="366279"/>
                      <a:pt x="499630" y="381000"/>
                      <a:pt x="482311" y="383598"/>
                    </a:cubicBezTo>
                    <a:cubicBezTo>
                      <a:pt x="466725" y="385330"/>
                      <a:pt x="452005" y="375805"/>
                      <a:pt x="446809" y="361950"/>
                    </a:cubicBezTo>
                    <a:lnTo>
                      <a:pt x="329911" y="40698"/>
                    </a:lnTo>
                    <a:cubicBezTo>
                      <a:pt x="321252" y="14721"/>
                      <a:pt x="299605" y="0"/>
                      <a:pt x="274493" y="0"/>
                    </a:cubicBezTo>
                    <a:lnTo>
                      <a:pt x="0" y="0"/>
                    </a:lnTo>
                    <a:lnTo>
                      <a:pt x="0" y="512618"/>
                    </a:lnTo>
                    <a:lnTo>
                      <a:pt x="200891" y="512618"/>
                    </a:lnTo>
                    <a:lnTo>
                      <a:pt x="200891" y="384464"/>
                    </a:lnTo>
                    <a:lnTo>
                      <a:pt x="165389" y="384464"/>
                    </a:lnTo>
                    <a:cubicBezTo>
                      <a:pt x="142009" y="384464"/>
                      <a:pt x="128155" y="363682"/>
                      <a:pt x="128155" y="338571"/>
                    </a:cubicBezTo>
                    <a:lnTo>
                      <a:pt x="128155" y="184439"/>
                    </a:lnTo>
                    <a:cubicBezTo>
                      <a:pt x="128155" y="146339"/>
                      <a:pt x="165389" y="118630"/>
                      <a:pt x="200025" y="133350"/>
                    </a:cubicBezTo>
                    <a:cubicBezTo>
                      <a:pt x="213014" y="139411"/>
                      <a:pt x="223405" y="150668"/>
                      <a:pt x="228600" y="164523"/>
                    </a:cubicBezTo>
                    <a:lnTo>
                      <a:pt x="322118" y="407843"/>
                    </a:lnTo>
                    <a:cubicBezTo>
                      <a:pt x="346364" y="471920"/>
                      <a:pt x="406977" y="512618"/>
                      <a:pt x="475384" y="512618"/>
                    </a:cubicBezTo>
                    <a:lnTo>
                      <a:pt x="478848" y="512618"/>
                    </a:lnTo>
                    <a:cubicBezTo>
                      <a:pt x="567170" y="512618"/>
                      <a:pt x="639907" y="442480"/>
                      <a:pt x="639907" y="353291"/>
                    </a:cubicBezTo>
                    <a:lnTo>
                      <a:pt x="639907" y="0"/>
                    </a:lnTo>
                    <a:lnTo>
                      <a:pt x="511752" y="0"/>
                    </a:lnTo>
                    <a:lnTo>
                      <a:pt x="511752" y="349827"/>
                    </a:lnTo>
                    <a:close/>
                  </a:path>
                </a:pathLst>
              </a:custGeom>
              <a:grpFill/>
              <a:ln w="8653" cap="flat">
                <a:noFill/>
                <a:prstDash val="solid"/>
                <a:miter/>
              </a:ln>
            </p:spPr>
            <p:txBody>
              <a:bodyPr rtlCol="0" anchor="ctr"/>
              <a:lstStyle/>
              <a:p>
                <a:endParaRPr lang="en-US">
                  <a:solidFill>
                    <a:schemeClr val="tx1"/>
                  </a:solidFill>
                </a:endParaRPr>
              </a:p>
            </p:txBody>
          </p:sp>
          <p:sp>
            <p:nvSpPr>
              <p:cNvPr id="10" name="Freeform 9">
                <a:extLst>
                  <a:ext uri="{FF2B5EF4-FFF2-40B4-BE49-F238E27FC236}">
                    <a16:creationId xmlns:a16="http://schemas.microsoft.com/office/drawing/2014/main" id="{3C20FE84-7E94-A3E2-7840-F8B3C5C7563E}"/>
                  </a:ext>
                </a:extLst>
              </p:cNvPr>
              <p:cNvSpPr/>
              <p:nvPr/>
            </p:nvSpPr>
            <p:spPr>
              <a:xfrm>
                <a:off x="6031922" y="3172690"/>
                <a:ext cx="640772" cy="512618"/>
              </a:xfrm>
              <a:custGeom>
                <a:avLst/>
                <a:gdLst>
                  <a:gd name="connsiteX0" fmla="*/ 384464 w 640772"/>
                  <a:gd name="connsiteY0" fmla="*/ 0 h 512618"/>
                  <a:gd name="connsiteX1" fmla="*/ 0 w 640772"/>
                  <a:gd name="connsiteY1" fmla="*/ 0 h 512618"/>
                  <a:gd name="connsiteX2" fmla="*/ 0 w 640772"/>
                  <a:gd name="connsiteY2" fmla="*/ 129020 h 512618"/>
                  <a:gd name="connsiteX3" fmla="*/ 384464 w 640772"/>
                  <a:gd name="connsiteY3" fmla="*/ 129020 h 512618"/>
                  <a:gd name="connsiteX4" fmla="*/ 511752 w 640772"/>
                  <a:gd name="connsiteY4" fmla="*/ 256309 h 512618"/>
                  <a:gd name="connsiteX5" fmla="*/ 384464 w 640772"/>
                  <a:gd name="connsiteY5" fmla="*/ 383598 h 512618"/>
                  <a:gd name="connsiteX6" fmla="*/ 0 w 640772"/>
                  <a:gd name="connsiteY6" fmla="*/ 383598 h 512618"/>
                  <a:gd name="connsiteX7" fmla="*/ 0 w 640772"/>
                  <a:gd name="connsiteY7" fmla="*/ 512618 h 512618"/>
                  <a:gd name="connsiteX8" fmla="*/ 384464 w 640772"/>
                  <a:gd name="connsiteY8" fmla="*/ 512618 h 512618"/>
                  <a:gd name="connsiteX9" fmla="*/ 609600 w 640772"/>
                  <a:gd name="connsiteY9" fmla="*/ 380134 h 512618"/>
                  <a:gd name="connsiteX10" fmla="*/ 640773 w 640772"/>
                  <a:gd name="connsiteY10" fmla="*/ 256309 h 512618"/>
                  <a:gd name="connsiteX11" fmla="*/ 609600 w 640772"/>
                  <a:gd name="connsiteY11" fmla="*/ 132484 h 512618"/>
                  <a:gd name="connsiteX12" fmla="*/ 384464 w 640772"/>
                  <a:gd name="connsiteY12" fmla="*/ 0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0772" h="512618">
                    <a:moveTo>
                      <a:pt x="384464" y="0"/>
                    </a:moveTo>
                    <a:lnTo>
                      <a:pt x="0" y="0"/>
                    </a:lnTo>
                    <a:lnTo>
                      <a:pt x="0" y="129020"/>
                    </a:lnTo>
                    <a:lnTo>
                      <a:pt x="384464" y="129020"/>
                    </a:lnTo>
                    <a:cubicBezTo>
                      <a:pt x="452004" y="129020"/>
                      <a:pt x="511752" y="188768"/>
                      <a:pt x="511752" y="256309"/>
                    </a:cubicBezTo>
                    <a:cubicBezTo>
                      <a:pt x="511752" y="323850"/>
                      <a:pt x="452004" y="383598"/>
                      <a:pt x="384464" y="383598"/>
                    </a:cubicBezTo>
                    <a:lnTo>
                      <a:pt x="0" y="383598"/>
                    </a:lnTo>
                    <a:lnTo>
                      <a:pt x="0" y="512618"/>
                    </a:lnTo>
                    <a:lnTo>
                      <a:pt x="384464" y="512618"/>
                    </a:lnTo>
                    <a:cubicBezTo>
                      <a:pt x="481446" y="512618"/>
                      <a:pt x="565439" y="458932"/>
                      <a:pt x="609600" y="380134"/>
                    </a:cubicBezTo>
                    <a:cubicBezTo>
                      <a:pt x="629516" y="343766"/>
                      <a:pt x="640773" y="301337"/>
                      <a:pt x="640773" y="256309"/>
                    </a:cubicBezTo>
                    <a:cubicBezTo>
                      <a:pt x="640773" y="211282"/>
                      <a:pt x="629516" y="169718"/>
                      <a:pt x="609600" y="132484"/>
                    </a:cubicBezTo>
                    <a:cubicBezTo>
                      <a:pt x="566305" y="52821"/>
                      <a:pt x="482311" y="0"/>
                      <a:pt x="384464" y="0"/>
                    </a:cubicBezTo>
                    <a:close/>
                  </a:path>
                </a:pathLst>
              </a:custGeom>
              <a:grpFill/>
              <a:ln w="8653" cap="flat">
                <a:noFill/>
                <a:prstDash val="solid"/>
                <a:miter/>
              </a:ln>
            </p:spPr>
            <p:txBody>
              <a:bodyPr rtlCol="0" anchor="ctr"/>
              <a:lstStyle/>
              <a:p>
                <a:endParaRPr lang="en-US">
                  <a:solidFill>
                    <a:schemeClr val="tx1"/>
                  </a:solidFill>
                </a:endParaRPr>
              </a:p>
            </p:txBody>
          </p:sp>
          <p:sp>
            <p:nvSpPr>
              <p:cNvPr id="11" name="Freeform 10">
                <a:extLst>
                  <a:ext uri="{FF2B5EF4-FFF2-40B4-BE49-F238E27FC236}">
                    <a16:creationId xmlns:a16="http://schemas.microsoft.com/office/drawing/2014/main" id="{DA19BA47-0B88-6EBF-9064-1B20FEADC385}"/>
                  </a:ext>
                </a:extLst>
              </p:cNvPr>
              <p:cNvSpPr/>
              <p:nvPr/>
            </p:nvSpPr>
            <p:spPr>
              <a:xfrm>
                <a:off x="6726381" y="3171824"/>
                <a:ext cx="202622" cy="512618"/>
              </a:xfrm>
              <a:custGeom>
                <a:avLst/>
                <a:gdLst>
                  <a:gd name="connsiteX0" fmla="*/ 25977 w 202622"/>
                  <a:gd name="connsiteY0" fmla="*/ 129021 h 512618"/>
                  <a:gd name="connsiteX1" fmla="*/ 36368 w 202622"/>
                  <a:gd name="connsiteY1" fmla="*/ 129021 h 512618"/>
                  <a:gd name="connsiteX2" fmla="*/ 74468 w 202622"/>
                  <a:gd name="connsiteY2" fmla="*/ 176646 h 512618"/>
                  <a:gd name="connsiteX3" fmla="*/ 74468 w 202622"/>
                  <a:gd name="connsiteY3" fmla="*/ 512618 h 512618"/>
                  <a:gd name="connsiteX4" fmla="*/ 202623 w 202622"/>
                  <a:gd name="connsiteY4" fmla="*/ 512618 h 512618"/>
                  <a:gd name="connsiteX5" fmla="*/ 202623 w 202622"/>
                  <a:gd name="connsiteY5" fmla="*/ 0 h 512618"/>
                  <a:gd name="connsiteX6" fmla="*/ 0 w 202622"/>
                  <a:gd name="connsiteY6" fmla="*/ 0 h 512618"/>
                  <a:gd name="connsiteX7" fmla="*/ 0 w 202622"/>
                  <a:gd name="connsiteY7" fmla="*/ 128155 h 512618"/>
                  <a:gd name="connsiteX8" fmla="*/ 26843 w 202622"/>
                  <a:gd name="connsiteY8" fmla="*/ 128155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622" h="512618">
                    <a:moveTo>
                      <a:pt x="25977" y="129021"/>
                    </a:moveTo>
                    <a:cubicBezTo>
                      <a:pt x="29441" y="129021"/>
                      <a:pt x="32039" y="129021"/>
                      <a:pt x="36368" y="129021"/>
                    </a:cubicBezTo>
                    <a:cubicBezTo>
                      <a:pt x="59748" y="132484"/>
                      <a:pt x="74468" y="151534"/>
                      <a:pt x="74468" y="176646"/>
                    </a:cubicBezTo>
                    <a:lnTo>
                      <a:pt x="74468" y="512618"/>
                    </a:lnTo>
                    <a:lnTo>
                      <a:pt x="202623" y="512618"/>
                    </a:lnTo>
                    <a:lnTo>
                      <a:pt x="202623" y="0"/>
                    </a:lnTo>
                    <a:lnTo>
                      <a:pt x="0" y="0"/>
                    </a:lnTo>
                    <a:lnTo>
                      <a:pt x="0" y="128155"/>
                    </a:lnTo>
                    <a:lnTo>
                      <a:pt x="26843" y="128155"/>
                    </a:lnTo>
                    <a:close/>
                  </a:path>
                </a:pathLst>
              </a:custGeom>
              <a:grpFill/>
              <a:ln w="8653" cap="flat">
                <a:noFill/>
                <a:prstDash val="solid"/>
                <a:miter/>
              </a:ln>
            </p:spPr>
            <p:txBody>
              <a:bodyPr rtlCol="0" anchor="ctr"/>
              <a:lstStyle/>
              <a:p>
                <a:endParaRPr lang="en-US">
                  <a:solidFill>
                    <a:schemeClr val="tx1"/>
                  </a:solidFill>
                </a:endParaRPr>
              </a:p>
            </p:txBody>
          </p:sp>
          <p:sp>
            <p:nvSpPr>
              <p:cNvPr id="14" name="Freeform 13">
                <a:extLst>
                  <a:ext uri="{FF2B5EF4-FFF2-40B4-BE49-F238E27FC236}">
                    <a16:creationId xmlns:a16="http://schemas.microsoft.com/office/drawing/2014/main" id="{1977ACF2-CCB1-4391-3F91-B10B90F3B247}"/>
                  </a:ext>
                </a:extLst>
              </p:cNvPr>
              <p:cNvSpPr/>
              <p:nvPr/>
            </p:nvSpPr>
            <p:spPr>
              <a:xfrm>
                <a:off x="7058025" y="3172690"/>
                <a:ext cx="640772" cy="512618"/>
              </a:xfrm>
              <a:custGeom>
                <a:avLst/>
                <a:gdLst>
                  <a:gd name="connsiteX0" fmla="*/ 639907 w 640772"/>
                  <a:gd name="connsiteY0" fmla="*/ 410441 h 512618"/>
                  <a:gd name="connsiteX1" fmla="*/ 639907 w 640772"/>
                  <a:gd name="connsiteY1" fmla="*/ 512618 h 512618"/>
                  <a:gd name="connsiteX2" fmla="*/ 97848 w 640772"/>
                  <a:gd name="connsiteY2" fmla="*/ 304800 h 512618"/>
                  <a:gd name="connsiteX3" fmla="*/ 0 w 640772"/>
                  <a:gd name="connsiteY3" fmla="*/ 154132 h 512618"/>
                  <a:gd name="connsiteX4" fmla="*/ 154998 w 640772"/>
                  <a:gd name="connsiteY4" fmla="*/ 0 h 512618"/>
                  <a:gd name="connsiteX5" fmla="*/ 639907 w 640772"/>
                  <a:gd name="connsiteY5" fmla="*/ 0 h 512618"/>
                  <a:gd name="connsiteX6" fmla="*/ 639907 w 640772"/>
                  <a:gd name="connsiteY6" fmla="*/ 200891 h 512618"/>
                  <a:gd name="connsiteX7" fmla="*/ 511752 w 640772"/>
                  <a:gd name="connsiteY7" fmla="*/ 200891 h 512618"/>
                  <a:gd name="connsiteX8" fmla="*/ 511752 w 640772"/>
                  <a:gd name="connsiteY8" fmla="*/ 165389 h 512618"/>
                  <a:gd name="connsiteX9" fmla="*/ 472786 w 640772"/>
                  <a:gd name="connsiteY9" fmla="*/ 129020 h 512618"/>
                  <a:gd name="connsiteX10" fmla="*/ 189634 w 640772"/>
                  <a:gd name="connsiteY10" fmla="*/ 129020 h 512618"/>
                  <a:gd name="connsiteX11" fmla="*/ 149802 w 640772"/>
                  <a:gd name="connsiteY11" fmla="*/ 167986 h 512618"/>
                  <a:gd name="connsiteX12" fmla="*/ 175779 w 640772"/>
                  <a:gd name="connsiteY12" fmla="*/ 206087 h 512618"/>
                  <a:gd name="connsiteX13" fmla="*/ 598343 w 640772"/>
                  <a:gd name="connsiteY13" fmla="*/ 355023 h 512618"/>
                  <a:gd name="connsiteX14" fmla="*/ 640773 w 640772"/>
                  <a:gd name="connsiteY14" fmla="*/ 411307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0772" h="512618">
                    <a:moveTo>
                      <a:pt x="639907" y="410441"/>
                    </a:moveTo>
                    <a:lnTo>
                      <a:pt x="639907" y="512618"/>
                    </a:lnTo>
                    <a:lnTo>
                      <a:pt x="97848" y="304800"/>
                    </a:lnTo>
                    <a:cubicBezTo>
                      <a:pt x="12123" y="271895"/>
                      <a:pt x="0" y="209550"/>
                      <a:pt x="0" y="154132"/>
                    </a:cubicBezTo>
                    <a:cubicBezTo>
                      <a:pt x="0" y="69273"/>
                      <a:pt x="70139" y="0"/>
                      <a:pt x="154998" y="0"/>
                    </a:cubicBezTo>
                    <a:lnTo>
                      <a:pt x="639907" y="0"/>
                    </a:lnTo>
                    <a:lnTo>
                      <a:pt x="639907" y="200891"/>
                    </a:lnTo>
                    <a:lnTo>
                      <a:pt x="511752" y="200891"/>
                    </a:lnTo>
                    <a:lnTo>
                      <a:pt x="511752" y="165389"/>
                    </a:lnTo>
                    <a:cubicBezTo>
                      <a:pt x="511752" y="144607"/>
                      <a:pt x="491836" y="129020"/>
                      <a:pt x="472786" y="129020"/>
                    </a:cubicBezTo>
                    <a:lnTo>
                      <a:pt x="189634" y="129020"/>
                    </a:lnTo>
                    <a:cubicBezTo>
                      <a:pt x="167986" y="129020"/>
                      <a:pt x="149802" y="146339"/>
                      <a:pt x="149802" y="167986"/>
                    </a:cubicBezTo>
                    <a:cubicBezTo>
                      <a:pt x="149802" y="189634"/>
                      <a:pt x="160193" y="200025"/>
                      <a:pt x="175779" y="206087"/>
                    </a:cubicBezTo>
                    <a:lnTo>
                      <a:pt x="598343" y="355023"/>
                    </a:lnTo>
                    <a:cubicBezTo>
                      <a:pt x="598343" y="355023"/>
                      <a:pt x="640773" y="367145"/>
                      <a:pt x="640773" y="411307"/>
                    </a:cubicBezTo>
                    <a:close/>
                  </a:path>
                </a:pathLst>
              </a:custGeom>
              <a:grpFill/>
              <a:ln w="8653" cap="flat">
                <a:noFill/>
                <a:prstDash val="solid"/>
                <a:miter/>
              </a:ln>
            </p:spPr>
            <p:txBody>
              <a:bodyPr rtlCol="0" anchor="ctr"/>
              <a:lstStyle/>
              <a:p>
                <a:endParaRPr lang="en-US">
                  <a:solidFill>
                    <a:schemeClr val="tx1"/>
                  </a:solidFill>
                </a:endParaRPr>
              </a:p>
            </p:txBody>
          </p:sp>
          <p:sp>
            <p:nvSpPr>
              <p:cNvPr id="33" name="Freeform 32">
                <a:extLst>
                  <a:ext uri="{FF2B5EF4-FFF2-40B4-BE49-F238E27FC236}">
                    <a16:creationId xmlns:a16="http://schemas.microsoft.com/office/drawing/2014/main" id="{ADCA0728-0809-225E-3A43-54A14361E505}"/>
                  </a:ext>
                </a:extLst>
              </p:cNvPr>
              <p:cNvSpPr/>
              <p:nvPr/>
            </p:nvSpPr>
            <p:spPr>
              <a:xfrm>
                <a:off x="7056293" y="3557154"/>
                <a:ext cx="126422" cy="128154"/>
              </a:xfrm>
              <a:custGeom>
                <a:avLst/>
                <a:gdLst>
                  <a:gd name="connsiteX0" fmla="*/ 126423 w 126422"/>
                  <a:gd name="connsiteY0" fmla="*/ 0 h 128154"/>
                  <a:gd name="connsiteX1" fmla="*/ 0 w 126422"/>
                  <a:gd name="connsiteY1" fmla="*/ 0 h 128154"/>
                  <a:gd name="connsiteX2" fmla="*/ 0 w 126422"/>
                  <a:gd name="connsiteY2" fmla="*/ 128155 h 128154"/>
                  <a:gd name="connsiteX3" fmla="*/ 126423 w 126422"/>
                  <a:gd name="connsiteY3" fmla="*/ 128155 h 128154"/>
                  <a:gd name="connsiteX4" fmla="*/ 126423 w 126422"/>
                  <a:gd name="connsiteY4" fmla="*/ 0 h 128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22" h="128154">
                    <a:moveTo>
                      <a:pt x="126423" y="0"/>
                    </a:moveTo>
                    <a:lnTo>
                      <a:pt x="0" y="0"/>
                    </a:lnTo>
                    <a:lnTo>
                      <a:pt x="0" y="128155"/>
                    </a:lnTo>
                    <a:lnTo>
                      <a:pt x="126423" y="128155"/>
                    </a:lnTo>
                    <a:lnTo>
                      <a:pt x="126423" y="0"/>
                    </a:lnTo>
                    <a:close/>
                  </a:path>
                </a:pathLst>
              </a:custGeom>
              <a:grpFill/>
              <a:ln w="8653" cap="flat">
                <a:noFill/>
                <a:prstDash val="solid"/>
                <a:miter/>
              </a:ln>
            </p:spPr>
            <p:txBody>
              <a:bodyPr rtlCol="0" anchor="ctr"/>
              <a:lstStyle/>
              <a:p>
                <a:endParaRPr lang="en-US">
                  <a:solidFill>
                    <a:schemeClr val="tx1"/>
                  </a:solidFill>
                </a:endParaRPr>
              </a:p>
            </p:txBody>
          </p:sp>
          <p:sp>
            <p:nvSpPr>
              <p:cNvPr id="34" name="Freeform 33">
                <a:extLst>
                  <a:ext uri="{FF2B5EF4-FFF2-40B4-BE49-F238E27FC236}">
                    <a16:creationId xmlns:a16="http://schemas.microsoft.com/office/drawing/2014/main" id="{AF1F8844-05D5-909B-DE04-30F8647BE36C}"/>
                  </a:ext>
                </a:extLst>
              </p:cNvPr>
              <p:cNvSpPr/>
              <p:nvPr/>
            </p:nvSpPr>
            <p:spPr>
              <a:xfrm>
                <a:off x="3726006" y="3172690"/>
                <a:ext cx="640772" cy="512618"/>
              </a:xfrm>
              <a:custGeom>
                <a:avLst/>
                <a:gdLst>
                  <a:gd name="connsiteX0" fmla="*/ 639907 w 640772"/>
                  <a:gd name="connsiteY0" fmla="*/ 410441 h 512618"/>
                  <a:gd name="connsiteX1" fmla="*/ 639907 w 640772"/>
                  <a:gd name="connsiteY1" fmla="*/ 512618 h 512618"/>
                  <a:gd name="connsiteX2" fmla="*/ 97848 w 640772"/>
                  <a:gd name="connsiteY2" fmla="*/ 304800 h 512618"/>
                  <a:gd name="connsiteX3" fmla="*/ 0 w 640772"/>
                  <a:gd name="connsiteY3" fmla="*/ 154132 h 512618"/>
                  <a:gd name="connsiteX4" fmla="*/ 154998 w 640772"/>
                  <a:gd name="connsiteY4" fmla="*/ 0 h 512618"/>
                  <a:gd name="connsiteX5" fmla="*/ 639907 w 640772"/>
                  <a:gd name="connsiteY5" fmla="*/ 0 h 512618"/>
                  <a:gd name="connsiteX6" fmla="*/ 639907 w 640772"/>
                  <a:gd name="connsiteY6" fmla="*/ 200891 h 512618"/>
                  <a:gd name="connsiteX7" fmla="*/ 511752 w 640772"/>
                  <a:gd name="connsiteY7" fmla="*/ 200891 h 512618"/>
                  <a:gd name="connsiteX8" fmla="*/ 511752 w 640772"/>
                  <a:gd name="connsiteY8" fmla="*/ 165389 h 512618"/>
                  <a:gd name="connsiteX9" fmla="*/ 472786 w 640772"/>
                  <a:gd name="connsiteY9" fmla="*/ 129020 h 512618"/>
                  <a:gd name="connsiteX10" fmla="*/ 189634 w 640772"/>
                  <a:gd name="connsiteY10" fmla="*/ 129020 h 512618"/>
                  <a:gd name="connsiteX11" fmla="*/ 149802 w 640772"/>
                  <a:gd name="connsiteY11" fmla="*/ 167986 h 512618"/>
                  <a:gd name="connsiteX12" fmla="*/ 175780 w 640772"/>
                  <a:gd name="connsiteY12" fmla="*/ 206087 h 512618"/>
                  <a:gd name="connsiteX13" fmla="*/ 598343 w 640772"/>
                  <a:gd name="connsiteY13" fmla="*/ 355023 h 512618"/>
                  <a:gd name="connsiteX14" fmla="*/ 640773 w 640772"/>
                  <a:gd name="connsiteY14" fmla="*/ 411307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0772" h="512618">
                    <a:moveTo>
                      <a:pt x="639907" y="410441"/>
                    </a:moveTo>
                    <a:lnTo>
                      <a:pt x="639907" y="512618"/>
                    </a:lnTo>
                    <a:lnTo>
                      <a:pt x="97848" y="304800"/>
                    </a:lnTo>
                    <a:cubicBezTo>
                      <a:pt x="12123" y="271895"/>
                      <a:pt x="0" y="209550"/>
                      <a:pt x="0" y="154132"/>
                    </a:cubicBezTo>
                    <a:cubicBezTo>
                      <a:pt x="0" y="69273"/>
                      <a:pt x="70139" y="0"/>
                      <a:pt x="154998" y="0"/>
                    </a:cubicBezTo>
                    <a:lnTo>
                      <a:pt x="639907" y="0"/>
                    </a:lnTo>
                    <a:lnTo>
                      <a:pt x="639907" y="200891"/>
                    </a:lnTo>
                    <a:lnTo>
                      <a:pt x="511752" y="200891"/>
                    </a:lnTo>
                    <a:lnTo>
                      <a:pt x="511752" y="165389"/>
                    </a:lnTo>
                    <a:cubicBezTo>
                      <a:pt x="511752" y="144607"/>
                      <a:pt x="491836" y="129020"/>
                      <a:pt x="472786" y="129020"/>
                    </a:cubicBezTo>
                    <a:lnTo>
                      <a:pt x="189634" y="129020"/>
                    </a:lnTo>
                    <a:cubicBezTo>
                      <a:pt x="167986" y="129020"/>
                      <a:pt x="149802" y="146339"/>
                      <a:pt x="149802" y="167986"/>
                    </a:cubicBezTo>
                    <a:cubicBezTo>
                      <a:pt x="149802" y="189634"/>
                      <a:pt x="160193" y="200025"/>
                      <a:pt x="175780" y="206087"/>
                    </a:cubicBezTo>
                    <a:lnTo>
                      <a:pt x="598343" y="355023"/>
                    </a:lnTo>
                    <a:cubicBezTo>
                      <a:pt x="598343" y="355023"/>
                      <a:pt x="640773" y="367145"/>
                      <a:pt x="640773" y="411307"/>
                    </a:cubicBezTo>
                    <a:close/>
                  </a:path>
                </a:pathLst>
              </a:custGeom>
              <a:grpFill/>
              <a:ln w="8653" cap="flat">
                <a:noFill/>
                <a:prstDash val="solid"/>
                <a:miter/>
              </a:ln>
            </p:spPr>
            <p:txBody>
              <a:bodyPr rtlCol="0" anchor="ctr"/>
              <a:lstStyle/>
              <a:p>
                <a:endParaRPr lang="en-US">
                  <a:solidFill>
                    <a:schemeClr val="tx1"/>
                  </a:solidFill>
                </a:endParaRPr>
              </a:p>
            </p:txBody>
          </p:sp>
          <p:sp>
            <p:nvSpPr>
              <p:cNvPr id="35" name="Freeform 34">
                <a:extLst>
                  <a:ext uri="{FF2B5EF4-FFF2-40B4-BE49-F238E27FC236}">
                    <a16:creationId xmlns:a16="http://schemas.microsoft.com/office/drawing/2014/main" id="{670EF5C0-EFED-D2FD-EAFD-BB2B357BD174}"/>
                  </a:ext>
                </a:extLst>
              </p:cNvPr>
              <p:cNvSpPr/>
              <p:nvPr/>
            </p:nvSpPr>
            <p:spPr>
              <a:xfrm>
                <a:off x="3726006" y="3557154"/>
                <a:ext cx="126422" cy="128154"/>
              </a:xfrm>
              <a:custGeom>
                <a:avLst/>
                <a:gdLst>
                  <a:gd name="connsiteX0" fmla="*/ 126423 w 126422"/>
                  <a:gd name="connsiteY0" fmla="*/ 0 h 128154"/>
                  <a:gd name="connsiteX1" fmla="*/ 0 w 126422"/>
                  <a:gd name="connsiteY1" fmla="*/ 0 h 128154"/>
                  <a:gd name="connsiteX2" fmla="*/ 0 w 126422"/>
                  <a:gd name="connsiteY2" fmla="*/ 128155 h 128154"/>
                  <a:gd name="connsiteX3" fmla="*/ 126423 w 126422"/>
                  <a:gd name="connsiteY3" fmla="*/ 128155 h 128154"/>
                  <a:gd name="connsiteX4" fmla="*/ 126423 w 126422"/>
                  <a:gd name="connsiteY4" fmla="*/ 0 h 128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22" h="128154">
                    <a:moveTo>
                      <a:pt x="126423" y="0"/>
                    </a:moveTo>
                    <a:lnTo>
                      <a:pt x="0" y="0"/>
                    </a:lnTo>
                    <a:lnTo>
                      <a:pt x="0" y="128155"/>
                    </a:lnTo>
                    <a:lnTo>
                      <a:pt x="126423" y="128155"/>
                    </a:lnTo>
                    <a:lnTo>
                      <a:pt x="126423" y="0"/>
                    </a:lnTo>
                    <a:close/>
                  </a:path>
                </a:pathLst>
              </a:custGeom>
              <a:grpFill/>
              <a:ln w="8653" cap="flat">
                <a:noFill/>
                <a:prstDash val="solid"/>
                <a:miter/>
              </a:ln>
            </p:spPr>
            <p:txBody>
              <a:bodyPr rtlCol="0" anchor="ctr"/>
              <a:lstStyle/>
              <a:p>
                <a:endParaRPr lang="en-US">
                  <a:solidFill>
                    <a:schemeClr val="tx1"/>
                  </a:solidFill>
                </a:endParaRPr>
              </a:p>
            </p:txBody>
          </p:sp>
          <p:sp>
            <p:nvSpPr>
              <p:cNvPr id="36" name="Freeform 35">
                <a:extLst>
                  <a:ext uri="{FF2B5EF4-FFF2-40B4-BE49-F238E27FC236}">
                    <a16:creationId xmlns:a16="http://schemas.microsoft.com/office/drawing/2014/main" id="{A5B89D84-9175-18DD-CD24-916309E53309}"/>
                  </a:ext>
                </a:extLst>
              </p:cNvPr>
              <p:cNvSpPr/>
              <p:nvPr/>
            </p:nvSpPr>
            <p:spPr>
              <a:xfrm>
                <a:off x="7827818" y="3172690"/>
                <a:ext cx="639040" cy="514349"/>
              </a:xfrm>
              <a:custGeom>
                <a:avLst/>
                <a:gdLst>
                  <a:gd name="connsiteX0" fmla="*/ 639041 w 639040"/>
                  <a:gd name="connsiteY0" fmla="*/ 129020 h 514349"/>
                  <a:gd name="connsiteX1" fmla="*/ 639041 w 639040"/>
                  <a:gd name="connsiteY1" fmla="*/ 0 h 514349"/>
                  <a:gd name="connsiteX2" fmla="*/ 526473 w 639040"/>
                  <a:gd name="connsiteY2" fmla="*/ 0 h 514349"/>
                  <a:gd name="connsiteX3" fmla="*/ 502227 w 639040"/>
                  <a:gd name="connsiteY3" fmla="*/ 9525 h 514349"/>
                  <a:gd name="connsiteX4" fmla="*/ 302203 w 639040"/>
                  <a:gd name="connsiteY4" fmla="*/ 191366 h 514349"/>
                  <a:gd name="connsiteX5" fmla="*/ 281420 w 639040"/>
                  <a:gd name="connsiteY5" fmla="*/ 200025 h 514349"/>
                  <a:gd name="connsiteX6" fmla="*/ 142009 w 639040"/>
                  <a:gd name="connsiteY6" fmla="*/ 200025 h 514349"/>
                  <a:gd name="connsiteX7" fmla="*/ 126423 w 639040"/>
                  <a:gd name="connsiteY7" fmla="*/ 184439 h 514349"/>
                  <a:gd name="connsiteX8" fmla="*/ 126423 w 639040"/>
                  <a:gd name="connsiteY8" fmla="*/ 866 h 514349"/>
                  <a:gd name="connsiteX9" fmla="*/ 0 w 639040"/>
                  <a:gd name="connsiteY9" fmla="*/ 866 h 514349"/>
                  <a:gd name="connsiteX10" fmla="*/ 0 w 639040"/>
                  <a:gd name="connsiteY10" fmla="*/ 513484 h 514349"/>
                  <a:gd name="connsiteX11" fmla="*/ 126423 w 639040"/>
                  <a:gd name="connsiteY11" fmla="*/ 513484 h 514349"/>
                  <a:gd name="connsiteX12" fmla="*/ 126423 w 639040"/>
                  <a:gd name="connsiteY12" fmla="*/ 329911 h 514349"/>
                  <a:gd name="connsiteX13" fmla="*/ 142009 w 639040"/>
                  <a:gd name="connsiteY13" fmla="*/ 314325 h 514349"/>
                  <a:gd name="connsiteX14" fmla="*/ 281420 w 639040"/>
                  <a:gd name="connsiteY14" fmla="*/ 314325 h 514349"/>
                  <a:gd name="connsiteX15" fmla="*/ 302203 w 639040"/>
                  <a:gd name="connsiteY15" fmla="*/ 322984 h 514349"/>
                  <a:gd name="connsiteX16" fmla="*/ 502227 w 639040"/>
                  <a:gd name="connsiteY16" fmla="*/ 504825 h 514349"/>
                  <a:gd name="connsiteX17" fmla="*/ 526473 w 639040"/>
                  <a:gd name="connsiteY17" fmla="*/ 514350 h 514349"/>
                  <a:gd name="connsiteX18" fmla="*/ 639041 w 639040"/>
                  <a:gd name="connsiteY18" fmla="*/ 514350 h 514349"/>
                  <a:gd name="connsiteX19" fmla="*/ 639041 w 639040"/>
                  <a:gd name="connsiteY19" fmla="*/ 386196 h 514349"/>
                  <a:gd name="connsiteX20" fmla="*/ 577562 w 639040"/>
                  <a:gd name="connsiteY20" fmla="*/ 386196 h 514349"/>
                  <a:gd name="connsiteX21" fmla="*/ 524741 w 639040"/>
                  <a:gd name="connsiteY21" fmla="*/ 367145 h 514349"/>
                  <a:gd name="connsiteX22" fmla="*/ 429491 w 639040"/>
                  <a:gd name="connsiteY22" fmla="*/ 283152 h 514349"/>
                  <a:gd name="connsiteX23" fmla="*/ 429491 w 639040"/>
                  <a:gd name="connsiteY23" fmla="*/ 233795 h 514349"/>
                  <a:gd name="connsiteX24" fmla="*/ 524741 w 639040"/>
                  <a:gd name="connsiteY24" fmla="*/ 149802 h 514349"/>
                  <a:gd name="connsiteX25" fmla="*/ 577562 w 639040"/>
                  <a:gd name="connsiteY25" fmla="*/ 130752 h 514349"/>
                  <a:gd name="connsiteX26" fmla="*/ 639041 w 639040"/>
                  <a:gd name="connsiteY26" fmla="*/ 130752 h 514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39040" h="514349">
                    <a:moveTo>
                      <a:pt x="639041" y="129020"/>
                    </a:moveTo>
                    <a:lnTo>
                      <a:pt x="639041" y="0"/>
                    </a:lnTo>
                    <a:lnTo>
                      <a:pt x="526473" y="0"/>
                    </a:lnTo>
                    <a:cubicBezTo>
                      <a:pt x="517814" y="0"/>
                      <a:pt x="509154" y="3464"/>
                      <a:pt x="502227" y="9525"/>
                    </a:cubicBezTo>
                    <a:lnTo>
                      <a:pt x="302203" y="191366"/>
                    </a:lnTo>
                    <a:cubicBezTo>
                      <a:pt x="296141" y="196561"/>
                      <a:pt x="289214" y="200025"/>
                      <a:pt x="281420" y="200025"/>
                    </a:cubicBezTo>
                    <a:lnTo>
                      <a:pt x="142009" y="200025"/>
                    </a:lnTo>
                    <a:cubicBezTo>
                      <a:pt x="133350" y="200025"/>
                      <a:pt x="126423" y="193098"/>
                      <a:pt x="126423" y="184439"/>
                    </a:cubicBezTo>
                    <a:lnTo>
                      <a:pt x="126423" y="866"/>
                    </a:lnTo>
                    <a:lnTo>
                      <a:pt x="0" y="866"/>
                    </a:lnTo>
                    <a:lnTo>
                      <a:pt x="0" y="513484"/>
                    </a:lnTo>
                    <a:lnTo>
                      <a:pt x="126423" y="513484"/>
                    </a:lnTo>
                    <a:lnTo>
                      <a:pt x="126423" y="329911"/>
                    </a:lnTo>
                    <a:cubicBezTo>
                      <a:pt x="126423" y="321252"/>
                      <a:pt x="133350" y="314325"/>
                      <a:pt x="142009" y="314325"/>
                    </a:cubicBezTo>
                    <a:lnTo>
                      <a:pt x="281420" y="314325"/>
                    </a:lnTo>
                    <a:cubicBezTo>
                      <a:pt x="289214" y="314325"/>
                      <a:pt x="296141" y="316923"/>
                      <a:pt x="302203" y="322984"/>
                    </a:cubicBezTo>
                    <a:lnTo>
                      <a:pt x="502227" y="504825"/>
                    </a:lnTo>
                    <a:cubicBezTo>
                      <a:pt x="509154" y="510886"/>
                      <a:pt x="517814" y="514350"/>
                      <a:pt x="526473" y="514350"/>
                    </a:cubicBezTo>
                    <a:lnTo>
                      <a:pt x="639041" y="514350"/>
                    </a:lnTo>
                    <a:lnTo>
                      <a:pt x="639041" y="386196"/>
                    </a:lnTo>
                    <a:lnTo>
                      <a:pt x="577562" y="386196"/>
                    </a:lnTo>
                    <a:cubicBezTo>
                      <a:pt x="558511" y="386196"/>
                      <a:pt x="539461" y="379268"/>
                      <a:pt x="524741" y="367145"/>
                    </a:cubicBezTo>
                    <a:lnTo>
                      <a:pt x="429491" y="283152"/>
                    </a:lnTo>
                    <a:cubicBezTo>
                      <a:pt x="414771" y="270164"/>
                      <a:pt x="414771" y="247650"/>
                      <a:pt x="429491" y="233795"/>
                    </a:cubicBezTo>
                    <a:lnTo>
                      <a:pt x="524741" y="149802"/>
                    </a:lnTo>
                    <a:cubicBezTo>
                      <a:pt x="539461" y="137680"/>
                      <a:pt x="557646" y="131618"/>
                      <a:pt x="577562" y="130752"/>
                    </a:cubicBezTo>
                    <a:lnTo>
                      <a:pt x="639041" y="130752"/>
                    </a:lnTo>
                    <a:close/>
                  </a:path>
                </a:pathLst>
              </a:custGeom>
              <a:grpFill/>
              <a:ln w="8653" cap="flat">
                <a:noFill/>
                <a:prstDash val="solid"/>
                <a:miter/>
              </a:ln>
            </p:spPr>
            <p:txBody>
              <a:bodyPr rtlCol="0" anchor="ctr"/>
              <a:lstStyle/>
              <a:p>
                <a:endParaRPr lang="en-US">
                  <a:solidFill>
                    <a:schemeClr val="tx1"/>
                  </a:solidFill>
                </a:endParaRPr>
              </a:p>
            </p:txBody>
          </p:sp>
          <p:sp>
            <p:nvSpPr>
              <p:cNvPr id="38" name="Freeform 37">
                <a:extLst>
                  <a:ext uri="{FF2B5EF4-FFF2-40B4-BE49-F238E27FC236}">
                    <a16:creationId xmlns:a16="http://schemas.microsoft.com/office/drawing/2014/main" id="{1437241D-C591-478D-2C51-86F4500684FF}"/>
                  </a:ext>
                </a:extLst>
              </p:cNvPr>
              <p:cNvSpPr/>
              <p:nvPr/>
            </p:nvSpPr>
            <p:spPr>
              <a:xfrm>
                <a:off x="4441247" y="3172690"/>
                <a:ext cx="692727" cy="513484"/>
              </a:xfrm>
              <a:custGeom>
                <a:avLst/>
                <a:gdLst>
                  <a:gd name="connsiteX0" fmla="*/ 497898 w 692727"/>
                  <a:gd name="connsiteY0" fmla="*/ 0 h 513484"/>
                  <a:gd name="connsiteX1" fmla="*/ 351559 w 692727"/>
                  <a:gd name="connsiteY1" fmla="*/ 72736 h 513484"/>
                  <a:gd name="connsiteX2" fmla="*/ 0 w 692727"/>
                  <a:gd name="connsiteY2" fmla="*/ 512618 h 513484"/>
                  <a:gd name="connsiteX3" fmla="*/ 178377 w 692727"/>
                  <a:gd name="connsiteY3" fmla="*/ 512618 h 513484"/>
                  <a:gd name="connsiteX4" fmla="*/ 468457 w 692727"/>
                  <a:gd name="connsiteY4" fmla="*/ 155864 h 513484"/>
                  <a:gd name="connsiteX5" fmla="*/ 516082 w 692727"/>
                  <a:gd name="connsiteY5" fmla="*/ 129886 h 513484"/>
                  <a:gd name="connsiteX6" fmla="*/ 564573 w 692727"/>
                  <a:gd name="connsiteY6" fmla="*/ 184439 h 513484"/>
                  <a:gd name="connsiteX7" fmla="*/ 564573 w 692727"/>
                  <a:gd name="connsiteY7" fmla="*/ 339436 h 513484"/>
                  <a:gd name="connsiteX8" fmla="*/ 528205 w 692727"/>
                  <a:gd name="connsiteY8" fmla="*/ 385330 h 513484"/>
                  <a:gd name="connsiteX9" fmla="*/ 492702 w 692727"/>
                  <a:gd name="connsiteY9" fmla="*/ 385330 h 513484"/>
                  <a:gd name="connsiteX10" fmla="*/ 492702 w 692727"/>
                  <a:gd name="connsiteY10" fmla="*/ 513484 h 513484"/>
                  <a:gd name="connsiteX11" fmla="*/ 692727 w 692727"/>
                  <a:gd name="connsiteY11" fmla="*/ 513484 h 513484"/>
                  <a:gd name="connsiteX12" fmla="*/ 692727 w 692727"/>
                  <a:gd name="connsiteY12" fmla="*/ 192232 h 513484"/>
                  <a:gd name="connsiteX13" fmla="*/ 497898 w 692727"/>
                  <a:gd name="connsiteY13" fmla="*/ 866 h 513484"/>
                  <a:gd name="connsiteX14" fmla="*/ 497898 w 692727"/>
                  <a:gd name="connsiteY14" fmla="*/ 866 h 513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2727" h="513484">
                    <a:moveTo>
                      <a:pt x="497898" y="0"/>
                    </a:moveTo>
                    <a:cubicBezTo>
                      <a:pt x="440748" y="866"/>
                      <a:pt x="387061" y="27709"/>
                      <a:pt x="351559" y="72736"/>
                    </a:cubicBezTo>
                    <a:lnTo>
                      <a:pt x="0" y="512618"/>
                    </a:lnTo>
                    <a:lnTo>
                      <a:pt x="178377" y="512618"/>
                    </a:lnTo>
                    <a:lnTo>
                      <a:pt x="468457" y="155864"/>
                    </a:lnTo>
                    <a:cubicBezTo>
                      <a:pt x="483177" y="138545"/>
                      <a:pt x="493568" y="129886"/>
                      <a:pt x="516082" y="129886"/>
                    </a:cubicBezTo>
                    <a:cubicBezTo>
                      <a:pt x="538596" y="129886"/>
                      <a:pt x="564573" y="154998"/>
                      <a:pt x="564573" y="184439"/>
                    </a:cubicBezTo>
                    <a:lnTo>
                      <a:pt x="564573" y="339436"/>
                    </a:lnTo>
                    <a:cubicBezTo>
                      <a:pt x="564573" y="364548"/>
                      <a:pt x="551584" y="385330"/>
                      <a:pt x="528205" y="385330"/>
                    </a:cubicBezTo>
                    <a:lnTo>
                      <a:pt x="492702" y="385330"/>
                    </a:lnTo>
                    <a:lnTo>
                      <a:pt x="492702" y="513484"/>
                    </a:lnTo>
                    <a:lnTo>
                      <a:pt x="692727" y="513484"/>
                    </a:lnTo>
                    <a:lnTo>
                      <a:pt x="692727" y="192232"/>
                    </a:lnTo>
                    <a:cubicBezTo>
                      <a:pt x="692727" y="166255"/>
                      <a:pt x="692727" y="866"/>
                      <a:pt x="497898" y="866"/>
                    </a:cubicBezTo>
                    <a:lnTo>
                      <a:pt x="497898" y="866"/>
                    </a:lnTo>
                    <a:close/>
                  </a:path>
                </a:pathLst>
              </a:custGeom>
              <a:grpFill/>
              <a:ln w="8653" cap="flat">
                <a:noFill/>
                <a:prstDash val="solid"/>
                <a:miter/>
              </a:ln>
            </p:spPr>
            <p:txBody>
              <a:bodyPr rtlCol="0" anchor="ctr"/>
              <a:lstStyle/>
              <a:p>
                <a:endParaRPr lang="en-US">
                  <a:solidFill>
                    <a:schemeClr val="tx1"/>
                  </a:solidFill>
                </a:endParaRPr>
              </a:p>
            </p:txBody>
          </p:sp>
        </p:grpSp>
        <p:grpSp>
          <p:nvGrpSpPr>
            <p:cNvPr id="6" name="Group 5">
              <a:extLst>
                <a:ext uri="{FF2B5EF4-FFF2-40B4-BE49-F238E27FC236}">
                  <a16:creationId xmlns:a16="http://schemas.microsoft.com/office/drawing/2014/main" id="{919F4A28-1DF4-169F-801A-19A39A82D071}"/>
                </a:ext>
              </a:extLst>
            </p:cNvPr>
            <p:cNvGrpSpPr/>
            <p:nvPr/>
          </p:nvGrpSpPr>
          <p:grpSpPr>
            <a:xfrm>
              <a:off x="11237775" y="5428812"/>
              <a:ext cx="644881" cy="280035"/>
              <a:chOff x="11237775" y="5428812"/>
              <a:chExt cx="644881" cy="280035"/>
            </a:xfrm>
            <a:grpFill/>
          </p:grpSpPr>
          <p:sp>
            <p:nvSpPr>
              <p:cNvPr id="7" name="Freeform 6">
                <a:extLst>
                  <a:ext uri="{FF2B5EF4-FFF2-40B4-BE49-F238E27FC236}">
                    <a16:creationId xmlns:a16="http://schemas.microsoft.com/office/drawing/2014/main" id="{98679A0D-E8F8-29E0-DEA4-D89CAE8873C1}"/>
                  </a:ext>
                </a:extLst>
              </p:cNvPr>
              <p:cNvSpPr/>
              <p:nvPr/>
            </p:nvSpPr>
            <p:spPr>
              <a:xfrm>
                <a:off x="11237775" y="5428812"/>
                <a:ext cx="245631" cy="280035"/>
              </a:xfrm>
              <a:custGeom>
                <a:avLst/>
                <a:gdLst/>
                <a:ahLst/>
                <a:cxnLst/>
                <a:rect l="l" t="t" r="r" b="b"/>
                <a:pathLst>
                  <a:path w="245631" h="280035">
                    <a:moveTo>
                      <a:pt x="0" y="0"/>
                    </a:moveTo>
                    <a:lnTo>
                      <a:pt x="245631" y="0"/>
                    </a:lnTo>
                    <a:lnTo>
                      <a:pt x="245631" y="50407"/>
                    </a:lnTo>
                    <a:lnTo>
                      <a:pt x="151219" y="50407"/>
                    </a:lnTo>
                    <a:lnTo>
                      <a:pt x="151219" y="280035"/>
                    </a:lnTo>
                    <a:lnTo>
                      <a:pt x="93612" y="280035"/>
                    </a:lnTo>
                    <a:lnTo>
                      <a:pt x="93612" y="50407"/>
                    </a:lnTo>
                    <a:lnTo>
                      <a:pt x="0" y="50407"/>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8" name="Freeform 7">
                <a:extLst>
                  <a:ext uri="{FF2B5EF4-FFF2-40B4-BE49-F238E27FC236}">
                    <a16:creationId xmlns:a16="http://schemas.microsoft.com/office/drawing/2014/main" id="{AECA805D-144D-D54F-A8F5-BA1EDF4CC9C1}"/>
                  </a:ext>
                </a:extLst>
              </p:cNvPr>
              <p:cNvSpPr/>
              <p:nvPr/>
            </p:nvSpPr>
            <p:spPr>
              <a:xfrm>
                <a:off x="11521011" y="5428812"/>
                <a:ext cx="361645" cy="280035"/>
              </a:xfrm>
              <a:custGeom>
                <a:avLst/>
                <a:gdLst/>
                <a:ahLst/>
                <a:cxnLst/>
                <a:rect l="l" t="t" r="r" b="b"/>
                <a:pathLst>
                  <a:path w="361645" h="280035">
                    <a:moveTo>
                      <a:pt x="0" y="0"/>
                    </a:moveTo>
                    <a:lnTo>
                      <a:pt x="100012" y="0"/>
                    </a:lnTo>
                    <a:lnTo>
                      <a:pt x="181622" y="210427"/>
                    </a:lnTo>
                    <a:lnTo>
                      <a:pt x="185623" y="210427"/>
                    </a:lnTo>
                    <a:lnTo>
                      <a:pt x="268033" y="0"/>
                    </a:lnTo>
                    <a:lnTo>
                      <a:pt x="361645" y="0"/>
                    </a:lnTo>
                    <a:lnTo>
                      <a:pt x="361645" y="280035"/>
                    </a:lnTo>
                    <a:lnTo>
                      <a:pt x="305638" y="280035"/>
                    </a:lnTo>
                    <a:lnTo>
                      <a:pt x="305638" y="48006"/>
                    </a:lnTo>
                    <a:lnTo>
                      <a:pt x="301637" y="48006"/>
                    </a:lnTo>
                    <a:lnTo>
                      <a:pt x="211226" y="280035"/>
                    </a:lnTo>
                    <a:lnTo>
                      <a:pt x="150418" y="280035"/>
                    </a:lnTo>
                    <a:lnTo>
                      <a:pt x="60007" y="48006"/>
                    </a:lnTo>
                    <a:lnTo>
                      <a:pt x="56807" y="48006"/>
                    </a:lnTo>
                    <a:lnTo>
                      <a:pt x="56807" y="280035"/>
                    </a:lnTo>
                    <a:lnTo>
                      <a:pt x="0" y="280035"/>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grpSp>
      </p:grpSp>
      <p:sp>
        <p:nvSpPr>
          <p:cNvPr id="41" name="name_2024 sandisk or its affiliates All rights reserved">
            <a:extLst>
              <a:ext uri="{FF2B5EF4-FFF2-40B4-BE49-F238E27FC236}">
                <a16:creationId xmlns:a16="http://schemas.microsoft.com/office/drawing/2014/main" id="{343BD00A-FBA8-EC0F-13C8-8F67F77FBC2E}"/>
              </a:ext>
            </a:extLst>
          </p:cNvPr>
          <p:cNvSpPr txBox="1"/>
          <p:nvPr/>
        </p:nvSpPr>
        <p:spPr>
          <a:xfrm>
            <a:off x="8997951" y="267518"/>
            <a:ext cx="2242276"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tx1"/>
                </a:solidFill>
                <a:latin typeface="NB Architekt Pro Neue" panose="02010509020201040001" pitchFamily="49" charset="77"/>
                <a:cs typeface="Consolas" panose="020B0609020204030204" pitchFamily="49" charset="0"/>
              </a:rPr>
              <a:t>“START” “REPEAT” “1988/2025”</a:t>
            </a:r>
          </a:p>
        </p:txBody>
      </p:sp>
    </p:spTree>
    <p:extLst>
      <p:ext uri="{BB962C8B-B14F-4D97-AF65-F5344CB8AC3E}">
        <p14:creationId xmlns:p14="http://schemas.microsoft.com/office/powerpoint/2010/main" val="2370707946"/>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_Presentation Title and Subtitle White">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F33C628C-D29E-A044-B2EB-3DC2477C6A1B}"/>
              </a:ext>
            </a:extLst>
          </p:cNvPr>
          <p:cNvSpPr>
            <a:spLocks noGrp="1"/>
          </p:cNvSpPr>
          <p:nvPr>
            <p:ph type="body" sz="quarter" idx="11" hasCustomPrompt="1"/>
          </p:nvPr>
        </p:nvSpPr>
        <p:spPr>
          <a:xfrm>
            <a:off x="6096001" y="5014684"/>
            <a:ext cx="5791200" cy="155448"/>
          </a:xfrm>
          <a:prstGeom prst="rect">
            <a:avLst/>
          </a:prstGeom>
        </p:spPr>
        <p:txBody>
          <a:bodyPr wrap="square" lIns="45720" tIns="0" rIns="0" bIns="0" anchor="t">
            <a:spAutoFit/>
          </a:bodyPr>
          <a:lstStyle>
            <a:lvl1pPr marL="0" indent="0" algn="r">
              <a:lnSpc>
                <a:spcPct val="100000"/>
              </a:lnSpc>
              <a:spcAft>
                <a:spcPts val="0"/>
              </a:spcAft>
              <a:buNone/>
              <a:defRPr sz="1000" b="0" i="0" spc="0">
                <a:solidFill>
                  <a:schemeClr val="tx1"/>
                </a:solidFill>
                <a:latin typeface="NB Architekt Pro Neue" panose="02010509020201040001" pitchFamily="49" charset="77"/>
                <a:cs typeface="Consolas" panose="020B0609020204030204" pitchFamily="49" charset="0"/>
              </a:defRPr>
            </a:lvl1pPr>
            <a:lvl2pPr marL="457173" indent="0">
              <a:buNone/>
              <a:defRPr sz="2400">
                <a:solidFill>
                  <a:schemeClr val="bg1"/>
                </a:solidFill>
              </a:defRPr>
            </a:lvl2pPr>
            <a:lvl3pPr marL="914346" indent="0">
              <a:buNone/>
              <a:defRPr sz="2400">
                <a:solidFill>
                  <a:schemeClr val="bg1"/>
                </a:solidFill>
              </a:defRPr>
            </a:lvl3pPr>
            <a:lvl4pPr marL="1371519" indent="0">
              <a:buNone/>
              <a:defRPr sz="2400">
                <a:solidFill>
                  <a:schemeClr val="bg1"/>
                </a:solidFill>
              </a:defRPr>
            </a:lvl4pPr>
            <a:lvl5pPr marL="1828693" indent="0">
              <a:buNone/>
              <a:defRPr sz="2400">
                <a:solidFill>
                  <a:schemeClr val="bg1"/>
                </a:solidFill>
              </a:defRPr>
            </a:lvl5pPr>
          </a:lstStyle>
          <a:p>
            <a:pPr lvl="0"/>
            <a:r>
              <a:rPr lang="en-US"/>
              <a:t>CLICK TO ADD PRESENTER’S NAME, TITLE</a:t>
            </a:r>
          </a:p>
        </p:txBody>
      </p:sp>
      <p:sp>
        <p:nvSpPr>
          <p:cNvPr id="24" name="name_2024 sandisk or its affiliates All rights reserved">
            <a:extLst>
              <a:ext uri="{FF2B5EF4-FFF2-40B4-BE49-F238E27FC236}">
                <a16:creationId xmlns:a16="http://schemas.microsoft.com/office/drawing/2014/main" id="{6D8CD1FC-8805-8BD2-8CBE-E0CCBB790C5D}"/>
              </a:ext>
            </a:extLst>
          </p:cNvPr>
          <p:cNvSpPr txBox="1"/>
          <p:nvPr/>
        </p:nvSpPr>
        <p:spPr>
          <a:xfrm>
            <a:off x="301625" y="5014684"/>
            <a:ext cx="1447800" cy="15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lvl1pPr>
              <a:lnSpc>
                <a:spcPts val="1600"/>
              </a:lnSpc>
              <a:defRPr sz="1300">
                <a:solidFill>
                  <a:schemeClr val="accent3">
                    <a:lumOff val="8823"/>
                  </a:schemeClr>
                </a:solidFill>
                <a:latin typeface="NB Architekt Pro Neue Regular"/>
                <a:ea typeface="NB Architekt Pro Neue Regular"/>
                <a:cs typeface="NB Architekt Pro Neue Regular"/>
                <a:sym typeface="NB Architekt Pro Neue Regular"/>
              </a:defRPr>
            </a:lvl1pPr>
          </a:lstStyle>
          <a:p>
            <a:pPr algn="l" defTabSz="609412" hangingPunct="0">
              <a:lnSpc>
                <a:spcPct val="100000"/>
              </a:lnSpc>
            </a:pPr>
            <a:r>
              <a:rPr lang="en-US" sz="1000" b="0" i="0" kern="0" spc="0" baseline="0">
                <a:solidFill>
                  <a:schemeClr val="tx1"/>
                </a:solidFill>
                <a:latin typeface="NB Architekt Pro Neue" panose="02010509020201040001" pitchFamily="49" charset="77"/>
                <a:cs typeface="Consolas" panose="020B0609020204030204" pitchFamily="49" charset="0"/>
              </a:rPr>
              <a:t>[Confidential]</a:t>
            </a:r>
          </a:p>
        </p:txBody>
      </p:sp>
      <p:sp>
        <p:nvSpPr>
          <p:cNvPr id="40" name="Title 2">
            <a:extLst>
              <a:ext uri="{FF2B5EF4-FFF2-40B4-BE49-F238E27FC236}">
                <a16:creationId xmlns:a16="http://schemas.microsoft.com/office/drawing/2014/main" id="{34F3AA0F-AE20-56C9-A000-E9EE240A3F05}"/>
              </a:ext>
            </a:extLst>
          </p:cNvPr>
          <p:cNvSpPr>
            <a:spLocks noGrp="1"/>
          </p:cNvSpPr>
          <p:nvPr>
            <p:ph type="title" hasCustomPrompt="1"/>
          </p:nvPr>
        </p:nvSpPr>
        <p:spPr>
          <a:xfrm>
            <a:off x="292100" y="208998"/>
            <a:ext cx="10871200" cy="4023804"/>
          </a:xfrm>
          <a:prstGeom prst="rect">
            <a:avLst/>
          </a:prstGeom>
        </p:spPr>
        <p:txBody>
          <a:bodyPr wrap="square" lIns="0" tIns="0" anchor="t">
            <a:noAutofit/>
          </a:bodyPr>
          <a:lstStyle>
            <a:lvl1pPr marL="0" indent="0">
              <a:lnSpc>
                <a:spcPct val="88000"/>
              </a:lnSpc>
              <a:defRPr sz="8000" b="0" spc="-220" baseline="0">
                <a:solidFill>
                  <a:schemeClr val="tx1"/>
                </a:solidFill>
                <a:latin typeface="+mj-lt"/>
              </a:defRPr>
            </a:lvl1pPr>
          </a:lstStyle>
          <a:p>
            <a:pPr lvl="0"/>
            <a:r>
              <a:rPr lang="en-US"/>
              <a:t>CLICK TO ADD TITLE</a:t>
            </a:r>
          </a:p>
        </p:txBody>
      </p:sp>
      <p:sp>
        <p:nvSpPr>
          <p:cNvPr id="66" name="Text Placeholder 65">
            <a:extLst>
              <a:ext uri="{FF2B5EF4-FFF2-40B4-BE49-F238E27FC236}">
                <a16:creationId xmlns:a16="http://schemas.microsoft.com/office/drawing/2014/main" id="{D58DA466-A993-04AF-B67A-65B6194E07EE}"/>
              </a:ext>
            </a:extLst>
          </p:cNvPr>
          <p:cNvSpPr>
            <a:spLocks noGrp="1"/>
          </p:cNvSpPr>
          <p:nvPr>
            <p:ph type="body" sz="quarter" idx="12" hasCustomPrompt="1"/>
          </p:nvPr>
        </p:nvSpPr>
        <p:spPr>
          <a:xfrm>
            <a:off x="3194050" y="5014684"/>
            <a:ext cx="2901950" cy="155448"/>
          </a:xfrm>
        </p:spPr>
        <p:txBody>
          <a:bodyPr lIns="0"/>
          <a:lstStyle>
            <a:lvl1pPr marL="0" indent="0">
              <a:buNone/>
              <a:defRPr sz="1000" b="0" i="0">
                <a:solidFill>
                  <a:schemeClr val="tx1"/>
                </a:solidFill>
                <a:latin typeface="NB Architekt Pro Neue" panose="02010509020201040001" pitchFamily="49" charset="77"/>
              </a:defRPr>
            </a:lvl1pPr>
          </a:lstStyle>
          <a:p>
            <a:pPr lvl="0"/>
            <a:r>
              <a:rPr lang="en-US"/>
              <a:t>CLICK TO ADD DATE</a:t>
            </a:r>
          </a:p>
        </p:txBody>
      </p:sp>
      <p:sp>
        <p:nvSpPr>
          <p:cNvPr id="6" name="Rectangle 5">
            <a:extLst>
              <a:ext uri="{FF2B5EF4-FFF2-40B4-BE49-F238E27FC236}">
                <a16:creationId xmlns:a16="http://schemas.microsoft.com/office/drawing/2014/main" id="{7BE6C6FE-813E-0703-F35F-82EA88599430}"/>
              </a:ext>
            </a:extLst>
          </p:cNvPr>
          <p:cNvSpPr/>
          <p:nvPr/>
        </p:nvSpPr>
        <p:spPr>
          <a:xfrm>
            <a:off x="11563470" y="293688"/>
            <a:ext cx="336430" cy="33643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3404013"/>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97801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 name="Title Placeholder 1">
            <a:extLst>
              <a:ext uri="{FF2B5EF4-FFF2-40B4-BE49-F238E27FC236}">
                <a16:creationId xmlns:a16="http://schemas.microsoft.com/office/drawing/2014/main" id="{1FDC8262-8DF2-1640-BFF9-41E3C7903326}"/>
              </a:ext>
            </a:extLst>
          </p:cNvPr>
          <p:cNvSpPr>
            <a:spLocks noGrp="1"/>
          </p:cNvSpPr>
          <p:nvPr>
            <p:ph type="title"/>
          </p:nvPr>
        </p:nvSpPr>
        <p:spPr>
          <a:xfrm>
            <a:off x="292100" y="438200"/>
            <a:ext cx="11607799" cy="1426391"/>
          </a:xfrm>
          <a:prstGeom prst="rect">
            <a:avLst/>
          </a:prstGeom>
        </p:spPr>
        <p:txBody>
          <a:bodyPr vert="horz" wrap="square" lIns="0" tIns="0" rIns="0" bIns="0" rtlCol="0" anchor="b">
            <a:noAutofit/>
          </a:bodyPr>
          <a:lstStyle/>
          <a:p>
            <a:r>
              <a:rPr lang="en-US"/>
              <a:t>CLICK TO ADD TITLE</a:t>
            </a:r>
          </a:p>
        </p:txBody>
      </p:sp>
      <p:sp>
        <p:nvSpPr>
          <p:cNvPr id="26" name="Text Placeholder 2">
            <a:extLst>
              <a:ext uri="{FF2B5EF4-FFF2-40B4-BE49-F238E27FC236}">
                <a16:creationId xmlns:a16="http://schemas.microsoft.com/office/drawing/2014/main" id="{E1E62C54-3B91-7A43-B1C6-5766DA4F8354}"/>
              </a:ext>
            </a:extLst>
          </p:cNvPr>
          <p:cNvSpPr>
            <a:spLocks noGrp="1"/>
          </p:cNvSpPr>
          <p:nvPr>
            <p:ph type="body" idx="1"/>
          </p:nvPr>
        </p:nvSpPr>
        <p:spPr>
          <a:xfrm>
            <a:off x="292100" y="2084388"/>
            <a:ext cx="11595101" cy="4035857"/>
          </a:xfrm>
          <a:prstGeom prst="rect">
            <a:avLst/>
          </a:prstGeom>
        </p:spPr>
        <p:txBody>
          <a:bodyPr vert="horz" lIns="0" tIns="0" rIns="0" bIns="0" rtlCol="0">
            <a:noAutofit/>
          </a:bodyPr>
          <a:lstStyle/>
          <a:p>
            <a:pPr marL="219443" marR="0" lvl="0" indent="-219443" algn="l" defTabSz="914346" rtl="0" eaLnBrk="1" fontAlgn="auto" latinLnBrk="0" hangingPunct="1">
              <a:lnSpc>
                <a:spcPct val="100000"/>
              </a:lnSpc>
              <a:spcBef>
                <a:spcPts val="0"/>
              </a:spcBef>
              <a:spcAft>
                <a:spcPts val="1000"/>
              </a:spcAft>
              <a:buClrTx/>
              <a:buSzPct val="100000"/>
              <a:buFont typeface="Pilat Regular"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Pilat Book"/>
                <a:ea typeface="+mn-ea"/>
                <a:cs typeface="+mn-cs"/>
              </a:rPr>
              <a:t>Click to add text</a:t>
            </a:r>
          </a:p>
          <a:p>
            <a:pPr marL="438887" marR="0" lvl="1" indent="-219443" algn="l" defTabSz="914346" rtl="0" eaLnBrk="1" fontAlgn="auto" latinLnBrk="0" hangingPunct="1">
              <a:lnSpc>
                <a:spcPts val="2400"/>
              </a:lnSpc>
              <a:spcBef>
                <a:spcPts val="0"/>
              </a:spcBef>
              <a:spcAft>
                <a:spcPts val="1000"/>
              </a:spcAft>
              <a:buClrTx/>
              <a:buSzPct val="100000"/>
              <a:buFont typeface="Pilat Regular"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Pilat Book"/>
                <a:ea typeface="+mn-ea"/>
                <a:cs typeface="+mn-cs"/>
              </a:rPr>
              <a:t>Second level</a:t>
            </a:r>
          </a:p>
          <a:p>
            <a:pPr marL="658330" marR="0" lvl="2" indent="-219443" algn="l" defTabSz="914346" rtl="0" eaLnBrk="1" fontAlgn="auto" latinLnBrk="0" hangingPunct="1">
              <a:lnSpc>
                <a:spcPts val="2400"/>
              </a:lnSpc>
              <a:spcBef>
                <a:spcPts val="0"/>
              </a:spcBef>
              <a:spcAft>
                <a:spcPts val="1000"/>
              </a:spcAft>
              <a:buClrTx/>
              <a:buSzPct val="100000"/>
              <a:buFont typeface="Pilat Regular"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Pilat Book"/>
                <a:ea typeface="+mn-ea"/>
                <a:cs typeface="+mn-cs"/>
              </a:rPr>
              <a:t>Third level</a:t>
            </a:r>
          </a:p>
          <a:p>
            <a:pPr marL="877772" marR="0" lvl="3" indent="-219443" algn="l" defTabSz="914346" rtl="0" eaLnBrk="1" fontAlgn="auto" latinLnBrk="0" hangingPunct="1">
              <a:lnSpc>
                <a:spcPts val="2400"/>
              </a:lnSpc>
              <a:spcBef>
                <a:spcPts val="0"/>
              </a:spcBef>
              <a:spcAft>
                <a:spcPts val="1000"/>
              </a:spcAft>
              <a:buClrTx/>
              <a:buSzPct val="100000"/>
              <a:buFont typeface="Pilat Regular"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Pilat Book"/>
                <a:ea typeface="+mn-ea"/>
                <a:cs typeface="+mn-cs"/>
              </a:rPr>
              <a:t>Fourth level</a:t>
            </a:r>
          </a:p>
          <a:p>
            <a:pPr marL="1097216" marR="0" lvl="4" indent="-219443" algn="l" defTabSz="914346" rtl="0" eaLnBrk="1" fontAlgn="auto" latinLnBrk="0" hangingPunct="1">
              <a:lnSpc>
                <a:spcPts val="2400"/>
              </a:lnSpc>
              <a:spcBef>
                <a:spcPts val="0"/>
              </a:spcBef>
              <a:spcAft>
                <a:spcPts val="1000"/>
              </a:spcAft>
              <a:buClrTx/>
              <a:buSzPct val="100000"/>
              <a:buFont typeface="Pilat Regular"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Pilat Book"/>
                <a:ea typeface="+mn-ea"/>
                <a:cs typeface="+mn-cs"/>
                <a:sym typeface="Wingdings" pitchFamily="2" charset="2"/>
              </a:rPr>
              <a:t>Fifth level</a:t>
            </a:r>
          </a:p>
        </p:txBody>
      </p:sp>
    </p:spTree>
    <p:extLst>
      <p:ext uri="{BB962C8B-B14F-4D97-AF65-F5344CB8AC3E}">
        <p14:creationId xmlns:p14="http://schemas.microsoft.com/office/powerpoint/2010/main" val="1889885314"/>
      </p:ext>
    </p:extLst>
  </p:cSld>
  <p:clrMap bg1="lt1" tx1="dk1" bg2="lt2" tx2="dk2" accent1="accent1" accent2="accent2" accent3="accent3" accent4="accent4" accent5="accent5" accent6="accent6" hlink="hlink" folHlink="folHlink"/>
  <p:sldLayoutIdLst>
    <p:sldLayoutId id="2147484913" r:id="rId1"/>
    <p:sldLayoutId id="2147484994" r:id="rId2"/>
    <p:sldLayoutId id="2147484995" r:id="rId3"/>
    <p:sldLayoutId id="2147484941" r:id="rId4"/>
    <p:sldLayoutId id="2147484996" r:id="rId5"/>
    <p:sldLayoutId id="2147484997" r:id="rId6"/>
    <p:sldLayoutId id="2147484964" r:id="rId7"/>
    <p:sldLayoutId id="2147484998" r:id="rId8"/>
    <p:sldLayoutId id="2147484999" r:id="rId9"/>
    <p:sldLayoutId id="2147484989" r:id="rId10"/>
    <p:sldLayoutId id="2147485000" r:id="rId11"/>
    <p:sldLayoutId id="2147485001" r:id="rId12"/>
    <p:sldLayoutId id="2147484990" r:id="rId13"/>
    <p:sldLayoutId id="2147485002" r:id="rId14"/>
    <p:sldLayoutId id="2147485003" r:id="rId15"/>
    <p:sldLayoutId id="2147484992" r:id="rId16"/>
    <p:sldLayoutId id="2147485004" r:id="rId17"/>
    <p:sldLayoutId id="2147485005" r:id="rId18"/>
    <p:sldLayoutId id="2147484991" r:id="rId19"/>
    <p:sldLayoutId id="2147485006" r:id="rId20"/>
    <p:sldLayoutId id="2147485007" r:id="rId21"/>
    <p:sldLayoutId id="2147484993" r:id="rId22"/>
    <p:sldLayoutId id="2147485023" r:id="rId23"/>
    <p:sldLayoutId id="2147485025" r:id="rId2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346" rtl="0" eaLnBrk="1" latinLnBrk="0" hangingPunct="1">
        <a:lnSpc>
          <a:spcPct val="100000"/>
        </a:lnSpc>
        <a:spcBef>
          <a:spcPct val="0"/>
        </a:spcBef>
        <a:buNone/>
        <a:defRPr sz="3000" b="0" i="0" kern="1200" spc="0" baseline="0">
          <a:ln w="19050">
            <a:noFill/>
            <a:miter lim="800000"/>
          </a:ln>
          <a:solidFill>
            <a:schemeClr val="tx1"/>
          </a:solidFill>
          <a:latin typeface="+mj-lt"/>
          <a:ea typeface="+mj-ea"/>
          <a:cs typeface="Pilat Regular" panose="020B0604020202020204" pitchFamily="34" charset="0"/>
        </a:defRPr>
      </a:lvl1pPr>
    </p:titleStyle>
    <p:bodyStyle>
      <a:lvl1pPr marL="274320" indent="-274320" algn="l" defTabSz="914346" rtl="0" eaLnBrk="1" latinLnBrk="0" hangingPunct="1">
        <a:lnSpc>
          <a:spcPct val="100000"/>
        </a:lnSpc>
        <a:spcBef>
          <a:spcPts val="0"/>
        </a:spcBef>
        <a:spcAft>
          <a:spcPts val="1000"/>
        </a:spcAft>
        <a:buClrTx/>
        <a:buSzPct val="100000"/>
        <a:buFont typeface="Pilat Regular" panose="020B0604020202020204" pitchFamily="34" charset="0"/>
        <a:buChar char="•"/>
        <a:defRPr sz="2000" b="0" i="0" kern="1200" spc="0" baseline="0">
          <a:solidFill>
            <a:schemeClr val="tx1"/>
          </a:solidFill>
          <a:latin typeface="+mn-lt"/>
          <a:ea typeface="+mn-ea"/>
          <a:cs typeface="+mn-cs"/>
        </a:defRPr>
      </a:lvl1pPr>
      <a:lvl2pPr marL="548640" indent="-274320" algn="l" defTabSz="914346" rtl="0" eaLnBrk="1" latinLnBrk="0" hangingPunct="1">
        <a:lnSpc>
          <a:spcPts val="2400"/>
        </a:lnSpc>
        <a:spcBef>
          <a:spcPts val="0"/>
        </a:spcBef>
        <a:spcAft>
          <a:spcPts val="1000"/>
        </a:spcAft>
        <a:buClrTx/>
        <a:buSzPct val="100000"/>
        <a:buFont typeface="Pilat Regular" panose="020B0604020202020204" pitchFamily="34" charset="0"/>
        <a:buChar char="•"/>
        <a:defRPr sz="2000" b="0" i="0" kern="1200" spc="0" baseline="0">
          <a:solidFill>
            <a:schemeClr val="tx1"/>
          </a:solidFill>
          <a:latin typeface="+mn-lt"/>
          <a:ea typeface="+mn-ea"/>
          <a:cs typeface="+mn-cs"/>
        </a:defRPr>
      </a:lvl2pPr>
      <a:lvl3pPr marL="548640" indent="-274320" algn="l" defTabSz="914346" rtl="0" eaLnBrk="1" latinLnBrk="0" hangingPunct="1">
        <a:lnSpc>
          <a:spcPts val="2400"/>
        </a:lnSpc>
        <a:spcBef>
          <a:spcPts val="0"/>
        </a:spcBef>
        <a:spcAft>
          <a:spcPts val="1000"/>
        </a:spcAft>
        <a:buClrTx/>
        <a:buSzPct val="100000"/>
        <a:buFont typeface="Pilat Regular" panose="020B0604020202020204" pitchFamily="34" charset="0"/>
        <a:buChar char="•"/>
        <a:defRPr sz="2000" b="0" i="0" kern="1200" spc="0" baseline="0">
          <a:solidFill>
            <a:schemeClr val="tx1"/>
          </a:solidFill>
          <a:latin typeface="+mn-lt"/>
          <a:ea typeface="+mn-ea"/>
          <a:cs typeface="+mn-cs"/>
        </a:defRPr>
      </a:lvl3pPr>
      <a:lvl4pPr marL="548640" indent="-274320" algn="l" defTabSz="914346" rtl="0" eaLnBrk="1" latinLnBrk="0" hangingPunct="1">
        <a:lnSpc>
          <a:spcPts val="2400"/>
        </a:lnSpc>
        <a:spcBef>
          <a:spcPts val="0"/>
        </a:spcBef>
        <a:spcAft>
          <a:spcPts val="1000"/>
        </a:spcAft>
        <a:buClrTx/>
        <a:buSzPct val="100000"/>
        <a:buFont typeface="Pilat Regular" panose="020B0604020202020204" pitchFamily="34" charset="0"/>
        <a:buChar char="•"/>
        <a:defRPr sz="2000" b="0" i="0" kern="1200" spc="0" baseline="0">
          <a:solidFill>
            <a:schemeClr val="tx1"/>
          </a:solidFill>
          <a:latin typeface="+mn-lt"/>
          <a:ea typeface="+mn-ea"/>
          <a:cs typeface="+mn-cs"/>
        </a:defRPr>
      </a:lvl4pPr>
      <a:lvl5pPr marL="548640" indent="-274320" algn="l" defTabSz="914346" rtl="0" eaLnBrk="1" latinLnBrk="0" hangingPunct="1">
        <a:lnSpc>
          <a:spcPts val="2400"/>
        </a:lnSpc>
        <a:spcBef>
          <a:spcPts val="0"/>
        </a:spcBef>
        <a:spcAft>
          <a:spcPts val="1000"/>
        </a:spcAft>
        <a:buClrTx/>
        <a:buSzPct val="100000"/>
        <a:buFont typeface="Pilat Regular" panose="020B0604020202020204" pitchFamily="34" charset="0"/>
        <a:buChar char="•"/>
        <a:defRPr sz="2000" b="0" i="0" kern="1200" spc="0" baseline="0">
          <a:solidFill>
            <a:schemeClr val="tx1"/>
          </a:solidFill>
          <a:latin typeface="+mn-lt"/>
          <a:ea typeface="+mn-ea"/>
          <a:cs typeface="+mn-cs"/>
          <a:sym typeface="Wingdings" pitchFamily="2" charset="2"/>
        </a:defRPr>
      </a:lvl5pPr>
      <a:lvl6pPr marL="2514453" indent="-228586" algn="l" defTabSz="914346" rtl="0" eaLnBrk="1" latinLnBrk="0" hangingPunct="1">
        <a:lnSpc>
          <a:spcPct val="90000"/>
        </a:lnSpc>
        <a:spcBef>
          <a:spcPts val="500"/>
        </a:spcBef>
        <a:buFont typeface="Pilat Regular" panose="020B0604020202020204" pitchFamily="34" charset="0"/>
        <a:buChar char="•"/>
        <a:defRPr sz="1800" kern="1200">
          <a:solidFill>
            <a:schemeClr val="tx1"/>
          </a:solidFill>
          <a:latin typeface="+mn-lt"/>
          <a:ea typeface="+mn-ea"/>
          <a:cs typeface="+mn-cs"/>
        </a:defRPr>
      </a:lvl6pPr>
      <a:lvl7pPr marL="2971626" indent="-228586" algn="l" defTabSz="914346" rtl="0" eaLnBrk="1" latinLnBrk="0" hangingPunct="1">
        <a:lnSpc>
          <a:spcPct val="90000"/>
        </a:lnSpc>
        <a:spcBef>
          <a:spcPts val="500"/>
        </a:spcBef>
        <a:buFont typeface="Pilat Regular" panose="020B0604020202020204" pitchFamily="34" charset="0"/>
        <a:buChar char="•"/>
        <a:defRPr sz="1800" kern="1200">
          <a:solidFill>
            <a:schemeClr val="tx1"/>
          </a:solidFill>
          <a:latin typeface="+mn-lt"/>
          <a:ea typeface="+mn-ea"/>
          <a:cs typeface="+mn-cs"/>
        </a:defRPr>
      </a:lvl7pPr>
      <a:lvl8pPr marL="3428799" indent="-228586" algn="l" defTabSz="914346" rtl="0" eaLnBrk="1" latinLnBrk="0" hangingPunct="1">
        <a:lnSpc>
          <a:spcPct val="90000"/>
        </a:lnSpc>
        <a:spcBef>
          <a:spcPts val="500"/>
        </a:spcBef>
        <a:buFont typeface="Pilat Regular" panose="020B0604020202020204" pitchFamily="34" charset="0"/>
        <a:buChar char="•"/>
        <a:defRPr sz="1800" kern="1200">
          <a:solidFill>
            <a:schemeClr val="tx1"/>
          </a:solidFill>
          <a:latin typeface="+mn-lt"/>
          <a:ea typeface="+mn-ea"/>
          <a:cs typeface="+mn-cs"/>
        </a:defRPr>
      </a:lvl8pPr>
      <a:lvl9pPr marL="3885973" indent="-228586" algn="l" defTabSz="914346" rtl="0" eaLnBrk="1" latinLnBrk="0" hangingPunct="1">
        <a:lnSpc>
          <a:spcPct val="90000"/>
        </a:lnSpc>
        <a:spcBef>
          <a:spcPts val="500"/>
        </a:spcBef>
        <a:buFont typeface="Pilat Regular"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46" rtl="0" eaLnBrk="1" latinLnBrk="0" hangingPunct="1">
        <a:defRPr sz="1800" kern="1200">
          <a:solidFill>
            <a:schemeClr val="tx1"/>
          </a:solidFill>
          <a:latin typeface="+mn-lt"/>
          <a:ea typeface="+mn-ea"/>
          <a:cs typeface="+mn-cs"/>
        </a:defRPr>
      </a:lvl1pPr>
      <a:lvl2pPr marL="457173" algn="l" defTabSz="914346" rtl="0" eaLnBrk="1" latinLnBrk="0" hangingPunct="1">
        <a:defRPr sz="1800" kern="1200">
          <a:solidFill>
            <a:schemeClr val="tx1"/>
          </a:solidFill>
          <a:latin typeface="+mn-lt"/>
          <a:ea typeface="+mn-ea"/>
          <a:cs typeface="+mn-cs"/>
        </a:defRPr>
      </a:lvl2pPr>
      <a:lvl3pPr marL="914346" algn="l" defTabSz="914346" rtl="0" eaLnBrk="1" latinLnBrk="0" hangingPunct="1">
        <a:defRPr sz="1800" kern="1200">
          <a:solidFill>
            <a:schemeClr val="tx1"/>
          </a:solidFill>
          <a:latin typeface="+mn-lt"/>
          <a:ea typeface="+mn-ea"/>
          <a:cs typeface="+mn-cs"/>
        </a:defRPr>
      </a:lvl3pPr>
      <a:lvl4pPr marL="1371519" algn="l" defTabSz="914346" rtl="0" eaLnBrk="1" latinLnBrk="0" hangingPunct="1">
        <a:defRPr sz="1800" kern="1200">
          <a:solidFill>
            <a:schemeClr val="tx1"/>
          </a:solidFill>
          <a:latin typeface="+mn-lt"/>
          <a:ea typeface="+mn-ea"/>
          <a:cs typeface="+mn-cs"/>
        </a:defRPr>
      </a:lvl4pPr>
      <a:lvl5pPr marL="1828693" algn="l" defTabSz="914346" rtl="0" eaLnBrk="1" latinLnBrk="0" hangingPunct="1">
        <a:defRPr sz="1800" kern="1200">
          <a:solidFill>
            <a:schemeClr val="tx1"/>
          </a:solidFill>
          <a:latin typeface="+mn-lt"/>
          <a:ea typeface="+mn-ea"/>
          <a:cs typeface="+mn-cs"/>
        </a:defRPr>
      </a:lvl5pPr>
      <a:lvl6pPr marL="2285866" algn="l" defTabSz="914346" rtl="0" eaLnBrk="1" latinLnBrk="0" hangingPunct="1">
        <a:defRPr sz="1800" kern="1200">
          <a:solidFill>
            <a:schemeClr val="tx1"/>
          </a:solidFill>
          <a:latin typeface="+mn-lt"/>
          <a:ea typeface="+mn-ea"/>
          <a:cs typeface="+mn-cs"/>
        </a:defRPr>
      </a:lvl6pPr>
      <a:lvl7pPr marL="2743039" algn="l" defTabSz="914346" rtl="0" eaLnBrk="1" latinLnBrk="0" hangingPunct="1">
        <a:defRPr sz="1800" kern="1200">
          <a:solidFill>
            <a:schemeClr val="tx1"/>
          </a:solidFill>
          <a:latin typeface="+mn-lt"/>
          <a:ea typeface="+mn-ea"/>
          <a:cs typeface="+mn-cs"/>
        </a:defRPr>
      </a:lvl7pPr>
      <a:lvl8pPr marL="3200213" algn="l" defTabSz="914346" rtl="0" eaLnBrk="1" latinLnBrk="0" hangingPunct="1">
        <a:defRPr sz="1800" kern="1200">
          <a:solidFill>
            <a:schemeClr val="tx1"/>
          </a:solidFill>
          <a:latin typeface="+mn-lt"/>
          <a:ea typeface="+mn-ea"/>
          <a:cs typeface="+mn-cs"/>
        </a:defRPr>
      </a:lvl8pPr>
      <a:lvl9pPr marL="3657387" algn="l" defTabSz="91434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184">
          <p15:clr>
            <a:srgbClr val="C35EA4"/>
          </p15:clr>
        </p15:guide>
        <p15:guide id="13" pos="7496">
          <p15:clr>
            <a:srgbClr val="C35EA4"/>
          </p15:clr>
        </p15:guide>
        <p15:guide id="18" orient="horz" pos="185">
          <p15:clr>
            <a:srgbClr val="C35EA4"/>
          </p15:clr>
        </p15:guide>
        <p15:guide id="22" orient="horz" pos="4133">
          <p15:clr>
            <a:srgbClr val="C35EA4"/>
          </p15:clr>
        </p15:guide>
        <p15:guide id="55" pos="2012">
          <p15:clr>
            <a:srgbClr val="5ACBF0"/>
          </p15:clr>
        </p15:guide>
        <p15:guide id="61" pos="5668">
          <p15:clr>
            <a:srgbClr val="5ACBF0"/>
          </p15:clr>
        </p15:guide>
        <p15:guide id="85" pos="3840">
          <p15:clr>
            <a:srgbClr val="5ACBF0"/>
          </p15:clr>
        </p15:guide>
        <p15:guide id="88" pos="5059">
          <p15:clr>
            <a:srgbClr val="9FCC3B"/>
          </p15:clr>
        </p15:guide>
        <p15:guide id="89" pos="2620">
          <p15:clr>
            <a:srgbClr val="9FCC3B"/>
          </p15:clr>
        </p15:guide>
        <p15:guide id="90" pos="1099">
          <p15:clr>
            <a:srgbClr val="5ACBF0"/>
          </p15:clr>
        </p15:guide>
        <p15:guide id="91" pos="2926">
          <p15:clr>
            <a:srgbClr val="5ACBF0"/>
          </p15:clr>
        </p15:guide>
        <p15:guide id="92" pos="4754">
          <p15:clr>
            <a:srgbClr val="5ACBF0"/>
          </p15:clr>
        </p15:guide>
        <p15:guide id="93" pos="6581">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4592" y="4791456"/>
            <a:ext cx="1417320" cy="530352"/>
          </a:xfrm>
          <a:prstGeom prst="rect">
            <a:avLst/>
          </a:prstGeom>
          <a:solidFill>
            <a:srgbClr val="FFFCF9"/>
          </a:solidFill>
          <a:ln w="10160">
            <a:solidFill>
              <a:srgbClr val="FFF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1234440"/>
            <a:ext cx="3657600" cy="777240"/>
          </a:xfrm>
          <a:prstGeom prst="rect">
            <a:avLst/>
          </a:prstGeom>
          <a:noFill/>
        </p:spPr>
        <p:txBody>
          <a:bodyPr wrap="square" lIns="0" tIns="0" rIns="0" bIns="0" anchor="ctr">
            <a:spAutoFit/>
          </a:bodyPr>
          <a:lstStyle/>
          <a:p>
            <a:pPr algn="l">
              <a:lnSpc>
                <a:spcPct val="100000"/>
              </a:lnSpc>
              <a:spcAft>
                <a:spcPts val="0"/>
              </a:spcAft>
            </a:pPr>
            <a:r>
              <a:rPr sz="4800" b="1" i="0" dirty="0">
                <a:solidFill>
                  <a:srgbClr val="000000"/>
                </a:solidFill>
                <a:latin typeface="Pilat Book"/>
              </a:rPr>
              <a:t>ATMOS</a:t>
            </a:r>
          </a:p>
        </p:txBody>
      </p:sp>
      <p:sp>
        <p:nvSpPr>
          <p:cNvPr id="4" name="TextBox 3"/>
          <p:cNvSpPr txBox="1"/>
          <p:nvPr/>
        </p:nvSpPr>
        <p:spPr>
          <a:xfrm>
            <a:off x="603504" y="2084831"/>
            <a:ext cx="9875520" cy="640080"/>
          </a:xfrm>
          <a:prstGeom prst="rect">
            <a:avLst/>
          </a:prstGeom>
          <a:noFill/>
        </p:spPr>
        <p:txBody>
          <a:bodyPr wrap="square" lIns="0" tIns="0" rIns="0" bIns="0" anchor="ctr">
            <a:spAutoFit/>
          </a:bodyPr>
          <a:lstStyle/>
          <a:p>
            <a:pPr algn="l">
              <a:lnSpc>
                <a:spcPct val="100000"/>
              </a:lnSpc>
              <a:spcAft>
                <a:spcPts val="0"/>
              </a:spcAft>
            </a:pPr>
            <a:r>
              <a:rPr sz="2500" b="1" i="0" dirty="0">
                <a:solidFill>
                  <a:srgbClr val="000000"/>
                </a:solidFill>
                <a:latin typeface="Pilat Book"/>
              </a:rPr>
              <a:t>Scaling AI inference beyond accelerator memory</a:t>
            </a:r>
          </a:p>
        </p:txBody>
      </p:sp>
      <p:sp>
        <p:nvSpPr>
          <p:cNvPr id="5" name="Rectangle 4"/>
          <p:cNvSpPr/>
          <p:nvPr/>
        </p:nvSpPr>
        <p:spPr>
          <a:xfrm>
            <a:off x="603504" y="2926080"/>
            <a:ext cx="932688" cy="73152"/>
          </a:xfrm>
          <a:prstGeom prst="rect">
            <a:avLst/>
          </a:prstGeom>
          <a:solidFill>
            <a:srgbClr val="E10600"/>
          </a:solidFill>
          <a:ln w="10160">
            <a:solidFill>
              <a:srgbClr val="E10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03504" y="3246120"/>
            <a:ext cx="9052560" cy="530352"/>
          </a:xfrm>
          <a:prstGeom prst="rect">
            <a:avLst/>
          </a:prstGeom>
          <a:noFill/>
        </p:spPr>
        <p:txBody>
          <a:bodyPr wrap="square" lIns="0" tIns="0" rIns="0" bIns="0" anchor="ctr">
            <a:spAutoFit/>
          </a:bodyPr>
          <a:lstStyle/>
          <a:p>
            <a:pPr algn="l">
              <a:lnSpc>
                <a:spcPct val="100000"/>
              </a:lnSpc>
              <a:spcAft>
                <a:spcPts val="0"/>
              </a:spcAft>
            </a:pPr>
            <a:r>
              <a:rPr sz="1500" b="0" i="0" dirty="0">
                <a:solidFill>
                  <a:srgbClr val="772C22"/>
                </a:solidFill>
                <a:latin typeface="Pilat"/>
              </a:rPr>
              <a:t>High-bandwidth flash + efficient acceleration for capacity-led enterprise and edge workloads</a:t>
            </a:r>
          </a:p>
        </p:txBody>
      </p:sp>
      <p:sp>
        <p:nvSpPr>
          <p:cNvPr id="7" name="Rounded Rectangle 6"/>
          <p:cNvSpPr/>
          <p:nvPr/>
        </p:nvSpPr>
        <p:spPr>
          <a:xfrm>
            <a:off x="603504" y="4206240"/>
            <a:ext cx="2121408" cy="256032"/>
          </a:xfrm>
          <a:prstGeom prst="roundRect">
            <a:avLst/>
          </a:prstGeom>
          <a:solidFill>
            <a:srgbClr val="FBE9E6"/>
          </a:solidFill>
          <a:ln w="10160">
            <a:solidFill>
              <a:srgbClr val="FBE9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6656" y="4229100"/>
            <a:ext cx="1975103" cy="182880"/>
          </a:xfrm>
          <a:prstGeom prst="rect">
            <a:avLst/>
          </a:prstGeom>
          <a:noFill/>
        </p:spPr>
        <p:txBody>
          <a:bodyPr wrap="square" lIns="0" tIns="0" rIns="0" bIns="0" anchor="ctr">
            <a:spAutoFit/>
          </a:bodyPr>
          <a:lstStyle/>
          <a:p>
            <a:pPr algn="ctr">
              <a:lnSpc>
                <a:spcPct val="100000"/>
              </a:lnSpc>
              <a:spcAft>
                <a:spcPts val="0"/>
              </a:spcAft>
            </a:pPr>
            <a:r>
              <a:rPr sz="750" b="1" i="0">
                <a:solidFill>
                  <a:srgbClr val="772C22"/>
                </a:solidFill>
                <a:latin typeface="Pilat"/>
              </a:rPr>
              <a:t>MORE MODEL CAPACITY</a:t>
            </a:r>
          </a:p>
        </p:txBody>
      </p:sp>
      <p:sp>
        <p:nvSpPr>
          <p:cNvPr id="9" name="Rounded Rectangle 8"/>
          <p:cNvSpPr/>
          <p:nvPr/>
        </p:nvSpPr>
        <p:spPr>
          <a:xfrm>
            <a:off x="3026664" y="4206240"/>
            <a:ext cx="2121408" cy="256032"/>
          </a:xfrm>
          <a:prstGeom prst="roundRect">
            <a:avLst/>
          </a:prstGeom>
          <a:solidFill>
            <a:srgbClr val="FBE9E6"/>
          </a:solidFill>
          <a:ln w="10160">
            <a:solidFill>
              <a:srgbClr val="FBE9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099816" y="4229100"/>
            <a:ext cx="1975103" cy="182880"/>
          </a:xfrm>
          <a:prstGeom prst="rect">
            <a:avLst/>
          </a:prstGeom>
          <a:noFill/>
        </p:spPr>
        <p:txBody>
          <a:bodyPr wrap="square" lIns="0" tIns="0" rIns="0" bIns="0" anchor="ctr">
            <a:spAutoFit/>
          </a:bodyPr>
          <a:lstStyle/>
          <a:p>
            <a:pPr algn="ctr">
              <a:lnSpc>
                <a:spcPct val="100000"/>
              </a:lnSpc>
              <a:spcAft>
                <a:spcPts val="0"/>
              </a:spcAft>
            </a:pPr>
            <a:r>
              <a:rPr sz="750" b="1" i="0">
                <a:solidFill>
                  <a:srgbClr val="772C22"/>
                </a:solidFill>
                <a:latin typeface="Pilat"/>
              </a:rPr>
              <a:t>LESS SCALE-OUT FRICTION</a:t>
            </a:r>
          </a:p>
        </p:txBody>
      </p:sp>
      <p:sp>
        <p:nvSpPr>
          <p:cNvPr id="11" name="Rounded Rectangle 10"/>
          <p:cNvSpPr/>
          <p:nvPr/>
        </p:nvSpPr>
        <p:spPr>
          <a:xfrm>
            <a:off x="5449824" y="4206240"/>
            <a:ext cx="2121408" cy="256032"/>
          </a:xfrm>
          <a:prstGeom prst="roundRect">
            <a:avLst/>
          </a:prstGeom>
          <a:solidFill>
            <a:srgbClr val="F2E7E4"/>
          </a:solidFill>
          <a:ln w="10160">
            <a:solidFill>
              <a:srgbClr val="F2E7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522976" y="4229100"/>
            <a:ext cx="1975103" cy="182880"/>
          </a:xfrm>
          <a:prstGeom prst="rect">
            <a:avLst/>
          </a:prstGeom>
          <a:noFill/>
        </p:spPr>
        <p:txBody>
          <a:bodyPr wrap="square" lIns="0" tIns="0" rIns="0" bIns="0" anchor="ctr">
            <a:spAutoFit/>
          </a:bodyPr>
          <a:lstStyle/>
          <a:p>
            <a:pPr algn="ctr">
              <a:lnSpc>
                <a:spcPct val="100000"/>
              </a:lnSpc>
              <a:spcAft>
                <a:spcPts val="0"/>
              </a:spcAft>
            </a:pPr>
            <a:r>
              <a:rPr sz="750" b="1" i="0">
                <a:solidFill>
                  <a:srgbClr val="772C22"/>
                </a:solidFill>
                <a:latin typeface="Pilat"/>
              </a:rPr>
              <a:t>MEASURABLE POC</a:t>
            </a:r>
          </a:p>
        </p:txBody>
      </p:sp>
      <p:sp>
        <p:nvSpPr>
          <p:cNvPr id="18" name="TextBox 17"/>
          <p:cNvSpPr txBox="1"/>
          <p:nvPr/>
        </p:nvSpPr>
        <p:spPr>
          <a:xfrm>
            <a:off x="11018520" y="6492240"/>
            <a:ext cx="347472" cy="137160"/>
          </a:xfrm>
          <a:prstGeom prst="rect">
            <a:avLst/>
          </a:prstGeom>
          <a:noFill/>
        </p:spPr>
        <p:txBody>
          <a:bodyPr wrap="square" lIns="0" tIns="0" rIns="0" bIns="0" anchor="ctr">
            <a:spAutoFit/>
          </a:bodyPr>
          <a:lstStyle/>
          <a:p>
            <a:pPr algn="r">
              <a:lnSpc>
                <a:spcPct val="100000"/>
              </a:lnSpc>
              <a:spcAft>
                <a:spcPts val="0"/>
              </a:spcAft>
            </a:pPr>
            <a:r>
              <a:rPr sz="700" b="1" i="0">
                <a:solidFill>
                  <a:srgbClr val="686868"/>
                </a:solidFill>
                <a:latin typeface="Pilat"/>
              </a:rPr>
              <a:t>01</a:t>
            </a:r>
          </a:p>
        </p:txBody>
      </p:sp>
      <p:sp>
        <p:nvSpPr>
          <p:cNvPr id="19" name="Shape 3">
            <a:extLst>
              <a:ext uri="{FF2B5EF4-FFF2-40B4-BE49-F238E27FC236}">
                <a16:creationId xmlns:a16="http://schemas.microsoft.com/office/drawing/2014/main" id="{1DC28F05-CCE4-2C37-D505-01CCEF959CAD}"/>
              </a:ext>
            </a:extLst>
          </p:cNvPr>
          <p:cNvSpPr/>
          <p:nvPr/>
        </p:nvSpPr>
        <p:spPr>
          <a:xfrm>
            <a:off x="0" y="0"/>
            <a:ext cx="146304" cy="6858000"/>
          </a:xfrm>
          <a:prstGeom prst="rect">
            <a:avLst/>
          </a:prstGeom>
          <a:solidFill>
            <a:schemeClr val="accent2"/>
          </a:solidFill>
          <a:ln w="6350">
            <a:solidFill>
              <a:srgbClr val="00A3A3"/>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4592" y="4791456"/>
            <a:ext cx="1417320" cy="530352"/>
          </a:xfrm>
          <a:prstGeom prst="rect">
            <a:avLst/>
          </a:prstGeom>
          <a:solidFill>
            <a:srgbClr val="FFFCF9"/>
          </a:solidFill>
          <a:ln w="10160">
            <a:solidFill>
              <a:srgbClr val="FFF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12400"/>
            <a:ext cx="3931920" cy="161583"/>
          </a:xfrm>
          <a:prstGeom prst="rect">
            <a:avLst/>
          </a:prstGeom>
          <a:noFill/>
        </p:spPr>
        <p:txBody>
          <a:bodyPr wrap="square" lIns="0" tIns="0" rIns="0" bIns="0" anchor="ctr">
            <a:spAutoFit/>
          </a:bodyPr>
          <a:lstStyle/>
          <a:p>
            <a:pPr algn="l">
              <a:lnSpc>
                <a:spcPct val="100000"/>
              </a:lnSpc>
              <a:spcAft>
                <a:spcPts val="0"/>
              </a:spcAft>
            </a:pPr>
            <a:r>
              <a:rPr lang="en-US" sz="1050" b="1" i="0" dirty="0">
                <a:solidFill>
                  <a:srgbClr val="E10600"/>
                </a:solidFill>
                <a:latin typeface="Pilat"/>
              </a:rPr>
              <a:t>Enterprise AI Workload constraint </a:t>
            </a:r>
            <a:endParaRPr sz="1050" b="1" i="0" dirty="0">
              <a:solidFill>
                <a:srgbClr val="E10600"/>
              </a:solidFill>
              <a:latin typeface="Pilat"/>
            </a:endParaRPr>
          </a:p>
        </p:txBody>
      </p:sp>
      <p:sp>
        <p:nvSpPr>
          <p:cNvPr id="4" name="TextBox 3"/>
          <p:cNvSpPr txBox="1"/>
          <p:nvPr/>
        </p:nvSpPr>
        <p:spPr>
          <a:xfrm>
            <a:off x="566928" y="530840"/>
            <a:ext cx="10698480" cy="529376"/>
          </a:xfrm>
          <a:prstGeom prst="rect">
            <a:avLst/>
          </a:prstGeom>
          <a:noFill/>
        </p:spPr>
        <p:txBody>
          <a:bodyPr wrap="square" lIns="64008" tIns="64008" rIns="64008" bIns="64008" anchor="ctr">
            <a:spAutoFit/>
          </a:bodyPr>
          <a:lstStyle/>
          <a:p>
            <a:r>
              <a:rPr lang="en-US" sz="2600" b="1" dirty="0">
                <a:solidFill>
                  <a:srgbClr val="000000"/>
                </a:solidFill>
                <a:latin typeface="Pilat Book"/>
              </a:rPr>
              <a:t>More than compute, </a:t>
            </a:r>
            <a:r>
              <a:rPr sz="2600" b="1" i="0" dirty="0">
                <a:solidFill>
                  <a:srgbClr val="000000"/>
                </a:solidFill>
                <a:latin typeface="Pilat Book"/>
              </a:rPr>
              <a:t>Enterprise AI </a:t>
            </a:r>
            <a:r>
              <a:rPr lang="en-US" sz="2600" b="1" i="0" dirty="0">
                <a:solidFill>
                  <a:srgbClr val="000000"/>
                </a:solidFill>
                <a:latin typeface="Pilat Book"/>
              </a:rPr>
              <a:t>Platform </a:t>
            </a:r>
            <a:r>
              <a:rPr sz="2600" b="1" i="0" dirty="0">
                <a:solidFill>
                  <a:srgbClr val="000000"/>
                </a:solidFill>
                <a:latin typeface="Pilat Book"/>
              </a:rPr>
              <a:t>are constrained by</a:t>
            </a:r>
          </a:p>
        </p:txBody>
      </p:sp>
      <p:sp>
        <p:nvSpPr>
          <p:cNvPr id="5" name="TextBox 4"/>
          <p:cNvSpPr txBox="1"/>
          <p:nvPr/>
        </p:nvSpPr>
        <p:spPr>
          <a:xfrm>
            <a:off x="566928" y="1069848"/>
            <a:ext cx="10515600" cy="274320"/>
          </a:xfrm>
          <a:prstGeom prst="rect">
            <a:avLst/>
          </a:prstGeom>
          <a:noFill/>
        </p:spPr>
        <p:txBody>
          <a:bodyPr wrap="square" lIns="0" tIns="0" rIns="0" bIns="0" anchor="ctr">
            <a:spAutoFit/>
          </a:bodyPr>
          <a:lstStyle/>
          <a:p>
            <a:pPr algn="l">
              <a:lnSpc>
                <a:spcPct val="100000"/>
              </a:lnSpc>
              <a:spcAft>
                <a:spcPts val="0"/>
              </a:spcAft>
            </a:pPr>
            <a:r>
              <a:rPr sz="1100" b="0" i="0" dirty="0">
                <a:solidFill>
                  <a:srgbClr val="686868"/>
                </a:solidFill>
                <a:latin typeface="Pilat"/>
              </a:rPr>
              <a:t>Model growth, long context, concurrency and deployment limits compound into cost and engineering pressure.</a:t>
            </a:r>
          </a:p>
        </p:txBody>
      </p:sp>
      <p:sp>
        <p:nvSpPr>
          <p:cNvPr id="6" name="Rectangle 5"/>
          <p:cNvSpPr/>
          <p:nvPr/>
        </p:nvSpPr>
        <p:spPr>
          <a:xfrm>
            <a:off x="566928" y="1472184"/>
            <a:ext cx="11018520" cy="16459"/>
          </a:xfrm>
          <a:prstGeom prst="rect">
            <a:avLst/>
          </a:prstGeom>
          <a:solidFill>
            <a:srgbClr val="BCB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66928" y="1783080"/>
            <a:ext cx="5166360" cy="1444752"/>
          </a:xfrm>
          <a:prstGeom prst="roundRect">
            <a:avLst/>
          </a:prstGeom>
          <a:solidFill>
            <a:srgbClr val="FFFCF9"/>
          </a:solidFill>
          <a:ln w="10160">
            <a:solidFill>
              <a:srgbClr val="EE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95528" y="2039112"/>
            <a:ext cx="457200" cy="457200"/>
          </a:xfrm>
          <a:prstGeom prst="ellipse">
            <a:avLst/>
          </a:prstGeom>
          <a:solidFill>
            <a:srgbClr val="E10600"/>
          </a:solidFill>
          <a:ln>
            <a:solidFill>
              <a:srgbClr val="E10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5528" y="2048255"/>
            <a:ext cx="457200" cy="438912"/>
          </a:xfrm>
          <a:prstGeom prst="rect">
            <a:avLst/>
          </a:prstGeom>
          <a:noFill/>
        </p:spPr>
        <p:txBody>
          <a:bodyPr wrap="square" lIns="0" tIns="0" rIns="0" bIns="0" anchor="ctr">
            <a:spAutoFit/>
          </a:bodyPr>
          <a:lstStyle/>
          <a:p>
            <a:pPr algn="ctr">
              <a:lnSpc>
                <a:spcPct val="100000"/>
              </a:lnSpc>
              <a:spcAft>
                <a:spcPts val="0"/>
              </a:spcAft>
            </a:pPr>
            <a:r>
              <a:rPr sz="850" b="1" i="0">
                <a:solidFill>
                  <a:srgbClr val="FFFCF9"/>
                </a:solidFill>
                <a:latin typeface="Pilat"/>
              </a:rPr>
              <a:t>01</a:t>
            </a:r>
          </a:p>
        </p:txBody>
      </p:sp>
      <p:sp>
        <p:nvSpPr>
          <p:cNvPr id="10" name="TextBox 9"/>
          <p:cNvSpPr txBox="1"/>
          <p:nvPr/>
        </p:nvSpPr>
        <p:spPr>
          <a:xfrm>
            <a:off x="1481328" y="1993392"/>
            <a:ext cx="3931920" cy="246888"/>
          </a:xfrm>
          <a:prstGeom prst="rect">
            <a:avLst/>
          </a:prstGeom>
          <a:noFill/>
        </p:spPr>
        <p:txBody>
          <a:bodyPr wrap="square" lIns="0" tIns="0" rIns="0" bIns="0" anchor="ctr">
            <a:spAutoFit/>
          </a:bodyPr>
          <a:lstStyle/>
          <a:p>
            <a:pPr algn="l">
              <a:lnSpc>
                <a:spcPct val="100000"/>
              </a:lnSpc>
              <a:spcAft>
                <a:spcPts val="0"/>
              </a:spcAft>
            </a:pPr>
            <a:r>
              <a:rPr sz="1400" b="1" i="0">
                <a:solidFill>
                  <a:srgbClr val="000000"/>
                </a:solidFill>
                <a:latin typeface="Pilat Book"/>
              </a:rPr>
              <a:t>Model and context do not fit</a:t>
            </a:r>
          </a:p>
        </p:txBody>
      </p:sp>
      <p:sp>
        <p:nvSpPr>
          <p:cNvPr id="11" name="TextBox 10"/>
          <p:cNvSpPr txBox="1"/>
          <p:nvPr/>
        </p:nvSpPr>
        <p:spPr>
          <a:xfrm>
            <a:off x="1481328" y="2350008"/>
            <a:ext cx="3886200" cy="457200"/>
          </a:xfrm>
          <a:prstGeom prst="rect">
            <a:avLst/>
          </a:prstGeom>
          <a:noFill/>
        </p:spPr>
        <p:txBody>
          <a:bodyPr wrap="square" lIns="0" tIns="0" rIns="0" bIns="0" anchor="t">
            <a:spAutoFit/>
          </a:bodyPr>
          <a:lstStyle/>
          <a:p>
            <a:pPr algn="l">
              <a:lnSpc>
                <a:spcPct val="100000"/>
              </a:lnSpc>
              <a:spcAft>
                <a:spcPts val="0"/>
              </a:spcAft>
            </a:pPr>
            <a:r>
              <a:rPr sz="1000" b="0" i="0" dirty="0">
                <a:solidFill>
                  <a:srgbClr val="686868"/>
                </a:solidFill>
                <a:latin typeface="Pilat"/>
              </a:rPr>
              <a:t>Large models, </a:t>
            </a:r>
            <a:r>
              <a:rPr sz="1000" b="0" i="0" dirty="0" err="1">
                <a:solidFill>
                  <a:srgbClr val="686868"/>
                </a:solidFill>
                <a:latin typeface="Pilat"/>
              </a:rPr>
              <a:t>MoE</a:t>
            </a:r>
            <a:r>
              <a:rPr sz="1000" b="0" i="0" dirty="0">
                <a:solidFill>
                  <a:srgbClr val="686868"/>
                </a:solidFill>
                <a:latin typeface="Pilat"/>
              </a:rPr>
              <a:t> experts and KV cache compete for limited accelerator memory.</a:t>
            </a:r>
          </a:p>
        </p:txBody>
      </p:sp>
      <p:sp>
        <p:nvSpPr>
          <p:cNvPr id="12" name="Rectangle 11"/>
          <p:cNvSpPr/>
          <p:nvPr/>
        </p:nvSpPr>
        <p:spPr>
          <a:xfrm>
            <a:off x="795528" y="3008376"/>
            <a:ext cx="4617720" cy="32004"/>
          </a:xfrm>
          <a:prstGeom prst="rect">
            <a:avLst/>
          </a:prstGeom>
          <a:solidFill>
            <a:srgbClr val="E10600"/>
          </a:solidFill>
          <a:ln w="10160">
            <a:solidFill>
              <a:srgbClr val="E10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126480" y="1783080"/>
            <a:ext cx="5166360" cy="1444752"/>
          </a:xfrm>
          <a:prstGeom prst="roundRect">
            <a:avLst/>
          </a:prstGeom>
          <a:solidFill>
            <a:srgbClr val="FFFCF9"/>
          </a:solidFill>
          <a:ln w="10160">
            <a:solidFill>
              <a:srgbClr val="EE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355080" y="2039112"/>
            <a:ext cx="457200" cy="457200"/>
          </a:xfrm>
          <a:prstGeom prst="ellipse">
            <a:avLst/>
          </a:prstGeom>
          <a:solidFill>
            <a:srgbClr val="772C22"/>
          </a:solidFill>
          <a:ln>
            <a:solidFill>
              <a:srgbClr val="772C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55080" y="2048255"/>
            <a:ext cx="457200" cy="438912"/>
          </a:xfrm>
          <a:prstGeom prst="rect">
            <a:avLst/>
          </a:prstGeom>
          <a:noFill/>
        </p:spPr>
        <p:txBody>
          <a:bodyPr wrap="square" lIns="0" tIns="0" rIns="0" bIns="0" anchor="ctr">
            <a:spAutoFit/>
          </a:bodyPr>
          <a:lstStyle/>
          <a:p>
            <a:pPr algn="ctr">
              <a:lnSpc>
                <a:spcPct val="100000"/>
              </a:lnSpc>
              <a:spcAft>
                <a:spcPts val="0"/>
              </a:spcAft>
            </a:pPr>
            <a:r>
              <a:rPr sz="850" b="1" i="0">
                <a:solidFill>
                  <a:srgbClr val="FFFCF9"/>
                </a:solidFill>
                <a:latin typeface="Pilat"/>
              </a:rPr>
              <a:t>02</a:t>
            </a:r>
          </a:p>
        </p:txBody>
      </p:sp>
      <p:sp>
        <p:nvSpPr>
          <p:cNvPr id="16" name="TextBox 15"/>
          <p:cNvSpPr txBox="1"/>
          <p:nvPr/>
        </p:nvSpPr>
        <p:spPr>
          <a:xfrm>
            <a:off x="7040880" y="1993392"/>
            <a:ext cx="3931920" cy="246888"/>
          </a:xfrm>
          <a:prstGeom prst="rect">
            <a:avLst/>
          </a:prstGeom>
          <a:noFill/>
        </p:spPr>
        <p:txBody>
          <a:bodyPr wrap="square" lIns="0" tIns="0" rIns="0" bIns="0" anchor="ctr">
            <a:spAutoFit/>
          </a:bodyPr>
          <a:lstStyle/>
          <a:p>
            <a:pPr algn="l">
              <a:lnSpc>
                <a:spcPct val="100000"/>
              </a:lnSpc>
              <a:spcAft>
                <a:spcPts val="0"/>
              </a:spcAft>
            </a:pPr>
            <a:r>
              <a:rPr sz="1400" b="1" i="0">
                <a:solidFill>
                  <a:srgbClr val="000000"/>
                </a:solidFill>
                <a:latin typeface="Pilat Book"/>
              </a:rPr>
              <a:t>Scaling adds software complexity</a:t>
            </a:r>
          </a:p>
        </p:txBody>
      </p:sp>
      <p:sp>
        <p:nvSpPr>
          <p:cNvPr id="17" name="TextBox 16"/>
          <p:cNvSpPr txBox="1"/>
          <p:nvPr/>
        </p:nvSpPr>
        <p:spPr>
          <a:xfrm>
            <a:off x="7040880" y="2350008"/>
            <a:ext cx="3886200" cy="457200"/>
          </a:xfrm>
          <a:prstGeom prst="rect">
            <a:avLst/>
          </a:prstGeom>
          <a:noFill/>
        </p:spPr>
        <p:txBody>
          <a:bodyPr wrap="square" lIns="0" tIns="0" rIns="0" bIns="0" anchor="t">
            <a:spAutoFit/>
          </a:bodyPr>
          <a:lstStyle/>
          <a:p>
            <a:pPr algn="l">
              <a:lnSpc>
                <a:spcPct val="100000"/>
              </a:lnSpc>
              <a:spcAft>
                <a:spcPts val="0"/>
              </a:spcAft>
            </a:pPr>
            <a:r>
              <a:rPr sz="1000" b="0" i="0">
                <a:solidFill>
                  <a:srgbClr val="686868"/>
                </a:solidFill>
                <a:latin typeface="Pilat"/>
              </a:rPr>
              <a:t>Tensor, pipeline and expert parallelism increase tuning, testing and failure domains.</a:t>
            </a:r>
          </a:p>
        </p:txBody>
      </p:sp>
      <p:sp>
        <p:nvSpPr>
          <p:cNvPr id="18" name="Rectangle 17"/>
          <p:cNvSpPr/>
          <p:nvPr/>
        </p:nvSpPr>
        <p:spPr>
          <a:xfrm>
            <a:off x="6355080" y="3008376"/>
            <a:ext cx="4617720" cy="32004"/>
          </a:xfrm>
          <a:prstGeom prst="rect">
            <a:avLst/>
          </a:prstGeom>
          <a:solidFill>
            <a:srgbClr val="772C22"/>
          </a:solidFill>
          <a:ln w="10160">
            <a:solidFill>
              <a:srgbClr val="772C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66928" y="3630168"/>
            <a:ext cx="5166360" cy="1444752"/>
          </a:xfrm>
          <a:prstGeom prst="roundRect">
            <a:avLst/>
          </a:prstGeom>
          <a:solidFill>
            <a:srgbClr val="FFFCF9"/>
          </a:solidFill>
          <a:ln w="10160">
            <a:solidFill>
              <a:srgbClr val="EE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95528" y="3886200"/>
            <a:ext cx="457200" cy="457200"/>
          </a:xfrm>
          <a:prstGeom prst="ellipse">
            <a:avLst/>
          </a:prstGeom>
          <a:solidFill>
            <a:srgbClr val="BCBCBC"/>
          </a:solidFill>
          <a:ln>
            <a:solidFill>
              <a:srgbClr val="BCB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95528" y="3895344"/>
            <a:ext cx="457200" cy="438912"/>
          </a:xfrm>
          <a:prstGeom prst="rect">
            <a:avLst/>
          </a:prstGeom>
          <a:noFill/>
        </p:spPr>
        <p:txBody>
          <a:bodyPr wrap="square" lIns="0" tIns="0" rIns="0" bIns="0" anchor="ctr">
            <a:spAutoFit/>
          </a:bodyPr>
          <a:lstStyle/>
          <a:p>
            <a:pPr algn="ctr">
              <a:lnSpc>
                <a:spcPct val="100000"/>
              </a:lnSpc>
              <a:spcAft>
                <a:spcPts val="0"/>
              </a:spcAft>
            </a:pPr>
            <a:r>
              <a:rPr sz="850" b="1" i="0">
                <a:solidFill>
                  <a:srgbClr val="FFFCF9"/>
                </a:solidFill>
                <a:latin typeface="Pilat"/>
              </a:rPr>
              <a:t>03</a:t>
            </a:r>
          </a:p>
        </p:txBody>
      </p:sp>
      <p:sp>
        <p:nvSpPr>
          <p:cNvPr id="22" name="TextBox 21"/>
          <p:cNvSpPr txBox="1"/>
          <p:nvPr/>
        </p:nvSpPr>
        <p:spPr>
          <a:xfrm>
            <a:off x="1481328" y="3840480"/>
            <a:ext cx="3931920" cy="246888"/>
          </a:xfrm>
          <a:prstGeom prst="rect">
            <a:avLst/>
          </a:prstGeom>
          <a:noFill/>
        </p:spPr>
        <p:txBody>
          <a:bodyPr wrap="square" lIns="0" tIns="0" rIns="0" bIns="0" anchor="ctr">
            <a:spAutoFit/>
          </a:bodyPr>
          <a:lstStyle/>
          <a:p>
            <a:pPr algn="l">
              <a:lnSpc>
                <a:spcPct val="100000"/>
              </a:lnSpc>
              <a:spcAft>
                <a:spcPts val="0"/>
              </a:spcAft>
            </a:pPr>
            <a:r>
              <a:rPr sz="1400" b="1" i="0">
                <a:solidFill>
                  <a:srgbClr val="000000"/>
                </a:solidFill>
                <a:latin typeface="Pilat Book"/>
              </a:rPr>
              <a:t>Data movement taxes the system</a:t>
            </a:r>
          </a:p>
        </p:txBody>
      </p:sp>
      <p:sp>
        <p:nvSpPr>
          <p:cNvPr id="23" name="TextBox 22"/>
          <p:cNvSpPr txBox="1"/>
          <p:nvPr/>
        </p:nvSpPr>
        <p:spPr>
          <a:xfrm>
            <a:off x="1481328" y="4197096"/>
            <a:ext cx="3886200" cy="457200"/>
          </a:xfrm>
          <a:prstGeom prst="rect">
            <a:avLst/>
          </a:prstGeom>
          <a:noFill/>
        </p:spPr>
        <p:txBody>
          <a:bodyPr wrap="square" lIns="0" tIns="0" rIns="0" bIns="0" anchor="t">
            <a:spAutoFit/>
          </a:bodyPr>
          <a:lstStyle/>
          <a:p>
            <a:pPr algn="l">
              <a:lnSpc>
                <a:spcPct val="100000"/>
              </a:lnSpc>
              <a:spcAft>
                <a:spcPts val="0"/>
              </a:spcAft>
            </a:pPr>
            <a:r>
              <a:rPr sz="1000" b="0" i="0">
                <a:solidFill>
                  <a:srgbClr val="686868"/>
                </a:solidFill>
                <a:latin typeface="Pilat"/>
              </a:rPr>
              <a:t>Per-token communication can consume fabric bandwidth and create tail-latency risk.</a:t>
            </a:r>
          </a:p>
        </p:txBody>
      </p:sp>
      <p:sp>
        <p:nvSpPr>
          <p:cNvPr id="24" name="Rectangle 23"/>
          <p:cNvSpPr/>
          <p:nvPr/>
        </p:nvSpPr>
        <p:spPr>
          <a:xfrm>
            <a:off x="795528" y="4855464"/>
            <a:ext cx="4617720" cy="32004"/>
          </a:xfrm>
          <a:prstGeom prst="rect">
            <a:avLst/>
          </a:prstGeom>
          <a:solidFill>
            <a:srgbClr val="BCBCBC"/>
          </a:solidFill>
          <a:ln w="10160">
            <a:solidFill>
              <a:srgbClr val="BCB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126480" y="3630168"/>
            <a:ext cx="5166360" cy="1444752"/>
          </a:xfrm>
          <a:prstGeom prst="roundRect">
            <a:avLst/>
          </a:prstGeom>
          <a:solidFill>
            <a:srgbClr val="FFFCF9"/>
          </a:solidFill>
          <a:ln w="10160">
            <a:solidFill>
              <a:srgbClr val="EE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355080" y="3886200"/>
            <a:ext cx="457200" cy="457200"/>
          </a:xfrm>
          <a:prstGeom prst="ellipse">
            <a:avLst/>
          </a:prstGeom>
          <a:solidFill>
            <a:srgbClr val="D48A16"/>
          </a:solidFill>
          <a:ln>
            <a:solidFill>
              <a:srgbClr val="D48A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55080" y="3895344"/>
            <a:ext cx="457200" cy="438912"/>
          </a:xfrm>
          <a:prstGeom prst="rect">
            <a:avLst/>
          </a:prstGeom>
          <a:noFill/>
        </p:spPr>
        <p:txBody>
          <a:bodyPr wrap="square" lIns="0" tIns="0" rIns="0" bIns="0" anchor="ctr">
            <a:spAutoFit/>
          </a:bodyPr>
          <a:lstStyle/>
          <a:p>
            <a:pPr algn="ctr">
              <a:lnSpc>
                <a:spcPct val="100000"/>
              </a:lnSpc>
              <a:spcAft>
                <a:spcPts val="0"/>
              </a:spcAft>
            </a:pPr>
            <a:r>
              <a:rPr sz="850" b="1" i="0">
                <a:solidFill>
                  <a:srgbClr val="FFFCF9"/>
                </a:solidFill>
                <a:latin typeface="Pilat"/>
              </a:rPr>
              <a:t>04</a:t>
            </a:r>
          </a:p>
        </p:txBody>
      </p:sp>
      <p:sp>
        <p:nvSpPr>
          <p:cNvPr id="28" name="TextBox 27"/>
          <p:cNvSpPr txBox="1"/>
          <p:nvPr/>
        </p:nvSpPr>
        <p:spPr>
          <a:xfrm>
            <a:off x="7040880" y="3840480"/>
            <a:ext cx="3931920" cy="246888"/>
          </a:xfrm>
          <a:prstGeom prst="rect">
            <a:avLst/>
          </a:prstGeom>
          <a:noFill/>
        </p:spPr>
        <p:txBody>
          <a:bodyPr wrap="square" lIns="0" tIns="0" rIns="0" bIns="0" anchor="ctr">
            <a:spAutoFit/>
          </a:bodyPr>
          <a:lstStyle/>
          <a:p>
            <a:pPr algn="l">
              <a:lnSpc>
                <a:spcPct val="100000"/>
              </a:lnSpc>
              <a:spcAft>
                <a:spcPts val="0"/>
              </a:spcAft>
            </a:pPr>
            <a:r>
              <a:rPr sz="1400" b="1" i="0">
                <a:solidFill>
                  <a:srgbClr val="000000"/>
                </a:solidFill>
                <a:latin typeface="Pilat Book"/>
              </a:rPr>
              <a:t>Power and footprint cap deployment</a:t>
            </a:r>
          </a:p>
        </p:txBody>
      </p:sp>
      <p:sp>
        <p:nvSpPr>
          <p:cNvPr id="29" name="TextBox 28"/>
          <p:cNvSpPr txBox="1"/>
          <p:nvPr/>
        </p:nvSpPr>
        <p:spPr>
          <a:xfrm>
            <a:off x="7040880" y="4197096"/>
            <a:ext cx="3886200" cy="457200"/>
          </a:xfrm>
          <a:prstGeom prst="rect">
            <a:avLst/>
          </a:prstGeom>
          <a:noFill/>
        </p:spPr>
        <p:txBody>
          <a:bodyPr wrap="square" lIns="0" tIns="0" rIns="0" bIns="0" anchor="t">
            <a:spAutoFit/>
          </a:bodyPr>
          <a:lstStyle/>
          <a:p>
            <a:pPr algn="l">
              <a:lnSpc>
                <a:spcPct val="100000"/>
              </a:lnSpc>
              <a:spcAft>
                <a:spcPts val="0"/>
              </a:spcAft>
            </a:pPr>
            <a:r>
              <a:rPr sz="1000" b="0" i="0">
                <a:solidFill>
                  <a:srgbClr val="686868"/>
                </a:solidFill>
                <a:latin typeface="Pilat"/>
              </a:rPr>
              <a:t>Rack density, cooling, edge envelopes and utilization shape what is economically viable.</a:t>
            </a:r>
          </a:p>
        </p:txBody>
      </p:sp>
      <p:sp>
        <p:nvSpPr>
          <p:cNvPr id="30" name="Rectangle 29"/>
          <p:cNvSpPr/>
          <p:nvPr/>
        </p:nvSpPr>
        <p:spPr>
          <a:xfrm>
            <a:off x="6355080" y="4855464"/>
            <a:ext cx="4617720" cy="32004"/>
          </a:xfrm>
          <a:prstGeom prst="rect">
            <a:avLst/>
          </a:prstGeom>
          <a:solidFill>
            <a:srgbClr val="D48A16"/>
          </a:solidFill>
          <a:ln w="10160">
            <a:solidFill>
              <a:srgbClr val="D48A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92608" y="6492240"/>
            <a:ext cx="914400" cy="137160"/>
          </a:xfrm>
          <a:prstGeom prst="rect">
            <a:avLst/>
          </a:prstGeom>
          <a:noFill/>
        </p:spPr>
        <p:txBody>
          <a:bodyPr wrap="square" lIns="0" tIns="0" rIns="0" bIns="0" anchor="ctr">
            <a:spAutoFit/>
          </a:bodyPr>
          <a:lstStyle/>
          <a:p>
            <a:pPr algn="l">
              <a:lnSpc>
                <a:spcPct val="100000"/>
              </a:lnSpc>
              <a:spcAft>
                <a:spcPts val="0"/>
              </a:spcAft>
            </a:pPr>
            <a:r>
              <a:rPr sz="690" b="0" i="0">
                <a:solidFill>
                  <a:srgbClr val="000000"/>
                </a:solidFill>
                <a:latin typeface="Pilat"/>
              </a:rPr>
              <a:t>[Confidential]</a:t>
            </a:r>
          </a:p>
        </p:txBody>
      </p:sp>
      <p:sp>
        <p:nvSpPr>
          <p:cNvPr id="34" name="TextBox 33"/>
          <p:cNvSpPr txBox="1"/>
          <p:nvPr/>
        </p:nvSpPr>
        <p:spPr>
          <a:xfrm>
            <a:off x="2578608" y="6492240"/>
            <a:ext cx="3246120" cy="137160"/>
          </a:xfrm>
          <a:prstGeom prst="rect">
            <a:avLst/>
          </a:prstGeom>
          <a:noFill/>
        </p:spPr>
        <p:txBody>
          <a:bodyPr wrap="square" lIns="0" tIns="0" rIns="0" bIns="0" anchor="ctr">
            <a:spAutoFit/>
          </a:bodyPr>
          <a:lstStyle/>
          <a:p>
            <a:pPr algn="ctr">
              <a:lnSpc>
                <a:spcPct val="100000"/>
              </a:lnSpc>
              <a:spcAft>
                <a:spcPts val="0"/>
              </a:spcAft>
            </a:pPr>
            <a:r>
              <a:rPr sz="620" b="0" i="0">
                <a:solidFill>
                  <a:srgbClr val="686868"/>
                </a:solidFill>
                <a:latin typeface="Pilat"/>
              </a:rPr>
              <a:t>©2026 SANDISK CORPORATION OR ITS AFFILIATES</a:t>
            </a:r>
          </a:p>
        </p:txBody>
      </p:sp>
      <p:sp>
        <p:nvSpPr>
          <p:cNvPr id="35" name="TextBox 34"/>
          <p:cNvSpPr txBox="1"/>
          <p:nvPr/>
        </p:nvSpPr>
        <p:spPr>
          <a:xfrm>
            <a:off x="5779008" y="6492240"/>
            <a:ext cx="4956048" cy="137160"/>
          </a:xfrm>
          <a:prstGeom prst="rect">
            <a:avLst/>
          </a:prstGeom>
          <a:noFill/>
        </p:spPr>
        <p:txBody>
          <a:bodyPr wrap="square" lIns="0" tIns="0" rIns="0" bIns="0" anchor="ctr">
            <a:spAutoFit/>
          </a:bodyPr>
          <a:lstStyle/>
          <a:p>
            <a:pPr algn="r">
              <a:lnSpc>
                <a:spcPct val="100000"/>
              </a:lnSpc>
              <a:spcAft>
                <a:spcPts val="0"/>
              </a:spcAft>
            </a:pPr>
            <a:r>
              <a:rPr sz="640" b="0" i="0">
                <a:solidFill>
                  <a:srgbClr val="686868"/>
                </a:solidFill>
                <a:latin typeface="Pilat"/>
              </a:rPr>
              <a:t>Illustrative — validate against customer workload and approved product configuration.</a:t>
            </a:r>
          </a:p>
        </p:txBody>
      </p:sp>
      <p:sp>
        <p:nvSpPr>
          <p:cNvPr id="36" name="TextBox 35"/>
          <p:cNvSpPr txBox="1"/>
          <p:nvPr/>
        </p:nvSpPr>
        <p:spPr>
          <a:xfrm>
            <a:off x="11018520" y="6492240"/>
            <a:ext cx="347472" cy="137160"/>
          </a:xfrm>
          <a:prstGeom prst="rect">
            <a:avLst/>
          </a:prstGeom>
          <a:noFill/>
        </p:spPr>
        <p:txBody>
          <a:bodyPr wrap="square" lIns="0" tIns="0" rIns="0" bIns="0" anchor="ctr">
            <a:spAutoFit/>
          </a:bodyPr>
          <a:lstStyle/>
          <a:p>
            <a:pPr algn="r">
              <a:lnSpc>
                <a:spcPct val="100000"/>
              </a:lnSpc>
              <a:spcAft>
                <a:spcPts val="0"/>
              </a:spcAft>
            </a:pPr>
            <a:r>
              <a:rPr sz="700" b="1" i="0">
                <a:solidFill>
                  <a:srgbClr val="686868"/>
                </a:solidFill>
                <a:latin typeface="Pilat"/>
              </a:rPr>
              <a:t>02</a:t>
            </a:r>
          </a:p>
        </p:txBody>
      </p:sp>
      <p:sp>
        <p:nvSpPr>
          <p:cNvPr id="31" name="Shape 3">
            <a:extLst>
              <a:ext uri="{FF2B5EF4-FFF2-40B4-BE49-F238E27FC236}">
                <a16:creationId xmlns:a16="http://schemas.microsoft.com/office/drawing/2014/main" id="{37F5B242-F13A-9E09-01F8-577086B28B00}"/>
              </a:ext>
            </a:extLst>
          </p:cNvPr>
          <p:cNvSpPr/>
          <p:nvPr/>
        </p:nvSpPr>
        <p:spPr>
          <a:xfrm>
            <a:off x="0" y="0"/>
            <a:ext cx="146304" cy="6858000"/>
          </a:xfrm>
          <a:prstGeom prst="rect">
            <a:avLst/>
          </a:prstGeom>
          <a:solidFill>
            <a:schemeClr val="accent2"/>
          </a:solidFill>
          <a:ln w="6350">
            <a:solidFill>
              <a:srgbClr val="00A3A3"/>
            </a:solidFill>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ounded Rectangle 60">
            <a:extLst>
              <a:ext uri="{FF2B5EF4-FFF2-40B4-BE49-F238E27FC236}">
                <a16:creationId xmlns:a16="http://schemas.microsoft.com/office/drawing/2014/main" id="{DE8E196F-2C29-8BE3-A89A-9354A1C21252}"/>
              </a:ext>
            </a:extLst>
          </p:cNvPr>
          <p:cNvSpPr/>
          <p:nvPr/>
        </p:nvSpPr>
        <p:spPr>
          <a:xfrm>
            <a:off x="566928" y="1657795"/>
            <a:ext cx="6711695" cy="4802429"/>
          </a:xfrm>
          <a:prstGeom prst="roundRect">
            <a:avLst/>
          </a:prstGeom>
          <a:solidFill>
            <a:srgbClr val="FFFCF9"/>
          </a:solidFill>
          <a:ln w="10160">
            <a:solidFill>
              <a:srgbClr val="BCB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7789"/>
            <a:ext cx="3931920" cy="130805"/>
          </a:xfrm>
          <a:prstGeom prst="rect">
            <a:avLst/>
          </a:prstGeom>
          <a:noFill/>
        </p:spPr>
        <p:txBody>
          <a:bodyPr wrap="square" lIns="0" tIns="0" rIns="0" bIns="0" anchor="ctr">
            <a:spAutoFit/>
          </a:bodyPr>
          <a:lstStyle/>
          <a:p>
            <a:pPr algn="l">
              <a:lnSpc>
                <a:spcPct val="100000"/>
              </a:lnSpc>
              <a:spcAft>
                <a:spcPts val="0"/>
              </a:spcAft>
            </a:pPr>
            <a:r>
              <a:rPr lang="en-US" sz="850" b="1" dirty="0">
                <a:solidFill>
                  <a:srgbClr val="E10600"/>
                </a:solidFill>
                <a:latin typeface="Pilat"/>
              </a:rPr>
              <a:t>How ATMOS solves the Enterprise AI  serving constraints</a:t>
            </a:r>
            <a:endParaRPr sz="850" b="1" i="0" dirty="0">
              <a:solidFill>
                <a:srgbClr val="E10600"/>
              </a:solidFill>
              <a:latin typeface="Pilat"/>
            </a:endParaRPr>
          </a:p>
        </p:txBody>
      </p:sp>
      <p:sp>
        <p:nvSpPr>
          <p:cNvPr id="4" name="TextBox 3"/>
          <p:cNvSpPr txBox="1"/>
          <p:nvPr/>
        </p:nvSpPr>
        <p:spPr>
          <a:xfrm>
            <a:off x="566928" y="566928"/>
            <a:ext cx="10698480" cy="457200"/>
          </a:xfrm>
          <a:prstGeom prst="rect">
            <a:avLst/>
          </a:prstGeom>
          <a:noFill/>
        </p:spPr>
        <p:txBody>
          <a:bodyPr wrap="square" lIns="64008" tIns="64008" rIns="64008" bIns="64008" anchor="ctr">
            <a:spAutoFit/>
          </a:bodyPr>
          <a:lstStyle/>
          <a:p>
            <a:pPr algn="l">
              <a:lnSpc>
                <a:spcPct val="100000"/>
              </a:lnSpc>
              <a:spcAft>
                <a:spcPts val="0"/>
              </a:spcAft>
            </a:pPr>
            <a:r>
              <a:rPr sz="2600" b="1" i="0">
                <a:solidFill>
                  <a:srgbClr val="000000"/>
                </a:solidFill>
                <a:latin typeface="Pilat Book"/>
              </a:rPr>
              <a:t>A media tier between working memory and conventional storage</a:t>
            </a:r>
          </a:p>
        </p:txBody>
      </p:sp>
      <p:sp>
        <p:nvSpPr>
          <p:cNvPr id="5" name="TextBox 4"/>
          <p:cNvSpPr txBox="1"/>
          <p:nvPr/>
        </p:nvSpPr>
        <p:spPr>
          <a:xfrm>
            <a:off x="566928" y="1069848"/>
            <a:ext cx="10515600" cy="274320"/>
          </a:xfrm>
          <a:prstGeom prst="rect">
            <a:avLst/>
          </a:prstGeom>
          <a:noFill/>
        </p:spPr>
        <p:txBody>
          <a:bodyPr wrap="square" lIns="0" tIns="0" rIns="0" bIns="0" anchor="ctr">
            <a:spAutoFit/>
          </a:bodyPr>
          <a:lstStyle/>
          <a:p>
            <a:pPr algn="l">
              <a:lnSpc>
                <a:spcPct val="100000"/>
              </a:lnSpc>
              <a:spcAft>
                <a:spcPts val="0"/>
              </a:spcAft>
            </a:pPr>
            <a:r>
              <a:rPr sz="1100" b="0" i="0">
                <a:solidFill>
                  <a:srgbClr val="686868"/>
                </a:solidFill>
                <a:latin typeface="Pilat"/>
              </a:rPr>
              <a:t>HBF is intended to bring flash-scale capacity and high bandwidth closer to the accelerator data path.</a:t>
            </a:r>
          </a:p>
        </p:txBody>
      </p:sp>
      <p:sp>
        <p:nvSpPr>
          <p:cNvPr id="6" name="Rectangle 5"/>
          <p:cNvSpPr/>
          <p:nvPr/>
        </p:nvSpPr>
        <p:spPr>
          <a:xfrm>
            <a:off x="566928" y="1472184"/>
            <a:ext cx="11018520" cy="16459"/>
          </a:xfrm>
          <a:prstGeom prst="rect">
            <a:avLst/>
          </a:prstGeom>
          <a:solidFill>
            <a:srgbClr val="BCB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80713" y="1698053"/>
            <a:ext cx="2743200" cy="228600"/>
          </a:xfrm>
          <a:prstGeom prst="rect">
            <a:avLst/>
          </a:prstGeom>
          <a:noFill/>
        </p:spPr>
        <p:txBody>
          <a:bodyPr wrap="square" lIns="0" tIns="0" rIns="0" bIns="0" anchor="ctr">
            <a:spAutoFit/>
          </a:bodyPr>
          <a:lstStyle/>
          <a:p>
            <a:pPr algn="l">
              <a:lnSpc>
                <a:spcPct val="100000"/>
              </a:lnSpc>
              <a:spcAft>
                <a:spcPts val="0"/>
              </a:spcAft>
            </a:pPr>
            <a:r>
              <a:rPr sz="1350" b="1" i="0" dirty="0">
                <a:solidFill>
                  <a:srgbClr val="000000"/>
                </a:solidFill>
                <a:latin typeface="Pilat Book"/>
              </a:rPr>
              <a:t>Memory hierarchy</a:t>
            </a:r>
          </a:p>
        </p:txBody>
      </p:sp>
      <p:sp>
        <p:nvSpPr>
          <p:cNvPr id="8" name="Rectangle 7"/>
          <p:cNvSpPr/>
          <p:nvPr/>
        </p:nvSpPr>
        <p:spPr>
          <a:xfrm>
            <a:off x="2695468" y="2372868"/>
            <a:ext cx="2560320" cy="512064"/>
          </a:xfrm>
          <a:prstGeom prst="rect">
            <a:avLst/>
          </a:prstGeom>
          <a:solidFill>
            <a:srgbClr val="000000"/>
          </a:solidFill>
          <a:ln w="1016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841772" y="2455164"/>
            <a:ext cx="972921" cy="182880"/>
          </a:xfrm>
          <a:prstGeom prst="rect">
            <a:avLst/>
          </a:prstGeom>
          <a:noFill/>
        </p:spPr>
        <p:txBody>
          <a:bodyPr wrap="square" lIns="0" tIns="0" rIns="0" bIns="0" anchor="ctr">
            <a:spAutoFit/>
          </a:bodyPr>
          <a:lstStyle/>
          <a:p>
            <a:pPr algn="l">
              <a:lnSpc>
                <a:spcPct val="100000"/>
              </a:lnSpc>
              <a:spcAft>
                <a:spcPts val="0"/>
              </a:spcAft>
            </a:pPr>
            <a:r>
              <a:rPr sz="1050" b="1" i="0" dirty="0">
                <a:solidFill>
                  <a:srgbClr val="FFFCF9"/>
                </a:solidFill>
                <a:latin typeface="Pilat"/>
              </a:rPr>
              <a:t>SRAM</a:t>
            </a:r>
          </a:p>
        </p:txBody>
      </p:sp>
      <p:sp>
        <p:nvSpPr>
          <p:cNvPr id="10" name="TextBox 9"/>
          <p:cNvSpPr txBox="1"/>
          <p:nvPr/>
        </p:nvSpPr>
        <p:spPr>
          <a:xfrm>
            <a:off x="3668389" y="2455164"/>
            <a:ext cx="1433779" cy="182880"/>
          </a:xfrm>
          <a:prstGeom prst="rect">
            <a:avLst/>
          </a:prstGeom>
          <a:noFill/>
        </p:spPr>
        <p:txBody>
          <a:bodyPr wrap="square" lIns="0" tIns="0" rIns="0" bIns="0" anchor="ctr">
            <a:spAutoFit/>
          </a:bodyPr>
          <a:lstStyle/>
          <a:p>
            <a:pPr algn="r">
              <a:lnSpc>
                <a:spcPct val="100000"/>
              </a:lnSpc>
              <a:spcAft>
                <a:spcPts val="0"/>
              </a:spcAft>
            </a:pPr>
            <a:r>
              <a:rPr sz="900" b="0" i="0">
                <a:solidFill>
                  <a:srgbClr val="FFFCF9"/>
                </a:solidFill>
                <a:latin typeface="Pilat"/>
              </a:rPr>
              <a:t>Active compute state</a:t>
            </a:r>
          </a:p>
        </p:txBody>
      </p:sp>
      <p:sp>
        <p:nvSpPr>
          <p:cNvPr id="11" name="Rectangle 10"/>
          <p:cNvSpPr/>
          <p:nvPr/>
        </p:nvSpPr>
        <p:spPr>
          <a:xfrm>
            <a:off x="2052827" y="2871216"/>
            <a:ext cx="3886200" cy="512064"/>
          </a:xfrm>
          <a:prstGeom prst="rect">
            <a:avLst/>
          </a:prstGeom>
          <a:solidFill>
            <a:srgbClr val="772C22"/>
          </a:solidFill>
          <a:ln w="10160">
            <a:solidFill>
              <a:srgbClr val="772C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199132" y="2953512"/>
            <a:ext cx="1476756" cy="182880"/>
          </a:xfrm>
          <a:prstGeom prst="rect">
            <a:avLst/>
          </a:prstGeom>
          <a:noFill/>
        </p:spPr>
        <p:txBody>
          <a:bodyPr wrap="square" lIns="0" tIns="0" rIns="0" bIns="0" anchor="ctr">
            <a:spAutoFit/>
          </a:bodyPr>
          <a:lstStyle/>
          <a:p>
            <a:pPr algn="l">
              <a:lnSpc>
                <a:spcPct val="100000"/>
              </a:lnSpc>
              <a:spcAft>
                <a:spcPts val="0"/>
              </a:spcAft>
            </a:pPr>
            <a:r>
              <a:rPr sz="1050" b="1" i="0">
                <a:solidFill>
                  <a:srgbClr val="FFFCF9"/>
                </a:solidFill>
                <a:latin typeface="Pilat"/>
              </a:rPr>
              <a:t>LPDDR / HBM</a:t>
            </a:r>
          </a:p>
        </p:txBody>
      </p:sp>
      <p:sp>
        <p:nvSpPr>
          <p:cNvPr id="13" name="TextBox 12"/>
          <p:cNvSpPr txBox="1"/>
          <p:nvPr/>
        </p:nvSpPr>
        <p:spPr>
          <a:xfrm>
            <a:off x="3529583" y="2953512"/>
            <a:ext cx="2176272" cy="182880"/>
          </a:xfrm>
          <a:prstGeom prst="rect">
            <a:avLst/>
          </a:prstGeom>
          <a:noFill/>
        </p:spPr>
        <p:txBody>
          <a:bodyPr wrap="square" lIns="0" tIns="0" rIns="0" bIns="0" anchor="ctr">
            <a:spAutoFit/>
          </a:bodyPr>
          <a:lstStyle/>
          <a:p>
            <a:pPr algn="r">
              <a:lnSpc>
                <a:spcPct val="100000"/>
              </a:lnSpc>
              <a:spcAft>
                <a:spcPts val="0"/>
              </a:spcAft>
            </a:pPr>
            <a:r>
              <a:rPr sz="900" b="0" i="0">
                <a:solidFill>
                  <a:srgbClr val="FFFCF9"/>
                </a:solidFill>
                <a:latin typeface="Pilat"/>
              </a:rPr>
              <a:t>Hot weights + active KV</a:t>
            </a:r>
          </a:p>
        </p:txBody>
      </p:sp>
      <p:sp>
        <p:nvSpPr>
          <p:cNvPr id="14" name="Rectangle 13"/>
          <p:cNvSpPr/>
          <p:nvPr/>
        </p:nvSpPr>
        <p:spPr>
          <a:xfrm>
            <a:off x="1373914" y="3392424"/>
            <a:ext cx="5257800" cy="512064"/>
          </a:xfrm>
          <a:prstGeom prst="rect">
            <a:avLst/>
          </a:prstGeom>
          <a:solidFill>
            <a:srgbClr val="E10600"/>
          </a:solidFill>
          <a:ln w="10160">
            <a:solidFill>
              <a:srgbClr val="E10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20218" y="3474720"/>
            <a:ext cx="1997964" cy="182880"/>
          </a:xfrm>
          <a:prstGeom prst="rect">
            <a:avLst/>
          </a:prstGeom>
          <a:noFill/>
        </p:spPr>
        <p:txBody>
          <a:bodyPr wrap="square" lIns="0" tIns="0" rIns="0" bIns="0" anchor="ctr">
            <a:spAutoFit/>
          </a:bodyPr>
          <a:lstStyle/>
          <a:p>
            <a:pPr algn="l">
              <a:lnSpc>
                <a:spcPct val="100000"/>
              </a:lnSpc>
              <a:spcAft>
                <a:spcPts val="0"/>
              </a:spcAft>
            </a:pPr>
            <a:r>
              <a:rPr sz="1050" b="1" i="0">
                <a:solidFill>
                  <a:srgbClr val="FFFCF9"/>
                </a:solidFill>
                <a:latin typeface="Pilat"/>
              </a:rPr>
              <a:t>HBF</a:t>
            </a:r>
          </a:p>
        </p:txBody>
      </p:sp>
      <p:sp>
        <p:nvSpPr>
          <p:cNvPr id="16" name="TextBox 15"/>
          <p:cNvSpPr txBox="1"/>
          <p:nvPr/>
        </p:nvSpPr>
        <p:spPr>
          <a:xfrm>
            <a:off x="3371878" y="3474720"/>
            <a:ext cx="2944368" cy="182880"/>
          </a:xfrm>
          <a:prstGeom prst="rect">
            <a:avLst/>
          </a:prstGeom>
          <a:noFill/>
        </p:spPr>
        <p:txBody>
          <a:bodyPr wrap="square" lIns="0" tIns="0" rIns="0" bIns="0" anchor="ctr">
            <a:spAutoFit/>
          </a:bodyPr>
          <a:lstStyle/>
          <a:p>
            <a:pPr algn="r">
              <a:lnSpc>
                <a:spcPct val="100000"/>
              </a:lnSpc>
              <a:spcAft>
                <a:spcPts val="0"/>
              </a:spcAft>
            </a:pPr>
            <a:r>
              <a:rPr sz="900" b="0" i="0">
                <a:solidFill>
                  <a:srgbClr val="FFFCF9"/>
                </a:solidFill>
                <a:latin typeface="Pilat"/>
              </a:rPr>
              <a:t>Model weights + reusable KV</a:t>
            </a:r>
          </a:p>
        </p:txBody>
      </p:sp>
      <p:sp>
        <p:nvSpPr>
          <p:cNvPr id="17" name="Rectangle 16"/>
          <p:cNvSpPr/>
          <p:nvPr/>
        </p:nvSpPr>
        <p:spPr>
          <a:xfrm>
            <a:off x="817473" y="3901757"/>
            <a:ext cx="6436767" cy="512064"/>
          </a:xfrm>
          <a:prstGeom prst="rect">
            <a:avLst/>
          </a:prstGeom>
          <a:solidFill>
            <a:srgbClr val="BCBCBC"/>
          </a:solidFill>
          <a:ln w="10160">
            <a:solidFill>
              <a:srgbClr val="BCB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3777" y="3984053"/>
            <a:ext cx="2467051" cy="182880"/>
          </a:xfrm>
          <a:prstGeom prst="rect">
            <a:avLst/>
          </a:prstGeom>
          <a:noFill/>
        </p:spPr>
        <p:txBody>
          <a:bodyPr wrap="square" lIns="0" tIns="0" rIns="0" bIns="0" anchor="ctr">
            <a:spAutoFit/>
          </a:bodyPr>
          <a:lstStyle/>
          <a:p>
            <a:pPr algn="l">
              <a:lnSpc>
                <a:spcPct val="100000"/>
              </a:lnSpc>
              <a:spcAft>
                <a:spcPts val="0"/>
              </a:spcAft>
            </a:pPr>
            <a:r>
              <a:rPr sz="1050" b="1" i="0">
                <a:solidFill>
                  <a:srgbClr val="FFFCF9"/>
                </a:solidFill>
                <a:latin typeface="Pilat"/>
              </a:rPr>
              <a:t>Host / NVMe</a:t>
            </a:r>
          </a:p>
        </p:txBody>
      </p:sp>
      <p:sp>
        <p:nvSpPr>
          <p:cNvPr id="19" name="TextBox 18"/>
          <p:cNvSpPr txBox="1"/>
          <p:nvPr/>
        </p:nvSpPr>
        <p:spPr>
          <a:xfrm>
            <a:off x="3284524" y="3984053"/>
            <a:ext cx="3635654" cy="182880"/>
          </a:xfrm>
          <a:prstGeom prst="rect">
            <a:avLst/>
          </a:prstGeom>
          <a:noFill/>
        </p:spPr>
        <p:txBody>
          <a:bodyPr wrap="square" lIns="0" tIns="0" rIns="0" bIns="0" anchor="ctr">
            <a:spAutoFit/>
          </a:bodyPr>
          <a:lstStyle/>
          <a:p>
            <a:pPr algn="r">
              <a:lnSpc>
                <a:spcPct val="100000"/>
              </a:lnSpc>
              <a:spcAft>
                <a:spcPts val="0"/>
              </a:spcAft>
            </a:pPr>
            <a:r>
              <a:rPr sz="900" b="0" i="0">
                <a:solidFill>
                  <a:srgbClr val="FFFCF9"/>
                </a:solidFill>
                <a:latin typeface="Pilat"/>
              </a:rPr>
              <a:t>Repository + cold assets</a:t>
            </a:r>
          </a:p>
        </p:txBody>
      </p:sp>
      <p:sp>
        <p:nvSpPr>
          <p:cNvPr id="20" name="Rounded Rectangle 19"/>
          <p:cNvSpPr/>
          <p:nvPr/>
        </p:nvSpPr>
        <p:spPr>
          <a:xfrm>
            <a:off x="7397496" y="1545335"/>
            <a:ext cx="4187952" cy="4802429"/>
          </a:xfrm>
          <a:prstGeom prst="roundRect">
            <a:avLst/>
          </a:prstGeom>
          <a:solidFill>
            <a:srgbClr val="FFFCF9"/>
          </a:solidFill>
          <a:ln w="10160">
            <a:solidFill>
              <a:srgbClr val="BCB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654190" y="1588037"/>
            <a:ext cx="1901952" cy="256032"/>
          </a:xfrm>
          <a:prstGeom prst="roundRect">
            <a:avLst/>
          </a:prstGeom>
          <a:solidFill>
            <a:srgbClr val="FBE9E6"/>
          </a:solidFill>
          <a:ln w="10160">
            <a:solidFill>
              <a:srgbClr val="FBE9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50224" y="1675974"/>
            <a:ext cx="1755648" cy="182880"/>
          </a:xfrm>
          <a:prstGeom prst="rect">
            <a:avLst/>
          </a:prstGeom>
          <a:noFill/>
        </p:spPr>
        <p:txBody>
          <a:bodyPr wrap="square" lIns="0" tIns="0" rIns="0" bIns="0" anchor="ctr">
            <a:spAutoFit/>
          </a:bodyPr>
          <a:lstStyle/>
          <a:p>
            <a:pPr algn="ctr">
              <a:lnSpc>
                <a:spcPct val="100000"/>
              </a:lnSpc>
              <a:spcAft>
                <a:spcPts val="0"/>
              </a:spcAft>
            </a:pPr>
            <a:r>
              <a:rPr sz="750" b="1" i="0" dirty="0">
                <a:solidFill>
                  <a:srgbClr val="772C22"/>
                </a:solidFill>
                <a:latin typeface="Pilat"/>
              </a:rPr>
              <a:t>ATMOS CARD CONCEPT</a:t>
            </a:r>
          </a:p>
        </p:txBody>
      </p:sp>
      <p:sp>
        <p:nvSpPr>
          <p:cNvPr id="23" name="Rounded Rectangle 22"/>
          <p:cNvSpPr/>
          <p:nvPr/>
        </p:nvSpPr>
        <p:spPr>
          <a:xfrm>
            <a:off x="7735824" y="2071986"/>
            <a:ext cx="1307592" cy="2057400"/>
          </a:xfrm>
          <a:prstGeom prst="roundRect">
            <a:avLst/>
          </a:prstGeom>
          <a:solidFill>
            <a:srgbClr val="E10600"/>
          </a:solidFill>
          <a:ln w="10160">
            <a:solidFill>
              <a:srgbClr val="E10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35824" y="2702922"/>
            <a:ext cx="1307592" cy="566928"/>
          </a:xfrm>
          <a:prstGeom prst="rect">
            <a:avLst/>
          </a:prstGeom>
          <a:noFill/>
        </p:spPr>
        <p:txBody>
          <a:bodyPr wrap="square" lIns="0" tIns="0" rIns="0" bIns="0" anchor="ctr">
            <a:spAutoFit/>
          </a:bodyPr>
          <a:lstStyle/>
          <a:p>
            <a:pPr algn="ctr">
              <a:lnSpc>
                <a:spcPct val="100000"/>
              </a:lnSpc>
              <a:spcAft>
                <a:spcPts val="0"/>
              </a:spcAft>
            </a:pPr>
            <a:r>
              <a:rPr sz="1600" b="1" i="0">
                <a:solidFill>
                  <a:srgbClr val="FFFCF9"/>
                </a:solidFill>
                <a:latin typeface="Pilat Book"/>
              </a:rPr>
              <a:t>HBF</a:t>
            </a:r>
            <a:br/>
            <a:r>
              <a:rPr sz="1600" b="1" i="0">
                <a:solidFill>
                  <a:srgbClr val="FFFCF9"/>
                </a:solidFill>
                <a:latin typeface="Pilat Book"/>
              </a:rPr>
              <a:t>MEDIA</a:t>
            </a:r>
          </a:p>
        </p:txBody>
      </p:sp>
      <p:sp>
        <p:nvSpPr>
          <p:cNvPr id="25" name="Rounded Rectangle 24"/>
          <p:cNvSpPr/>
          <p:nvPr/>
        </p:nvSpPr>
        <p:spPr>
          <a:xfrm>
            <a:off x="9354312" y="2071986"/>
            <a:ext cx="749808" cy="2057400"/>
          </a:xfrm>
          <a:prstGeom prst="roundRect">
            <a:avLst/>
          </a:prstGeom>
          <a:solidFill>
            <a:srgbClr val="F2E7E4"/>
          </a:solidFill>
          <a:ln w="10160">
            <a:solidFill>
              <a:srgbClr val="772C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354312" y="2702922"/>
            <a:ext cx="749808" cy="566928"/>
          </a:xfrm>
          <a:prstGeom prst="rect">
            <a:avLst/>
          </a:prstGeom>
          <a:noFill/>
        </p:spPr>
        <p:txBody>
          <a:bodyPr wrap="square" lIns="0" tIns="0" rIns="0" bIns="0" anchor="ctr">
            <a:spAutoFit/>
          </a:bodyPr>
          <a:lstStyle/>
          <a:p>
            <a:pPr algn="ctr">
              <a:lnSpc>
                <a:spcPct val="100000"/>
              </a:lnSpc>
              <a:spcAft>
                <a:spcPts val="0"/>
              </a:spcAft>
            </a:pPr>
            <a:r>
              <a:rPr sz="950" b="1" i="0">
                <a:solidFill>
                  <a:srgbClr val="772C22"/>
                </a:solidFill>
                <a:latin typeface="Pilat"/>
              </a:rPr>
              <a:t>MEMORY</a:t>
            </a:r>
            <a:br/>
            <a:r>
              <a:rPr sz="950" b="1" i="0">
                <a:solidFill>
                  <a:srgbClr val="772C22"/>
                </a:solidFill>
                <a:latin typeface="Pilat"/>
              </a:rPr>
              <a:t>FABRIC</a:t>
            </a:r>
          </a:p>
        </p:txBody>
      </p:sp>
      <p:sp>
        <p:nvSpPr>
          <p:cNvPr id="27" name="Rounded Rectangle 26"/>
          <p:cNvSpPr/>
          <p:nvPr/>
        </p:nvSpPr>
        <p:spPr>
          <a:xfrm>
            <a:off x="10405872" y="2071986"/>
            <a:ext cx="841248" cy="877824"/>
          </a:xfrm>
          <a:prstGeom prst="roundRect">
            <a:avLst/>
          </a:prstGeom>
          <a:solidFill>
            <a:srgbClr val="000000"/>
          </a:solidFill>
          <a:ln w="1016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405872" y="2355450"/>
            <a:ext cx="841248" cy="228600"/>
          </a:xfrm>
          <a:prstGeom prst="rect">
            <a:avLst/>
          </a:prstGeom>
          <a:noFill/>
        </p:spPr>
        <p:txBody>
          <a:bodyPr wrap="square" lIns="0" tIns="0" rIns="0" bIns="0" anchor="ctr">
            <a:spAutoFit/>
          </a:bodyPr>
          <a:lstStyle/>
          <a:p>
            <a:pPr algn="ctr">
              <a:lnSpc>
                <a:spcPct val="100000"/>
              </a:lnSpc>
              <a:spcAft>
                <a:spcPts val="0"/>
              </a:spcAft>
            </a:pPr>
            <a:r>
              <a:rPr sz="1200" b="1" i="0">
                <a:solidFill>
                  <a:srgbClr val="FFFCF9"/>
                </a:solidFill>
                <a:latin typeface="Pilat"/>
              </a:rPr>
              <a:t>NPU</a:t>
            </a:r>
          </a:p>
        </p:txBody>
      </p:sp>
      <p:sp>
        <p:nvSpPr>
          <p:cNvPr id="29" name="Rounded Rectangle 28"/>
          <p:cNvSpPr/>
          <p:nvPr/>
        </p:nvSpPr>
        <p:spPr>
          <a:xfrm>
            <a:off x="10405872" y="3251562"/>
            <a:ext cx="841248" cy="877824"/>
          </a:xfrm>
          <a:prstGeom prst="roundRect">
            <a:avLst/>
          </a:prstGeom>
          <a:solidFill>
            <a:srgbClr val="772C22"/>
          </a:solidFill>
          <a:ln w="10160">
            <a:solidFill>
              <a:srgbClr val="772C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405872" y="3535026"/>
            <a:ext cx="841248" cy="228600"/>
          </a:xfrm>
          <a:prstGeom prst="rect">
            <a:avLst/>
          </a:prstGeom>
          <a:noFill/>
        </p:spPr>
        <p:txBody>
          <a:bodyPr wrap="square" lIns="0" tIns="0" rIns="0" bIns="0" anchor="ctr">
            <a:spAutoFit/>
          </a:bodyPr>
          <a:lstStyle/>
          <a:p>
            <a:pPr algn="ctr">
              <a:lnSpc>
                <a:spcPct val="100000"/>
              </a:lnSpc>
              <a:spcAft>
                <a:spcPts val="0"/>
              </a:spcAft>
            </a:pPr>
            <a:r>
              <a:rPr sz="1000" b="1" i="0">
                <a:solidFill>
                  <a:srgbClr val="FFFCF9"/>
                </a:solidFill>
                <a:latin typeface="Pilat"/>
              </a:rPr>
              <a:t>LPDDR</a:t>
            </a:r>
          </a:p>
        </p:txBody>
      </p:sp>
      <p:sp>
        <p:nvSpPr>
          <p:cNvPr id="31" name="Chevron 30"/>
          <p:cNvSpPr/>
          <p:nvPr/>
        </p:nvSpPr>
        <p:spPr>
          <a:xfrm>
            <a:off x="9043416" y="2858370"/>
            <a:ext cx="310896" cy="237744"/>
          </a:xfrm>
          <a:prstGeom prst="chevron">
            <a:avLst/>
          </a:prstGeom>
          <a:solidFill>
            <a:srgbClr val="E10600"/>
          </a:solidFill>
          <a:ln>
            <a:solidFill>
              <a:srgbClr val="E10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Chevron 31"/>
          <p:cNvSpPr/>
          <p:nvPr/>
        </p:nvSpPr>
        <p:spPr>
          <a:xfrm>
            <a:off x="10104120" y="2501754"/>
            <a:ext cx="301752" cy="237744"/>
          </a:xfrm>
          <a:prstGeom prst="chevron">
            <a:avLst/>
          </a:prstGeom>
          <a:solidFill>
            <a:srgbClr val="E10600"/>
          </a:solidFill>
          <a:ln>
            <a:solidFill>
              <a:srgbClr val="E10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Chevron 32"/>
          <p:cNvSpPr/>
          <p:nvPr/>
        </p:nvSpPr>
        <p:spPr>
          <a:xfrm>
            <a:off x="10104120" y="3681329"/>
            <a:ext cx="301752" cy="237744"/>
          </a:xfrm>
          <a:prstGeom prst="chevron">
            <a:avLst/>
          </a:prstGeom>
          <a:solidFill>
            <a:srgbClr val="E10600"/>
          </a:solidFill>
          <a:ln>
            <a:solidFill>
              <a:srgbClr val="E10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92608" y="6492240"/>
            <a:ext cx="914400" cy="137160"/>
          </a:xfrm>
          <a:prstGeom prst="rect">
            <a:avLst/>
          </a:prstGeom>
          <a:noFill/>
        </p:spPr>
        <p:txBody>
          <a:bodyPr wrap="square" lIns="0" tIns="0" rIns="0" bIns="0" anchor="ctr">
            <a:spAutoFit/>
          </a:bodyPr>
          <a:lstStyle/>
          <a:p>
            <a:pPr algn="l">
              <a:lnSpc>
                <a:spcPct val="100000"/>
              </a:lnSpc>
              <a:spcAft>
                <a:spcPts val="0"/>
              </a:spcAft>
            </a:pPr>
            <a:r>
              <a:rPr sz="690" b="0" i="0">
                <a:solidFill>
                  <a:srgbClr val="000000"/>
                </a:solidFill>
                <a:latin typeface="Pilat"/>
              </a:rPr>
              <a:t>[Confidential]</a:t>
            </a:r>
          </a:p>
        </p:txBody>
      </p:sp>
      <p:sp>
        <p:nvSpPr>
          <p:cNvPr id="40" name="TextBox 39"/>
          <p:cNvSpPr txBox="1"/>
          <p:nvPr/>
        </p:nvSpPr>
        <p:spPr>
          <a:xfrm>
            <a:off x="2578608" y="6492240"/>
            <a:ext cx="3246120" cy="137160"/>
          </a:xfrm>
          <a:prstGeom prst="rect">
            <a:avLst/>
          </a:prstGeom>
          <a:noFill/>
        </p:spPr>
        <p:txBody>
          <a:bodyPr wrap="square" lIns="0" tIns="0" rIns="0" bIns="0" anchor="ctr">
            <a:spAutoFit/>
          </a:bodyPr>
          <a:lstStyle/>
          <a:p>
            <a:pPr algn="ctr">
              <a:lnSpc>
                <a:spcPct val="100000"/>
              </a:lnSpc>
              <a:spcAft>
                <a:spcPts val="0"/>
              </a:spcAft>
            </a:pPr>
            <a:r>
              <a:rPr sz="620" b="0" i="0">
                <a:solidFill>
                  <a:srgbClr val="686868"/>
                </a:solidFill>
                <a:latin typeface="Pilat"/>
              </a:rPr>
              <a:t>©2026 SANDISK CORPORATION OR ITS AFFILIATES</a:t>
            </a:r>
          </a:p>
        </p:txBody>
      </p:sp>
      <p:sp>
        <p:nvSpPr>
          <p:cNvPr id="41" name="TextBox 40"/>
          <p:cNvSpPr txBox="1"/>
          <p:nvPr/>
        </p:nvSpPr>
        <p:spPr>
          <a:xfrm>
            <a:off x="5779008" y="6492240"/>
            <a:ext cx="4956048" cy="137160"/>
          </a:xfrm>
          <a:prstGeom prst="rect">
            <a:avLst/>
          </a:prstGeom>
          <a:noFill/>
        </p:spPr>
        <p:txBody>
          <a:bodyPr wrap="square" lIns="0" tIns="0" rIns="0" bIns="0" anchor="ctr">
            <a:spAutoFit/>
          </a:bodyPr>
          <a:lstStyle/>
          <a:p>
            <a:pPr algn="r">
              <a:lnSpc>
                <a:spcPct val="100000"/>
              </a:lnSpc>
              <a:spcAft>
                <a:spcPts val="0"/>
              </a:spcAft>
            </a:pPr>
            <a:r>
              <a:rPr sz="640" b="0" i="0">
                <a:solidFill>
                  <a:srgbClr val="686868"/>
                </a:solidFill>
                <a:latin typeface="Pilat"/>
              </a:rPr>
              <a:t>Illustrative — validate against customer workload and approved product configuration.</a:t>
            </a:r>
          </a:p>
        </p:txBody>
      </p:sp>
      <p:sp>
        <p:nvSpPr>
          <p:cNvPr id="42" name="TextBox 41"/>
          <p:cNvSpPr txBox="1"/>
          <p:nvPr/>
        </p:nvSpPr>
        <p:spPr>
          <a:xfrm>
            <a:off x="11018520" y="6492240"/>
            <a:ext cx="347472" cy="137160"/>
          </a:xfrm>
          <a:prstGeom prst="rect">
            <a:avLst/>
          </a:prstGeom>
          <a:noFill/>
        </p:spPr>
        <p:txBody>
          <a:bodyPr wrap="square" lIns="0" tIns="0" rIns="0" bIns="0" anchor="ctr">
            <a:spAutoFit/>
          </a:bodyPr>
          <a:lstStyle/>
          <a:p>
            <a:pPr algn="r">
              <a:lnSpc>
                <a:spcPct val="100000"/>
              </a:lnSpc>
              <a:spcAft>
                <a:spcPts val="0"/>
              </a:spcAft>
            </a:pPr>
            <a:r>
              <a:rPr sz="700" b="1" i="0">
                <a:solidFill>
                  <a:srgbClr val="686868"/>
                </a:solidFill>
                <a:latin typeface="Pilat"/>
              </a:rPr>
              <a:t>03</a:t>
            </a:r>
          </a:p>
        </p:txBody>
      </p:sp>
      <p:sp>
        <p:nvSpPr>
          <p:cNvPr id="44" name="Rounded Rectangle 43">
            <a:extLst>
              <a:ext uri="{FF2B5EF4-FFF2-40B4-BE49-F238E27FC236}">
                <a16:creationId xmlns:a16="http://schemas.microsoft.com/office/drawing/2014/main" id="{A8B4F7F4-2F90-FD92-92F8-5DD077ADC8F3}"/>
              </a:ext>
            </a:extLst>
          </p:cNvPr>
          <p:cNvSpPr/>
          <p:nvPr/>
        </p:nvSpPr>
        <p:spPr>
          <a:xfrm>
            <a:off x="7648041" y="4359241"/>
            <a:ext cx="1609344" cy="667512"/>
          </a:xfrm>
          <a:prstGeom prst="roundRect">
            <a:avLst/>
          </a:prstGeom>
          <a:solidFill>
            <a:srgbClr val="FFFCF9"/>
          </a:solidFill>
          <a:ln w="10160">
            <a:solidFill>
              <a:srgbClr val="EE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a:extLst>
              <a:ext uri="{FF2B5EF4-FFF2-40B4-BE49-F238E27FC236}">
                <a16:creationId xmlns:a16="http://schemas.microsoft.com/office/drawing/2014/main" id="{F6FC8F3B-CD0D-748A-C852-4405DC465A15}"/>
              </a:ext>
            </a:extLst>
          </p:cNvPr>
          <p:cNvSpPr/>
          <p:nvPr/>
        </p:nvSpPr>
        <p:spPr>
          <a:xfrm>
            <a:off x="7648041" y="4359241"/>
            <a:ext cx="64008" cy="667512"/>
          </a:xfrm>
          <a:prstGeom prst="rect">
            <a:avLst/>
          </a:prstGeom>
          <a:solidFill>
            <a:srgbClr val="E10600"/>
          </a:solidFill>
          <a:ln w="10160">
            <a:solidFill>
              <a:srgbClr val="E10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a:extLst>
              <a:ext uri="{FF2B5EF4-FFF2-40B4-BE49-F238E27FC236}">
                <a16:creationId xmlns:a16="http://schemas.microsoft.com/office/drawing/2014/main" id="{B032F59C-ADD9-20F1-F81C-BA2513832023}"/>
              </a:ext>
            </a:extLst>
          </p:cNvPr>
          <p:cNvSpPr txBox="1"/>
          <p:nvPr/>
        </p:nvSpPr>
        <p:spPr>
          <a:xfrm>
            <a:off x="7830921" y="4490936"/>
            <a:ext cx="1409839" cy="184666"/>
          </a:xfrm>
          <a:prstGeom prst="rect">
            <a:avLst/>
          </a:prstGeom>
          <a:noFill/>
        </p:spPr>
        <p:txBody>
          <a:bodyPr wrap="square" lIns="0" tIns="0" rIns="0" bIns="0" anchor="ctr">
            <a:spAutoFit/>
          </a:bodyPr>
          <a:lstStyle/>
          <a:p>
            <a:pPr algn="l">
              <a:lnSpc>
                <a:spcPct val="100000"/>
              </a:lnSpc>
              <a:spcAft>
                <a:spcPts val="0"/>
              </a:spcAft>
            </a:pPr>
            <a:r>
              <a:rPr sz="1200" b="1" i="0">
                <a:solidFill>
                  <a:srgbClr val="000000"/>
                </a:solidFill>
                <a:latin typeface="Pilat Book"/>
              </a:rPr>
              <a:t>Up to 1 TB</a:t>
            </a:r>
          </a:p>
        </p:txBody>
      </p:sp>
      <p:sp>
        <p:nvSpPr>
          <p:cNvPr id="47" name="TextBox 46">
            <a:extLst>
              <a:ext uri="{FF2B5EF4-FFF2-40B4-BE49-F238E27FC236}">
                <a16:creationId xmlns:a16="http://schemas.microsoft.com/office/drawing/2014/main" id="{64B4A9DF-AD72-351D-080B-816AF42D3181}"/>
              </a:ext>
            </a:extLst>
          </p:cNvPr>
          <p:cNvSpPr txBox="1"/>
          <p:nvPr/>
        </p:nvSpPr>
        <p:spPr>
          <a:xfrm>
            <a:off x="7830921" y="4762555"/>
            <a:ext cx="1409839" cy="126060"/>
          </a:xfrm>
          <a:prstGeom prst="rect">
            <a:avLst/>
          </a:prstGeom>
          <a:noFill/>
        </p:spPr>
        <p:txBody>
          <a:bodyPr wrap="square" lIns="0" tIns="0" rIns="0" bIns="0" anchor="ctr">
            <a:spAutoFit/>
          </a:bodyPr>
          <a:lstStyle/>
          <a:p>
            <a:pPr algn="l">
              <a:lnSpc>
                <a:spcPct val="100000"/>
              </a:lnSpc>
              <a:spcAft>
                <a:spcPts val="0"/>
              </a:spcAft>
            </a:pPr>
            <a:r>
              <a:rPr sz="819" b="0" i="0">
                <a:solidFill>
                  <a:srgbClr val="686868"/>
                </a:solidFill>
                <a:latin typeface="Pilat"/>
              </a:rPr>
              <a:t>HBF capacity direction</a:t>
            </a:r>
          </a:p>
        </p:txBody>
      </p:sp>
      <p:sp>
        <p:nvSpPr>
          <p:cNvPr id="48" name="Rounded Rectangle 47">
            <a:extLst>
              <a:ext uri="{FF2B5EF4-FFF2-40B4-BE49-F238E27FC236}">
                <a16:creationId xmlns:a16="http://schemas.microsoft.com/office/drawing/2014/main" id="{ABC14FEB-053E-8929-CCDF-77E667E2FD67}"/>
              </a:ext>
            </a:extLst>
          </p:cNvPr>
          <p:cNvSpPr/>
          <p:nvPr/>
        </p:nvSpPr>
        <p:spPr>
          <a:xfrm>
            <a:off x="9732873" y="4359241"/>
            <a:ext cx="1709319" cy="667512"/>
          </a:xfrm>
          <a:prstGeom prst="roundRect">
            <a:avLst/>
          </a:prstGeom>
          <a:solidFill>
            <a:srgbClr val="FFFCF9"/>
          </a:solidFill>
          <a:ln w="10160">
            <a:solidFill>
              <a:srgbClr val="EE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a:extLst>
              <a:ext uri="{FF2B5EF4-FFF2-40B4-BE49-F238E27FC236}">
                <a16:creationId xmlns:a16="http://schemas.microsoft.com/office/drawing/2014/main" id="{3D90C6BA-9ECA-A682-5FCA-D147E7BAD292}"/>
              </a:ext>
            </a:extLst>
          </p:cNvPr>
          <p:cNvSpPr/>
          <p:nvPr/>
        </p:nvSpPr>
        <p:spPr>
          <a:xfrm>
            <a:off x="9732873" y="4359241"/>
            <a:ext cx="64008" cy="667512"/>
          </a:xfrm>
          <a:prstGeom prst="rect">
            <a:avLst/>
          </a:prstGeom>
          <a:solidFill>
            <a:srgbClr val="E10600"/>
          </a:solidFill>
          <a:ln w="10160">
            <a:solidFill>
              <a:srgbClr val="E10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a:extLst>
              <a:ext uri="{FF2B5EF4-FFF2-40B4-BE49-F238E27FC236}">
                <a16:creationId xmlns:a16="http://schemas.microsoft.com/office/drawing/2014/main" id="{F8CE5096-6538-8762-1EFB-DBE3651B65EA}"/>
              </a:ext>
            </a:extLst>
          </p:cNvPr>
          <p:cNvSpPr txBox="1"/>
          <p:nvPr/>
        </p:nvSpPr>
        <p:spPr>
          <a:xfrm>
            <a:off x="9915753" y="4468969"/>
            <a:ext cx="1938528" cy="228600"/>
          </a:xfrm>
          <a:prstGeom prst="rect">
            <a:avLst/>
          </a:prstGeom>
          <a:noFill/>
        </p:spPr>
        <p:txBody>
          <a:bodyPr wrap="square" lIns="0" tIns="0" rIns="0" bIns="0" anchor="ctr">
            <a:spAutoFit/>
          </a:bodyPr>
          <a:lstStyle/>
          <a:p>
            <a:pPr algn="l">
              <a:lnSpc>
                <a:spcPct val="100000"/>
              </a:lnSpc>
              <a:spcAft>
                <a:spcPts val="0"/>
              </a:spcAft>
            </a:pPr>
            <a:r>
              <a:rPr sz="1200" b="1" i="0">
                <a:solidFill>
                  <a:srgbClr val="000000"/>
                </a:solidFill>
                <a:latin typeface="Pilat Book"/>
              </a:rPr>
              <a:t>Up to 128 GB</a:t>
            </a:r>
          </a:p>
        </p:txBody>
      </p:sp>
      <p:sp>
        <p:nvSpPr>
          <p:cNvPr id="51" name="TextBox 50">
            <a:extLst>
              <a:ext uri="{FF2B5EF4-FFF2-40B4-BE49-F238E27FC236}">
                <a16:creationId xmlns:a16="http://schemas.microsoft.com/office/drawing/2014/main" id="{84AA8D68-419C-7193-944C-7A3E70A6AC5E}"/>
              </a:ext>
            </a:extLst>
          </p:cNvPr>
          <p:cNvSpPr txBox="1"/>
          <p:nvPr/>
        </p:nvSpPr>
        <p:spPr>
          <a:xfrm>
            <a:off x="9915753" y="4752433"/>
            <a:ext cx="1938528" cy="146304"/>
          </a:xfrm>
          <a:prstGeom prst="rect">
            <a:avLst/>
          </a:prstGeom>
          <a:noFill/>
        </p:spPr>
        <p:txBody>
          <a:bodyPr wrap="square" lIns="0" tIns="0" rIns="0" bIns="0" anchor="ctr">
            <a:spAutoFit/>
          </a:bodyPr>
          <a:lstStyle/>
          <a:p>
            <a:pPr algn="l">
              <a:lnSpc>
                <a:spcPct val="100000"/>
              </a:lnSpc>
              <a:spcAft>
                <a:spcPts val="0"/>
              </a:spcAft>
            </a:pPr>
            <a:r>
              <a:rPr sz="819" b="0" i="0">
                <a:solidFill>
                  <a:srgbClr val="686868"/>
                </a:solidFill>
                <a:latin typeface="Pilat"/>
              </a:rPr>
              <a:t>LPDDR working-memory direction</a:t>
            </a:r>
          </a:p>
        </p:txBody>
      </p:sp>
      <p:sp>
        <p:nvSpPr>
          <p:cNvPr id="52" name="Rounded Rectangle 51">
            <a:extLst>
              <a:ext uri="{FF2B5EF4-FFF2-40B4-BE49-F238E27FC236}">
                <a16:creationId xmlns:a16="http://schemas.microsoft.com/office/drawing/2014/main" id="{47F8E199-4676-7505-1630-B1CB78E2C11C}"/>
              </a:ext>
            </a:extLst>
          </p:cNvPr>
          <p:cNvSpPr/>
          <p:nvPr/>
        </p:nvSpPr>
        <p:spPr>
          <a:xfrm>
            <a:off x="7648041" y="5392513"/>
            <a:ext cx="1569111" cy="667512"/>
          </a:xfrm>
          <a:prstGeom prst="roundRect">
            <a:avLst/>
          </a:prstGeom>
          <a:solidFill>
            <a:srgbClr val="FFFCF9"/>
          </a:solidFill>
          <a:ln w="10160">
            <a:solidFill>
              <a:srgbClr val="EE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a:extLst>
              <a:ext uri="{FF2B5EF4-FFF2-40B4-BE49-F238E27FC236}">
                <a16:creationId xmlns:a16="http://schemas.microsoft.com/office/drawing/2014/main" id="{1086BCD4-F2FC-326E-F5C4-49A6FBAD82BA}"/>
              </a:ext>
            </a:extLst>
          </p:cNvPr>
          <p:cNvSpPr/>
          <p:nvPr/>
        </p:nvSpPr>
        <p:spPr>
          <a:xfrm>
            <a:off x="7648041" y="5392513"/>
            <a:ext cx="64008" cy="667512"/>
          </a:xfrm>
          <a:prstGeom prst="rect">
            <a:avLst/>
          </a:prstGeom>
          <a:solidFill>
            <a:srgbClr val="772C22"/>
          </a:solidFill>
          <a:ln w="10160">
            <a:solidFill>
              <a:srgbClr val="772C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a:extLst>
              <a:ext uri="{FF2B5EF4-FFF2-40B4-BE49-F238E27FC236}">
                <a16:creationId xmlns:a16="http://schemas.microsoft.com/office/drawing/2014/main" id="{877992EE-B91D-EE16-E2A2-4FDFA2F31C6F}"/>
              </a:ext>
            </a:extLst>
          </p:cNvPr>
          <p:cNvSpPr txBox="1"/>
          <p:nvPr/>
        </p:nvSpPr>
        <p:spPr>
          <a:xfrm>
            <a:off x="7830921" y="5524208"/>
            <a:ext cx="1374593" cy="184666"/>
          </a:xfrm>
          <a:prstGeom prst="rect">
            <a:avLst/>
          </a:prstGeom>
          <a:noFill/>
        </p:spPr>
        <p:txBody>
          <a:bodyPr wrap="square" lIns="0" tIns="0" rIns="0" bIns="0" anchor="ctr">
            <a:spAutoFit/>
          </a:bodyPr>
          <a:lstStyle/>
          <a:p>
            <a:pPr algn="l">
              <a:lnSpc>
                <a:spcPct val="100000"/>
              </a:lnSpc>
              <a:spcAft>
                <a:spcPts val="0"/>
              </a:spcAft>
            </a:pPr>
            <a:r>
              <a:rPr sz="1200" b="1" i="0">
                <a:solidFill>
                  <a:srgbClr val="000000"/>
                </a:solidFill>
                <a:latin typeface="Pilat Book"/>
              </a:rPr>
              <a:t>Up to 512 TOPS</a:t>
            </a:r>
          </a:p>
        </p:txBody>
      </p:sp>
      <p:sp>
        <p:nvSpPr>
          <p:cNvPr id="55" name="TextBox 54">
            <a:extLst>
              <a:ext uri="{FF2B5EF4-FFF2-40B4-BE49-F238E27FC236}">
                <a16:creationId xmlns:a16="http://schemas.microsoft.com/office/drawing/2014/main" id="{6976A723-87AC-9D8B-309D-D082EEEC6FE4}"/>
              </a:ext>
            </a:extLst>
          </p:cNvPr>
          <p:cNvSpPr txBox="1"/>
          <p:nvPr/>
        </p:nvSpPr>
        <p:spPr>
          <a:xfrm>
            <a:off x="7830921" y="5795827"/>
            <a:ext cx="1374593" cy="126060"/>
          </a:xfrm>
          <a:prstGeom prst="rect">
            <a:avLst/>
          </a:prstGeom>
          <a:noFill/>
        </p:spPr>
        <p:txBody>
          <a:bodyPr wrap="square" lIns="0" tIns="0" rIns="0" bIns="0" anchor="ctr">
            <a:spAutoFit/>
          </a:bodyPr>
          <a:lstStyle/>
          <a:p>
            <a:pPr algn="l">
              <a:lnSpc>
                <a:spcPct val="100000"/>
              </a:lnSpc>
              <a:spcAft>
                <a:spcPts val="0"/>
              </a:spcAft>
            </a:pPr>
            <a:r>
              <a:rPr sz="819" b="0" i="0">
                <a:solidFill>
                  <a:srgbClr val="686868"/>
                </a:solidFill>
                <a:latin typeface="Pilat"/>
              </a:rPr>
              <a:t>INT8 / FP8 compute direction</a:t>
            </a:r>
          </a:p>
        </p:txBody>
      </p:sp>
      <p:sp>
        <p:nvSpPr>
          <p:cNvPr id="56" name="Rounded Rectangle 55">
            <a:extLst>
              <a:ext uri="{FF2B5EF4-FFF2-40B4-BE49-F238E27FC236}">
                <a16:creationId xmlns:a16="http://schemas.microsoft.com/office/drawing/2014/main" id="{7DB177A8-268D-2B77-5448-8E3233C91E7F}"/>
              </a:ext>
            </a:extLst>
          </p:cNvPr>
          <p:cNvSpPr/>
          <p:nvPr/>
        </p:nvSpPr>
        <p:spPr>
          <a:xfrm>
            <a:off x="9732873" y="5402635"/>
            <a:ext cx="1709319" cy="681120"/>
          </a:xfrm>
          <a:prstGeom prst="roundRect">
            <a:avLst/>
          </a:prstGeom>
          <a:solidFill>
            <a:srgbClr val="FFFCF9"/>
          </a:solidFill>
          <a:ln w="10160">
            <a:solidFill>
              <a:srgbClr val="EE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a:extLst>
              <a:ext uri="{FF2B5EF4-FFF2-40B4-BE49-F238E27FC236}">
                <a16:creationId xmlns:a16="http://schemas.microsoft.com/office/drawing/2014/main" id="{B99374C0-3DA9-5876-1AF3-CFEC63E7A3CD}"/>
              </a:ext>
            </a:extLst>
          </p:cNvPr>
          <p:cNvSpPr/>
          <p:nvPr/>
        </p:nvSpPr>
        <p:spPr>
          <a:xfrm>
            <a:off x="9732873" y="5402635"/>
            <a:ext cx="64008" cy="667512"/>
          </a:xfrm>
          <a:prstGeom prst="rect">
            <a:avLst/>
          </a:prstGeom>
          <a:solidFill>
            <a:srgbClr val="772C22"/>
          </a:solidFill>
          <a:ln w="10160">
            <a:solidFill>
              <a:srgbClr val="772C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a:extLst>
              <a:ext uri="{FF2B5EF4-FFF2-40B4-BE49-F238E27FC236}">
                <a16:creationId xmlns:a16="http://schemas.microsoft.com/office/drawing/2014/main" id="{4B5150F6-A9C5-8355-C55D-C6495F425FE8}"/>
              </a:ext>
            </a:extLst>
          </p:cNvPr>
          <p:cNvSpPr txBox="1"/>
          <p:nvPr/>
        </p:nvSpPr>
        <p:spPr>
          <a:xfrm>
            <a:off x="9915753" y="5536660"/>
            <a:ext cx="1497420" cy="184666"/>
          </a:xfrm>
          <a:prstGeom prst="rect">
            <a:avLst/>
          </a:prstGeom>
          <a:noFill/>
        </p:spPr>
        <p:txBody>
          <a:bodyPr wrap="square" lIns="0" tIns="0" rIns="0" bIns="0" anchor="ctr">
            <a:spAutoFit/>
          </a:bodyPr>
          <a:lstStyle/>
          <a:p>
            <a:pPr algn="l">
              <a:lnSpc>
                <a:spcPct val="100000"/>
              </a:lnSpc>
              <a:spcAft>
                <a:spcPts val="0"/>
              </a:spcAft>
            </a:pPr>
            <a:r>
              <a:rPr sz="1200" b="1" i="0">
                <a:solidFill>
                  <a:srgbClr val="000000"/>
                </a:solidFill>
                <a:latin typeface="Pilat Book"/>
              </a:rPr>
              <a:t>&lt;200 W class</a:t>
            </a:r>
          </a:p>
        </p:txBody>
      </p:sp>
      <p:sp>
        <p:nvSpPr>
          <p:cNvPr id="59" name="TextBox 58">
            <a:extLst>
              <a:ext uri="{FF2B5EF4-FFF2-40B4-BE49-F238E27FC236}">
                <a16:creationId xmlns:a16="http://schemas.microsoft.com/office/drawing/2014/main" id="{67FC331D-9401-BF3F-5891-A9B02360B2BB}"/>
              </a:ext>
            </a:extLst>
          </p:cNvPr>
          <p:cNvSpPr txBox="1"/>
          <p:nvPr/>
        </p:nvSpPr>
        <p:spPr>
          <a:xfrm>
            <a:off x="9915753" y="5807439"/>
            <a:ext cx="1497420" cy="126060"/>
          </a:xfrm>
          <a:prstGeom prst="rect">
            <a:avLst/>
          </a:prstGeom>
          <a:noFill/>
        </p:spPr>
        <p:txBody>
          <a:bodyPr wrap="square" lIns="0" tIns="0" rIns="0" bIns="0" anchor="ctr">
            <a:spAutoFit/>
          </a:bodyPr>
          <a:lstStyle/>
          <a:p>
            <a:pPr algn="l">
              <a:lnSpc>
                <a:spcPct val="100000"/>
              </a:lnSpc>
              <a:spcAft>
                <a:spcPts val="0"/>
              </a:spcAft>
            </a:pPr>
            <a:r>
              <a:rPr sz="819" b="0" i="0">
                <a:solidFill>
                  <a:srgbClr val="686868"/>
                </a:solidFill>
                <a:latin typeface="Pilat"/>
              </a:rPr>
              <a:t>Performance-profile direction</a:t>
            </a:r>
          </a:p>
        </p:txBody>
      </p:sp>
      <p:sp>
        <p:nvSpPr>
          <p:cNvPr id="2" name="Shape 3">
            <a:extLst>
              <a:ext uri="{FF2B5EF4-FFF2-40B4-BE49-F238E27FC236}">
                <a16:creationId xmlns:a16="http://schemas.microsoft.com/office/drawing/2014/main" id="{3F7EA1A3-1A18-2837-C01E-A7F4A531B1FC}"/>
              </a:ext>
            </a:extLst>
          </p:cNvPr>
          <p:cNvSpPr/>
          <p:nvPr/>
        </p:nvSpPr>
        <p:spPr>
          <a:xfrm>
            <a:off x="0" y="0"/>
            <a:ext cx="146304" cy="6858000"/>
          </a:xfrm>
          <a:prstGeom prst="rect">
            <a:avLst/>
          </a:prstGeom>
          <a:solidFill>
            <a:schemeClr val="accent2"/>
          </a:solidFill>
          <a:ln w="6350">
            <a:solidFill>
              <a:srgbClr val="00A3A3"/>
            </a:solidFill>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30352" y="301752"/>
            <a:ext cx="9966960" cy="201168"/>
          </a:xfrm>
          <a:prstGeom prst="rect">
            <a:avLst/>
          </a:prstGeom>
          <a:noFill/>
          <a:ln/>
        </p:spPr>
        <p:txBody>
          <a:bodyPr wrap="square" lIns="0" tIns="0" rIns="0" bIns="0" rtlCol="0" anchor="ctr"/>
          <a:lstStyle/>
          <a:p>
            <a:pPr marL="0" indent="0">
              <a:buNone/>
            </a:pPr>
            <a:r>
              <a:rPr lang="en-US" sz="1050" b="1" kern="0" spc="100" dirty="0">
                <a:solidFill>
                  <a:srgbClr val="E10600"/>
                </a:solidFill>
                <a:latin typeface="Aptos" pitchFamily="34" charset="0"/>
                <a:ea typeface="Aptos" pitchFamily="34" charset="-122"/>
                <a:cs typeface="Aptos" pitchFamily="34" charset="-120"/>
              </a:rPr>
              <a:t>WHAT WE ARE BUILDING</a:t>
            </a:r>
            <a:endParaRPr lang="en-US" sz="1050" dirty="0"/>
          </a:p>
        </p:txBody>
      </p:sp>
      <p:sp>
        <p:nvSpPr>
          <p:cNvPr id="3" name="Shape 1"/>
          <p:cNvSpPr/>
          <p:nvPr/>
        </p:nvSpPr>
        <p:spPr>
          <a:xfrm>
            <a:off x="11448288" y="292608"/>
            <a:ext cx="201168" cy="201168"/>
          </a:xfrm>
          <a:prstGeom prst="rect">
            <a:avLst/>
          </a:prstGeom>
          <a:solidFill>
            <a:srgbClr val="E10600"/>
          </a:solidFill>
          <a:ln w="8255">
            <a:solidFill>
              <a:srgbClr val="E10600"/>
            </a:solidFill>
            <a:prstDash val="solid"/>
          </a:ln>
        </p:spPr>
        <p:txBody>
          <a:bodyPr/>
          <a:lstStyle/>
          <a:p>
            <a:endParaRPr lang="en-US"/>
          </a:p>
        </p:txBody>
      </p:sp>
      <p:sp>
        <p:nvSpPr>
          <p:cNvPr id="4" name="Text 2"/>
          <p:cNvSpPr/>
          <p:nvPr/>
        </p:nvSpPr>
        <p:spPr>
          <a:xfrm>
            <a:off x="530352" y="667512"/>
            <a:ext cx="11027664" cy="557784"/>
          </a:xfrm>
          <a:prstGeom prst="rect">
            <a:avLst/>
          </a:prstGeom>
          <a:noFill/>
          <a:ln/>
        </p:spPr>
        <p:txBody>
          <a:bodyPr wrap="square" lIns="0" tIns="0" rIns="0" bIns="0" rtlCol="0" anchor="ctr"/>
          <a:lstStyle/>
          <a:p>
            <a:pPr marL="0" indent="0">
              <a:buNone/>
            </a:pPr>
            <a:r>
              <a:rPr lang="en-US" sz="2900" b="1" dirty="0">
                <a:solidFill>
                  <a:srgbClr val="161616"/>
                </a:solidFill>
                <a:latin typeface="Aptos Display" pitchFamily="34" charset="0"/>
                <a:ea typeface="Aptos Display" pitchFamily="34" charset="-122"/>
                <a:cs typeface="Aptos Display" pitchFamily="34" charset="-120"/>
              </a:rPr>
              <a:t>Eight compute-and-memory modules form one ATMOS card</a:t>
            </a:r>
            <a:endParaRPr lang="en-US" sz="2900" dirty="0"/>
          </a:p>
        </p:txBody>
      </p:sp>
      <p:sp>
        <p:nvSpPr>
          <p:cNvPr id="5" name="Text 3"/>
          <p:cNvSpPr/>
          <p:nvPr/>
        </p:nvSpPr>
        <p:spPr>
          <a:xfrm>
            <a:off x="530352" y="1261872"/>
            <a:ext cx="11045952" cy="365760"/>
          </a:xfrm>
          <a:prstGeom prst="rect">
            <a:avLst/>
          </a:prstGeom>
          <a:noFill/>
          <a:ln/>
        </p:spPr>
        <p:txBody>
          <a:bodyPr wrap="square" lIns="0" tIns="0" rIns="0" bIns="0" rtlCol="0" anchor="ctr"/>
          <a:lstStyle/>
          <a:p>
            <a:pPr marL="0" indent="0">
              <a:buNone/>
            </a:pPr>
            <a:r>
              <a:rPr lang="en-US" sz="1480" dirty="0">
                <a:solidFill>
                  <a:srgbClr val="686868"/>
                </a:solidFill>
                <a:latin typeface="Aptos" pitchFamily="34" charset="0"/>
                <a:ea typeface="Aptos" pitchFamily="34" charset="-122"/>
                <a:cs typeface="Aptos" pitchFamily="34" charset="-120"/>
              </a:rPr>
              <a:t>A high-capacity model tier beside local NPU execution and working memory.</a:t>
            </a:r>
            <a:endParaRPr lang="en-US" sz="1480" dirty="0"/>
          </a:p>
        </p:txBody>
      </p:sp>
      <p:sp>
        <p:nvSpPr>
          <p:cNvPr id="6" name="Shape 4"/>
          <p:cNvSpPr/>
          <p:nvPr/>
        </p:nvSpPr>
        <p:spPr>
          <a:xfrm>
            <a:off x="530352" y="1773936"/>
            <a:ext cx="11100816" cy="0"/>
          </a:xfrm>
          <a:prstGeom prst="line">
            <a:avLst/>
          </a:prstGeom>
          <a:noFill/>
          <a:ln w="12700">
            <a:solidFill>
              <a:srgbClr val="DED8D2"/>
            </a:solidFill>
            <a:prstDash val="solid"/>
          </a:ln>
        </p:spPr>
        <p:txBody>
          <a:bodyPr/>
          <a:lstStyle/>
          <a:p>
            <a:endParaRPr lang="en-US"/>
          </a:p>
        </p:txBody>
      </p:sp>
      <p:sp>
        <p:nvSpPr>
          <p:cNvPr id="7" name="Text 5"/>
          <p:cNvSpPr/>
          <p:nvPr/>
        </p:nvSpPr>
        <p:spPr>
          <a:xfrm>
            <a:off x="530352" y="6556248"/>
            <a:ext cx="777240" cy="128016"/>
          </a:xfrm>
          <a:prstGeom prst="rect">
            <a:avLst/>
          </a:prstGeom>
          <a:noFill/>
          <a:ln/>
        </p:spPr>
        <p:txBody>
          <a:bodyPr wrap="square" lIns="0" tIns="0" rIns="0" bIns="0" rtlCol="0" anchor="ctr"/>
          <a:lstStyle/>
          <a:p>
            <a:pPr marL="0" indent="0">
              <a:buNone/>
            </a:pPr>
            <a:endParaRPr lang="en-US" sz="800" dirty="0"/>
          </a:p>
        </p:txBody>
      </p:sp>
      <p:sp>
        <p:nvSpPr>
          <p:cNvPr id="8" name="Text 6"/>
          <p:cNvSpPr/>
          <p:nvPr/>
        </p:nvSpPr>
        <p:spPr>
          <a:xfrm>
            <a:off x="2103120" y="6556248"/>
            <a:ext cx="3703320" cy="128016"/>
          </a:xfrm>
          <a:prstGeom prst="rect">
            <a:avLst/>
          </a:prstGeom>
          <a:noFill/>
          <a:ln/>
        </p:spPr>
        <p:txBody>
          <a:bodyPr wrap="square" lIns="0" tIns="0" rIns="0" bIns="0" rtlCol="0" anchor="ctr"/>
          <a:lstStyle/>
          <a:p>
            <a:pPr marL="0" indent="0">
              <a:buNone/>
            </a:pPr>
            <a:r>
              <a:rPr lang="en-US" sz="800" dirty="0">
                <a:solidFill>
                  <a:srgbClr val="686868"/>
                </a:solidFill>
                <a:latin typeface="Aptos" pitchFamily="34" charset="0"/>
                <a:ea typeface="Aptos" pitchFamily="34" charset="-122"/>
                <a:cs typeface="Aptos" pitchFamily="34" charset="-120"/>
              </a:rPr>
              <a:t>CONFIDENTIAL  |  ©2026 SANDISK</a:t>
            </a:r>
            <a:endParaRPr lang="en-US" sz="800" dirty="0"/>
          </a:p>
        </p:txBody>
      </p:sp>
      <p:sp>
        <p:nvSpPr>
          <p:cNvPr id="9" name="Text 7"/>
          <p:cNvSpPr/>
          <p:nvPr/>
        </p:nvSpPr>
        <p:spPr>
          <a:xfrm>
            <a:off x="5989320" y="6556248"/>
            <a:ext cx="4910328" cy="128016"/>
          </a:xfrm>
          <a:prstGeom prst="rect">
            <a:avLst/>
          </a:prstGeom>
          <a:noFill/>
          <a:ln/>
        </p:spPr>
        <p:txBody>
          <a:bodyPr wrap="square" lIns="0" tIns="0" rIns="0" bIns="0" rtlCol="0" anchor="ctr"/>
          <a:lstStyle/>
          <a:p>
            <a:pPr marL="0" indent="0" algn="r">
              <a:buNone/>
            </a:pPr>
            <a:r>
              <a:rPr lang="en-US" sz="800" dirty="0">
                <a:solidFill>
                  <a:srgbClr val="686868"/>
                </a:solidFill>
                <a:latin typeface="Aptos" pitchFamily="34" charset="0"/>
                <a:ea typeface="Aptos" pitchFamily="34" charset="-122"/>
                <a:cs typeface="Aptos" pitchFamily="34" charset="-120"/>
              </a:rPr>
              <a:t>SOURCE DESIGN TARGETS</a:t>
            </a:r>
            <a:endParaRPr lang="en-US" sz="800" dirty="0"/>
          </a:p>
        </p:txBody>
      </p:sp>
      <p:sp>
        <p:nvSpPr>
          <p:cNvPr id="10" name="Text 8"/>
          <p:cNvSpPr/>
          <p:nvPr/>
        </p:nvSpPr>
        <p:spPr>
          <a:xfrm>
            <a:off x="11247120" y="6528816"/>
            <a:ext cx="365760" cy="164592"/>
          </a:xfrm>
          <a:prstGeom prst="rect">
            <a:avLst/>
          </a:prstGeom>
          <a:noFill/>
          <a:ln/>
        </p:spPr>
        <p:txBody>
          <a:bodyPr wrap="square" lIns="0" tIns="0" rIns="0" bIns="0" rtlCol="0" anchor="ctr"/>
          <a:lstStyle/>
          <a:p>
            <a:pPr marL="0" indent="0" algn="r">
              <a:buNone/>
            </a:pPr>
            <a:r>
              <a:rPr lang="en-US" sz="900" b="1" dirty="0">
                <a:solidFill>
                  <a:srgbClr val="686868"/>
                </a:solidFill>
                <a:latin typeface="Aptos" pitchFamily="34" charset="0"/>
                <a:ea typeface="Aptos" pitchFamily="34" charset="-122"/>
                <a:cs typeface="Aptos" pitchFamily="34" charset="-120"/>
              </a:rPr>
              <a:t>03</a:t>
            </a:r>
            <a:endParaRPr lang="en-US" sz="900" dirty="0"/>
          </a:p>
        </p:txBody>
      </p:sp>
      <p:sp>
        <p:nvSpPr>
          <p:cNvPr id="11" name="Text 9"/>
          <p:cNvSpPr/>
          <p:nvPr/>
        </p:nvSpPr>
        <p:spPr>
          <a:xfrm>
            <a:off x="548640" y="6432804"/>
            <a:ext cx="7315200" cy="109728"/>
          </a:xfrm>
          <a:prstGeom prst="rect">
            <a:avLst/>
          </a:prstGeom>
          <a:noFill/>
          <a:ln/>
        </p:spPr>
        <p:txBody>
          <a:bodyPr wrap="square" lIns="0" tIns="0" rIns="0" bIns="0" rtlCol="0" anchor="ctr"/>
          <a:lstStyle/>
          <a:p>
            <a:pPr marL="0" indent="0">
              <a:buNone/>
            </a:pPr>
            <a:r>
              <a:rPr lang="en-US" sz="800" dirty="0">
                <a:solidFill>
                  <a:srgbClr val="686868"/>
                </a:solidFill>
                <a:latin typeface="Aptos" pitchFamily="34" charset="0"/>
                <a:ea typeface="Aptos" pitchFamily="34" charset="-122"/>
                <a:cs typeface="Aptos" pitchFamily="34" charset="-120"/>
              </a:rPr>
              <a:t>Sources: I3, I1 · Details in notes</a:t>
            </a:r>
            <a:endParaRPr lang="en-US" sz="800" dirty="0"/>
          </a:p>
        </p:txBody>
      </p:sp>
      <p:sp>
        <p:nvSpPr>
          <p:cNvPr id="12" name="Shape 10"/>
          <p:cNvSpPr/>
          <p:nvPr/>
        </p:nvSpPr>
        <p:spPr>
          <a:xfrm>
            <a:off x="548640" y="2011680"/>
            <a:ext cx="7040880" cy="3520440"/>
          </a:xfrm>
          <a:prstGeom prst="roundRect">
            <a:avLst>
              <a:gd name="adj" fmla="val 3117"/>
            </a:avLst>
          </a:prstGeom>
          <a:solidFill>
            <a:srgbClr val="F4EDEA"/>
          </a:solidFill>
          <a:ln w="8255">
            <a:solidFill>
              <a:srgbClr val="DED8D2"/>
            </a:solidFill>
            <a:prstDash val="solid"/>
          </a:ln>
        </p:spPr>
        <p:txBody>
          <a:bodyPr/>
          <a:lstStyle/>
          <a:p>
            <a:endParaRPr lang="en-US"/>
          </a:p>
        </p:txBody>
      </p:sp>
      <p:sp>
        <p:nvSpPr>
          <p:cNvPr id="13" name="Text 11"/>
          <p:cNvSpPr/>
          <p:nvPr/>
        </p:nvSpPr>
        <p:spPr>
          <a:xfrm>
            <a:off x="768096" y="2203704"/>
            <a:ext cx="5486400" cy="201168"/>
          </a:xfrm>
          <a:prstGeom prst="rect">
            <a:avLst/>
          </a:prstGeom>
          <a:noFill/>
          <a:ln/>
        </p:spPr>
        <p:txBody>
          <a:bodyPr wrap="square" lIns="0" tIns="0" rIns="0" bIns="0" rtlCol="0" anchor="ctr"/>
          <a:lstStyle/>
          <a:p>
            <a:pPr marL="0" indent="0">
              <a:buNone/>
            </a:pPr>
            <a:r>
              <a:rPr lang="en-US" sz="1050" b="1" kern="0" spc="100" dirty="0">
                <a:solidFill>
                  <a:srgbClr val="E10600"/>
                </a:solidFill>
                <a:latin typeface="Aptos" pitchFamily="34" charset="0"/>
                <a:ea typeface="Aptos" pitchFamily="34" charset="-122"/>
                <a:cs typeface="Aptos" pitchFamily="34" charset="-120"/>
              </a:rPr>
              <a:t>ATMOS PCIE ADD-IN CARD</a:t>
            </a:r>
            <a:endParaRPr lang="en-US" sz="1050" dirty="0"/>
          </a:p>
        </p:txBody>
      </p:sp>
      <p:sp>
        <p:nvSpPr>
          <p:cNvPr id="14" name="Shape 12"/>
          <p:cNvSpPr/>
          <p:nvPr/>
        </p:nvSpPr>
        <p:spPr>
          <a:xfrm>
            <a:off x="822960" y="2642616"/>
            <a:ext cx="1399032" cy="1078992"/>
          </a:xfrm>
          <a:prstGeom prst="roundRect">
            <a:avLst>
              <a:gd name="adj" fmla="val 10169"/>
            </a:avLst>
          </a:prstGeom>
          <a:solidFill>
            <a:srgbClr val="FFFFFF"/>
          </a:solidFill>
          <a:ln w="8255">
            <a:solidFill>
              <a:srgbClr val="DED8D2"/>
            </a:solidFill>
            <a:prstDash val="solid"/>
          </a:ln>
        </p:spPr>
        <p:txBody>
          <a:bodyPr/>
          <a:lstStyle/>
          <a:p>
            <a:endParaRPr lang="en-US"/>
          </a:p>
        </p:txBody>
      </p:sp>
      <p:sp>
        <p:nvSpPr>
          <p:cNvPr id="15" name="Shape 13"/>
          <p:cNvSpPr/>
          <p:nvPr/>
        </p:nvSpPr>
        <p:spPr>
          <a:xfrm>
            <a:off x="914400" y="2734056"/>
            <a:ext cx="1216152" cy="283464"/>
          </a:xfrm>
          <a:prstGeom prst="roundRect">
            <a:avLst>
              <a:gd name="adj" fmla="val 38710"/>
            </a:avLst>
          </a:prstGeom>
          <a:solidFill>
            <a:srgbClr val="F4EDEA"/>
          </a:solidFill>
          <a:ln w="8255">
            <a:solidFill>
              <a:srgbClr val="F4EDEA"/>
            </a:solidFill>
            <a:prstDash val="solid"/>
          </a:ln>
        </p:spPr>
        <p:txBody>
          <a:bodyPr/>
          <a:lstStyle/>
          <a:p>
            <a:endParaRPr lang="en-US"/>
          </a:p>
        </p:txBody>
      </p:sp>
      <p:sp>
        <p:nvSpPr>
          <p:cNvPr id="16" name="Text 14"/>
          <p:cNvSpPr/>
          <p:nvPr/>
        </p:nvSpPr>
        <p:spPr>
          <a:xfrm>
            <a:off x="969264" y="2752344"/>
            <a:ext cx="1106424" cy="219456"/>
          </a:xfrm>
          <a:prstGeom prst="rect">
            <a:avLst/>
          </a:prstGeom>
          <a:noFill/>
          <a:ln/>
        </p:spPr>
        <p:txBody>
          <a:bodyPr wrap="square" lIns="0" tIns="0" rIns="0" bIns="0" rtlCol="0" anchor="ctr"/>
          <a:lstStyle/>
          <a:p>
            <a:pPr marL="0" indent="0" algn="ctr">
              <a:buNone/>
            </a:pPr>
            <a:r>
              <a:rPr lang="en-US" sz="1050" b="1" dirty="0">
                <a:solidFill>
                  <a:srgbClr val="772C22"/>
                </a:solidFill>
                <a:latin typeface="Aptos" pitchFamily="34" charset="0"/>
                <a:ea typeface="Aptos" pitchFamily="34" charset="-122"/>
                <a:cs typeface="Aptos" pitchFamily="34" charset="-120"/>
              </a:rPr>
              <a:t>MODULE 1</a:t>
            </a:r>
            <a:endParaRPr lang="en-US" sz="1050" dirty="0"/>
          </a:p>
        </p:txBody>
      </p:sp>
      <p:sp>
        <p:nvSpPr>
          <p:cNvPr id="17" name="Text 15"/>
          <p:cNvSpPr/>
          <p:nvPr/>
        </p:nvSpPr>
        <p:spPr>
          <a:xfrm>
            <a:off x="896112" y="3090672"/>
            <a:ext cx="1252728" cy="246888"/>
          </a:xfrm>
          <a:prstGeom prst="rect">
            <a:avLst/>
          </a:prstGeom>
          <a:noFill/>
          <a:ln/>
        </p:spPr>
        <p:txBody>
          <a:bodyPr wrap="square" lIns="0" tIns="0" rIns="0" bIns="0" rtlCol="0" anchor="ctr"/>
          <a:lstStyle/>
          <a:p>
            <a:pPr marL="0" indent="0" algn="ctr">
              <a:buNone/>
            </a:pPr>
            <a:r>
              <a:rPr lang="en-US" sz="1600" b="1" dirty="0">
                <a:solidFill>
                  <a:srgbClr val="772C22"/>
                </a:solidFill>
                <a:latin typeface="Aptos" pitchFamily="34" charset="0"/>
                <a:ea typeface="Aptos" pitchFamily="34" charset="-122"/>
                <a:cs typeface="Aptos" pitchFamily="34" charset="-120"/>
              </a:rPr>
              <a:t>HBF</a:t>
            </a:r>
            <a:endParaRPr lang="en-US" sz="1600" dirty="0"/>
          </a:p>
        </p:txBody>
      </p:sp>
      <p:sp>
        <p:nvSpPr>
          <p:cNvPr id="18" name="Text 16"/>
          <p:cNvSpPr/>
          <p:nvPr/>
        </p:nvSpPr>
        <p:spPr>
          <a:xfrm>
            <a:off x="896112" y="3410712"/>
            <a:ext cx="1252728" cy="246888"/>
          </a:xfrm>
          <a:prstGeom prst="rect">
            <a:avLst/>
          </a:prstGeom>
          <a:noFill/>
          <a:ln/>
        </p:spPr>
        <p:txBody>
          <a:bodyPr wrap="square" lIns="0" tIns="0" rIns="0" bIns="0" rtlCol="0" anchor="ctr"/>
          <a:lstStyle/>
          <a:p>
            <a:pPr marL="0" indent="0" algn="ctr">
              <a:buNone/>
            </a:pPr>
            <a:r>
              <a:rPr lang="en-US" sz="1250" b="1" dirty="0">
                <a:solidFill>
                  <a:srgbClr val="161616"/>
                </a:solidFill>
                <a:latin typeface="Aptos" pitchFamily="34" charset="0"/>
                <a:ea typeface="Aptos" pitchFamily="34" charset="-122"/>
                <a:cs typeface="Aptos" pitchFamily="34" charset="-120"/>
              </a:rPr>
              <a:t>NPU + LPDDR</a:t>
            </a:r>
            <a:endParaRPr lang="en-US" sz="1250" dirty="0"/>
          </a:p>
        </p:txBody>
      </p:sp>
      <p:sp>
        <p:nvSpPr>
          <p:cNvPr id="19" name="Shape 17"/>
          <p:cNvSpPr/>
          <p:nvPr/>
        </p:nvSpPr>
        <p:spPr>
          <a:xfrm>
            <a:off x="2432304" y="2642616"/>
            <a:ext cx="1399032" cy="1078992"/>
          </a:xfrm>
          <a:prstGeom prst="roundRect">
            <a:avLst>
              <a:gd name="adj" fmla="val 10169"/>
            </a:avLst>
          </a:prstGeom>
          <a:solidFill>
            <a:srgbClr val="FFFFFF"/>
          </a:solidFill>
          <a:ln w="8255">
            <a:solidFill>
              <a:srgbClr val="DED8D2"/>
            </a:solidFill>
            <a:prstDash val="solid"/>
          </a:ln>
        </p:spPr>
        <p:txBody>
          <a:bodyPr/>
          <a:lstStyle/>
          <a:p>
            <a:endParaRPr lang="en-US"/>
          </a:p>
        </p:txBody>
      </p:sp>
      <p:sp>
        <p:nvSpPr>
          <p:cNvPr id="20" name="Shape 18"/>
          <p:cNvSpPr/>
          <p:nvPr/>
        </p:nvSpPr>
        <p:spPr>
          <a:xfrm>
            <a:off x="2523744" y="2734056"/>
            <a:ext cx="1216152" cy="283464"/>
          </a:xfrm>
          <a:prstGeom prst="roundRect">
            <a:avLst>
              <a:gd name="adj" fmla="val 38710"/>
            </a:avLst>
          </a:prstGeom>
          <a:solidFill>
            <a:srgbClr val="F4EDEA"/>
          </a:solidFill>
          <a:ln w="8255">
            <a:solidFill>
              <a:srgbClr val="F4EDEA"/>
            </a:solidFill>
            <a:prstDash val="solid"/>
          </a:ln>
        </p:spPr>
        <p:txBody>
          <a:bodyPr/>
          <a:lstStyle/>
          <a:p>
            <a:endParaRPr lang="en-US"/>
          </a:p>
        </p:txBody>
      </p:sp>
      <p:sp>
        <p:nvSpPr>
          <p:cNvPr id="21" name="Text 19"/>
          <p:cNvSpPr/>
          <p:nvPr/>
        </p:nvSpPr>
        <p:spPr>
          <a:xfrm>
            <a:off x="2578608" y="2752344"/>
            <a:ext cx="1106424" cy="219456"/>
          </a:xfrm>
          <a:prstGeom prst="rect">
            <a:avLst/>
          </a:prstGeom>
          <a:noFill/>
          <a:ln/>
        </p:spPr>
        <p:txBody>
          <a:bodyPr wrap="square" lIns="0" tIns="0" rIns="0" bIns="0" rtlCol="0" anchor="ctr"/>
          <a:lstStyle/>
          <a:p>
            <a:pPr marL="0" indent="0" algn="ctr">
              <a:buNone/>
            </a:pPr>
            <a:r>
              <a:rPr lang="en-US" sz="1050" b="1" dirty="0">
                <a:solidFill>
                  <a:srgbClr val="772C22"/>
                </a:solidFill>
                <a:latin typeface="Aptos" pitchFamily="34" charset="0"/>
                <a:ea typeface="Aptos" pitchFamily="34" charset="-122"/>
                <a:cs typeface="Aptos" pitchFamily="34" charset="-120"/>
              </a:rPr>
              <a:t>MODULE 2</a:t>
            </a:r>
            <a:endParaRPr lang="en-US" sz="1050" dirty="0"/>
          </a:p>
        </p:txBody>
      </p:sp>
      <p:sp>
        <p:nvSpPr>
          <p:cNvPr id="22" name="Text 20"/>
          <p:cNvSpPr/>
          <p:nvPr/>
        </p:nvSpPr>
        <p:spPr>
          <a:xfrm>
            <a:off x="2505456" y="3090672"/>
            <a:ext cx="1252728" cy="246888"/>
          </a:xfrm>
          <a:prstGeom prst="rect">
            <a:avLst/>
          </a:prstGeom>
          <a:noFill/>
          <a:ln/>
        </p:spPr>
        <p:txBody>
          <a:bodyPr wrap="square" lIns="0" tIns="0" rIns="0" bIns="0" rtlCol="0" anchor="ctr"/>
          <a:lstStyle/>
          <a:p>
            <a:pPr marL="0" indent="0" algn="ctr">
              <a:buNone/>
            </a:pPr>
            <a:r>
              <a:rPr lang="en-US" sz="1600" b="1" dirty="0">
                <a:solidFill>
                  <a:srgbClr val="772C22"/>
                </a:solidFill>
                <a:latin typeface="Aptos" pitchFamily="34" charset="0"/>
                <a:ea typeface="Aptos" pitchFamily="34" charset="-122"/>
                <a:cs typeface="Aptos" pitchFamily="34" charset="-120"/>
              </a:rPr>
              <a:t>HBF</a:t>
            </a:r>
            <a:endParaRPr lang="en-US" sz="1600" dirty="0"/>
          </a:p>
        </p:txBody>
      </p:sp>
      <p:sp>
        <p:nvSpPr>
          <p:cNvPr id="23" name="Text 21"/>
          <p:cNvSpPr/>
          <p:nvPr/>
        </p:nvSpPr>
        <p:spPr>
          <a:xfrm>
            <a:off x="2505456" y="3410712"/>
            <a:ext cx="1252728" cy="246888"/>
          </a:xfrm>
          <a:prstGeom prst="rect">
            <a:avLst/>
          </a:prstGeom>
          <a:noFill/>
          <a:ln/>
        </p:spPr>
        <p:txBody>
          <a:bodyPr wrap="square" lIns="0" tIns="0" rIns="0" bIns="0" rtlCol="0" anchor="ctr"/>
          <a:lstStyle/>
          <a:p>
            <a:pPr marL="0" indent="0" algn="ctr">
              <a:buNone/>
            </a:pPr>
            <a:r>
              <a:rPr lang="en-US" sz="1250" b="1" dirty="0">
                <a:solidFill>
                  <a:srgbClr val="161616"/>
                </a:solidFill>
                <a:latin typeface="Aptos" pitchFamily="34" charset="0"/>
                <a:ea typeface="Aptos" pitchFamily="34" charset="-122"/>
                <a:cs typeface="Aptos" pitchFamily="34" charset="-120"/>
              </a:rPr>
              <a:t>NPU + LPDDR</a:t>
            </a:r>
            <a:endParaRPr lang="en-US" sz="1250" dirty="0"/>
          </a:p>
        </p:txBody>
      </p:sp>
      <p:sp>
        <p:nvSpPr>
          <p:cNvPr id="24" name="Shape 22"/>
          <p:cNvSpPr/>
          <p:nvPr/>
        </p:nvSpPr>
        <p:spPr>
          <a:xfrm>
            <a:off x="4041648" y="2642616"/>
            <a:ext cx="1399032" cy="1078992"/>
          </a:xfrm>
          <a:prstGeom prst="roundRect">
            <a:avLst>
              <a:gd name="adj" fmla="val 10169"/>
            </a:avLst>
          </a:prstGeom>
          <a:solidFill>
            <a:srgbClr val="FFFFFF"/>
          </a:solidFill>
          <a:ln w="8255">
            <a:solidFill>
              <a:srgbClr val="DED8D2"/>
            </a:solidFill>
            <a:prstDash val="solid"/>
          </a:ln>
        </p:spPr>
        <p:txBody>
          <a:bodyPr/>
          <a:lstStyle/>
          <a:p>
            <a:endParaRPr lang="en-US"/>
          </a:p>
        </p:txBody>
      </p:sp>
      <p:sp>
        <p:nvSpPr>
          <p:cNvPr id="25" name="Shape 23"/>
          <p:cNvSpPr/>
          <p:nvPr/>
        </p:nvSpPr>
        <p:spPr>
          <a:xfrm>
            <a:off x="4133088" y="2734056"/>
            <a:ext cx="1216152" cy="283464"/>
          </a:xfrm>
          <a:prstGeom prst="roundRect">
            <a:avLst>
              <a:gd name="adj" fmla="val 38710"/>
            </a:avLst>
          </a:prstGeom>
          <a:solidFill>
            <a:srgbClr val="F4EDEA"/>
          </a:solidFill>
          <a:ln w="8255">
            <a:solidFill>
              <a:srgbClr val="F4EDEA"/>
            </a:solidFill>
            <a:prstDash val="solid"/>
          </a:ln>
        </p:spPr>
        <p:txBody>
          <a:bodyPr/>
          <a:lstStyle/>
          <a:p>
            <a:endParaRPr lang="en-US"/>
          </a:p>
        </p:txBody>
      </p:sp>
      <p:sp>
        <p:nvSpPr>
          <p:cNvPr id="26" name="Text 24"/>
          <p:cNvSpPr/>
          <p:nvPr/>
        </p:nvSpPr>
        <p:spPr>
          <a:xfrm>
            <a:off x="4187952" y="2752344"/>
            <a:ext cx="1106424" cy="219456"/>
          </a:xfrm>
          <a:prstGeom prst="rect">
            <a:avLst/>
          </a:prstGeom>
          <a:noFill/>
          <a:ln/>
        </p:spPr>
        <p:txBody>
          <a:bodyPr wrap="square" lIns="0" tIns="0" rIns="0" bIns="0" rtlCol="0" anchor="ctr"/>
          <a:lstStyle/>
          <a:p>
            <a:pPr marL="0" indent="0" algn="ctr">
              <a:buNone/>
            </a:pPr>
            <a:r>
              <a:rPr lang="en-US" sz="1050" b="1" dirty="0">
                <a:solidFill>
                  <a:srgbClr val="772C22"/>
                </a:solidFill>
                <a:latin typeface="Aptos" pitchFamily="34" charset="0"/>
                <a:ea typeface="Aptos" pitchFamily="34" charset="-122"/>
                <a:cs typeface="Aptos" pitchFamily="34" charset="-120"/>
              </a:rPr>
              <a:t>MODULE 3</a:t>
            </a:r>
            <a:endParaRPr lang="en-US" sz="1050" dirty="0"/>
          </a:p>
        </p:txBody>
      </p:sp>
      <p:sp>
        <p:nvSpPr>
          <p:cNvPr id="27" name="Text 25"/>
          <p:cNvSpPr/>
          <p:nvPr/>
        </p:nvSpPr>
        <p:spPr>
          <a:xfrm>
            <a:off x="4114800" y="3090672"/>
            <a:ext cx="1252728" cy="246888"/>
          </a:xfrm>
          <a:prstGeom prst="rect">
            <a:avLst/>
          </a:prstGeom>
          <a:noFill/>
          <a:ln/>
        </p:spPr>
        <p:txBody>
          <a:bodyPr wrap="square" lIns="0" tIns="0" rIns="0" bIns="0" rtlCol="0" anchor="ctr"/>
          <a:lstStyle/>
          <a:p>
            <a:pPr marL="0" indent="0" algn="ctr">
              <a:buNone/>
            </a:pPr>
            <a:r>
              <a:rPr lang="en-US" sz="1600" b="1" dirty="0">
                <a:solidFill>
                  <a:srgbClr val="772C22"/>
                </a:solidFill>
                <a:latin typeface="Aptos" pitchFamily="34" charset="0"/>
                <a:ea typeface="Aptos" pitchFamily="34" charset="-122"/>
                <a:cs typeface="Aptos" pitchFamily="34" charset="-120"/>
              </a:rPr>
              <a:t>HBF</a:t>
            </a:r>
            <a:endParaRPr lang="en-US" sz="1600" dirty="0"/>
          </a:p>
        </p:txBody>
      </p:sp>
      <p:sp>
        <p:nvSpPr>
          <p:cNvPr id="28" name="Text 26"/>
          <p:cNvSpPr/>
          <p:nvPr/>
        </p:nvSpPr>
        <p:spPr>
          <a:xfrm>
            <a:off x="4114800" y="3410712"/>
            <a:ext cx="1252728" cy="246888"/>
          </a:xfrm>
          <a:prstGeom prst="rect">
            <a:avLst/>
          </a:prstGeom>
          <a:noFill/>
          <a:ln/>
        </p:spPr>
        <p:txBody>
          <a:bodyPr wrap="square" lIns="0" tIns="0" rIns="0" bIns="0" rtlCol="0" anchor="ctr"/>
          <a:lstStyle/>
          <a:p>
            <a:pPr marL="0" indent="0" algn="ctr">
              <a:buNone/>
            </a:pPr>
            <a:r>
              <a:rPr lang="en-US" sz="1250" b="1" dirty="0">
                <a:solidFill>
                  <a:srgbClr val="161616"/>
                </a:solidFill>
                <a:latin typeface="Aptos" pitchFamily="34" charset="0"/>
                <a:ea typeface="Aptos" pitchFamily="34" charset="-122"/>
                <a:cs typeface="Aptos" pitchFamily="34" charset="-120"/>
              </a:rPr>
              <a:t>NPU + LPDDR</a:t>
            </a:r>
            <a:endParaRPr lang="en-US" sz="1250" dirty="0"/>
          </a:p>
        </p:txBody>
      </p:sp>
      <p:sp>
        <p:nvSpPr>
          <p:cNvPr id="29" name="Shape 27"/>
          <p:cNvSpPr/>
          <p:nvPr/>
        </p:nvSpPr>
        <p:spPr>
          <a:xfrm>
            <a:off x="5650992" y="2642616"/>
            <a:ext cx="1399032" cy="1078992"/>
          </a:xfrm>
          <a:prstGeom prst="roundRect">
            <a:avLst>
              <a:gd name="adj" fmla="val 10169"/>
            </a:avLst>
          </a:prstGeom>
          <a:solidFill>
            <a:srgbClr val="FFFFFF"/>
          </a:solidFill>
          <a:ln w="8255">
            <a:solidFill>
              <a:srgbClr val="DED8D2"/>
            </a:solidFill>
            <a:prstDash val="solid"/>
          </a:ln>
        </p:spPr>
        <p:txBody>
          <a:bodyPr/>
          <a:lstStyle/>
          <a:p>
            <a:endParaRPr lang="en-US"/>
          </a:p>
        </p:txBody>
      </p:sp>
      <p:sp>
        <p:nvSpPr>
          <p:cNvPr id="30" name="Shape 28"/>
          <p:cNvSpPr/>
          <p:nvPr/>
        </p:nvSpPr>
        <p:spPr>
          <a:xfrm>
            <a:off x="5742432" y="2734056"/>
            <a:ext cx="1216152" cy="283464"/>
          </a:xfrm>
          <a:prstGeom prst="roundRect">
            <a:avLst>
              <a:gd name="adj" fmla="val 38710"/>
            </a:avLst>
          </a:prstGeom>
          <a:solidFill>
            <a:srgbClr val="F4EDEA"/>
          </a:solidFill>
          <a:ln w="8255">
            <a:solidFill>
              <a:srgbClr val="F4EDEA"/>
            </a:solidFill>
            <a:prstDash val="solid"/>
          </a:ln>
        </p:spPr>
        <p:txBody>
          <a:bodyPr/>
          <a:lstStyle/>
          <a:p>
            <a:endParaRPr lang="en-US"/>
          </a:p>
        </p:txBody>
      </p:sp>
      <p:sp>
        <p:nvSpPr>
          <p:cNvPr id="31" name="Text 29"/>
          <p:cNvSpPr/>
          <p:nvPr/>
        </p:nvSpPr>
        <p:spPr>
          <a:xfrm>
            <a:off x="5797296" y="2752344"/>
            <a:ext cx="1106424" cy="219456"/>
          </a:xfrm>
          <a:prstGeom prst="rect">
            <a:avLst/>
          </a:prstGeom>
          <a:noFill/>
          <a:ln/>
        </p:spPr>
        <p:txBody>
          <a:bodyPr wrap="square" lIns="0" tIns="0" rIns="0" bIns="0" rtlCol="0" anchor="ctr"/>
          <a:lstStyle/>
          <a:p>
            <a:pPr marL="0" indent="0" algn="ctr">
              <a:buNone/>
            </a:pPr>
            <a:r>
              <a:rPr lang="en-US" sz="1050" b="1" dirty="0">
                <a:solidFill>
                  <a:srgbClr val="772C22"/>
                </a:solidFill>
                <a:latin typeface="Aptos" pitchFamily="34" charset="0"/>
                <a:ea typeface="Aptos" pitchFamily="34" charset="-122"/>
                <a:cs typeface="Aptos" pitchFamily="34" charset="-120"/>
              </a:rPr>
              <a:t>MODULE 4</a:t>
            </a:r>
            <a:endParaRPr lang="en-US" sz="1050" dirty="0"/>
          </a:p>
        </p:txBody>
      </p:sp>
      <p:sp>
        <p:nvSpPr>
          <p:cNvPr id="32" name="Text 30"/>
          <p:cNvSpPr/>
          <p:nvPr/>
        </p:nvSpPr>
        <p:spPr>
          <a:xfrm>
            <a:off x="5724144" y="3090672"/>
            <a:ext cx="1252728" cy="246888"/>
          </a:xfrm>
          <a:prstGeom prst="rect">
            <a:avLst/>
          </a:prstGeom>
          <a:noFill/>
          <a:ln/>
        </p:spPr>
        <p:txBody>
          <a:bodyPr wrap="square" lIns="0" tIns="0" rIns="0" bIns="0" rtlCol="0" anchor="ctr"/>
          <a:lstStyle/>
          <a:p>
            <a:pPr marL="0" indent="0" algn="ctr">
              <a:buNone/>
            </a:pPr>
            <a:r>
              <a:rPr lang="en-US" sz="1600" b="1" dirty="0">
                <a:solidFill>
                  <a:srgbClr val="772C22"/>
                </a:solidFill>
                <a:latin typeface="Aptos" pitchFamily="34" charset="0"/>
                <a:ea typeface="Aptos" pitchFamily="34" charset="-122"/>
                <a:cs typeface="Aptos" pitchFamily="34" charset="-120"/>
              </a:rPr>
              <a:t>HBF</a:t>
            </a:r>
            <a:endParaRPr lang="en-US" sz="1600" dirty="0"/>
          </a:p>
        </p:txBody>
      </p:sp>
      <p:sp>
        <p:nvSpPr>
          <p:cNvPr id="33" name="Text 31"/>
          <p:cNvSpPr/>
          <p:nvPr/>
        </p:nvSpPr>
        <p:spPr>
          <a:xfrm>
            <a:off x="5724144" y="3410712"/>
            <a:ext cx="1252728" cy="246888"/>
          </a:xfrm>
          <a:prstGeom prst="rect">
            <a:avLst/>
          </a:prstGeom>
          <a:noFill/>
          <a:ln/>
        </p:spPr>
        <p:txBody>
          <a:bodyPr wrap="square" lIns="0" tIns="0" rIns="0" bIns="0" rtlCol="0" anchor="ctr"/>
          <a:lstStyle/>
          <a:p>
            <a:pPr marL="0" indent="0" algn="ctr">
              <a:buNone/>
            </a:pPr>
            <a:r>
              <a:rPr lang="en-US" sz="1250" b="1" dirty="0">
                <a:solidFill>
                  <a:srgbClr val="161616"/>
                </a:solidFill>
                <a:latin typeface="Aptos" pitchFamily="34" charset="0"/>
                <a:ea typeface="Aptos" pitchFamily="34" charset="-122"/>
                <a:cs typeface="Aptos" pitchFamily="34" charset="-120"/>
              </a:rPr>
              <a:t>NPU + LPDDR</a:t>
            </a:r>
            <a:endParaRPr lang="en-US" sz="1250" dirty="0"/>
          </a:p>
        </p:txBody>
      </p:sp>
      <p:sp>
        <p:nvSpPr>
          <p:cNvPr id="34" name="Shape 32"/>
          <p:cNvSpPr/>
          <p:nvPr/>
        </p:nvSpPr>
        <p:spPr>
          <a:xfrm>
            <a:off x="822960" y="3904488"/>
            <a:ext cx="1399032" cy="1078992"/>
          </a:xfrm>
          <a:prstGeom prst="roundRect">
            <a:avLst>
              <a:gd name="adj" fmla="val 10169"/>
            </a:avLst>
          </a:prstGeom>
          <a:solidFill>
            <a:srgbClr val="FFFFFF"/>
          </a:solidFill>
          <a:ln w="8255">
            <a:solidFill>
              <a:srgbClr val="DED8D2"/>
            </a:solidFill>
            <a:prstDash val="solid"/>
          </a:ln>
        </p:spPr>
        <p:txBody>
          <a:bodyPr/>
          <a:lstStyle/>
          <a:p>
            <a:endParaRPr lang="en-US"/>
          </a:p>
        </p:txBody>
      </p:sp>
      <p:sp>
        <p:nvSpPr>
          <p:cNvPr id="35" name="Shape 33"/>
          <p:cNvSpPr/>
          <p:nvPr/>
        </p:nvSpPr>
        <p:spPr>
          <a:xfrm>
            <a:off x="914400" y="3995928"/>
            <a:ext cx="1216152" cy="283464"/>
          </a:xfrm>
          <a:prstGeom prst="roundRect">
            <a:avLst>
              <a:gd name="adj" fmla="val 38710"/>
            </a:avLst>
          </a:prstGeom>
          <a:solidFill>
            <a:srgbClr val="F4EDEA"/>
          </a:solidFill>
          <a:ln w="8255">
            <a:solidFill>
              <a:srgbClr val="F4EDEA"/>
            </a:solidFill>
            <a:prstDash val="solid"/>
          </a:ln>
        </p:spPr>
        <p:txBody>
          <a:bodyPr/>
          <a:lstStyle/>
          <a:p>
            <a:endParaRPr lang="en-US"/>
          </a:p>
        </p:txBody>
      </p:sp>
      <p:sp>
        <p:nvSpPr>
          <p:cNvPr id="36" name="Text 34"/>
          <p:cNvSpPr/>
          <p:nvPr/>
        </p:nvSpPr>
        <p:spPr>
          <a:xfrm>
            <a:off x="969264" y="4014216"/>
            <a:ext cx="1106424" cy="219456"/>
          </a:xfrm>
          <a:prstGeom prst="rect">
            <a:avLst/>
          </a:prstGeom>
          <a:noFill/>
          <a:ln/>
        </p:spPr>
        <p:txBody>
          <a:bodyPr wrap="square" lIns="0" tIns="0" rIns="0" bIns="0" rtlCol="0" anchor="ctr"/>
          <a:lstStyle/>
          <a:p>
            <a:pPr marL="0" indent="0" algn="ctr">
              <a:buNone/>
            </a:pPr>
            <a:r>
              <a:rPr lang="en-US" sz="1050" b="1" dirty="0">
                <a:solidFill>
                  <a:srgbClr val="772C22"/>
                </a:solidFill>
                <a:latin typeface="Aptos" pitchFamily="34" charset="0"/>
                <a:ea typeface="Aptos" pitchFamily="34" charset="-122"/>
                <a:cs typeface="Aptos" pitchFamily="34" charset="-120"/>
              </a:rPr>
              <a:t>MODULE 5</a:t>
            </a:r>
            <a:endParaRPr lang="en-US" sz="1050" dirty="0"/>
          </a:p>
        </p:txBody>
      </p:sp>
      <p:sp>
        <p:nvSpPr>
          <p:cNvPr id="37" name="Text 35"/>
          <p:cNvSpPr/>
          <p:nvPr/>
        </p:nvSpPr>
        <p:spPr>
          <a:xfrm>
            <a:off x="896112" y="4352544"/>
            <a:ext cx="1252728" cy="246888"/>
          </a:xfrm>
          <a:prstGeom prst="rect">
            <a:avLst/>
          </a:prstGeom>
          <a:noFill/>
          <a:ln/>
        </p:spPr>
        <p:txBody>
          <a:bodyPr wrap="square" lIns="0" tIns="0" rIns="0" bIns="0" rtlCol="0" anchor="ctr"/>
          <a:lstStyle/>
          <a:p>
            <a:pPr marL="0" indent="0" algn="ctr">
              <a:buNone/>
            </a:pPr>
            <a:r>
              <a:rPr lang="en-US" sz="1600" b="1" dirty="0">
                <a:solidFill>
                  <a:srgbClr val="772C22"/>
                </a:solidFill>
                <a:latin typeface="Aptos" pitchFamily="34" charset="0"/>
                <a:ea typeface="Aptos" pitchFamily="34" charset="-122"/>
                <a:cs typeface="Aptos" pitchFamily="34" charset="-120"/>
              </a:rPr>
              <a:t>HBF</a:t>
            </a:r>
            <a:endParaRPr lang="en-US" sz="1600" dirty="0"/>
          </a:p>
        </p:txBody>
      </p:sp>
      <p:sp>
        <p:nvSpPr>
          <p:cNvPr id="38" name="Text 36"/>
          <p:cNvSpPr/>
          <p:nvPr/>
        </p:nvSpPr>
        <p:spPr>
          <a:xfrm>
            <a:off x="896112" y="4672584"/>
            <a:ext cx="1252728" cy="246888"/>
          </a:xfrm>
          <a:prstGeom prst="rect">
            <a:avLst/>
          </a:prstGeom>
          <a:noFill/>
          <a:ln/>
        </p:spPr>
        <p:txBody>
          <a:bodyPr wrap="square" lIns="0" tIns="0" rIns="0" bIns="0" rtlCol="0" anchor="ctr"/>
          <a:lstStyle/>
          <a:p>
            <a:pPr marL="0" indent="0" algn="ctr">
              <a:buNone/>
            </a:pPr>
            <a:r>
              <a:rPr lang="en-US" sz="1250" b="1" dirty="0">
                <a:solidFill>
                  <a:srgbClr val="161616"/>
                </a:solidFill>
                <a:latin typeface="Aptos" pitchFamily="34" charset="0"/>
                <a:ea typeface="Aptos" pitchFamily="34" charset="-122"/>
                <a:cs typeface="Aptos" pitchFamily="34" charset="-120"/>
              </a:rPr>
              <a:t>NPU + LPDDR</a:t>
            </a:r>
            <a:endParaRPr lang="en-US" sz="1250" dirty="0"/>
          </a:p>
        </p:txBody>
      </p:sp>
      <p:sp>
        <p:nvSpPr>
          <p:cNvPr id="39" name="Shape 37"/>
          <p:cNvSpPr/>
          <p:nvPr/>
        </p:nvSpPr>
        <p:spPr>
          <a:xfrm>
            <a:off x="2432304" y="3904488"/>
            <a:ext cx="1399032" cy="1078992"/>
          </a:xfrm>
          <a:prstGeom prst="roundRect">
            <a:avLst>
              <a:gd name="adj" fmla="val 10169"/>
            </a:avLst>
          </a:prstGeom>
          <a:solidFill>
            <a:srgbClr val="FFFFFF"/>
          </a:solidFill>
          <a:ln w="8255">
            <a:solidFill>
              <a:srgbClr val="DED8D2"/>
            </a:solidFill>
            <a:prstDash val="solid"/>
          </a:ln>
        </p:spPr>
        <p:txBody>
          <a:bodyPr/>
          <a:lstStyle/>
          <a:p>
            <a:endParaRPr lang="en-US"/>
          </a:p>
        </p:txBody>
      </p:sp>
      <p:sp>
        <p:nvSpPr>
          <p:cNvPr id="40" name="Shape 38"/>
          <p:cNvSpPr/>
          <p:nvPr/>
        </p:nvSpPr>
        <p:spPr>
          <a:xfrm>
            <a:off x="2523744" y="3995928"/>
            <a:ext cx="1216152" cy="283464"/>
          </a:xfrm>
          <a:prstGeom prst="roundRect">
            <a:avLst>
              <a:gd name="adj" fmla="val 38710"/>
            </a:avLst>
          </a:prstGeom>
          <a:solidFill>
            <a:srgbClr val="F4EDEA"/>
          </a:solidFill>
          <a:ln w="8255">
            <a:solidFill>
              <a:srgbClr val="F4EDEA"/>
            </a:solidFill>
            <a:prstDash val="solid"/>
          </a:ln>
        </p:spPr>
        <p:txBody>
          <a:bodyPr/>
          <a:lstStyle/>
          <a:p>
            <a:endParaRPr lang="en-US"/>
          </a:p>
        </p:txBody>
      </p:sp>
      <p:sp>
        <p:nvSpPr>
          <p:cNvPr id="41" name="Text 39"/>
          <p:cNvSpPr/>
          <p:nvPr/>
        </p:nvSpPr>
        <p:spPr>
          <a:xfrm>
            <a:off x="2578608" y="4014216"/>
            <a:ext cx="1106424" cy="219456"/>
          </a:xfrm>
          <a:prstGeom prst="rect">
            <a:avLst/>
          </a:prstGeom>
          <a:noFill/>
          <a:ln/>
        </p:spPr>
        <p:txBody>
          <a:bodyPr wrap="square" lIns="0" tIns="0" rIns="0" bIns="0" rtlCol="0" anchor="ctr"/>
          <a:lstStyle/>
          <a:p>
            <a:pPr marL="0" indent="0" algn="ctr">
              <a:buNone/>
            </a:pPr>
            <a:r>
              <a:rPr lang="en-US" sz="1050" b="1" dirty="0">
                <a:solidFill>
                  <a:srgbClr val="772C22"/>
                </a:solidFill>
                <a:latin typeface="Aptos" pitchFamily="34" charset="0"/>
                <a:ea typeface="Aptos" pitchFamily="34" charset="-122"/>
                <a:cs typeface="Aptos" pitchFamily="34" charset="-120"/>
              </a:rPr>
              <a:t>MODULE 6</a:t>
            </a:r>
            <a:endParaRPr lang="en-US" sz="1050" dirty="0"/>
          </a:p>
        </p:txBody>
      </p:sp>
      <p:sp>
        <p:nvSpPr>
          <p:cNvPr id="42" name="Text 40"/>
          <p:cNvSpPr/>
          <p:nvPr/>
        </p:nvSpPr>
        <p:spPr>
          <a:xfrm>
            <a:off x="2505456" y="4352544"/>
            <a:ext cx="1252728" cy="246888"/>
          </a:xfrm>
          <a:prstGeom prst="rect">
            <a:avLst/>
          </a:prstGeom>
          <a:noFill/>
          <a:ln/>
        </p:spPr>
        <p:txBody>
          <a:bodyPr wrap="square" lIns="0" tIns="0" rIns="0" bIns="0" rtlCol="0" anchor="ctr"/>
          <a:lstStyle/>
          <a:p>
            <a:pPr marL="0" indent="0" algn="ctr">
              <a:buNone/>
            </a:pPr>
            <a:r>
              <a:rPr lang="en-US" sz="1600" b="1" dirty="0">
                <a:solidFill>
                  <a:srgbClr val="772C22"/>
                </a:solidFill>
                <a:latin typeface="Aptos" pitchFamily="34" charset="0"/>
                <a:ea typeface="Aptos" pitchFamily="34" charset="-122"/>
                <a:cs typeface="Aptos" pitchFamily="34" charset="-120"/>
              </a:rPr>
              <a:t>HBF</a:t>
            </a:r>
            <a:endParaRPr lang="en-US" sz="1600" dirty="0"/>
          </a:p>
        </p:txBody>
      </p:sp>
      <p:sp>
        <p:nvSpPr>
          <p:cNvPr id="43" name="Text 41"/>
          <p:cNvSpPr/>
          <p:nvPr/>
        </p:nvSpPr>
        <p:spPr>
          <a:xfrm>
            <a:off x="2505456" y="4672584"/>
            <a:ext cx="1252728" cy="246888"/>
          </a:xfrm>
          <a:prstGeom prst="rect">
            <a:avLst/>
          </a:prstGeom>
          <a:noFill/>
          <a:ln/>
        </p:spPr>
        <p:txBody>
          <a:bodyPr wrap="square" lIns="0" tIns="0" rIns="0" bIns="0" rtlCol="0" anchor="ctr"/>
          <a:lstStyle/>
          <a:p>
            <a:pPr marL="0" indent="0" algn="ctr">
              <a:buNone/>
            </a:pPr>
            <a:r>
              <a:rPr lang="en-US" sz="1250" b="1" dirty="0">
                <a:solidFill>
                  <a:srgbClr val="161616"/>
                </a:solidFill>
                <a:latin typeface="Aptos" pitchFamily="34" charset="0"/>
                <a:ea typeface="Aptos" pitchFamily="34" charset="-122"/>
                <a:cs typeface="Aptos" pitchFamily="34" charset="-120"/>
              </a:rPr>
              <a:t>NPU + LPDDR</a:t>
            </a:r>
            <a:endParaRPr lang="en-US" sz="1250" dirty="0"/>
          </a:p>
        </p:txBody>
      </p:sp>
      <p:sp>
        <p:nvSpPr>
          <p:cNvPr id="44" name="Shape 42"/>
          <p:cNvSpPr/>
          <p:nvPr/>
        </p:nvSpPr>
        <p:spPr>
          <a:xfrm>
            <a:off x="4041648" y="3904488"/>
            <a:ext cx="1399032" cy="1078992"/>
          </a:xfrm>
          <a:prstGeom prst="roundRect">
            <a:avLst>
              <a:gd name="adj" fmla="val 10169"/>
            </a:avLst>
          </a:prstGeom>
          <a:solidFill>
            <a:srgbClr val="FFFFFF"/>
          </a:solidFill>
          <a:ln w="8255">
            <a:solidFill>
              <a:srgbClr val="DED8D2"/>
            </a:solidFill>
            <a:prstDash val="solid"/>
          </a:ln>
        </p:spPr>
        <p:txBody>
          <a:bodyPr/>
          <a:lstStyle/>
          <a:p>
            <a:endParaRPr lang="en-US"/>
          </a:p>
        </p:txBody>
      </p:sp>
      <p:sp>
        <p:nvSpPr>
          <p:cNvPr id="45" name="Shape 43"/>
          <p:cNvSpPr/>
          <p:nvPr/>
        </p:nvSpPr>
        <p:spPr>
          <a:xfrm>
            <a:off x="4133088" y="3995928"/>
            <a:ext cx="1216152" cy="283464"/>
          </a:xfrm>
          <a:prstGeom prst="roundRect">
            <a:avLst>
              <a:gd name="adj" fmla="val 38710"/>
            </a:avLst>
          </a:prstGeom>
          <a:solidFill>
            <a:srgbClr val="F4EDEA"/>
          </a:solidFill>
          <a:ln w="8255">
            <a:solidFill>
              <a:srgbClr val="F4EDEA"/>
            </a:solidFill>
            <a:prstDash val="solid"/>
          </a:ln>
        </p:spPr>
        <p:txBody>
          <a:bodyPr/>
          <a:lstStyle/>
          <a:p>
            <a:endParaRPr lang="en-US"/>
          </a:p>
        </p:txBody>
      </p:sp>
      <p:sp>
        <p:nvSpPr>
          <p:cNvPr id="46" name="Text 44"/>
          <p:cNvSpPr/>
          <p:nvPr/>
        </p:nvSpPr>
        <p:spPr>
          <a:xfrm>
            <a:off x="4187952" y="4014216"/>
            <a:ext cx="1106424" cy="219456"/>
          </a:xfrm>
          <a:prstGeom prst="rect">
            <a:avLst/>
          </a:prstGeom>
          <a:noFill/>
          <a:ln/>
        </p:spPr>
        <p:txBody>
          <a:bodyPr wrap="square" lIns="0" tIns="0" rIns="0" bIns="0" rtlCol="0" anchor="ctr"/>
          <a:lstStyle/>
          <a:p>
            <a:pPr marL="0" indent="0" algn="ctr">
              <a:buNone/>
            </a:pPr>
            <a:r>
              <a:rPr lang="en-US" sz="1050" b="1" dirty="0">
                <a:solidFill>
                  <a:srgbClr val="772C22"/>
                </a:solidFill>
                <a:latin typeface="Aptos" pitchFamily="34" charset="0"/>
                <a:ea typeface="Aptos" pitchFamily="34" charset="-122"/>
                <a:cs typeface="Aptos" pitchFamily="34" charset="-120"/>
              </a:rPr>
              <a:t>MODULE 7</a:t>
            </a:r>
            <a:endParaRPr lang="en-US" sz="1050" dirty="0"/>
          </a:p>
        </p:txBody>
      </p:sp>
      <p:sp>
        <p:nvSpPr>
          <p:cNvPr id="47" name="Text 45"/>
          <p:cNvSpPr/>
          <p:nvPr/>
        </p:nvSpPr>
        <p:spPr>
          <a:xfrm>
            <a:off x="4114800" y="4352544"/>
            <a:ext cx="1252728" cy="246888"/>
          </a:xfrm>
          <a:prstGeom prst="rect">
            <a:avLst/>
          </a:prstGeom>
          <a:noFill/>
          <a:ln/>
        </p:spPr>
        <p:txBody>
          <a:bodyPr wrap="square" lIns="0" tIns="0" rIns="0" bIns="0" rtlCol="0" anchor="ctr"/>
          <a:lstStyle/>
          <a:p>
            <a:pPr marL="0" indent="0" algn="ctr">
              <a:buNone/>
            </a:pPr>
            <a:r>
              <a:rPr lang="en-US" sz="1600" b="1" dirty="0">
                <a:solidFill>
                  <a:srgbClr val="772C22"/>
                </a:solidFill>
                <a:latin typeface="Aptos" pitchFamily="34" charset="0"/>
                <a:ea typeface="Aptos" pitchFamily="34" charset="-122"/>
                <a:cs typeface="Aptos" pitchFamily="34" charset="-120"/>
              </a:rPr>
              <a:t>HBF</a:t>
            </a:r>
            <a:endParaRPr lang="en-US" sz="1600" dirty="0"/>
          </a:p>
        </p:txBody>
      </p:sp>
      <p:sp>
        <p:nvSpPr>
          <p:cNvPr id="48" name="Text 46"/>
          <p:cNvSpPr/>
          <p:nvPr/>
        </p:nvSpPr>
        <p:spPr>
          <a:xfrm>
            <a:off x="4114800" y="4672584"/>
            <a:ext cx="1252728" cy="246888"/>
          </a:xfrm>
          <a:prstGeom prst="rect">
            <a:avLst/>
          </a:prstGeom>
          <a:noFill/>
          <a:ln/>
        </p:spPr>
        <p:txBody>
          <a:bodyPr wrap="square" lIns="0" tIns="0" rIns="0" bIns="0" rtlCol="0" anchor="ctr"/>
          <a:lstStyle/>
          <a:p>
            <a:pPr marL="0" indent="0" algn="ctr">
              <a:buNone/>
            </a:pPr>
            <a:r>
              <a:rPr lang="en-US" sz="1250" b="1" dirty="0">
                <a:solidFill>
                  <a:srgbClr val="161616"/>
                </a:solidFill>
                <a:latin typeface="Aptos" pitchFamily="34" charset="0"/>
                <a:ea typeface="Aptos" pitchFamily="34" charset="-122"/>
                <a:cs typeface="Aptos" pitchFamily="34" charset="-120"/>
              </a:rPr>
              <a:t>NPU + LPDDR</a:t>
            </a:r>
            <a:endParaRPr lang="en-US" sz="1250" dirty="0"/>
          </a:p>
        </p:txBody>
      </p:sp>
      <p:sp>
        <p:nvSpPr>
          <p:cNvPr id="49" name="Shape 47"/>
          <p:cNvSpPr/>
          <p:nvPr/>
        </p:nvSpPr>
        <p:spPr>
          <a:xfrm>
            <a:off x="5650992" y="3904488"/>
            <a:ext cx="1399032" cy="1078992"/>
          </a:xfrm>
          <a:prstGeom prst="roundRect">
            <a:avLst>
              <a:gd name="adj" fmla="val 10169"/>
            </a:avLst>
          </a:prstGeom>
          <a:solidFill>
            <a:srgbClr val="FFFFFF"/>
          </a:solidFill>
          <a:ln w="8255">
            <a:solidFill>
              <a:srgbClr val="DED8D2"/>
            </a:solidFill>
            <a:prstDash val="solid"/>
          </a:ln>
        </p:spPr>
        <p:txBody>
          <a:bodyPr/>
          <a:lstStyle/>
          <a:p>
            <a:endParaRPr lang="en-US"/>
          </a:p>
        </p:txBody>
      </p:sp>
      <p:sp>
        <p:nvSpPr>
          <p:cNvPr id="50" name="Shape 48"/>
          <p:cNvSpPr/>
          <p:nvPr/>
        </p:nvSpPr>
        <p:spPr>
          <a:xfrm>
            <a:off x="5742432" y="3995928"/>
            <a:ext cx="1216152" cy="283464"/>
          </a:xfrm>
          <a:prstGeom prst="roundRect">
            <a:avLst>
              <a:gd name="adj" fmla="val 38710"/>
            </a:avLst>
          </a:prstGeom>
          <a:solidFill>
            <a:srgbClr val="F4EDEA"/>
          </a:solidFill>
          <a:ln w="8255">
            <a:solidFill>
              <a:srgbClr val="F4EDEA"/>
            </a:solidFill>
            <a:prstDash val="solid"/>
          </a:ln>
        </p:spPr>
        <p:txBody>
          <a:bodyPr/>
          <a:lstStyle/>
          <a:p>
            <a:endParaRPr lang="en-US"/>
          </a:p>
        </p:txBody>
      </p:sp>
      <p:sp>
        <p:nvSpPr>
          <p:cNvPr id="51" name="Text 49"/>
          <p:cNvSpPr/>
          <p:nvPr/>
        </p:nvSpPr>
        <p:spPr>
          <a:xfrm>
            <a:off x="5797296" y="4014216"/>
            <a:ext cx="1106424" cy="219456"/>
          </a:xfrm>
          <a:prstGeom prst="rect">
            <a:avLst/>
          </a:prstGeom>
          <a:noFill/>
          <a:ln/>
        </p:spPr>
        <p:txBody>
          <a:bodyPr wrap="square" lIns="0" tIns="0" rIns="0" bIns="0" rtlCol="0" anchor="ctr"/>
          <a:lstStyle/>
          <a:p>
            <a:pPr marL="0" indent="0" algn="ctr">
              <a:buNone/>
            </a:pPr>
            <a:r>
              <a:rPr lang="en-US" sz="1050" b="1" dirty="0">
                <a:solidFill>
                  <a:srgbClr val="772C22"/>
                </a:solidFill>
                <a:latin typeface="Aptos" pitchFamily="34" charset="0"/>
                <a:ea typeface="Aptos" pitchFamily="34" charset="-122"/>
                <a:cs typeface="Aptos" pitchFamily="34" charset="-120"/>
              </a:rPr>
              <a:t>MODULE 8</a:t>
            </a:r>
            <a:endParaRPr lang="en-US" sz="1050" dirty="0"/>
          </a:p>
        </p:txBody>
      </p:sp>
      <p:sp>
        <p:nvSpPr>
          <p:cNvPr id="52" name="Text 50"/>
          <p:cNvSpPr/>
          <p:nvPr/>
        </p:nvSpPr>
        <p:spPr>
          <a:xfrm>
            <a:off x="5724144" y="4352544"/>
            <a:ext cx="1252728" cy="246888"/>
          </a:xfrm>
          <a:prstGeom prst="rect">
            <a:avLst/>
          </a:prstGeom>
          <a:noFill/>
          <a:ln/>
        </p:spPr>
        <p:txBody>
          <a:bodyPr wrap="square" lIns="0" tIns="0" rIns="0" bIns="0" rtlCol="0" anchor="ctr"/>
          <a:lstStyle/>
          <a:p>
            <a:pPr marL="0" indent="0" algn="ctr">
              <a:buNone/>
            </a:pPr>
            <a:r>
              <a:rPr lang="en-US" sz="1600" b="1" dirty="0">
                <a:solidFill>
                  <a:srgbClr val="772C22"/>
                </a:solidFill>
                <a:latin typeface="Aptos" pitchFamily="34" charset="0"/>
                <a:ea typeface="Aptos" pitchFamily="34" charset="-122"/>
                <a:cs typeface="Aptos" pitchFamily="34" charset="-120"/>
              </a:rPr>
              <a:t>HBF</a:t>
            </a:r>
            <a:endParaRPr lang="en-US" sz="1600" dirty="0"/>
          </a:p>
        </p:txBody>
      </p:sp>
      <p:sp>
        <p:nvSpPr>
          <p:cNvPr id="53" name="Text 51"/>
          <p:cNvSpPr/>
          <p:nvPr/>
        </p:nvSpPr>
        <p:spPr>
          <a:xfrm>
            <a:off x="5724144" y="4672584"/>
            <a:ext cx="1252728" cy="246888"/>
          </a:xfrm>
          <a:prstGeom prst="rect">
            <a:avLst/>
          </a:prstGeom>
          <a:noFill/>
          <a:ln/>
        </p:spPr>
        <p:txBody>
          <a:bodyPr wrap="square" lIns="0" tIns="0" rIns="0" bIns="0" rtlCol="0" anchor="ctr"/>
          <a:lstStyle/>
          <a:p>
            <a:pPr marL="0" indent="0" algn="ctr">
              <a:buNone/>
            </a:pPr>
            <a:r>
              <a:rPr lang="en-US" sz="1250" b="1" dirty="0">
                <a:solidFill>
                  <a:srgbClr val="161616"/>
                </a:solidFill>
                <a:latin typeface="Aptos" pitchFamily="34" charset="0"/>
                <a:ea typeface="Aptos" pitchFamily="34" charset="-122"/>
                <a:cs typeface="Aptos" pitchFamily="34" charset="-120"/>
              </a:rPr>
              <a:t>NPU + LPDDR</a:t>
            </a:r>
            <a:endParaRPr lang="en-US" sz="1250" dirty="0"/>
          </a:p>
        </p:txBody>
      </p:sp>
      <p:sp>
        <p:nvSpPr>
          <p:cNvPr id="54" name="Shape 52"/>
          <p:cNvSpPr/>
          <p:nvPr/>
        </p:nvSpPr>
        <p:spPr>
          <a:xfrm>
            <a:off x="7955280" y="2020824"/>
            <a:ext cx="3639312" cy="950976"/>
          </a:xfrm>
          <a:prstGeom prst="roundRect">
            <a:avLst>
              <a:gd name="adj" fmla="val 11538"/>
            </a:avLst>
          </a:prstGeom>
          <a:solidFill>
            <a:srgbClr val="FFFFFF"/>
          </a:solidFill>
          <a:ln w="8255">
            <a:solidFill>
              <a:srgbClr val="DED8D2"/>
            </a:solidFill>
            <a:prstDash val="solid"/>
          </a:ln>
        </p:spPr>
        <p:txBody>
          <a:bodyPr/>
          <a:lstStyle/>
          <a:p>
            <a:endParaRPr lang="en-US"/>
          </a:p>
        </p:txBody>
      </p:sp>
      <p:sp>
        <p:nvSpPr>
          <p:cNvPr id="55" name="Shape 53"/>
          <p:cNvSpPr/>
          <p:nvPr/>
        </p:nvSpPr>
        <p:spPr>
          <a:xfrm>
            <a:off x="7955280" y="2020824"/>
            <a:ext cx="54864" cy="950976"/>
          </a:xfrm>
          <a:prstGeom prst="rect">
            <a:avLst/>
          </a:prstGeom>
          <a:solidFill>
            <a:srgbClr val="772C22"/>
          </a:solidFill>
          <a:ln w="8255">
            <a:solidFill>
              <a:srgbClr val="772C22"/>
            </a:solidFill>
            <a:prstDash val="solid"/>
          </a:ln>
        </p:spPr>
        <p:txBody>
          <a:bodyPr/>
          <a:lstStyle/>
          <a:p>
            <a:endParaRPr lang="en-US"/>
          </a:p>
        </p:txBody>
      </p:sp>
      <p:sp>
        <p:nvSpPr>
          <p:cNvPr id="56" name="Text 54"/>
          <p:cNvSpPr/>
          <p:nvPr/>
        </p:nvSpPr>
        <p:spPr>
          <a:xfrm>
            <a:off x="8156448" y="2130552"/>
            <a:ext cx="3291840" cy="438912"/>
          </a:xfrm>
          <a:prstGeom prst="rect">
            <a:avLst/>
          </a:prstGeom>
          <a:noFill/>
          <a:ln/>
        </p:spPr>
        <p:txBody>
          <a:bodyPr wrap="square" lIns="0" tIns="0" rIns="0" bIns="0" rtlCol="0" anchor="ctr"/>
          <a:lstStyle/>
          <a:p>
            <a:pPr marL="0" indent="0">
              <a:buNone/>
            </a:pPr>
            <a:r>
              <a:rPr lang="en-US" sz="3200" b="1" dirty="0">
                <a:solidFill>
                  <a:srgbClr val="772C22"/>
                </a:solidFill>
                <a:latin typeface="Aptos" pitchFamily="34" charset="0"/>
                <a:ea typeface="Aptos" pitchFamily="34" charset="-122"/>
                <a:cs typeface="Aptos" pitchFamily="34" charset="-120"/>
              </a:rPr>
              <a:t>~1 TB</a:t>
            </a:r>
            <a:endParaRPr lang="en-US" sz="3200" dirty="0"/>
          </a:p>
        </p:txBody>
      </p:sp>
      <p:sp>
        <p:nvSpPr>
          <p:cNvPr id="57" name="Text 55"/>
          <p:cNvSpPr/>
          <p:nvPr/>
        </p:nvSpPr>
        <p:spPr>
          <a:xfrm>
            <a:off x="8156448" y="2615184"/>
            <a:ext cx="3291840" cy="265176"/>
          </a:xfrm>
          <a:prstGeom prst="rect">
            <a:avLst/>
          </a:prstGeom>
          <a:noFill/>
          <a:ln/>
        </p:spPr>
        <p:txBody>
          <a:bodyPr wrap="square" lIns="0" tIns="0" rIns="0" bIns="0" rtlCol="0" anchor="ctr"/>
          <a:lstStyle/>
          <a:p>
            <a:pPr marL="0" indent="0">
              <a:buNone/>
            </a:pPr>
            <a:r>
              <a:rPr lang="en-US" sz="1300" dirty="0">
                <a:solidFill>
                  <a:srgbClr val="686868"/>
                </a:solidFill>
                <a:latin typeface="Aptos" pitchFamily="34" charset="0"/>
                <a:ea typeface="Aptos" pitchFamily="34" charset="-122"/>
                <a:cs typeface="Aptos" pitchFamily="34" charset="-120"/>
              </a:rPr>
              <a:t>HBF model-capacity direction</a:t>
            </a:r>
            <a:endParaRPr lang="en-US" sz="1300" dirty="0"/>
          </a:p>
        </p:txBody>
      </p:sp>
      <p:sp>
        <p:nvSpPr>
          <p:cNvPr id="58" name="Shape 56"/>
          <p:cNvSpPr/>
          <p:nvPr/>
        </p:nvSpPr>
        <p:spPr>
          <a:xfrm>
            <a:off x="7955280" y="3191256"/>
            <a:ext cx="3639312" cy="950976"/>
          </a:xfrm>
          <a:prstGeom prst="roundRect">
            <a:avLst>
              <a:gd name="adj" fmla="val 11538"/>
            </a:avLst>
          </a:prstGeom>
          <a:solidFill>
            <a:srgbClr val="FFFFFF"/>
          </a:solidFill>
          <a:ln w="8255">
            <a:solidFill>
              <a:srgbClr val="DED8D2"/>
            </a:solidFill>
            <a:prstDash val="solid"/>
          </a:ln>
        </p:spPr>
        <p:txBody>
          <a:bodyPr/>
          <a:lstStyle/>
          <a:p>
            <a:endParaRPr lang="en-US"/>
          </a:p>
        </p:txBody>
      </p:sp>
      <p:sp>
        <p:nvSpPr>
          <p:cNvPr id="59" name="Shape 57"/>
          <p:cNvSpPr/>
          <p:nvPr/>
        </p:nvSpPr>
        <p:spPr>
          <a:xfrm>
            <a:off x="7955280" y="3191256"/>
            <a:ext cx="54864" cy="950976"/>
          </a:xfrm>
          <a:prstGeom prst="rect">
            <a:avLst/>
          </a:prstGeom>
          <a:solidFill>
            <a:srgbClr val="772C22"/>
          </a:solidFill>
          <a:ln w="8255">
            <a:solidFill>
              <a:srgbClr val="772C22"/>
            </a:solidFill>
            <a:prstDash val="solid"/>
          </a:ln>
        </p:spPr>
        <p:txBody>
          <a:bodyPr/>
          <a:lstStyle/>
          <a:p>
            <a:endParaRPr lang="en-US"/>
          </a:p>
        </p:txBody>
      </p:sp>
      <p:sp>
        <p:nvSpPr>
          <p:cNvPr id="60" name="Text 58"/>
          <p:cNvSpPr/>
          <p:nvPr/>
        </p:nvSpPr>
        <p:spPr>
          <a:xfrm>
            <a:off x="8156448" y="3300984"/>
            <a:ext cx="3291840" cy="438912"/>
          </a:xfrm>
          <a:prstGeom prst="rect">
            <a:avLst/>
          </a:prstGeom>
          <a:noFill/>
          <a:ln/>
        </p:spPr>
        <p:txBody>
          <a:bodyPr wrap="square" lIns="0" tIns="0" rIns="0" bIns="0" rtlCol="0" anchor="ctr"/>
          <a:lstStyle/>
          <a:p>
            <a:pPr marL="0" indent="0">
              <a:buNone/>
            </a:pPr>
            <a:r>
              <a:rPr lang="en-US" sz="3200" b="1" dirty="0">
                <a:solidFill>
                  <a:srgbClr val="772C22"/>
                </a:solidFill>
                <a:latin typeface="Aptos" pitchFamily="34" charset="0"/>
                <a:ea typeface="Aptos" pitchFamily="34" charset="-122"/>
                <a:cs typeface="Aptos" pitchFamily="34" charset="-120"/>
              </a:rPr>
              <a:t>128 GB</a:t>
            </a:r>
            <a:endParaRPr lang="en-US" sz="3200" dirty="0"/>
          </a:p>
        </p:txBody>
      </p:sp>
      <p:sp>
        <p:nvSpPr>
          <p:cNvPr id="61" name="Text 59"/>
          <p:cNvSpPr/>
          <p:nvPr/>
        </p:nvSpPr>
        <p:spPr>
          <a:xfrm>
            <a:off x="8156448" y="3785616"/>
            <a:ext cx="3291840" cy="265176"/>
          </a:xfrm>
          <a:prstGeom prst="rect">
            <a:avLst/>
          </a:prstGeom>
          <a:noFill/>
          <a:ln/>
        </p:spPr>
        <p:txBody>
          <a:bodyPr wrap="square" lIns="0" tIns="0" rIns="0" bIns="0" rtlCol="0" anchor="ctr"/>
          <a:lstStyle/>
          <a:p>
            <a:pPr marL="0" indent="0">
              <a:buNone/>
            </a:pPr>
            <a:r>
              <a:rPr lang="en-US" sz="1300" dirty="0">
                <a:solidFill>
                  <a:srgbClr val="686868"/>
                </a:solidFill>
                <a:latin typeface="Aptos" pitchFamily="34" charset="0"/>
                <a:ea typeface="Aptos" pitchFamily="34" charset="-122"/>
                <a:cs typeface="Aptos" pitchFamily="34" charset="-120"/>
              </a:rPr>
              <a:t>LPDDR working-memory direction</a:t>
            </a:r>
            <a:endParaRPr lang="en-US" sz="1300" dirty="0"/>
          </a:p>
        </p:txBody>
      </p:sp>
      <p:sp>
        <p:nvSpPr>
          <p:cNvPr id="62" name="Shape 60"/>
          <p:cNvSpPr/>
          <p:nvPr/>
        </p:nvSpPr>
        <p:spPr>
          <a:xfrm>
            <a:off x="7955280" y="4361688"/>
            <a:ext cx="3639312" cy="950976"/>
          </a:xfrm>
          <a:prstGeom prst="roundRect">
            <a:avLst>
              <a:gd name="adj" fmla="val 11538"/>
            </a:avLst>
          </a:prstGeom>
          <a:solidFill>
            <a:srgbClr val="FFFFFF"/>
          </a:solidFill>
          <a:ln w="8255">
            <a:solidFill>
              <a:srgbClr val="DED8D2"/>
            </a:solidFill>
            <a:prstDash val="solid"/>
          </a:ln>
        </p:spPr>
        <p:txBody>
          <a:bodyPr/>
          <a:lstStyle/>
          <a:p>
            <a:endParaRPr lang="en-US"/>
          </a:p>
        </p:txBody>
      </p:sp>
      <p:sp>
        <p:nvSpPr>
          <p:cNvPr id="63" name="Shape 61"/>
          <p:cNvSpPr/>
          <p:nvPr/>
        </p:nvSpPr>
        <p:spPr>
          <a:xfrm>
            <a:off x="7955280" y="4361688"/>
            <a:ext cx="54864" cy="950976"/>
          </a:xfrm>
          <a:prstGeom prst="rect">
            <a:avLst/>
          </a:prstGeom>
          <a:solidFill>
            <a:srgbClr val="772C22"/>
          </a:solidFill>
          <a:ln w="8255">
            <a:solidFill>
              <a:srgbClr val="772C22"/>
            </a:solidFill>
            <a:prstDash val="solid"/>
          </a:ln>
        </p:spPr>
        <p:txBody>
          <a:bodyPr/>
          <a:lstStyle/>
          <a:p>
            <a:endParaRPr lang="en-US"/>
          </a:p>
        </p:txBody>
      </p:sp>
      <p:sp>
        <p:nvSpPr>
          <p:cNvPr id="64" name="Text 62"/>
          <p:cNvSpPr/>
          <p:nvPr/>
        </p:nvSpPr>
        <p:spPr>
          <a:xfrm>
            <a:off x="8156448" y="4471416"/>
            <a:ext cx="3291840" cy="438912"/>
          </a:xfrm>
          <a:prstGeom prst="rect">
            <a:avLst/>
          </a:prstGeom>
          <a:noFill/>
          <a:ln/>
        </p:spPr>
        <p:txBody>
          <a:bodyPr wrap="square" lIns="0" tIns="0" rIns="0" bIns="0" rtlCol="0" anchor="ctr"/>
          <a:lstStyle/>
          <a:p>
            <a:pPr marL="0" indent="0">
              <a:buNone/>
            </a:pPr>
            <a:r>
              <a:rPr lang="en-US" sz="3200" b="1" dirty="0">
                <a:solidFill>
                  <a:srgbClr val="772C22"/>
                </a:solidFill>
                <a:latin typeface="Aptos" pitchFamily="34" charset="0"/>
                <a:ea typeface="Aptos" pitchFamily="34" charset="-122"/>
                <a:cs typeface="Aptos" pitchFamily="34" charset="-120"/>
              </a:rPr>
              <a:t>200 W class</a:t>
            </a:r>
            <a:endParaRPr lang="en-US" sz="3200" dirty="0"/>
          </a:p>
        </p:txBody>
      </p:sp>
      <p:sp>
        <p:nvSpPr>
          <p:cNvPr id="65" name="Text 63"/>
          <p:cNvSpPr/>
          <p:nvPr/>
        </p:nvSpPr>
        <p:spPr>
          <a:xfrm>
            <a:off x="8156448" y="4956048"/>
            <a:ext cx="3291840" cy="265176"/>
          </a:xfrm>
          <a:prstGeom prst="rect">
            <a:avLst/>
          </a:prstGeom>
          <a:noFill/>
          <a:ln/>
        </p:spPr>
        <p:txBody>
          <a:bodyPr wrap="square" lIns="0" tIns="0" rIns="0" bIns="0" rtlCol="0" anchor="ctr"/>
          <a:lstStyle/>
          <a:p>
            <a:pPr marL="0" indent="0">
              <a:buNone/>
            </a:pPr>
            <a:r>
              <a:rPr lang="en-US" sz="1300" dirty="0">
                <a:solidFill>
                  <a:srgbClr val="686868"/>
                </a:solidFill>
                <a:latin typeface="Aptos" pitchFamily="34" charset="0"/>
                <a:ea typeface="Aptos" pitchFamily="34" charset="-122"/>
                <a:cs typeface="Aptos" pitchFamily="34" charset="-120"/>
              </a:rPr>
              <a:t>Card power budget—not measured draw</a:t>
            </a:r>
            <a:endParaRPr lang="en-US" sz="1300" dirty="0"/>
          </a:p>
        </p:txBody>
      </p:sp>
      <p:sp>
        <p:nvSpPr>
          <p:cNvPr id="66" name="Shape 64"/>
          <p:cNvSpPr/>
          <p:nvPr/>
        </p:nvSpPr>
        <p:spPr>
          <a:xfrm>
            <a:off x="530352" y="5980176"/>
            <a:ext cx="11091672" cy="420624"/>
          </a:xfrm>
          <a:prstGeom prst="roundRect">
            <a:avLst>
              <a:gd name="adj" fmla="val 26087"/>
            </a:avLst>
          </a:prstGeom>
          <a:solidFill>
            <a:srgbClr val="161616"/>
          </a:solidFill>
          <a:ln w="8255">
            <a:solidFill>
              <a:srgbClr val="161616"/>
            </a:solidFill>
            <a:prstDash val="solid"/>
          </a:ln>
        </p:spPr>
        <p:txBody>
          <a:bodyPr/>
          <a:lstStyle/>
          <a:p>
            <a:endParaRPr lang="en-US"/>
          </a:p>
        </p:txBody>
      </p:sp>
      <p:sp>
        <p:nvSpPr>
          <p:cNvPr id="67" name="Text 65"/>
          <p:cNvSpPr/>
          <p:nvPr/>
        </p:nvSpPr>
        <p:spPr>
          <a:xfrm>
            <a:off x="731520" y="6025896"/>
            <a:ext cx="10698480"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Aggregated capacity is not uniform shared memory. Keep the model layout aware of each module.</a:t>
            </a:r>
            <a:endParaRPr lang="en-US" sz="1400" dirty="0"/>
          </a:p>
        </p:txBody>
      </p:sp>
      <p:grpSp>
        <p:nvGrpSpPr>
          <p:cNvPr id="68" name="Source SanDisk brand 0">
            <a:extLst>
              <a:ext uri="{FF2B5EF4-FFF2-40B4-BE49-F238E27FC236}">
                <a16:creationId xmlns:a16="http://schemas.microsoft.com/office/drawing/2014/main" id="{A6A692BC-3C6C-56BD-8B34-32B6817D15D4}"/>
              </a:ext>
            </a:extLst>
          </p:cNvPr>
          <p:cNvGrpSpPr/>
          <p:nvPr/>
        </p:nvGrpSpPr>
        <p:grpSpPr>
          <a:xfrm>
            <a:off x="539496" y="6547104"/>
            <a:ext cx="1280160" cy="128016"/>
            <a:chOff x="297005" y="5421618"/>
            <a:chExt cx="11585651" cy="1156649"/>
          </a:xfrm>
          <a:solidFill>
            <a:schemeClr val="accent3"/>
          </a:solidFill>
        </p:grpSpPr>
        <p:grpSp>
          <p:nvGrpSpPr>
            <p:cNvPr id="69" name="Source SanDisk brand 1">
              <a:extLst>
                <a:ext uri="{FF2B5EF4-FFF2-40B4-BE49-F238E27FC236}">
                  <a16:creationId xmlns:a16="http://schemas.microsoft.com/office/drawing/2014/main" id="{50FD88E0-3A7B-F830-D901-1BE0676304ED}"/>
                </a:ext>
              </a:extLst>
            </p:cNvPr>
            <p:cNvGrpSpPr/>
            <p:nvPr/>
          </p:nvGrpSpPr>
          <p:grpSpPr>
            <a:xfrm>
              <a:off x="297005" y="5421618"/>
              <a:ext cx="10643138" cy="1156649"/>
              <a:chOff x="3726006" y="3171824"/>
              <a:chExt cx="4740852" cy="515215"/>
            </a:xfrm>
            <a:grpFill/>
          </p:grpSpPr>
          <p:sp>
            <p:nvSpPr>
              <p:cNvPr id="70" name="Source SanDisk brand 2">
                <a:extLst>
                  <a:ext uri="{FF2B5EF4-FFF2-40B4-BE49-F238E27FC236}">
                    <a16:creationId xmlns:a16="http://schemas.microsoft.com/office/drawing/2014/main" id="{BF52D899-1363-DEA1-6063-C8949655B805}"/>
                  </a:ext>
                </a:extLst>
              </p:cNvPr>
              <p:cNvSpPr/>
              <p:nvPr/>
            </p:nvSpPr>
            <p:spPr>
              <a:xfrm>
                <a:off x="5262995" y="3173556"/>
                <a:ext cx="639906" cy="512618"/>
              </a:xfrm>
              <a:custGeom>
                <a:avLst/>
                <a:gdLst>
                  <a:gd name="connsiteX0" fmla="*/ 512618 w 639906"/>
                  <a:gd name="connsiteY0" fmla="*/ 348961 h 512618"/>
                  <a:gd name="connsiteX1" fmla="*/ 482311 w 639906"/>
                  <a:gd name="connsiteY1" fmla="*/ 383598 h 512618"/>
                  <a:gd name="connsiteX2" fmla="*/ 446809 w 639906"/>
                  <a:gd name="connsiteY2" fmla="*/ 361950 h 512618"/>
                  <a:gd name="connsiteX3" fmla="*/ 329911 w 639906"/>
                  <a:gd name="connsiteY3" fmla="*/ 40698 h 512618"/>
                  <a:gd name="connsiteX4" fmla="*/ 274493 w 639906"/>
                  <a:gd name="connsiteY4" fmla="*/ 0 h 512618"/>
                  <a:gd name="connsiteX5" fmla="*/ 0 w 639906"/>
                  <a:gd name="connsiteY5" fmla="*/ 0 h 512618"/>
                  <a:gd name="connsiteX6" fmla="*/ 0 w 639906"/>
                  <a:gd name="connsiteY6" fmla="*/ 512618 h 512618"/>
                  <a:gd name="connsiteX7" fmla="*/ 200891 w 639906"/>
                  <a:gd name="connsiteY7" fmla="*/ 512618 h 512618"/>
                  <a:gd name="connsiteX8" fmla="*/ 200891 w 639906"/>
                  <a:gd name="connsiteY8" fmla="*/ 384464 h 512618"/>
                  <a:gd name="connsiteX9" fmla="*/ 165389 w 639906"/>
                  <a:gd name="connsiteY9" fmla="*/ 384464 h 512618"/>
                  <a:gd name="connsiteX10" fmla="*/ 128155 w 639906"/>
                  <a:gd name="connsiteY10" fmla="*/ 338571 h 512618"/>
                  <a:gd name="connsiteX11" fmla="*/ 128155 w 639906"/>
                  <a:gd name="connsiteY11" fmla="*/ 184439 h 512618"/>
                  <a:gd name="connsiteX12" fmla="*/ 200025 w 639906"/>
                  <a:gd name="connsiteY12" fmla="*/ 133350 h 512618"/>
                  <a:gd name="connsiteX13" fmla="*/ 228600 w 639906"/>
                  <a:gd name="connsiteY13" fmla="*/ 164523 h 512618"/>
                  <a:gd name="connsiteX14" fmla="*/ 322118 w 639906"/>
                  <a:gd name="connsiteY14" fmla="*/ 407843 h 512618"/>
                  <a:gd name="connsiteX15" fmla="*/ 475384 w 639906"/>
                  <a:gd name="connsiteY15" fmla="*/ 512618 h 512618"/>
                  <a:gd name="connsiteX16" fmla="*/ 478848 w 639906"/>
                  <a:gd name="connsiteY16" fmla="*/ 512618 h 512618"/>
                  <a:gd name="connsiteX17" fmla="*/ 639907 w 639906"/>
                  <a:gd name="connsiteY17" fmla="*/ 353291 h 512618"/>
                  <a:gd name="connsiteX18" fmla="*/ 639907 w 639906"/>
                  <a:gd name="connsiteY18" fmla="*/ 0 h 512618"/>
                  <a:gd name="connsiteX19" fmla="*/ 511752 w 639906"/>
                  <a:gd name="connsiteY19" fmla="*/ 0 h 512618"/>
                  <a:gd name="connsiteX20" fmla="*/ 511752 w 639906"/>
                  <a:gd name="connsiteY20" fmla="*/ 349827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39906" h="512618">
                    <a:moveTo>
                      <a:pt x="512618" y="348961"/>
                    </a:moveTo>
                    <a:cubicBezTo>
                      <a:pt x="512618" y="366279"/>
                      <a:pt x="499630" y="381000"/>
                      <a:pt x="482311" y="383598"/>
                    </a:cubicBezTo>
                    <a:cubicBezTo>
                      <a:pt x="466725" y="385330"/>
                      <a:pt x="452005" y="375805"/>
                      <a:pt x="446809" y="361950"/>
                    </a:cubicBezTo>
                    <a:lnTo>
                      <a:pt x="329911" y="40698"/>
                    </a:lnTo>
                    <a:cubicBezTo>
                      <a:pt x="321252" y="14721"/>
                      <a:pt x="299605" y="0"/>
                      <a:pt x="274493" y="0"/>
                    </a:cubicBezTo>
                    <a:lnTo>
                      <a:pt x="0" y="0"/>
                    </a:lnTo>
                    <a:lnTo>
                      <a:pt x="0" y="512618"/>
                    </a:lnTo>
                    <a:lnTo>
                      <a:pt x="200891" y="512618"/>
                    </a:lnTo>
                    <a:lnTo>
                      <a:pt x="200891" y="384464"/>
                    </a:lnTo>
                    <a:lnTo>
                      <a:pt x="165389" y="384464"/>
                    </a:lnTo>
                    <a:cubicBezTo>
                      <a:pt x="142009" y="384464"/>
                      <a:pt x="128155" y="363682"/>
                      <a:pt x="128155" y="338571"/>
                    </a:cubicBezTo>
                    <a:lnTo>
                      <a:pt x="128155" y="184439"/>
                    </a:lnTo>
                    <a:cubicBezTo>
                      <a:pt x="128155" y="146339"/>
                      <a:pt x="165389" y="118630"/>
                      <a:pt x="200025" y="133350"/>
                    </a:cubicBezTo>
                    <a:cubicBezTo>
                      <a:pt x="213014" y="139411"/>
                      <a:pt x="223405" y="150668"/>
                      <a:pt x="228600" y="164523"/>
                    </a:cubicBezTo>
                    <a:lnTo>
                      <a:pt x="322118" y="407843"/>
                    </a:lnTo>
                    <a:cubicBezTo>
                      <a:pt x="346364" y="471920"/>
                      <a:pt x="406977" y="512618"/>
                      <a:pt x="475384" y="512618"/>
                    </a:cubicBezTo>
                    <a:lnTo>
                      <a:pt x="478848" y="512618"/>
                    </a:lnTo>
                    <a:cubicBezTo>
                      <a:pt x="567170" y="512618"/>
                      <a:pt x="639907" y="442480"/>
                      <a:pt x="639907" y="353291"/>
                    </a:cubicBezTo>
                    <a:lnTo>
                      <a:pt x="639907" y="0"/>
                    </a:lnTo>
                    <a:lnTo>
                      <a:pt x="511752" y="0"/>
                    </a:lnTo>
                    <a:lnTo>
                      <a:pt x="511752" y="349827"/>
                    </a:ln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71" name="Source SanDisk brand 3">
                <a:extLst>
                  <a:ext uri="{FF2B5EF4-FFF2-40B4-BE49-F238E27FC236}">
                    <a16:creationId xmlns:a16="http://schemas.microsoft.com/office/drawing/2014/main" id="{4D5E0007-2AC5-2685-4C2D-CF96C07C7ED0}"/>
                  </a:ext>
                </a:extLst>
              </p:cNvPr>
              <p:cNvSpPr/>
              <p:nvPr/>
            </p:nvSpPr>
            <p:spPr>
              <a:xfrm>
                <a:off x="6031922" y="3172690"/>
                <a:ext cx="640772" cy="512618"/>
              </a:xfrm>
              <a:custGeom>
                <a:avLst/>
                <a:gdLst>
                  <a:gd name="connsiteX0" fmla="*/ 384464 w 640772"/>
                  <a:gd name="connsiteY0" fmla="*/ 0 h 512618"/>
                  <a:gd name="connsiteX1" fmla="*/ 0 w 640772"/>
                  <a:gd name="connsiteY1" fmla="*/ 0 h 512618"/>
                  <a:gd name="connsiteX2" fmla="*/ 0 w 640772"/>
                  <a:gd name="connsiteY2" fmla="*/ 129020 h 512618"/>
                  <a:gd name="connsiteX3" fmla="*/ 384464 w 640772"/>
                  <a:gd name="connsiteY3" fmla="*/ 129020 h 512618"/>
                  <a:gd name="connsiteX4" fmla="*/ 511752 w 640772"/>
                  <a:gd name="connsiteY4" fmla="*/ 256309 h 512618"/>
                  <a:gd name="connsiteX5" fmla="*/ 384464 w 640772"/>
                  <a:gd name="connsiteY5" fmla="*/ 383598 h 512618"/>
                  <a:gd name="connsiteX6" fmla="*/ 0 w 640772"/>
                  <a:gd name="connsiteY6" fmla="*/ 383598 h 512618"/>
                  <a:gd name="connsiteX7" fmla="*/ 0 w 640772"/>
                  <a:gd name="connsiteY7" fmla="*/ 512618 h 512618"/>
                  <a:gd name="connsiteX8" fmla="*/ 384464 w 640772"/>
                  <a:gd name="connsiteY8" fmla="*/ 512618 h 512618"/>
                  <a:gd name="connsiteX9" fmla="*/ 609600 w 640772"/>
                  <a:gd name="connsiteY9" fmla="*/ 380134 h 512618"/>
                  <a:gd name="connsiteX10" fmla="*/ 640773 w 640772"/>
                  <a:gd name="connsiteY10" fmla="*/ 256309 h 512618"/>
                  <a:gd name="connsiteX11" fmla="*/ 609600 w 640772"/>
                  <a:gd name="connsiteY11" fmla="*/ 132484 h 512618"/>
                  <a:gd name="connsiteX12" fmla="*/ 384464 w 640772"/>
                  <a:gd name="connsiteY12" fmla="*/ 0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0772" h="512618">
                    <a:moveTo>
                      <a:pt x="384464" y="0"/>
                    </a:moveTo>
                    <a:lnTo>
                      <a:pt x="0" y="0"/>
                    </a:lnTo>
                    <a:lnTo>
                      <a:pt x="0" y="129020"/>
                    </a:lnTo>
                    <a:lnTo>
                      <a:pt x="384464" y="129020"/>
                    </a:lnTo>
                    <a:cubicBezTo>
                      <a:pt x="452004" y="129020"/>
                      <a:pt x="511752" y="188768"/>
                      <a:pt x="511752" y="256309"/>
                    </a:cubicBezTo>
                    <a:cubicBezTo>
                      <a:pt x="511752" y="323850"/>
                      <a:pt x="452004" y="383598"/>
                      <a:pt x="384464" y="383598"/>
                    </a:cubicBezTo>
                    <a:lnTo>
                      <a:pt x="0" y="383598"/>
                    </a:lnTo>
                    <a:lnTo>
                      <a:pt x="0" y="512618"/>
                    </a:lnTo>
                    <a:lnTo>
                      <a:pt x="384464" y="512618"/>
                    </a:lnTo>
                    <a:cubicBezTo>
                      <a:pt x="481446" y="512618"/>
                      <a:pt x="565439" y="458932"/>
                      <a:pt x="609600" y="380134"/>
                    </a:cubicBezTo>
                    <a:cubicBezTo>
                      <a:pt x="629516" y="343766"/>
                      <a:pt x="640773" y="301337"/>
                      <a:pt x="640773" y="256309"/>
                    </a:cubicBezTo>
                    <a:cubicBezTo>
                      <a:pt x="640773" y="211282"/>
                      <a:pt x="629516" y="169718"/>
                      <a:pt x="609600" y="132484"/>
                    </a:cubicBezTo>
                    <a:cubicBezTo>
                      <a:pt x="566305" y="52821"/>
                      <a:pt x="482311" y="0"/>
                      <a:pt x="384464" y="0"/>
                    </a:cubicBez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72" name="Source SanDisk brand 4">
                <a:extLst>
                  <a:ext uri="{FF2B5EF4-FFF2-40B4-BE49-F238E27FC236}">
                    <a16:creationId xmlns:a16="http://schemas.microsoft.com/office/drawing/2014/main" id="{9164FD13-1646-7FD2-5414-F5FB8722267D}"/>
                  </a:ext>
                </a:extLst>
              </p:cNvPr>
              <p:cNvSpPr/>
              <p:nvPr/>
            </p:nvSpPr>
            <p:spPr>
              <a:xfrm>
                <a:off x="6726381" y="3171824"/>
                <a:ext cx="202622" cy="512618"/>
              </a:xfrm>
              <a:custGeom>
                <a:avLst/>
                <a:gdLst>
                  <a:gd name="connsiteX0" fmla="*/ 25977 w 202622"/>
                  <a:gd name="connsiteY0" fmla="*/ 129021 h 512618"/>
                  <a:gd name="connsiteX1" fmla="*/ 36368 w 202622"/>
                  <a:gd name="connsiteY1" fmla="*/ 129021 h 512618"/>
                  <a:gd name="connsiteX2" fmla="*/ 74468 w 202622"/>
                  <a:gd name="connsiteY2" fmla="*/ 176646 h 512618"/>
                  <a:gd name="connsiteX3" fmla="*/ 74468 w 202622"/>
                  <a:gd name="connsiteY3" fmla="*/ 512618 h 512618"/>
                  <a:gd name="connsiteX4" fmla="*/ 202623 w 202622"/>
                  <a:gd name="connsiteY4" fmla="*/ 512618 h 512618"/>
                  <a:gd name="connsiteX5" fmla="*/ 202623 w 202622"/>
                  <a:gd name="connsiteY5" fmla="*/ 0 h 512618"/>
                  <a:gd name="connsiteX6" fmla="*/ 0 w 202622"/>
                  <a:gd name="connsiteY6" fmla="*/ 0 h 512618"/>
                  <a:gd name="connsiteX7" fmla="*/ 0 w 202622"/>
                  <a:gd name="connsiteY7" fmla="*/ 128155 h 512618"/>
                  <a:gd name="connsiteX8" fmla="*/ 26843 w 202622"/>
                  <a:gd name="connsiteY8" fmla="*/ 128155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622" h="512618">
                    <a:moveTo>
                      <a:pt x="25977" y="129021"/>
                    </a:moveTo>
                    <a:cubicBezTo>
                      <a:pt x="29441" y="129021"/>
                      <a:pt x="32039" y="129021"/>
                      <a:pt x="36368" y="129021"/>
                    </a:cubicBezTo>
                    <a:cubicBezTo>
                      <a:pt x="59748" y="132484"/>
                      <a:pt x="74468" y="151534"/>
                      <a:pt x="74468" y="176646"/>
                    </a:cubicBezTo>
                    <a:lnTo>
                      <a:pt x="74468" y="512618"/>
                    </a:lnTo>
                    <a:lnTo>
                      <a:pt x="202623" y="512618"/>
                    </a:lnTo>
                    <a:lnTo>
                      <a:pt x="202623" y="0"/>
                    </a:lnTo>
                    <a:lnTo>
                      <a:pt x="0" y="0"/>
                    </a:lnTo>
                    <a:lnTo>
                      <a:pt x="0" y="128155"/>
                    </a:lnTo>
                    <a:lnTo>
                      <a:pt x="26843" y="128155"/>
                    </a:ln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73" name="Source SanDisk brand 5">
                <a:extLst>
                  <a:ext uri="{FF2B5EF4-FFF2-40B4-BE49-F238E27FC236}">
                    <a16:creationId xmlns:a16="http://schemas.microsoft.com/office/drawing/2014/main" id="{3CEC4686-88E3-A390-9C59-C52AEAD5DDB6}"/>
                  </a:ext>
                </a:extLst>
              </p:cNvPr>
              <p:cNvSpPr/>
              <p:nvPr/>
            </p:nvSpPr>
            <p:spPr>
              <a:xfrm>
                <a:off x="7058025" y="3172690"/>
                <a:ext cx="640772" cy="512618"/>
              </a:xfrm>
              <a:custGeom>
                <a:avLst/>
                <a:gdLst>
                  <a:gd name="connsiteX0" fmla="*/ 639907 w 640772"/>
                  <a:gd name="connsiteY0" fmla="*/ 410441 h 512618"/>
                  <a:gd name="connsiteX1" fmla="*/ 639907 w 640772"/>
                  <a:gd name="connsiteY1" fmla="*/ 512618 h 512618"/>
                  <a:gd name="connsiteX2" fmla="*/ 97848 w 640772"/>
                  <a:gd name="connsiteY2" fmla="*/ 304800 h 512618"/>
                  <a:gd name="connsiteX3" fmla="*/ 0 w 640772"/>
                  <a:gd name="connsiteY3" fmla="*/ 154132 h 512618"/>
                  <a:gd name="connsiteX4" fmla="*/ 154998 w 640772"/>
                  <a:gd name="connsiteY4" fmla="*/ 0 h 512618"/>
                  <a:gd name="connsiteX5" fmla="*/ 639907 w 640772"/>
                  <a:gd name="connsiteY5" fmla="*/ 0 h 512618"/>
                  <a:gd name="connsiteX6" fmla="*/ 639907 w 640772"/>
                  <a:gd name="connsiteY6" fmla="*/ 200891 h 512618"/>
                  <a:gd name="connsiteX7" fmla="*/ 511752 w 640772"/>
                  <a:gd name="connsiteY7" fmla="*/ 200891 h 512618"/>
                  <a:gd name="connsiteX8" fmla="*/ 511752 w 640772"/>
                  <a:gd name="connsiteY8" fmla="*/ 165389 h 512618"/>
                  <a:gd name="connsiteX9" fmla="*/ 472786 w 640772"/>
                  <a:gd name="connsiteY9" fmla="*/ 129020 h 512618"/>
                  <a:gd name="connsiteX10" fmla="*/ 189634 w 640772"/>
                  <a:gd name="connsiteY10" fmla="*/ 129020 h 512618"/>
                  <a:gd name="connsiteX11" fmla="*/ 149802 w 640772"/>
                  <a:gd name="connsiteY11" fmla="*/ 167986 h 512618"/>
                  <a:gd name="connsiteX12" fmla="*/ 175779 w 640772"/>
                  <a:gd name="connsiteY12" fmla="*/ 206087 h 512618"/>
                  <a:gd name="connsiteX13" fmla="*/ 598343 w 640772"/>
                  <a:gd name="connsiteY13" fmla="*/ 355023 h 512618"/>
                  <a:gd name="connsiteX14" fmla="*/ 640773 w 640772"/>
                  <a:gd name="connsiteY14" fmla="*/ 411307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0772" h="512618">
                    <a:moveTo>
                      <a:pt x="639907" y="410441"/>
                    </a:moveTo>
                    <a:lnTo>
                      <a:pt x="639907" y="512618"/>
                    </a:lnTo>
                    <a:lnTo>
                      <a:pt x="97848" y="304800"/>
                    </a:lnTo>
                    <a:cubicBezTo>
                      <a:pt x="12123" y="271895"/>
                      <a:pt x="0" y="209550"/>
                      <a:pt x="0" y="154132"/>
                    </a:cubicBezTo>
                    <a:cubicBezTo>
                      <a:pt x="0" y="69273"/>
                      <a:pt x="70139" y="0"/>
                      <a:pt x="154998" y="0"/>
                    </a:cubicBezTo>
                    <a:lnTo>
                      <a:pt x="639907" y="0"/>
                    </a:lnTo>
                    <a:lnTo>
                      <a:pt x="639907" y="200891"/>
                    </a:lnTo>
                    <a:lnTo>
                      <a:pt x="511752" y="200891"/>
                    </a:lnTo>
                    <a:lnTo>
                      <a:pt x="511752" y="165389"/>
                    </a:lnTo>
                    <a:cubicBezTo>
                      <a:pt x="511752" y="144607"/>
                      <a:pt x="491836" y="129020"/>
                      <a:pt x="472786" y="129020"/>
                    </a:cubicBezTo>
                    <a:lnTo>
                      <a:pt x="189634" y="129020"/>
                    </a:lnTo>
                    <a:cubicBezTo>
                      <a:pt x="167986" y="129020"/>
                      <a:pt x="149802" y="146339"/>
                      <a:pt x="149802" y="167986"/>
                    </a:cubicBezTo>
                    <a:cubicBezTo>
                      <a:pt x="149802" y="189634"/>
                      <a:pt x="160193" y="200025"/>
                      <a:pt x="175779" y="206087"/>
                    </a:cubicBezTo>
                    <a:lnTo>
                      <a:pt x="598343" y="355023"/>
                    </a:lnTo>
                    <a:cubicBezTo>
                      <a:pt x="598343" y="355023"/>
                      <a:pt x="640773" y="367145"/>
                      <a:pt x="640773" y="411307"/>
                    </a:cubicBez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74" name="Source SanDisk brand 6">
                <a:extLst>
                  <a:ext uri="{FF2B5EF4-FFF2-40B4-BE49-F238E27FC236}">
                    <a16:creationId xmlns:a16="http://schemas.microsoft.com/office/drawing/2014/main" id="{3DA57102-8664-4537-0C96-1D776169644E}"/>
                  </a:ext>
                </a:extLst>
              </p:cNvPr>
              <p:cNvSpPr/>
              <p:nvPr/>
            </p:nvSpPr>
            <p:spPr>
              <a:xfrm>
                <a:off x="7056293" y="3557154"/>
                <a:ext cx="126422" cy="128154"/>
              </a:xfrm>
              <a:custGeom>
                <a:avLst/>
                <a:gdLst>
                  <a:gd name="connsiteX0" fmla="*/ 126423 w 126422"/>
                  <a:gd name="connsiteY0" fmla="*/ 0 h 128154"/>
                  <a:gd name="connsiteX1" fmla="*/ 0 w 126422"/>
                  <a:gd name="connsiteY1" fmla="*/ 0 h 128154"/>
                  <a:gd name="connsiteX2" fmla="*/ 0 w 126422"/>
                  <a:gd name="connsiteY2" fmla="*/ 128155 h 128154"/>
                  <a:gd name="connsiteX3" fmla="*/ 126423 w 126422"/>
                  <a:gd name="connsiteY3" fmla="*/ 128155 h 128154"/>
                  <a:gd name="connsiteX4" fmla="*/ 126423 w 126422"/>
                  <a:gd name="connsiteY4" fmla="*/ 0 h 128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22" h="128154">
                    <a:moveTo>
                      <a:pt x="126423" y="0"/>
                    </a:moveTo>
                    <a:lnTo>
                      <a:pt x="0" y="0"/>
                    </a:lnTo>
                    <a:lnTo>
                      <a:pt x="0" y="128155"/>
                    </a:lnTo>
                    <a:lnTo>
                      <a:pt x="126423" y="128155"/>
                    </a:lnTo>
                    <a:lnTo>
                      <a:pt x="126423" y="0"/>
                    </a:ln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75" name="Source SanDisk brand 7">
                <a:extLst>
                  <a:ext uri="{FF2B5EF4-FFF2-40B4-BE49-F238E27FC236}">
                    <a16:creationId xmlns:a16="http://schemas.microsoft.com/office/drawing/2014/main" id="{5A49FBDA-20CE-D350-85F4-D7B8C67413BE}"/>
                  </a:ext>
                </a:extLst>
              </p:cNvPr>
              <p:cNvSpPr/>
              <p:nvPr/>
            </p:nvSpPr>
            <p:spPr>
              <a:xfrm>
                <a:off x="3726006" y="3172690"/>
                <a:ext cx="640772" cy="512618"/>
              </a:xfrm>
              <a:custGeom>
                <a:avLst/>
                <a:gdLst>
                  <a:gd name="connsiteX0" fmla="*/ 639907 w 640772"/>
                  <a:gd name="connsiteY0" fmla="*/ 410441 h 512618"/>
                  <a:gd name="connsiteX1" fmla="*/ 639907 w 640772"/>
                  <a:gd name="connsiteY1" fmla="*/ 512618 h 512618"/>
                  <a:gd name="connsiteX2" fmla="*/ 97848 w 640772"/>
                  <a:gd name="connsiteY2" fmla="*/ 304800 h 512618"/>
                  <a:gd name="connsiteX3" fmla="*/ 0 w 640772"/>
                  <a:gd name="connsiteY3" fmla="*/ 154132 h 512618"/>
                  <a:gd name="connsiteX4" fmla="*/ 154998 w 640772"/>
                  <a:gd name="connsiteY4" fmla="*/ 0 h 512618"/>
                  <a:gd name="connsiteX5" fmla="*/ 639907 w 640772"/>
                  <a:gd name="connsiteY5" fmla="*/ 0 h 512618"/>
                  <a:gd name="connsiteX6" fmla="*/ 639907 w 640772"/>
                  <a:gd name="connsiteY6" fmla="*/ 200891 h 512618"/>
                  <a:gd name="connsiteX7" fmla="*/ 511752 w 640772"/>
                  <a:gd name="connsiteY7" fmla="*/ 200891 h 512618"/>
                  <a:gd name="connsiteX8" fmla="*/ 511752 w 640772"/>
                  <a:gd name="connsiteY8" fmla="*/ 165389 h 512618"/>
                  <a:gd name="connsiteX9" fmla="*/ 472786 w 640772"/>
                  <a:gd name="connsiteY9" fmla="*/ 129020 h 512618"/>
                  <a:gd name="connsiteX10" fmla="*/ 189634 w 640772"/>
                  <a:gd name="connsiteY10" fmla="*/ 129020 h 512618"/>
                  <a:gd name="connsiteX11" fmla="*/ 149802 w 640772"/>
                  <a:gd name="connsiteY11" fmla="*/ 167986 h 512618"/>
                  <a:gd name="connsiteX12" fmla="*/ 175780 w 640772"/>
                  <a:gd name="connsiteY12" fmla="*/ 206087 h 512618"/>
                  <a:gd name="connsiteX13" fmla="*/ 598343 w 640772"/>
                  <a:gd name="connsiteY13" fmla="*/ 355023 h 512618"/>
                  <a:gd name="connsiteX14" fmla="*/ 640773 w 640772"/>
                  <a:gd name="connsiteY14" fmla="*/ 411307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0772" h="512618">
                    <a:moveTo>
                      <a:pt x="639907" y="410441"/>
                    </a:moveTo>
                    <a:lnTo>
                      <a:pt x="639907" y="512618"/>
                    </a:lnTo>
                    <a:lnTo>
                      <a:pt x="97848" y="304800"/>
                    </a:lnTo>
                    <a:cubicBezTo>
                      <a:pt x="12123" y="271895"/>
                      <a:pt x="0" y="209550"/>
                      <a:pt x="0" y="154132"/>
                    </a:cubicBezTo>
                    <a:cubicBezTo>
                      <a:pt x="0" y="69273"/>
                      <a:pt x="70139" y="0"/>
                      <a:pt x="154998" y="0"/>
                    </a:cubicBezTo>
                    <a:lnTo>
                      <a:pt x="639907" y="0"/>
                    </a:lnTo>
                    <a:lnTo>
                      <a:pt x="639907" y="200891"/>
                    </a:lnTo>
                    <a:lnTo>
                      <a:pt x="511752" y="200891"/>
                    </a:lnTo>
                    <a:lnTo>
                      <a:pt x="511752" y="165389"/>
                    </a:lnTo>
                    <a:cubicBezTo>
                      <a:pt x="511752" y="144607"/>
                      <a:pt x="491836" y="129020"/>
                      <a:pt x="472786" y="129020"/>
                    </a:cubicBezTo>
                    <a:lnTo>
                      <a:pt x="189634" y="129020"/>
                    </a:lnTo>
                    <a:cubicBezTo>
                      <a:pt x="167986" y="129020"/>
                      <a:pt x="149802" y="146339"/>
                      <a:pt x="149802" y="167986"/>
                    </a:cubicBezTo>
                    <a:cubicBezTo>
                      <a:pt x="149802" y="189634"/>
                      <a:pt x="160193" y="200025"/>
                      <a:pt x="175780" y="206087"/>
                    </a:cubicBezTo>
                    <a:lnTo>
                      <a:pt x="598343" y="355023"/>
                    </a:lnTo>
                    <a:cubicBezTo>
                      <a:pt x="598343" y="355023"/>
                      <a:pt x="640773" y="367145"/>
                      <a:pt x="640773" y="411307"/>
                    </a:cubicBez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76" name="Source SanDisk brand 8">
                <a:extLst>
                  <a:ext uri="{FF2B5EF4-FFF2-40B4-BE49-F238E27FC236}">
                    <a16:creationId xmlns:a16="http://schemas.microsoft.com/office/drawing/2014/main" id="{6A87A37E-58CF-CB04-6B8E-B4B9738F218D}"/>
                  </a:ext>
                </a:extLst>
              </p:cNvPr>
              <p:cNvSpPr/>
              <p:nvPr/>
            </p:nvSpPr>
            <p:spPr>
              <a:xfrm>
                <a:off x="3726006" y="3557154"/>
                <a:ext cx="126422" cy="128154"/>
              </a:xfrm>
              <a:custGeom>
                <a:avLst/>
                <a:gdLst>
                  <a:gd name="connsiteX0" fmla="*/ 126423 w 126422"/>
                  <a:gd name="connsiteY0" fmla="*/ 0 h 128154"/>
                  <a:gd name="connsiteX1" fmla="*/ 0 w 126422"/>
                  <a:gd name="connsiteY1" fmla="*/ 0 h 128154"/>
                  <a:gd name="connsiteX2" fmla="*/ 0 w 126422"/>
                  <a:gd name="connsiteY2" fmla="*/ 128155 h 128154"/>
                  <a:gd name="connsiteX3" fmla="*/ 126423 w 126422"/>
                  <a:gd name="connsiteY3" fmla="*/ 128155 h 128154"/>
                  <a:gd name="connsiteX4" fmla="*/ 126423 w 126422"/>
                  <a:gd name="connsiteY4" fmla="*/ 0 h 128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22" h="128154">
                    <a:moveTo>
                      <a:pt x="126423" y="0"/>
                    </a:moveTo>
                    <a:lnTo>
                      <a:pt x="0" y="0"/>
                    </a:lnTo>
                    <a:lnTo>
                      <a:pt x="0" y="128155"/>
                    </a:lnTo>
                    <a:lnTo>
                      <a:pt x="126423" y="128155"/>
                    </a:lnTo>
                    <a:lnTo>
                      <a:pt x="126423" y="0"/>
                    </a:ln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77" name="Source SanDisk brand 9">
                <a:extLst>
                  <a:ext uri="{FF2B5EF4-FFF2-40B4-BE49-F238E27FC236}">
                    <a16:creationId xmlns:a16="http://schemas.microsoft.com/office/drawing/2014/main" id="{D6B4B94F-9063-7C67-5801-B3828727A687}"/>
                  </a:ext>
                </a:extLst>
              </p:cNvPr>
              <p:cNvSpPr/>
              <p:nvPr/>
            </p:nvSpPr>
            <p:spPr>
              <a:xfrm>
                <a:off x="7827818" y="3172690"/>
                <a:ext cx="639040" cy="514349"/>
              </a:xfrm>
              <a:custGeom>
                <a:avLst/>
                <a:gdLst>
                  <a:gd name="connsiteX0" fmla="*/ 639041 w 639040"/>
                  <a:gd name="connsiteY0" fmla="*/ 129020 h 514349"/>
                  <a:gd name="connsiteX1" fmla="*/ 639041 w 639040"/>
                  <a:gd name="connsiteY1" fmla="*/ 0 h 514349"/>
                  <a:gd name="connsiteX2" fmla="*/ 526473 w 639040"/>
                  <a:gd name="connsiteY2" fmla="*/ 0 h 514349"/>
                  <a:gd name="connsiteX3" fmla="*/ 502227 w 639040"/>
                  <a:gd name="connsiteY3" fmla="*/ 9525 h 514349"/>
                  <a:gd name="connsiteX4" fmla="*/ 302203 w 639040"/>
                  <a:gd name="connsiteY4" fmla="*/ 191366 h 514349"/>
                  <a:gd name="connsiteX5" fmla="*/ 281420 w 639040"/>
                  <a:gd name="connsiteY5" fmla="*/ 200025 h 514349"/>
                  <a:gd name="connsiteX6" fmla="*/ 142009 w 639040"/>
                  <a:gd name="connsiteY6" fmla="*/ 200025 h 514349"/>
                  <a:gd name="connsiteX7" fmla="*/ 126423 w 639040"/>
                  <a:gd name="connsiteY7" fmla="*/ 184439 h 514349"/>
                  <a:gd name="connsiteX8" fmla="*/ 126423 w 639040"/>
                  <a:gd name="connsiteY8" fmla="*/ 866 h 514349"/>
                  <a:gd name="connsiteX9" fmla="*/ 0 w 639040"/>
                  <a:gd name="connsiteY9" fmla="*/ 866 h 514349"/>
                  <a:gd name="connsiteX10" fmla="*/ 0 w 639040"/>
                  <a:gd name="connsiteY10" fmla="*/ 513484 h 514349"/>
                  <a:gd name="connsiteX11" fmla="*/ 126423 w 639040"/>
                  <a:gd name="connsiteY11" fmla="*/ 513484 h 514349"/>
                  <a:gd name="connsiteX12" fmla="*/ 126423 w 639040"/>
                  <a:gd name="connsiteY12" fmla="*/ 329911 h 514349"/>
                  <a:gd name="connsiteX13" fmla="*/ 142009 w 639040"/>
                  <a:gd name="connsiteY13" fmla="*/ 314325 h 514349"/>
                  <a:gd name="connsiteX14" fmla="*/ 281420 w 639040"/>
                  <a:gd name="connsiteY14" fmla="*/ 314325 h 514349"/>
                  <a:gd name="connsiteX15" fmla="*/ 302203 w 639040"/>
                  <a:gd name="connsiteY15" fmla="*/ 322984 h 514349"/>
                  <a:gd name="connsiteX16" fmla="*/ 502227 w 639040"/>
                  <a:gd name="connsiteY16" fmla="*/ 504825 h 514349"/>
                  <a:gd name="connsiteX17" fmla="*/ 526473 w 639040"/>
                  <a:gd name="connsiteY17" fmla="*/ 514350 h 514349"/>
                  <a:gd name="connsiteX18" fmla="*/ 639041 w 639040"/>
                  <a:gd name="connsiteY18" fmla="*/ 514350 h 514349"/>
                  <a:gd name="connsiteX19" fmla="*/ 639041 w 639040"/>
                  <a:gd name="connsiteY19" fmla="*/ 386196 h 514349"/>
                  <a:gd name="connsiteX20" fmla="*/ 577562 w 639040"/>
                  <a:gd name="connsiteY20" fmla="*/ 386196 h 514349"/>
                  <a:gd name="connsiteX21" fmla="*/ 524741 w 639040"/>
                  <a:gd name="connsiteY21" fmla="*/ 367145 h 514349"/>
                  <a:gd name="connsiteX22" fmla="*/ 429491 w 639040"/>
                  <a:gd name="connsiteY22" fmla="*/ 283152 h 514349"/>
                  <a:gd name="connsiteX23" fmla="*/ 429491 w 639040"/>
                  <a:gd name="connsiteY23" fmla="*/ 233795 h 514349"/>
                  <a:gd name="connsiteX24" fmla="*/ 524741 w 639040"/>
                  <a:gd name="connsiteY24" fmla="*/ 149802 h 514349"/>
                  <a:gd name="connsiteX25" fmla="*/ 577562 w 639040"/>
                  <a:gd name="connsiteY25" fmla="*/ 130752 h 514349"/>
                  <a:gd name="connsiteX26" fmla="*/ 639041 w 639040"/>
                  <a:gd name="connsiteY26" fmla="*/ 130752 h 514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39040" h="514349">
                    <a:moveTo>
                      <a:pt x="639041" y="129020"/>
                    </a:moveTo>
                    <a:lnTo>
                      <a:pt x="639041" y="0"/>
                    </a:lnTo>
                    <a:lnTo>
                      <a:pt x="526473" y="0"/>
                    </a:lnTo>
                    <a:cubicBezTo>
                      <a:pt x="517814" y="0"/>
                      <a:pt x="509154" y="3464"/>
                      <a:pt x="502227" y="9525"/>
                    </a:cubicBezTo>
                    <a:lnTo>
                      <a:pt x="302203" y="191366"/>
                    </a:lnTo>
                    <a:cubicBezTo>
                      <a:pt x="296141" y="196561"/>
                      <a:pt x="289214" y="200025"/>
                      <a:pt x="281420" y="200025"/>
                    </a:cubicBezTo>
                    <a:lnTo>
                      <a:pt x="142009" y="200025"/>
                    </a:lnTo>
                    <a:cubicBezTo>
                      <a:pt x="133350" y="200025"/>
                      <a:pt x="126423" y="193098"/>
                      <a:pt x="126423" y="184439"/>
                    </a:cubicBezTo>
                    <a:lnTo>
                      <a:pt x="126423" y="866"/>
                    </a:lnTo>
                    <a:lnTo>
                      <a:pt x="0" y="866"/>
                    </a:lnTo>
                    <a:lnTo>
                      <a:pt x="0" y="513484"/>
                    </a:lnTo>
                    <a:lnTo>
                      <a:pt x="126423" y="513484"/>
                    </a:lnTo>
                    <a:lnTo>
                      <a:pt x="126423" y="329911"/>
                    </a:lnTo>
                    <a:cubicBezTo>
                      <a:pt x="126423" y="321252"/>
                      <a:pt x="133350" y="314325"/>
                      <a:pt x="142009" y="314325"/>
                    </a:cubicBezTo>
                    <a:lnTo>
                      <a:pt x="281420" y="314325"/>
                    </a:lnTo>
                    <a:cubicBezTo>
                      <a:pt x="289214" y="314325"/>
                      <a:pt x="296141" y="316923"/>
                      <a:pt x="302203" y="322984"/>
                    </a:cubicBezTo>
                    <a:lnTo>
                      <a:pt x="502227" y="504825"/>
                    </a:lnTo>
                    <a:cubicBezTo>
                      <a:pt x="509154" y="510886"/>
                      <a:pt x="517814" y="514350"/>
                      <a:pt x="526473" y="514350"/>
                    </a:cubicBezTo>
                    <a:lnTo>
                      <a:pt x="639041" y="514350"/>
                    </a:lnTo>
                    <a:lnTo>
                      <a:pt x="639041" y="386196"/>
                    </a:lnTo>
                    <a:lnTo>
                      <a:pt x="577562" y="386196"/>
                    </a:lnTo>
                    <a:cubicBezTo>
                      <a:pt x="558511" y="386196"/>
                      <a:pt x="539461" y="379268"/>
                      <a:pt x="524741" y="367145"/>
                    </a:cubicBezTo>
                    <a:lnTo>
                      <a:pt x="429491" y="283152"/>
                    </a:lnTo>
                    <a:cubicBezTo>
                      <a:pt x="414771" y="270164"/>
                      <a:pt x="414771" y="247650"/>
                      <a:pt x="429491" y="233795"/>
                    </a:cubicBezTo>
                    <a:lnTo>
                      <a:pt x="524741" y="149802"/>
                    </a:lnTo>
                    <a:cubicBezTo>
                      <a:pt x="539461" y="137680"/>
                      <a:pt x="557646" y="131618"/>
                      <a:pt x="577562" y="130752"/>
                    </a:cubicBezTo>
                    <a:lnTo>
                      <a:pt x="639041" y="130752"/>
                    </a:ln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78" name="Source SanDisk brand 10">
                <a:extLst>
                  <a:ext uri="{FF2B5EF4-FFF2-40B4-BE49-F238E27FC236}">
                    <a16:creationId xmlns:a16="http://schemas.microsoft.com/office/drawing/2014/main" id="{D10C90D8-745C-4517-452F-8D9398F858A1}"/>
                  </a:ext>
                </a:extLst>
              </p:cNvPr>
              <p:cNvSpPr/>
              <p:nvPr/>
            </p:nvSpPr>
            <p:spPr>
              <a:xfrm>
                <a:off x="4441247" y="3172690"/>
                <a:ext cx="692727" cy="513484"/>
              </a:xfrm>
              <a:custGeom>
                <a:avLst/>
                <a:gdLst>
                  <a:gd name="connsiteX0" fmla="*/ 497898 w 692727"/>
                  <a:gd name="connsiteY0" fmla="*/ 0 h 513484"/>
                  <a:gd name="connsiteX1" fmla="*/ 351559 w 692727"/>
                  <a:gd name="connsiteY1" fmla="*/ 72736 h 513484"/>
                  <a:gd name="connsiteX2" fmla="*/ 0 w 692727"/>
                  <a:gd name="connsiteY2" fmla="*/ 512618 h 513484"/>
                  <a:gd name="connsiteX3" fmla="*/ 178377 w 692727"/>
                  <a:gd name="connsiteY3" fmla="*/ 512618 h 513484"/>
                  <a:gd name="connsiteX4" fmla="*/ 468457 w 692727"/>
                  <a:gd name="connsiteY4" fmla="*/ 155864 h 513484"/>
                  <a:gd name="connsiteX5" fmla="*/ 516082 w 692727"/>
                  <a:gd name="connsiteY5" fmla="*/ 129886 h 513484"/>
                  <a:gd name="connsiteX6" fmla="*/ 564573 w 692727"/>
                  <a:gd name="connsiteY6" fmla="*/ 184439 h 513484"/>
                  <a:gd name="connsiteX7" fmla="*/ 564573 w 692727"/>
                  <a:gd name="connsiteY7" fmla="*/ 339436 h 513484"/>
                  <a:gd name="connsiteX8" fmla="*/ 528205 w 692727"/>
                  <a:gd name="connsiteY8" fmla="*/ 385330 h 513484"/>
                  <a:gd name="connsiteX9" fmla="*/ 492702 w 692727"/>
                  <a:gd name="connsiteY9" fmla="*/ 385330 h 513484"/>
                  <a:gd name="connsiteX10" fmla="*/ 492702 w 692727"/>
                  <a:gd name="connsiteY10" fmla="*/ 513484 h 513484"/>
                  <a:gd name="connsiteX11" fmla="*/ 692727 w 692727"/>
                  <a:gd name="connsiteY11" fmla="*/ 513484 h 513484"/>
                  <a:gd name="connsiteX12" fmla="*/ 692727 w 692727"/>
                  <a:gd name="connsiteY12" fmla="*/ 192232 h 513484"/>
                  <a:gd name="connsiteX13" fmla="*/ 497898 w 692727"/>
                  <a:gd name="connsiteY13" fmla="*/ 866 h 513484"/>
                  <a:gd name="connsiteX14" fmla="*/ 497898 w 692727"/>
                  <a:gd name="connsiteY14" fmla="*/ 866 h 513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2727" h="513484">
                    <a:moveTo>
                      <a:pt x="497898" y="0"/>
                    </a:moveTo>
                    <a:cubicBezTo>
                      <a:pt x="440748" y="866"/>
                      <a:pt x="387061" y="27709"/>
                      <a:pt x="351559" y="72736"/>
                    </a:cubicBezTo>
                    <a:lnTo>
                      <a:pt x="0" y="512618"/>
                    </a:lnTo>
                    <a:lnTo>
                      <a:pt x="178377" y="512618"/>
                    </a:lnTo>
                    <a:lnTo>
                      <a:pt x="468457" y="155864"/>
                    </a:lnTo>
                    <a:cubicBezTo>
                      <a:pt x="483177" y="138545"/>
                      <a:pt x="493568" y="129886"/>
                      <a:pt x="516082" y="129886"/>
                    </a:cubicBezTo>
                    <a:cubicBezTo>
                      <a:pt x="538596" y="129886"/>
                      <a:pt x="564573" y="154998"/>
                      <a:pt x="564573" y="184439"/>
                    </a:cubicBezTo>
                    <a:lnTo>
                      <a:pt x="564573" y="339436"/>
                    </a:lnTo>
                    <a:cubicBezTo>
                      <a:pt x="564573" y="364548"/>
                      <a:pt x="551584" y="385330"/>
                      <a:pt x="528205" y="385330"/>
                    </a:cubicBezTo>
                    <a:lnTo>
                      <a:pt x="492702" y="385330"/>
                    </a:lnTo>
                    <a:lnTo>
                      <a:pt x="492702" y="513484"/>
                    </a:lnTo>
                    <a:lnTo>
                      <a:pt x="692727" y="513484"/>
                    </a:lnTo>
                    <a:lnTo>
                      <a:pt x="692727" y="192232"/>
                    </a:lnTo>
                    <a:cubicBezTo>
                      <a:pt x="692727" y="166255"/>
                      <a:pt x="692727" y="866"/>
                      <a:pt x="497898" y="866"/>
                    </a:cubicBezTo>
                    <a:lnTo>
                      <a:pt x="497898" y="866"/>
                    </a:lnTo>
                    <a:close/>
                  </a:path>
                </a:pathLst>
              </a:custGeom>
              <a:solidFill>
                <a:srgbClr val="E10600"/>
              </a:solidFill>
              <a:ln w="8653" cap="flat">
                <a:noFill/>
                <a:prstDash val="solid"/>
                <a:miter/>
              </a:ln>
            </p:spPr>
            <p:txBody>
              <a:bodyPr rtlCol="0" anchor="ctr"/>
              <a:lstStyle/>
              <a:p>
                <a:endParaRPr lang="en-US">
                  <a:solidFill>
                    <a:schemeClr val="tx1"/>
                  </a:solidFill>
                </a:endParaRPr>
              </a:p>
            </p:txBody>
          </p:sp>
        </p:grpSp>
        <p:grpSp>
          <p:nvGrpSpPr>
            <p:cNvPr id="79" name="Source SanDisk brand 11">
              <a:extLst>
                <a:ext uri="{FF2B5EF4-FFF2-40B4-BE49-F238E27FC236}">
                  <a16:creationId xmlns:a16="http://schemas.microsoft.com/office/drawing/2014/main" id="{5486611C-7296-3F16-EE92-FF3602ECC95B}"/>
                </a:ext>
              </a:extLst>
            </p:cNvPr>
            <p:cNvGrpSpPr/>
            <p:nvPr/>
          </p:nvGrpSpPr>
          <p:grpSpPr>
            <a:xfrm>
              <a:off x="11237775" y="5428812"/>
              <a:ext cx="644881" cy="280035"/>
              <a:chOff x="11237775" y="5428812"/>
              <a:chExt cx="644881" cy="280035"/>
            </a:xfrm>
            <a:grpFill/>
          </p:grpSpPr>
          <p:sp>
            <p:nvSpPr>
              <p:cNvPr id="80" name="Source SanDisk brand 12">
                <a:extLst>
                  <a:ext uri="{FF2B5EF4-FFF2-40B4-BE49-F238E27FC236}">
                    <a16:creationId xmlns:a16="http://schemas.microsoft.com/office/drawing/2014/main" id="{B0C1A2A3-93DA-837F-A5A0-B25E09D76DE0}"/>
                  </a:ext>
                </a:extLst>
              </p:cNvPr>
              <p:cNvSpPr/>
              <p:nvPr/>
            </p:nvSpPr>
            <p:spPr>
              <a:xfrm>
                <a:off x="11237775" y="5428812"/>
                <a:ext cx="245631" cy="280035"/>
              </a:xfrm>
              <a:custGeom>
                <a:avLst/>
                <a:gdLst/>
                <a:ahLst/>
                <a:cxnLst/>
                <a:rect l="l" t="t" r="r" b="b"/>
                <a:pathLst>
                  <a:path w="245631" h="280035">
                    <a:moveTo>
                      <a:pt x="0" y="0"/>
                    </a:moveTo>
                    <a:lnTo>
                      <a:pt x="245631" y="0"/>
                    </a:lnTo>
                    <a:lnTo>
                      <a:pt x="245631" y="50407"/>
                    </a:lnTo>
                    <a:lnTo>
                      <a:pt x="151219" y="50407"/>
                    </a:lnTo>
                    <a:lnTo>
                      <a:pt x="151219" y="280035"/>
                    </a:lnTo>
                    <a:lnTo>
                      <a:pt x="93612" y="280035"/>
                    </a:lnTo>
                    <a:lnTo>
                      <a:pt x="93612" y="50407"/>
                    </a:lnTo>
                    <a:lnTo>
                      <a:pt x="0" y="50407"/>
                    </a:lnTo>
                    <a:lnTo>
                      <a:pt x="0" y="0"/>
                    </a:lnTo>
                    <a:close/>
                  </a:path>
                </a:pathLst>
              </a:custGeom>
              <a:solidFill>
                <a:srgbClr val="E106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81" name="Source SanDisk brand 13">
                <a:extLst>
                  <a:ext uri="{FF2B5EF4-FFF2-40B4-BE49-F238E27FC236}">
                    <a16:creationId xmlns:a16="http://schemas.microsoft.com/office/drawing/2014/main" id="{BAD87224-DE76-7FF9-D1D4-86623728FE01}"/>
                  </a:ext>
                </a:extLst>
              </p:cNvPr>
              <p:cNvSpPr/>
              <p:nvPr/>
            </p:nvSpPr>
            <p:spPr>
              <a:xfrm>
                <a:off x="11521011" y="5428812"/>
                <a:ext cx="361645" cy="280035"/>
              </a:xfrm>
              <a:custGeom>
                <a:avLst/>
                <a:gdLst/>
                <a:ahLst/>
                <a:cxnLst/>
                <a:rect l="l" t="t" r="r" b="b"/>
                <a:pathLst>
                  <a:path w="361645" h="280035">
                    <a:moveTo>
                      <a:pt x="0" y="0"/>
                    </a:moveTo>
                    <a:lnTo>
                      <a:pt x="100012" y="0"/>
                    </a:lnTo>
                    <a:lnTo>
                      <a:pt x="181622" y="210427"/>
                    </a:lnTo>
                    <a:lnTo>
                      <a:pt x="185623" y="210427"/>
                    </a:lnTo>
                    <a:lnTo>
                      <a:pt x="268033" y="0"/>
                    </a:lnTo>
                    <a:lnTo>
                      <a:pt x="361645" y="0"/>
                    </a:lnTo>
                    <a:lnTo>
                      <a:pt x="361645" y="280035"/>
                    </a:lnTo>
                    <a:lnTo>
                      <a:pt x="305638" y="280035"/>
                    </a:lnTo>
                    <a:lnTo>
                      <a:pt x="305638" y="48006"/>
                    </a:lnTo>
                    <a:lnTo>
                      <a:pt x="301637" y="48006"/>
                    </a:lnTo>
                    <a:lnTo>
                      <a:pt x="211226" y="280035"/>
                    </a:lnTo>
                    <a:lnTo>
                      <a:pt x="150418" y="280035"/>
                    </a:lnTo>
                    <a:lnTo>
                      <a:pt x="60007" y="48006"/>
                    </a:lnTo>
                    <a:lnTo>
                      <a:pt x="56807" y="48006"/>
                    </a:lnTo>
                    <a:lnTo>
                      <a:pt x="56807" y="280035"/>
                    </a:lnTo>
                    <a:lnTo>
                      <a:pt x="0" y="280035"/>
                    </a:lnTo>
                    <a:lnTo>
                      <a:pt x="0" y="0"/>
                    </a:lnTo>
                    <a:close/>
                  </a:path>
                </a:pathLst>
              </a:custGeom>
              <a:solidFill>
                <a:srgbClr val="E106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grpSp>
      </p:grpSp>
      <p:sp>
        <p:nvSpPr>
          <p:cNvPr id="82" name="Shape 3">
            <a:extLst>
              <a:ext uri="{FF2B5EF4-FFF2-40B4-BE49-F238E27FC236}">
                <a16:creationId xmlns:a16="http://schemas.microsoft.com/office/drawing/2014/main" id="{5A3EF3C2-ED0B-AD59-D014-6079E6FCDD9B}"/>
              </a:ext>
            </a:extLst>
          </p:cNvPr>
          <p:cNvSpPr/>
          <p:nvPr/>
        </p:nvSpPr>
        <p:spPr>
          <a:xfrm>
            <a:off x="0" y="0"/>
            <a:ext cx="146304" cy="6858000"/>
          </a:xfrm>
          <a:prstGeom prst="rect">
            <a:avLst/>
          </a:prstGeom>
          <a:solidFill>
            <a:schemeClr val="accent2"/>
          </a:solidFill>
          <a:ln w="6350">
            <a:solidFill>
              <a:srgbClr val="00A3A3"/>
            </a:solidFill>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30352" y="301752"/>
            <a:ext cx="9966960" cy="201168"/>
          </a:xfrm>
          <a:prstGeom prst="rect">
            <a:avLst/>
          </a:prstGeom>
          <a:noFill/>
          <a:ln/>
        </p:spPr>
        <p:txBody>
          <a:bodyPr wrap="square" lIns="0" tIns="0" rIns="0" bIns="0" rtlCol="0" anchor="ctr"/>
          <a:lstStyle/>
          <a:p>
            <a:pPr marL="0" indent="0">
              <a:buNone/>
            </a:pPr>
            <a:r>
              <a:rPr lang="en-US" sz="1050" b="1" kern="0" spc="100" dirty="0">
                <a:solidFill>
                  <a:srgbClr val="E10600"/>
                </a:solidFill>
                <a:latin typeface="Aptos" pitchFamily="34" charset="0"/>
                <a:ea typeface="Aptos" pitchFamily="34" charset="-122"/>
                <a:cs typeface="Aptos" pitchFamily="34" charset="-120"/>
              </a:rPr>
              <a:t>LATENCY BUDGETS</a:t>
            </a:r>
            <a:endParaRPr lang="en-US" sz="1050" dirty="0"/>
          </a:p>
        </p:txBody>
      </p:sp>
      <p:sp>
        <p:nvSpPr>
          <p:cNvPr id="3" name="Shape 1"/>
          <p:cNvSpPr/>
          <p:nvPr/>
        </p:nvSpPr>
        <p:spPr>
          <a:xfrm>
            <a:off x="11448288" y="292608"/>
            <a:ext cx="201168" cy="201168"/>
          </a:xfrm>
          <a:prstGeom prst="rect">
            <a:avLst/>
          </a:prstGeom>
          <a:solidFill>
            <a:srgbClr val="E10600"/>
          </a:solidFill>
          <a:ln w="8255">
            <a:solidFill>
              <a:srgbClr val="E10600"/>
            </a:solidFill>
            <a:prstDash val="solid"/>
          </a:ln>
        </p:spPr>
        <p:txBody>
          <a:bodyPr/>
          <a:lstStyle/>
          <a:p>
            <a:endParaRPr lang="en-US"/>
          </a:p>
        </p:txBody>
      </p:sp>
      <p:sp>
        <p:nvSpPr>
          <p:cNvPr id="4" name="Text 2"/>
          <p:cNvSpPr/>
          <p:nvPr/>
        </p:nvSpPr>
        <p:spPr>
          <a:xfrm>
            <a:off x="530352" y="667512"/>
            <a:ext cx="11027664" cy="557784"/>
          </a:xfrm>
          <a:prstGeom prst="rect">
            <a:avLst/>
          </a:prstGeom>
          <a:noFill/>
          <a:ln/>
        </p:spPr>
        <p:txBody>
          <a:bodyPr wrap="square" lIns="0" tIns="0" rIns="0" bIns="0" rtlCol="0" anchor="ctr"/>
          <a:lstStyle/>
          <a:p>
            <a:pPr marL="0" indent="0">
              <a:buNone/>
            </a:pPr>
            <a:r>
              <a:rPr lang="en-US" sz="2900" b="1" dirty="0">
                <a:solidFill>
                  <a:srgbClr val="161616"/>
                </a:solidFill>
                <a:latin typeface="Aptos Display" pitchFamily="34" charset="0"/>
                <a:ea typeface="Aptos Display" pitchFamily="34" charset="-122"/>
                <a:cs typeface="Aptos Display" pitchFamily="34" charset="-120"/>
              </a:rPr>
              <a:t>Make the customer’s time budget visible</a:t>
            </a:r>
            <a:endParaRPr lang="en-US" sz="2900" dirty="0"/>
          </a:p>
        </p:txBody>
      </p:sp>
      <p:sp>
        <p:nvSpPr>
          <p:cNvPr id="5" name="Text 3"/>
          <p:cNvSpPr/>
          <p:nvPr/>
        </p:nvSpPr>
        <p:spPr>
          <a:xfrm>
            <a:off x="530352" y="1261872"/>
            <a:ext cx="11045952" cy="365760"/>
          </a:xfrm>
          <a:prstGeom prst="rect">
            <a:avLst/>
          </a:prstGeom>
          <a:noFill/>
          <a:ln/>
        </p:spPr>
        <p:txBody>
          <a:bodyPr wrap="square" lIns="0" tIns="0" rIns="0" bIns="0" rtlCol="0" anchor="ctr"/>
          <a:lstStyle/>
          <a:p>
            <a:pPr marL="0" indent="0">
              <a:buNone/>
            </a:pPr>
            <a:r>
              <a:rPr lang="en-US" sz="1480" dirty="0">
                <a:solidFill>
                  <a:srgbClr val="686868"/>
                </a:solidFill>
                <a:latin typeface="Aptos" pitchFamily="34" charset="0"/>
                <a:ea typeface="Aptos" pitchFamily="34" charset="-122"/>
                <a:cs typeface="Aptos" pitchFamily="34" charset="-120"/>
              </a:rPr>
              <a:t>Practical request shapes in seconds—planning inputs, not platform benchmarks or p99 measurements.</a:t>
            </a:r>
            <a:endParaRPr lang="en-US" sz="1480" dirty="0"/>
          </a:p>
        </p:txBody>
      </p:sp>
      <p:sp>
        <p:nvSpPr>
          <p:cNvPr id="6" name="Shape 4"/>
          <p:cNvSpPr/>
          <p:nvPr/>
        </p:nvSpPr>
        <p:spPr>
          <a:xfrm>
            <a:off x="530352" y="1773936"/>
            <a:ext cx="11100816" cy="0"/>
          </a:xfrm>
          <a:prstGeom prst="line">
            <a:avLst/>
          </a:prstGeom>
          <a:noFill/>
          <a:ln w="12700">
            <a:solidFill>
              <a:srgbClr val="DED8D2"/>
            </a:solidFill>
            <a:prstDash val="solid"/>
          </a:ln>
        </p:spPr>
        <p:txBody>
          <a:bodyPr/>
          <a:lstStyle/>
          <a:p>
            <a:endParaRPr lang="en-US"/>
          </a:p>
        </p:txBody>
      </p:sp>
      <p:sp>
        <p:nvSpPr>
          <p:cNvPr id="7" name="Text 5"/>
          <p:cNvSpPr/>
          <p:nvPr/>
        </p:nvSpPr>
        <p:spPr>
          <a:xfrm>
            <a:off x="530352" y="6556248"/>
            <a:ext cx="777240" cy="128016"/>
          </a:xfrm>
          <a:prstGeom prst="rect">
            <a:avLst/>
          </a:prstGeom>
          <a:noFill/>
          <a:ln/>
        </p:spPr>
        <p:txBody>
          <a:bodyPr wrap="square" lIns="0" tIns="0" rIns="0" bIns="0" rtlCol="0" anchor="ctr"/>
          <a:lstStyle/>
          <a:p>
            <a:pPr marL="0" indent="0">
              <a:buNone/>
            </a:pPr>
            <a:endParaRPr lang="en-US" sz="800" dirty="0"/>
          </a:p>
        </p:txBody>
      </p:sp>
      <p:sp>
        <p:nvSpPr>
          <p:cNvPr id="8" name="Text 6"/>
          <p:cNvSpPr/>
          <p:nvPr/>
        </p:nvSpPr>
        <p:spPr>
          <a:xfrm>
            <a:off x="2103120" y="6556248"/>
            <a:ext cx="3703320" cy="128016"/>
          </a:xfrm>
          <a:prstGeom prst="rect">
            <a:avLst/>
          </a:prstGeom>
          <a:noFill/>
          <a:ln/>
        </p:spPr>
        <p:txBody>
          <a:bodyPr wrap="square" lIns="0" tIns="0" rIns="0" bIns="0" rtlCol="0" anchor="ctr"/>
          <a:lstStyle/>
          <a:p>
            <a:pPr marL="0" indent="0">
              <a:buNone/>
            </a:pPr>
            <a:r>
              <a:rPr lang="en-US" sz="800" dirty="0">
                <a:solidFill>
                  <a:srgbClr val="686868"/>
                </a:solidFill>
                <a:latin typeface="Aptos" pitchFamily="34" charset="0"/>
                <a:ea typeface="Aptos" pitchFamily="34" charset="-122"/>
                <a:cs typeface="Aptos" pitchFamily="34" charset="-120"/>
              </a:rPr>
              <a:t>CONFIDENTIAL  |  ©2026 SANDISK</a:t>
            </a:r>
            <a:endParaRPr lang="en-US" sz="800" dirty="0"/>
          </a:p>
        </p:txBody>
      </p:sp>
      <p:sp>
        <p:nvSpPr>
          <p:cNvPr id="9" name="Text 7"/>
          <p:cNvSpPr/>
          <p:nvPr/>
        </p:nvSpPr>
        <p:spPr>
          <a:xfrm>
            <a:off x="5989320" y="6556248"/>
            <a:ext cx="4910328" cy="128016"/>
          </a:xfrm>
          <a:prstGeom prst="rect">
            <a:avLst/>
          </a:prstGeom>
          <a:noFill/>
          <a:ln/>
        </p:spPr>
        <p:txBody>
          <a:bodyPr wrap="square" lIns="0" tIns="0" rIns="0" bIns="0" rtlCol="0" anchor="ctr"/>
          <a:lstStyle/>
          <a:p>
            <a:pPr marL="0" indent="0" algn="r">
              <a:buNone/>
            </a:pPr>
            <a:r>
              <a:rPr lang="en-US" sz="800" dirty="0">
                <a:solidFill>
                  <a:srgbClr val="686868"/>
                </a:solidFill>
                <a:latin typeface="Aptos" pitchFamily="34" charset="0"/>
                <a:ea typeface="Aptos" pitchFamily="34" charset="-122"/>
                <a:cs typeface="Aptos" pitchFamily="34" charset="-120"/>
              </a:rPr>
              <a:t>ILLUSTRATIVE SERVICE BUDGETS</a:t>
            </a:r>
            <a:endParaRPr lang="en-US" sz="800" dirty="0"/>
          </a:p>
        </p:txBody>
      </p:sp>
      <p:sp>
        <p:nvSpPr>
          <p:cNvPr id="10" name="Text 8"/>
          <p:cNvSpPr/>
          <p:nvPr/>
        </p:nvSpPr>
        <p:spPr>
          <a:xfrm>
            <a:off x="11247120" y="6528816"/>
            <a:ext cx="365760" cy="164592"/>
          </a:xfrm>
          <a:prstGeom prst="rect">
            <a:avLst/>
          </a:prstGeom>
          <a:noFill/>
          <a:ln/>
        </p:spPr>
        <p:txBody>
          <a:bodyPr wrap="square" lIns="0" tIns="0" rIns="0" bIns="0" rtlCol="0" anchor="ctr"/>
          <a:lstStyle/>
          <a:p>
            <a:pPr marL="0" indent="0" algn="r">
              <a:buNone/>
            </a:pPr>
            <a:r>
              <a:rPr lang="en-US" sz="900" b="1" dirty="0">
                <a:solidFill>
                  <a:srgbClr val="686868"/>
                </a:solidFill>
                <a:latin typeface="Aptos" pitchFamily="34" charset="0"/>
                <a:ea typeface="Aptos" pitchFamily="34" charset="-122"/>
                <a:cs typeface="Aptos" pitchFamily="34" charset="-120"/>
              </a:rPr>
              <a:t>16</a:t>
            </a:r>
            <a:endParaRPr lang="en-US" sz="900" dirty="0"/>
          </a:p>
        </p:txBody>
      </p:sp>
      <p:sp>
        <p:nvSpPr>
          <p:cNvPr id="11" name="Text 9"/>
          <p:cNvSpPr/>
          <p:nvPr/>
        </p:nvSpPr>
        <p:spPr>
          <a:xfrm>
            <a:off x="548640" y="6432804"/>
            <a:ext cx="7315200" cy="109728"/>
          </a:xfrm>
          <a:prstGeom prst="rect">
            <a:avLst/>
          </a:prstGeom>
          <a:noFill/>
          <a:ln/>
        </p:spPr>
        <p:txBody>
          <a:bodyPr wrap="square" lIns="0" tIns="0" rIns="0" bIns="0" rtlCol="0" anchor="ctr"/>
          <a:lstStyle/>
          <a:p>
            <a:pPr marL="0" indent="0">
              <a:buNone/>
            </a:pPr>
            <a:r>
              <a:rPr lang="en-US" sz="800" dirty="0">
                <a:solidFill>
                  <a:srgbClr val="686868"/>
                </a:solidFill>
                <a:latin typeface="Aptos" pitchFamily="34" charset="0"/>
                <a:ea typeface="Aptos" pitchFamily="34" charset="-122"/>
                <a:cs typeface="Aptos" pitchFamily="34" charset="-120"/>
              </a:rPr>
              <a:t>Sources: I7 · Details in notes</a:t>
            </a:r>
            <a:endParaRPr lang="en-US" sz="800" dirty="0"/>
          </a:p>
        </p:txBody>
      </p:sp>
      <p:graphicFrame>
        <p:nvGraphicFramePr>
          <p:cNvPr id="12" name="Chart 0"/>
          <p:cNvGraphicFramePr/>
          <p:nvPr/>
        </p:nvGraphicFramePr>
        <p:xfrm>
          <a:off x="612648" y="2148840"/>
          <a:ext cx="6922008"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13" name="Shape 10"/>
          <p:cNvSpPr/>
          <p:nvPr/>
        </p:nvSpPr>
        <p:spPr>
          <a:xfrm>
            <a:off x="7909560" y="2194560"/>
            <a:ext cx="3630168" cy="3364992"/>
          </a:xfrm>
          <a:prstGeom prst="roundRect">
            <a:avLst>
              <a:gd name="adj" fmla="val 3261"/>
            </a:avLst>
          </a:prstGeom>
          <a:solidFill>
            <a:srgbClr val="FFFFFF"/>
          </a:solidFill>
          <a:ln w="8255">
            <a:solidFill>
              <a:srgbClr val="DED8D2"/>
            </a:solidFill>
            <a:prstDash val="solid"/>
          </a:ln>
        </p:spPr>
        <p:txBody>
          <a:bodyPr/>
          <a:lstStyle/>
          <a:p>
            <a:endParaRPr lang="en-US"/>
          </a:p>
        </p:txBody>
      </p:sp>
      <p:sp>
        <p:nvSpPr>
          <p:cNvPr id="14" name="Text 11"/>
          <p:cNvSpPr/>
          <p:nvPr/>
        </p:nvSpPr>
        <p:spPr>
          <a:xfrm>
            <a:off x="8147304" y="2423160"/>
            <a:ext cx="3154680" cy="640080"/>
          </a:xfrm>
          <a:prstGeom prst="rect">
            <a:avLst/>
          </a:prstGeom>
          <a:noFill/>
          <a:ln/>
        </p:spPr>
        <p:txBody>
          <a:bodyPr wrap="square" lIns="0" tIns="0" rIns="0" bIns="0" rtlCol="0" anchor="ctr"/>
          <a:lstStyle/>
          <a:p>
            <a:pPr marL="0" indent="0">
              <a:buNone/>
            </a:pPr>
            <a:r>
              <a:rPr lang="en-US" sz="2200" b="1" dirty="0">
                <a:solidFill>
                  <a:srgbClr val="772C22"/>
                </a:solidFill>
                <a:latin typeface="Aptos" pitchFamily="34" charset="0"/>
                <a:ea typeface="Aptos" pitchFamily="34" charset="-122"/>
                <a:cs typeface="Aptos" pitchFamily="34" charset="-120"/>
              </a:rPr>
              <a:t>Where ATMOS aims to help</a:t>
            </a:r>
            <a:endParaRPr lang="en-US" sz="2200" dirty="0"/>
          </a:p>
        </p:txBody>
      </p:sp>
      <p:sp>
        <p:nvSpPr>
          <p:cNvPr id="15" name="Text 12"/>
          <p:cNvSpPr/>
          <p:nvPr/>
        </p:nvSpPr>
        <p:spPr>
          <a:xfrm>
            <a:off x="8147304" y="3346704"/>
            <a:ext cx="3127248" cy="1938528"/>
          </a:xfrm>
          <a:prstGeom prst="rect">
            <a:avLst/>
          </a:prstGeom>
          <a:noFill/>
          <a:ln/>
        </p:spPr>
        <p:txBody>
          <a:bodyPr wrap="square" lIns="0" tIns="0" rIns="0" bIns="0" rtlCol="0" anchor="t"/>
          <a:lstStyle/>
          <a:p>
            <a:pPr marL="0" indent="0">
              <a:buNone/>
            </a:pPr>
            <a:r>
              <a:rPr lang="en-US" sz="1600" dirty="0">
                <a:solidFill>
                  <a:srgbClr val="686868"/>
                </a:solidFill>
                <a:latin typeface="Aptos" pitchFamily="34" charset="0"/>
                <a:ea typeface="Aptos" pitchFamily="34" charset="-122"/>
                <a:cs typeface="Aptos" pitchFamily="34" charset="-120"/>
              </a:rPr>
              <a:t>Keep model state near compute.</a:t>
            </a:r>
            <a:endParaRPr lang="en-US" sz="1600" dirty="0"/>
          </a:p>
          <a:p>
            <a:pPr marL="0" indent="0">
              <a:buNone/>
            </a:pPr>
            <a:r>
              <a:rPr lang="en-US" sz="1600" dirty="0">
                <a:solidFill>
                  <a:srgbClr val="686868"/>
                </a:solidFill>
                <a:latin typeface="Aptos" pitchFamily="34" charset="0"/>
                <a:ea typeface="Aptos" pitchFamily="34" charset="-122"/>
                <a:cs typeface="Aptos" pitchFamily="34" charset="-120"/>
              </a:rPr>
              <a:t>Reduce avoidable activation waits.</a:t>
            </a:r>
            <a:endParaRPr lang="en-US" sz="1600" dirty="0"/>
          </a:p>
          <a:p>
            <a:pPr marL="0" indent="0">
              <a:buNone/>
            </a:pPr>
            <a:r>
              <a:rPr lang="en-US" sz="1600" dirty="0">
                <a:solidFill>
                  <a:srgbClr val="686868"/>
                </a:solidFill>
                <a:latin typeface="Aptos" pitchFamily="34" charset="0"/>
                <a:ea typeface="Aptos" pitchFamily="34" charset="-122"/>
                <a:cs typeface="Aptos" pitchFamily="34" charset="-120"/>
              </a:rPr>
              <a:t>Avoid capacity-driven coordination.</a:t>
            </a:r>
            <a:endParaRPr lang="en-US" sz="1600" dirty="0"/>
          </a:p>
          <a:p>
            <a:pPr marL="0" indent="0">
              <a:buNone/>
            </a:pPr>
            <a:endParaRPr lang="en-US" sz="1600" dirty="0"/>
          </a:p>
          <a:p>
            <a:pPr marL="0" indent="0">
              <a:buNone/>
            </a:pPr>
            <a:r>
              <a:rPr lang="en-US" sz="1600" dirty="0">
                <a:solidFill>
                  <a:srgbClr val="686868"/>
                </a:solidFill>
                <a:latin typeface="Aptos" pitchFamily="34" charset="0"/>
                <a:ea typeface="Aptos" pitchFamily="34" charset="-122"/>
                <a:cs typeface="Aptos" pitchFamily="34" charset="-120"/>
              </a:rPr>
              <a:t>Queues, retrieval and tools add more time outside these bars.</a:t>
            </a:r>
            <a:endParaRPr lang="en-US" sz="1600" dirty="0"/>
          </a:p>
        </p:txBody>
      </p:sp>
      <p:sp>
        <p:nvSpPr>
          <p:cNvPr id="16" name="Shape 13"/>
          <p:cNvSpPr/>
          <p:nvPr/>
        </p:nvSpPr>
        <p:spPr>
          <a:xfrm>
            <a:off x="530352" y="5980176"/>
            <a:ext cx="11091672" cy="420624"/>
          </a:xfrm>
          <a:prstGeom prst="roundRect">
            <a:avLst>
              <a:gd name="adj" fmla="val 26087"/>
            </a:avLst>
          </a:prstGeom>
          <a:solidFill>
            <a:srgbClr val="161616"/>
          </a:solidFill>
          <a:ln w="8255">
            <a:solidFill>
              <a:srgbClr val="161616"/>
            </a:solidFill>
            <a:prstDash val="solid"/>
          </a:ln>
        </p:spPr>
        <p:txBody>
          <a:bodyPr/>
          <a:lstStyle/>
          <a:p>
            <a:endParaRPr lang="en-US"/>
          </a:p>
        </p:txBody>
      </p:sp>
      <p:sp>
        <p:nvSpPr>
          <p:cNvPr id="17" name="Text 14"/>
          <p:cNvSpPr/>
          <p:nvPr/>
        </p:nvSpPr>
        <p:spPr>
          <a:xfrm>
            <a:off x="731520" y="6025896"/>
            <a:ext cx="10698480"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The short-, medium- and long-call means (16 / 40 / 120 s) also drive the active-concurrency sizing.</a:t>
            </a:r>
            <a:endParaRPr lang="en-US" sz="1400" dirty="0"/>
          </a:p>
        </p:txBody>
      </p:sp>
      <p:grpSp>
        <p:nvGrpSpPr>
          <p:cNvPr id="18" name="Source SanDisk brand 0">
            <a:extLst>
              <a:ext uri="{FF2B5EF4-FFF2-40B4-BE49-F238E27FC236}">
                <a16:creationId xmlns:a16="http://schemas.microsoft.com/office/drawing/2014/main" id="{A6A692BC-3C6C-56BD-8B34-32B6817D15D4}"/>
              </a:ext>
            </a:extLst>
          </p:cNvPr>
          <p:cNvGrpSpPr/>
          <p:nvPr/>
        </p:nvGrpSpPr>
        <p:grpSpPr>
          <a:xfrm>
            <a:off x="539496" y="6547104"/>
            <a:ext cx="1280160" cy="128016"/>
            <a:chOff x="297005" y="5421618"/>
            <a:chExt cx="11585651" cy="1156649"/>
          </a:xfrm>
          <a:solidFill>
            <a:schemeClr val="accent3"/>
          </a:solidFill>
        </p:grpSpPr>
        <p:grpSp>
          <p:nvGrpSpPr>
            <p:cNvPr id="19" name="Source SanDisk brand 1">
              <a:extLst>
                <a:ext uri="{FF2B5EF4-FFF2-40B4-BE49-F238E27FC236}">
                  <a16:creationId xmlns:a16="http://schemas.microsoft.com/office/drawing/2014/main" id="{50FD88E0-3A7B-F830-D901-1BE0676304ED}"/>
                </a:ext>
              </a:extLst>
            </p:cNvPr>
            <p:cNvGrpSpPr/>
            <p:nvPr/>
          </p:nvGrpSpPr>
          <p:grpSpPr>
            <a:xfrm>
              <a:off x="297005" y="5421618"/>
              <a:ext cx="10643138" cy="1156649"/>
              <a:chOff x="3726006" y="3171824"/>
              <a:chExt cx="4740852" cy="515215"/>
            </a:xfrm>
            <a:grpFill/>
          </p:grpSpPr>
          <p:sp>
            <p:nvSpPr>
              <p:cNvPr id="20" name="Source SanDisk brand 2">
                <a:extLst>
                  <a:ext uri="{FF2B5EF4-FFF2-40B4-BE49-F238E27FC236}">
                    <a16:creationId xmlns:a16="http://schemas.microsoft.com/office/drawing/2014/main" id="{BF52D899-1363-DEA1-6063-C8949655B805}"/>
                  </a:ext>
                </a:extLst>
              </p:cNvPr>
              <p:cNvSpPr/>
              <p:nvPr/>
            </p:nvSpPr>
            <p:spPr>
              <a:xfrm>
                <a:off x="5262995" y="3173556"/>
                <a:ext cx="639906" cy="512618"/>
              </a:xfrm>
              <a:custGeom>
                <a:avLst/>
                <a:gdLst>
                  <a:gd name="connsiteX0" fmla="*/ 512618 w 639906"/>
                  <a:gd name="connsiteY0" fmla="*/ 348961 h 512618"/>
                  <a:gd name="connsiteX1" fmla="*/ 482311 w 639906"/>
                  <a:gd name="connsiteY1" fmla="*/ 383598 h 512618"/>
                  <a:gd name="connsiteX2" fmla="*/ 446809 w 639906"/>
                  <a:gd name="connsiteY2" fmla="*/ 361950 h 512618"/>
                  <a:gd name="connsiteX3" fmla="*/ 329911 w 639906"/>
                  <a:gd name="connsiteY3" fmla="*/ 40698 h 512618"/>
                  <a:gd name="connsiteX4" fmla="*/ 274493 w 639906"/>
                  <a:gd name="connsiteY4" fmla="*/ 0 h 512618"/>
                  <a:gd name="connsiteX5" fmla="*/ 0 w 639906"/>
                  <a:gd name="connsiteY5" fmla="*/ 0 h 512618"/>
                  <a:gd name="connsiteX6" fmla="*/ 0 w 639906"/>
                  <a:gd name="connsiteY6" fmla="*/ 512618 h 512618"/>
                  <a:gd name="connsiteX7" fmla="*/ 200891 w 639906"/>
                  <a:gd name="connsiteY7" fmla="*/ 512618 h 512618"/>
                  <a:gd name="connsiteX8" fmla="*/ 200891 w 639906"/>
                  <a:gd name="connsiteY8" fmla="*/ 384464 h 512618"/>
                  <a:gd name="connsiteX9" fmla="*/ 165389 w 639906"/>
                  <a:gd name="connsiteY9" fmla="*/ 384464 h 512618"/>
                  <a:gd name="connsiteX10" fmla="*/ 128155 w 639906"/>
                  <a:gd name="connsiteY10" fmla="*/ 338571 h 512618"/>
                  <a:gd name="connsiteX11" fmla="*/ 128155 w 639906"/>
                  <a:gd name="connsiteY11" fmla="*/ 184439 h 512618"/>
                  <a:gd name="connsiteX12" fmla="*/ 200025 w 639906"/>
                  <a:gd name="connsiteY12" fmla="*/ 133350 h 512618"/>
                  <a:gd name="connsiteX13" fmla="*/ 228600 w 639906"/>
                  <a:gd name="connsiteY13" fmla="*/ 164523 h 512618"/>
                  <a:gd name="connsiteX14" fmla="*/ 322118 w 639906"/>
                  <a:gd name="connsiteY14" fmla="*/ 407843 h 512618"/>
                  <a:gd name="connsiteX15" fmla="*/ 475384 w 639906"/>
                  <a:gd name="connsiteY15" fmla="*/ 512618 h 512618"/>
                  <a:gd name="connsiteX16" fmla="*/ 478848 w 639906"/>
                  <a:gd name="connsiteY16" fmla="*/ 512618 h 512618"/>
                  <a:gd name="connsiteX17" fmla="*/ 639907 w 639906"/>
                  <a:gd name="connsiteY17" fmla="*/ 353291 h 512618"/>
                  <a:gd name="connsiteX18" fmla="*/ 639907 w 639906"/>
                  <a:gd name="connsiteY18" fmla="*/ 0 h 512618"/>
                  <a:gd name="connsiteX19" fmla="*/ 511752 w 639906"/>
                  <a:gd name="connsiteY19" fmla="*/ 0 h 512618"/>
                  <a:gd name="connsiteX20" fmla="*/ 511752 w 639906"/>
                  <a:gd name="connsiteY20" fmla="*/ 349827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39906" h="512618">
                    <a:moveTo>
                      <a:pt x="512618" y="348961"/>
                    </a:moveTo>
                    <a:cubicBezTo>
                      <a:pt x="512618" y="366279"/>
                      <a:pt x="499630" y="381000"/>
                      <a:pt x="482311" y="383598"/>
                    </a:cubicBezTo>
                    <a:cubicBezTo>
                      <a:pt x="466725" y="385330"/>
                      <a:pt x="452005" y="375805"/>
                      <a:pt x="446809" y="361950"/>
                    </a:cubicBezTo>
                    <a:lnTo>
                      <a:pt x="329911" y="40698"/>
                    </a:lnTo>
                    <a:cubicBezTo>
                      <a:pt x="321252" y="14721"/>
                      <a:pt x="299605" y="0"/>
                      <a:pt x="274493" y="0"/>
                    </a:cubicBezTo>
                    <a:lnTo>
                      <a:pt x="0" y="0"/>
                    </a:lnTo>
                    <a:lnTo>
                      <a:pt x="0" y="512618"/>
                    </a:lnTo>
                    <a:lnTo>
                      <a:pt x="200891" y="512618"/>
                    </a:lnTo>
                    <a:lnTo>
                      <a:pt x="200891" y="384464"/>
                    </a:lnTo>
                    <a:lnTo>
                      <a:pt x="165389" y="384464"/>
                    </a:lnTo>
                    <a:cubicBezTo>
                      <a:pt x="142009" y="384464"/>
                      <a:pt x="128155" y="363682"/>
                      <a:pt x="128155" y="338571"/>
                    </a:cubicBezTo>
                    <a:lnTo>
                      <a:pt x="128155" y="184439"/>
                    </a:lnTo>
                    <a:cubicBezTo>
                      <a:pt x="128155" y="146339"/>
                      <a:pt x="165389" y="118630"/>
                      <a:pt x="200025" y="133350"/>
                    </a:cubicBezTo>
                    <a:cubicBezTo>
                      <a:pt x="213014" y="139411"/>
                      <a:pt x="223405" y="150668"/>
                      <a:pt x="228600" y="164523"/>
                    </a:cubicBezTo>
                    <a:lnTo>
                      <a:pt x="322118" y="407843"/>
                    </a:lnTo>
                    <a:cubicBezTo>
                      <a:pt x="346364" y="471920"/>
                      <a:pt x="406977" y="512618"/>
                      <a:pt x="475384" y="512618"/>
                    </a:cubicBezTo>
                    <a:lnTo>
                      <a:pt x="478848" y="512618"/>
                    </a:lnTo>
                    <a:cubicBezTo>
                      <a:pt x="567170" y="512618"/>
                      <a:pt x="639907" y="442480"/>
                      <a:pt x="639907" y="353291"/>
                    </a:cubicBezTo>
                    <a:lnTo>
                      <a:pt x="639907" y="0"/>
                    </a:lnTo>
                    <a:lnTo>
                      <a:pt x="511752" y="0"/>
                    </a:lnTo>
                    <a:lnTo>
                      <a:pt x="511752" y="349827"/>
                    </a:ln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21" name="Source SanDisk brand 3">
                <a:extLst>
                  <a:ext uri="{FF2B5EF4-FFF2-40B4-BE49-F238E27FC236}">
                    <a16:creationId xmlns:a16="http://schemas.microsoft.com/office/drawing/2014/main" id="{4D5E0007-2AC5-2685-4C2D-CF96C07C7ED0}"/>
                  </a:ext>
                </a:extLst>
              </p:cNvPr>
              <p:cNvSpPr/>
              <p:nvPr/>
            </p:nvSpPr>
            <p:spPr>
              <a:xfrm>
                <a:off x="6031922" y="3172690"/>
                <a:ext cx="640772" cy="512618"/>
              </a:xfrm>
              <a:custGeom>
                <a:avLst/>
                <a:gdLst>
                  <a:gd name="connsiteX0" fmla="*/ 384464 w 640772"/>
                  <a:gd name="connsiteY0" fmla="*/ 0 h 512618"/>
                  <a:gd name="connsiteX1" fmla="*/ 0 w 640772"/>
                  <a:gd name="connsiteY1" fmla="*/ 0 h 512618"/>
                  <a:gd name="connsiteX2" fmla="*/ 0 w 640772"/>
                  <a:gd name="connsiteY2" fmla="*/ 129020 h 512618"/>
                  <a:gd name="connsiteX3" fmla="*/ 384464 w 640772"/>
                  <a:gd name="connsiteY3" fmla="*/ 129020 h 512618"/>
                  <a:gd name="connsiteX4" fmla="*/ 511752 w 640772"/>
                  <a:gd name="connsiteY4" fmla="*/ 256309 h 512618"/>
                  <a:gd name="connsiteX5" fmla="*/ 384464 w 640772"/>
                  <a:gd name="connsiteY5" fmla="*/ 383598 h 512618"/>
                  <a:gd name="connsiteX6" fmla="*/ 0 w 640772"/>
                  <a:gd name="connsiteY6" fmla="*/ 383598 h 512618"/>
                  <a:gd name="connsiteX7" fmla="*/ 0 w 640772"/>
                  <a:gd name="connsiteY7" fmla="*/ 512618 h 512618"/>
                  <a:gd name="connsiteX8" fmla="*/ 384464 w 640772"/>
                  <a:gd name="connsiteY8" fmla="*/ 512618 h 512618"/>
                  <a:gd name="connsiteX9" fmla="*/ 609600 w 640772"/>
                  <a:gd name="connsiteY9" fmla="*/ 380134 h 512618"/>
                  <a:gd name="connsiteX10" fmla="*/ 640773 w 640772"/>
                  <a:gd name="connsiteY10" fmla="*/ 256309 h 512618"/>
                  <a:gd name="connsiteX11" fmla="*/ 609600 w 640772"/>
                  <a:gd name="connsiteY11" fmla="*/ 132484 h 512618"/>
                  <a:gd name="connsiteX12" fmla="*/ 384464 w 640772"/>
                  <a:gd name="connsiteY12" fmla="*/ 0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0772" h="512618">
                    <a:moveTo>
                      <a:pt x="384464" y="0"/>
                    </a:moveTo>
                    <a:lnTo>
                      <a:pt x="0" y="0"/>
                    </a:lnTo>
                    <a:lnTo>
                      <a:pt x="0" y="129020"/>
                    </a:lnTo>
                    <a:lnTo>
                      <a:pt x="384464" y="129020"/>
                    </a:lnTo>
                    <a:cubicBezTo>
                      <a:pt x="452004" y="129020"/>
                      <a:pt x="511752" y="188768"/>
                      <a:pt x="511752" y="256309"/>
                    </a:cubicBezTo>
                    <a:cubicBezTo>
                      <a:pt x="511752" y="323850"/>
                      <a:pt x="452004" y="383598"/>
                      <a:pt x="384464" y="383598"/>
                    </a:cubicBezTo>
                    <a:lnTo>
                      <a:pt x="0" y="383598"/>
                    </a:lnTo>
                    <a:lnTo>
                      <a:pt x="0" y="512618"/>
                    </a:lnTo>
                    <a:lnTo>
                      <a:pt x="384464" y="512618"/>
                    </a:lnTo>
                    <a:cubicBezTo>
                      <a:pt x="481446" y="512618"/>
                      <a:pt x="565439" y="458932"/>
                      <a:pt x="609600" y="380134"/>
                    </a:cubicBezTo>
                    <a:cubicBezTo>
                      <a:pt x="629516" y="343766"/>
                      <a:pt x="640773" y="301337"/>
                      <a:pt x="640773" y="256309"/>
                    </a:cubicBezTo>
                    <a:cubicBezTo>
                      <a:pt x="640773" y="211282"/>
                      <a:pt x="629516" y="169718"/>
                      <a:pt x="609600" y="132484"/>
                    </a:cubicBezTo>
                    <a:cubicBezTo>
                      <a:pt x="566305" y="52821"/>
                      <a:pt x="482311" y="0"/>
                      <a:pt x="384464" y="0"/>
                    </a:cubicBez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22" name="Source SanDisk brand 4">
                <a:extLst>
                  <a:ext uri="{FF2B5EF4-FFF2-40B4-BE49-F238E27FC236}">
                    <a16:creationId xmlns:a16="http://schemas.microsoft.com/office/drawing/2014/main" id="{9164FD13-1646-7FD2-5414-F5FB8722267D}"/>
                  </a:ext>
                </a:extLst>
              </p:cNvPr>
              <p:cNvSpPr/>
              <p:nvPr/>
            </p:nvSpPr>
            <p:spPr>
              <a:xfrm>
                <a:off x="6726381" y="3171824"/>
                <a:ext cx="202622" cy="512618"/>
              </a:xfrm>
              <a:custGeom>
                <a:avLst/>
                <a:gdLst>
                  <a:gd name="connsiteX0" fmla="*/ 25977 w 202622"/>
                  <a:gd name="connsiteY0" fmla="*/ 129021 h 512618"/>
                  <a:gd name="connsiteX1" fmla="*/ 36368 w 202622"/>
                  <a:gd name="connsiteY1" fmla="*/ 129021 h 512618"/>
                  <a:gd name="connsiteX2" fmla="*/ 74468 w 202622"/>
                  <a:gd name="connsiteY2" fmla="*/ 176646 h 512618"/>
                  <a:gd name="connsiteX3" fmla="*/ 74468 w 202622"/>
                  <a:gd name="connsiteY3" fmla="*/ 512618 h 512618"/>
                  <a:gd name="connsiteX4" fmla="*/ 202623 w 202622"/>
                  <a:gd name="connsiteY4" fmla="*/ 512618 h 512618"/>
                  <a:gd name="connsiteX5" fmla="*/ 202623 w 202622"/>
                  <a:gd name="connsiteY5" fmla="*/ 0 h 512618"/>
                  <a:gd name="connsiteX6" fmla="*/ 0 w 202622"/>
                  <a:gd name="connsiteY6" fmla="*/ 0 h 512618"/>
                  <a:gd name="connsiteX7" fmla="*/ 0 w 202622"/>
                  <a:gd name="connsiteY7" fmla="*/ 128155 h 512618"/>
                  <a:gd name="connsiteX8" fmla="*/ 26843 w 202622"/>
                  <a:gd name="connsiteY8" fmla="*/ 128155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622" h="512618">
                    <a:moveTo>
                      <a:pt x="25977" y="129021"/>
                    </a:moveTo>
                    <a:cubicBezTo>
                      <a:pt x="29441" y="129021"/>
                      <a:pt x="32039" y="129021"/>
                      <a:pt x="36368" y="129021"/>
                    </a:cubicBezTo>
                    <a:cubicBezTo>
                      <a:pt x="59748" y="132484"/>
                      <a:pt x="74468" y="151534"/>
                      <a:pt x="74468" y="176646"/>
                    </a:cubicBezTo>
                    <a:lnTo>
                      <a:pt x="74468" y="512618"/>
                    </a:lnTo>
                    <a:lnTo>
                      <a:pt x="202623" y="512618"/>
                    </a:lnTo>
                    <a:lnTo>
                      <a:pt x="202623" y="0"/>
                    </a:lnTo>
                    <a:lnTo>
                      <a:pt x="0" y="0"/>
                    </a:lnTo>
                    <a:lnTo>
                      <a:pt x="0" y="128155"/>
                    </a:lnTo>
                    <a:lnTo>
                      <a:pt x="26843" y="128155"/>
                    </a:ln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23" name="Source SanDisk brand 5">
                <a:extLst>
                  <a:ext uri="{FF2B5EF4-FFF2-40B4-BE49-F238E27FC236}">
                    <a16:creationId xmlns:a16="http://schemas.microsoft.com/office/drawing/2014/main" id="{3CEC4686-88E3-A390-9C59-C52AEAD5DDB6}"/>
                  </a:ext>
                </a:extLst>
              </p:cNvPr>
              <p:cNvSpPr/>
              <p:nvPr/>
            </p:nvSpPr>
            <p:spPr>
              <a:xfrm>
                <a:off x="7058025" y="3172690"/>
                <a:ext cx="640772" cy="512618"/>
              </a:xfrm>
              <a:custGeom>
                <a:avLst/>
                <a:gdLst>
                  <a:gd name="connsiteX0" fmla="*/ 639907 w 640772"/>
                  <a:gd name="connsiteY0" fmla="*/ 410441 h 512618"/>
                  <a:gd name="connsiteX1" fmla="*/ 639907 w 640772"/>
                  <a:gd name="connsiteY1" fmla="*/ 512618 h 512618"/>
                  <a:gd name="connsiteX2" fmla="*/ 97848 w 640772"/>
                  <a:gd name="connsiteY2" fmla="*/ 304800 h 512618"/>
                  <a:gd name="connsiteX3" fmla="*/ 0 w 640772"/>
                  <a:gd name="connsiteY3" fmla="*/ 154132 h 512618"/>
                  <a:gd name="connsiteX4" fmla="*/ 154998 w 640772"/>
                  <a:gd name="connsiteY4" fmla="*/ 0 h 512618"/>
                  <a:gd name="connsiteX5" fmla="*/ 639907 w 640772"/>
                  <a:gd name="connsiteY5" fmla="*/ 0 h 512618"/>
                  <a:gd name="connsiteX6" fmla="*/ 639907 w 640772"/>
                  <a:gd name="connsiteY6" fmla="*/ 200891 h 512618"/>
                  <a:gd name="connsiteX7" fmla="*/ 511752 w 640772"/>
                  <a:gd name="connsiteY7" fmla="*/ 200891 h 512618"/>
                  <a:gd name="connsiteX8" fmla="*/ 511752 w 640772"/>
                  <a:gd name="connsiteY8" fmla="*/ 165389 h 512618"/>
                  <a:gd name="connsiteX9" fmla="*/ 472786 w 640772"/>
                  <a:gd name="connsiteY9" fmla="*/ 129020 h 512618"/>
                  <a:gd name="connsiteX10" fmla="*/ 189634 w 640772"/>
                  <a:gd name="connsiteY10" fmla="*/ 129020 h 512618"/>
                  <a:gd name="connsiteX11" fmla="*/ 149802 w 640772"/>
                  <a:gd name="connsiteY11" fmla="*/ 167986 h 512618"/>
                  <a:gd name="connsiteX12" fmla="*/ 175779 w 640772"/>
                  <a:gd name="connsiteY12" fmla="*/ 206087 h 512618"/>
                  <a:gd name="connsiteX13" fmla="*/ 598343 w 640772"/>
                  <a:gd name="connsiteY13" fmla="*/ 355023 h 512618"/>
                  <a:gd name="connsiteX14" fmla="*/ 640773 w 640772"/>
                  <a:gd name="connsiteY14" fmla="*/ 411307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0772" h="512618">
                    <a:moveTo>
                      <a:pt x="639907" y="410441"/>
                    </a:moveTo>
                    <a:lnTo>
                      <a:pt x="639907" y="512618"/>
                    </a:lnTo>
                    <a:lnTo>
                      <a:pt x="97848" y="304800"/>
                    </a:lnTo>
                    <a:cubicBezTo>
                      <a:pt x="12123" y="271895"/>
                      <a:pt x="0" y="209550"/>
                      <a:pt x="0" y="154132"/>
                    </a:cubicBezTo>
                    <a:cubicBezTo>
                      <a:pt x="0" y="69273"/>
                      <a:pt x="70139" y="0"/>
                      <a:pt x="154998" y="0"/>
                    </a:cubicBezTo>
                    <a:lnTo>
                      <a:pt x="639907" y="0"/>
                    </a:lnTo>
                    <a:lnTo>
                      <a:pt x="639907" y="200891"/>
                    </a:lnTo>
                    <a:lnTo>
                      <a:pt x="511752" y="200891"/>
                    </a:lnTo>
                    <a:lnTo>
                      <a:pt x="511752" y="165389"/>
                    </a:lnTo>
                    <a:cubicBezTo>
                      <a:pt x="511752" y="144607"/>
                      <a:pt x="491836" y="129020"/>
                      <a:pt x="472786" y="129020"/>
                    </a:cubicBezTo>
                    <a:lnTo>
                      <a:pt x="189634" y="129020"/>
                    </a:lnTo>
                    <a:cubicBezTo>
                      <a:pt x="167986" y="129020"/>
                      <a:pt x="149802" y="146339"/>
                      <a:pt x="149802" y="167986"/>
                    </a:cubicBezTo>
                    <a:cubicBezTo>
                      <a:pt x="149802" y="189634"/>
                      <a:pt x="160193" y="200025"/>
                      <a:pt x="175779" y="206087"/>
                    </a:cubicBezTo>
                    <a:lnTo>
                      <a:pt x="598343" y="355023"/>
                    </a:lnTo>
                    <a:cubicBezTo>
                      <a:pt x="598343" y="355023"/>
                      <a:pt x="640773" y="367145"/>
                      <a:pt x="640773" y="411307"/>
                    </a:cubicBez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24" name="Source SanDisk brand 6">
                <a:extLst>
                  <a:ext uri="{FF2B5EF4-FFF2-40B4-BE49-F238E27FC236}">
                    <a16:creationId xmlns:a16="http://schemas.microsoft.com/office/drawing/2014/main" id="{3DA57102-8664-4537-0C96-1D776169644E}"/>
                  </a:ext>
                </a:extLst>
              </p:cNvPr>
              <p:cNvSpPr/>
              <p:nvPr/>
            </p:nvSpPr>
            <p:spPr>
              <a:xfrm>
                <a:off x="7056293" y="3557154"/>
                <a:ext cx="126422" cy="128154"/>
              </a:xfrm>
              <a:custGeom>
                <a:avLst/>
                <a:gdLst>
                  <a:gd name="connsiteX0" fmla="*/ 126423 w 126422"/>
                  <a:gd name="connsiteY0" fmla="*/ 0 h 128154"/>
                  <a:gd name="connsiteX1" fmla="*/ 0 w 126422"/>
                  <a:gd name="connsiteY1" fmla="*/ 0 h 128154"/>
                  <a:gd name="connsiteX2" fmla="*/ 0 w 126422"/>
                  <a:gd name="connsiteY2" fmla="*/ 128155 h 128154"/>
                  <a:gd name="connsiteX3" fmla="*/ 126423 w 126422"/>
                  <a:gd name="connsiteY3" fmla="*/ 128155 h 128154"/>
                  <a:gd name="connsiteX4" fmla="*/ 126423 w 126422"/>
                  <a:gd name="connsiteY4" fmla="*/ 0 h 128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22" h="128154">
                    <a:moveTo>
                      <a:pt x="126423" y="0"/>
                    </a:moveTo>
                    <a:lnTo>
                      <a:pt x="0" y="0"/>
                    </a:lnTo>
                    <a:lnTo>
                      <a:pt x="0" y="128155"/>
                    </a:lnTo>
                    <a:lnTo>
                      <a:pt x="126423" y="128155"/>
                    </a:lnTo>
                    <a:lnTo>
                      <a:pt x="126423" y="0"/>
                    </a:ln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25" name="Source SanDisk brand 7">
                <a:extLst>
                  <a:ext uri="{FF2B5EF4-FFF2-40B4-BE49-F238E27FC236}">
                    <a16:creationId xmlns:a16="http://schemas.microsoft.com/office/drawing/2014/main" id="{5A49FBDA-20CE-D350-85F4-D7B8C67413BE}"/>
                  </a:ext>
                </a:extLst>
              </p:cNvPr>
              <p:cNvSpPr/>
              <p:nvPr/>
            </p:nvSpPr>
            <p:spPr>
              <a:xfrm>
                <a:off x="3726006" y="3172690"/>
                <a:ext cx="640772" cy="512618"/>
              </a:xfrm>
              <a:custGeom>
                <a:avLst/>
                <a:gdLst>
                  <a:gd name="connsiteX0" fmla="*/ 639907 w 640772"/>
                  <a:gd name="connsiteY0" fmla="*/ 410441 h 512618"/>
                  <a:gd name="connsiteX1" fmla="*/ 639907 w 640772"/>
                  <a:gd name="connsiteY1" fmla="*/ 512618 h 512618"/>
                  <a:gd name="connsiteX2" fmla="*/ 97848 w 640772"/>
                  <a:gd name="connsiteY2" fmla="*/ 304800 h 512618"/>
                  <a:gd name="connsiteX3" fmla="*/ 0 w 640772"/>
                  <a:gd name="connsiteY3" fmla="*/ 154132 h 512618"/>
                  <a:gd name="connsiteX4" fmla="*/ 154998 w 640772"/>
                  <a:gd name="connsiteY4" fmla="*/ 0 h 512618"/>
                  <a:gd name="connsiteX5" fmla="*/ 639907 w 640772"/>
                  <a:gd name="connsiteY5" fmla="*/ 0 h 512618"/>
                  <a:gd name="connsiteX6" fmla="*/ 639907 w 640772"/>
                  <a:gd name="connsiteY6" fmla="*/ 200891 h 512618"/>
                  <a:gd name="connsiteX7" fmla="*/ 511752 w 640772"/>
                  <a:gd name="connsiteY7" fmla="*/ 200891 h 512618"/>
                  <a:gd name="connsiteX8" fmla="*/ 511752 w 640772"/>
                  <a:gd name="connsiteY8" fmla="*/ 165389 h 512618"/>
                  <a:gd name="connsiteX9" fmla="*/ 472786 w 640772"/>
                  <a:gd name="connsiteY9" fmla="*/ 129020 h 512618"/>
                  <a:gd name="connsiteX10" fmla="*/ 189634 w 640772"/>
                  <a:gd name="connsiteY10" fmla="*/ 129020 h 512618"/>
                  <a:gd name="connsiteX11" fmla="*/ 149802 w 640772"/>
                  <a:gd name="connsiteY11" fmla="*/ 167986 h 512618"/>
                  <a:gd name="connsiteX12" fmla="*/ 175780 w 640772"/>
                  <a:gd name="connsiteY12" fmla="*/ 206087 h 512618"/>
                  <a:gd name="connsiteX13" fmla="*/ 598343 w 640772"/>
                  <a:gd name="connsiteY13" fmla="*/ 355023 h 512618"/>
                  <a:gd name="connsiteX14" fmla="*/ 640773 w 640772"/>
                  <a:gd name="connsiteY14" fmla="*/ 411307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0772" h="512618">
                    <a:moveTo>
                      <a:pt x="639907" y="410441"/>
                    </a:moveTo>
                    <a:lnTo>
                      <a:pt x="639907" y="512618"/>
                    </a:lnTo>
                    <a:lnTo>
                      <a:pt x="97848" y="304800"/>
                    </a:lnTo>
                    <a:cubicBezTo>
                      <a:pt x="12123" y="271895"/>
                      <a:pt x="0" y="209550"/>
                      <a:pt x="0" y="154132"/>
                    </a:cubicBezTo>
                    <a:cubicBezTo>
                      <a:pt x="0" y="69273"/>
                      <a:pt x="70139" y="0"/>
                      <a:pt x="154998" y="0"/>
                    </a:cubicBezTo>
                    <a:lnTo>
                      <a:pt x="639907" y="0"/>
                    </a:lnTo>
                    <a:lnTo>
                      <a:pt x="639907" y="200891"/>
                    </a:lnTo>
                    <a:lnTo>
                      <a:pt x="511752" y="200891"/>
                    </a:lnTo>
                    <a:lnTo>
                      <a:pt x="511752" y="165389"/>
                    </a:lnTo>
                    <a:cubicBezTo>
                      <a:pt x="511752" y="144607"/>
                      <a:pt x="491836" y="129020"/>
                      <a:pt x="472786" y="129020"/>
                    </a:cubicBezTo>
                    <a:lnTo>
                      <a:pt x="189634" y="129020"/>
                    </a:lnTo>
                    <a:cubicBezTo>
                      <a:pt x="167986" y="129020"/>
                      <a:pt x="149802" y="146339"/>
                      <a:pt x="149802" y="167986"/>
                    </a:cubicBezTo>
                    <a:cubicBezTo>
                      <a:pt x="149802" y="189634"/>
                      <a:pt x="160193" y="200025"/>
                      <a:pt x="175780" y="206087"/>
                    </a:cubicBezTo>
                    <a:lnTo>
                      <a:pt x="598343" y="355023"/>
                    </a:lnTo>
                    <a:cubicBezTo>
                      <a:pt x="598343" y="355023"/>
                      <a:pt x="640773" y="367145"/>
                      <a:pt x="640773" y="411307"/>
                    </a:cubicBez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26" name="Source SanDisk brand 8">
                <a:extLst>
                  <a:ext uri="{FF2B5EF4-FFF2-40B4-BE49-F238E27FC236}">
                    <a16:creationId xmlns:a16="http://schemas.microsoft.com/office/drawing/2014/main" id="{6A87A37E-58CF-CB04-6B8E-B4B9738F218D}"/>
                  </a:ext>
                </a:extLst>
              </p:cNvPr>
              <p:cNvSpPr/>
              <p:nvPr/>
            </p:nvSpPr>
            <p:spPr>
              <a:xfrm>
                <a:off x="3726006" y="3557154"/>
                <a:ext cx="126422" cy="128154"/>
              </a:xfrm>
              <a:custGeom>
                <a:avLst/>
                <a:gdLst>
                  <a:gd name="connsiteX0" fmla="*/ 126423 w 126422"/>
                  <a:gd name="connsiteY0" fmla="*/ 0 h 128154"/>
                  <a:gd name="connsiteX1" fmla="*/ 0 w 126422"/>
                  <a:gd name="connsiteY1" fmla="*/ 0 h 128154"/>
                  <a:gd name="connsiteX2" fmla="*/ 0 w 126422"/>
                  <a:gd name="connsiteY2" fmla="*/ 128155 h 128154"/>
                  <a:gd name="connsiteX3" fmla="*/ 126423 w 126422"/>
                  <a:gd name="connsiteY3" fmla="*/ 128155 h 128154"/>
                  <a:gd name="connsiteX4" fmla="*/ 126423 w 126422"/>
                  <a:gd name="connsiteY4" fmla="*/ 0 h 128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22" h="128154">
                    <a:moveTo>
                      <a:pt x="126423" y="0"/>
                    </a:moveTo>
                    <a:lnTo>
                      <a:pt x="0" y="0"/>
                    </a:lnTo>
                    <a:lnTo>
                      <a:pt x="0" y="128155"/>
                    </a:lnTo>
                    <a:lnTo>
                      <a:pt x="126423" y="128155"/>
                    </a:lnTo>
                    <a:lnTo>
                      <a:pt x="126423" y="0"/>
                    </a:ln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27" name="Source SanDisk brand 9">
                <a:extLst>
                  <a:ext uri="{FF2B5EF4-FFF2-40B4-BE49-F238E27FC236}">
                    <a16:creationId xmlns:a16="http://schemas.microsoft.com/office/drawing/2014/main" id="{D6B4B94F-9063-7C67-5801-B3828727A687}"/>
                  </a:ext>
                </a:extLst>
              </p:cNvPr>
              <p:cNvSpPr/>
              <p:nvPr/>
            </p:nvSpPr>
            <p:spPr>
              <a:xfrm>
                <a:off x="7827818" y="3172690"/>
                <a:ext cx="639040" cy="514349"/>
              </a:xfrm>
              <a:custGeom>
                <a:avLst/>
                <a:gdLst>
                  <a:gd name="connsiteX0" fmla="*/ 639041 w 639040"/>
                  <a:gd name="connsiteY0" fmla="*/ 129020 h 514349"/>
                  <a:gd name="connsiteX1" fmla="*/ 639041 w 639040"/>
                  <a:gd name="connsiteY1" fmla="*/ 0 h 514349"/>
                  <a:gd name="connsiteX2" fmla="*/ 526473 w 639040"/>
                  <a:gd name="connsiteY2" fmla="*/ 0 h 514349"/>
                  <a:gd name="connsiteX3" fmla="*/ 502227 w 639040"/>
                  <a:gd name="connsiteY3" fmla="*/ 9525 h 514349"/>
                  <a:gd name="connsiteX4" fmla="*/ 302203 w 639040"/>
                  <a:gd name="connsiteY4" fmla="*/ 191366 h 514349"/>
                  <a:gd name="connsiteX5" fmla="*/ 281420 w 639040"/>
                  <a:gd name="connsiteY5" fmla="*/ 200025 h 514349"/>
                  <a:gd name="connsiteX6" fmla="*/ 142009 w 639040"/>
                  <a:gd name="connsiteY6" fmla="*/ 200025 h 514349"/>
                  <a:gd name="connsiteX7" fmla="*/ 126423 w 639040"/>
                  <a:gd name="connsiteY7" fmla="*/ 184439 h 514349"/>
                  <a:gd name="connsiteX8" fmla="*/ 126423 w 639040"/>
                  <a:gd name="connsiteY8" fmla="*/ 866 h 514349"/>
                  <a:gd name="connsiteX9" fmla="*/ 0 w 639040"/>
                  <a:gd name="connsiteY9" fmla="*/ 866 h 514349"/>
                  <a:gd name="connsiteX10" fmla="*/ 0 w 639040"/>
                  <a:gd name="connsiteY10" fmla="*/ 513484 h 514349"/>
                  <a:gd name="connsiteX11" fmla="*/ 126423 w 639040"/>
                  <a:gd name="connsiteY11" fmla="*/ 513484 h 514349"/>
                  <a:gd name="connsiteX12" fmla="*/ 126423 w 639040"/>
                  <a:gd name="connsiteY12" fmla="*/ 329911 h 514349"/>
                  <a:gd name="connsiteX13" fmla="*/ 142009 w 639040"/>
                  <a:gd name="connsiteY13" fmla="*/ 314325 h 514349"/>
                  <a:gd name="connsiteX14" fmla="*/ 281420 w 639040"/>
                  <a:gd name="connsiteY14" fmla="*/ 314325 h 514349"/>
                  <a:gd name="connsiteX15" fmla="*/ 302203 w 639040"/>
                  <a:gd name="connsiteY15" fmla="*/ 322984 h 514349"/>
                  <a:gd name="connsiteX16" fmla="*/ 502227 w 639040"/>
                  <a:gd name="connsiteY16" fmla="*/ 504825 h 514349"/>
                  <a:gd name="connsiteX17" fmla="*/ 526473 w 639040"/>
                  <a:gd name="connsiteY17" fmla="*/ 514350 h 514349"/>
                  <a:gd name="connsiteX18" fmla="*/ 639041 w 639040"/>
                  <a:gd name="connsiteY18" fmla="*/ 514350 h 514349"/>
                  <a:gd name="connsiteX19" fmla="*/ 639041 w 639040"/>
                  <a:gd name="connsiteY19" fmla="*/ 386196 h 514349"/>
                  <a:gd name="connsiteX20" fmla="*/ 577562 w 639040"/>
                  <a:gd name="connsiteY20" fmla="*/ 386196 h 514349"/>
                  <a:gd name="connsiteX21" fmla="*/ 524741 w 639040"/>
                  <a:gd name="connsiteY21" fmla="*/ 367145 h 514349"/>
                  <a:gd name="connsiteX22" fmla="*/ 429491 w 639040"/>
                  <a:gd name="connsiteY22" fmla="*/ 283152 h 514349"/>
                  <a:gd name="connsiteX23" fmla="*/ 429491 w 639040"/>
                  <a:gd name="connsiteY23" fmla="*/ 233795 h 514349"/>
                  <a:gd name="connsiteX24" fmla="*/ 524741 w 639040"/>
                  <a:gd name="connsiteY24" fmla="*/ 149802 h 514349"/>
                  <a:gd name="connsiteX25" fmla="*/ 577562 w 639040"/>
                  <a:gd name="connsiteY25" fmla="*/ 130752 h 514349"/>
                  <a:gd name="connsiteX26" fmla="*/ 639041 w 639040"/>
                  <a:gd name="connsiteY26" fmla="*/ 130752 h 514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39040" h="514349">
                    <a:moveTo>
                      <a:pt x="639041" y="129020"/>
                    </a:moveTo>
                    <a:lnTo>
                      <a:pt x="639041" y="0"/>
                    </a:lnTo>
                    <a:lnTo>
                      <a:pt x="526473" y="0"/>
                    </a:lnTo>
                    <a:cubicBezTo>
                      <a:pt x="517814" y="0"/>
                      <a:pt x="509154" y="3464"/>
                      <a:pt x="502227" y="9525"/>
                    </a:cubicBezTo>
                    <a:lnTo>
                      <a:pt x="302203" y="191366"/>
                    </a:lnTo>
                    <a:cubicBezTo>
                      <a:pt x="296141" y="196561"/>
                      <a:pt x="289214" y="200025"/>
                      <a:pt x="281420" y="200025"/>
                    </a:cubicBezTo>
                    <a:lnTo>
                      <a:pt x="142009" y="200025"/>
                    </a:lnTo>
                    <a:cubicBezTo>
                      <a:pt x="133350" y="200025"/>
                      <a:pt x="126423" y="193098"/>
                      <a:pt x="126423" y="184439"/>
                    </a:cubicBezTo>
                    <a:lnTo>
                      <a:pt x="126423" y="866"/>
                    </a:lnTo>
                    <a:lnTo>
                      <a:pt x="0" y="866"/>
                    </a:lnTo>
                    <a:lnTo>
                      <a:pt x="0" y="513484"/>
                    </a:lnTo>
                    <a:lnTo>
                      <a:pt x="126423" y="513484"/>
                    </a:lnTo>
                    <a:lnTo>
                      <a:pt x="126423" y="329911"/>
                    </a:lnTo>
                    <a:cubicBezTo>
                      <a:pt x="126423" y="321252"/>
                      <a:pt x="133350" y="314325"/>
                      <a:pt x="142009" y="314325"/>
                    </a:cubicBezTo>
                    <a:lnTo>
                      <a:pt x="281420" y="314325"/>
                    </a:lnTo>
                    <a:cubicBezTo>
                      <a:pt x="289214" y="314325"/>
                      <a:pt x="296141" y="316923"/>
                      <a:pt x="302203" y="322984"/>
                    </a:cubicBezTo>
                    <a:lnTo>
                      <a:pt x="502227" y="504825"/>
                    </a:lnTo>
                    <a:cubicBezTo>
                      <a:pt x="509154" y="510886"/>
                      <a:pt x="517814" y="514350"/>
                      <a:pt x="526473" y="514350"/>
                    </a:cubicBezTo>
                    <a:lnTo>
                      <a:pt x="639041" y="514350"/>
                    </a:lnTo>
                    <a:lnTo>
                      <a:pt x="639041" y="386196"/>
                    </a:lnTo>
                    <a:lnTo>
                      <a:pt x="577562" y="386196"/>
                    </a:lnTo>
                    <a:cubicBezTo>
                      <a:pt x="558511" y="386196"/>
                      <a:pt x="539461" y="379268"/>
                      <a:pt x="524741" y="367145"/>
                    </a:cubicBezTo>
                    <a:lnTo>
                      <a:pt x="429491" y="283152"/>
                    </a:lnTo>
                    <a:cubicBezTo>
                      <a:pt x="414771" y="270164"/>
                      <a:pt x="414771" y="247650"/>
                      <a:pt x="429491" y="233795"/>
                    </a:cubicBezTo>
                    <a:lnTo>
                      <a:pt x="524741" y="149802"/>
                    </a:lnTo>
                    <a:cubicBezTo>
                      <a:pt x="539461" y="137680"/>
                      <a:pt x="557646" y="131618"/>
                      <a:pt x="577562" y="130752"/>
                    </a:cubicBezTo>
                    <a:lnTo>
                      <a:pt x="639041" y="130752"/>
                    </a:ln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28" name="Source SanDisk brand 10">
                <a:extLst>
                  <a:ext uri="{FF2B5EF4-FFF2-40B4-BE49-F238E27FC236}">
                    <a16:creationId xmlns:a16="http://schemas.microsoft.com/office/drawing/2014/main" id="{D10C90D8-745C-4517-452F-8D9398F858A1}"/>
                  </a:ext>
                </a:extLst>
              </p:cNvPr>
              <p:cNvSpPr/>
              <p:nvPr/>
            </p:nvSpPr>
            <p:spPr>
              <a:xfrm>
                <a:off x="4441247" y="3172690"/>
                <a:ext cx="692727" cy="513484"/>
              </a:xfrm>
              <a:custGeom>
                <a:avLst/>
                <a:gdLst>
                  <a:gd name="connsiteX0" fmla="*/ 497898 w 692727"/>
                  <a:gd name="connsiteY0" fmla="*/ 0 h 513484"/>
                  <a:gd name="connsiteX1" fmla="*/ 351559 w 692727"/>
                  <a:gd name="connsiteY1" fmla="*/ 72736 h 513484"/>
                  <a:gd name="connsiteX2" fmla="*/ 0 w 692727"/>
                  <a:gd name="connsiteY2" fmla="*/ 512618 h 513484"/>
                  <a:gd name="connsiteX3" fmla="*/ 178377 w 692727"/>
                  <a:gd name="connsiteY3" fmla="*/ 512618 h 513484"/>
                  <a:gd name="connsiteX4" fmla="*/ 468457 w 692727"/>
                  <a:gd name="connsiteY4" fmla="*/ 155864 h 513484"/>
                  <a:gd name="connsiteX5" fmla="*/ 516082 w 692727"/>
                  <a:gd name="connsiteY5" fmla="*/ 129886 h 513484"/>
                  <a:gd name="connsiteX6" fmla="*/ 564573 w 692727"/>
                  <a:gd name="connsiteY6" fmla="*/ 184439 h 513484"/>
                  <a:gd name="connsiteX7" fmla="*/ 564573 w 692727"/>
                  <a:gd name="connsiteY7" fmla="*/ 339436 h 513484"/>
                  <a:gd name="connsiteX8" fmla="*/ 528205 w 692727"/>
                  <a:gd name="connsiteY8" fmla="*/ 385330 h 513484"/>
                  <a:gd name="connsiteX9" fmla="*/ 492702 w 692727"/>
                  <a:gd name="connsiteY9" fmla="*/ 385330 h 513484"/>
                  <a:gd name="connsiteX10" fmla="*/ 492702 w 692727"/>
                  <a:gd name="connsiteY10" fmla="*/ 513484 h 513484"/>
                  <a:gd name="connsiteX11" fmla="*/ 692727 w 692727"/>
                  <a:gd name="connsiteY11" fmla="*/ 513484 h 513484"/>
                  <a:gd name="connsiteX12" fmla="*/ 692727 w 692727"/>
                  <a:gd name="connsiteY12" fmla="*/ 192232 h 513484"/>
                  <a:gd name="connsiteX13" fmla="*/ 497898 w 692727"/>
                  <a:gd name="connsiteY13" fmla="*/ 866 h 513484"/>
                  <a:gd name="connsiteX14" fmla="*/ 497898 w 692727"/>
                  <a:gd name="connsiteY14" fmla="*/ 866 h 513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2727" h="513484">
                    <a:moveTo>
                      <a:pt x="497898" y="0"/>
                    </a:moveTo>
                    <a:cubicBezTo>
                      <a:pt x="440748" y="866"/>
                      <a:pt x="387061" y="27709"/>
                      <a:pt x="351559" y="72736"/>
                    </a:cubicBezTo>
                    <a:lnTo>
                      <a:pt x="0" y="512618"/>
                    </a:lnTo>
                    <a:lnTo>
                      <a:pt x="178377" y="512618"/>
                    </a:lnTo>
                    <a:lnTo>
                      <a:pt x="468457" y="155864"/>
                    </a:lnTo>
                    <a:cubicBezTo>
                      <a:pt x="483177" y="138545"/>
                      <a:pt x="493568" y="129886"/>
                      <a:pt x="516082" y="129886"/>
                    </a:cubicBezTo>
                    <a:cubicBezTo>
                      <a:pt x="538596" y="129886"/>
                      <a:pt x="564573" y="154998"/>
                      <a:pt x="564573" y="184439"/>
                    </a:cubicBezTo>
                    <a:lnTo>
                      <a:pt x="564573" y="339436"/>
                    </a:lnTo>
                    <a:cubicBezTo>
                      <a:pt x="564573" y="364548"/>
                      <a:pt x="551584" y="385330"/>
                      <a:pt x="528205" y="385330"/>
                    </a:cubicBezTo>
                    <a:lnTo>
                      <a:pt x="492702" y="385330"/>
                    </a:lnTo>
                    <a:lnTo>
                      <a:pt x="492702" y="513484"/>
                    </a:lnTo>
                    <a:lnTo>
                      <a:pt x="692727" y="513484"/>
                    </a:lnTo>
                    <a:lnTo>
                      <a:pt x="692727" y="192232"/>
                    </a:lnTo>
                    <a:cubicBezTo>
                      <a:pt x="692727" y="166255"/>
                      <a:pt x="692727" y="866"/>
                      <a:pt x="497898" y="866"/>
                    </a:cubicBezTo>
                    <a:lnTo>
                      <a:pt x="497898" y="866"/>
                    </a:lnTo>
                    <a:close/>
                  </a:path>
                </a:pathLst>
              </a:custGeom>
              <a:solidFill>
                <a:srgbClr val="E10600"/>
              </a:solidFill>
              <a:ln w="8653" cap="flat">
                <a:noFill/>
                <a:prstDash val="solid"/>
                <a:miter/>
              </a:ln>
            </p:spPr>
            <p:txBody>
              <a:bodyPr rtlCol="0" anchor="ctr"/>
              <a:lstStyle/>
              <a:p>
                <a:endParaRPr lang="en-US">
                  <a:solidFill>
                    <a:schemeClr val="tx1"/>
                  </a:solidFill>
                </a:endParaRPr>
              </a:p>
            </p:txBody>
          </p:sp>
        </p:grpSp>
        <p:grpSp>
          <p:nvGrpSpPr>
            <p:cNvPr id="29" name="Source SanDisk brand 11">
              <a:extLst>
                <a:ext uri="{FF2B5EF4-FFF2-40B4-BE49-F238E27FC236}">
                  <a16:creationId xmlns:a16="http://schemas.microsoft.com/office/drawing/2014/main" id="{5486611C-7296-3F16-EE92-FF3602ECC95B}"/>
                </a:ext>
              </a:extLst>
            </p:cNvPr>
            <p:cNvGrpSpPr/>
            <p:nvPr/>
          </p:nvGrpSpPr>
          <p:grpSpPr>
            <a:xfrm>
              <a:off x="11237775" y="5428812"/>
              <a:ext cx="644881" cy="280035"/>
              <a:chOff x="11237775" y="5428812"/>
              <a:chExt cx="644881" cy="280035"/>
            </a:xfrm>
            <a:grpFill/>
          </p:grpSpPr>
          <p:sp>
            <p:nvSpPr>
              <p:cNvPr id="30" name="Source SanDisk brand 12">
                <a:extLst>
                  <a:ext uri="{FF2B5EF4-FFF2-40B4-BE49-F238E27FC236}">
                    <a16:creationId xmlns:a16="http://schemas.microsoft.com/office/drawing/2014/main" id="{B0C1A2A3-93DA-837F-A5A0-B25E09D76DE0}"/>
                  </a:ext>
                </a:extLst>
              </p:cNvPr>
              <p:cNvSpPr/>
              <p:nvPr/>
            </p:nvSpPr>
            <p:spPr>
              <a:xfrm>
                <a:off x="11237775" y="5428812"/>
                <a:ext cx="245631" cy="280035"/>
              </a:xfrm>
              <a:custGeom>
                <a:avLst/>
                <a:gdLst/>
                <a:ahLst/>
                <a:cxnLst/>
                <a:rect l="l" t="t" r="r" b="b"/>
                <a:pathLst>
                  <a:path w="245631" h="280035">
                    <a:moveTo>
                      <a:pt x="0" y="0"/>
                    </a:moveTo>
                    <a:lnTo>
                      <a:pt x="245631" y="0"/>
                    </a:lnTo>
                    <a:lnTo>
                      <a:pt x="245631" y="50407"/>
                    </a:lnTo>
                    <a:lnTo>
                      <a:pt x="151219" y="50407"/>
                    </a:lnTo>
                    <a:lnTo>
                      <a:pt x="151219" y="280035"/>
                    </a:lnTo>
                    <a:lnTo>
                      <a:pt x="93612" y="280035"/>
                    </a:lnTo>
                    <a:lnTo>
                      <a:pt x="93612" y="50407"/>
                    </a:lnTo>
                    <a:lnTo>
                      <a:pt x="0" y="50407"/>
                    </a:lnTo>
                    <a:lnTo>
                      <a:pt x="0" y="0"/>
                    </a:lnTo>
                    <a:close/>
                  </a:path>
                </a:pathLst>
              </a:custGeom>
              <a:solidFill>
                <a:srgbClr val="E106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31" name="Source SanDisk brand 13">
                <a:extLst>
                  <a:ext uri="{FF2B5EF4-FFF2-40B4-BE49-F238E27FC236}">
                    <a16:creationId xmlns:a16="http://schemas.microsoft.com/office/drawing/2014/main" id="{BAD87224-DE76-7FF9-D1D4-86623728FE01}"/>
                  </a:ext>
                </a:extLst>
              </p:cNvPr>
              <p:cNvSpPr/>
              <p:nvPr/>
            </p:nvSpPr>
            <p:spPr>
              <a:xfrm>
                <a:off x="11521011" y="5428812"/>
                <a:ext cx="361645" cy="280035"/>
              </a:xfrm>
              <a:custGeom>
                <a:avLst/>
                <a:gdLst/>
                <a:ahLst/>
                <a:cxnLst/>
                <a:rect l="l" t="t" r="r" b="b"/>
                <a:pathLst>
                  <a:path w="361645" h="280035">
                    <a:moveTo>
                      <a:pt x="0" y="0"/>
                    </a:moveTo>
                    <a:lnTo>
                      <a:pt x="100012" y="0"/>
                    </a:lnTo>
                    <a:lnTo>
                      <a:pt x="181622" y="210427"/>
                    </a:lnTo>
                    <a:lnTo>
                      <a:pt x="185623" y="210427"/>
                    </a:lnTo>
                    <a:lnTo>
                      <a:pt x="268033" y="0"/>
                    </a:lnTo>
                    <a:lnTo>
                      <a:pt x="361645" y="0"/>
                    </a:lnTo>
                    <a:lnTo>
                      <a:pt x="361645" y="280035"/>
                    </a:lnTo>
                    <a:lnTo>
                      <a:pt x="305638" y="280035"/>
                    </a:lnTo>
                    <a:lnTo>
                      <a:pt x="305638" y="48006"/>
                    </a:lnTo>
                    <a:lnTo>
                      <a:pt x="301637" y="48006"/>
                    </a:lnTo>
                    <a:lnTo>
                      <a:pt x="211226" y="280035"/>
                    </a:lnTo>
                    <a:lnTo>
                      <a:pt x="150418" y="280035"/>
                    </a:lnTo>
                    <a:lnTo>
                      <a:pt x="60007" y="48006"/>
                    </a:lnTo>
                    <a:lnTo>
                      <a:pt x="56807" y="48006"/>
                    </a:lnTo>
                    <a:lnTo>
                      <a:pt x="56807" y="280035"/>
                    </a:lnTo>
                    <a:lnTo>
                      <a:pt x="0" y="280035"/>
                    </a:lnTo>
                    <a:lnTo>
                      <a:pt x="0" y="0"/>
                    </a:lnTo>
                    <a:close/>
                  </a:path>
                </a:pathLst>
              </a:custGeom>
              <a:solidFill>
                <a:srgbClr val="E106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grpSp>
      </p:grpSp>
      <p:sp>
        <p:nvSpPr>
          <p:cNvPr id="32" name="Shape 3">
            <a:extLst>
              <a:ext uri="{FF2B5EF4-FFF2-40B4-BE49-F238E27FC236}">
                <a16:creationId xmlns:a16="http://schemas.microsoft.com/office/drawing/2014/main" id="{3500E6BC-DED0-DCEC-BC36-4F3153650CC0}"/>
              </a:ext>
            </a:extLst>
          </p:cNvPr>
          <p:cNvSpPr/>
          <p:nvPr/>
        </p:nvSpPr>
        <p:spPr>
          <a:xfrm>
            <a:off x="0" y="0"/>
            <a:ext cx="146304" cy="6858000"/>
          </a:xfrm>
          <a:prstGeom prst="rect">
            <a:avLst/>
          </a:prstGeom>
          <a:solidFill>
            <a:schemeClr val="accent2"/>
          </a:solidFill>
          <a:ln w="6350">
            <a:solidFill>
              <a:srgbClr val="00A3A3"/>
            </a:solidFill>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30352" y="301752"/>
            <a:ext cx="9966960" cy="201168"/>
          </a:xfrm>
          <a:prstGeom prst="rect">
            <a:avLst/>
          </a:prstGeom>
          <a:noFill/>
          <a:ln/>
        </p:spPr>
        <p:txBody>
          <a:bodyPr wrap="square" lIns="0" tIns="0" rIns="0" bIns="0" rtlCol="0" anchor="ctr"/>
          <a:lstStyle/>
          <a:p>
            <a:pPr marL="0" indent="0">
              <a:buNone/>
            </a:pPr>
            <a:r>
              <a:rPr lang="en-US" sz="1050" b="1" kern="0" spc="100" dirty="0">
                <a:solidFill>
                  <a:srgbClr val="E10600"/>
                </a:solidFill>
                <a:latin typeface="Aptos" pitchFamily="34" charset="0"/>
                <a:ea typeface="Aptos" pitchFamily="34" charset="-122"/>
                <a:cs typeface="Aptos" pitchFamily="34" charset="-120"/>
              </a:rPr>
              <a:t>LARGE MOE PLACEMENT</a:t>
            </a:r>
            <a:endParaRPr lang="en-US" sz="1050" dirty="0"/>
          </a:p>
        </p:txBody>
      </p:sp>
      <p:sp>
        <p:nvSpPr>
          <p:cNvPr id="3" name="Shape 1"/>
          <p:cNvSpPr/>
          <p:nvPr/>
        </p:nvSpPr>
        <p:spPr>
          <a:xfrm>
            <a:off x="11448288" y="292608"/>
            <a:ext cx="201168" cy="201168"/>
          </a:xfrm>
          <a:prstGeom prst="rect">
            <a:avLst/>
          </a:prstGeom>
          <a:solidFill>
            <a:srgbClr val="E10600"/>
          </a:solidFill>
          <a:ln w="8255">
            <a:solidFill>
              <a:srgbClr val="E10600"/>
            </a:solidFill>
            <a:prstDash val="solid"/>
          </a:ln>
        </p:spPr>
        <p:txBody>
          <a:bodyPr/>
          <a:lstStyle/>
          <a:p>
            <a:endParaRPr lang="en-US"/>
          </a:p>
        </p:txBody>
      </p:sp>
      <p:sp>
        <p:nvSpPr>
          <p:cNvPr id="4" name="Text 2"/>
          <p:cNvSpPr/>
          <p:nvPr/>
        </p:nvSpPr>
        <p:spPr>
          <a:xfrm>
            <a:off x="530352" y="667512"/>
            <a:ext cx="11027664" cy="557784"/>
          </a:xfrm>
          <a:prstGeom prst="rect">
            <a:avLst/>
          </a:prstGeom>
          <a:noFill/>
          <a:ln/>
        </p:spPr>
        <p:txBody>
          <a:bodyPr wrap="square" lIns="0" tIns="0" rIns="0" bIns="0" rtlCol="0" anchor="ctr"/>
          <a:lstStyle/>
          <a:p>
            <a:pPr marL="0" indent="0">
              <a:buNone/>
            </a:pPr>
            <a:r>
              <a:rPr lang="en-US" sz="2900" b="1" dirty="0">
                <a:solidFill>
                  <a:srgbClr val="161616"/>
                </a:solidFill>
                <a:latin typeface="Aptos Display" pitchFamily="34" charset="0"/>
                <a:ea typeface="Aptos Display" pitchFamily="34" charset="-122"/>
                <a:cs typeface="Aptos Display" pitchFamily="34" charset="-120"/>
              </a:rPr>
              <a:t>Compare a complete serving group—not just card capacity</a:t>
            </a:r>
            <a:endParaRPr lang="en-US" sz="2900" dirty="0"/>
          </a:p>
        </p:txBody>
      </p:sp>
      <p:sp>
        <p:nvSpPr>
          <p:cNvPr id="5" name="Text 3"/>
          <p:cNvSpPr/>
          <p:nvPr/>
        </p:nvSpPr>
        <p:spPr>
          <a:xfrm>
            <a:off x="530352" y="1261872"/>
            <a:ext cx="11045952" cy="365760"/>
          </a:xfrm>
          <a:prstGeom prst="rect">
            <a:avLst/>
          </a:prstGeom>
          <a:noFill/>
          <a:ln/>
        </p:spPr>
        <p:txBody>
          <a:bodyPr wrap="square" lIns="0" tIns="0" rIns="0" bIns="0" rtlCol="0" anchor="ctr"/>
          <a:lstStyle/>
          <a:p>
            <a:pPr marL="0" indent="0">
              <a:buNone/>
            </a:pPr>
            <a:r>
              <a:rPr lang="en-US" sz="1480" dirty="0">
                <a:solidFill>
                  <a:srgbClr val="686868"/>
                </a:solidFill>
                <a:latin typeface="Aptos" pitchFamily="34" charset="0"/>
                <a:ea typeface="Aptos" pitchFamily="34" charset="-122"/>
                <a:cs typeface="Aptos" pitchFamily="34" charset="-120"/>
              </a:rPr>
              <a:t>Illustrative 235B-class FP8 model pack: 250 GB, including a provisional layout allowance.</a:t>
            </a:r>
            <a:endParaRPr lang="en-US" sz="1480" dirty="0"/>
          </a:p>
        </p:txBody>
      </p:sp>
      <p:sp>
        <p:nvSpPr>
          <p:cNvPr id="6" name="Shape 4"/>
          <p:cNvSpPr/>
          <p:nvPr/>
        </p:nvSpPr>
        <p:spPr>
          <a:xfrm>
            <a:off x="530352" y="1773936"/>
            <a:ext cx="11100816" cy="0"/>
          </a:xfrm>
          <a:prstGeom prst="line">
            <a:avLst/>
          </a:prstGeom>
          <a:noFill/>
          <a:ln w="12700">
            <a:solidFill>
              <a:srgbClr val="DED8D2"/>
            </a:solidFill>
            <a:prstDash val="solid"/>
          </a:ln>
        </p:spPr>
        <p:txBody>
          <a:bodyPr/>
          <a:lstStyle/>
          <a:p>
            <a:endParaRPr lang="en-US"/>
          </a:p>
        </p:txBody>
      </p:sp>
      <p:sp>
        <p:nvSpPr>
          <p:cNvPr id="7" name="Text 5"/>
          <p:cNvSpPr/>
          <p:nvPr/>
        </p:nvSpPr>
        <p:spPr>
          <a:xfrm>
            <a:off x="530352" y="6556248"/>
            <a:ext cx="777240" cy="128016"/>
          </a:xfrm>
          <a:prstGeom prst="rect">
            <a:avLst/>
          </a:prstGeom>
          <a:noFill/>
          <a:ln/>
        </p:spPr>
        <p:txBody>
          <a:bodyPr wrap="square" lIns="0" tIns="0" rIns="0" bIns="0" rtlCol="0" anchor="ctr"/>
          <a:lstStyle/>
          <a:p>
            <a:pPr marL="0" indent="0">
              <a:buNone/>
            </a:pPr>
            <a:endParaRPr lang="en-US" sz="800" dirty="0"/>
          </a:p>
        </p:txBody>
      </p:sp>
      <p:sp>
        <p:nvSpPr>
          <p:cNvPr id="8" name="Text 6"/>
          <p:cNvSpPr/>
          <p:nvPr/>
        </p:nvSpPr>
        <p:spPr>
          <a:xfrm>
            <a:off x="2103120" y="6556248"/>
            <a:ext cx="3703320" cy="128016"/>
          </a:xfrm>
          <a:prstGeom prst="rect">
            <a:avLst/>
          </a:prstGeom>
          <a:noFill/>
          <a:ln/>
        </p:spPr>
        <p:txBody>
          <a:bodyPr wrap="square" lIns="0" tIns="0" rIns="0" bIns="0" rtlCol="0" anchor="ctr"/>
          <a:lstStyle/>
          <a:p>
            <a:pPr marL="0" indent="0">
              <a:buNone/>
            </a:pPr>
            <a:r>
              <a:rPr lang="en-US" sz="800" dirty="0">
                <a:solidFill>
                  <a:srgbClr val="686868"/>
                </a:solidFill>
                <a:latin typeface="Aptos" pitchFamily="34" charset="0"/>
                <a:ea typeface="Aptos" pitchFamily="34" charset="-122"/>
                <a:cs typeface="Aptos" pitchFamily="34" charset="-120"/>
              </a:rPr>
              <a:t>CONFIDENTIAL  |  ©2026 SANDISK</a:t>
            </a:r>
            <a:endParaRPr lang="en-US" sz="800" dirty="0"/>
          </a:p>
        </p:txBody>
      </p:sp>
      <p:sp>
        <p:nvSpPr>
          <p:cNvPr id="9" name="Text 7"/>
          <p:cNvSpPr/>
          <p:nvPr/>
        </p:nvSpPr>
        <p:spPr>
          <a:xfrm>
            <a:off x="5989320" y="6556248"/>
            <a:ext cx="4910328" cy="128016"/>
          </a:xfrm>
          <a:prstGeom prst="rect">
            <a:avLst/>
          </a:prstGeom>
          <a:noFill/>
          <a:ln/>
        </p:spPr>
        <p:txBody>
          <a:bodyPr wrap="square" lIns="0" tIns="0" rIns="0" bIns="0" rtlCol="0" anchor="ctr"/>
          <a:lstStyle/>
          <a:p>
            <a:pPr marL="0" indent="0" algn="r">
              <a:buNone/>
            </a:pPr>
            <a:r>
              <a:rPr lang="en-US" sz="800" dirty="0">
                <a:solidFill>
                  <a:srgbClr val="686868"/>
                </a:solidFill>
                <a:latin typeface="Aptos" pitchFamily="34" charset="0"/>
                <a:ea typeface="Aptos" pitchFamily="34" charset="-122"/>
                <a:cs typeface="Aptos" pitchFamily="34" charset="-120"/>
              </a:rPr>
              <a:t>CAPACITY-LED PLACEMENT EXAMPLE</a:t>
            </a:r>
            <a:endParaRPr lang="en-US" sz="800" dirty="0"/>
          </a:p>
        </p:txBody>
      </p:sp>
      <p:sp>
        <p:nvSpPr>
          <p:cNvPr id="10" name="Text 8"/>
          <p:cNvSpPr/>
          <p:nvPr/>
        </p:nvSpPr>
        <p:spPr>
          <a:xfrm>
            <a:off x="11247120" y="6528816"/>
            <a:ext cx="365760" cy="164592"/>
          </a:xfrm>
          <a:prstGeom prst="rect">
            <a:avLst/>
          </a:prstGeom>
          <a:noFill/>
          <a:ln/>
        </p:spPr>
        <p:txBody>
          <a:bodyPr wrap="square" lIns="0" tIns="0" rIns="0" bIns="0" rtlCol="0" anchor="ctr"/>
          <a:lstStyle/>
          <a:p>
            <a:pPr marL="0" indent="0" algn="r">
              <a:buNone/>
            </a:pPr>
            <a:r>
              <a:rPr lang="en-US" sz="900" b="1" dirty="0">
                <a:solidFill>
                  <a:srgbClr val="686868"/>
                </a:solidFill>
                <a:latin typeface="Aptos" pitchFamily="34" charset="0"/>
                <a:ea typeface="Aptos" pitchFamily="34" charset="-122"/>
                <a:cs typeface="Aptos" pitchFamily="34" charset="-120"/>
              </a:rPr>
              <a:t>13</a:t>
            </a:r>
            <a:endParaRPr lang="en-US" sz="900" dirty="0"/>
          </a:p>
        </p:txBody>
      </p:sp>
      <p:sp>
        <p:nvSpPr>
          <p:cNvPr id="11" name="Text 9"/>
          <p:cNvSpPr/>
          <p:nvPr/>
        </p:nvSpPr>
        <p:spPr>
          <a:xfrm>
            <a:off x="548640" y="6432804"/>
            <a:ext cx="7315200" cy="109728"/>
          </a:xfrm>
          <a:prstGeom prst="rect">
            <a:avLst/>
          </a:prstGeom>
          <a:noFill/>
          <a:ln/>
        </p:spPr>
        <p:txBody>
          <a:bodyPr wrap="square" lIns="0" tIns="0" rIns="0" bIns="0" rtlCol="0" anchor="ctr"/>
          <a:lstStyle/>
          <a:p>
            <a:pPr marL="0" indent="0">
              <a:buNone/>
            </a:pPr>
            <a:r>
              <a:rPr lang="en-US" sz="800" dirty="0">
                <a:solidFill>
                  <a:srgbClr val="686868"/>
                </a:solidFill>
                <a:latin typeface="Aptos" pitchFamily="34" charset="0"/>
                <a:ea typeface="Aptos" pitchFamily="34" charset="-122"/>
                <a:cs typeface="Aptos" pitchFamily="34" charset="-120"/>
              </a:rPr>
              <a:t>Sources: I3, R1, R9, R11 · Details in notes</a:t>
            </a:r>
            <a:endParaRPr lang="en-US" sz="800" dirty="0"/>
          </a:p>
        </p:txBody>
      </p:sp>
      <p:sp>
        <p:nvSpPr>
          <p:cNvPr id="12" name="Shape 10"/>
          <p:cNvSpPr/>
          <p:nvPr/>
        </p:nvSpPr>
        <p:spPr>
          <a:xfrm>
            <a:off x="594360" y="2048256"/>
            <a:ext cx="5376672" cy="3483864"/>
          </a:xfrm>
          <a:prstGeom prst="roundRect">
            <a:avLst>
              <a:gd name="adj" fmla="val 3150"/>
            </a:avLst>
          </a:prstGeom>
          <a:solidFill>
            <a:srgbClr val="FFFFFF"/>
          </a:solidFill>
          <a:ln w="8255">
            <a:solidFill>
              <a:srgbClr val="DED8D2"/>
            </a:solidFill>
            <a:prstDash val="solid"/>
          </a:ln>
        </p:spPr>
        <p:txBody>
          <a:bodyPr/>
          <a:lstStyle/>
          <a:p>
            <a:endParaRPr lang="en-US"/>
          </a:p>
        </p:txBody>
      </p:sp>
      <p:sp>
        <p:nvSpPr>
          <p:cNvPr id="13" name="Text 11"/>
          <p:cNvSpPr/>
          <p:nvPr/>
        </p:nvSpPr>
        <p:spPr>
          <a:xfrm>
            <a:off x="832104" y="2267712"/>
            <a:ext cx="4709160" cy="201168"/>
          </a:xfrm>
          <a:prstGeom prst="rect">
            <a:avLst/>
          </a:prstGeom>
          <a:noFill/>
          <a:ln/>
        </p:spPr>
        <p:txBody>
          <a:bodyPr wrap="square" lIns="0" tIns="0" rIns="0" bIns="0" rtlCol="0" anchor="ctr"/>
          <a:lstStyle/>
          <a:p>
            <a:pPr marL="0" indent="0">
              <a:buNone/>
            </a:pPr>
            <a:r>
              <a:rPr lang="en-US" sz="1050" b="1" kern="0" spc="100" dirty="0">
                <a:solidFill>
                  <a:srgbClr val="075985"/>
                </a:solidFill>
                <a:latin typeface="Aptos" pitchFamily="34" charset="0"/>
                <a:ea typeface="Aptos" pitchFamily="34" charset="-122"/>
                <a:cs typeface="Aptos" pitchFamily="34" charset="-120"/>
              </a:rPr>
              <a:t>RTX RESIDENT GROUP</a:t>
            </a:r>
            <a:endParaRPr lang="en-US" sz="1050" dirty="0"/>
          </a:p>
        </p:txBody>
      </p:sp>
      <p:sp>
        <p:nvSpPr>
          <p:cNvPr id="14" name="Text 12"/>
          <p:cNvSpPr/>
          <p:nvPr/>
        </p:nvSpPr>
        <p:spPr>
          <a:xfrm>
            <a:off x="841248" y="2724912"/>
            <a:ext cx="4645152" cy="448056"/>
          </a:xfrm>
          <a:prstGeom prst="rect">
            <a:avLst/>
          </a:prstGeom>
          <a:noFill/>
          <a:ln/>
        </p:spPr>
        <p:txBody>
          <a:bodyPr wrap="square" lIns="0" tIns="0" rIns="0" bIns="0" rtlCol="0" anchor="ctr"/>
          <a:lstStyle/>
          <a:p>
            <a:pPr marL="0" indent="0">
              <a:buNone/>
            </a:pPr>
            <a:r>
              <a:rPr lang="en-US" sz="2800" b="1" dirty="0">
                <a:solidFill>
                  <a:srgbClr val="075985"/>
                </a:solidFill>
                <a:latin typeface="Aptos" pitchFamily="34" charset="0"/>
                <a:ea typeface="Aptos" pitchFamily="34" charset="-122"/>
                <a:cs typeface="Aptos" pitchFamily="34" charset="-120"/>
              </a:rPr>
              <a:t>4 GPU cards</a:t>
            </a:r>
            <a:endParaRPr lang="en-US" sz="2800" dirty="0"/>
          </a:p>
        </p:txBody>
      </p:sp>
      <p:sp>
        <p:nvSpPr>
          <p:cNvPr id="15" name="Shape 13"/>
          <p:cNvSpPr/>
          <p:nvPr/>
        </p:nvSpPr>
        <p:spPr>
          <a:xfrm>
            <a:off x="868680" y="3383280"/>
            <a:ext cx="1005840" cy="731520"/>
          </a:xfrm>
          <a:prstGeom prst="roundRect">
            <a:avLst>
              <a:gd name="adj" fmla="val 15000"/>
            </a:avLst>
          </a:prstGeom>
          <a:solidFill>
            <a:srgbClr val="E9F0F5"/>
          </a:solidFill>
          <a:ln w="8255">
            <a:solidFill>
              <a:srgbClr val="E9F0F5"/>
            </a:solidFill>
            <a:prstDash val="solid"/>
          </a:ln>
        </p:spPr>
        <p:txBody>
          <a:bodyPr/>
          <a:lstStyle/>
          <a:p>
            <a:endParaRPr lang="en-US"/>
          </a:p>
        </p:txBody>
      </p:sp>
      <p:sp>
        <p:nvSpPr>
          <p:cNvPr id="16" name="Text 14"/>
          <p:cNvSpPr/>
          <p:nvPr/>
        </p:nvSpPr>
        <p:spPr>
          <a:xfrm>
            <a:off x="914400" y="3566160"/>
            <a:ext cx="914400" cy="265176"/>
          </a:xfrm>
          <a:prstGeom prst="rect">
            <a:avLst/>
          </a:prstGeom>
          <a:noFill/>
          <a:ln/>
        </p:spPr>
        <p:txBody>
          <a:bodyPr wrap="square" lIns="0" tIns="0" rIns="0" bIns="0" rtlCol="0" anchor="ctr"/>
          <a:lstStyle/>
          <a:p>
            <a:pPr marL="0" indent="0" algn="ctr">
              <a:buNone/>
            </a:pPr>
            <a:r>
              <a:rPr lang="en-US" sz="1400" b="1" dirty="0">
                <a:solidFill>
                  <a:srgbClr val="075985"/>
                </a:solidFill>
                <a:latin typeface="Aptos" pitchFamily="34" charset="0"/>
                <a:ea typeface="Aptos" pitchFamily="34" charset="-122"/>
                <a:cs typeface="Aptos" pitchFamily="34" charset="-120"/>
              </a:rPr>
              <a:t>GPU 1</a:t>
            </a:r>
            <a:endParaRPr lang="en-US" sz="1400" dirty="0"/>
          </a:p>
        </p:txBody>
      </p:sp>
      <p:sp>
        <p:nvSpPr>
          <p:cNvPr id="17" name="Shape 15"/>
          <p:cNvSpPr/>
          <p:nvPr/>
        </p:nvSpPr>
        <p:spPr>
          <a:xfrm>
            <a:off x="2057400" y="3383280"/>
            <a:ext cx="1005840" cy="731520"/>
          </a:xfrm>
          <a:prstGeom prst="roundRect">
            <a:avLst>
              <a:gd name="adj" fmla="val 15000"/>
            </a:avLst>
          </a:prstGeom>
          <a:solidFill>
            <a:srgbClr val="E9F0F5"/>
          </a:solidFill>
          <a:ln w="8255">
            <a:solidFill>
              <a:srgbClr val="E9F0F5"/>
            </a:solidFill>
            <a:prstDash val="solid"/>
          </a:ln>
        </p:spPr>
        <p:txBody>
          <a:bodyPr/>
          <a:lstStyle/>
          <a:p>
            <a:endParaRPr lang="en-US"/>
          </a:p>
        </p:txBody>
      </p:sp>
      <p:sp>
        <p:nvSpPr>
          <p:cNvPr id="18" name="Text 16"/>
          <p:cNvSpPr/>
          <p:nvPr/>
        </p:nvSpPr>
        <p:spPr>
          <a:xfrm>
            <a:off x="2103120" y="3566160"/>
            <a:ext cx="914400" cy="265176"/>
          </a:xfrm>
          <a:prstGeom prst="rect">
            <a:avLst/>
          </a:prstGeom>
          <a:noFill/>
          <a:ln/>
        </p:spPr>
        <p:txBody>
          <a:bodyPr wrap="square" lIns="0" tIns="0" rIns="0" bIns="0" rtlCol="0" anchor="ctr"/>
          <a:lstStyle/>
          <a:p>
            <a:pPr marL="0" indent="0" algn="ctr">
              <a:buNone/>
            </a:pPr>
            <a:r>
              <a:rPr lang="en-US" sz="1400" b="1" dirty="0">
                <a:solidFill>
                  <a:srgbClr val="075985"/>
                </a:solidFill>
                <a:latin typeface="Aptos" pitchFamily="34" charset="0"/>
                <a:ea typeface="Aptos" pitchFamily="34" charset="-122"/>
                <a:cs typeface="Aptos" pitchFamily="34" charset="-120"/>
              </a:rPr>
              <a:t>GPU 2</a:t>
            </a:r>
            <a:endParaRPr lang="en-US" sz="1400" dirty="0"/>
          </a:p>
        </p:txBody>
      </p:sp>
      <p:sp>
        <p:nvSpPr>
          <p:cNvPr id="19" name="Shape 17"/>
          <p:cNvSpPr/>
          <p:nvPr/>
        </p:nvSpPr>
        <p:spPr>
          <a:xfrm>
            <a:off x="3246120" y="3383280"/>
            <a:ext cx="1005840" cy="731520"/>
          </a:xfrm>
          <a:prstGeom prst="roundRect">
            <a:avLst>
              <a:gd name="adj" fmla="val 15000"/>
            </a:avLst>
          </a:prstGeom>
          <a:solidFill>
            <a:srgbClr val="E9F0F5"/>
          </a:solidFill>
          <a:ln w="8255">
            <a:solidFill>
              <a:srgbClr val="E9F0F5"/>
            </a:solidFill>
            <a:prstDash val="solid"/>
          </a:ln>
        </p:spPr>
        <p:txBody>
          <a:bodyPr/>
          <a:lstStyle/>
          <a:p>
            <a:endParaRPr lang="en-US"/>
          </a:p>
        </p:txBody>
      </p:sp>
      <p:sp>
        <p:nvSpPr>
          <p:cNvPr id="20" name="Text 18"/>
          <p:cNvSpPr/>
          <p:nvPr/>
        </p:nvSpPr>
        <p:spPr>
          <a:xfrm>
            <a:off x="3291840" y="3566160"/>
            <a:ext cx="914400" cy="265176"/>
          </a:xfrm>
          <a:prstGeom prst="rect">
            <a:avLst/>
          </a:prstGeom>
          <a:noFill/>
          <a:ln/>
        </p:spPr>
        <p:txBody>
          <a:bodyPr wrap="square" lIns="0" tIns="0" rIns="0" bIns="0" rtlCol="0" anchor="ctr"/>
          <a:lstStyle/>
          <a:p>
            <a:pPr marL="0" indent="0" algn="ctr">
              <a:buNone/>
            </a:pPr>
            <a:r>
              <a:rPr lang="en-US" sz="1400" b="1" dirty="0">
                <a:solidFill>
                  <a:srgbClr val="075985"/>
                </a:solidFill>
                <a:latin typeface="Aptos" pitchFamily="34" charset="0"/>
                <a:ea typeface="Aptos" pitchFamily="34" charset="-122"/>
                <a:cs typeface="Aptos" pitchFamily="34" charset="-120"/>
              </a:rPr>
              <a:t>GPU 3</a:t>
            </a:r>
            <a:endParaRPr lang="en-US" sz="1400" dirty="0"/>
          </a:p>
        </p:txBody>
      </p:sp>
      <p:sp>
        <p:nvSpPr>
          <p:cNvPr id="21" name="Shape 19"/>
          <p:cNvSpPr/>
          <p:nvPr/>
        </p:nvSpPr>
        <p:spPr>
          <a:xfrm>
            <a:off x="4434840" y="3383280"/>
            <a:ext cx="1005840" cy="731520"/>
          </a:xfrm>
          <a:prstGeom prst="roundRect">
            <a:avLst>
              <a:gd name="adj" fmla="val 15000"/>
            </a:avLst>
          </a:prstGeom>
          <a:solidFill>
            <a:srgbClr val="E9F0F5"/>
          </a:solidFill>
          <a:ln w="8255">
            <a:solidFill>
              <a:srgbClr val="E9F0F5"/>
            </a:solidFill>
            <a:prstDash val="solid"/>
          </a:ln>
        </p:spPr>
        <p:txBody>
          <a:bodyPr/>
          <a:lstStyle/>
          <a:p>
            <a:endParaRPr lang="en-US"/>
          </a:p>
        </p:txBody>
      </p:sp>
      <p:sp>
        <p:nvSpPr>
          <p:cNvPr id="22" name="Text 20"/>
          <p:cNvSpPr/>
          <p:nvPr/>
        </p:nvSpPr>
        <p:spPr>
          <a:xfrm>
            <a:off x="4480560" y="3566160"/>
            <a:ext cx="914400" cy="265176"/>
          </a:xfrm>
          <a:prstGeom prst="rect">
            <a:avLst/>
          </a:prstGeom>
          <a:noFill/>
          <a:ln/>
        </p:spPr>
        <p:txBody>
          <a:bodyPr wrap="square" lIns="0" tIns="0" rIns="0" bIns="0" rtlCol="0" anchor="ctr"/>
          <a:lstStyle/>
          <a:p>
            <a:pPr marL="0" indent="0" algn="ctr">
              <a:buNone/>
            </a:pPr>
            <a:r>
              <a:rPr lang="en-US" sz="1400" b="1" dirty="0">
                <a:solidFill>
                  <a:srgbClr val="075985"/>
                </a:solidFill>
                <a:latin typeface="Aptos" pitchFamily="34" charset="0"/>
                <a:ea typeface="Aptos" pitchFamily="34" charset="-122"/>
                <a:cs typeface="Aptos" pitchFamily="34" charset="-120"/>
              </a:rPr>
              <a:t>GPU 4</a:t>
            </a:r>
            <a:endParaRPr lang="en-US" sz="1400" dirty="0"/>
          </a:p>
        </p:txBody>
      </p:sp>
      <p:sp>
        <p:nvSpPr>
          <p:cNvPr id="23" name="Text 21"/>
          <p:cNvSpPr/>
          <p:nvPr/>
        </p:nvSpPr>
        <p:spPr>
          <a:xfrm>
            <a:off x="841248" y="4471416"/>
            <a:ext cx="4709160" cy="813816"/>
          </a:xfrm>
          <a:prstGeom prst="rect">
            <a:avLst/>
          </a:prstGeom>
          <a:noFill/>
          <a:ln/>
        </p:spPr>
        <p:txBody>
          <a:bodyPr wrap="square" lIns="0" tIns="0" rIns="0" bIns="0" rtlCol="0" anchor="ctr"/>
          <a:lstStyle/>
          <a:p>
            <a:pPr marL="0" indent="0">
              <a:buNone/>
            </a:pPr>
            <a:r>
              <a:rPr lang="en-US" sz="1500" dirty="0">
                <a:solidFill>
                  <a:srgbClr val="686868"/>
                </a:solidFill>
                <a:latin typeface="Aptos" pitchFamily="34" charset="0"/>
                <a:ea typeface="Aptos" pitchFamily="34" charset="-122"/>
                <a:cs typeface="Aptos" pitchFamily="34" charset="-120"/>
              </a:rPr>
              <a:t>250 GB weights in 384 GB GDDR</a:t>
            </a:r>
            <a:endParaRPr lang="en-US" sz="1500" dirty="0"/>
          </a:p>
          <a:p>
            <a:pPr marL="0" indent="0">
              <a:buNone/>
            </a:pPr>
            <a:r>
              <a:rPr lang="en-US" sz="1500" dirty="0">
                <a:solidFill>
                  <a:srgbClr val="686868"/>
                </a:solidFill>
                <a:latin typeface="Aptos" pitchFamily="34" charset="0"/>
                <a:ea typeface="Aptos" pitchFamily="34" charset="-122"/>
                <a:cs typeface="Aptos" pitchFamily="34" charset="-120"/>
              </a:rPr>
              <a:t>~96 GB logical KV after a 10% reserve</a:t>
            </a:r>
            <a:endParaRPr lang="en-US" sz="1500" dirty="0"/>
          </a:p>
          <a:p>
            <a:pPr marL="0" indent="0">
              <a:buNone/>
            </a:pPr>
            <a:r>
              <a:rPr lang="en-US" sz="1500" dirty="0">
                <a:solidFill>
                  <a:srgbClr val="686868"/>
                </a:solidFill>
                <a:latin typeface="Aptos" pitchFamily="34" charset="0"/>
                <a:ea typeface="Aptos" pitchFamily="34" charset="-122"/>
                <a:cs typeface="Aptos" pitchFamily="34" charset="-120"/>
              </a:rPr>
              <a:t>Two dual-GPU 2U nodes—or a larger GPU host</a:t>
            </a:r>
            <a:endParaRPr lang="en-US" sz="1500" dirty="0"/>
          </a:p>
        </p:txBody>
      </p:sp>
      <p:sp>
        <p:nvSpPr>
          <p:cNvPr id="24" name="Shape 22"/>
          <p:cNvSpPr/>
          <p:nvPr/>
        </p:nvSpPr>
        <p:spPr>
          <a:xfrm>
            <a:off x="6199632" y="2048256"/>
            <a:ext cx="5385816" cy="3483864"/>
          </a:xfrm>
          <a:prstGeom prst="roundRect">
            <a:avLst>
              <a:gd name="adj" fmla="val 3150"/>
            </a:avLst>
          </a:prstGeom>
          <a:solidFill>
            <a:srgbClr val="F4EDEA"/>
          </a:solidFill>
          <a:ln w="8255">
            <a:solidFill>
              <a:srgbClr val="DED8D2"/>
            </a:solidFill>
            <a:prstDash val="solid"/>
          </a:ln>
        </p:spPr>
        <p:txBody>
          <a:bodyPr/>
          <a:lstStyle/>
          <a:p>
            <a:endParaRPr lang="en-US"/>
          </a:p>
        </p:txBody>
      </p:sp>
      <p:sp>
        <p:nvSpPr>
          <p:cNvPr id="25" name="Text 23"/>
          <p:cNvSpPr/>
          <p:nvPr/>
        </p:nvSpPr>
        <p:spPr>
          <a:xfrm>
            <a:off x="6428232" y="2267712"/>
            <a:ext cx="4709160" cy="201168"/>
          </a:xfrm>
          <a:prstGeom prst="rect">
            <a:avLst/>
          </a:prstGeom>
          <a:noFill/>
          <a:ln/>
        </p:spPr>
        <p:txBody>
          <a:bodyPr wrap="square" lIns="0" tIns="0" rIns="0" bIns="0" rtlCol="0" anchor="ctr"/>
          <a:lstStyle/>
          <a:p>
            <a:pPr marL="0" indent="0">
              <a:buNone/>
            </a:pPr>
            <a:r>
              <a:rPr lang="en-US" sz="1050" b="1" kern="0" spc="100" dirty="0">
                <a:solidFill>
                  <a:srgbClr val="772C22"/>
                </a:solidFill>
                <a:latin typeface="Aptos" pitchFamily="34" charset="0"/>
                <a:ea typeface="Aptos" pitchFamily="34" charset="-122"/>
                <a:cs typeface="Aptos" pitchFamily="34" charset="-120"/>
              </a:rPr>
              <a:t>ATMOS GROUP TO QUALIFY</a:t>
            </a:r>
            <a:endParaRPr lang="en-US" sz="1050" dirty="0"/>
          </a:p>
        </p:txBody>
      </p:sp>
      <p:sp>
        <p:nvSpPr>
          <p:cNvPr id="26" name="Text 24"/>
          <p:cNvSpPr/>
          <p:nvPr/>
        </p:nvSpPr>
        <p:spPr>
          <a:xfrm>
            <a:off x="6437376" y="2724912"/>
            <a:ext cx="4690872" cy="448056"/>
          </a:xfrm>
          <a:prstGeom prst="rect">
            <a:avLst/>
          </a:prstGeom>
          <a:noFill/>
          <a:ln/>
        </p:spPr>
        <p:txBody>
          <a:bodyPr wrap="square" lIns="0" tIns="0" rIns="0" bIns="0" rtlCol="0" anchor="ctr"/>
          <a:lstStyle/>
          <a:p>
            <a:pPr marL="0" indent="0">
              <a:buNone/>
            </a:pPr>
            <a:r>
              <a:rPr lang="en-US" sz="2800" b="1" dirty="0">
                <a:solidFill>
                  <a:srgbClr val="772C22"/>
                </a:solidFill>
                <a:latin typeface="Aptos" pitchFamily="34" charset="0"/>
                <a:ea typeface="Aptos" pitchFamily="34" charset="-122"/>
                <a:cs typeface="Aptos" pitchFamily="34" charset="-120"/>
              </a:rPr>
              <a:t>1 card / 8 modules</a:t>
            </a:r>
            <a:endParaRPr lang="en-US" sz="2800" dirty="0"/>
          </a:p>
        </p:txBody>
      </p:sp>
      <p:sp>
        <p:nvSpPr>
          <p:cNvPr id="27" name="Shape 25"/>
          <p:cNvSpPr/>
          <p:nvPr/>
        </p:nvSpPr>
        <p:spPr>
          <a:xfrm>
            <a:off x="6446520" y="3383280"/>
            <a:ext cx="484632" cy="731520"/>
          </a:xfrm>
          <a:prstGeom prst="roundRect">
            <a:avLst>
              <a:gd name="adj" fmla="val 22642"/>
            </a:avLst>
          </a:prstGeom>
          <a:solidFill>
            <a:srgbClr val="772C22"/>
          </a:solidFill>
          <a:ln w="8255">
            <a:solidFill>
              <a:srgbClr val="772C22"/>
            </a:solidFill>
            <a:prstDash val="solid"/>
          </a:ln>
        </p:spPr>
        <p:txBody>
          <a:bodyPr/>
          <a:lstStyle/>
          <a:p>
            <a:endParaRPr lang="en-US"/>
          </a:p>
        </p:txBody>
      </p:sp>
      <p:sp>
        <p:nvSpPr>
          <p:cNvPr id="28" name="Text 26"/>
          <p:cNvSpPr/>
          <p:nvPr/>
        </p:nvSpPr>
        <p:spPr>
          <a:xfrm>
            <a:off x="6446520" y="3593592"/>
            <a:ext cx="484632" cy="22860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29" name="Shape 27"/>
          <p:cNvSpPr/>
          <p:nvPr/>
        </p:nvSpPr>
        <p:spPr>
          <a:xfrm>
            <a:off x="7040880" y="3383280"/>
            <a:ext cx="484632" cy="731520"/>
          </a:xfrm>
          <a:prstGeom prst="roundRect">
            <a:avLst>
              <a:gd name="adj" fmla="val 22642"/>
            </a:avLst>
          </a:prstGeom>
          <a:solidFill>
            <a:srgbClr val="772C22"/>
          </a:solidFill>
          <a:ln w="8255">
            <a:solidFill>
              <a:srgbClr val="772C22"/>
            </a:solidFill>
            <a:prstDash val="solid"/>
          </a:ln>
        </p:spPr>
        <p:txBody>
          <a:bodyPr/>
          <a:lstStyle/>
          <a:p>
            <a:endParaRPr lang="en-US"/>
          </a:p>
        </p:txBody>
      </p:sp>
      <p:sp>
        <p:nvSpPr>
          <p:cNvPr id="30" name="Text 28"/>
          <p:cNvSpPr/>
          <p:nvPr/>
        </p:nvSpPr>
        <p:spPr>
          <a:xfrm>
            <a:off x="7040880" y="3593592"/>
            <a:ext cx="484632" cy="22860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31" name="Shape 29"/>
          <p:cNvSpPr/>
          <p:nvPr/>
        </p:nvSpPr>
        <p:spPr>
          <a:xfrm>
            <a:off x="7635240" y="3383280"/>
            <a:ext cx="484632" cy="731520"/>
          </a:xfrm>
          <a:prstGeom prst="roundRect">
            <a:avLst>
              <a:gd name="adj" fmla="val 22642"/>
            </a:avLst>
          </a:prstGeom>
          <a:solidFill>
            <a:srgbClr val="772C22"/>
          </a:solidFill>
          <a:ln w="8255">
            <a:solidFill>
              <a:srgbClr val="772C22"/>
            </a:solidFill>
            <a:prstDash val="solid"/>
          </a:ln>
        </p:spPr>
        <p:txBody>
          <a:bodyPr/>
          <a:lstStyle/>
          <a:p>
            <a:endParaRPr lang="en-US"/>
          </a:p>
        </p:txBody>
      </p:sp>
      <p:sp>
        <p:nvSpPr>
          <p:cNvPr id="32" name="Text 30"/>
          <p:cNvSpPr/>
          <p:nvPr/>
        </p:nvSpPr>
        <p:spPr>
          <a:xfrm>
            <a:off x="7635240" y="3593592"/>
            <a:ext cx="484632" cy="22860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33" name="Shape 31"/>
          <p:cNvSpPr/>
          <p:nvPr/>
        </p:nvSpPr>
        <p:spPr>
          <a:xfrm>
            <a:off x="8229600" y="3383280"/>
            <a:ext cx="484632" cy="731520"/>
          </a:xfrm>
          <a:prstGeom prst="roundRect">
            <a:avLst>
              <a:gd name="adj" fmla="val 22642"/>
            </a:avLst>
          </a:prstGeom>
          <a:solidFill>
            <a:srgbClr val="772C22"/>
          </a:solidFill>
          <a:ln w="8255">
            <a:solidFill>
              <a:srgbClr val="772C22"/>
            </a:solidFill>
            <a:prstDash val="solid"/>
          </a:ln>
        </p:spPr>
        <p:txBody>
          <a:bodyPr/>
          <a:lstStyle/>
          <a:p>
            <a:endParaRPr lang="en-US"/>
          </a:p>
        </p:txBody>
      </p:sp>
      <p:sp>
        <p:nvSpPr>
          <p:cNvPr id="34" name="Text 32"/>
          <p:cNvSpPr/>
          <p:nvPr/>
        </p:nvSpPr>
        <p:spPr>
          <a:xfrm>
            <a:off x="8229600" y="3593592"/>
            <a:ext cx="484632" cy="22860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4</a:t>
            </a:r>
            <a:endParaRPr lang="en-US" sz="1200" dirty="0"/>
          </a:p>
        </p:txBody>
      </p:sp>
      <p:sp>
        <p:nvSpPr>
          <p:cNvPr id="35" name="Shape 33"/>
          <p:cNvSpPr/>
          <p:nvPr/>
        </p:nvSpPr>
        <p:spPr>
          <a:xfrm>
            <a:off x="8823960" y="3383280"/>
            <a:ext cx="484632" cy="731520"/>
          </a:xfrm>
          <a:prstGeom prst="roundRect">
            <a:avLst>
              <a:gd name="adj" fmla="val 22642"/>
            </a:avLst>
          </a:prstGeom>
          <a:solidFill>
            <a:srgbClr val="772C22"/>
          </a:solidFill>
          <a:ln w="8255">
            <a:solidFill>
              <a:srgbClr val="772C22"/>
            </a:solidFill>
            <a:prstDash val="solid"/>
          </a:ln>
        </p:spPr>
        <p:txBody>
          <a:bodyPr/>
          <a:lstStyle/>
          <a:p>
            <a:endParaRPr lang="en-US"/>
          </a:p>
        </p:txBody>
      </p:sp>
      <p:sp>
        <p:nvSpPr>
          <p:cNvPr id="36" name="Text 34"/>
          <p:cNvSpPr/>
          <p:nvPr/>
        </p:nvSpPr>
        <p:spPr>
          <a:xfrm>
            <a:off x="8823960" y="3593592"/>
            <a:ext cx="484632" cy="22860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5</a:t>
            </a:r>
            <a:endParaRPr lang="en-US" sz="1200" dirty="0"/>
          </a:p>
        </p:txBody>
      </p:sp>
      <p:sp>
        <p:nvSpPr>
          <p:cNvPr id="37" name="Shape 35"/>
          <p:cNvSpPr/>
          <p:nvPr/>
        </p:nvSpPr>
        <p:spPr>
          <a:xfrm>
            <a:off x="9418320" y="3383280"/>
            <a:ext cx="484632" cy="731520"/>
          </a:xfrm>
          <a:prstGeom prst="roundRect">
            <a:avLst>
              <a:gd name="adj" fmla="val 22642"/>
            </a:avLst>
          </a:prstGeom>
          <a:solidFill>
            <a:srgbClr val="772C22"/>
          </a:solidFill>
          <a:ln w="8255">
            <a:solidFill>
              <a:srgbClr val="772C22"/>
            </a:solidFill>
            <a:prstDash val="solid"/>
          </a:ln>
        </p:spPr>
        <p:txBody>
          <a:bodyPr/>
          <a:lstStyle/>
          <a:p>
            <a:endParaRPr lang="en-US"/>
          </a:p>
        </p:txBody>
      </p:sp>
      <p:sp>
        <p:nvSpPr>
          <p:cNvPr id="38" name="Text 36"/>
          <p:cNvSpPr/>
          <p:nvPr/>
        </p:nvSpPr>
        <p:spPr>
          <a:xfrm>
            <a:off x="9418320" y="3593592"/>
            <a:ext cx="484632" cy="22860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6</a:t>
            </a:r>
            <a:endParaRPr lang="en-US" sz="1200" dirty="0"/>
          </a:p>
        </p:txBody>
      </p:sp>
      <p:sp>
        <p:nvSpPr>
          <p:cNvPr id="39" name="Shape 37"/>
          <p:cNvSpPr/>
          <p:nvPr/>
        </p:nvSpPr>
        <p:spPr>
          <a:xfrm>
            <a:off x="10012680" y="3383280"/>
            <a:ext cx="484632" cy="731520"/>
          </a:xfrm>
          <a:prstGeom prst="roundRect">
            <a:avLst>
              <a:gd name="adj" fmla="val 22642"/>
            </a:avLst>
          </a:prstGeom>
          <a:solidFill>
            <a:srgbClr val="772C22"/>
          </a:solidFill>
          <a:ln w="8255">
            <a:solidFill>
              <a:srgbClr val="772C22"/>
            </a:solidFill>
            <a:prstDash val="solid"/>
          </a:ln>
        </p:spPr>
        <p:txBody>
          <a:bodyPr/>
          <a:lstStyle/>
          <a:p>
            <a:endParaRPr lang="en-US"/>
          </a:p>
        </p:txBody>
      </p:sp>
      <p:sp>
        <p:nvSpPr>
          <p:cNvPr id="40" name="Text 38"/>
          <p:cNvSpPr/>
          <p:nvPr/>
        </p:nvSpPr>
        <p:spPr>
          <a:xfrm>
            <a:off x="10012680" y="3593592"/>
            <a:ext cx="484632" cy="22860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7</a:t>
            </a:r>
            <a:endParaRPr lang="en-US" sz="1200" dirty="0"/>
          </a:p>
        </p:txBody>
      </p:sp>
      <p:sp>
        <p:nvSpPr>
          <p:cNvPr id="41" name="Shape 39"/>
          <p:cNvSpPr/>
          <p:nvPr/>
        </p:nvSpPr>
        <p:spPr>
          <a:xfrm>
            <a:off x="10607040" y="3383280"/>
            <a:ext cx="484632" cy="731520"/>
          </a:xfrm>
          <a:prstGeom prst="roundRect">
            <a:avLst>
              <a:gd name="adj" fmla="val 22642"/>
            </a:avLst>
          </a:prstGeom>
          <a:solidFill>
            <a:srgbClr val="772C22"/>
          </a:solidFill>
          <a:ln w="8255">
            <a:solidFill>
              <a:srgbClr val="772C22"/>
            </a:solidFill>
            <a:prstDash val="solid"/>
          </a:ln>
        </p:spPr>
        <p:txBody>
          <a:bodyPr/>
          <a:lstStyle/>
          <a:p>
            <a:endParaRPr lang="en-US"/>
          </a:p>
        </p:txBody>
      </p:sp>
      <p:sp>
        <p:nvSpPr>
          <p:cNvPr id="42" name="Text 40"/>
          <p:cNvSpPr/>
          <p:nvPr/>
        </p:nvSpPr>
        <p:spPr>
          <a:xfrm>
            <a:off x="10607040" y="3593592"/>
            <a:ext cx="484632" cy="22860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8</a:t>
            </a:r>
            <a:endParaRPr lang="en-US" sz="1200" dirty="0"/>
          </a:p>
        </p:txBody>
      </p:sp>
      <p:sp>
        <p:nvSpPr>
          <p:cNvPr id="43" name="Text 41"/>
          <p:cNvSpPr/>
          <p:nvPr/>
        </p:nvSpPr>
        <p:spPr>
          <a:xfrm>
            <a:off x="6437376" y="4471416"/>
            <a:ext cx="4700016" cy="813816"/>
          </a:xfrm>
          <a:prstGeom prst="rect">
            <a:avLst/>
          </a:prstGeom>
          <a:noFill/>
          <a:ln/>
        </p:spPr>
        <p:txBody>
          <a:bodyPr wrap="square" lIns="0" tIns="0" rIns="0" bIns="0" rtlCol="0" anchor="ctr"/>
          <a:lstStyle/>
          <a:p>
            <a:pPr marL="0" indent="0">
              <a:buNone/>
            </a:pPr>
            <a:r>
              <a:rPr lang="en-US" sz="1500" dirty="0">
                <a:solidFill>
                  <a:srgbClr val="686868"/>
                </a:solidFill>
                <a:latin typeface="Aptos" pitchFamily="34" charset="0"/>
                <a:ea typeface="Aptos" pitchFamily="34" charset="-122"/>
                <a:cs typeface="Aptos" pitchFamily="34" charset="-120"/>
              </a:rPr>
              <a:t>250 GB weights in the HBF target</a:t>
            </a:r>
            <a:endParaRPr lang="en-US" sz="1500" dirty="0"/>
          </a:p>
          <a:p>
            <a:pPr marL="0" indent="0">
              <a:buNone/>
            </a:pPr>
            <a:r>
              <a:rPr lang="en-US" sz="1500" dirty="0">
                <a:solidFill>
                  <a:srgbClr val="686868"/>
                </a:solidFill>
                <a:latin typeface="Aptos" pitchFamily="34" charset="0"/>
                <a:ea typeface="Aptos" pitchFamily="34" charset="-122"/>
                <a:cs typeface="Aptos" pitchFamily="34" charset="-120"/>
              </a:rPr>
              <a:t>96 GB KV from a 128 GB LPDDR option</a:t>
            </a:r>
            <a:endParaRPr lang="en-US" sz="1500" dirty="0"/>
          </a:p>
          <a:p>
            <a:pPr marL="0" indent="0">
              <a:buNone/>
            </a:pPr>
            <a:r>
              <a:rPr lang="en-US" sz="1500" dirty="0">
                <a:solidFill>
                  <a:srgbClr val="686868"/>
                </a:solidFill>
                <a:latin typeface="Aptos" pitchFamily="34" charset="0"/>
                <a:ea typeface="Aptos" pitchFamily="34" charset="-122"/>
                <a:cs typeface="Aptos" pitchFamily="34" charset="-120"/>
              </a:rPr>
              <a:t>Internal TP / EP / pipeline coordination remains</a:t>
            </a:r>
            <a:endParaRPr lang="en-US" sz="1500" dirty="0"/>
          </a:p>
        </p:txBody>
      </p:sp>
      <p:sp>
        <p:nvSpPr>
          <p:cNvPr id="44" name="Shape 42"/>
          <p:cNvSpPr/>
          <p:nvPr/>
        </p:nvSpPr>
        <p:spPr>
          <a:xfrm>
            <a:off x="530352" y="5980176"/>
            <a:ext cx="11091672" cy="420624"/>
          </a:xfrm>
          <a:prstGeom prst="roundRect">
            <a:avLst>
              <a:gd name="adj" fmla="val 26087"/>
            </a:avLst>
          </a:prstGeom>
          <a:solidFill>
            <a:srgbClr val="161616"/>
          </a:solidFill>
          <a:ln w="8255">
            <a:solidFill>
              <a:srgbClr val="161616"/>
            </a:solidFill>
            <a:prstDash val="solid"/>
          </a:ln>
        </p:spPr>
        <p:txBody>
          <a:bodyPr/>
          <a:lstStyle/>
          <a:p>
            <a:endParaRPr lang="en-US"/>
          </a:p>
        </p:txBody>
      </p:sp>
      <p:sp>
        <p:nvSpPr>
          <p:cNvPr id="45" name="Text 43"/>
          <p:cNvSpPr/>
          <p:nvPr/>
        </p:nvSpPr>
        <p:spPr>
          <a:xfrm>
            <a:off x="731520" y="6025896"/>
            <a:ext cx="10698480"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This is a residency comparison—not a 4× throughput or replacement claim. Smaller GPU packs/offload remain alternatives.</a:t>
            </a:r>
            <a:endParaRPr lang="en-US" sz="1400" dirty="0"/>
          </a:p>
        </p:txBody>
      </p:sp>
      <p:grpSp>
        <p:nvGrpSpPr>
          <p:cNvPr id="46" name="Source SanDisk brand 0">
            <a:extLst>
              <a:ext uri="{FF2B5EF4-FFF2-40B4-BE49-F238E27FC236}">
                <a16:creationId xmlns:a16="http://schemas.microsoft.com/office/drawing/2014/main" id="{A6A692BC-3C6C-56BD-8B34-32B6817D15D4}"/>
              </a:ext>
            </a:extLst>
          </p:cNvPr>
          <p:cNvGrpSpPr/>
          <p:nvPr/>
        </p:nvGrpSpPr>
        <p:grpSpPr>
          <a:xfrm>
            <a:off x="539496" y="6547104"/>
            <a:ext cx="1280160" cy="128016"/>
            <a:chOff x="297005" y="5421618"/>
            <a:chExt cx="11585651" cy="1156649"/>
          </a:xfrm>
          <a:solidFill>
            <a:schemeClr val="accent3"/>
          </a:solidFill>
        </p:grpSpPr>
        <p:grpSp>
          <p:nvGrpSpPr>
            <p:cNvPr id="47" name="Source SanDisk brand 1">
              <a:extLst>
                <a:ext uri="{FF2B5EF4-FFF2-40B4-BE49-F238E27FC236}">
                  <a16:creationId xmlns:a16="http://schemas.microsoft.com/office/drawing/2014/main" id="{50FD88E0-3A7B-F830-D901-1BE0676304ED}"/>
                </a:ext>
              </a:extLst>
            </p:cNvPr>
            <p:cNvGrpSpPr/>
            <p:nvPr/>
          </p:nvGrpSpPr>
          <p:grpSpPr>
            <a:xfrm>
              <a:off x="297005" y="5421618"/>
              <a:ext cx="10643138" cy="1156649"/>
              <a:chOff x="3726006" y="3171824"/>
              <a:chExt cx="4740852" cy="515215"/>
            </a:xfrm>
            <a:grpFill/>
          </p:grpSpPr>
          <p:sp>
            <p:nvSpPr>
              <p:cNvPr id="48" name="Source SanDisk brand 2">
                <a:extLst>
                  <a:ext uri="{FF2B5EF4-FFF2-40B4-BE49-F238E27FC236}">
                    <a16:creationId xmlns:a16="http://schemas.microsoft.com/office/drawing/2014/main" id="{BF52D899-1363-DEA1-6063-C8949655B805}"/>
                  </a:ext>
                </a:extLst>
              </p:cNvPr>
              <p:cNvSpPr/>
              <p:nvPr/>
            </p:nvSpPr>
            <p:spPr>
              <a:xfrm>
                <a:off x="5262995" y="3173556"/>
                <a:ext cx="639906" cy="512618"/>
              </a:xfrm>
              <a:custGeom>
                <a:avLst/>
                <a:gdLst>
                  <a:gd name="connsiteX0" fmla="*/ 512618 w 639906"/>
                  <a:gd name="connsiteY0" fmla="*/ 348961 h 512618"/>
                  <a:gd name="connsiteX1" fmla="*/ 482311 w 639906"/>
                  <a:gd name="connsiteY1" fmla="*/ 383598 h 512618"/>
                  <a:gd name="connsiteX2" fmla="*/ 446809 w 639906"/>
                  <a:gd name="connsiteY2" fmla="*/ 361950 h 512618"/>
                  <a:gd name="connsiteX3" fmla="*/ 329911 w 639906"/>
                  <a:gd name="connsiteY3" fmla="*/ 40698 h 512618"/>
                  <a:gd name="connsiteX4" fmla="*/ 274493 w 639906"/>
                  <a:gd name="connsiteY4" fmla="*/ 0 h 512618"/>
                  <a:gd name="connsiteX5" fmla="*/ 0 w 639906"/>
                  <a:gd name="connsiteY5" fmla="*/ 0 h 512618"/>
                  <a:gd name="connsiteX6" fmla="*/ 0 w 639906"/>
                  <a:gd name="connsiteY6" fmla="*/ 512618 h 512618"/>
                  <a:gd name="connsiteX7" fmla="*/ 200891 w 639906"/>
                  <a:gd name="connsiteY7" fmla="*/ 512618 h 512618"/>
                  <a:gd name="connsiteX8" fmla="*/ 200891 w 639906"/>
                  <a:gd name="connsiteY8" fmla="*/ 384464 h 512618"/>
                  <a:gd name="connsiteX9" fmla="*/ 165389 w 639906"/>
                  <a:gd name="connsiteY9" fmla="*/ 384464 h 512618"/>
                  <a:gd name="connsiteX10" fmla="*/ 128155 w 639906"/>
                  <a:gd name="connsiteY10" fmla="*/ 338571 h 512618"/>
                  <a:gd name="connsiteX11" fmla="*/ 128155 w 639906"/>
                  <a:gd name="connsiteY11" fmla="*/ 184439 h 512618"/>
                  <a:gd name="connsiteX12" fmla="*/ 200025 w 639906"/>
                  <a:gd name="connsiteY12" fmla="*/ 133350 h 512618"/>
                  <a:gd name="connsiteX13" fmla="*/ 228600 w 639906"/>
                  <a:gd name="connsiteY13" fmla="*/ 164523 h 512618"/>
                  <a:gd name="connsiteX14" fmla="*/ 322118 w 639906"/>
                  <a:gd name="connsiteY14" fmla="*/ 407843 h 512618"/>
                  <a:gd name="connsiteX15" fmla="*/ 475384 w 639906"/>
                  <a:gd name="connsiteY15" fmla="*/ 512618 h 512618"/>
                  <a:gd name="connsiteX16" fmla="*/ 478848 w 639906"/>
                  <a:gd name="connsiteY16" fmla="*/ 512618 h 512618"/>
                  <a:gd name="connsiteX17" fmla="*/ 639907 w 639906"/>
                  <a:gd name="connsiteY17" fmla="*/ 353291 h 512618"/>
                  <a:gd name="connsiteX18" fmla="*/ 639907 w 639906"/>
                  <a:gd name="connsiteY18" fmla="*/ 0 h 512618"/>
                  <a:gd name="connsiteX19" fmla="*/ 511752 w 639906"/>
                  <a:gd name="connsiteY19" fmla="*/ 0 h 512618"/>
                  <a:gd name="connsiteX20" fmla="*/ 511752 w 639906"/>
                  <a:gd name="connsiteY20" fmla="*/ 349827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39906" h="512618">
                    <a:moveTo>
                      <a:pt x="512618" y="348961"/>
                    </a:moveTo>
                    <a:cubicBezTo>
                      <a:pt x="512618" y="366279"/>
                      <a:pt x="499630" y="381000"/>
                      <a:pt x="482311" y="383598"/>
                    </a:cubicBezTo>
                    <a:cubicBezTo>
                      <a:pt x="466725" y="385330"/>
                      <a:pt x="452005" y="375805"/>
                      <a:pt x="446809" y="361950"/>
                    </a:cubicBezTo>
                    <a:lnTo>
                      <a:pt x="329911" y="40698"/>
                    </a:lnTo>
                    <a:cubicBezTo>
                      <a:pt x="321252" y="14721"/>
                      <a:pt x="299605" y="0"/>
                      <a:pt x="274493" y="0"/>
                    </a:cubicBezTo>
                    <a:lnTo>
                      <a:pt x="0" y="0"/>
                    </a:lnTo>
                    <a:lnTo>
                      <a:pt x="0" y="512618"/>
                    </a:lnTo>
                    <a:lnTo>
                      <a:pt x="200891" y="512618"/>
                    </a:lnTo>
                    <a:lnTo>
                      <a:pt x="200891" y="384464"/>
                    </a:lnTo>
                    <a:lnTo>
                      <a:pt x="165389" y="384464"/>
                    </a:lnTo>
                    <a:cubicBezTo>
                      <a:pt x="142009" y="384464"/>
                      <a:pt x="128155" y="363682"/>
                      <a:pt x="128155" y="338571"/>
                    </a:cubicBezTo>
                    <a:lnTo>
                      <a:pt x="128155" y="184439"/>
                    </a:lnTo>
                    <a:cubicBezTo>
                      <a:pt x="128155" y="146339"/>
                      <a:pt x="165389" y="118630"/>
                      <a:pt x="200025" y="133350"/>
                    </a:cubicBezTo>
                    <a:cubicBezTo>
                      <a:pt x="213014" y="139411"/>
                      <a:pt x="223405" y="150668"/>
                      <a:pt x="228600" y="164523"/>
                    </a:cubicBezTo>
                    <a:lnTo>
                      <a:pt x="322118" y="407843"/>
                    </a:lnTo>
                    <a:cubicBezTo>
                      <a:pt x="346364" y="471920"/>
                      <a:pt x="406977" y="512618"/>
                      <a:pt x="475384" y="512618"/>
                    </a:cubicBezTo>
                    <a:lnTo>
                      <a:pt x="478848" y="512618"/>
                    </a:lnTo>
                    <a:cubicBezTo>
                      <a:pt x="567170" y="512618"/>
                      <a:pt x="639907" y="442480"/>
                      <a:pt x="639907" y="353291"/>
                    </a:cubicBezTo>
                    <a:lnTo>
                      <a:pt x="639907" y="0"/>
                    </a:lnTo>
                    <a:lnTo>
                      <a:pt x="511752" y="0"/>
                    </a:lnTo>
                    <a:lnTo>
                      <a:pt x="511752" y="349827"/>
                    </a:ln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49" name="Source SanDisk brand 3">
                <a:extLst>
                  <a:ext uri="{FF2B5EF4-FFF2-40B4-BE49-F238E27FC236}">
                    <a16:creationId xmlns:a16="http://schemas.microsoft.com/office/drawing/2014/main" id="{4D5E0007-2AC5-2685-4C2D-CF96C07C7ED0}"/>
                  </a:ext>
                </a:extLst>
              </p:cNvPr>
              <p:cNvSpPr/>
              <p:nvPr/>
            </p:nvSpPr>
            <p:spPr>
              <a:xfrm>
                <a:off x="6031922" y="3172690"/>
                <a:ext cx="640772" cy="512618"/>
              </a:xfrm>
              <a:custGeom>
                <a:avLst/>
                <a:gdLst>
                  <a:gd name="connsiteX0" fmla="*/ 384464 w 640772"/>
                  <a:gd name="connsiteY0" fmla="*/ 0 h 512618"/>
                  <a:gd name="connsiteX1" fmla="*/ 0 w 640772"/>
                  <a:gd name="connsiteY1" fmla="*/ 0 h 512618"/>
                  <a:gd name="connsiteX2" fmla="*/ 0 w 640772"/>
                  <a:gd name="connsiteY2" fmla="*/ 129020 h 512618"/>
                  <a:gd name="connsiteX3" fmla="*/ 384464 w 640772"/>
                  <a:gd name="connsiteY3" fmla="*/ 129020 h 512618"/>
                  <a:gd name="connsiteX4" fmla="*/ 511752 w 640772"/>
                  <a:gd name="connsiteY4" fmla="*/ 256309 h 512618"/>
                  <a:gd name="connsiteX5" fmla="*/ 384464 w 640772"/>
                  <a:gd name="connsiteY5" fmla="*/ 383598 h 512618"/>
                  <a:gd name="connsiteX6" fmla="*/ 0 w 640772"/>
                  <a:gd name="connsiteY6" fmla="*/ 383598 h 512618"/>
                  <a:gd name="connsiteX7" fmla="*/ 0 w 640772"/>
                  <a:gd name="connsiteY7" fmla="*/ 512618 h 512618"/>
                  <a:gd name="connsiteX8" fmla="*/ 384464 w 640772"/>
                  <a:gd name="connsiteY8" fmla="*/ 512618 h 512618"/>
                  <a:gd name="connsiteX9" fmla="*/ 609600 w 640772"/>
                  <a:gd name="connsiteY9" fmla="*/ 380134 h 512618"/>
                  <a:gd name="connsiteX10" fmla="*/ 640773 w 640772"/>
                  <a:gd name="connsiteY10" fmla="*/ 256309 h 512618"/>
                  <a:gd name="connsiteX11" fmla="*/ 609600 w 640772"/>
                  <a:gd name="connsiteY11" fmla="*/ 132484 h 512618"/>
                  <a:gd name="connsiteX12" fmla="*/ 384464 w 640772"/>
                  <a:gd name="connsiteY12" fmla="*/ 0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0772" h="512618">
                    <a:moveTo>
                      <a:pt x="384464" y="0"/>
                    </a:moveTo>
                    <a:lnTo>
                      <a:pt x="0" y="0"/>
                    </a:lnTo>
                    <a:lnTo>
                      <a:pt x="0" y="129020"/>
                    </a:lnTo>
                    <a:lnTo>
                      <a:pt x="384464" y="129020"/>
                    </a:lnTo>
                    <a:cubicBezTo>
                      <a:pt x="452004" y="129020"/>
                      <a:pt x="511752" y="188768"/>
                      <a:pt x="511752" y="256309"/>
                    </a:cubicBezTo>
                    <a:cubicBezTo>
                      <a:pt x="511752" y="323850"/>
                      <a:pt x="452004" y="383598"/>
                      <a:pt x="384464" y="383598"/>
                    </a:cubicBezTo>
                    <a:lnTo>
                      <a:pt x="0" y="383598"/>
                    </a:lnTo>
                    <a:lnTo>
                      <a:pt x="0" y="512618"/>
                    </a:lnTo>
                    <a:lnTo>
                      <a:pt x="384464" y="512618"/>
                    </a:lnTo>
                    <a:cubicBezTo>
                      <a:pt x="481446" y="512618"/>
                      <a:pt x="565439" y="458932"/>
                      <a:pt x="609600" y="380134"/>
                    </a:cubicBezTo>
                    <a:cubicBezTo>
                      <a:pt x="629516" y="343766"/>
                      <a:pt x="640773" y="301337"/>
                      <a:pt x="640773" y="256309"/>
                    </a:cubicBezTo>
                    <a:cubicBezTo>
                      <a:pt x="640773" y="211282"/>
                      <a:pt x="629516" y="169718"/>
                      <a:pt x="609600" y="132484"/>
                    </a:cubicBezTo>
                    <a:cubicBezTo>
                      <a:pt x="566305" y="52821"/>
                      <a:pt x="482311" y="0"/>
                      <a:pt x="384464" y="0"/>
                    </a:cubicBez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50" name="Source SanDisk brand 4">
                <a:extLst>
                  <a:ext uri="{FF2B5EF4-FFF2-40B4-BE49-F238E27FC236}">
                    <a16:creationId xmlns:a16="http://schemas.microsoft.com/office/drawing/2014/main" id="{9164FD13-1646-7FD2-5414-F5FB8722267D}"/>
                  </a:ext>
                </a:extLst>
              </p:cNvPr>
              <p:cNvSpPr/>
              <p:nvPr/>
            </p:nvSpPr>
            <p:spPr>
              <a:xfrm>
                <a:off x="6726381" y="3171824"/>
                <a:ext cx="202622" cy="512618"/>
              </a:xfrm>
              <a:custGeom>
                <a:avLst/>
                <a:gdLst>
                  <a:gd name="connsiteX0" fmla="*/ 25977 w 202622"/>
                  <a:gd name="connsiteY0" fmla="*/ 129021 h 512618"/>
                  <a:gd name="connsiteX1" fmla="*/ 36368 w 202622"/>
                  <a:gd name="connsiteY1" fmla="*/ 129021 h 512618"/>
                  <a:gd name="connsiteX2" fmla="*/ 74468 w 202622"/>
                  <a:gd name="connsiteY2" fmla="*/ 176646 h 512618"/>
                  <a:gd name="connsiteX3" fmla="*/ 74468 w 202622"/>
                  <a:gd name="connsiteY3" fmla="*/ 512618 h 512618"/>
                  <a:gd name="connsiteX4" fmla="*/ 202623 w 202622"/>
                  <a:gd name="connsiteY4" fmla="*/ 512618 h 512618"/>
                  <a:gd name="connsiteX5" fmla="*/ 202623 w 202622"/>
                  <a:gd name="connsiteY5" fmla="*/ 0 h 512618"/>
                  <a:gd name="connsiteX6" fmla="*/ 0 w 202622"/>
                  <a:gd name="connsiteY6" fmla="*/ 0 h 512618"/>
                  <a:gd name="connsiteX7" fmla="*/ 0 w 202622"/>
                  <a:gd name="connsiteY7" fmla="*/ 128155 h 512618"/>
                  <a:gd name="connsiteX8" fmla="*/ 26843 w 202622"/>
                  <a:gd name="connsiteY8" fmla="*/ 128155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622" h="512618">
                    <a:moveTo>
                      <a:pt x="25977" y="129021"/>
                    </a:moveTo>
                    <a:cubicBezTo>
                      <a:pt x="29441" y="129021"/>
                      <a:pt x="32039" y="129021"/>
                      <a:pt x="36368" y="129021"/>
                    </a:cubicBezTo>
                    <a:cubicBezTo>
                      <a:pt x="59748" y="132484"/>
                      <a:pt x="74468" y="151534"/>
                      <a:pt x="74468" y="176646"/>
                    </a:cubicBezTo>
                    <a:lnTo>
                      <a:pt x="74468" y="512618"/>
                    </a:lnTo>
                    <a:lnTo>
                      <a:pt x="202623" y="512618"/>
                    </a:lnTo>
                    <a:lnTo>
                      <a:pt x="202623" y="0"/>
                    </a:lnTo>
                    <a:lnTo>
                      <a:pt x="0" y="0"/>
                    </a:lnTo>
                    <a:lnTo>
                      <a:pt x="0" y="128155"/>
                    </a:lnTo>
                    <a:lnTo>
                      <a:pt x="26843" y="128155"/>
                    </a:ln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51" name="Source SanDisk brand 5">
                <a:extLst>
                  <a:ext uri="{FF2B5EF4-FFF2-40B4-BE49-F238E27FC236}">
                    <a16:creationId xmlns:a16="http://schemas.microsoft.com/office/drawing/2014/main" id="{3CEC4686-88E3-A390-9C59-C52AEAD5DDB6}"/>
                  </a:ext>
                </a:extLst>
              </p:cNvPr>
              <p:cNvSpPr/>
              <p:nvPr/>
            </p:nvSpPr>
            <p:spPr>
              <a:xfrm>
                <a:off x="7058025" y="3172690"/>
                <a:ext cx="640772" cy="512618"/>
              </a:xfrm>
              <a:custGeom>
                <a:avLst/>
                <a:gdLst>
                  <a:gd name="connsiteX0" fmla="*/ 639907 w 640772"/>
                  <a:gd name="connsiteY0" fmla="*/ 410441 h 512618"/>
                  <a:gd name="connsiteX1" fmla="*/ 639907 w 640772"/>
                  <a:gd name="connsiteY1" fmla="*/ 512618 h 512618"/>
                  <a:gd name="connsiteX2" fmla="*/ 97848 w 640772"/>
                  <a:gd name="connsiteY2" fmla="*/ 304800 h 512618"/>
                  <a:gd name="connsiteX3" fmla="*/ 0 w 640772"/>
                  <a:gd name="connsiteY3" fmla="*/ 154132 h 512618"/>
                  <a:gd name="connsiteX4" fmla="*/ 154998 w 640772"/>
                  <a:gd name="connsiteY4" fmla="*/ 0 h 512618"/>
                  <a:gd name="connsiteX5" fmla="*/ 639907 w 640772"/>
                  <a:gd name="connsiteY5" fmla="*/ 0 h 512618"/>
                  <a:gd name="connsiteX6" fmla="*/ 639907 w 640772"/>
                  <a:gd name="connsiteY6" fmla="*/ 200891 h 512618"/>
                  <a:gd name="connsiteX7" fmla="*/ 511752 w 640772"/>
                  <a:gd name="connsiteY7" fmla="*/ 200891 h 512618"/>
                  <a:gd name="connsiteX8" fmla="*/ 511752 w 640772"/>
                  <a:gd name="connsiteY8" fmla="*/ 165389 h 512618"/>
                  <a:gd name="connsiteX9" fmla="*/ 472786 w 640772"/>
                  <a:gd name="connsiteY9" fmla="*/ 129020 h 512618"/>
                  <a:gd name="connsiteX10" fmla="*/ 189634 w 640772"/>
                  <a:gd name="connsiteY10" fmla="*/ 129020 h 512618"/>
                  <a:gd name="connsiteX11" fmla="*/ 149802 w 640772"/>
                  <a:gd name="connsiteY11" fmla="*/ 167986 h 512618"/>
                  <a:gd name="connsiteX12" fmla="*/ 175779 w 640772"/>
                  <a:gd name="connsiteY12" fmla="*/ 206087 h 512618"/>
                  <a:gd name="connsiteX13" fmla="*/ 598343 w 640772"/>
                  <a:gd name="connsiteY13" fmla="*/ 355023 h 512618"/>
                  <a:gd name="connsiteX14" fmla="*/ 640773 w 640772"/>
                  <a:gd name="connsiteY14" fmla="*/ 411307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0772" h="512618">
                    <a:moveTo>
                      <a:pt x="639907" y="410441"/>
                    </a:moveTo>
                    <a:lnTo>
                      <a:pt x="639907" y="512618"/>
                    </a:lnTo>
                    <a:lnTo>
                      <a:pt x="97848" y="304800"/>
                    </a:lnTo>
                    <a:cubicBezTo>
                      <a:pt x="12123" y="271895"/>
                      <a:pt x="0" y="209550"/>
                      <a:pt x="0" y="154132"/>
                    </a:cubicBezTo>
                    <a:cubicBezTo>
                      <a:pt x="0" y="69273"/>
                      <a:pt x="70139" y="0"/>
                      <a:pt x="154998" y="0"/>
                    </a:cubicBezTo>
                    <a:lnTo>
                      <a:pt x="639907" y="0"/>
                    </a:lnTo>
                    <a:lnTo>
                      <a:pt x="639907" y="200891"/>
                    </a:lnTo>
                    <a:lnTo>
                      <a:pt x="511752" y="200891"/>
                    </a:lnTo>
                    <a:lnTo>
                      <a:pt x="511752" y="165389"/>
                    </a:lnTo>
                    <a:cubicBezTo>
                      <a:pt x="511752" y="144607"/>
                      <a:pt x="491836" y="129020"/>
                      <a:pt x="472786" y="129020"/>
                    </a:cubicBezTo>
                    <a:lnTo>
                      <a:pt x="189634" y="129020"/>
                    </a:lnTo>
                    <a:cubicBezTo>
                      <a:pt x="167986" y="129020"/>
                      <a:pt x="149802" y="146339"/>
                      <a:pt x="149802" y="167986"/>
                    </a:cubicBezTo>
                    <a:cubicBezTo>
                      <a:pt x="149802" y="189634"/>
                      <a:pt x="160193" y="200025"/>
                      <a:pt x="175779" y="206087"/>
                    </a:cubicBezTo>
                    <a:lnTo>
                      <a:pt x="598343" y="355023"/>
                    </a:lnTo>
                    <a:cubicBezTo>
                      <a:pt x="598343" y="355023"/>
                      <a:pt x="640773" y="367145"/>
                      <a:pt x="640773" y="411307"/>
                    </a:cubicBez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52" name="Source SanDisk brand 6">
                <a:extLst>
                  <a:ext uri="{FF2B5EF4-FFF2-40B4-BE49-F238E27FC236}">
                    <a16:creationId xmlns:a16="http://schemas.microsoft.com/office/drawing/2014/main" id="{3DA57102-8664-4537-0C96-1D776169644E}"/>
                  </a:ext>
                </a:extLst>
              </p:cNvPr>
              <p:cNvSpPr/>
              <p:nvPr/>
            </p:nvSpPr>
            <p:spPr>
              <a:xfrm>
                <a:off x="7056293" y="3557154"/>
                <a:ext cx="126422" cy="128154"/>
              </a:xfrm>
              <a:custGeom>
                <a:avLst/>
                <a:gdLst>
                  <a:gd name="connsiteX0" fmla="*/ 126423 w 126422"/>
                  <a:gd name="connsiteY0" fmla="*/ 0 h 128154"/>
                  <a:gd name="connsiteX1" fmla="*/ 0 w 126422"/>
                  <a:gd name="connsiteY1" fmla="*/ 0 h 128154"/>
                  <a:gd name="connsiteX2" fmla="*/ 0 w 126422"/>
                  <a:gd name="connsiteY2" fmla="*/ 128155 h 128154"/>
                  <a:gd name="connsiteX3" fmla="*/ 126423 w 126422"/>
                  <a:gd name="connsiteY3" fmla="*/ 128155 h 128154"/>
                  <a:gd name="connsiteX4" fmla="*/ 126423 w 126422"/>
                  <a:gd name="connsiteY4" fmla="*/ 0 h 128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22" h="128154">
                    <a:moveTo>
                      <a:pt x="126423" y="0"/>
                    </a:moveTo>
                    <a:lnTo>
                      <a:pt x="0" y="0"/>
                    </a:lnTo>
                    <a:lnTo>
                      <a:pt x="0" y="128155"/>
                    </a:lnTo>
                    <a:lnTo>
                      <a:pt x="126423" y="128155"/>
                    </a:lnTo>
                    <a:lnTo>
                      <a:pt x="126423" y="0"/>
                    </a:ln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53" name="Source SanDisk brand 7">
                <a:extLst>
                  <a:ext uri="{FF2B5EF4-FFF2-40B4-BE49-F238E27FC236}">
                    <a16:creationId xmlns:a16="http://schemas.microsoft.com/office/drawing/2014/main" id="{5A49FBDA-20CE-D350-85F4-D7B8C67413BE}"/>
                  </a:ext>
                </a:extLst>
              </p:cNvPr>
              <p:cNvSpPr/>
              <p:nvPr/>
            </p:nvSpPr>
            <p:spPr>
              <a:xfrm>
                <a:off x="3726006" y="3172690"/>
                <a:ext cx="640772" cy="512618"/>
              </a:xfrm>
              <a:custGeom>
                <a:avLst/>
                <a:gdLst>
                  <a:gd name="connsiteX0" fmla="*/ 639907 w 640772"/>
                  <a:gd name="connsiteY0" fmla="*/ 410441 h 512618"/>
                  <a:gd name="connsiteX1" fmla="*/ 639907 w 640772"/>
                  <a:gd name="connsiteY1" fmla="*/ 512618 h 512618"/>
                  <a:gd name="connsiteX2" fmla="*/ 97848 w 640772"/>
                  <a:gd name="connsiteY2" fmla="*/ 304800 h 512618"/>
                  <a:gd name="connsiteX3" fmla="*/ 0 w 640772"/>
                  <a:gd name="connsiteY3" fmla="*/ 154132 h 512618"/>
                  <a:gd name="connsiteX4" fmla="*/ 154998 w 640772"/>
                  <a:gd name="connsiteY4" fmla="*/ 0 h 512618"/>
                  <a:gd name="connsiteX5" fmla="*/ 639907 w 640772"/>
                  <a:gd name="connsiteY5" fmla="*/ 0 h 512618"/>
                  <a:gd name="connsiteX6" fmla="*/ 639907 w 640772"/>
                  <a:gd name="connsiteY6" fmla="*/ 200891 h 512618"/>
                  <a:gd name="connsiteX7" fmla="*/ 511752 w 640772"/>
                  <a:gd name="connsiteY7" fmla="*/ 200891 h 512618"/>
                  <a:gd name="connsiteX8" fmla="*/ 511752 w 640772"/>
                  <a:gd name="connsiteY8" fmla="*/ 165389 h 512618"/>
                  <a:gd name="connsiteX9" fmla="*/ 472786 w 640772"/>
                  <a:gd name="connsiteY9" fmla="*/ 129020 h 512618"/>
                  <a:gd name="connsiteX10" fmla="*/ 189634 w 640772"/>
                  <a:gd name="connsiteY10" fmla="*/ 129020 h 512618"/>
                  <a:gd name="connsiteX11" fmla="*/ 149802 w 640772"/>
                  <a:gd name="connsiteY11" fmla="*/ 167986 h 512618"/>
                  <a:gd name="connsiteX12" fmla="*/ 175780 w 640772"/>
                  <a:gd name="connsiteY12" fmla="*/ 206087 h 512618"/>
                  <a:gd name="connsiteX13" fmla="*/ 598343 w 640772"/>
                  <a:gd name="connsiteY13" fmla="*/ 355023 h 512618"/>
                  <a:gd name="connsiteX14" fmla="*/ 640773 w 640772"/>
                  <a:gd name="connsiteY14" fmla="*/ 411307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0772" h="512618">
                    <a:moveTo>
                      <a:pt x="639907" y="410441"/>
                    </a:moveTo>
                    <a:lnTo>
                      <a:pt x="639907" y="512618"/>
                    </a:lnTo>
                    <a:lnTo>
                      <a:pt x="97848" y="304800"/>
                    </a:lnTo>
                    <a:cubicBezTo>
                      <a:pt x="12123" y="271895"/>
                      <a:pt x="0" y="209550"/>
                      <a:pt x="0" y="154132"/>
                    </a:cubicBezTo>
                    <a:cubicBezTo>
                      <a:pt x="0" y="69273"/>
                      <a:pt x="70139" y="0"/>
                      <a:pt x="154998" y="0"/>
                    </a:cubicBezTo>
                    <a:lnTo>
                      <a:pt x="639907" y="0"/>
                    </a:lnTo>
                    <a:lnTo>
                      <a:pt x="639907" y="200891"/>
                    </a:lnTo>
                    <a:lnTo>
                      <a:pt x="511752" y="200891"/>
                    </a:lnTo>
                    <a:lnTo>
                      <a:pt x="511752" y="165389"/>
                    </a:lnTo>
                    <a:cubicBezTo>
                      <a:pt x="511752" y="144607"/>
                      <a:pt x="491836" y="129020"/>
                      <a:pt x="472786" y="129020"/>
                    </a:cubicBezTo>
                    <a:lnTo>
                      <a:pt x="189634" y="129020"/>
                    </a:lnTo>
                    <a:cubicBezTo>
                      <a:pt x="167986" y="129020"/>
                      <a:pt x="149802" y="146339"/>
                      <a:pt x="149802" y="167986"/>
                    </a:cubicBezTo>
                    <a:cubicBezTo>
                      <a:pt x="149802" y="189634"/>
                      <a:pt x="160193" y="200025"/>
                      <a:pt x="175780" y="206087"/>
                    </a:cubicBezTo>
                    <a:lnTo>
                      <a:pt x="598343" y="355023"/>
                    </a:lnTo>
                    <a:cubicBezTo>
                      <a:pt x="598343" y="355023"/>
                      <a:pt x="640773" y="367145"/>
                      <a:pt x="640773" y="411307"/>
                    </a:cubicBez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54" name="Source SanDisk brand 8">
                <a:extLst>
                  <a:ext uri="{FF2B5EF4-FFF2-40B4-BE49-F238E27FC236}">
                    <a16:creationId xmlns:a16="http://schemas.microsoft.com/office/drawing/2014/main" id="{6A87A37E-58CF-CB04-6B8E-B4B9738F218D}"/>
                  </a:ext>
                </a:extLst>
              </p:cNvPr>
              <p:cNvSpPr/>
              <p:nvPr/>
            </p:nvSpPr>
            <p:spPr>
              <a:xfrm>
                <a:off x="3726006" y="3557154"/>
                <a:ext cx="126422" cy="128154"/>
              </a:xfrm>
              <a:custGeom>
                <a:avLst/>
                <a:gdLst>
                  <a:gd name="connsiteX0" fmla="*/ 126423 w 126422"/>
                  <a:gd name="connsiteY0" fmla="*/ 0 h 128154"/>
                  <a:gd name="connsiteX1" fmla="*/ 0 w 126422"/>
                  <a:gd name="connsiteY1" fmla="*/ 0 h 128154"/>
                  <a:gd name="connsiteX2" fmla="*/ 0 w 126422"/>
                  <a:gd name="connsiteY2" fmla="*/ 128155 h 128154"/>
                  <a:gd name="connsiteX3" fmla="*/ 126423 w 126422"/>
                  <a:gd name="connsiteY3" fmla="*/ 128155 h 128154"/>
                  <a:gd name="connsiteX4" fmla="*/ 126423 w 126422"/>
                  <a:gd name="connsiteY4" fmla="*/ 0 h 128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22" h="128154">
                    <a:moveTo>
                      <a:pt x="126423" y="0"/>
                    </a:moveTo>
                    <a:lnTo>
                      <a:pt x="0" y="0"/>
                    </a:lnTo>
                    <a:lnTo>
                      <a:pt x="0" y="128155"/>
                    </a:lnTo>
                    <a:lnTo>
                      <a:pt x="126423" y="128155"/>
                    </a:lnTo>
                    <a:lnTo>
                      <a:pt x="126423" y="0"/>
                    </a:ln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55" name="Source SanDisk brand 9">
                <a:extLst>
                  <a:ext uri="{FF2B5EF4-FFF2-40B4-BE49-F238E27FC236}">
                    <a16:creationId xmlns:a16="http://schemas.microsoft.com/office/drawing/2014/main" id="{D6B4B94F-9063-7C67-5801-B3828727A687}"/>
                  </a:ext>
                </a:extLst>
              </p:cNvPr>
              <p:cNvSpPr/>
              <p:nvPr/>
            </p:nvSpPr>
            <p:spPr>
              <a:xfrm>
                <a:off x="7827818" y="3172690"/>
                <a:ext cx="639040" cy="514349"/>
              </a:xfrm>
              <a:custGeom>
                <a:avLst/>
                <a:gdLst>
                  <a:gd name="connsiteX0" fmla="*/ 639041 w 639040"/>
                  <a:gd name="connsiteY0" fmla="*/ 129020 h 514349"/>
                  <a:gd name="connsiteX1" fmla="*/ 639041 w 639040"/>
                  <a:gd name="connsiteY1" fmla="*/ 0 h 514349"/>
                  <a:gd name="connsiteX2" fmla="*/ 526473 w 639040"/>
                  <a:gd name="connsiteY2" fmla="*/ 0 h 514349"/>
                  <a:gd name="connsiteX3" fmla="*/ 502227 w 639040"/>
                  <a:gd name="connsiteY3" fmla="*/ 9525 h 514349"/>
                  <a:gd name="connsiteX4" fmla="*/ 302203 w 639040"/>
                  <a:gd name="connsiteY4" fmla="*/ 191366 h 514349"/>
                  <a:gd name="connsiteX5" fmla="*/ 281420 w 639040"/>
                  <a:gd name="connsiteY5" fmla="*/ 200025 h 514349"/>
                  <a:gd name="connsiteX6" fmla="*/ 142009 w 639040"/>
                  <a:gd name="connsiteY6" fmla="*/ 200025 h 514349"/>
                  <a:gd name="connsiteX7" fmla="*/ 126423 w 639040"/>
                  <a:gd name="connsiteY7" fmla="*/ 184439 h 514349"/>
                  <a:gd name="connsiteX8" fmla="*/ 126423 w 639040"/>
                  <a:gd name="connsiteY8" fmla="*/ 866 h 514349"/>
                  <a:gd name="connsiteX9" fmla="*/ 0 w 639040"/>
                  <a:gd name="connsiteY9" fmla="*/ 866 h 514349"/>
                  <a:gd name="connsiteX10" fmla="*/ 0 w 639040"/>
                  <a:gd name="connsiteY10" fmla="*/ 513484 h 514349"/>
                  <a:gd name="connsiteX11" fmla="*/ 126423 w 639040"/>
                  <a:gd name="connsiteY11" fmla="*/ 513484 h 514349"/>
                  <a:gd name="connsiteX12" fmla="*/ 126423 w 639040"/>
                  <a:gd name="connsiteY12" fmla="*/ 329911 h 514349"/>
                  <a:gd name="connsiteX13" fmla="*/ 142009 w 639040"/>
                  <a:gd name="connsiteY13" fmla="*/ 314325 h 514349"/>
                  <a:gd name="connsiteX14" fmla="*/ 281420 w 639040"/>
                  <a:gd name="connsiteY14" fmla="*/ 314325 h 514349"/>
                  <a:gd name="connsiteX15" fmla="*/ 302203 w 639040"/>
                  <a:gd name="connsiteY15" fmla="*/ 322984 h 514349"/>
                  <a:gd name="connsiteX16" fmla="*/ 502227 w 639040"/>
                  <a:gd name="connsiteY16" fmla="*/ 504825 h 514349"/>
                  <a:gd name="connsiteX17" fmla="*/ 526473 w 639040"/>
                  <a:gd name="connsiteY17" fmla="*/ 514350 h 514349"/>
                  <a:gd name="connsiteX18" fmla="*/ 639041 w 639040"/>
                  <a:gd name="connsiteY18" fmla="*/ 514350 h 514349"/>
                  <a:gd name="connsiteX19" fmla="*/ 639041 w 639040"/>
                  <a:gd name="connsiteY19" fmla="*/ 386196 h 514349"/>
                  <a:gd name="connsiteX20" fmla="*/ 577562 w 639040"/>
                  <a:gd name="connsiteY20" fmla="*/ 386196 h 514349"/>
                  <a:gd name="connsiteX21" fmla="*/ 524741 w 639040"/>
                  <a:gd name="connsiteY21" fmla="*/ 367145 h 514349"/>
                  <a:gd name="connsiteX22" fmla="*/ 429491 w 639040"/>
                  <a:gd name="connsiteY22" fmla="*/ 283152 h 514349"/>
                  <a:gd name="connsiteX23" fmla="*/ 429491 w 639040"/>
                  <a:gd name="connsiteY23" fmla="*/ 233795 h 514349"/>
                  <a:gd name="connsiteX24" fmla="*/ 524741 w 639040"/>
                  <a:gd name="connsiteY24" fmla="*/ 149802 h 514349"/>
                  <a:gd name="connsiteX25" fmla="*/ 577562 w 639040"/>
                  <a:gd name="connsiteY25" fmla="*/ 130752 h 514349"/>
                  <a:gd name="connsiteX26" fmla="*/ 639041 w 639040"/>
                  <a:gd name="connsiteY26" fmla="*/ 130752 h 514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39040" h="514349">
                    <a:moveTo>
                      <a:pt x="639041" y="129020"/>
                    </a:moveTo>
                    <a:lnTo>
                      <a:pt x="639041" y="0"/>
                    </a:lnTo>
                    <a:lnTo>
                      <a:pt x="526473" y="0"/>
                    </a:lnTo>
                    <a:cubicBezTo>
                      <a:pt x="517814" y="0"/>
                      <a:pt x="509154" y="3464"/>
                      <a:pt x="502227" y="9525"/>
                    </a:cubicBezTo>
                    <a:lnTo>
                      <a:pt x="302203" y="191366"/>
                    </a:lnTo>
                    <a:cubicBezTo>
                      <a:pt x="296141" y="196561"/>
                      <a:pt x="289214" y="200025"/>
                      <a:pt x="281420" y="200025"/>
                    </a:cubicBezTo>
                    <a:lnTo>
                      <a:pt x="142009" y="200025"/>
                    </a:lnTo>
                    <a:cubicBezTo>
                      <a:pt x="133350" y="200025"/>
                      <a:pt x="126423" y="193098"/>
                      <a:pt x="126423" y="184439"/>
                    </a:cubicBezTo>
                    <a:lnTo>
                      <a:pt x="126423" y="866"/>
                    </a:lnTo>
                    <a:lnTo>
                      <a:pt x="0" y="866"/>
                    </a:lnTo>
                    <a:lnTo>
                      <a:pt x="0" y="513484"/>
                    </a:lnTo>
                    <a:lnTo>
                      <a:pt x="126423" y="513484"/>
                    </a:lnTo>
                    <a:lnTo>
                      <a:pt x="126423" y="329911"/>
                    </a:lnTo>
                    <a:cubicBezTo>
                      <a:pt x="126423" y="321252"/>
                      <a:pt x="133350" y="314325"/>
                      <a:pt x="142009" y="314325"/>
                    </a:cubicBezTo>
                    <a:lnTo>
                      <a:pt x="281420" y="314325"/>
                    </a:lnTo>
                    <a:cubicBezTo>
                      <a:pt x="289214" y="314325"/>
                      <a:pt x="296141" y="316923"/>
                      <a:pt x="302203" y="322984"/>
                    </a:cubicBezTo>
                    <a:lnTo>
                      <a:pt x="502227" y="504825"/>
                    </a:lnTo>
                    <a:cubicBezTo>
                      <a:pt x="509154" y="510886"/>
                      <a:pt x="517814" y="514350"/>
                      <a:pt x="526473" y="514350"/>
                    </a:cubicBezTo>
                    <a:lnTo>
                      <a:pt x="639041" y="514350"/>
                    </a:lnTo>
                    <a:lnTo>
                      <a:pt x="639041" y="386196"/>
                    </a:lnTo>
                    <a:lnTo>
                      <a:pt x="577562" y="386196"/>
                    </a:lnTo>
                    <a:cubicBezTo>
                      <a:pt x="558511" y="386196"/>
                      <a:pt x="539461" y="379268"/>
                      <a:pt x="524741" y="367145"/>
                    </a:cubicBezTo>
                    <a:lnTo>
                      <a:pt x="429491" y="283152"/>
                    </a:lnTo>
                    <a:cubicBezTo>
                      <a:pt x="414771" y="270164"/>
                      <a:pt x="414771" y="247650"/>
                      <a:pt x="429491" y="233795"/>
                    </a:cubicBezTo>
                    <a:lnTo>
                      <a:pt x="524741" y="149802"/>
                    </a:lnTo>
                    <a:cubicBezTo>
                      <a:pt x="539461" y="137680"/>
                      <a:pt x="557646" y="131618"/>
                      <a:pt x="577562" y="130752"/>
                    </a:cubicBezTo>
                    <a:lnTo>
                      <a:pt x="639041" y="130752"/>
                    </a:ln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56" name="Source SanDisk brand 10">
                <a:extLst>
                  <a:ext uri="{FF2B5EF4-FFF2-40B4-BE49-F238E27FC236}">
                    <a16:creationId xmlns:a16="http://schemas.microsoft.com/office/drawing/2014/main" id="{D10C90D8-745C-4517-452F-8D9398F858A1}"/>
                  </a:ext>
                </a:extLst>
              </p:cNvPr>
              <p:cNvSpPr/>
              <p:nvPr/>
            </p:nvSpPr>
            <p:spPr>
              <a:xfrm>
                <a:off x="4441247" y="3172690"/>
                <a:ext cx="692727" cy="513484"/>
              </a:xfrm>
              <a:custGeom>
                <a:avLst/>
                <a:gdLst>
                  <a:gd name="connsiteX0" fmla="*/ 497898 w 692727"/>
                  <a:gd name="connsiteY0" fmla="*/ 0 h 513484"/>
                  <a:gd name="connsiteX1" fmla="*/ 351559 w 692727"/>
                  <a:gd name="connsiteY1" fmla="*/ 72736 h 513484"/>
                  <a:gd name="connsiteX2" fmla="*/ 0 w 692727"/>
                  <a:gd name="connsiteY2" fmla="*/ 512618 h 513484"/>
                  <a:gd name="connsiteX3" fmla="*/ 178377 w 692727"/>
                  <a:gd name="connsiteY3" fmla="*/ 512618 h 513484"/>
                  <a:gd name="connsiteX4" fmla="*/ 468457 w 692727"/>
                  <a:gd name="connsiteY4" fmla="*/ 155864 h 513484"/>
                  <a:gd name="connsiteX5" fmla="*/ 516082 w 692727"/>
                  <a:gd name="connsiteY5" fmla="*/ 129886 h 513484"/>
                  <a:gd name="connsiteX6" fmla="*/ 564573 w 692727"/>
                  <a:gd name="connsiteY6" fmla="*/ 184439 h 513484"/>
                  <a:gd name="connsiteX7" fmla="*/ 564573 w 692727"/>
                  <a:gd name="connsiteY7" fmla="*/ 339436 h 513484"/>
                  <a:gd name="connsiteX8" fmla="*/ 528205 w 692727"/>
                  <a:gd name="connsiteY8" fmla="*/ 385330 h 513484"/>
                  <a:gd name="connsiteX9" fmla="*/ 492702 w 692727"/>
                  <a:gd name="connsiteY9" fmla="*/ 385330 h 513484"/>
                  <a:gd name="connsiteX10" fmla="*/ 492702 w 692727"/>
                  <a:gd name="connsiteY10" fmla="*/ 513484 h 513484"/>
                  <a:gd name="connsiteX11" fmla="*/ 692727 w 692727"/>
                  <a:gd name="connsiteY11" fmla="*/ 513484 h 513484"/>
                  <a:gd name="connsiteX12" fmla="*/ 692727 w 692727"/>
                  <a:gd name="connsiteY12" fmla="*/ 192232 h 513484"/>
                  <a:gd name="connsiteX13" fmla="*/ 497898 w 692727"/>
                  <a:gd name="connsiteY13" fmla="*/ 866 h 513484"/>
                  <a:gd name="connsiteX14" fmla="*/ 497898 w 692727"/>
                  <a:gd name="connsiteY14" fmla="*/ 866 h 513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2727" h="513484">
                    <a:moveTo>
                      <a:pt x="497898" y="0"/>
                    </a:moveTo>
                    <a:cubicBezTo>
                      <a:pt x="440748" y="866"/>
                      <a:pt x="387061" y="27709"/>
                      <a:pt x="351559" y="72736"/>
                    </a:cubicBezTo>
                    <a:lnTo>
                      <a:pt x="0" y="512618"/>
                    </a:lnTo>
                    <a:lnTo>
                      <a:pt x="178377" y="512618"/>
                    </a:lnTo>
                    <a:lnTo>
                      <a:pt x="468457" y="155864"/>
                    </a:lnTo>
                    <a:cubicBezTo>
                      <a:pt x="483177" y="138545"/>
                      <a:pt x="493568" y="129886"/>
                      <a:pt x="516082" y="129886"/>
                    </a:cubicBezTo>
                    <a:cubicBezTo>
                      <a:pt x="538596" y="129886"/>
                      <a:pt x="564573" y="154998"/>
                      <a:pt x="564573" y="184439"/>
                    </a:cubicBezTo>
                    <a:lnTo>
                      <a:pt x="564573" y="339436"/>
                    </a:lnTo>
                    <a:cubicBezTo>
                      <a:pt x="564573" y="364548"/>
                      <a:pt x="551584" y="385330"/>
                      <a:pt x="528205" y="385330"/>
                    </a:cubicBezTo>
                    <a:lnTo>
                      <a:pt x="492702" y="385330"/>
                    </a:lnTo>
                    <a:lnTo>
                      <a:pt x="492702" y="513484"/>
                    </a:lnTo>
                    <a:lnTo>
                      <a:pt x="692727" y="513484"/>
                    </a:lnTo>
                    <a:lnTo>
                      <a:pt x="692727" y="192232"/>
                    </a:lnTo>
                    <a:cubicBezTo>
                      <a:pt x="692727" y="166255"/>
                      <a:pt x="692727" y="866"/>
                      <a:pt x="497898" y="866"/>
                    </a:cubicBezTo>
                    <a:lnTo>
                      <a:pt x="497898" y="866"/>
                    </a:lnTo>
                    <a:close/>
                  </a:path>
                </a:pathLst>
              </a:custGeom>
              <a:solidFill>
                <a:srgbClr val="E10600"/>
              </a:solidFill>
              <a:ln w="8653" cap="flat">
                <a:noFill/>
                <a:prstDash val="solid"/>
                <a:miter/>
              </a:ln>
            </p:spPr>
            <p:txBody>
              <a:bodyPr rtlCol="0" anchor="ctr"/>
              <a:lstStyle/>
              <a:p>
                <a:endParaRPr lang="en-US">
                  <a:solidFill>
                    <a:schemeClr val="tx1"/>
                  </a:solidFill>
                </a:endParaRPr>
              </a:p>
            </p:txBody>
          </p:sp>
        </p:grpSp>
        <p:grpSp>
          <p:nvGrpSpPr>
            <p:cNvPr id="57" name="Source SanDisk brand 11">
              <a:extLst>
                <a:ext uri="{FF2B5EF4-FFF2-40B4-BE49-F238E27FC236}">
                  <a16:creationId xmlns:a16="http://schemas.microsoft.com/office/drawing/2014/main" id="{5486611C-7296-3F16-EE92-FF3602ECC95B}"/>
                </a:ext>
              </a:extLst>
            </p:cNvPr>
            <p:cNvGrpSpPr/>
            <p:nvPr/>
          </p:nvGrpSpPr>
          <p:grpSpPr>
            <a:xfrm>
              <a:off x="11237775" y="5428812"/>
              <a:ext cx="644881" cy="280035"/>
              <a:chOff x="11237775" y="5428812"/>
              <a:chExt cx="644881" cy="280035"/>
            </a:xfrm>
            <a:grpFill/>
          </p:grpSpPr>
          <p:sp>
            <p:nvSpPr>
              <p:cNvPr id="58" name="Source SanDisk brand 12">
                <a:extLst>
                  <a:ext uri="{FF2B5EF4-FFF2-40B4-BE49-F238E27FC236}">
                    <a16:creationId xmlns:a16="http://schemas.microsoft.com/office/drawing/2014/main" id="{B0C1A2A3-93DA-837F-A5A0-B25E09D76DE0}"/>
                  </a:ext>
                </a:extLst>
              </p:cNvPr>
              <p:cNvSpPr/>
              <p:nvPr/>
            </p:nvSpPr>
            <p:spPr>
              <a:xfrm>
                <a:off x="11237775" y="5428812"/>
                <a:ext cx="245631" cy="280035"/>
              </a:xfrm>
              <a:custGeom>
                <a:avLst/>
                <a:gdLst/>
                <a:ahLst/>
                <a:cxnLst/>
                <a:rect l="l" t="t" r="r" b="b"/>
                <a:pathLst>
                  <a:path w="245631" h="280035">
                    <a:moveTo>
                      <a:pt x="0" y="0"/>
                    </a:moveTo>
                    <a:lnTo>
                      <a:pt x="245631" y="0"/>
                    </a:lnTo>
                    <a:lnTo>
                      <a:pt x="245631" y="50407"/>
                    </a:lnTo>
                    <a:lnTo>
                      <a:pt x="151219" y="50407"/>
                    </a:lnTo>
                    <a:lnTo>
                      <a:pt x="151219" y="280035"/>
                    </a:lnTo>
                    <a:lnTo>
                      <a:pt x="93612" y="280035"/>
                    </a:lnTo>
                    <a:lnTo>
                      <a:pt x="93612" y="50407"/>
                    </a:lnTo>
                    <a:lnTo>
                      <a:pt x="0" y="50407"/>
                    </a:lnTo>
                    <a:lnTo>
                      <a:pt x="0" y="0"/>
                    </a:lnTo>
                    <a:close/>
                  </a:path>
                </a:pathLst>
              </a:custGeom>
              <a:solidFill>
                <a:srgbClr val="E106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59" name="Source SanDisk brand 13">
                <a:extLst>
                  <a:ext uri="{FF2B5EF4-FFF2-40B4-BE49-F238E27FC236}">
                    <a16:creationId xmlns:a16="http://schemas.microsoft.com/office/drawing/2014/main" id="{BAD87224-DE76-7FF9-D1D4-86623728FE01}"/>
                  </a:ext>
                </a:extLst>
              </p:cNvPr>
              <p:cNvSpPr/>
              <p:nvPr/>
            </p:nvSpPr>
            <p:spPr>
              <a:xfrm>
                <a:off x="11521011" y="5428812"/>
                <a:ext cx="361645" cy="280035"/>
              </a:xfrm>
              <a:custGeom>
                <a:avLst/>
                <a:gdLst/>
                <a:ahLst/>
                <a:cxnLst/>
                <a:rect l="l" t="t" r="r" b="b"/>
                <a:pathLst>
                  <a:path w="361645" h="280035">
                    <a:moveTo>
                      <a:pt x="0" y="0"/>
                    </a:moveTo>
                    <a:lnTo>
                      <a:pt x="100012" y="0"/>
                    </a:lnTo>
                    <a:lnTo>
                      <a:pt x="181622" y="210427"/>
                    </a:lnTo>
                    <a:lnTo>
                      <a:pt x="185623" y="210427"/>
                    </a:lnTo>
                    <a:lnTo>
                      <a:pt x="268033" y="0"/>
                    </a:lnTo>
                    <a:lnTo>
                      <a:pt x="361645" y="0"/>
                    </a:lnTo>
                    <a:lnTo>
                      <a:pt x="361645" y="280035"/>
                    </a:lnTo>
                    <a:lnTo>
                      <a:pt x="305638" y="280035"/>
                    </a:lnTo>
                    <a:lnTo>
                      <a:pt x="305638" y="48006"/>
                    </a:lnTo>
                    <a:lnTo>
                      <a:pt x="301637" y="48006"/>
                    </a:lnTo>
                    <a:lnTo>
                      <a:pt x="211226" y="280035"/>
                    </a:lnTo>
                    <a:lnTo>
                      <a:pt x="150418" y="280035"/>
                    </a:lnTo>
                    <a:lnTo>
                      <a:pt x="60007" y="48006"/>
                    </a:lnTo>
                    <a:lnTo>
                      <a:pt x="56807" y="48006"/>
                    </a:lnTo>
                    <a:lnTo>
                      <a:pt x="56807" y="280035"/>
                    </a:lnTo>
                    <a:lnTo>
                      <a:pt x="0" y="280035"/>
                    </a:lnTo>
                    <a:lnTo>
                      <a:pt x="0" y="0"/>
                    </a:lnTo>
                    <a:close/>
                  </a:path>
                </a:pathLst>
              </a:custGeom>
              <a:solidFill>
                <a:srgbClr val="E106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grpSp>
      </p:grpSp>
      <p:sp>
        <p:nvSpPr>
          <p:cNvPr id="60" name="Shape 3">
            <a:extLst>
              <a:ext uri="{FF2B5EF4-FFF2-40B4-BE49-F238E27FC236}">
                <a16:creationId xmlns:a16="http://schemas.microsoft.com/office/drawing/2014/main" id="{5E87642C-2ABE-D179-1D3B-915995B6FBE0}"/>
              </a:ext>
            </a:extLst>
          </p:cNvPr>
          <p:cNvSpPr/>
          <p:nvPr/>
        </p:nvSpPr>
        <p:spPr>
          <a:xfrm>
            <a:off x="0" y="0"/>
            <a:ext cx="146304" cy="6858000"/>
          </a:xfrm>
          <a:prstGeom prst="rect">
            <a:avLst/>
          </a:prstGeom>
          <a:solidFill>
            <a:schemeClr val="accent2"/>
          </a:solidFill>
          <a:ln w="6350">
            <a:solidFill>
              <a:srgbClr val="00A3A3"/>
            </a:solidFill>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30352" y="301752"/>
            <a:ext cx="9966960" cy="201168"/>
          </a:xfrm>
          <a:prstGeom prst="rect">
            <a:avLst/>
          </a:prstGeom>
          <a:noFill/>
          <a:ln/>
        </p:spPr>
        <p:txBody>
          <a:bodyPr wrap="square" lIns="0" tIns="0" rIns="0" bIns="0" rtlCol="0" anchor="ctr"/>
          <a:lstStyle/>
          <a:p>
            <a:pPr marL="0" indent="0">
              <a:buNone/>
            </a:pPr>
            <a:r>
              <a:rPr lang="en-US" sz="1050" b="1" kern="0" spc="100" dirty="0">
                <a:solidFill>
                  <a:srgbClr val="E10600"/>
                </a:solidFill>
                <a:latin typeface="Aptos" pitchFamily="34" charset="0"/>
                <a:ea typeface="Aptos" pitchFamily="34" charset="-122"/>
                <a:cs typeface="Aptos" pitchFamily="34" charset="-120"/>
              </a:rPr>
              <a:t>PERFORMANCE SENSITIVITY</a:t>
            </a:r>
            <a:endParaRPr lang="en-US" sz="1050" dirty="0"/>
          </a:p>
        </p:txBody>
      </p:sp>
      <p:sp>
        <p:nvSpPr>
          <p:cNvPr id="3" name="Shape 1"/>
          <p:cNvSpPr/>
          <p:nvPr/>
        </p:nvSpPr>
        <p:spPr>
          <a:xfrm>
            <a:off x="11448288" y="292608"/>
            <a:ext cx="201168" cy="201168"/>
          </a:xfrm>
          <a:prstGeom prst="rect">
            <a:avLst/>
          </a:prstGeom>
          <a:solidFill>
            <a:srgbClr val="E10600"/>
          </a:solidFill>
          <a:ln w="8255">
            <a:solidFill>
              <a:srgbClr val="E10600"/>
            </a:solidFill>
            <a:prstDash val="solid"/>
          </a:ln>
        </p:spPr>
        <p:txBody>
          <a:bodyPr/>
          <a:lstStyle/>
          <a:p>
            <a:endParaRPr lang="en-US"/>
          </a:p>
        </p:txBody>
      </p:sp>
      <p:sp>
        <p:nvSpPr>
          <p:cNvPr id="4" name="Text 2"/>
          <p:cNvSpPr/>
          <p:nvPr/>
        </p:nvSpPr>
        <p:spPr>
          <a:xfrm>
            <a:off x="530352" y="667512"/>
            <a:ext cx="11027664" cy="557784"/>
          </a:xfrm>
          <a:prstGeom prst="rect">
            <a:avLst/>
          </a:prstGeom>
          <a:noFill/>
          <a:ln/>
        </p:spPr>
        <p:txBody>
          <a:bodyPr wrap="square" lIns="0" tIns="0" rIns="0" bIns="0" rtlCol="0" anchor="ctr"/>
          <a:lstStyle/>
          <a:p>
            <a:pPr marL="0" indent="0">
              <a:buNone/>
            </a:pPr>
            <a:r>
              <a:rPr lang="en-US" sz="2900" b="1" dirty="0">
                <a:solidFill>
                  <a:srgbClr val="161616"/>
                </a:solidFill>
                <a:latin typeface="Aptos Display" pitchFamily="34" charset="0"/>
                <a:ea typeface="Aptos Display" pitchFamily="34" charset="-122"/>
                <a:cs typeface="Aptos Display" pitchFamily="34" charset="-120"/>
              </a:rPr>
              <a:t>Residency helps when avoided waiting exceeds its own cost</a:t>
            </a:r>
            <a:endParaRPr lang="en-US" sz="2900" dirty="0"/>
          </a:p>
        </p:txBody>
      </p:sp>
      <p:sp>
        <p:nvSpPr>
          <p:cNvPr id="5" name="Text 3"/>
          <p:cNvSpPr/>
          <p:nvPr/>
        </p:nvSpPr>
        <p:spPr>
          <a:xfrm>
            <a:off x="530352" y="1261872"/>
            <a:ext cx="11045952" cy="365760"/>
          </a:xfrm>
          <a:prstGeom prst="rect">
            <a:avLst/>
          </a:prstGeom>
          <a:noFill/>
          <a:ln/>
        </p:spPr>
        <p:txBody>
          <a:bodyPr wrap="square" lIns="0" tIns="0" rIns="0" bIns="0" rtlCol="0" anchor="ctr"/>
          <a:lstStyle/>
          <a:p>
            <a:pPr marL="0" indent="0">
              <a:buNone/>
            </a:pPr>
            <a:r>
              <a:rPr lang="en-US" sz="1480" dirty="0">
                <a:solidFill>
                  <a:srgbClr val="686868"/>
                </a:solidFill>
                <a:latin typeface="Aptos" pitchFamily="34" charset="0"/>
                <a:ea typeface="Aptos" pitchFamily="34" charset="-122"/>
                <a:cs typeface="Aptos" pitchFamily="34" charset="-120"/>
              </a:rPr>
              <a:t>A conditional time model—not a silicon forecast or an automatic HBF winner map.</a:t>
            </a:r>
            <a:endParaRPr lang="en-US" sz="1480" dirty="0"/>
          </a:p>
        </p:txBody>
      </p:sp>
      <p:sp>
        <p:nvSpPr>
          <p:cNvPr id="6" name="Shape 4"/>
          <p:cNvSpPr/>
          <p:nvPr/>
        </p:nvSpPr>
        <p:spPr>
          <a:xfrm>
            <a:off x="530352" y="1773936"/>
            <a:ext cx="11100816" cy="0"/>
          </a:xfrm>
          <a:prstGeom prst="line">
            <a:avLst/>
          </a:prstGeom>
          <a:noFill/>
          <a:ln w="12700">
            <a:solidFill>
              <a:srgbClr val="DED8D2"/>
            </a:solidFill>
            <a:prstDash val="solid"/>
          </a:ln>
        </p:spPr>
        <p:txBody>
          <a:bodyPr/>
          <a:lstStyle/>
          <a:p>
            <a:endParaRPr lang="en-US"/>
          </a:p>
        </p:txBody>
      </p:sp>
      <p:sp>
        <p:nvSpPr>
          <p:cNvPr id="7" name="Text 5"/>
          <p:cNvSpPr/>
          <p:nvPr/>
        </p:nvSpPr>
        <p:spPr>
          <a:xfrm>
            <a:off x="530352" y="6556248"/>
            <a:ext cx="777240" cy="128016"/>
          </a:xfrm>
          <a:prstGeom prst="rect">
            <a:avLst/>
          </a:prstGeom>
          <a:noFill/>
          <a:ln/>
        </p:spPr>
        <p:txBody>
          <a:bodyPr wrap="square" lIns="0" tIns="0" rIns="0" bIns="0" rtlCol="0" anchor="ctr"/>
          <a:lstStyle/>
          <a:p>
            <a:pPr marL="0" indent="0">
              <a:buNone/>
            </a:pPr>
            <a:endParaRPr lang="en-US" sz="800" dirty="0"/>
          </a:p>
        </p:txBody>
      </p:sp>
      <p:sp>
        <p:nvSpPr>
          <p:cNvPr id="8" name="Text 6"/>
          <p:cNvSpPr/>
          <p:nvPr/>
        </p:nvSpPr>
        <p:spPr>
          <a:xfrm>
            <a:off x="2103120" y="6556248"/>
            <a:ext cx="3703320" cy="128016"/>
          </a:xfrm>
          <a:prstGeom prst="rect">
            <a:avLst/>
          </a:prstGeom>
          <a:noFill/>
          <a:ln/>
        </p:spPr>
        <p:txBody>
          <a:bodyPr wrap="square" lIns="0" tIns="0" rIns="0" bIns="0" rtlCol="0" anchor="ctr"/>
          <a:lstStyle/>
          <a:p>
            <a:pPr marL="0" indent="0">
              <a:buNone/>
            </a:pPr>
            <a:r>
              <a:rPr lang="en-US" sz="800" dirty="0">
                <a:solidFill>
                  <a:srgbClr val="686868"/>
                </a:solidFill>
                <a:latin typeface="Aptos" pitchFamily="34" charset="0"/>
                <a:ea typeface="Aptos" pitchFamily="34" charset="-122"/>
                <a:cs typeface="Aptos" pitchFamily="34" charset="-120"/>
              </a:rPr>
              <a:t>CONFIDENTIAL  |  ©2026 SANDISK</a:t>
            </a:r>
            <a:endParaRPr lang="en-US" sz="800" dirty="0"/>
          </a:p>
        </p:txBody>
      </p:sp>
      <p:sp>
        <p:nvSpPr>
          <p:cNvPr id="9" name="Text 7"/>
          <p:cNvSpPr/>
          <p:nvPr/>
        </p:nvSpPr>
        <p:spPr>
          <a:xfrm>
            <a:off x="5989320" y="6556248"/>
            <a:ext cx="4910328" cy="128016"/>
          </a:xfrm>
          <a:prstGeom prst="rect">
            <a:avLst/>
          </a:prstGeom>
          <a:noFill/>
          <a:ln/>
        </p:spPr>
        <p:txBody>
          <a:bodyPr wrap="square" lIns="0" tIns="0" rIns="0" bIns="0" rtlCol="0" anchor="ctr"/>
          <a:lstStyle/>
          <a:p>
            <a:pPr marL="0" indent="0" algn="r">
              <a:buNone/>
            </a:pPr>
            <a:r>
              <a:rPr lang="en-US" sz="800" dirty="0">
                <a:solidFill>
                  <a:srgbClr val="686868"/>
                </a:solidFill>
                <a:latin typeface="Aptos" pitchFamily="34" charset="0"/>
                <a:ea typeface="Aptos" pitchFamily="34" charset="-122"/>
                <a:cs typeface="Aptos" pitchFamily="34" charset="-120"/>
              </a:rPr>
              <a:t>ANALYTICAL BREAK-EVEN</a:t>
            </a:r>
            <a:endParaRPr lang="en-US" sz="800" dirty="0"/>
          </a:p>
        </p:txBody>
      </p:sp>
      <p:sp>
        <p:nvSpPr>
          <p:cNvPr id="10" name="Text 8"/>
          <p:cNvSpPr/>
          <p:nvPr/>
        </p:nvSpPr>
        <p:spPr>
          <a:xfrm>
            <a:off x="11247120" y="6528816"/>
            <a:ext cx="365760" cy="164592"/>
          </a:xfrm>
          <a:prstGeom prst="rect">
            <a:avLst/>
          </a:prstGeom>
          <a:noFill/>
          <a:ln/>
        </p:spPr>
        <p:txBody>
          <a:bodyPr wrap="square" lIns="0" tIns="0" rIns="0" bIns="0" rtlCol="0" anchor="ctr"/>
          <a:lstStyle/>
          <a:p>
            <a:pPr marL="0" indent="0" algn="r">
              <a:buNone/>
            </a:pPr>
            <a:r>
              <a:rPr lang="en-US" sz="900" b="1" dirty="0">
                <a:solidFill>
                  <a:srgbClr val="686868"/>
                </a:solidFill>
                <a:latin typeface="Aptos" pitchFamily="34" charset="0"/>
                <a:ea typeface="Aptos" pitchFamily="34" charset="-122"/>
                <a:cs typeface="Aptos" pitchFamily="34" charset="-120"/>
              </a:rPr>
              <a:t>15</a:t>
            </a:r>
            <a:endParaRPr lang="en-US" sz="900" dirty="0"/>
          </a:p>
        </p:txBody>
      </p:sp>
      <p:sp>
        <p:nvSpPr>
          <p:cNvPr id="11" name="Text 9"/>
          <p:cNvSpPr/>
          <p:nvPr/>
        </p:nvSpPr>
        <p:spPr>
          <a:xfrm>
            <a:off x="548640" y="6432804"/>
            <a:ext cx="7315200" cy="109728"/>
          </a:xfrm>
          <a:prstGeom prst="rect">
            <a:avLst/>
          </a:prstGeom>
          <a:noFill/>
          <a:ln/>
        </p:spPr>
        <p:txBody>
          <a:bodyPr wrap="square" lIns="0" tIns="0" rIns="0" bIns="0" rtlCol="0" anchor="ctr"/>
          <a:lstStyle/>
          <a:p>
            <a:pPr marL="0" indent="0">
              <a:buNone/>
            </a:pPr>
            <a:r>
              <a:rPr lang="en-US" sz="800" dirty="0">
                <a:solidFill>
                  <a:srgbClr val="686868"/>
                </a:solidFill>
                <a:latin typeface="Aptos" pitchFamily="34" charset="0"/>
                <a:ea typeface="Aptos" pitchFamily="34" charset="-122"/>
                <a:cs typeface="Aptos" pitchFamily="34" charset="-120"/>
              </a:rPr>
              <a:t>Sources: I2, I4, I6 · Details in notes</a:t>
            </a:r>
            <a:endParaRPr lang="en-US" sz="800" dirty="0"/>
          </a:p>
        </p:txBody>
      </p:sp>
      <p:sp>
        <p:nvSpPr>
          <p:cNvPr id="12" name="Text 10"/>
          <p:cNvSpPr/>
          <p:nvPr/>
        </p:nvSpPr>
        <p:spPr>
          <a:xfrm>
            <a:off x="2048256" y="2029968"/>
            <a:ext cx="6035040" cy="256032"/>
          </a:xfrm>
          <a:prstGeom prst="rect">
            <a:avLst/>
          </a:prstGeom>
          <a:noFill/>
          <a:ln/>
        </p:spPr>
        <p:txBody>
          <a:bodyPr wrap="square" lIns="0" tIns="0" rIns="0" bIns="0" rtlCol="0" anchor="ctr"/>
          <a:lstStyle/>
          <a:p>
            <a:pPr marL="0" indent="0" algn="ctr">
              <a:buNone/>
            </a:pPr>
            <a:r>
              <a:rPr lang="en-US" sz="1400" b="1" dirty="0">
                <a:solidFill>
                  <a:srgbClr val="161616"/>
                </a:solidFill>
                <a:latin typeface="Aptos" pitchFamily="34" charset="0"/>
                <a:ea typeface="Aptos" pitchFamily="34" charset="-122"/>
                <a:cs typeface="Aptos" pitchFamily="34" charset="-120"/>
              </a:rPr>
              <a:t>Exposed tier waiting in the reference service</a:t>
            </a:r>
            <a:endParaRPr lang="en-US" sz="1400" dirty="0"/>
          </a:p>
        </p:txBody>
      </p:sp>
      <p:sp>
        <p:nvSpPr>
          <p:cNvPr id="13" name="Text 11"/>
          <p:cNvSpPr/>
          <p:nvPr/>
        </p:nvSpPr>
        <p:spPr>
          <a:xfrm>
            <a:off x="2048256" y="2404872"/>
            <a:ext cx="941832" cy="219456"/>
          </a:xfrm>
          <a:prstGeom prst="rect">
            <a:avLst/>
          </a:prstGeom>
          <a:noFill/>
          <a:ln/>
        </p:spPr>
        <p:txBody>
          <a:bodyPr wrap="square" lIns="0" tIns="0" rIns="0" bIns="0" rtlCol="0" anchor="ctr"/>
          <a:lstStyle/>
          <a:p>
            <a:pPr marL="0" indent="0" algn="ctr">
              <a:buNone/>
            </a:pPr>
            <a:r>
              <a:rPr lang="en-US" sz="1300" b="1" dirty="0">
                <a:solidFill>
                  <a:srgbClr val="686868"/>
                </a:solidFill>
                <a:latin typeface="Aptos" pitchFamily="34" charset="0"/>
                <a:ea typeface="Aptos" pitchFamily="34" charset="-122"/>
                <a:cs typeface="Aptos" pitchFamily="34" charset="-120"/>
              </a:rPr>
              <a:t>0%</a:t>
            </a:r>
            <a:endParaRPr lang="en-US" sz="1300" dirty="0"/>
          </a:p>
        </p:txBody>
      </p:sp>
      <p:sp>
        <p:nvSpPr>
          <p:cNvPr id="14" name="Text 12"/>
          <p:cNvSpPr/>
          <p:nvPr/>
        </p:nvSpPr>
        <p:spPr>
          <a:xfrm>
            <a:off x="3035808" y="2404872"/>
            <a:ext cx="941832" cy="219456"/>
          </a:xfrm>
          <a:prstGeom prst="rect">
            <a:avLst/>
          </a:prstGeom>
          <a:noFill/>
          <a:ln/>
        </p:spPr>
        <p:txBody>
          <a:bodyPr wrap="square" lIns="0" tIns="0" rIns="0" bIns="0" rtlCol="0" anchor="ctr"/>
          <a:lstStyle/>
          <a:p>
            <a:pPr marL="0" indent="0" algn="ctr">
              <a:buNone/>
            </a:pPr>
            <a:r>
              <a:rPr lang="en-US" sz="1300" b="1" dirty="0">
                <a:solidFill>
                  <a:srgbClr val="686868"/>
                </a:solidFill>
                <a:latin typeface="Aptos" pitchFamily="34" charset="0"/>
                <a:ea typeface="Aptos" pitchFamily="34" charset="-122"/>
                <a:cs typeface="Aptos" pitchFamily="34" charset="-120"/>
              </a:rPr>
              <a:t>10%</a:t>
            </a:r>
            <a:endParaRPr lang="en-US" sz="1300" dirty="0"/>
          </a:p>
        </p:txBody>
      </p:sp>
      <p:sp>
        <p:nvSpPr>
          <p:cNvPr id="15" name="Text 13"/>
          <p:cNvSpPr/>
          <p:nvPr/>
        </p:nvSpPr>
        <p:spPr>
          <a:xfrm>
            <a:off x="4023360" y="2404872"/>
            <a:ext cx="941832" cy="219456"/>
          </a:xfrm>
          <a:prstGeom prst="rect">
            <a:avLst/>
          </a:prstGeom>
          <a:noFill/>
          <a:ln/>
        </p:spPr>
        <p:txBody>
          <a:bodyPr wrap="square" lIns="0" tIns="0" rIns="0" bIns="0" rtlCol="0" anchor="ctr"/>
          <a:lstStyle/>
          <a:p>
            <a:pPr marL="0" indent="0" algn="ctr">
              <a:buNone/>
            </a:pPr>
            <a:r>
              <a:rPr lang="en-US" sz="1300" b="1" dirty="0">
                <a:solidFill>
                  <a:srgbClr val="686868"/>
                </a:solidFill>
                <a:latin typeface="Aptos" pitchFamily="34" charset="0"/>
                <a:ea typeface="Aptos" pitchFamily="34" charset="-122"/>
                <a:cs typeface="Aptos" pitchFamily="34" charset="-120"/>
              </a:rPr>
              <a:t>20%</a:t>
            </a:r>
            <a:endParaRPr lang="en-US" sz="1300" dirty="0"/>
          </a:p>
        </p:txBody>
      </p:sp>
      <p:sp>
        <p:nvSpPr>
          <p:cNvPr id="16" name="Text 14"/>
          <p:cNvSpPr/>
          <p:nvPr/>
        </p:nvSpPr>
        <p:spPr>
          <a:xfrm>
            <a:off x="5010912" y="2404872"/>
            <a:ext cx="941832" cy="219456"/>
          </a:xfrm>
          <a:prstGeom prst="rect">
            <a:avLst/>
          </a:prstGeom>
          <a:noFill/>
          <a:ln/>
        </p:spPr>
        <p:txBody>
          <a:bodyPr wrap="square" lIns="0" tIns="0" rIns="0" bIns="0" rtlCol="0" anchor="ctr"/>
          <a:lstStyle/>
          <a:p>
            <a:pPr marL="0" indent="0" algn="ctr">
              <a:buNone/>
            </a:pPr>
            <a:r>
              <a:rPr lang="en-US" sz="1300" b="1" dirty="0">
                <a:solidFill>
                  <a:srgbClr val="686868"/>
                </a:solidFill>
                <a:latin typeface="Aptos" pitchFamily="34" charset="0"/>
                <a:ea typeface="Aptos" pitchFamily="34" charset="-122"/>
                <a:cs typeface="Aptos" pitchFamily="34" charset="-120"/>
              </a:rPr>
              <a:t>30%</a:t>
            </a:r>
            <a:endParaRPr lang="en-US" sz="1300" dirty="0"/>
          </a:p>
        </p:txBody>
      </p:sp>
      <p:sp>
        <p:nvSpPr>
          <p:cNvPr id="17" name="Text 15"/>
          <p:cNvSpPr/>
          <p:nvPr/>
        </p:nvSpPr>
        <p:spPr>
          <a:xfrm>
            <a:off x="5998464" y="2404872"/>
            <a:ext cx="941832" cy="219456"/>
          </a:xfrm>
          <a:prstGeom prst="rect">
            <a:avLst/>
          </a:prstGeom>
          <a:noFill/>
          <a:ln/>
        </p:spPr>
        <p:txBody>
          <a:bodyPr wrap="square" lIns="0" tIns="0" rIns="0" bIns="0" rtlCol="0" anchor="ctr"/>
          <a:lstStyle/>
          <a:p>
            <a:pPr marL="0" indent="0" algn="ctr">
              <a:buNone/>
            </a:pPr>
            <a:r>
              <a:rPr lang="en-US" sz="1300" b="1" dirty="0">
                <a:solidFill>
                  <a:srgbClr val="686868"/>
                </a:solidFill>
                <a:latin typeface="Aptos" pitchFamily="34" charset="0"/>
                <a:ea typeface="Aptos" pitchFamily="34" charset="-122"/>
                <a:cs typeface="Aptos" pitchFamily="34" charset="-120"/>
              </a:rPr>
              <a:t>40%</a:t>
            </a:r>
            <a:endParaRPr lang="en-US" sz="1300" dirty="0"/>
          </a:p>
        </p:txBody>
      </p:sp>
      <p:sp>
        <p:nvSpPr>
          <p:cNvPr id="18" name="Text 16"/>
          <p:cNvSpPr/>
          <p:nvPr/>
        </p:nvSpPr>
        <p:spPr>
          <a:xfrm>
            <a:off x="6986016" y="2404872"/>
            <a:ext cx="941832" cy="219456"/>
          </a:xfrm>
          <a:prstGeom prst="rect">
            <a:avLst/>
          </a:prstGeom>
          <a:noFill/>
          <a:ln/>
        </p:spPr>
        <p:txBody>
          <a:bodyPr wrap="square" lIns="0" tIns="0" rIns="0" bIns="0" rtlCol="0" anchor="ctr"/>
          <a:lstStyle/>
          <a:p>
            <a:pPr marL="0" indent="0" algn="ctr">
              <a:buNone/>
            </a:pPr>
            <a:r>
              <a:rPr lang="en-US" sz="1300" b="1" dirty="0">
                <a:solidFill>
                  <a:srgbClr val="686868"/>
                </a:solidFill>
                <a:latin typeface="Aptos" pitchFamily="34" charset="0"/>
                <a:ea typeface="Aptos" pitchFamily="34" charset="-122"/>
                <a:cs typeface="Aptos" pitchFamily="34" charset="-120"/>
              </a:rPr>
              <a:t>50%</a:t>
            </a:r>
            <a:endParaRPr lang="en-US" sz="1300" dirty="0"/>
          </a:p>
        </p:txBody>
      </p:sp>
      <p:sp>
        <p:nvSpPr>
          <p:cNvPr id="19" name="Text 17"/>
          <p:cNvSpPr/>
          <p:nvPr/>
        </p:nvSpPr>
        <p:spPr>
          <a:xfrm>
            <a:off x="658368" y="2670048"/>
            <a:ext cx="1143000" cy="548640"/>
          </a:xfrm>
          <a:prstGeom prst="rect">
            <a:avLst/>
          </a:prstGeom>
          <a:noFill/>
          <a:ln/>
        </p:spPr>
        <p:txBody>
          <a:bodyPr wrap="square" lIns="0" tIns="0" rIns="0" bIns="0" rtlCol="0" anchor="ctr"/>
          <a:lstStyle/>
          <a:p>
            <a:pPr marL="0" indent="0" algn="r">
              <a:buNone/>
            </a:pPr>
            <a:r>
              <a:rPr lang="en-US" sz="1250" b="1" dirty="0">
                <a:solidFill>
                  <a:srgbClr val="686868"/>
                </a:solidFill>
                <a:latin typeface="Aptos" pitchFamily="34" charset="0"/>
                <a:ea typeface="Aptos" pitchFamily="34" charset="-122"/>
                <a:cs typeface="Aptos" pitchFamily="34" charset="-120"/>
              </a:rPr>
              <a:t>Other work</a:t>
            </a:r>
            <a:endParaRPr lang="en-US" sz="1250" dirty="0"/>
          </a:p>
          <a:p>
            <a:pPr marL="0" indent="0" algn="r">
              <a:buNone/>
            </a:pPr>
            <a:r>
              <a:rPr lang="en-US" sz="1250" b="1" dirty="0">
                <a:solidFill>
                  <a:srgbClr val="686868"/>
                </a:solidFill>
                <a:latin typeface="Aptos" pitchFamily="34" charset="0"/>
                <a:ea typeface="Aptos" pitchFamily="34" charset="-122"/>
                <a:cs typeface="Aptos" pitchFamily="34" charset="-120"/>
              </a:rPr>
              <a:t>0% slower</a:t>
            </a:r>
            <a:endParaRPr lang="en-US" sz="1250" dirty="0"/>
          </a:p>
        </p:txBody>
      </p:sp>
      <p:sp>
        <p:nvSpPr>
          <p:cNvPr id="20" name="Shape 18"/>
          <p:cNvSpPr/>
          <p:nvPr/>
        </p:nvSpPr>
        <p:spPr>
          <a:xfrm>
            <a:off x="2048256" y="2670048"/>
            <a:ext cx="932688" cy="576072"/>
          </a:xfrm>
          <a:prstGeom prst="roundRect">
            <a:avLst>
              <a:gd name="adj" fmla="val 19048"/>
            </a:avLst>
          </a:prstGeom>
          <a:solidFill>
            <a:srgbClr val="F4EDEA"/>
          </a:solidFill>
          <a:ln w="8255">
            <a:solidFill>
              <a:srgbClr val="FFFFFF"/>
            </a:solidFill>
            <a:prstDash val="solid"/>
          </a:ln>
        </p:spPr>
        <p:txBody>
          <a:bodyPr/>
          <a:lstStyle/>
          <a:p>
            <a:endParaRPr lang="en-US"/>
          </a:p>
        </p:txBody>
      </p:sp>
      <p:sp>
        <p:nvSpPr>
          <p:cNvPr id="21" name="Text 19"/>
          <p:cNvSpPr/>
          <p:nvPr/>
        </p:nvSpPr>
        <p:spPr>
          <a:xfrm>
            <a:off x="2066544" y="2807208"/>
            <a:ext cx="896112" cy="292608"/>
          </a:xfrm>
          <a:prstGeom prst="rect">
            <a:avLst/>
          </a:prstGeom>
          <a:noFill/>
          <a:ln/>
        </p:spPr>
        <p:txBody>
          <a:bodyPr wrap="square" lIns="0" tIns="0" rIns="0" bIns="0" rtlCol="0" anchor="ctr"/>
          <a:lstStyle/>
          <a:p>
            <a:pPr marL="0" indent="0" algn="ctr">
              <a:buNone/>
            </a:pPr>
            <a:r>
              <a:rPr lang="en-US" sz="1600" b="1" dirty="0">
                <a:solidFill>
                  <a:srgbClr val="772C22"/>
                </a:solidFill>
                <a:latin typeface="Aptos" pitchFamily="34" charset="0"/>
                <a:ea typeface="Aptos" pitchFamily="34" charset="-122"/>
                <a:cs typeface="Aptos" pitchFamily="34" charset="-120"/>
              </a:rPr>
              <a:t>105</a:t>
            </a:r>
            <a:endParaRPr lang="en-US" sz="1600" dirty="0"/>
          </a:p>
        </p:txBody>
      </p:sp>
      <p:sp>
        <p:nvSpPr>
          <p:cNvPr id="22" name="Shape 20"/>
          <p:cNvSpPr/>
          <p:nvPr/>
        </p:nvSpPr>
        <p:spPr>
          <a:xfrm>
            <a:off x="3035808" y="2670048"/>
            <a:ext cx="932688" cy="576072"/>
          </a:xfrm>
          <a:prstGeom prst="roundRect">
            <a:avLst>
              <a:gd name="adj" fmla="val 19048"/>
            </a:avLst>
          </a:prstGeom>
          <a:solidFill>
            <a:srgbClr val="E6F2EF"/>
          </a:solidFill>
          <a:ln w="8255">
            <a:solidFill>
              <a:srgbClr val="FFFFFF"/>
            </a:solidFill>
            <a:prstDash val="solid"/>
          </a:ln>
        </p:spPr>
        <p:txBody>
          <a:bodyPr/>
          <a:lstStyle/>
          <a:p>
            <a:endParaRPr lang="en-US"/>
          </a:p>
        </p:txBody>
      </p:sp>
      <p:sp>
        <p:nvSpPr>
          <p:cNvPr id="23" name="Text 21"/>
          <p:cNvSpPr/>
          <p:nvPr/>
        </p:nvSpPr>
        <p:spPr>
          <a:xfrm>
            <a:off x="3054096" y="2807208"/>
            <a:ext cx="896112" cy="292608"/>
          </a:xfrm>
          <a:prstGeom prst="rect">
            <a:avLst/>
          </a:prstGeom>
          <a:noFill/>
          <a:ln/>
        </p:spPr>
        <p:txBody>
          <a:bodyPr wrap="square" lIns="0" tIns="0" rIns="0" bIns="0" rtlCol="0" anchor="ctr"/>
          <a:lstStyle/>
          <a:p>
            <a:pPr marL="0" indent="0" algn="ctr">
              <a:buNone/>
            </a:pPr>
            <a:r>
              <a:rPr lang="en-US" sz="1600" b="1" dirty="0">
                <a:solidFill>
                  <a:srgbClr val="0F766E"/>
                </a:solidFill>
                <a:latin typeface="Aptos" pitchFamily="34" charset="0"/>
                <a:ea typeface="Aptos" pitchFamily="34" charset="-122"/>
                <a:cs typeface="Aptos" pitchFamily="34" charset="-120"/>
              </a:rPr>
              <a:t>98</a:t>
            </a:r>
            <a:endParaRPr lang="en-US" sz="1600" dirty="0"/>
          </a:p>
        </p:txBody>
      </p:sp>
      <p:sp>
        <p:nvSpPr>
          <p:cNvPr id="24" name="Shape 22"/>
          <p:cNvSpPr/>
          <p:nvPr/>
        </p:nvSpPr>
        <p:spPr>
          <a:xfrm>
            <a:off x="4023360" y="2670048"/>
            <a:ext cx="932688" cy="576072"/>
          </a:xfrm>
          <a:prstGeom prst="roundRect">
            <a:avLst>
              <a:gd name="adj" fmla="val 19048"/>
            </a:avLst>
          </a:prstGeom>
          <a:solidFill>
            <a:srgbClr val="E6F2EF"/>
          </a:solidFill>
          <a:ln w="8255">
            <a:solidFill>
              <a:srgbClr val="FFFFFF"/>
            </a:solidFill>
            <a:prstDash val="solid"/>
          </a:ln>
        </p:spPr>
        <p:txBody>
          <a:bodyPr/>
          <a:lstStyle/>
          <a:p>
            <a:endParaRPr lang="en-US"/>
          </a:p>
        </p:txBody>
      </p:sp>
      <p:sp>
        <p:nvSpPr>
          <p:cNvPr id="25" name="Text 23"/>
          <p:cNvSpPr/>
          <p:nvPr/>
        </p:nvSpPr>
        <p:spPr>
          <a:xfrm>
            <a:off x="4041648" y="2807208"/>
            <a:ext cx="896112" cy="292608"/>
          </a:xfrm>
          <a:prstGeom prst="rect">
            <a:avLst/>
          </a:prstGeom>
          <a:noFill/>
          <a:ln/>
        </p:spPr>
        <p:txBody>
          <a:bodyPr wrap="square" lIns="0" tIns="0" rIns="0" bIns="0" rtlCol="0" anchor="ctr"/>
          <a:lstStyle/>
          <a:p>
            <a:pPr marL="0" indent="0" algn="ctr">
              <a:buNone/>
            </a:pPr>
            <a:r>
              <a:rPr lang="en-US" sz="1600" b="1" dirty="0">
                <a:solidFill>
                  <a:srgbClr val="0F766E"/>
                </a:solidFill>
                <a:latin typeface="Aptos" pitchFamily="34" charset="0"/>
                <a:ea typeface="Aptos" pitchFamily="34" charset="-122"/>
                <a:cs typeface="Aptos" pitchFamily="34" charset="-120"/>
              </a:rPr>
              <a:t>90</a:t>
            </a:r>
            <a:endParaRPr lang="en-US" sz="1600" dirty="0"/>
          </a:p>
        </p:txBody>
      </p:sp>
      <p:sp>
        <p:nvSpPr>
          <p:cNvPr id="26" name="Shape 24"/>
          <p:cNvSpPr/>
          <p:nvPr/>
        </p:nvSpPr>
        <p:spPr>
          <a:xfrm>
            <a:off x="5010912" y="2670048"/>
            <a:ext cx="932688" cy="576072"/>
          </a:xfrm>
          <a:prstGeom prst="roundRect">
            <a:avLst>
              <a:gd name="adj" fmla="val 19048"/>
            </a:avLst>
          </a:prstGeom>
          <a:solidFill>
            <a:srgbClr val="E6F2EF"/>
          </a:solidFill>
          <a:ln w="8255">
            <a:solidFill>
              <a:srgbClr val="FFFFFF"/>
            </a:solidFill>
            <a:prstDash val="solid"/>
          </a:ln>
        </p:spPr>
        <p:txBody>
          <a:bodyPr/>
          <a:lstStyle/>
          <a:p>
            <a:endParaRPr lang="en-US"/>
          </a:p>
        </p:txBody>
      </p:sp>
      <p:sp>
        <p:nvSpPr>
          <p:cNvPr id="27" name="Text 25"/>
          <p:cNvSpPr/>
          <p:nvPr/>
        </p:nvSpPr>
        <p:spPr>
          <a:xfrm>
            <a:off x="5029200" y="2807208"/>
            <a:ext cx="896112" cy="292608"/>
          </a:xfrm>
          <a:prstGeom prst="rect">
            <a:avLst/>
          </a:prstGeom>
          <a:noFill/>
          <a:ln/>
        </p:spPr>
        <p:txBody>
          <a:bodyPr wrap="square" lIns="0" tIns="0" rIns="0" bIns="0" rtlCol="0" anchor="ctr"/>
          <a:lstStyle/>
          <a:p>
            <a:pPr marL="0" indent="0" algn="ctr">
              <a:buNone/>
            </a:pPr>
            <a:r>
              <a:rPr lang="en-US" sz="1600" b="1" dirty="0">
                <a:solidFill>
                  <a:srgbClr val="0F766E"/>
                </a:solidFill>
                <a:latin typeface="Aptos" pitchFamily="34" charset="0"/>
                <a:ea typeface="Aptos" pitchFamily="34" charset="-122"/>
                <a:cs typeface="Aptos" pitchFamily="34" charset="-120"/>
              </a:rPr>
              <a:t>83</a:t>
            </a:r>
            <a:endParaRPr lang="en-US" sz="1600" dirty="0"/>
          </a:p>
        </p:txBody>
      </p:sp>
      <p:sp>
        <p:nvSpPr>
          <p:cNvPr id="28" name="Shape 26"/>
          <p:cNvSpPr/>
          <p:nvPr/>
        </p:nvSpPr>
        <p:spPr>
          <a:xfrm>
            <a:off x="5998464" y="2670048"/>
            <a:ext cx="932688" cy="576072"/>
          </a:xfrm>
          <a:prstGeom prst="roundRect">
            <a:avLst>
              <a:gd name="adj" fmla="val 19048"/>
            </a:avLst>
          </a:prstGeom>
          <a:solidFill>
            <a:srgbClr val="E6F2EF"/>
          </a:solidFill>
          <a:ln w="8255">
            <a:solidFill>
              <a:srgbClr val="FFFFFF"/>
            </a:solidFill>
            <a:prstDash val="solid"/>
          </a:ln>
        </p:spPr>
        <p:txBody>
          <a:bodyPr/>
          <a:lstStyle/>
          <a:p>
            <a:endParaRPr lang="en-US"/>
          </a:p>
        </p:txBody>
      </p:sp>
      <p:sp>
        <p:nvSpPr>
          <p:cNvPr id="29" name="Text 27"/>
          <p:cNvSpPr/>
          <p:nvPr/>
        </p:nvSpPr>
        <p:spPr>
          <a:xfrm>
            <a:off x="6016752" y="2807208"/>
            <a:ext cx="896112" cy="292608"/>
          </a:xfrm>
          <a:prstGeom prst="rect">
            <a:avLst/>
          </a:prstGeom>
          <a:noFill/>
          <a:ln/>
        </p:spPr>
        <p:txBody>
          <a:bodyPr wrap="square" lIns="0" tIns="0" rIns="0" bIns="0" rtlCol="0" anchor="ctr"/>
          <a:lstStyle/>
          <a:p>
            <a:pPr marL="0" indent="0" algn="ctr">
              <a:buNone/>
            </a:pPr>
            <a:r>
              <a:rPr lang="en-US" sz="1600" b="1" dirty="0">
                <a:solidFill>
                  <a:srgbClr val="0F766E"/>
                </a:solidFill>
                <a:latin typeface="Aptos" pitchFamily="34" charset="0"/>
                <a:ea typeface="Aptos" pitchFamily="34" charset="-122"/>
                <a:cs typeface="Aptos" pitchFamily="34" charset="-120"/>
              </a:rPr>
              <a:t>75</a:t>
            </a:r>
            <a:endParaRPr lang="en-US" sz="1600" dirty="0"/>
          </a:p>
        </p:txBody>
      </p:sp>
      <p:sp>
        <p:nvSpPr>
          <p:cNvPr id="30" name="Shape 28"/>
          <p:cNvSpPr/>
          <p:nvPr/>
        </p:nvSpPr>
        <p:spPr>
          <a:xfrm>
            <a:off x="6986016" y="2670048"/>
            <a:ext cx="932688" cy="576072"/>
          </a:xfrm>
          <a:prstGeom prst="roundRect">
            <a:avLst>
              <a:gd name="adj" fmla="val 19048"/>
            </a:avLst>
          </a:prstGeom>
          <a:solidFill>
            <a:srgbClr val="E6F2EF"/>
          </a:solidFill>
          <a:ln w="8255">
            <a:solidFill>
              <a:srgbClr val="FFFFFF"/>
            </a:solidFill>
            <a:prstDash val="solid"/>
          </a:ln>
        </p:spPr>
        <p:txBody>
          <a:bodyPr/>
          <a:lstStyle/>
          <a:p>
            <a:endParaRPr lang="en-US"/>
          </a:p>
        </p:txBody>
      </p:sp>
      <p:sp>
        <p:nvSpPr>
          <p:cNvPr id="31" name="Text 29"/>
          <p:cNvSpPr/>
          <p:nvPr/>
        </p:nvSpPr>
        <p:spPr>
          <a:xfrm>
            <a:off x="7004304" y="2807208"/>
            <a:ext cx="896112" cy="292608"/>
          </a:xfrm>
          <a:prstGeom prst="rect">
            <a:avLst/>
          </a:prstGeom>
          <a:noFill/>
          <a:ln/>
        </p:spPr>
        <p:txBody>
          <a:bodyPr wrap="square" lIns="0" tIns="0" rIns="0" bIns="0" rtlCol="0" anchor="ctr"/>
          <a:lstStyle/>
          <a:p>
            <a:pPr marL="0" indent="0" algn="ctr">
              <a:buNone/>
            </a:pPr>
            <a:r>
              <a:rPr lang="en-US" sz="1600" b="1" dirty="0">
                <a:solidFill>
                  <a:srgbClr val="0F766E"/>
                </a:solidFill>
                <a:latin typeface="Aptos" pitchFamily="34" charset="0"/>
                <a:ea typeface="Aptos" pitchFamily="34" charset="-122"/>
                <a:cs typeface="Aptos" pitchFamily="34" charset="-120"/>
              </a:rPr>
              <a:t>68</a:t>
            </a:r>
            <a:endParaRPr lang="en-US" sz="1600" dirty="0"/>
          </a:p>
        </p:txBody>
      </p:sp>
      <p:sp>
        <p:nvSpPr>
          <p:cNvPr id="32" name="Text 30"/>
          <p:cNvSpPr/>
          <p:nvPr/>
        </p:nvSpPr>
        <p:spPr>
          <a:xfrm>
            <a:off x="658368" y="3328416"/>
            <a:ext cx="1143000" cy="548640"/>
          </a:xfrm>
          <a:prstGeom prst="rect">
            <a:avLst/>
          </a:prstGeom>
          <a:noFill/>
          <a:ln/>
        </p:spPr>
        <p:txBody>
          <a:bodyPr wrap="square" lIns="0" tIns="0" rIns="0" bIns="0" rtlCol="0" anchor="ctr"/>
          <a:lstStyle/>
          <a:p>
            <a:pPr marL="0" indent="0" algn="r">
              <a:buNone/>
            </a:pPr>
            <a:r>
              <a:rPr lang="en-US" sz="1250" b="1" dirty="0">
                <a:solidFill>
                  <a:srgbClr val="686868"/>
                </a:solidFill>
                <a:latin typeface="Aptos" pitchFamily="34" charset="0"/>
                <a:ea typeface="Aptos" pitchFamily="34" charset="-122"/>
                <a:cs typeface="Aptos" pitchFamily="34" charset="-120"/>
              </a:rPr>
              <a:t>Other work</a:t>
            </a:r>
            <a:endParaRPr lang="en-US" sz="1250" dirty="0"/>
          </a:p>
          <a:p>
            <a:pPr marL="0" indent="0" algn="r">
              <a:buNone/>
            </a:pPr>
            <a:r>
              <a:rPr lang="en-US" sz="1250" b="1" dirty="0">
                <a:solidFill>
                  <a:srgbClr val="686868"/>
                </a:solidFill>
                <a:latin typeface="Aptos" pitchFamily="34" charset="0"/>
                <a:ea typeface="Aptos" pitchFamily="34" charset="-122"/>
                <a:cs typeface="Aptos" pitchFamily="34" charset="-120"/>
              </a:rPr>
              <a:t>10% slower</a:t>
            </a:r>
            <a:endParaRPr lang="en-US" sz="1250" dirty="0"/>
          </a:p>
        </p:txBody>
      </p:sp>
      <p:sp>
        <p:nvSpPr>
          <p:cNvPr id="33" name="Shape 31"/>
          <p:cNvSpPr/>
          <p:nvPr/>
        </p:nvSpPr>
        <p:spPr>
          <a:xfrm>
            <a:off x="2048256" y="3328416"/>
            <a:ext cx="932688" cy="576072"/>
          </a:xfrm>
          <a:prstGeom prst="roundRect">
            <a:avLst>
              <a:gd name="adj" fmla="val 19048"/>
            </a:avLst>
          </a:prstGeom>
          <a:solidFill>
            <a:srgbClr val="F4EDEA"/>
          </a:solidFill>
          <a:ln w="8255">
            <a:solidFill>
              <a:srgbClr val="FFFFFF"/>
            </a:solidFill>
            <a:prstDash val="solid"/>
          </a:ln>
        </p:spPr>
        <p:txBody>
          <a:bodyPr/>
          <a:lstStyle/>
          <a:p>
            <a:endParaRPr lang="en-US"/>
          </a:p>
        </p:txBody>
      </p:sp>
      <p:sp>
        <p:nvSpPr>
          <p:cNvPr id="34" name="Text 32"/>
          <p:cNvSpPr/>
          <p:nvPr/>
        </p:nvSpPr>
        <p:spPr>
          <a:xfrm>
            <a:off x="2066544" y="3465576"/>
            <a:ext cx="896112" cy="292608"/>
          </a:xfrm>
          <a:prstGeom prst="rect">
            <a:avLst/>
          </a:prstGeom>
          <a:noFill/>
          <a:ln/>
        </p:spPr>
        <p:txBody>
          <a:bodyPr wrap="square" lIns="0" tIns="0" rIns="0" bIns="0" rtlCol="0" anchor="ctr"/>
          <a:lstStyle/>
          <a:p>
            <a:pPr marL="0" indent="0" algn="ctr">
              <a:buNone/>
            </a:pPr>
            <a:r>
              <a:rPr lang="en-US" sz="1600" b="1" dirty="0">
                <a:solidFill>
                  <a:srgbClr val="772C22"/>
                </a:solidFill>
                <a:latin typeface="Aptos" pitchFamily="34" charset="0"/>
                <a:ea typeface="Aptos" pitchFamily="34" charset="-122"/>
                <a:cs typeface="Aptos" pitchFamily="34" charset="-120"/>
              </a:rPr>
              <a:t>115</a:t>
            </a:r>
            <a:endParaRPr lang="en-US" sz="1600" dirty="0"/>
          </a:p>
        </p:txBody>
      </p:sp>
      <p:sp>
        <p:nvSpPr>
          <p:cNvPr id="35" name="Shape 33"/>
          <p:cNvSpPr/>
          <p:nvPr/>
        </p:nvSpPr>
        <p:spPr>
          <a:xfrm>
            <a:off x="3035808" y="3328416"/>
            <a:ext cx="932688" cy="576072"/>
          </a:xfrm>
          <a:prstGeom prst="roundRect">
            <a:avLst>
              <a:gd name="adj" fmla="val 19048"/>
            </a:avLst>
          </a:prstGeom>
          <a:solidFill>
            <a:srgbClr val="F4EDEA"/>
          </a:solidFill>
          <a:ln w="8255">
            <a:solidFill>
              <a:srgbClr val="FFFFFF"/>
            </a:solidFill>
            <a:prstDash val="solid"/>
          </a:ln>
        </p:spPr>
        <p:txBody>
          <a:bodyPr/>
          <a:lstStyle/>
          <a:p>
            <a:endParaRPr lang="en-US"/>
          </a:p>
        </p:txBody>
      </p:sp>
      <p:sp>
        <p:nvSpPr>
          <p:cNvPr id="36" name="Text 34"/>
          <p:cNvSpPr/>
          <p:nvPr/>
        </p:nvSpPr>
        <p:spPr>
          <a:xfrm>
            <a:off x="3054096" y="3465576"/>
            <a:ext cx="896112" cy="292608"/>
          </a:xfrm>
          <a:prstGeom prst="rect">
            <a:avLst/>
          </a:prstGeom>
          <a:noFill/>
          <a:ln/>
        </p:spPr>
        <p:txBody>
          <a:bodyPr wrap="square" lIns="0" tIns="0" rIns="0" bIns="0" rtlCol="0" anchor="ctr"/>
          <a:lstStyle/>
          <a:p>
            <a:pPr marL="0" indent="0" algn="ctr">
              <a:buNone/>
            </a:pPr>
            <a:r>
              <a:rPr lang="en-US" sz="1600" b="1" dirty="0">
                <a:solidFill>
                  <a:srgbClr val="772C22"/>
                </a:solidFill>
                <a:latin typeface="Aptos" pitchFamily="34" charset="0"/>
                <a:ea typeface="Aptos" pitchFamily="34" charset="-122"/>
                <a:cs typeface="Aptos" pitchFamily="34" charset="-120"/>
              </a:rPr>
              <a:t>107</a:t>
            </a:r>
            <a:endParaRPr lang="en-US" sz="1600" dirty="0"/>
          </a:p>
        </p:txBody>
      </p:sp>
      <p:sp>
        <p:nvSpPr>
          <p:cNvPr id="37" name="Shape 35"/>
          <p:cNvSpPr/>
          <p:nvPr/>
        </p:nvSpPr>
        <p:spPr>
          <a:xfrm>
            <a:off x="4023360" y="3328416"/>
            <a:ext cx="932688" cy="576072"/>
          </a:xfrm>
          <a:prstGeom prst="roundRect">
            <a:avLst>
              <a:gd name="adj" fmla="val 19048"/>
            </a:avLst>
          </a:prstGeom>
          <a:solidFill>
            <a:srgbClr val="E6F2EF"/>
          </a:solidFill>
          <a:ln w="8255">
            <a:solidFill>
              <a:srgbClr val="FFFFFF"/>
            </a:solidFill>
            <a:prstDash val="solid"/>
          </a:ln>
        </p:spPr>
        <p:txBody>
          <a:bodyPr/>
          <a:lstStyle/>
          <a:p>
            <a:endParaRPr lang="en-US"/>
          </a:p>
        </p:txBody>
      </p:sp>
      <p:sp>
        <p:nvSpPr>
          <p:cNvPr id="38" name="Text 36"/>
          <p:cNvSpPr/>
          <p:nvPr/>
        </p:nvSpPr>
        <p:spPr>
          <a:xfrm>
            <a:off x="4041648" y="3465576"/>
            <a:ext cx="896112" cy="292608"/>
          </a:xfrm>
          <a:prstGeom prst="rect">
            <a:avLst/>
          </a:prstGeom>
          <a:noFill/>
          <a:ln/>
        </p:spPr>
        <p:txBody>
          <a:bodyPr wrap="square" lIns="0" tIns="0" rIns="0" bIns="0" rtlCol="0" anchor="ctr"/>
          <a:lstStyle/>
          <a:p>
            <a:pPr marL="0" indent="0" algn="ctr">
              <a:buNone/>
            </a:pPr>
            <a:r>
              <a:rPr lang="en-US" sz="1600" b="1" dirty="0">
                <a:solidFill>
                  <a:srgbClr val="0F766E"/>
                </a:solidFill>
                <a:latin typeface="Aptos" pitchFamily="34" charset="0"/>
                <a:ea typeface="Aptos" pitchFamily="34" charset="-122"/>
                <a:cs typeface="Aptos" pitchFamily="34" charset="-120"/>
              </a:rPr>
              <a:t>98</a:t>
            </a:r>
            <a:endParaRPr lang="en-US" sz="1600" dirty="0"/>
          </a:p>
        </p:txBody>
      </p:sp>
      <p:sp>
        <p:nvSpPr>
          <p:cNvPr id="39" name="Shape 37"/>
          <p:cNvSpPr/>
          <p:nvPr/>
        </p:nvSpPr>
        <p:spPr>
          <a:xfrm>
            <a:off x="5010912" y="3328416"/>
            <a:ext cx="932688" cy="576072"/>
          </a:xfrm>
          <a:prstGeom prst="roundRect">
            <a:avLst>
              <a:gd name="adj" fmla="val 19048"/>
            </a:avLst>
          </a:prstGeom>
          <a:solidFill>
            <a:srgbClr val="E6F2EF"/>
          </a:solidFill>
          <a:ln w="8255">
            <a:solidFill>
              <a:srgbClr val="FFFFFF"/>
            </a:solidFill>
            <a:prstDash val="solid"/>
          </a:ln>
        </p:spPr>
        <p:txBody>
          <a:bodyPr/>
          <a:lstStyle/>
          <a:p>
            <a:endParaRPr lang="en-US"/>
          </a:p>
        </p:txBody>
      </p:sp>
      <p:sp>
        <p:nvSpPr>
          <p:cNvPr id="40" name="Text 38"/>
          <p:cNvSpPr/>
          <p:nvPr/>
        </p:nvSpPr>
        <p:spPr>
          <a:xfrm>
            <a:off x="5029200" y="3465576"/>
            <a:ext cx="896112" cy="292608"/>
          </a:xfrm>
          <a:prstGeom prst="rect">
            <a:avLst/>
          </a:prstGeom>
          <a:noFill/>
          <a:ln/>
        </p:spPr>
        <p:txBody>
          <a:bodyPr wrap="square" lIns="0" tIns="0" rIns="0" bIns="0" rtlCol="0" anchor="ctr"/>
          <a:lstStyle/>
          <a:p>
            <a:pPr marL="0" indent="0" algn="ctr">
              <a:buNone/>
            </a:pPr>
            <a:r>
              <a:rPr lang="en-US" sz="1600" b="1" dirty="0">
                <a:solidFill>
                  <a:srgbClr val="0F766E"/>
                </a:solidFill>
                <a:latin typeface="Aptos" pitchFamily="34" charset="0"/>
                <a:ea typeface="Aptos" pitchFamily="34" charset="-122"/>
                <a:cs typeface="Aptos" pitchFamily="34" charset="-120"/>
              </a:rPr>
              <a:t>90</a:t>
            </a:r>
            <a:endParaRPr lang="en-US" sz="1600" dirty="0"/>
          </a:p>
        </p:txBody>
      </p:sp>
      <p:sp>
        <p:nvSpPr>
          <p:cNvPr id="41" name="Shape 39"/>
          <p:cNvSpPr/>
          <p:nvPr/>
        </p:nvSpPr>
        <p:spPr>
          <a:xfrm>
            <a:off x="5998464" y="3328416"/>
            <a:ext cx="932688" cy="576072"/>
          </a:xfrm>
          <a:prstGeom prst="roundRect">
            <a:avLst>
              <a:gd name="adj" fmla="val 19048"/>
            </a:avLst>
          </a:prstGeom>
          <a:solidFill>
            <a:srgbClr val="E6F2EF"/>
          </a:solidFill>
          <a:ln w="8255">
            <a:solidFill>
              <a:srgbClr val="FFFFFF"/>
            </a:solidFill>
            <a:prstDash val="solid"/>
          </a:ln>
        </p:spPr>
        <p:txBody>
          <a:bodyPr/>
          <a:lstStyle/>
          <a:p>
            <a:endParaRPr lang="en-US"/>
          </a:p>
        </p:txBody>
      </p:sp>
      <p:sp>
        <p:nvSpPr>
          <p:cNvPr id="42" name="Text 40"/>
          <p:cNvSpPr/>
          <p:nvPr/>
        </p:nvSpPr>
        <p:spPr>
          <a:xfrm>
            <a:off x="6016752" y="3465576"/>
            <a:ext cx="896112" cy="292608"/>
          </a:xfrm>
          <a:prstGeom prst="rect">
            <a:avLst/>
          </a:prstGeom>
          <a:noFill/>
          <a:ln/>
        </p:spPr>
        <p:txBody>
          <a:bodyPr wrap="square" lIns="0" tIns="0" rIns="0" bIns="0" rtlCol="0" anchor="ctr"/>
          <a:lstStyle/>
          <a:p>
            <a:pPr marL="0" indent="0" algn="ctr">
              <a:buNone/>
            </a:pPr>
            <a:r>
              <a:rPr lang="en-US" sz="1600" b="1" dirty="0">
                <a:solidFill>
                  <a:srgbClr val="0F766E"/>
                </a:solidFill>
                <a:latin typeface="Aptos" pitchFamily="34" charset="0"/>
                <a:ea typeface="Aptos" pitchFamily="34" charset="-122"/>
                <a:cs typeface="Aptos" pitchFamily="34" charset="-120"/>
              </a:rPr>
              <a:t>81</a:t>
            </a:r>
            <a:endParaRPr lang="en-US" sz="1600" dirty="0"/>
          </a:p>
        </p:txBody>
      </p:sp>
      <p:sp>
        <p:nvSpPr>
          <p:cNvPr id="43" name="Shape 41"/>
          <p:cNvSpPr/>
          <p:nvPr/>
        </p:nvSpPr>
        <p:spPr>
          <a:xfrm>
            <a:off x="6986016" y="3328416"/>
            <a:ext cx="932688" cy="576072"/>
          </a:xfrm>
          <a:prstGeom prst="roundRect">
            <a:avLst>
              <a:gd name="adj" fmla="val 19048"/>
            </a:avLst>
          </a:prstGeom>
          <a:solidFill>
            <a:srgbClr val="E6F2EF"/>
          </a:solidFill>
          <a:ln w="8255">
            <a:solidFill>
              <a:srgbClr val="FFFFFF"/>
            </a:solidFill>
            <a:prstDash val="solid"/>
          </a:ln>
        </p:spPr>
        <p:txBody>
          <a:bodyPr/>
          <a:lstStyle/>
          <a:p>
            <a:endParaRPr lang="en-US"/>
          </a:p>
        </p:txBody>
      </p:sp>
      <p:sp>
        <p:nvSpPr>
          <p:cNvPr id="44" name="Text 42"/>
          <p:cNvSpPr/>
          <p:nvPr/>
        </p:nvSpPr>
        <p:spPr>
          <a:xfrm>
            <a:off x="7004304" y="3465576"/>
            <a:ext cx="896112" cy="292608"/>
          </a:xfrm>
          <a:prstGeom prst="rect">
            <a:avLst/>
          </a:prstGeom>
          <a:noFill/>
          <a:ln/>
        </p:spPr>
        <p:txBody>
          <a:bodyPr wrap="square" lIns="0" tIns="0" rIns="0" bIns="0" rtlCol="0" anchor="ctr"/>
          <a:lstStyle/>
          <a:p>
            <a:pPr marL="0" indent="0" algn="ctr">
              <a:buNone/>
            </a:pPr>
            <a:r>
              <a:rPr lang="en-US" sz="1600" b="1" dirty="0">
                <a:solidFill>
                  <a:srgbClr val="0F766E"/>
                </a:solidFill>
                <a:latin typeface="Aptos" pitchFamily="34" charset="0"/>
                <a:ea typeface="Aptos" pitchFamily="34" charset="-122"/>
                <a:cs typeface="Aptos" pitchFamily="34" charset="-120"/>
              </a:rPr>
              <a:t>73</a:t>
            </a:r>
            <a:endParaRPr lang="en-US" sz="1600" dirty="0"/>
          </a:p>
        </p:txBody>
      </p:sp>
      <p:sp>
        <p:nvSpPr>
          <p:cNvPr id="45" name="Text 43"/>
          <p:cNvSpPr/>
          <p:nvPr/>
        </p:nvSpPr>
        <p:spPr>
          <a:xfrm>
            <a:off x="658368" y="3986784"/>
            <a:ext cx="1143000" cy="548640"/>
          </a:xfrm>
          <a:prstGeom prst="rect">
            <a:avLst/>
          </a:prstGeom>
          <a:noFill/>
          <a:ln/>
        </p:spPr>
        <p:txBody>
          <a:bodyPr wrap="square" lIns="0" tIns="0" rIns="0" bIns="0" rtlCol="0" anchor="ctr"/>
          <a:lstStyle/>
          <a:p>
            <a:pPr marL="0" indent="0" algn="r">
              <a:buNone/>
            </a:pPr>
            <a:r>
              <a:rPr lang="en-US" sz="1250" b="1" dirty="0">
                <a:solidFill>
                  <a:srgbClr val="686868"/>
                </a:solidFill>
                <a:latin typeface="Aptos" pitchFamily="34" charset="0"/>
                <a:ea typeface="Aptos" pitchFamily="34" charset="-122"/>
                <a:cs typeface="Aptos" pitchFamily="34" charset="-120"/>
              </a:rPr>
              <a:t>Other work</a:t>
            </a:r>
            <a:endParaRPr lang="en-US" sz="1250" dirty="0"/>
          </a:p>
          <a:p>
            <a:pPr marL="0" indent="0" algn="r">
              <a:buNone/>
            </a:pPr>
            <a:r>
              <a:rPr lang="en-US" sz="1250" b="1" dirty="0">
                <a:solidFill>
                  <a:srgbClr val="686868"/>
                </a:solidFill>
                <a:latin typeface="Aptos" pitchFamily="34" charset="0"/>
                <a:ea typeface="Aptos" pitchFamily="34" charset="-122"/>
                <a:cs typeface="Aptos" pitchFamily="34" charset="-120"/>
              </a:rPr>
              <a:t>25% slower</a:t>
            </a:r>
            <a:endParaRPr lang="en-US" sz="1250" dirty="0"/>
          </a:p>
        </p:txBody>
      </p:sp>
      <p:sp>
        <p:nvSpPr>
          <p:cNvPr id="46" name="Shape 44"/>
          <p:cNvSpPr/>
          <p:nvPr/>
        </p:nvSpPr>
        <p:spPr>
          <a:xfrm>
            <a:off x="2048256" y="3986784"/>
            <a:ext cx="932688" cy="576072"/>
          </a:xfrm>
          <a:prstGeom prst="roundRect">
            <a:avLst>
              <a:gd name="adj" fmla="val 19048"/>
            </a:avLst>
          </a:prstGeom>
          <a:solidFill>
            <a:srgbClr val="F4EDEA"/>
          </a:solidFill>
          <a:ln w="8255">
            <a:solidFill>
              <a:srgbClr val="FFFFFF"/>
            </a:solidFill>
            <a:prstDash val="solid"/>
          </a:ln>
        </p:spPr>
        <p:txBody>
          <a:bodyPr/>
          <a:lstStyle/>
          <a:p>
            <a:endParaRPr lang="en-US"/>
          </a:p>
        </p:txBody>
      </p:sp>
      <p:sp>
        <p:nvSpPr>
          <p:cNvPr id="47" name="Text 45"/>
          <p:cNvSpPr/>
          <p:nvPr/>
        </p:nvSpPr>
        <p:spPr>
          <a:xfrm>
            <a:off x="2066544" y="4123944"/>
            <a:ext cx="896112" cy="292608"/>
          </a:xfrm>
          <a:prstGeom prst="rect">
            <a:avLst/>
          </a:prstGeom>
          <a:noFill/>
          <a:ln/>
        </p:spPr>
        <p:txBody>
          <a:bodyPr wrap="square" lIns="0" tIns="0" rIns="0" bIns="0" rtlCol="0" anchor="ctr"/>
          <a:lstStyle/>
          <a:p>
            <a:pPr marL="0" indent="0" algn="ctr">
              <a:buNone/>
            </a:pPr>
            <a:r>
              <a:rPr lang="en-US" sz="1600" b="1" dirty="0">
                <a:solidFill>
                  <a:srgbClr val="772C22"/>
                </a:solidFill>
                <a:latin typeface="Aptos" pitchFamily="34" charset="0"/>
                <a:ea typeface="Aptos" pitchFamily="34" charset="-122"/>
                <a:cs typeface="Aptos" pitchFamily="34" charset="-120"/>
              </a:rPr>
              <a:t>130</a:t>
            </a:r>
            <a:endParaRPr lang="en-US" sz="1600" dirty="0"/>
          </a:p>
        </p:txBody>
      </p:sp>
      <p:sp>
        <p:nvSpPr>
          <p:cNvPr id="48" name="Shape 46"/>
          <p:cNvSpPr/>
          <p:nvPr/>
        </p:nvSpPr>
        <p:spPr>
          <a:xfrm>
            <a:off x="3035808" y="3986784"/>
            <a:ext cx="932688" cy="576072"/>
          </a:xfrm>
          <a:prstGeom prst="roundRect">
            <a:avLst>
              <a:gd name="adj" fmla="val 19048"/>
            </a:avLst>
          </a:prstGeom>
          <a:solidFill>
            <a:srgbClr val="F4EDEA"/>
          </a:solidFill>
          <a:ln w="8255">
            <a:solidFill>
              <a:srgbClr val="FFFFFF"/>
            </a:solidFill>
            <a:prstDash val="solid"/>
          </a:ln>
        </p:spPr>
        <p:txBody>
          <a:bodyPr/>
          <a:lstStyle/>
          <a:p>
            <a:endParaRPr lang="en-US"/>
          </a:p>
        </p:txBody>
      </p:sp>
      <p:sp>
        <p:nvSpPr>
          <p:cNvPr id="49" name="Text 47"/>
          <p:cNvSpPr/>
          <p:nvPr/>
        </p:nvSpPr>
        <p:spPr>
          <a:xfrm>
            <a:off x="3054096" y="4123944"/>
            <a:ext cx="896112" cy="292608"/>
          </a:xfrm>
          <a:prstGeom prst="rect">
            <a:avLst/>
          </a:prstGeom>
          <a:noFill/>
          <a:ln/>
        </p:spPr>
        <p:txBody>
          <a:bodyPr wrap="square" lIns="0" tIns="0" rIns="0" bIns="0" rtlCol="0" anchor="ctr"/>
          <a:lstStyle/>
          <a:p>
            <a:pPr marL="0" indent="0" algn="ctr">
              <a:buNone/>
            </a:pPr>
            <a:r>
              <a:rPr lang="en-US" sz="1600" b="1" dirty="0">
                <a:solidFill>
                  <a:srgbClr val="772C22"/>
                </a:solidFill>
                <a:latin typeface="Aptos" pitchFamily="34" charset="0"/>
                <a:ea typeface="Aptos" pitchFamily="34" charset="-122"/>
                <a:cs typeface="Aptos" pitchFamily="34" charset="-120"/>
              </a:rPr>
              <a:t>120</a:t>
            </a:r>
            <a:endParaRPr lang="en-US" sz="1600" dirty="0"/>
          </a:p>
        </p:txBody>
      </p:sp>
      <p:sp>
        <p:nvSpPr>
          <p:cNvPr id="50" name="Shape 48"/>
          <p:cNvSpPr/>
          <p:nvPr/>
        </p:nvSpPr>
        <p:spPr>
          <a:xfrm>
            <a:off x="4023360" y="3986784"/>
            <a:ext cx="932688" cy="576072"/>
          </a:xfrm>
          <a:prstGeom prst="roundRect">
            <a:avLst>
              <a:gd name="adj" fmla="val 19048"/>
            </a:avLst>
          </a:prstGeom>
          <a:solidFill>
            <a:srgbClr val="F4EDEA"/>
          </a:solidFill>
          <a:ln w="8255">
            <a:solidFill>
              <a:srgbClr val="FFFFFF"/>
            </a:solidFill>
            <a:prstDash val="solid"/>
          </a:ln>
        </p:spPr>
        <p:txBody>
          <a:bodyPr/>
          <a:lstStyle/>
          <a:p>
            <a:endParaRPr lang="en-US"/>
          </a:p>
        </p:txBody>
      </p:sp>
      <p:sp>
        <p:nvSpPr>
          <p:cNvPr id="51" name="Text 49"/>
          <p:cNvSpPr/>
          <p:nvPr/>
        </p:nvSpPr>
        <p:spPr>
          <a:xfrm>
            <a:off x="4041648" y="4123944"/>
            <a:ext cx="896112" cy="292608"/>
          </a:xfrm>
          <a:prstGeom prst="rect">
            <a:avLst/>
          </a:prstGeom>
          <a:noFill/>
          <a:ln/>
        </p:spPr>
        <p:txBody>
          <a:bodyPr wrap="square" lIns="0" tIns="0" rIns="0" bIns="0" rtlCol="0" anchor="ctr"/>
          <a:lstStyle/>
          <a:p>
            <a:pPr marL="0" indent="0" algn="ctr">
              <a:buNone/>
            </a:pPr>
            <a:r>
              <a:rPr lang="en-US" sz="1600" b="1" dirty="0">
                <a:solidFill>
                  <a:srgbClr val="772C22"/>
                </a:solidFill>
                <a:latin typeface="Aptos" pitchFamily="34" charset="0"/>
                <a:ea typeface="Aptos" pitchFamily="34" charset="-122"/>
                <a:cs typeface="Aptos" pitchFamily="34" charset="-120"/>
              </a:rPr>
              <a:t>110</a:t>
            </a:r>
            <a:endParaRPr lang="en-US" sz="1600" dirty="0"/>
          </a:p>
        </p:txBody>
      </p:sp>
      <p:sp>
        <p:nvSpPr>
          <p:cNvPr id="52" name="Shape 50"/>
          <p:cNvSpPr/>
          <p:nvPr/>
        </p:nvSpPr>
        <p:spPr>
          <a:xfrm>
            <a:off x="5010912" y="3986784"/>
            <a:ext cx="932688" cy="576072"/>
          </a:xfrm>
          <a:prstGeom prst="roundRect">
            <a:avLst>
              <a:gd name="adj" fmla="val 19048"/>
            </a:avLst>
          </a:prstGeom>
          <a:solidFill>
            <a:srgbClr val="FCF0D9"/>
          </a:solidFill>
          <a:ln w="8255">
            <a:solidFill>
              <a:srgbClr val="FFFFFF"/>
            </a:solidFill>
            <a:prstDash val="solid"/>
          </a:ln>
        </p:spPr>
        <p:txBody>
          <a:bodyPr/>
          <a:lstStyle/>
          <a:p>
            <a:endParaRPr lang="en-US"/>
          </a:p>
        </p:txBody>
      </p:sp>
      <p:sp>
        <p:nvSpPr>
          <p:cNvPr id="53" name="Text 51"/>
          <p:cNvSpPr/>
          <p:nvPr/>
        </p:nvSpPr>
        <p:spPr>
          <a:xfrm>
            <a:off x="5029200" y="4123944"/>
            <a:ext cx="896112" cy="292608"/>
          </a:xfrm>
          <a:prstGeom prst="rect">
            <a:avLst/>
          </a:prstGeom>
          <a:noFill/>
          <a:ln/>
        </p:spPr>
        <p:txBody>
          <a:bodyPr wrap="square" lIns="0" tIns="0" rIns="0" bIns="0" rtlCol="0" anchor="ctr"/>
          <a:lstStyle/>
          <a:p>
            <a:pPr marL="0" indent="0" algn="ctr">
              <a:buNone/>
            </a:pPr>
            <a:r>
              <a:rPr lang="en-US" sz="1600" b="1" dirty="0">
                <a:solidFill>
                  <a:srgbClr val="956208"/>
                </a:solidFill>
                <a:latin typeface="Aptos" pitchFamily="34" charset="0"/>
                <a:ea typeface="Aptos" pitchFamily="34" charset="-122"/>
                <a:cs typeface="Aptos" pitchFamily="34" charset="-120"/>
              </a:rPr>
              <a:t>100</a:t>
            </a:r>
            <a:endParaRPr lang="en-US" sz="1600" dirty="0"/>
          </a:p>
        </p:txBody>
      </p:sp>
      <p:sp>
        <p:nvSpPr>
          <p:cNvPr id="54" name="Shape 52"/>
          <p:cNvSpPr/>
          <p:nvPr/>
        </p:nvSpPr>
        <p:spPr>
          <a:xfrm>
            <a:off x="5998464" y="3986784"/>
            <a:ext cx="932688" cy="576072"/>
          </a:xfrm>
          <a:prstGeom prst="roundRect">
            <a:avLst>
              <a:gd name="adj" fmla="val 19048"/>
            </a:avLst>
          </a:prstGeom>
          <a:solidFill>
            <a:srgbClr val="E6F2EF"/>
          </a:solidFill>
          <a:ln w="8255">
            <a:solidFill>
              <a:srgbClr val="FFFFFF"/>
            </a:solidFill>
            <a:prstDash val="solid"/>
          </a:ln>
        </p:spPr>
        <p:txBody>
          <a:bodyPr/>
          <a:lstStyle/>
          <a:p>
            <a:endParaRPr lang="en-US"/>
          </a:p>
        </p:txBody>
      </p:sp>
      <p:sp>
        <p:nvSpPr>
          <p:cNvPr id="55" name="Text 53"/>
          <p:cNvSpPr/>
          <p:nvPr/>
        </p:nvSpPr>
        <p:spPr>
          <a:xfrm>
            <a:off x="6016752" y="4123944"/>
            <a:ext cx="896112" cy="292608"/>
          </a:xfrm>
          <a:prstGeom prst="rect">
            <a:avLst/>
          </a:prstGeom>
          <a:noFill/>
          <a:ln/>
        </p:spPr>
        <p:txBody>
          <a:bodyPr wrap="square" lIns="0" tIns="0" rIns="0" bIns="0" rtlCol="0" anchor="ctr"/>
          <a:lstStyle/>
          <a:p>
            <a:pPr marL="0" indent="0" algn="ctr">
              <a:buNone/>
            </a:pPr>
            <a:r>
              <a:rPr lang="en-US" sz="1600" b="1" dirty="0">
                <a:solidFill>
                  <a:srgbClr val="0F766E"/>
                </a:solidFill>
                <a:latin typeface="Aptos" pitchFamily="34" charset="0"/>
                <a:ea typeface="Aptos" pitchFamily="34" charset="-122"/>
                <a:cs typeface="Aptos" pitchFamily="34" charset="-120"/>
              </a:rPr>
              <a:t>90</a:t>
            </a:r>
            <a:endParaRPr lang="en-US" sz="1600" dirty="0"/>
          </a:p>
        </p:txBody>
      </p:sp>
      <p:sp>
        <p:nvSpPr>
          <p:cNvPr id="56" name="Shape 54"/>
          <p:cNvSpPr/>
          <p:nvPr/>
        </p:nvSpPr>
        <p:spPr>
          <a:xfrm>
            <a:off x="6986016" y="3986784"/>
            <a:ext cx="932688" cy="576072"/>
          </a:xfrm>
          <a:prstGeom prst="roundRect">
            <a:avLst>
              <a:gd name="adj" fmla="val 19048"/>
            </a:avLst>
          </a:prstGeom>
          <a:solidFill>
            <a:srgbClr val="E6F2EF"/>
          </a:solidFill>
          <a:ln w="8255">
            <a:solidFill>
              <a:srgbClr val="FFFFFF"/>
            </a:solidFill>
            <a:prstDash val="solid"/>
          </a:ln>
        </p:spPr>
        <p:txBody>
          <a:bodyPr/>
          <a:lstStyle/>
          <a:p>
            <a:endParaRPr lang="en-US"/>
          </a:p>
        </p:txBody>
      </p:sp>
      <p:sp>
        <p:nvSpPr>
          <p:cNvPr id="57" name="Text 55"/>
          <p:cNvSpPr/>
          <p:nvPr/>
        </p:nvSpPr>
        <p:spPr>
          <a:xfrm>
            <a:off x="7004304" y="4123944"/>
            <a:ext cx="896112" cy="292608"/>
          </a:xfrm>
          <a:prstGeom prst="rect">
            <a:avLst/>
          </a:prstGeom>
          <a:noFill/>
          <a:ln/>
        </p:spPr>
        <p:txBody>
          <a:bodyPr wrap="square" lIns="0" tIns="0" rIns="0" bIns="0" rtlCol="0" anchor="ctr"/>
          <a:lstStyle/>
          <a:p>
            <a:pPr marL="0" indent="0" algn="ctr">
              <a:buNone/>
            </a:pPr>
            <a:r>
              <a:rPr lang="en-US" sz="1600" b="1" dirty="0">
                <a:solidFill>
                  <a:srgbClr val="0F766E"/>
                </a:solidFill>
                <a:latin typeface="Aptos" pitchFamily="34" charset="0"/>
                <a:ea typeface="Aptos" pitchFamily="34" charset="-122"/>
                <a:cs typeface="Aptos" pitchFamily="34" charset="-120"/>
              </a:rPr>
              <a:t>80</a:t>
            </a:r>
            <a:endParaRPr lang="en-US" sz="1600" dirty="0"/>
          </a:p>
        </p:txBody>
      </p:sp>
      <p:sp>
        <p:nvSpPr>
          <p:cNvPr id="58" name="Text 56"/>
          <p:cNvSpPr/>
          <p:nvPr/>
        </p:nvSpPr>
        <p:spPr>
          <a:xfrm>
            <a:off x="658368" y="4645152"/>
            <a:ext cx="1143000" cy="548640"/>
          </a:xfrm>
          <a:prstGeom prst="rect">
            <a:avLst/>
          </a:prstGeom>
          <a:noFill/>
          <a:ln/>
        </p:spPr>
        <p:txBody>
          <a:bodyPr wrap="square" lIns="0" tIns="0" rIns="0" bIns="0" rtlCol="0" anchor="ctr"/>
          <a:lstStyle/>
          <a:p>
            <a:pPr marL="0" indent="0" algn="r">
              <a:buNone/>
            </a:pPr>
            <a:r>
              <a:rPr lang="en-US" sz="1250" b="1" dirty="0">
                <a:solidFill>
                  <a:srgbClr val="686868"/>
                </a:solidFill>
                <a:latin typeface="Aptos" pitchFamily="34" charset="0"/>
                <a:ea typeface="Aptos" pitchFamily="34" charset="-122"/>
                <a:cs typeface="Aptos" pitchFamily="34" charset="-120"/>
              </a:rPr>
              <a:t>Other work</a:t>
            </a:r>
            <a:endParaRPr lang="en-US" sz="1250" dirty="0"/>
          </a:p>
          <a:p>
            <a:pPr marL="0" indent="0" algn="r">
              <a:buNone/>
            </a:pPr>
            <a:r>
              <a:rPr lang="en-US" sz="1250" b="1" dirty="0">
                <a:solidFill>
                  <a:srgbClr val="686868"/>
                </a:solidFill>
                <a:latin typeface="Aptos" pitchFamily="34" charset="0"/>
                <a:ea typeface="Aptos" pitchFamily="34" charset="-122"/>
                <a:cs typeface="Aptos" pitchFamily="34" charset="-120"/>
              </a:rPr>
              <a:t>50% slower</a:t>
            </a:r>
            <a:endParaRPr lang="en-US" sz="1250" dirty="0"/>
          </a:p>
        </p:txBody>
      </p:sp>
      <p:sp>
        <p:nvSpPr>
          <p:cNvPr id="59" name="Shape 57"/>
          <p:cNvSpPr/>
          <p:nvPr/>
        </p:nvSpPr>
        <p:spPr>
          <a:xfrm>
            <a:off x="2048256" y="4645152"/>
            <a:ext cx="932688" cy="576072"/>
          </a:xfrm>
          <a:prstGeom prst="roundRect">
            <a:avLst>
              <a:gd name="adj" fmla="val 19048"/>
            </a:avLst>
          </a:prstGeom>
          <a:solidFill>
            <a:srgbClr val="F4EDEA"/>
          </a:solidFill>
          <a:ln w="8255">
            <a:solidFill>
              <a:srgbClr val="FFFFFF"/>
            </a:solidFill>
            <a:prstDash val="solid"/>
          </a:ln>
        </p:spPr>
        <p:txBody>
          <a:bodyPr/>
          <a:lstStyle/>
          <a:p>
            <a:endParaRPr lang="en-US"/>
          </a:p>
        </p:txBody>
      </p:sp>
      <p:sp>
        <p:nvSpPr>
          <p:cNvPr id="60" name="Text 58"/>
          <p:cNvSpPr/>
          <p:nvPr/>
        </p:nvSpPr>
        <p:spPr>
          <a:xfrm>
            <a:off x="2066544" y="4782312"/>
            <a:ext cx="896112" cy="292608"/>
          </a:xfrm>
          <a:prstGeom prst="rect">
            <a:avLst/>
          </a:prstGeom>
          <a:noFill/>
          <a:ln/>
        </p:spPr>
        <p:txBody>
          <a:bodyPr wrap="square" lIns="0" tIns="0" rIns="0" bIns="0" rtlCol="0" anchor="ctr"/>
          <a:lstStyle/>
          <a:p>
            <a:pPr marL="0" indent="0" algn="ctr">
              <a:buNone/>
            </a:pPr>
            <a:r>
              <a:rPr lang="en-US" sz="1600" b="1" dirty="0">
                <a:solidFill>
                  <a:srgbClr val="772C22"/>
                </a:solidFill>
                <a:latin typeface="Aptos" pitchFamily="34" charset="0"/>
                <a:ea typeface="Aptos" pitchFamily="34" charset="-122"/>
                <a:cs typeface="Aptos" pitchFamily="34" charset="-120"/>
              </a:rPr>
              <a:t>155</a:t>
            </a:r>
            <a:endParaRPr lang="en-US" sz="1600" dirty="0"/>
          </a:p>
        </p:txBody>
      </p:sp>
      <p:sp>
        <p:nvSpPr>
          <p:cNvPr id="61" name="Shape 59"/>
          <p:cNvSpPr/>
          <p:nvPr/>
        </p:nvSpPr>
        <p:spPr>
          <a:xfrm>
            <a:off x="3035808" y="4645152"/>
            <a:ext cx="932688" cy="576072"/>
          </a:xfrm>
          <a:prstGeom prst="roundRect">
            <a:avLst>
              <a:gd name="adj" fmla="val 19048"/>
            </a:avLst>
          </a:prstGeom>
          <a:solidFill>
            <a:srgbClr val="F4EDEA"/>
          </a:solidFill>
          <a:ln w="8255">
            <a:solidFill>
              <a:srgbClr val="FFFFFF"/>
            </a:solidFill>
            <a:prstDash val="solid"/>
          </a:ln>
        </p:spPr>
        <p:txBody>
          <a:bodyPr/>
          <a:lstStyle/>
          <a:p>
            <a:endParaRPr lang="en-US"/>
          </a:p>
        </p:txBody>
      </p:sp>
      <p:sp>
        <p:nvSpPr>
          <p:cNvPr id="62" name="Text 60"/>
          <p:cNvSpPr/>
          <p:nvPr/>
        </p:nvSpPr>
        <p:spPr>
          <a:xfrm>
            <a:off x="3054096" y="4782312"/>
            <a:ext cx="896112" cy="292608"/>
          </a:xfrm>
          <a:prstGeom prst="rect">
            <a:avLst/>
          </a:prstGeom>
          <a:noFill/>
          <a:ln/>
        </p:spPr>
        <p:txBody>
          <a:bodyPr wrap="square" lIns="0" tIns="0" rIns="0" bIns="0" rtlCol="0" anchor="ctr"/>
          <a:lstStyle/>
          <a:p>
            <a:pPr marL="0" indent="0" algn="ctr">
              <a:buNone/>
            </a:pPr>
            <a:r>
              <a:rPr lang="en-US" sz="1600" b="1" dirty="0">
                <a:solidFill>
                  <a:srgbClr val="772C22"/>
                </a:solidFill>
                <a:latin typeface="Aptos" pitchFamily="34" charset="0"/>
                <a:ea typeface="Aptos" pitchFamily="34" charset="-122"/>
                <a:cs typeface="Aptos" pitchFamily="34" charset="-120"/>
              </a:rPr>
              <a:t>143</a:t>
            </a:r>
            <a:endParaRPr lang="en-US" sz="1600" dirty="0"/>
          </a:p>
        </p:txBody>
      </p:sp>
      <p:sp>
        <p:nvSpPr>
          <p:cNvPr id="63" name="Shape 61"/>
          <p:cNvSpPr/>
          <p:nvPr/>
        </p:nvSpPr>
        <p:spPr>
          <a:xfrm>
            <a:off x="4023360" y="4645152"/>
            <a:ext cx="932688" cy="576072"/>
          </a:xfrm>
          <a:prstGeom prst="roundRect">
            <a:avLst>
              <a:gd name="adj" fmla="val 19048"/>
            </a:avLst>
          </a:prstGeom>
          <a:solidFill>
            <a:srgbClr val="F4EDEA"/>
          </a:solidFill>
          <a:ln w="8255">
            <a:solidFill>
              <a:srgbClr val="FFFFFF"/>
            </a:solidFill>
            <a:prstDash val="solid"/>
          </a:ln>
        </p:spPr>
        <p:txBody>
          <a:bodyPr/>
          <a:lstStyle/>
          <a:p>
            <a:endParaRPr lang="en-US"/>
          </a:p>
        </p:txBody>
      </p:sp>
      <p:sp>
        <p:nvSpPr>
          <p:cNvPr id="64" name="Text 62"/>
          <p:cNvSpPr/>
          <p:nvPr/>
        </p:nvSpPr>
        <p:spPr>
          <a:xfrm>
            <a:off x="4041648" y="4782312"/>
            <a:ext cx="896112" cy="292608"/>
          </a:xfrm>
          <a:prstGeom prst="rect">
            <a:avLst/>
          </a:prstGeom>
          <a:noFill/>
          <a:ln/>
        </p:spPr>
        <p:txBody>
          <a:bodyPr wrap="square" lIns="0" tIns="0" rIns="0" bIns="0" rtlCol="0" anchor="ctr"/>
          <a:lstStyle/>
          <a:p>
            <a:pPr marL="0" indent="0" algn="ctr">
              <a:buNone/>
            </a:pPr>
            <a:r>
              <a:rPr lang="en-US" sz="1600" b="1" dirty="0">
                <a:solidFill>
                  <a:srgbClr val="772C22"/>
                </a:solidFill>
                <a:latin typeface="Aptos" pitchFamily="34" charset="0"/>
                <a:ea typeface="Aptos" pitchFamily="34" charset="-122"/>
                <a:cs typeface="Aptos" pitchFamily="34" charset="-120"/>
              </a:rPr>
              <a:t>130</a:t>
            </a:r>
            <a:endParaRPr lang="en-US" sz="1600" dirty="0"/>
          </a:p>
        </p:txBody>
      </p:sp>
      <p:sp>
        <p:nvSpPr>
          <p:cNvPr id="65" name="Shape 63"/>
          <p:cNvSpPr/>
          <p:nvPr/>
        </p:nvSpPr>
        <p:spPr>
          <a:xfrm>
            <a:off x="5010912" y="4645152"/>
            <a:ext cx="932688" cy="576072"/>
          </a:xfrm>
          <a:prstGeom prst="roundRect">
            <a:avLst>
              <a:gd name="adj" fmla="val 19048"/>
            </a:avLst>
          </a:prstGeom>
          <a:solidFill>
            <a:srgbClr val="F4EDEA"/>
          </a:solidFill>
          <a:ln w="8255">
            <a:solidFill>
              <a:srgbClr val="FFFFFF"/>
            </a:solidFill>
            <a:prstDash val="solid"/>
          </a:ln>
        </p:spPr>
        <p:txBody>
          <a:bodyPr/>
          <a:lstStyle/>
          <a:p>
            <a:endParaRPr lang="en-US"/>
          </a:p>
        </p:txBody>
      </p:sp>
      <p:sp>
        <p:nvSpPr>
          <p:cNvPr id="66" name="Text 64"/>
          <p:cNvSpPr/>
          <p:nvPr/>
        </p:nvSpPr>
        <p:spPr>
          <a:xfrm>
            <a:off x="5029200" y="4782312"/>
            <a:ext cx="896112" cy="292608"/>
          </a:xfrm>
          <a:prstGeom prst="rect">
            <a:avLst/>
          </a:prstGeom>
          <a:noFill/>
          <a:ln/>
        </p:spPr>
        <p:txBody>
          <a:bodyPr wrap="square" lIns="0" tIns="0" rIns="0" bIns="0" rtlCol="0" anchor="ctr"/>
          <a:lstStyle/>
          <a:p>
            <a:pPr marL="0" indent="0" algn="ctr">
              <a:buNone/>
            </a:pPr>
            <a:r>
              <a:rPr lang="en-US" sz="1600" b="1" dirty="0">
                <a:solidFill>
                  <a:srgbClr val="772C22"/>
                </a:solidFill>
                <a:latin typeface="Aptos" pitchFamily="34" charset="0"/>
                <a:ea typeface="Aptos" pitchFamily="34" charset="-122"/>
                <a:cs typeface="Aptos" pitchFamily="34" charset="-120"/>
              </a:rPr>
              <a:t>117</a:t>
            </a:r>
            <a:endParaRPr lang="en-US" sz="1600" dirty="0"/>
          </a:p>
        </p:txBody>
      </p:sp>
      <p:sp>
        <p:nvSpPr>
          <p:cNvPr id="67" name="Shape 65"/>
          <p:cNvSpPr/>
          <p:nvPr/>
        </p:nvSpPr>
        <p:spPr>
          <a:xfrm>
            <a:off x="5998464" y="4645152"/>
            <a:ext cx="932688" cy="576072"/>
          </a:xfrm>
          <a:prstGeom prst="roundRect">
            <a:avLst>
              <a:gd name="adj" fmla="val 19048"/>
            </a:avLst>
          </a:prstGeom>
          <a:solidFill>
            <a:srgbClr val="F4EDEA"/>
          </a:solidFill>
          <a:ln w="8255">
            <a:solidFill>
              <a:srgbClr val="FFFFFF"/>
            </a:solidFill>
            <a:prstDash val="solid"/>
          </a:ln>
        </p:spPr>
        <p:txBody>
          <a:bodyPr/>
          <a:lstStyle/>
          <a:p>
            <a:endParaRPr lang="en-US"/>
          </a:p>
        </p:txBody>
      </p:sp>
      <p:sp>
        <p:nvSpPr>
          <p:cNvPr id="68" name="Text 66"/>
          <p:cNvSpPr/>
          <p:nvPr/>
        </p:nvSpPr>
        <p:spPr>
          <a:xfrm>
            <a:off x="6016752" y="4782312"/>
            <a:ext cx="896112" cy="292608"/>
          </a:xfrm>
          <a:prstGeom prst="rect">
            <a:avLst/>
          </a:prstGeom>
          <a:noFill/>
          <a:ln/>
        </p:spPr>
        <p:txBody>
          <a:bodyPr wrap="square" lIns="0" tIns="0" rIns="0" bIns="0" rtlCol="0" anchor="ctr"/>
          <a:lstStyle/>
          <a:p>
            <a:pPr marL="0" indent="0" algn="ctr">
              <a:buNone/>
            </a:pPr>
            <a:r>
              <a:rPr lang="en-US" sz="1600" b="1" dirty="0">
                <a:solidFill>
                  <a:srgbClr val="772C22"/>
                </a:solidFill>
                <a:latin typeface="Aptos" pitchFamily="34" charset="0"/>
                <a:ea typeface="Aptos" pitchFamily="34" charset="-122"/>
                <a:cs typeface="Aptos" pitchFamily="34" charset="-120"/>
              </a:rPr>
              <a:t>105</a:t>
            </a:r>
            <a:endParaRPr lang="en-US" sz="1600" dirty="0"/>
          </a:p>
        </p:txBody>
      </p:sp>
      <p:sp>
        <p:nvSpPr>
          <p:cNvPr id="69" name="Shape 67"/>
          <p:cNvSpPr/>
          <p:nvPr/>
        </p:nvSpPr>
        <p:spPr>
          <a:xfrm>
            <a:off x="6986016" y="4645152"/>
            <a:ext cx="932688" cy="576072"/>
          </a:xfrm>
          <a:prstGeom prst="roundRect">
            <a:avLst>
              <a:gd name="adj" fmla="val 19048"/>
            </a:avLst>
          </a:prstGeom>
          <a:solidFill>
            <a:srgbClr val="E6F2EF"/>
          </a:solidFill>
          <a:ln w="8255">
            <a:solidFill>
              <a:srgbClr val="FFFFFF"/>
            </a:solidFill>
            <a:prstDash val="solid"/>
          </a:ln>
        </p:spPr>
        <p:txBody>
          <a:bodyPr/>
          <a:lstStyle/>
          <a:p>
            <a:endParaRPr lang="en-US"/>
          </a:p>
        </p:txBody>
      </p:sp>
      <p:sp>
        <p:nvSpPr>
          <p:cNvPr id="70" name="Text 68"/>
          <p:cNvSpPr/>
          <p:nvPr/>
        </p:nvSpPr>
        <p:spPr>
          <a:xfrm>
            <a:off x="7004304" y="4782312"/>
            <a:ext cx="896112" cy="292608"/>
          </a:xfrm>
          <a:prstGeom prst="rect">
            <a:avLst/>
          </a:prstGeom>
          <a:noFill/>
          <a:ln/>
        </p:spPr>
        <p:txBody>
          <a:bodyPr wrap="square" lIns="0" tIns="0" rIns="0" bIns="0" rtlCol="0" anchor="ctr"/>
          <a:lstStyle/>
          <a:p>
            <a:pPr marL="0" indent="0" algn="ctr">
              <a:buNone/>
            </a:pPr>
            <a:r>
              <a:rPr lang="en-US" sz="1600" b="1" dirty="0">
                <a:solidFill>
                  <a:srgbClr val="0F766E"/>
                </a:solidFill>
                <a:latin typeface="Aptos" pitchFamily="34" charset="0"/>
                <a:ea typeface="Aptos" pitchFamily="34" charset="-122"/>
                <a:cs typeface="Aptos" pitchFamily="34" charset="-120"/>
              </a:rPr>
              <a:t>93</a:t>
            </a:r>
            <a:endParaRPr lang="en-US" sz="1600" dirty="0"/>
          </a:p>
        </p:txBody>
      </p:sp>
      <p:sp>
        <p:nvSpPr>
          <p:cNvPr id="71" name="Shape 69"/>
          <p:cNvSpPr/>
          <p:nvPr/>
        </p:nvSpPr>
        <p:spPr>
          <a:xfrm>
            <a:off x="8430768" y="2176272"/>
            <a:ext cx="3145536" cy="3483864"/>
          </a:xfrm>
          <a:prstGeom prst="roundRect">
            <a:avLst>
              <a:gd name="adj" fmla="val 3488"/>
            </a:avLst>
          </a:prstGeom>
          <a:solidFill>
            <a:srgbClr val="FFFFFF"/>
          </a:solidFill>
          <a:ln w="8255">
            <a:solidFill>
              <a:srgbClr val="DED8D2"/>
            </a:solidFill>
            <a:prstDash val="solid"/>
          </a:ln>
        </p:spPr>
        <p:txBody>
          <a:bodyPr/>
          <a:lstStyle/>
          <a:p>
            <a:endParaRPr lang="en-US"/>
          </a:p>
        </p:txBody>
      </p:sp>
      <p:sp>
        <p:nvSpPr>
          <p:cNvPr id="72" name="Text 70"/>
          <p:cNvSpPr/>
          <p:nvPr/>
        </p:nvSpPr>
        <p:spPr>
          <a:xfrm>
            <a:off x="8631936" y="2395728"/>
            <a:ext cx="2752344" cy="411480"/>
          </a:xfrm>
          <a:prstGeom prst="rect">
            <a:avLst/>
          </a:prstGeom>
          <a:noFill/>
          <a:ln/>
        </p:spPr>
        <p:txBody>
          <a:bodyPr wrap="square" lIns="0" tIns="0" rIns="0" bIns="0" rtlCol="0" anchor="ctr"/>
          <a:lstStyle/>
          <a:p>
            <a:pPr marL="0" indent="0">
              <a:buNone/>
            </a:pPr>
            <a:r>
              <a:rPr lang="en-US" sz="2300" b="1" dirty="0">
                <a:solidFill>
                  <a:srgbClr val="772C22"/>
                </a:solidFill>
                <a:latin typeface="Aptos" pitchFamily="34" charset="0"/>
                <a:ea typeface="Aptos" pitchFamily="34" charset="-122"/>
                <a:cs typeface="Aptos" pitchFamily="34" charset="-120"/>
              </a:rPr>
              <a:t>Reference = 100</a:t>
            </a:r>
            <a:endParaRPr lang="en-US" sz="2300" dirty="0"/>
          </a:p>
        </p:txBody>
      </p:sp>
      <p:sp>
        <p:nvSpPr>
          <p:cNvPr id="73" name="Text 71"/>
          <p:cNvSpPr/>
          <p:nvPr/>
        </p:nvSpPr>
        <p:spPr>
          <a:xfrm>
            <a:off x="8631936" y="3026664"/>
            <a:ext cx="2734056" cy="2176272"/>
          </a:xfrm>
          <a:prstGeom prst="rect">
            <a:avLst/>
          </a:prstGeom>
          <a:noFill/>
          <a:ln/>
        </p:spPr>
        <p:txBody>
          <a:bodyPr wrap="square" lIns="0" tIns="0" rIns="0" bIns="0" rtlCol="0" anchor="t"/>
          <a:lstStyle/>
          <a:p>
            <a:pPr marL="0" indent="0">
              <a:buNone/>
            </a:pPr>
            <a:r>
              <a:rPr lang="en-US" sz="1600" dirty="0">
                <a:solidFill>
                  <a:srgbClr val="686868"/>
                </a:solidFill>
                <a:latin typeface="Aptos" pitchFamily="34" charset="0"/>
                <a:ea typeface="Aptos" pitchFamily="34" charset="-122"/>
                <a:cs typeface="Aptos" pitchFamily="34" charset="-120"/>
              </a:rPr>
              <a:t>Lower is better.</a:t>
            </a:r>
            <a:endParaRPr lang="en-US" sz="1600" dirty="0"/>
          </a:p>
          <a:p>
            <a:pPr marL="0" indent="0">
              <a:buNone/>
            </a:pPr>
            <a:endParaRPr lang="en-US" sz="1600" dirty="0"/>
          </a:p>
          <a:p>
            <a:pPr marL="0" indent="0">
              <a:buNone/>
            </a:pPr>
            <a:r>
              <a:rPr lang="en-US" sz="1600" dirty="0">
                <a:solidFill>
                  <a:srgbClr val="686868"/>
                </a:solidFill>
                <a:latin typeface="Aptos" pitchFamily="34" charset="0"/>
                <a:ea typeface="Aptos" pitchFamily="34" charset="-122"/>
                <a:cs typeface="Aptos" pitchFamily="34" charset="-120"/>
              </a:rPr>
              <a:t>Assume 4× less exposed tier wait and 5% extra software overhead.</a:t>
            </a:r>
            <a:endParaRPr lang="en-US" sz="1600" dirty="0"/>
          </a:p>
          <a:p>
            <a:pPr marL="0" indent="0">
              <a:buNone/>
            </a:pPr>
            <a:endParaRPr lang="en-US" sz="1600" dirty="0"/>
          </a:p>
          <a:p>
            <a:pPr marL="0" indent="0">
              <a:buNone/>
            </a:pPr>
            <a:r>
              <a:rPr lang="en-US" sz="1600" dirty="0">
                <a:solidFill>
                  <a:srgbClr val="686868"/>
                </a:solidFill>
                <a:latin typeface="Aptos" pitchFamily="34" charset="0"/>
                <a:ea typeface="Aptos" pitchFamily="34" charset="-122"/>
                <a:cs typeface="Aptos" pitchFamily="34" charset="-120"/>
              </a:rPr>
              <a:t>At +25% other-work time, break-even is ~30% initial waiting.</a:t>
            </a:r>
            <a:endParaRPr lang="en-US" sz="1600" dirty="0"/>
          </a:p>
        </p:txBody>
      </p:sp>
      <p:sp>
        <p:nvSpPr>
          <p:cNvPr id="74" name="Shape 72"/>
          <p:cNvSpPr/>
          <p:nvPr/>
        </p:nvSpPr>
        <p:spPr>
          <a:xfrm>
            <a:off x="530352" y="5980176"/>
            <a:ext cx="11091672" cy="420624"/>
          </a:xfrm>
          <a:prstGeom prst="roundRect">
            <a:avLst>
              <a:gd name="adj" fmla="val 26087"/>
            </a:avLst>
          </a:prstGeom>
          <a:solidFill>
            <a:srgbClr val="161616"/>
          </a:solidFill>
          <a:ln w="8255">
            <a:solidFill>
              <a:srgbClr val="161616"/>
            </a:solidFill>
            <a:prstDash val="solid"/>
          </a:ln>
        </p:spPr>
        <p:txBody>
          <a:bodyPr/>
          <a:lstStyle/>
          <a:p>
            <a:endParaRPr lang="en-US"/>
          </a:p>
        </p:txBody>
      </p:sp>
      <p:sp>
        <p:nvSpPr>
          <p:cNvPr id="75" name="Text 73"/>
          <p:cNvSpPr/>
          <p:nvPr/>
        </p:nvSpPr>
        <p:spPr>
          <a:xfrm>
            <a:off x="731520" y="6025896"/>
            <a:ext cx="10698480"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Replace both the execution and transfer assumptions with measured profiles. Capacity alone cannot establish a speedup.</a:t>
            </a:r>
            <a:endParaRPr lang="en-US" sz="1400" dirty="0"/>
          </a:p>
        </p:txBody>
      </p:sp>
      <p:grpSp>
        <p:nvGrpSpPr>
          <p:cNvPr id="76" name="Source SanDisk brand 0">
            <a:extLst>
              <a:ext uri="{FF2B5EF4-FFF2-40B4-BE49-F238E27FC236}">
                <a16:creationId xmlns:a16="http://schemas.microsoft.com/office/drawing/2014/main" id="{A6A692BC-3C6C-56BD-8B34-32B6817D15D4}"/>
              </a:ext>
            </a:extLst>
          </p:cNvPr>
          <p:cNvGrpSpPr/>
          <p:nvPr/>
        </p:nvGrpSpPr>
        <p:grpSpPr>
          <a:xfrm>
            <a:off x="539496" y="6547104"/>
            <a:ext cx="1280160" cy="128016"/>
            <a:chOff x="297005" y="5421618"/>
            <a:chExt cx="11585651" cy="1156649"/>
          </a:xfrm>
          <a:solidFill>
            <a:schemeClr val="accent3"/>
          </a:solidFill>
        </p:grpSpPr>
        <p:grpSp>
          <p:nvGrpSpPr>
            <p:cNvPr id="77" name="Source SanDisk brand 1">
              <a:extLst>
                <a:ext uri="{FF2B5EF4-FFF2-40B4-BE49-F238E27FC236}">
                  <a16:creationId xmlns:a16="http://schemas.microsoft.com/office/drawing/2014/main" id="{50FD88E0-3A7B-F830-D901-1BE0676304ED}"/>
                </a:ext>
              </a:extLst>
            </p:cNvPr>
            <p:cNvGrpSpPr/>
            <p:nvPr/>
          </p:nvGrpSpPr>
          <p:grpSpPr>
            <a:xfrm>
              <a:off x="297005" y="5421618"/>
              <a:ext cx="10643138" cy="1156649"/>
              <a:chOff x="3726006" y="3171824"/>
              <a:chExt cx="4740852" cy="515215"/>
            </a:xfrm>
            <a:grpFill/>
          </p:grpSpPr>
          <p:sp>
            <p:nvSpPr>
              <p:cNvPr id="78" name="Source SanDisk brand 2">
                <a:extLst>
                  <a:ext uri="{FF2B5EF4-FFF2-40B4-BE49-F238E27FC236}">
                    <a16:creationId xmlns:a16="http://schemas.microsoft.com/office/drawing/2014/main" id="{BF52D899-1363-DEA1-6063-C8949655B805}"/>
                  </a:ext>
                </a:extLst>
              </p:cNvPr>
              <p:cNvSpPr/>
              <p:nvPr/>
            </p:nvSpPr>
            <p:spPr>
              <a:xfrm>
                <a:off x="5262995" y="3173556"/>
                <a:ext cx="639906" cy="512618"/>
              </a:xfrm>
              <a:custGeom>
                <a:avLst/>
                <a:gdLst>
                  <a:gd name="connsiteX0" fmla="*/ 512618 w 639906"/>
                  <a:gd name="connsiteY0" fmla="*/ 348961 h 512618"/>
                  <a:gd name="connsiteX1" fmla="*/ 482311 w 639906"/>
                  <a:gd name="connsiteY1" fmla="*/ 383598 h 512618"/>
                  <a:gd name="connsiteX2" fmla="*/ 446809 w 639906"/>
                  <a:gd name="connsiteY2" fmla="*/ 361950 h 512618"/>
                  <a:gd name="connsiteX3" fmla="*/ 329911 w 639906"/>
                  <a:gd name="connsiteY3" fmla="*/ 40698 h 512618"/>
                  <a:gd name="connsiteX4" fmla="*/ 274493 w 639906"/>
                  <a:gd name="connsiteY4" fmla="*/ 0 h 512618"/>
                  <a:gd name="connsiteX5" fmla="*/ 0 w 639906"/>
                  <a:gd name="connsiteY5" fmla="*/ 0 h 512618"/>
                  <a:gd name="connsiteX6" fmla="*/ 0 w 639906"/>
                  <a:gd name="connsiteY6" fmla="*/ 512618 h 512618"/>
                  <a:gd name="connsiteX7" fmla="*/ 200891 w 639906"/>
                  <a:gd name="connsiteY7" fmla="*/ 512618 h 512618"/>
                  <a:gd name="connsiteX8" fmla="*/ 200891 w 639906"/>
                  <a:gd name="connsiteY8" fmla="*/ 384464 h 512618"/>
                  <a:gd name="connsiteX9" fmla="*/ 165389 w 639906"/>
                  <a:gd name="connsiteY9" fmla="*/ 384464 h 512618"/>
                  <a:gd name="connsiteX10" fmla="*/ 128155 w 639906"/>
                  <a:gd name="connsiteY10" fmla="*/ 338571 h 512618"/>
                  <a:gd name="connsiteX11" fmla="*/ 128155 w 639906"/>
                  <a:gd name="connsiteY11" fmla="*/ 184439 h 512618"/>
                  <a:gd name="connsiteX12" fmla="*/ 200025 w 639906"/>
                  <a:gd name="connsiteY12" fmla="*/ 133350 h 512618"/>
                  <a:gd name="connsiteX13" fmla="*/ 228600 w 639906"/>
                  <a:gd name="connsiteY13" fmla="*/ 164523 h 512618"/>
                  <a:gd name="connsiteX14" fmla="*/ 322118 w 639906"/>
                  <a:gd name="connsiteY14" fmla="*/ 407843 h 512618"/>
                  <a:gd name="connsiteX15" fmla="*/ 475384 w 639906"/>
                  <a:gd name="connsiteY15" fmla="*/ 512618 h 512618"/>
                  <a:gd name="connsiteX16" fmla="*/ 478848 w 639906"/>
                  <a:gd name="connsiteY16" fmla="*/ 512618 h 512618"/>
                  <a:gd name="connsiteX17" fmla="*/ 639907 w 639906"/>
                  <a:gd name="connsiteY17" fmla="*/ 353291 h 512618"/>
                  <a:gd name="connsiteX18" fmla="*/ 639907 w 639906"/>
                  <a:gd name="connsiteY18" fmla="*/ 0 h 512618"/>
                  <a:gd name="connsiteX19" fmla="*/ 511752 w 639906"/>
                  <a:gd name="connsiteY19" fmla="*/ 0 h 512618"/>
                  <a:gd name="connsiteX20" fmla="*/ 511752 w 639906"/>
                  <a:gd name="connsiteY20" fmla="*/ 349827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39906" h="512618">
                    <a:moveTo>
                      <a:pt x="512618" y="348961"/>
                    </a:moveTo>
                    <a:cubicBezTo>
                      <a:pt x="512618" y="366279"/>
                      <a:pt x="499630" y="381000"/>
                      <a:pt x="482311" y="383598"/>
                    </a:cubicBezTo>
                    <a:cubicBezTo>
                      <a:pt x="466725" y="385330"/>
                      <a:pt x="452005" y="375805"/>
                      <a:pt x="446809" y="361950"/>
                    </a:cubicBezTo>
                    <a:lnTo>
                      <a:pt x="329911" y="40698"/>
                    </a:lnTo>
                    <a:cubicBezTo>
                      <a:pt x="321252" y="14721"/>
                      <a:pt x="299605" y="0"/>
                      <a:pt x="274493" y="0"/>
                    </a:cubicBezTo>
                    <a:lnTo>
                      <a:pt x="0" y="0"/>
                    </a:lnTo>
                    <a:lnTo>
                      <a:pt x="0" y="512618"/>
                    </a:lnTo>
                    <a:lnTo>
                      <a:pt x="200891" y="512618"/>
                    </a:lnTo>
                    <a:lnTo>
                      <a:pt x="200891" y="384464"/>
                    </a:lnTo>
                    <a:lnTo>
                      <a:pt x="165389" y="384464"/>
                    </a:lnTo>
                    <a:cubicBezTo>
                      <a:pt x="142009" y="384464"/>
                      <a:pt x="128155" y="363682"/>
                      <a:pt x="128155" y="338571"/>
                    </a:cubicBezTo>
                    <a:lnTo>
                      <a:pt x="128155" y="184439"/>
                    </a:lnTo>
                    <a:cubicBezTo>
                      <a:pt x="128155" y="146339"/>
                      <a:pt x="165389" y="118630"/>
                      <a:pt x="200025" y="133350"/>
                    </a:cubicBezTo>
                    <a:cubicBezTo>
                      <a:pt x="213014" y="139411"/>
                      <a:pt x="223405" y="150668"/>
                      <a:pt x="228600" y="164523"/>
                    </a:cubicBezTo>
                    <a:lnTo>
                      <a:pt x="322118" y="407843"/>
                    </a:lnTo>
                    <a:cubicBezTo>
                      <a:pt x="346364" y="471920"/>
                      <a:pt x="406977" y="512618"/>
                      <a:pt x="475384" y="512618"/>
                    </a:cubicBezTo>
                    <a:lnTo>
                      <a:pt x="478848" y="512618"/>
                    </a:lnTo>
                    <a:cubicBezTo>
                      <a:pt x="567170" y="512618"/>
                      <a:pt x="639907" y="442480"/>
                      <a:pt x="639907" y="353291"/>
                    </a:cubicBezTo>
                    <a:lnTo>
                      <a:pt x="639907" y="0"/>
                    </a:lnTo>
                    <a:lnTo>
                      <a:pt x="511752" y="0"/>
                    </a:lnTo>
                    <a:lnTo>
                      <a:pt x="511752" y="349827"/>
                    </a:ln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79" name="Source SanDisk brand 3">
                <a:extLst>
                  <a:ext uri="{FF2B5EF4-FFF2-40B4-BE49-F238E27FC236}">
                    <a16:creationId xmlns:a16="http://schemas.microsoft.com/office/drawing/2014/main" id="{4D5E0007-2AC5-2685-4C2D-CF96C07C7ED0}"/>
                  </a:ext>
                </a:extLst>
              </p:cNvPr>
              <p:cNvSpPr/>
              <p:nvPr/>
            </p:nvSpPr>
            <p:spPr>
              <a:xfrm>
                <a:off x="6031922" y="3172690"/>
                <a:ext cx="640772" cy="512618"/>
              </a:xfrm>
              <a:custGeom>
                <a:avLst/>
                <a:gdLst>
                  <a:gd name="connsiteX0" fmla="*/ 384464 w 640772"/>
                  <a:gd name="connsiteY0" fmla="*/ 0 h 512618"/>
                  <a:gd name="connsiteX1" fmla="*/ 0 w 640772"/>
                  <a:gd name="connsiteY1" fmla="*/ 0 h 512618"/>
                  <a:gd name="connsiteX2" fmla="*/ 0 w 640772"/>
                  <a:gd name="connsiteY2" fmla="*/ 129020 h 512618"/>
                  <a:gd name="connsiteX3" fmla="*/ 384464 w 640772"/>
                  <a:gd name="connsiteY3" fmla="*/ 129020 h 512618"/>
                  <a:gd name="connsiteX4" fmla="*/ 511752 w 640772"/>
                  <a:gd name="connsiteY4" fmla="*/ 256309 h 512618"/>
                  <a:gd name="connsiteX5" fmla="*/ 384464 w 640772"/>
                  <a:gd name="connsiteY5" fmla="*/ 383598 h 512618"/>
                  <a:gd name="connsiteX6" fmla="*/ 0 w 640772"/>
                  <a:gd name="connsiteY6" fmla="*/ 383598 h 512618"/>
                  <a:gd name="connsiteX7" fmla="*/ 0 w 640772"/>
                  <a:gd name="connsiteY7" fmla="*/ 512618 h 512618"/>
                  <a:gd name="connsiteX8" fmla="*/ 384464 w 640772"/>
                  <a:gd name="connsiteY8" fmla="*/ 512618 h 512618"/>
                  <a:gd name="connsiteX9" fmla="*/ 609600 w 640772"/>
                  <a:gd name="connsiteY9" fmla="*/ 380134 h 512618"/>
                  <a:gd name="connsiteX10" fmla="*/ 640773 w 640772"/>
                  <a:gd name="connsiteY10" fmla="*/ 256309 h 512618"/>
                  <a:gd name="connsiteX11" fmla="*/ 609600 w 640772"/>
                  <a:gd name="connsiteY11" fmla="*/ 132484 h 512618"/>
                  <a:gd name="connsiteX12" fmla="*/ 384464 w 640772"/>
                  <a:gd name="connsiteY12" fmla="*/ 0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0772" h="512618">
                    <a:moveTo>
                      <a:pt x="384464" y="0"/>
                    </a:moveTo>
                    <a:lnTo>
                      <a:pt x="0" y="0"/>
                    </a:lnTo>
                    <a:lnTo>
                      <a:pt x="0" y="129020"/>
                    </a:lnTo>
                    <a:lnTo>
                      <a:pt x="384464" y="129020"/>
                    </a:lnTo>
                    <a:cubicBezTo>
                      <a:pt x="452004" y="129020"/>
                      <a:pt x="511752" y="188768"/>
                      <a:pt x="511752" y="256309"/>
                    </a:cubicBezTo>
                    <a:cubicBezTo>
                      <a:pt x="511752" y="323850"/>
                      <a:pt x="452004" y="383598"/>
                      <a:pt x="384464" y="383598"/>
                    </a:cubicBezTo>
                    <a:lnTo>
                      <a:pt x="0" y="383598"/>
                    </a:lnTo>
                    <a:lnTo>
                      <a:pt x="0" y="512618"/>
                    </a:lnTo>
                    <a:lnTo>
                      <a:pt x="384464" y="512618"/>
                    </a:lnTo>
                    <a:cubicBezTo>
                      <a:pt x="481446" y="512618"/>
                      <a:pt x="565439" y="458932"/>
                      <a:pt x="609600" y="380134"/>
                    </a:cubicBezTo>
                    <a:cubicBezTo>
                      <a:pt x="629516" y="343766"/>
                      <a:pt x="640773" y="301337"/>
                      <a:pt x="640773" y="256309"/>
                    </a:cubicBezTo>
                    <a:cubicBezTo>
                      <a:pt x="640773" y="211282"/>
                      <a:pt x="629516" y="169718"/>
                      <a:pt x="609600" y="132484"/>
                    </a:cubicBezTo>
                    <a:cubicBezTo>
                      <a:pt x="566305" y="52821"/>
                      <a:pt x="482311" y="0"/>
                      <a:pt x="384464" y="0"/>
                    </a:cubicBez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80" name="Source SanDisk brand 4">
                <a:extLst>
                  <a:ext uri="{FF2B5EF4-FFF2-40B4-BE49-F238E27FC236}">
                    <a16:creationId xmlns:a16="http://schemas.microsoft.com/office/drawing/2014/main" id="{9164FD13-1646-7FD2-5414-F5FB8722267D}"/>
                  </a:ext>
                </a:extLst>
              </p:cNvPr>
              <p:cNvSpPr/>
              <p:nvPr/>
            </p:nvSpPr>
            <p:spPr>
              <a:xfrm>
                <a:off x="6726381" y="3171824"/>
                <a:ext cx="202622" cy="512618"/>
              </a:xfrm>
              <a:custGeom>
                <a:avLst/>
                <a:gdLst>
                  <a:gd name="connsiteX0" fmla="*/ 25977 w 202622"/>
                  <a:gd name="connsiteY0" fmla="*/ 129021 h 512618"/>
                  <a:gd name="connsiteX1" fmla="*/ 36368 w 202622"/>
                  <a:gd name="connsiteY1" fmla="*/ 129021 h 512618"/>
                  <a:gd name="connsiteX2" fmla="*/ 74468 w 202622"/>
                  <a:gd name="connsiteY2" fmla="*/ 176646 h 512618"/>
                  <a:gd name="connsiteX3" fmla="*/ 74468 w 202622"/>
                  <a:gd name="connsiteY3" fmla="*/ 512618 h 512618"/>
                  <a:gd name="connsiteX4" fmla="*/ 202623 w 202622"/>
                  <a:gd name="connsiteY4" fmla="*/ 512618 h 512618"/>
                  <a:gd name="connsiteX5" fmla="*/ 202623 w 202622"/>
                  <a:gd name="connsiteY5" fmla="*/ 0 h 512618"/>
                  <a:gd name="connsiteX6" fmla="*/ 0 w 202622"/>
                  <a:gd name="connsiteY6" fmla="*/ 0 h 512618"/>
                  <a:gd name="connsiteX7" fmla="*/ 0 w 202622"/>
                  <a:gd name="connsiteY7" fmla="*/ 128155 h 512618"/>
                  <a:gd name="connsiteX8" fmla="*/ 26843 w 202622"/>
                  <a:gd name="connsiteY8" fmla="*/ 128155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622" h="512618">
                    <a:moveTo>
                      <a:pt x="25977" y="129021"/>
                    </a:moveTo>
                    <a:cubicBezTo>
                      <a:pt x="29441" y="129021"/>
                      <a:pt x="32039" y="129021"/>
                      <a:pt x="36368" y="129021"/>
                    </a:cubicBezTo>
                    <a:cubicBezTo>
                      <a:pt x="59748" y="132484"/>
                      <a:pt x="74468" y="151534"/>
                      <a:pt x="74468" y="176646"/>
                    </a:cubicBezTo>
                    <a:lnTo>
                      <a:pt x="74468" y="512618"/>
                    </a:lnTo>
                    <a:lnTo>
                      <a:pt x="202623" y="512618"/>
                    </a:lnTo>
                    <a:lnTo>
                      <a:pt x="202623" y="0"/>
                    </a:lnTo>
                    <a:lnTo>
                      <a:pt x="0" y="0"/>
                    </a:lnTo>
                    <a:lnTo>
                      <a:pt x="0" y="128155"/>
                    </a:lnTo>
                    <a:lnTo>
                      <a:pt x="26843" y="128155"/>
                    </a:ln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81" name="Source SanDisk brand 5">
                <a:extLst>
                  <a:ext uri="{FF2B5EF4-FFF2-40B4-BE49-F238E27FC236}">
                    <a16:creationId xmlns:a16="http://schemas.microsoft.com/office/drawing/2014/main" id="{3CEC4686-88E3-A390-9C59-C52AEAD5DDB6}"/>
                  </a:ext>
                </a:extLst>
              </p:cNvPr>
              <p:cNvSpPr/>
              <p:nvPr/>
            </p:nvSpPr>
            <p:spPr>
              <a:xfrm>
                <a:off x="7058025" y="3172690"/>
                <a:ext cx="640772" cy="512618"/>
              </a:xfrm>
              <a:custGeom>
                <a:avLst/>
                <a:gdLst>
                  <a:gd name="connsiteX0" fmla="*/ 639907 w 640772"/>
                  <a:gd name="connsiteY0" fmla="*/ 410441 h 512618"/>
                  <a:gd name="connsiteX1" fmla="*/ 639907 w 640772"/>
                  <a:gd name="connsiteY1" fmla="*/ 512618 h 512618"/>
                  <a:gd name="connsiteX2" fmla="*/ 97848 w 640772"/>
                  <a:gd name="connsiteY2" fmla="*/ 304800 h 512618"/>
                  <a:gd name="connsiteX3" fmla="*/ 0 w 640772"/>
                  <a:gd name="connsiteY3" fmla="*/ 154132 h 512618"/>
                  <a:gd name="connsiteX4" fmla="*/ 154998 w 640772"/>
                  <a:gd name="connsiteY4" fmla="*/ 0 h 512618"/>
                  <a:gd name="connsiteX5" fmla="*/ 639907 w 640772"/>
                  <a:gd name="connsiteY5" fmla="*/ 0 h 512618"/>
                  <a:gd name="connsiteX6" fmla="*/ 639907 w 640772"/>
                  <a:gd name="connsiteY6" fmla="*/ 200891 h 512618"/>
                  <a:gd name="connsiteX7" fmla="*/ 511752 w 640772"/>
                  <a:gd name="connsiteY7" fmla="*/ 200891 h 512618"/>
                  <a:gd name="connsiteX8" fmla="*/ 511752 w 640772"/>
                  <a:gd name="connsiteY8" fmla="*/ 165389 h 512618"/>
                  <a:gd name="connsiteX9" fmla="*/ 472786 w 640772"/>
                  <a:gd name="connsiteY9" fmla="*/ 129020 h 512618"/>
                  <a:gd name="connsiteX10" fmla="*/ 189634 w 640772"/>
                  <a:gd name="connsiteY10" fmla="*/ 129020 h 512618"/>
                  <a:gd name="connsiteX11" fmla="*/ 149802 w 640772"/>
                  <a:gd name="connsiteY11" fmla="*/ 167986 h 512618"/>
                  <a:gd name="connsiteX12" fmla="*/ 175779 w 640772"/>
                  <a:gd name="connsiteY12" fmla="*/ 206087 h 512618"/>
                  <a:gd name="connsiteX13" fmla="*/ 598343 w 640772"/>
                  <a:gd name="connsiteY13" fmla="*/ 355023 h 512618"/>
                  <a:gd name="connsiteX14" fmla="*/ 640773 w 640772"/>
                  <a:gd name="connsiteY14" fmla="*/ 411307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0772" h="512618">
                    <a:moveTo>
                      <a:pt x="639907" y="410441"/>
                    </a:moveTo>
                    <a:lnTo>
                      <a:pt x="639907" y="512618"/>
                    </a:lnTo>
                    <a:lnTo>
                      <a:pt x="97848" y="304800"/>
                    </a:lnTo>
                    <a:cubicBezTo>
                      <a:pt x="12123" y="271895"/>
                      <a:pt x="0" y="209550"/>
                      <a:pt x="0" y="154132"/>
                    </a:cubicBezTo>
                    <a:cubicBezTo>
                      <a:pt x="0" y="69273"/>
                      <a:pt x="70139" y="0"/>
                      <a:pt x="154998" y="0"/>
                    </a:cubicBezTo>
                    <a:lnTo>
                      <a:pt x="639907" y="0"/>
                    </a:lnTo>
                    <a:lnTo>
                      <a:pt x="639907" y="200891"/>
                    </a:lnTo>
                    <a:lnTo>
                      <a:pt x="511752" y="200891"/>
                    </a:lnTo>
                    <a:lnTo>
                      <a:pt x="511752" y="165389"/>
                    </a:lnTo>
                    <a:cubicBezTo>
                      <a:pt x="511752" y="144607"/>
                      <a:pt x="491836" y="129020"/>
                      <a:pt x="472786" y="129020"/>
                    </a:cubicBezTo>
                    <a:lnTo>
                      <a:pt x="189634" y="129020"/>
                    </a:lnTo>
                    <a:cubicBezTo>
                      <a:pt x="167986" y="129020"/>
                      <a:pt x="149802" y="146339"/>
                      <a:pt x="149802" y="167986"/>
                    </a:cubicBezTo>
                    <a:cubicBezTo>
                      <a:pt x="149802" y="189634"/>
                      <a:pt x="160193" y="200025"/>
                      <a:pt x="175779" y="206087"/>
                    </a:cubicBezTo>
                    <a:lnTo>
                      <a:pt x="598343" y="355023"/>
                    </a:lnTo>
                    <a:cubicBezTo>
                      <a:pt x="598343" y="355023"/>
                      <a:pt x="640773" y="367145"/>
                      <a:pt x="640773" y="411307"/>
                    </a:cubicBez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82" name="Source SanDisk brand 6">
                <a:extLst>
                  <a:ext uri="{FF2B5EF4-FFF2-40B4-BE49-F238E27FC236}">
                    <a16:creationId xmlns:a16="http://schemas.microsoft.com/office/drawing/2014/main" id="{3DA57102-8664-4537-0C96-1D776169644E}"/>
                  </a:ext>
                </a:extLst>
              </p:cNvPr>
              <p:cNvSpPr/>
              <p:nvPr/>
            </p:nvSpPr>
            <p:spPr>
              <a:xfrm>
                <a:off x="7056293" y="3557154"/>
                <a:ext cx="126422" cy="128154"/>
              </a:xfrm>
              <a:custGeom>
                <a:avLst/>
                <a:gdLst>
                  <a:gd name="connsiteX0" fmla="*/ 126423 w 126422"/>
                  <a:gd name="connsiteY0" fmla="*/ 0 h 128154"/>
                  <a:gd name="connsiteX1" fmla="*/ 0 w 126422"/>
                  <a:gd name="connsiteY1" fmla="*/ 0 h 128154"/>
                  <a:gd name="connsiteX2" fmla="*/ 0 w 126422"/>
                  <a:gd name="connsiteY2" fmla="*/ 128155 h 128154"/>
                  <a:gd name="connsiteX3" fmla="*/ 126423 w 126422"/>
                  <a:gd name="connsiteY3" fmla="*/ 128155 h 128154"/>
                  <a:gd name="connsiteX4" fmla="*/ 126423 w 126422"/>
                  <a:gd name="connsiteY4" fmla="*/ 0 h 128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22" h="128154">
                    <a:moveTo>
                      <a:pt x="126423" y="0"/>
                    </a:moveTo>
                    <a:lnTo>
                      <a:pt x="0" y="0"/>
                    </a:lnTo>
                    <a:lnTo>
                      <a:pt x="0" y="128155"/>
                    </a:lnTo>
                    <a:lnTo>
                      <a:pt x="126423" y="128155"/>
                    </a:lnTo>
                    <a:lnTo>
                      <a:pt x="126423" y="0"/>
                    </a:ln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83" name="Source SanDisk brand 7">
                <a:extLst>
                  <a:ext uri="{FF2B5EF4-FFF2-40B4-BE49-F238E27FC236}">
                    <a16:creationId xmlns:a16="http://schemas.microsoft.com/office/drawing/2014/main" id="{5A49FBDA-20CE-D350-85F4-D7B8C67413BE}"/>
                  </a:ext>
                </a:extLst>
              </p:cNvPr>
              <p:cNvSpPr/>
              <p:nvPr/>
            </p:nvSpPr>
            <p:spPr>
              <a:xfrm>
                <a:off x="3726006" y="3172690"/>
                <a:ext cx="640772" cy="512618"/>
              </a:xfrm>
              <a:custGeom>
                <a:avLst/>
                <a:gdLst>
                  <a:gd name="connsiteX0" fmla="*/ 639907 w 640772"/>
                  <a:gd name="connsiteY0" fmla="*/ 410441 h 512618"/>
                  <a:gd name="connsiteX1" fmla="*/ 639907 w 640772"/>
                  <a:gd name="connsiteY1" fmla="*/ 512618 h 512618"/>
                  <a:gd name="connsiteX2" fmla="*/ 97848 w 640772"/>
                  <a:gd name="connsiteY2" fmla="*/ 304800 h 512618"/>
                  <a:gd name="connsiteX3" fmla="*/ 0 w 640772"/>
                  <a:gd name="connsiteY3" fmla="*/ 154132 h 512618"/>
                  <a:gd name="connsiteX4" fmla="*/ 154998 w 640772"/>
                  <a:gd name="connsiteY4" fmla="*/ 0 h 512618"/>
                  <a:gd name="connsiteX5" fmla="*/ 639907 w 640772"/>
                  <a:gd name="connsiteY5" fmla="*/ 0 h 512618"/>
                  <a:gd name="connsiteX6" fmla="*/ 639907 w 640772"/>
                  <a:gd name="connsiteY6" fmla="*/ 200891 h 512618"/>
                  <a:gd name="connsiteX7" fmla="*/ 511752 w 640772"/>
                  <a:gd name="connsiteY7" fmla="*/ 200891 h 512618"/>
                  <a:gd name="connsiteX8" fmla="*/ 511752 w 640772"/>
                  <a:gd name="connsiteY8" fmla="*/ 165389 h 512618"/>
                  <a:gd name="connsiteX9" fmla="*/ 472786 w 640772"/>
                  <a:gd name="connsiteY9" fmla="*/ 129020 h 512618"/>
                  <a:gd name="connsiteX10" fmla="*/ 189634 w 640772"/>
                  <a:gd name="connsiteY10" fmla="*/ 129020 h 512618"/>
                  <a:gd name="connsiteX11" fmla="*/ 149802 w 640772"/>
                  <a:gd name="connsiteY11" fmla="*/ 167986 h 512618"/>
                  <a:gd name="connsiteX12" fmla="*/ 175780 w 640772"/>
                  <a:gd name="connsiteY12" fmla="*/ 206087 h 512618"/>
                  <a:gd name="connsiteX13" fmla="*/ 598343 w 640772"/>
                  <a:gd name="connsiteY13" fmla="*/ 355023 h 512618"/>
                  <a:gd name="connsiteX14" fmla="*/ 640773 w 640772"/>
                  <a:gd name="connsiteY14" fmla="*/ 411307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0772" h="512618">
                    <a:moveTo>
                      <a:pt x="639907" y="410441"/>
                    </a:moveTo>
                    <a:lnTo>
                      <a:pt x="639907" y="512618"/>
                    </a:lnTo>
                    <a:lnTo>
                      <a:pt x="97848" y="304800"/>
                    </a:lnTo>
                    <a:cubicBezTo>
                      <a:pt x="12123" y="271895"/>
                      <a:pt x="0" y="209550"/>
                      <a:pt x="0" y="154132"/>
                    </a:cubicBezTo>
                    <a:cubicBezTo>
                      <a:pt x="0" y="69273"/>
                      <a:pt x="70139" y="0"/>
                      <a:pt x="154998" y="0"/>
                    </a:cubicBezTo>
                    <a:lnTo>
                      <a:pt x="639907" y="0"/>
                    </a:lnTo>
                    <a:lnTo>
                      <a:pt x="639907" y="200891"/>
                    </a:lnTo>
                    <a:lnTo>
                      <a:pt x="511752" y="200891"/>
                    </a:lnTo>
                    <a:lnTo>
                      <a:pt x="511752" y="165389"/>
                    </a:lnTo>
                    <a:cubicBezTo>
                      <a:pt x="511752" y="144607"/>
                      <a:pt x="491836" y="129020"/>
                      <a:pt x="472786" y="129020"/>
                    </a:cubicBezTo>
                    <a:lnTo>
                      <a:pt x="189634" y="129020"/>
                    </a:lnTo>
                    <a:cubicBezTo>
                      <a:pt x="167986" y="129020"/>
                      <a:pt x="149802" y="146339"/>
                      <a:pt x="149802" y="167986"/>
                    </a:cubicBezTo>
                    <a:cubicBezTo>
                      <a:pt x="149802" y="189634"/>
                      <a:pt x="160193" y="200025"/>
                      <a:pt x="175780" y="206087"/>
                    </a:cubicBezTo>
                    <a:lnTo>
                      <a:pt x="598343" y="355023"/>
                    </a:lnTo>
                    <a:cubicBezTo>
                      <a:pt x="598343" y="355023"/>
                      <a:pt x="640773" y="367145"/>
                      <a:pt x="640773" y="411307"/>
                    </a:cubicBez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84" name="Source SanDisk brand 8">
                <a:extLst>
                  <a:ext uri="{FF2B5EF4-FFF2-40B4-BE49-F238E27FC236}">
                    <a16:creationId xmlns:a16="http://schemas.microsoft.com/office/drawing/2014/main" id="{6A87A37E-58CF-CB04-6B8E-B4B9738F218D}"/>
                  </a:ext>
                </a:extLst>
              </p:cNvPr>
              <p:cNvSpPr/>
              <p:nvPr/>
            </p:nvSpPr>
            <p:spPr>
              <a:xfrm>
                <a:off x="3726006" y="3557154"/>
                <a:ext cx="126422" cy="128154"/>
              </a:xfrm>
              <a:custGeom>
                <a:avLst/>
                <a:gdLst>
                  <a:gd name="connsiteX0" fmla="*/ 126423 w 126422"/>
                  <a:gd name="connsiteY0" fmla="*/ 0 h 128154"/>
                  <a:gd name="connsiteX1" fmla="*/ 0 w 126422"/>
                  <a:gd name="connsiteY1" fmla="*/ 0 h 128154"/>
                  <a:gd name="connsiteX2" fmla="*/ 0 w 126422"/>
                  <a:gd name="connsiteY2" fmla="*/ 128155 h 128154"/>
                  <a:gd name="connsiteX3" fmla="*/ 126423 w 126422"/>
                  <a:gd name="connsiteY3" fmla="*/ 128155 h 128154"/>
                  <a:gd name="connsiteX4" fmla="*/ 126423 w 126422"/>
                  <a:gd name="connsiteY4" fmla="*/ 0 h 128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22" h="128154">
                    <a:moveTo>
                      <a:pt x="126423" y="0"/>
                    </a:moveTo>
                    <a:lnTo>
                      <a:pt x="0" y="0"/>
                    </a:lnTo>
                    <a:lnTo>
                      <a:pt x="0" y="128155"/>
                    </a:lnTo>
                    <a:lnTo>
                      <a:pt x="126423" y="128155"/>
                    </a:lnTo>
                    <a:lnTo>
                      <a:pt x="126423" y="0"/>
                    </a:ln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85" name="Source SanDisk brand 9">
                <a:extLst>
                  <a:ext uri="{FF2B5EF4-FFF2-40B4-BE49-F238E27FC236}">
                    <a16:creationId xmlns:a16="http://schemas.microsoft.com/office/drawing/2014/main" id="{D6B4B94F-9063-7C67-5801-B3828727A687}"/>
                  </a:ext>
                </a:extLst>
              </p:cNvPr>
              <p:cNvSpPr/>
              <p:nvPr/>
            </p:nvSpPr>
            <p:spPr>
              <a:xfrm>
                <a:off x="7827818" y="3172690"/>
                <a:ext cx="639040" cy="514349"/>
              </a:xfrm>
              <a:custGeom>
                <a:avLst/>
                <a:gdLst>
                  <a:gd name="connsiteX0" fmla="*/ 639041 w 639040"/>
                  <a:gd name="connsiteY0" fmla="*/ 129020 h 514349"/>
                  <a:gd name="connsiteX1" fmla="*/ 639041 w 639040"/>
                  <a:gd name="connsiteY1" fmla="*/ 0 h 514349"/>
                  <a:gd name="connsiteX2" fmla="*/ 526473 w 639040"/>
                  <a:gd name="connsiteY2" fmla="*/ 0 h 514349"/>
                  <a:gd name="connsiteX3" fmla="*/ 502227 w 639040"/>
                  <a:gd name="connsiteY3" fmla="*/ 9525 h 514349"/>
                  <a:gd name="connsiteX4" fmla="*/ 302203 w 639040"/>
                  <a:gd name="connsiteY4" fmla="*/ 191366 h 514349"/>
                  <a:gd name="connsiteX5" fmla="*/ 281420 w 639040"/>
                  <a:gd name="connsiteY5" fmla="*/ 200025 h 514349"/>
                  <a:gd name="connsiteX6" fmla="*/ 142009 w 639040"/>
                  <a:gd name="connsiteY6" fmla="*/ 200025 h 514349"/>
                  <a:gd name="connsiteX7" fmla="*/ 126423 w 639040"/>
                  <a:gd name="connsiteY7" fmla="*/ 184439 h 514349"/>
                  <a:gd name="connsiteX8" fmla="*/ 126423 w 639040"/>
                  <a:gd name="connsiteY8" fmla="*/ 866 h 514349"/>
                  <a:gd name="connsiteX9" fmla="*/ 0 w 639040"/>
                  <a:gd name="connsiteY9" fmla="*/ 866 h 514349"/>
                  <a:gd name="connsiteX10" fmla="*/ 0 w 639040"/>
                  <a:gd name="connsiteY10" fmla="*/ 513484 h 514349"/>
                  <a:gd name="connsiteX11" fmla="*/ 126423 w 639040"/>
                  <a:gd name="connsiteY11" fmla="*/ 513484 h 514349"/>
                  <a:gd name="connsiteX12" fmla="*/ 126423 w 639040"/>
                  <a:gd name="connsiteY12" fmla="*/ 329911 h 514349"/>
                  <a:gd name="connsiteX13" fmla="*/ 142009 w 639040"/>
                  <a:gd name="connsiteY13" fmla="*/ 314325 h 514349"/>
                  <a:gd name="connsiteX14" fmla="*/ 281420 w 639040"/>
                  <a:gd name="connsiteY14" fmla="*/ 314325 h 514349"/>
                  <a:gd name="connsiteX15" fmla="*/ 302203 w 639040"/>
                  <a:gd name="connsiteY15" fmla="*/ 322984 h 514349"/>
                  <a:gd name="connsiteX16" fmla="*/ 502227 w 639040"/>
                  <a:gd name="connsiteY16" fmla="*/ 504825 h 514349"/>
                  <a:gd name="connsiteX17" fmla="*/ 526473 w 639040"/>
                  <a:gd name="connsiteY17" fmla="*/ 514350 h 514349"/>
                  <a:gd name="connsiteX18" fmla="*/ 639041 w 639040"/>
                  <a:gd name="connsiteY18" fmla="*/ 514350 h 514349"/>
                  <a:gd name="connsiteX19" fmla="*/ 639041 w 639040"/>
                  <a:gd name="connsiteY19" fmla="*/ 386196 h 514349"/>
                  <a:gd name="connsiteX20" fmla="*/ 577562 w 639040"/>
                  <a:gd name="connsiteY20" fmla="*/ 386196 h 514349"/>
                  <a:gd name="connsiteX21" fmla="*/ 524741 w 639040"/>
                  <a:gd name="connsiteY21" fmla="*/ 367145 h 514349"/>
                  <a:gd name="connsiteX22" fmla="*/ 429491 w 639040"/>
                  <a:gd name="connsiteY22" fmla="*/ 283152 h 514349"/>
                  <a:gd name="connsiteX23" fmla="*/ 429491 w 639040"/>
                  <a:gd name="connsiteY23" fmla="*/ 233795 h 514349"/>
                  <a:gd name="connsiteX24" fmla="*/ 524741 w 639040"/>
                  <a:gd name="connsiteY24" fmla="*/ 149802 h 514349"/>
                  <a:gd name="connsiteX25" fmla="*/ 577562 w 639040"/>
                  <a:gd name="connsiteY25" fmla="*/ 130752 h 514349"/>
                  <a:gd name="connsiteX26" fmla="*/ 639041 w 639040"/>
                  <a:gd name="connsiteY26" fmla="*/ 130752 h 514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39040" h="514349">
                    <a:moveTo>
                      <a:pt x="639041" y="129020"/>
                    </a:moveTo>
                    <a:lnTo>
                      <a:pt x="639041" y="0"/>
                    </a:lnTo>
                    <a:lnTo>
                      <a:pt x="526473" y="0"/>
                    </a:lnTo>
                    <a:cubicBezTo>
                      <a:pt x="517814" y="0"/>
                      <a:pt x="509154" y="3464"/>
                      <a:pt x="502227" y="9525"/>
                    </a:cubicBezTo>
                    <a:lnTo>
                      <a:pt x="302203" y="191366"/>
                    </a:lnTo>
                    <a:cubicBezTo>
                      <a:pt x="296141" y="196561"/>
                      <a:pt x="289214" y="200025"/>
                      <a:pt x="281420" y="200025"/>
                    </a:cubicBezTo>
                    <a:lnTo>
                      <a:pt x="142009" y="200025"/>
                    </a:lnTo>
                    <a:cubicBezTo>
                      <a:pt x="133350" y="200025"/>
                      <a:pt x="126423" y="193098"/>
                      <a:pt x="126423" y="184439"/>
                    </a:cubicBezTo>
                    <a:lnTo>
                      <a:pt x="126423" y="866"/>
                    </a:lnTo>
                    <a:lnTo>
                      <a:pt x="0" y="866"/>
                    </a:lnTo>
                    <a:lnTo>
                      <a:pt x="0" y="513484"/>
                    </a:lnTo>
                    <a:lnTo>
                      <a:pt x="126423" y="513484"/>
                    </a:lnTo>
                    <a:lnTo>
                      <a:pt x="126423" y="329911"/>
                    </a:lnTo>
                    <a:cubicBezTo>
                      <a:pt x="126423" y="321252"/>
                      <a:pt x="133350" y="314325"/>
                      <a:pt x="142009" y="314325"/>
                    </a:cubicBezTo>
                    <a:lnTo>
                      <a:pt x="281420" y="314325"/>
                    </a:lnTo>
                    <a:cubicBezTo>
                      <a:pt x="289214" y="314325"/>
                      <a:pt x="296141" y="316923"/>
                      <a:pt x="302203" y="322984"/>
                    </a:cubicBezTo>
                    <a:lnTo>
                      <a:pt x="502227" y="504825"/>
                    </a:lnTo>
                    <a:cubicBezTo>
                      <a:pt x="509154" y="510886"/>
                      <a:pt x="517814" y="514350"/>
                      <a:pt x="526473" y="514350"/>
                    </a:cubicBezTo>
                    <a:lnTo>
                      <a:pt x="639041" y="514350"/>
                    </a:lnTo>
                    <a:lnTo>
                      <a:pt x="639041" y="386196"/>
                    </a:lnTo>
                    <a:lnTo>
                      <a:pt x="577562" y="386196"/>
                    </a:lnTo>
                    <a:cubicBezTo>
                      <a:pt x="558511" y="386196"/>
                      <a:pt x="539461" y="379268"/>
                      <a:pt x="524741" y="367145"/>
                    </a:cubicBezTo>
                    <a:lnTo>
                      <a:pt x="429491" y="283152"/>
                    </a:lnTo>
                    <a:cubicBezTo>
                      <a:pt x="414771" y="270164"/>
                      <a:pt x="414771" y="247650"/>
                      <a:pt x="429491" y="233795"/>
                    </a:cubicBezTo>
                    <a:lnTo>
                      <a:pt x="524741" y="149802"/>
                    </a:lnTo>
                    <a:cubicBezTo>
                      <a:pt x="539461" y="137680"/>
                      <a:pt x="557646" y="131618"/>
                      <a:pt x="577562" y="130752"/>
                    </a:cubicBezTo>
                    <a:lnTo>
                      <a:pt x="639041" y="130752"/>
                    </a:lnTo>
                    <a:close/>
                  </a:path>
                </a:pathLst>
              </a:custGeom>
              <a:solidFill>
                <a:srgbClr val="E10600"/>
              </a:solidFill>
              <a:ln w="8653" cap="flat">
                <a:noFill/>
                <a:prstDash val="solid"/>
                <a:miter/>
              </a:ln>
            </p:spPr>
            <p:txBody>
              <a:bodyPr rtlCol="0" anchor="ctr"/>
              <a:lstStyle/>
              <a:p>
                <a:endParaRPr lang="en-US">
                  <a:solidFill>
                    <a:schemeClr val="tx1"/>
                  </a:solidFill>
                </a:endParaRPr>
              </a:p>
            </p:txBody>
          </p:sp>
          <p:sp>
            <p:nvSpPr>
              <p:cNvPr id="86" name="Source SanDisk brand 10">
                <a:extLst>
                  <a:ext uri="{FF2B5EF4-FFF2-40B4-BE49-F238E27FC236}">
                    <a16:creationId xmlns:a16="http://schemas.microsoft.com/office/drawing/2014/main" id="{D10C90D8-745C-4517-452F-8D9398F858A1}"/>
                  </a:ext>
                </a:extLst>
              </p:cNvPr>
              <p:cNvSpPr/>
              <p:nvPr/>
            </p:nvSpPr>
            <p:spPr>
              <a:xfrm>
                <a:off x="4441247" y="3172690"/>
                <a:ext cx="692727" cy="513484"/>
              </a:xfrm>
              <a:custGeom>
                <a:avLst/>
                <a:gdLst>
                  <a:gd name="connsiteX0" fmla="*/ 497898 w 692727"/>
                  <a:gd name="connsiteY0" fmla="*/ 0 h 513484"/>
                  <a:gd name="connsiteX1" fmla="*/ 351559 w 692727"/>
                  <a:gd name="connsiteY1" fmla="*/ 72736 h 513484"/>
                  <a:gd name="connsiteX2" fmla="*/ 0 w 692727"/>
                  <a:gd name="connsiteY2" fmla="*/ 512618 h 513484"/>
                  <a:gd name="connsiteX3" fmla="*/ 178377 w 692727"/>
                  <a:gd name="connsiteY3" fmla="*/ 512618 h 513484"/>
                  <a:gd name="connsiteX4" fmla="*/ 468457 w 692727"/>
                  <a:gd name="connsiteY4" fmla="*/ 155864 h 513484"/>
                  <a:gd name="connsiteX5" fmla="*/ 516082 w 692727"/>
                  <a:gd name="connsiteY5" fmla="*/ 129886 h 513484"/>
                  <a:gd name="connsiteX6" fmla="*/ 564573 w 692727"/>
                  <a:gd name="connsiteY6" fmla="*/ 184439 h 513484"/>
                  <a:gd name="connsiteX7" fmla="*/ 564573 w 692727"/>
                  <a:gd name="connsiteY7" fmla="*/ 339436 h 513484"/>
                  <a:gd name="connsiteX8" fmla="*/ 528205 w 692727"/>
                  <a:gd name="connsiteY8" fmla="*/ 385330 h 513484"/>
                  <a:gd name="connsiteX9" fmla="*/ 492702 w 692727"/>
                  <a:gd name="connsiteY9" fmla="*/ 385330 h 513484"/>
                  <a:gd name="connsiteX10" fmla="*/ 492702 w 692727"/>
                  <a:gd name="connsiteY10" fmla="*/ 513484 h 513484"/>
                  <a:gd name="connsiteX11" fmla="*/ 692727 w 692727"/>
                  <a:gd name="connsiteY11" fmla="*/ 513484 h 513484"/>
                  <a:gd name="connsiteX12" fmla="*/ 692727 w 692727"/>
                  <a:gd name="connsiteY12" fmla="*/ 192232 h 513484"/>
                  <a:gd name="connsiteX13" fmla="*/ 497898 w 692727"/>
                  <a:gd name="connsiteY13" fmla="*/ 866 h 513484"/>
                  <a:gd name="connsiteX14" fmla="*/ 497898 w 692727"/>
                  <a:gd name="connsiteY14" fmla="*/ 866 h 513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2727" h="513484">
                    <a:moveTo>
                      <a:pt x="497898" y="0"/>
                    </a:moveTo>
                    <a:cubicBezTo>
                      <a:pt x="440748" y="866"/>
                      <a:pt x="387061" y="27709"/>
                      <a:pt x="351559" y="72736"/>
                    </a:cubicBezTo>
                    <a:lnTo>
                      <a:pt x="0" y="512618"/>
                    </a:lnTo>
                    <a:lnTo>
                      <a:pt x="178377" y="512618"/>
                    </a:lnTo>
                    <a:lnTo>
                      <a:pt x="468457" y="155864"/>
                    </a:lnTo>
                    <a:cubicBezTo>
                      <a:pt x="483177" y="138545"/>
                      <a:pt x="493568" y="129886"/>
                      <a:pt x="516082" y="129886"/>
                    </a:cubicBezTo>
                    <a:cubicBezTo>
                      <a:pt x="538596" y="129886"/>
                      <a:pt x="564573" y="154998"/>
                      <a:pt x="564573" y="184439"/>
                    </a:cubicBezTo>
                    <a:lnTo>
                      <a:pt x="564573" y="339436"/>
                    </a:lnTo>
                    <a:cubicBezTo>
                      <a:pt x="564573" y="364548"/>
                      <a:pt x="551584" y="385330"/>
                      <a:pt x="528205" y="385330"/>
                    </a:cubicBezTo>
                    <a:lnTo>
                      <a:pt x="492702" y="385330"/>
                    </a:lnTo>
                    <a:lnTo>
                      <a:pt x="492702" y="513484"/>
                    </a:lnTo>
                    <a:lnTo>
                      <a:pt x="692727" y="513484"/>
                    </a:lnTo>
                    <a:lnTo>
                      <a:pt x="692727" y="192232"/>
                    </a:lnTo>
                    <a:cubicBezTo>
                      <a:pt x="692727" y="166255"/>
                      <a:pt x="692727" y="866"/>
                      <a:pt x="497898" y="866"/>
                    </a:cubicBezTo>
                    <a:lnTo>
                      <a:pt x="497898" y="866"/>
                    </a:lnTo>
                    <a:close/>
                  </a:path>
                </a:pathLst>
              </a:custGeom>
              <a:solidFill>
                <a:srgbClr val="E10600"/>
              </a:solidFill>
              <a:ln w="8653" cap="flat">
                <a:noFill/>
                <a:prstDash val="solid"/>
                <a:miter/>
              </a:ln>
            </p:spPr>
            <p:txBody>
              <a:bodyPr rtlCol="0" anchor="ctr"/>
              <a:lstStyle/>
              <a:p>
                <a:endParaRPr lang="en-US">
                  <a:solidFill>
                    <a:schemeClr val="tx1"/>
                  </a:solidFill>
                </a:endParaRPr>
              </a:p>
            </p:txBody>
          </p:sp>
        </p:grpSp>
        <p:grpSp>
          <p:nvGrpSpPr>
            <p:cNvPr id="87" name="Source SanDisk brand 11">
              <a:extLst>
                <a:ext uri="{FF2B5EF4-FFF2-40B4-BE49-F238E27FC236}">
                  <a16:creationId xmlns:a16="http://schemas.microsoft.com/office/drawing/2014/main" id="{5486611C-7296-3F16-EE92-FF3602ECC95B}"/>
                </a:ext>
              </a:extLst>
            </p:cNvPr>
            <p:cNvGrpSpPr/>
            <p:nvPr/>
          </p:nvGrpSpPr>
          <p:grpSpPr>
            <a:xfrm>
              <a:off x="11237775" y="5428812"/>
              <a:ext cx="644881" cy="280035"/>
              <a:chOff x="11237775" y="5428812"/>
              <a:chExt cx="644881" cy="280035"/>
            </a:xfrm>
            <a:grpFill/>
          </p:grpSpPr>
          <p:sp>
            <p:nvSpPr>
              <p:cNvPr id="88" name="Source SanDisk brand 12">
                <a:extLst>
                  <a:ext uri="{FF2B5EF4-FFF2-40B4-BE49-F238E27FC236}">
                    <a16:creationId xmlns:a16="http://schemas.microsoft.com/office/drawing/2014/main" id="{B0C1A2A3-93DA-837F-A5A0-B25E09D76DE0}"/>
                  </a:ext>
                </a:extLst>
              </p:cNvPr>
              <p:cNvSpPr/>
              <p:nvPr/>
            </p:nvSpPr>
            <p:spPr>
              <a:xfrm>
                <a:off x="11237775" y="5428812"/>
                <a:ext cx="245631" cy="280035"/>
              </a:xfrm>
              <a:custGeom>
                <a:avLst/>
                <a:gdLst/>
                <a:ahLst/>
                <a:cxnLst/>
                <a:rect l="l" t="t" r="r" b="b"/>
                <a:pathLst>
                  <a:path w="245631" h="280035">
                    <a:moveTo>
                      <a:pt x="0" y="0"/>
                    </a:moveTo>
                    <a:lnTo>
                      <a:pt x="245631" y="0"/>
                    </a:lnTo>
                    <a:lnTo>
                      <a:pt x="245631" y="50407"/>
                    </a:lnTo>
                    <a:lnTo>
                      <a:pt x="151219" y="50407"/>
                    </a:lnTo>
                    <a:lnTo>
                      <a:pt x="151219" y="280035"/>
                    </a:lnTo>
                    <a:lnTo>
                      <a:pt x="93612" y="280035"/>
                    </a:lnTo>
                    <a:lnTo>
                      <a:pt x="93612" y="50407"/>
                    </a:lnTo>
                    <a:lnTo>
                      <a:pt x="0" y="50407"/>
                    </a:lnTo>
                    <a:lnTo>
                      <a:pt x="0" y="0"/>
                    </a:lnTo>
                    <a:close/>
                  </a:path>
                </a:pathLst>
              </a:custGeom>
              <a:solidFill>
                <a:srgbClr val="E106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89" name="Source SanDisk brand 13">
                <a:extLst>
                  <a:ext uri="{FF2B5EF4-FFF2-40B4-BE49-F238E27FC236}">
                    <a16:creationId xmlns:a16="http://schemas.microsoft.com/office/drawing/2014/main" id="{BAD87224-DE76-7FF9-D1D4-86623728FE01}"/>
                  </a:ext>
                </a:extLst>
              </p:cNvPr>
              <p:cNvSpPr/>
              <p:nvPr/>
            </p:nvSpPr>
            <p:spPr>
              <a:xfrm>
                <a:off x="11521011" y="5428812"/>
                <a:ext cx="361645" cy="280035"/>
              </a:xfrm>
              <a:custGeom>
                <a:avLst/>
                <a:gdLst/>
                <a:ahLst/>
                <a:cxnLst/>
                <a:rect l="l" t="t" r="r" b="b"/>
                <a:pathLst>
                  <a:path w="361645" h="280035">
                    <a:moveTo>
                      <a:pt x="0" y="0"/>
                    </a:moveTo>
                    <a:lnTo>
                      <a:pt x="100012" y="0"/>
                    </a:lnTo>
                    <a:lnTo>
                      <a:pt x="181622" y="210427"/>
                    </a:lnTo>
                    <a:lnTo>
                      <a:pt x="185623" y="210427"/>
                    </a:lnTo>
                    <a:lnTo>
                      <a:pt x="268033" y="0"/>
                    </a:lnTo>
                    <a:lnTo>
                      <a:pt x="361645" y="0"/>
                    </a:lnTo>
                    <a:lnTo>
                      <a:pt x="361645" y="280035"/>
                    </a:lnTo>
                    <a:lnTo>
                      <a:pt x="305638" y="280035"/>
                    </a:lnTo>
                    <a:lnTo>
                      <a:pt x="305638" y="48006"/>
                    </a:lnTo>
                    <a:lnTo>
                      <a:pt x="301637" y="48006"/>
                    </a:lnTo>
                    <a:lnTo>
                      <a:pt x="211226" y="280035"/>
                    </a:lnTo>
                    <a:lnTo>
                      <a:pt x="150418" y="280035"/>
                    </a:lnTo>
                    <a:lnTo>
                      <a:pt x="60007" y="48006"/>
                    </a:lnTo>
                    <a:lnTo>
                      <a:pt x="56807" y="48006"/>
                    </a:lnTo>
                    <a:lnTo>
                      <a:pt x="56807" y="280035"/>
                    </a:lnTo>
                    <a:lnTo>
                      <a:pt x="0" y="280035"/>
                    </a:lnTo>
                    <a:lnTo>
                      <a:pt x="0" y="0"/>
                    </a:lnTo>
                    <a:close/>
                  </a:path>
                </a:pathLst>
              </a:custGeom>
              <a:solidFill>
                <a:srgbClr val="E106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grpSp>
      </p:grpSp>
      <p:sp>
        <p:nvSpPr>
          <p:cNvPr id="90" name="Shape 3">
            <a:extLst>
              <a:ext uri="{FF2B5EF4-FFF2-40B4-BE49-F238E27FC236}">
                <a16:creationId xmlns:a16="http://schemas.microsoft.com/office/drawing/2014/main" id="{525B5D28-3CE3-D367-4BB0-CC62B27E9E3B}"/>
              </a:ext>
            </a:extLst>
          </p:cNvPr>
          <p:cNvSpPr/>
          <p:nvPr/>
        </p:nvSpPr>
        <p:spPr>
          <a:xfrm>
            <a:off x="0" y="0"/>
            <a:ext cx="146304" cy="6858000"/>
          </a:xfrm>
          <a:prstGeom prst="rect">
            <a:avLst/>
          </a:prstGeom>
          <a:solidFill>
            <a:schemeClr val="accent2"/>
          </a:solidFill>
          <a:ln w="6350">
            <a:solidFill>
              <a:srgbClr val="00A3A3"/>
            </a:solidFill>
          </a:ln>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256032"/>
            <a:ext cx="12191695" cy="6858000"/>
          </a:xfrm>
          <a:prstGeom prst="rect">
            <a:avLst/>
          </a:prstGeom>
          <a:solidFill>
            <a:srgbClr val="F8FAFC"/>
          </a:solidFill>
          <a:ln w="6350">
            <a:solidFill>
              <a:srgbClr val="F8FAFC"/>
            </a:solidFill>
          </a:ln>
        </p:spPr>
        <p:txBody>
          <a:bodyPr/>
          <a:lstStyle/>
          <a:p>
            <a:endParaRPr lang="en-US"/>
          </a:p>
        </p:txBody>
      </p:sp>
      <p:sp>
        <p:nvSpPr>
          <p:cNvPr id="3" name="Shape 3"/>
          <p:cNvSpPr/>
          <p:nvPr/>
        </p:nvSpPr>
        <p:spPr>
          <a:xfrm>
            <a:off x="0" y="0"/>
            <a:ext cx="146304" cy="6858000"/>
          </a:xfrm>
          <a:prstGeom prst="rect">
            <a:avLst/>
          </a:prstGeom>
          <a:solidFill>
            <a:schemeClr val="accent2"/>
          </a:solidFill>
          <a:ln w="6350">
            <a:solidFill>
              <a:srgbClr val="00A3A3"/>
            </a:solidFill>
          </a:ln>
        </p:spPr>
        <p:txBody>
          <a:bodyPr/>
          <a:lstStyle/>
          <a:p>
            <a:endParaRPr lang="en-US"/>
          </a:p>
        </p:txBody>
      </p:sp>
      <p:sp>
        <p:nvSpPr>
          <p:cNvPr id="4" name="TextBox 4"/>
          <p:cNvSpPr txBox="1"/>
          <p:nvPr/>
        </p:nvSpPr>
        <p:spPr>
          <a:xfrm>
            <a:off x="384048" y="256032"/>
            <a:ext cx="9326880" cy="384048"/>
          </a:xfrm>
          <a:prstGeom prst="rect">
            <a:avLst/>
          </a:prstGeom>
          <a:noFill/>
          <a:ln>
            <a:noFill/>
          </a:ln>
        </p:spPr>
        <p:txBody>
          <a:bodyPr wrap="square" anchor="t"/>
          <a:lstStyle/>
          <a:p>
            <a:pPr algn="l"/>
            <a:r>
              <a:rPr lang="en-US" sz="2600" dirty="0">
                <a:solidFill>
                  <a:srgbClr val="0F172A"/>
                </a:solidFill>
                <a:latin typeface="Aptos"/>
              </a:rPr>
              <a:t>Choice Heatmap: Context Length vs Concurrency</a:t>
            </a:r>
          </a:p>
        </p:txBody>
      </p:sp>
      <p:sp>
        <p:nvSpPr>
          <p:cNvPr id="5" name="TextBox 5"/>
          <p:cNvSpPr txBox="1"/>
          <p:nvPr/>
        </p:nvSpPr>
        <p:spPr>
          <a:xfrm>
            <a:off x="402336" y="694944"/>
            <a:ext cx="9875520" cy="256032"/>
          </a:xfrm>
          <a:prstGeom prst="rect">
            <a:avLst/>
          </a:prstGeom>
          <a:noFill/>
          <a:ln>
            <a:noFill/>
          </a:ln>
        </p:spPr>
        <p:txBody>
          <a:bodyPr wrap="square" anchor="t"/>
          <a:lstStyle/>
          <a:p>
            <a:pPr algn="l"/>
            <a:r>
              <a:rPr lang="en-US" sz="1000" dirty="0">
                <a:solidFill>
                  <a:srgbClr val="475569"/>
                </a:solidFill>
                <a:latin typeface="Aptos"/>
              </a:rPr>
              <a:t>Illustrative winner map for high-reuse, large-document MoE/RAG workload. Replace with measured POC output.</a:t>
            </a:r>
          </a:p>
        </p:txBody>
      </p:sp>
      <p:sp>
        <p:nvSpPr>
          <p:cNvPr id="6" name="Shape 6"/>
          <p:cNvSpPr/>
          <p:nvPr/>
        </p:nvSpPr>
        <p:spPr>
          <a:xfrm>
            <a:off x="10515600" y="274320"/>
            <a:ext cx="1243584" cy="347472"/>
          </a:xfrm>
          <a:prstGeom prst="roundRect">
            <a:avLst/>
          </a:prstGeom>
          <a:solidFill>
            <a:srgbClr val="E0F2FE"/>
          </a:solidFill>
          <a:ln w="6350">
            <a:solidFill>
              <a:srgbClr val="7DD3FC"/>
            </a:solidFill>
          </a:ln>
        </p:spPr>
        <p:txBody>
          <a:bodyPr/>
          <a:lstStyle/>
          <a:p>
            <a:endParaRPr lang="en-US"/>
          </a:p>
        </p:txBody>
      </p:sp>
      <p:sp>
        <p:nvSpPr>
          <p:cNvPr id="7" name="TextBox 7"/>
          <p:cNvSpPr txBox="1"/>
          <p:nvPr/>
        </p:nvSpPr>
        <p:spPr>
          <a:xfrm>
            <a:off x="10607040" y="356616"/>
            <a:ext cx="1060704" cy="128016"/>
          </a:xfrm>
          <a:prstGeom prst="rect">
            <a:avLst/>
          </a:prstGeom>
          <a:noFill/>
          <a:ln>
            <a:noFill/>
          </a:ln>
        </p:spPr>
        <p:txBody>
          <a:bodyPr wrap="square" anchor="t"/>
          <a:lstStyle/>
          <a:p>
            <a:pPr algn="l"/>
            <a:r>
              <a:rPr lang="en-US" sz="800" dirty="0">
                <a:solidFill>
                  <a:srgbClr val="075985"/>
                </a:solidFill>
                <a:latin typeface="Aptos"/>
              </a:rPr>
              <a:t>v3 workload-fit</a:t>
            </a:r>
          </a:p>
        </p:txBody>
      </p:sp>
      <p:sp>
        <p:nvSpPr>
          <p:cNvPr id="8" name="TextBox 8"/>
          <p:cNvSpPr txBox="1"/>
          <p:nvPr/>
        </p:nvSpPr>
        <p:spPr>
          <a:xfrm>
            <a:off x="420624" y="6510528"/>
            <a:ext cx="7498080" cy="164592"/>
          </a:xfrm>
          <a:prstGeom prst="rect">
            <a:avLst/>
          </a:prstGeom>
          <a:noFill/>
          <a:ln>
            <a:noFill/>
          </a:ln>
        </p:spPr>
        <p:txBody>
          <a:bodyPr wrap="square" anchor="t"/>
          <a:lstStyle/>
          <a:p>
            <a:pPr algn="l"/>
            <a:r>
              <a:rPr lang="en-US" sz="700" dirty="0">
                <a:solidFill>
                  <a:srgbClr val="64748B"/>
                </a:solidFill>
                <a:latin typeface="Aptos"/>
              </a:rPr>
              <a:t>Colors show likely best-fit region, not guaranteed performance.</a:t>
            </a:r>
          </a:p>
        </p:txBody>
      </p:sp>
      <p:sp>
        <p:nvSpPr>
          <p:cNvPr id="9" name="Shape 9"/>
          <p:cNvSpPr/>
          <p:nvPr/>
        </p:nvSpPr>
        <p:spPr>
          <a:xfrm>
            <a:off x="1548713" y="5541264"/>
            <a:ext cx="164592" cy="164592"/>
          </a:xfrm>
          <a:prstGeom prst="rect">
            <a:avLst/>
          </a:prstGeom>
          <a:solidFill>
            <a:srgbClr val="2563EB"/>
          </a:solidFill>
          <a:ln w="6350">
            <a:solidFill>
              <a:srgbClr val="2563EB"/>
            </a:solidFill>
          </a:ln>
        </p:spPr>
        <p:txBody>
          <a:bodyPr/>
          <a:lstStyle/>
          <a:p>
            <a:endParaRPr lang="en-US"/>
          </a:p>
        </p:txBody>
      </p:sp>
      <p:sp>
        <p:nvSpPr>
          <p:cNvPr id="10" name="TextBox 10"/>
          <p:cNvSpPr txBox="1"/>
          <p:nvPr/>
        </p:nvSpPr>
        <p:spPr>
          <a:xfrm>
            <a:off x="1768169" y="5550408"/>
            <a:ext cx="914400" cy="118872"/>
          </a:xfrm>
          <a:prstGeom prst="rect">
            <a:avLst/>
          </a:prstGeom>
          <a:noFill/>
          <a:ln>
            <a:noFill/>
          </a:ln>
        </p:spPr>
        <p:txBody>
          <a:bodyPr wrap="square" anchor="t"/>
          <a:lstStyle/>
          <a:p>
            <a:pPr algn="l"/>
            <a:r>
              <a:rPr lang="en-US" sz="750" dirty="0">
                <a:solidFill>
                  <a:srgbClr val="334155"/>
                </a:solidFill>
                <a:latin typeface="Aptos"/>
              </a:rPr>
              <a:t>RTX/GPU</a:t>
            </a:r>
          </a:p>
        </p:txBody>
      </p:sp>
      <p:sp>
        <p:nvSpPr>
          <p:cNvPr id="11" name="Shape 11"/>
          <p:cNvSpPr/>
          <p:nvPr/>
        </p:nvSpPr>
        <p:spPr>
          <a:xfrm>
            <a:off x="2874593" y="5541264"/>
            <a:ext cx="164592" cy="164592"/>
          </a:xfrm>
          <a:prstGeom prst="rect">
            <a:avLst/>
          </a:prstGeom>
          <a:solidFill>
            <a:srgbClr val="F59E0B"/>
          </a:solidFill>
          <a:ln w="6350">
            <a:solidFill>
              <a:srgbClr val="F59E0B"/>
            </a:solidFill>
          </a:ln>
        </p:spPr>
        <p:txBody>
          <a:bodyPr/>
          <a:lstStyle/>
          <a:p>
            <a:endParaRPr lang="en-US"/>
          </a:p>
        </p:txBody>
      </p:sp>
      <p:sp>
        <p:nvSpPr>
          <p:cNvPr id="12" name="TextBox 12"/>
          <p:cNvSpPr txBox="1"/>
          <p:nvPr/>
        </p:nvSpPr>
        <p:spPr>
          <a:xfrm>
            <a:off x="3094049" y="5550408"/>
            <a:ext cx="914400" cy="118872"/>
          </a:xfrm>
          <a:prstGeom prst="rect">
            <a:avLst/>
          </a:prstGeom>
          <a:noFill/>
          <a:ln>
            <a:noFill/>
          </a:ln>
        </p:spPr>
        <p:txBody>
          <a:bodyPr wrap="square" anchor="t"/>
          <a:lstStyle/>
          <a:p>
            <a:pPr algn="l"/>
            <a:r>
              <a:rPr lang="en-US" sz="750" dirty="0">
                <a:solidFill>
                  <a:srgbClr val="334155"/>
                </a:solidFill>
                <a:latin typeface="Aptos"/>
              </a:rPr>
              <a:t>RTX+CXL</a:t>
            </a:r>
          </a:p>
        </p:txBody>
      </p:sp>
      <p:sp>
        <p:nvSpPr>
          <p:cNvPr id="13" name="Shape 13"/>
          <p:cNvSpPr/>
          <p:nvPr/>
        </p:nvSpPr>
        <p:spPr>
          <a:xfrm>
            <a:off x="4200473" y="5541264"/>
            <a:ext cx="164592" cy="164592"/>
          </a:xfrm>
          <a:prstGeom prst="rect">
            <a:avLst/>
          </a:prstGeom>
          <a:solidFill>
            <a:srgbClr val="0F766E"/>
          </a:solidFill>
          <a:ln w="6350">
            <a:solidFill>
              <a:srgbClr val="0F766E"/>
            </a:solidFill>
          </a:ln>
        </p:spPr>
        <p:txBody>
          <a:bodyPr/>
          <a:lstStyle/>
          <a:p>
            <a:endParaRPr lang="en-US"/>
          </a:p>
        </p:txBody>
      </p:sp>
      <p:sp>
        <p:nvSpPr>
          <p:cNvPr id="14" name="TextBox 14"/>
          <p:cNvSpPr txBox="1"/>
          <p:nvPr/>
        </p:nvSpPr>
        <p:spPr>
          <a:xfrm>
            <a:off x="4419929" y="5550408"/>
            <a:ext cx="914400" cy="118872"/>
          </a:xfrm>
          <a:prstGeom prst="rect">
            <a:avLst/>
          </a:prstGeom>
          <a:noFill/>
          <a:ln>
            <a:noFill/>
          </a:ln>
        </p:spPr>
        <p:txBody>
          <a:bodyPr wrap="square" anchor="t"/>
          <a:lstStyle/>
          <a:p>
            <a:pPr algn="l"/>
            <a:r>
              <a:rPr lang="en-US" sz="750" dirty="0">
                <a:solidFill>
                  <a:srgbClr val="334155"/>
                </a:solidFill>
                <a:latin typeface="Aptos"/>
              </a:rPr>
              <a:t>ATMOS/HBF</a:t>
            </a:r>
          </a:p>
        </p:txBody>
      </p:sp>
      <p:sp>
        <p:nvSpPr>
          <p:cNvPr id="15" name="Shape 15"/>
          <p:cNvSpPr/>
          <p:nvPr/>
        </p:nvSpPr>
        <p:spPr>
          <a:xfrm>
            <a:off x="5526353" y="5541264"/>
            <a:ext cx="164592" cy="164592"/>
          </a:xfrm>
          <a:prstGeom prst="rect">
            <a:avLst/>
          </a:prstGeom>
          <a:solidFill>
            <a:srgbClr val="64748B"/>
          </a:solidFill>
          <a:ln w="6350">
            <a:solidFill>
              <a:srgbClr val="64748B"/>
            </a:solidFill>
          </a:ln>
        </p:spPr>
        <p:txBody>
          <a:bodyPr/>
          <a:lstStyle/>
          <a:p>
            <a:endParaRPr lang="en-US"/>
          </a:p>
        </p:txBody>
      </p:sp>
      <p:sp>
        <p:nvSpPr>
          <p:cNvPr id="16" name="TextBox 16"/>
          <p:cNvSpPr txBox="1"/>
          <p:nvPr/>
        </p:nvSpPr>
        <p:spPr>
          <a:xfrm>
            <a:off x="5745809" y="5550408"/>
            <a:ext cx="914400" cy="118872"/>
          </a:xfrm>
          <a:prstGeom prst="rect">
            <a:avLst/>
          </a:prstGeom>
          <a:noFill/>
          <a:ln>
            <a:noFill/>
          </a:ln>
        </p:spPr>
        <p:txBody>
          <a:bodyPr wrap="square" anchor="t"/>
          <a:lstStyle/>
          <a:p>
            <a:pPr algn="l"/>
            <a:r>
              <a:rPr lang="en-US" sz="750" dirty="0">
                <a:solidFill>
                  <a:srgbClr val="334155"/>
                </a:solidFill>
                <a:latin typeface="Aptos"/>
              </a:rPr>
              <a:t>No-fit/measure</a:t>
            </a:r>
          </a:p>
        </p:txBody>
      </p:sp>
      <p:sp>
        <p:nvSpPr>
          <p:cNvPr id="17" name="TextBox 17"/>
          <p:cNvSpPr txBox="1"/>
          <p:nvPr/>
        </p:nvSpPr>
        <p:spPr>
          <a:xfrm>
            <a:off x="1417320" y="1005840"/>
            <a:ext cx="1417320" cy="137160"/>
          </a:xfrm>
          <a:prstGeom prst="rect">
            <a:avLst/>
          </a:prstGeom>
          <a:noFill/>
          <a:ln>
            <a:noFill/>
          </a:ln>
        </p:spPr>
        <p:txBody>
          <a:bodyPr wrap="square" anchor="t"/>
          <a:lstStyle/>
          <a:p>
            <a:pPr algn="l"/>
            <a:r>
              <a:rPr lang="en-US" sz="900" dirty="0">
                <a:solidFill>
                  <a:srgbClr val="334155"/>
                </a:solidFill>
                <a:latin typeface="Aptos"/>
              </a:rPr>
              <a:t>8K</a:t>
            </a:r>
          </a:p>
        </p:txBody>
      </p:sp>
      <p:sp>
        <p:nvSpPr>
          <p:cNvPr id="18" name="TextBox 18"/>
          <p:cNvSpPr txBox="1"/>
          <p:nvPr/>
        </p:nvSpPr>
        <p:spPr>
          <a:xfrm>
            <a:off x="2834640" y="1005840"/>
            <a:ext cx="1417320" cy="137160"/>
          </a:xfrm>
          <a:prstGeom prst="rect">
            <a:avLst/>
          </a:prstGeom>
          <a:noFill/>
          <a:ln>
            <a:noFill/>
          </a:ln>
        </p:spPr>
        <p:txBody>
          <a:bodyPr wrap="square" anchor="t"/>
          <a:lstStyle/>
          <a:p>
            <a:pPr algn="l"/>
            <a:r>
              <a:rPr lang="en-US" sz="900" dirty="0">
                <a:solidFill>
                  <a:srgbClr val="334155"/>
                </a:solidFill>
                <a:latin typeface="Aptos"/>
              </a:rPr>
              <a:t>16K</a:t>
            </a:r>
          </a:p>
        </p:txBody>
      </p:sp>
      <p:sp>
        <p:nvSpPr>
          <p:cNvPr id="19" name="TextBox 19"/>
          <p:cNvSpPr txBox="1"/>
          <p:nvPr/>
        </p:nvSpPr>
        <p:spPr>
          <a:xfrm>
            <a:off x="4251960" y="1005840"/>
            <a:ext cx="1417320" cy="137160"/>
          </a:xfrm>
          <a:prstGeom prst="rect">
            <a:avLst/>
          </a:prstGeom>
          <a:noFill/>
          <a:ln>
            <a:noFill/>
          </a:ln>
        </p:spPr>
        <p:txBody>
          <a:bodyPr wrap="square" anchor="t"/>
          <a:lstStyle/>
          <a:p>
            <a:pPr algn="l"/>
            <a:r>
              <a:rPr lang="en-US" sz="900" dirty="0">
                <a:solidFill>
                  <a:srgbClr val="334155"/>
                </a:solidFill>
                <a:latin typeface="Aptos"/>
              </a:rPr>
              <a:t>32K</a:t>
            </a:r>
          </a:p>
        </p:txBody>
      </p:sp>
      <p:sp>
        <p:nvSpPr>
          <p:cNvPr id="20" name="TextBox 20"/>
          <p:cNvSpPr txBox="1"/>
          <p:nvPr/>
        </p:nvSpPr>
        <p:spPr>
          <a:xfrm>
            <a:off x="5669280" y="1005840"/>
            <a:ext cx="1417320" cy="137160"/>
          </a:xfrm>
          <a:prstGeom prst="rect">
            <a:avLst/>
          </a:prstGeom>
          <a:noFill/>
          <a:ln>
            <a:noFill/>
          </a:ln>
        </p:spPr>
        <p:txBody>
          <a:bodyPr wrap="square" anchor="t"/>
          <a:lstStyle/>
          <a:p>
            <a:pPr algn="l"/>
            <a:r>
              <a:rPr lang="en-US" sz="900" dirty="0">
                <a:solidFill>
                  <a:srgbClr val="334155"/>
                </a:solidFill>
                <a:latin typeface="Aptos"/>
              </a:rPr>
              <a:t>64K</a:t>
            </a:r>
          </a:p>
        </p:txBody>
      </p:sp>
      <p:sp>
        <p:nvSpPr>
          <p:cNvPr id="21" name="TextBox 21"/>
          <p:cNvSpPr txBox="1"/>
          <p:nvPr/>
        </p:nvSpPr>
        <p:spPr>
          <a:xfrm>
            <a:off x="7086600" y="1005840"/>
            <a:ext cx="1417320" cy="137160"/>
          </a:xfrm>
          <a:prstGeom prst="rect">
            <a:avLst/>
          </a:prstGeom>
          <a:noFill/>
          <a:ln>
            <a:noFill/>
          </a:ln>
        </p:spPr>
        <p:txBody>
          <a:bodyPr wrap="square" anchor="t"/>
          <a:lstStyle/>
          <a:p>
            <a:pPr algn="l"/>
            <a:r>
              <a:rPr lang="en-US" sz="900" dirty="0">
                <a:solidFill>
                  <a:srgbClr val="334155"/>
                </a:solidFill>
                <a:latin typeface="Aptos"/>
              </a:rPr>
              <a:t>128K</a:t>
            </a:r>
          </a:p>
        </p:txBody>
      </p:sp>
      <p:sp>
        <p:nvSpPr>
          <p:cNvPr id="22" name="TextBox 22"/>
          <p:cNvSpPr txBox="1"/>
          <p:nvPr/>
        </p:nvSpPr>
        <p:spPr>
          <a:xfrm>
            <a:off x="3962401" y="850392"/>
            <a:ext cx="1828800" cy="164592"/>
          </a:xfrm>
          <a:prstGeom prst="rect">
            <a:avLst/>
          </a:prstGeom>
          <a:noFill/>
          <a:ln>
            <a:noFill/>
          </a:ln>
        </p:spPr>
        <p:txBody>
          <a:bodyPr wrap="square" anchor="t"/>
          <a:lstStyle/>
          <a:p>
            <a:pPr algn="l"/>
            <a:r>
              <a:rPr lang="en-US" sz="1000" dirty="0">
                <a:solidFill>
                  <a:srgbClr val="0F172A"/>
                </a:solidFill>
                <a:latin typeface="Aptos"/>
              </a:rPr>
              <a:t>Context length</a:t>
            </a:r>
          </a:p>
        </p:txBody>
      </p:sp>
      <p:sp>
        <p:nvSpPr>
          <p:cNvPr id="23" name="TextBox 23"/>
          <p:cNvSpPr txBox="1"/>
          <p:nvPr/>
        </p:nvSpPr>
        <p:spPr>
          <a:xfrm>
            <a:off x="118872" y="2660904"/>
            <a:ext cx="914400" cy="182880"/>
          </a:xfrm>
          <a:prstGeom prst="rect">
            <a:avLst/>
          </a:prstGeom>
          <a:noFill/>
          <a:ln>
            <a:noFill/>
          </a:ln>
        </p:spPr>
        <p:txBody>
          <a:bodyPr wrap="square" anchor="t"/>
          <a:lstStyle/>
          <a:p>
            <a:pPr algn="l"/>
            <a:r>
              <a:rPr lang="en-US" sz="1000" dirty="0">
                <a:solidFill>
                  <a:srgbClr val="0F172A"/>
                </a:solidFill>
                <a:latin typeface="Aptos"/>
              </a:rPr>
              <a:t>Concurrent jobs</a:t>
            </a:r>
          </a:p>
        </p:txBody>
      </p:sp>
      <p:sp>
        <p:nvSpPr>
          <p:cNvPr id="24" name="TextBox 24"/>
          <p:cNvSpPr txBox="1"/>
          <p:nvPr/>
        </p:nvSpPr>
        <p:spPr>
          <a:xfrm>
            <a:off x="841248" y="1581912"/>
            <a:ext cx="411480" cy="109728"/>
          </a:xfrm>
          <a:prstGeom prst="rect">
            <a:avLst/>
          </a:prstGeom>
          <a:noFill/>
          <a:ln>
            <a:noFill/>
          </a:ln>
        </p:spPr>
        <p:txBody>
          <a:bodyPr wrap="square" anchor="t"/>
          <a:lstStyle/>
          <a:p>
            <a:pPr algn="l"/>
            <a:r>
              <a:rPr lang="en-US" sz="900" dirty="0">
                <a:solidFill>
                  <a:srgbClr val="334155"/>
                </a:solidFill>
                <a:latin typeface="Aptos"/>
              </a:rPr>
              <a:t>256</a:t>
            </a:r>
          </a:p>
        </p:txBody>
      </p:sp>
      <p:sp>
        <p:nvSpPr>
          <p:cNvPr id="25" name="Shape 25"/>
          <p:cNvSpPr/>
          <p:nvPr/>
        </p:nvSpPr>
        <p:spPr>
          <a:xfrm>
            <a:off x="1417320" y="1325880"/>
            <a:ext cx="1371600" cy="667512"/>
          </a:xfrm>
          <a:prstGeom prst="rect">
            <a:avLst/>
          </a:prstGeom>
          <a:solidFill>
            <a:srgbClr val="F59E0B"/>
          </a:solidFill>
          <a:ln w="6350">
            <a:solidFill>
              <a:srgbClr val="FFFFFF"/>
            </a:solidFill>
          </a:ln>
        </p:spPr>
        <p:txBody>
          <a:bodyPr/>
          <a:lstStyle/>
          <a:p>
            <a:endParaRPr lang="en-US"/>
          </a:p>
        </p:txBody>
      </p:sp>
      <p:sp>
        <p:nvSpPr>
          <p:cNvPr id="26" name="TextBox 26"/>
          <p:cNvSpPr txBox="1"/>
          <p:nvPr/>
        </p:nvSpPr>
        <p:spPr>
          <a:xfrm>
            <a:off x="1453896" y="1581912"/>
            <a:ext cx="1298448" cy="109728"/>
          </a:xfrm>
          <a:prstGeom prst="rect">
            <a:avLst/>
          </a:prstGeom>
          <a:noFill/>
          <a:ln>
            <a:noFill/>
          </a:ln>
        </p:spPr>
        <p:txBody>
          <a:bodyPr wrap="square" anchor="t"/>
          <a:lstStyle/>
          <a:p>
            <a:pPr algn="l"/>
            <a:r>
              <a:rPr lang="en-US" sz="819" dirty="0">
                <a:solidFill>
                  <a:srgbClr val="FFFFFF"/>
                </a:solidFill>
                <a:latin typeface="Aptos"/>
              </a:rPr>
              <a:t>RTX + CXL</a:t>
            </a:r>
          </a:p>
        </p:txBody>
      </p:sp>
      <p:sp>
        <p:nvSpPr>
          <p:cNvPr id="27" name="Shape 27"/>
          <p:cNvSpPr/>
          <p:nvPr/>
        </p:nvSpPr>
        <p:spPr>
          <a:xfrm>
            <a:off x="2834640" y="1325880"/>
            <a:ext cx="1371600" cy="667512"/>
          </a:xfrm>
          <a:prstGeom prst="rect">
            <a:avLst/>
          </a:prstGeom>
          <a:solidFill>
            <a:srgbClr val="0F766E"/>
          </a:solidFill>
          <a:ln w="6350">
            <a:solidFill>
              <a:srgbClr val="FFFFFF"/>
            </a:solidFill>
          </a:ln>
        </p:spPr>
        <p:txBody>
          <a:bodyPr/>
          <a:lstStyle/>
          <a:p>
            <a:endParaRPr lang="en-US"/>
          </a:p>
        </p:txBody>
      </p:sp>
      <p:sp>
        <p:nvSpPr>
          <p:cNvPr id="28" name="TextBox 28"/>
          <p:cNvSpPr txBox="1"/>
          <p:nvPr/>
        </p:nvSpPr>
        <p:spPr>
          <a:xfrm>
            <a:off x="2871216" y="1581912"/>
            <a:ext cx="1298448" cy="109728"/>
          </a:xfrm>
          <a:prstGeom prst="rect">
            <a:avLst/>
          </a:prstGeom>
          <a:noFill/>
          <a:ln>
            <a:noFill/>
          </a:ln>
        </p:spPr>
        <p:txBody>
          <a:bodyPr wrap="square" anchor="t"/>
          <a:lstStyle/>
          <a:p>
            <a:pPr algn="l"/>
            <a:r>
              <a:rPr lang="en-US" sz="819" dirty="0">
                <a:solidFill>
                  <a:srgbClr val="FFFFFF"/>
                </a:solidFill>
                <a:latin typeface="Aptos"/>
              </a:rPr>
              <a:t>ATMOS</a:t>
            </a:r>
          </a:p>
        </p:txBody>
      </p:sp>
      <p:sp>
        <p:nvSpPr>
          <p:cNvPr id="29" name="Shape 29"/>
          <p:cNvSpPr/>
          <p:nvPr/>
        </p:nvSpPr>
        <p:spPr>
          <a:xfrm>
            <a:off x="4251960" y="1325880"/>
            <a:ext cx="1371600" cy="667512"/>
          </a:xfrm>
          <a:prstGeom prst="rect">
            <a:avLst/>
          </a:prstGeom>
          <a:solidFill>
            <a:srgbClr val="0F766E"/>
          </a:solidFill>
          <a:ln w="6350">
            <a:solidFill>
              <a:srgbClr val="FFFFFF"/>
            </a:solidFill>
          </a:ln>
        </p:spPr>
        <p:txBody>
          <a:bodyPr/>
          <a:lstStyle/>
          <a:p>
            <a:endParaRPr lang="en-US"/>
          </a:p>
        </p:txBody>
      </p:sp>
      <p:sp>
        <p:nvSpPr>
          <p:cNvPr id="30" name="TextBox 30"/>
          <p:cNvSpPr txBox="1"/>
          <p:nvPr/>
        </p:nvSpPr>
        <p:spPr>
          <a:xfrm>
            <a:off x="4288536" y="1581912"/>
            <a:ext cx="1298448" cy="109728"/>
          </a:xfrm>
          <a:prstGeom prst="rect">
            <a:avLst/>
          </a:prstGeom>
          <a:noFill/>
          <a:ln>
            <a:noFill/>
          </a:ln>
        </p:spPr>
        <p:txBody>
          <a:bodyPr wrap="square" anchor="t"/>
          <a:lstStyle/>
          <a:p>
            <a:pPr algn="l"/>
            <a:r>
              <a:rPr lang="en-US" sz="819" dirty="0">
                <a:solidFill>
                  <a:srgbClr val="FFFFFF"/>
                </a:solidFill>
                <a:latin typeface="Aptos"/>
              </a:rPr>
              <a:t>ATMOS</a:t>
            </a:r>
          </a:p>
        </p:txBody>
      </p:sp>
      <p:sp>
        <p:nvSpPr>
          <p:cNvPr id="31" name="Shape 31"/>
          <p:cNvSpPr/>
          <p:nvPr/>
        </p:nvSpPr>
        <p:spPr>
          <a:xfrm>
            <a:off x="5669280" y="1325880"/>
            <a:ext cx="1371600" cy="667512"/>
          </a:xfrm>
          <a:prstGeom prst="rect">
            <a:avLst/>
          </a:prstGeom>
          <a:solidFill>
            <a:srgbClr val="0F766E"/>
          </a:solidFill>
          <a:ln w="6350">
            <a:solidFill>
              <a:srgbClr val="FFFFFF"/>
            </a:solidFill>
          </a:ln>
        </p:spPr>
        <p:txBody>
          <a:bodyPr/>
          <a:lstStyle/>
          <a:p>
            <a:endParaRPr lang="en-US"/>
          </a:p>
        </p:txBody>
      </p:sp>
      <p:sp>
        <p:nvSpPr>
          <p:cNvPr id="32" name="TextBox 32"/>
          <p:cNvSpPr txBox="1"/>
          <p:nvPr/>
        </p:nvSpPr>
        <p:spPr>
          <a:xfrm>
            <a:off x="5705856" y="1581912"/>
            <a:ext cx="1298448" cy="109728"/>
          </a:xfrm>
          <a:prstGeom prst="rect">
            <a:avLst/>
          </a:prstGeom>
          <a:noFill/>
          <a:ln>
            <a:noFill/>
          </a:ln>
        </p:spPr>
        <p:txBody>
          <a:bodyPr wrap="square" anchor="t"/>
          <a:lstStyle/>
          <a:p>
            <a:pPr algn="l"/>
            <a:r>
              <a:rPr lang="en-US" sz="819" dirty="0">
                <a:solidFill>
                  <a:srgbClr val="FFFFFF"/>
                </a:solidFill>
                <a:latin typeface="Aptos"/>
              </a:rPr>
              <a:t>ATMOS</a:t>
            </a:r>
          </a:p>
        </p:txBody>
      </p:sp>
      <p:sp>
        <p:nvSpPr>
          <p:cNvPr id="34" name="TextBox 34"/>
          <p:cNvSpPr txBox="1"/>
          <p:nvPr/>
        </p:nvSpPr>
        <p:spPr>
          <a:xfrm>
            <a:off x="7123176" y="1581912"/>
            <a:ext cx="1298448" cy="109728"/>
          </a:xfrm>
          <a:prstGeom prst="rect">
            <a:avLst/>
          </a:prstGeom>
          <a:noFill/>
          <a:ln>
            <a:noFill/>
          </a:ln>
        </p:spPr>
        <p:txBody>
          <a:bodyPr wrap="square" anchor="t"/>
          <a:lstStyle/>
          <a:p>
            <a:pPr algn="l"/>
            <a:r>
              <a:rPr lang="en-US" sz="819" dirty="0">
                <a:solidFill>
                  <a:srgbClr val="FFFFFF"/>
                </a:solidFill>
                <a:latin typeface="Aptos"/>
              </a:rPr>
              <a:t>NO-FIT?</a:t>
            </a:r>
          </a:p>
        </p:txBody>
      </p:sp>
      <p:sp>
        <p:nvSpPr>
          <p:cNvPr id="35" name="TextBox 35"/>
          <p:cNvSpPr txBox="1"/>
          <p:nvPr/>
        </p:nvSpPr>
        <p:spPr>
          <a:xfrm>
            <a:off x="841248" y="2295144"/>
            <a:ext cx="411480" cy="109728"/>
          </a:xfrm>
          <a:prstGeom prst="rect">
            <a:avLst/>
          </a:prstGeom>
          <a:noFill/>
          <a:ln>
            <a:noFill/>
          </a:ln>
        </p:spPr>
        <p:txBody>
          <a:bodyPr wrap="square" anchor="t"/>
          <a:lstStyle/>
          <a:p>
            <a:pPr algn="l"/>
            <a:r>
              <a:rPr lang="en-US" sz="900" dirty="0">
                <a:solidFill>
                  <a:srgbClr val="334155"/>
                </a:solidFill>
                <a:latin typeface="Aptos"/>
              </a:rPr>
              <a:t>128</a:t>
            </a:r>
          </a:p>
        </p:txBody>
      </p:sp>
      <p:sp>
        <p:nvSpPr>
          <p:cNvPr id="36" name="Shape 36"/>
          <p:cNvSpPr/>
          <p:nvPr/>
        </p:nvSpPr>
        <p:spPr>
          <a:xfrm>
            <a:off x="1417320" y="2039112"/>
            <a:ext cx="1371600" cy="667512"/>
          </a:xfrm>
          <a:prstGeom prst="rect">
            <a:avLst/>
          </a:prstGeom>
          <a:solidFill>
            <a:srgbClr val="2563EB"/>
          </a:solidFill>
          <a:ln w="6350">
            <a:solidFill>
              <a:srgbClr val="FFFFFF"/>
            </a:solidFill>
          </a:ln>
        </p:spPr>
        <p:txBody>
          <a:bodyPr/>
          <a:lstStyle/>
          <a:p>
            <a:endParaRPr lang="en-US"/>
          </a:p>
        </p:txBody>
      </p:sp>
      <p:sp>
        <p:nvSpPr>
          <p:cNvPr id="37" name="TextBox 37"/>
          <p:cNvSpPr txBox="1"/>
          <p:nvPr/>
        </p:nvSpPr>
        <p:spPr>
          <a:xfrm>
            <a:off x="1453896" y="2295144"/>
            <a:ext cx="1298448" cy="109728"/>
          </a:xfrm>
          <a:prstGeom prst="rect">
            <a:avLst/>
          </a:prstGeom>
          <a:noFill/>
          <a:ln>
            <a:noFill/>
          </a:ln>
        </p:spPr>
        <p:txBody>
          <a:bodyPr wrap="square" anchor="t"/>
          <a:lstStyle/>
          <a:p>
            <a:pPr algn="l"/>
            <a:r>
              <a:rPr lang="en-US" sz="819" dirty="0">
                <a:solidFill>
                  <a:srgbClr val="FFFFFF"/>
                </a:solidFill>
                <a:latin typeface="Aptos"/>
              </a:rPr>
              <a:t>RTX</a:t>
            </a:r>
          </a:p>
        </p:txBody>
      </p:sp>
      <p:sp>
        <p:nvSpPr>
          <p:cNvPr id="38" name="Shape 38"/>
          <p:cNvSpPr/>
          <p:nvPr/>
        </p:nvSpPr>
        <p:spPr>
          <a:xfrm>
            <a:off x="2834640" y="2039112"/>
            <a:ext cx="1371600" cy="667512"/>
          </a:xfrm>
          <a:prstGeom prst="rect">
            <a:avLst/>
          </a:prstGeom>
          <a:solidFill>
            <a:srgbClr val="F59E0B"/>
          </a:solidFill>
          <a:ln w="6350">
            <a:solidFill>
              <a:srgbClr val="FFFFFF"/>
            </a:solidFill>
          </a:ln>
        </p:spPr>
        <p:txBody>
          <a:bodyPr/>
          <a:lstStyle/>
          <a:p>
            <a:endParaRPr lang="en-US"/>
          </a:p>
        </p:txBody>
      </p:sp>
      <p:sp>
        <p:nvSpPr>
          <p:cNvPr id="40" name="Shape 40"/>
          <p:cNvSpPr/>
          <p:nvPr/>
        </p:nvSpPr>
        <p:spPr>
          <a:xfrm>
            <a:off x="4251960" y="2039112"/>
            <a:ext cx="1371600" cy="667512"/>
          </a:xfrm>
          <a:prstGeom prst="rect">
            <a:avLst/>
          </a:prstGeom>
          <a:solidFill>
            <a:srgbClr val="0F766E"/>
          </a:solidFill>
          <a:ln w="6350">
            <a:solidFill>
              <a:srgbClr val="FFFFFF"/>
            </a:solidFill>
          </a:ln>
        </p:spPr>
        <p:txBody>
          <a:bodyPr/>
          <a:lstStyle/>
          <a:p>
            <a:endParaRPr lang="en-US"/>
          </a:p>
        </p:txBody>
      </p:sp>
      <p:sp>
        <p:nvSpPr>
          <p:cNvPr id="41" name="TextBox 41"/>
          <p:cNvSpPr txBox="1"/>
          <p:nvPr/>
        </p:nvSpPr>
        <p:spPr>
          <a:xfrm>
            <a:off x="4288536" y="2295144"/>
            <a:ext cx="1298448" cy="109728"/>
          </a:xfrm>
          <a:prstGeom prst="rect">
            <a:avLst/>
          </a:prstGeom>
          <a:noFill/>
          <a:ln>
            <a:noFill/>
          </a:ln>
        </p:spPr>
        <p:txBody>
          <a:bodyPr wrap="square" anchor="t"/>
          <a:lstStyle/>
          <a:p>
            <a:pPr algn="l"/>
            <a:r>
              <a:rPr lang="en-US" sz="819" dirty="0">
                <a:solidFill>
                  <a:srgbClr val="FFFFFF"/>
                </a:solidFill>
                <a:latin typeface="Aptos"/>
              </a:rPr>
              <a:t>ATMOS</a:t>
            </a:r>
          </a:p>
        </p:txBody>
      </p:sp>
      <p:sp>
        <p:nvSpPr>
          <p:cNvPr id="42" name="Shape 42"/>
          <p:cNvSpPr/>
          <p:nvPr/>
        </p:nvSpPr>
        <p:spPr>
          <a:xfrm>
            <a:off x="5669280" y="2039112"/>
            <a:ext cx="1371600" cy="667512"/>
          </a:xfrm>
          <a:prstGeom prst="rect">
            <a:avLst/>
          </a:prstGeom>
          <a:solidFill>
            <a:srgbClr val="0F766E"/>
          </a:solidFill>
          <a:ln w="6350">
            <a:solidFill>
              <a:srgbClr val="FFFFFF"/>
            </a:solidFill>
          </a:ln>
        </p:spPr>
        <p:txBody>
          <a:bodyPr/>
          <a:lstStyle/>
          <a:p>
            <a:endParaRPr lang="en-US"/>
          </a:p>
        </p:txBody>
      </p:sp>
      <p:sp>
        <p:nvSpPr>
          <p:cNvPr id="43" name="TextBox 43"/>
          <p:cNvSpPr txBox="1"/>
          <p:nvPr/>
        </p:nvSpPr>
        <p:spPr>
          <a:xfrm>
            <a:off x="5705856" y="2295144"/>
            <a:ext cx="1298448" cy="109728"/>
          </a:xfrm>
          <a:prstGeom prst="rect">
            <a:avLst/>
          </a:prstGeom>
          <a:noFill/>
          <a:ln>
            <a:noFill/>
          </a:ln>
        </p:spPr>
        <p:txBody>
          <a:bodyPr wrap="square" anchor="t"/>
          <a:lstStyle/>
          <a:p>
            <a:pPr algn="l"/>
            <a:r>
              <a:rPr lang="en-US" sz="819" dirty="0">
                <a:solidFill>
                  <a:srgbClr val="FFFFFF"/>
                </a:solidFill>
                <a:latin typeface="Aptos"/>
              </a:rPr>
              <a:t>ATMOS</a:t>
            </a:r>
          </a:p>
        </p:txBody>
      </p:sp>
      <p:sp>
        <p:nvSpPr>
          <p:cNvPr id="44" name="Shape 44"/>
          <p:cNvSpPr/>
          <p:nvPr/>
        </p:nvSpPr>
        <p:spPr>
          <a:xfrm>
            <a:off x="7086600" y="2039112"/>
            <a:ext cx="1371600" cy="667512"/>
          </a:xfrm>
          <a:prstGeom prst="rect">
            <a:avLst/>
          </a:prstGeom>
          <a:solidFill>
            <a:srgbClr val="0F766E"/>
          </a:solidFill>
          <a:ln w="6350">
            <a:solidFill>
              <a:srgbClr val="FFFFFF"/>
            </a:solidFill>
          </a:ln>
        </p:spPr>
        <p:txBody>
          <a:bodyPr/>
          <a:lstStyle/>
          <a:p>
            <a:endParaRPr lang="en-US"/>
          </a:p>
        </p:txBody>
      </p:sp>
      <p:sp>
        <p:nvSpPr>
          <p:cNvPr id="45" name="TextBox 45"/>
          <p:cNvSpPr txBox="1"/>
          <p:nvPr/>
        </p:nvSpPr>
        <p:spPr>
          <a:xfrm>
            <a:off x="7123176" y="2295144"/>
            <a:ext cx="1298448" cy="109728"/>
          </a:xfrm>
          <a:prstGeom prst="rect">
            <a:avLst/>
          </a:prstGeom>
          <a:noFill/>
          <a:ln>
            <a:noFill/>
          </a:ln>
        </p:spPr>
        <p:txBody>
          <a:bodyPr wrap="square" anchor="t"/>
          <a:lstStyle/>
          <a:p>
            <a:pPr algn="l"/>
            <a:r>
              <a:rPr lang="en-US" sz="819" dirty="0">
                <a:solidFill>
                  <a:srgbClr val="FFFFFF"/>
                </a:solidFill>
                <a:latin typeface="Aptos"/>
              </a:rPr>
              <a:t>ATMOS</a:t>
            </a:r>
          </a:p>
        </p:txBody>
      </p:sp>
      <p:sp>
        <p:nvSpPr>
          <p:cNvPr id="46" name="TextBox 46"/>
          <p:cNvSpPr txBox="1"/>
          <p:nvPr/>
        </p:nvSpPr>
        <p:spPr>
          <a:xfrm>
            <a:off x="841248" y="3008376"/>
            <a:ext cx="411480" cy="109728"/>
          </a:xfrm>
          <a:prstGeom prst="rect">
            <a:avLst/>
          </a:prstGeom>
          <a:noFill/>
          <a:ln>
            <a:noFill/>
          </a:ln>
        </p:spPr>
        <p:txBody>
          <a:bodyPr wrap="square" anchor="t"/>
          <a:lstStyle/>
          <a:p>
            <a:pPr algn="l"/>
            <a:r>
              <a:rPr lang="en-US" sz="900" dirty="0">
                <a:solidFill>
                  <a:srgbClr val="334155"/>
                </a:solidFill>
                <a:latin typeface="Aptos"/>
              </a:rPr>
              <a:t>64</a:t>
            </a:r>
          </a:p>
        </p:txBody>
      </p:sp>
      <p:sp>
        <p:nvSpPr>
          <p:cNvPr id="47" name="Shape 47"/>
          <p:cNvSpPr/>
          <p:nvPr/>
        </p:nvSpPr>
        <p:spPr>
          <a:xfrm>
            <a:off x="1417320" y="2752344"/>
            <a:ext cx="1371600" cy="667512"/>
          </a:xfrm>
          <a:prstGeom prst="rect">
            <a:avLst/>
          </a:prstGeom>
          <a:solidFill>
            <a:srgbClr val="2563EB"/>
          </a:solidFill>
          <a:ln w="6350">
            <a:solidFill>
              <a:srgbClr val="FFFFFF"/>
            </a:solidFill>
          </a:ln>
        </p:spPr>
        <p:txBody>
          <a:bodyPr/>
          <a:lstStyle/>
          <a:p>
            <a:endParaRPr lang="en-US"/>
          </a:p>
        </p:txBody>
      </p:sp>
      <p:sp>
        <p:nvSpPr>
          <p:cNvPr id="48" name="TextBox 48"/>
          <p:cNvSpPr txBox="1"/>
          <p:nvPr/>
        </p:nvSpPr>
        <p:spPr>
          <a:xfrm>
            <a:off x="1453896" y="3008376"/>
            <a:ext cx="1298448" cy="109728"/>
          </a:xfrm>
          <a:prstGeom prst="rect">
            <a:avLst/>
          </a:prstGeom>
          <a:noFill/>
          <a:ln>
            <a:noFill/>
          </a:ln>
        </p:spPr>
        <p:txBody>
          <a:bodyPr wrap="square" anchor="t"/>
          <a:lstStyle/>
          <a:p>
            <a:pPr algn="l"/>
            <a:r>
              <a:rPr lang="en-US" sz="819" dirty="0">
                <a:solidFill>
                  <a:srgbClr val="FFFFFF"/>
                </a:solidFill>
                <a:latin typeface="Aptos"/>
              </a:rPr>
              <a:t>RTX</a:t>
            </a:r>
          </a:p>
        </p:txBody>
      </p:sp>
      <p:sp>
        <p:nvSpPr>
          <p:cNvPr id="49" name="Shape 49"/>
          <p:cNvSpPr/>
          <p:nvPr/>
        </p:nvSpPr>
        <p:spPr>
          <a:xfrm>
            <a:off x="2834640" y="2752344"/>
            <a:ext cx="1371600" cy="667512"/>
          </a:xfrm>
          <a:prstGeom prst="rect">
            <a:avLst/>
          </a:prstGeom>
          <a:solidFill>
            <a:srgbClr val="F59E0B"/>
          </a:solidFill>
          <a:ln w="6350">
            <a:solidFill>
              <a:srgbClr val="FFFFFF"/>
            </a:solidFill>
          </a:ln>
        </p:spPr>
        <p:txBody>
          <a:bodyPr/>
          <a:lstStyle/>
          <a:p>
            <a:endParaRPr lang="en-US" dirty="0"/>
          </a:p>
        </p:txBody>
      </p:sp>
      <p:sp>
        <p:nvSpPr>
          <p:cNvPr id="50" name="TextBox 50"/>
          <p:cNvSpPr txBox="1"/>
          <p:nvPr/>
        </p:nvSpPr>
        <p:spPr>
          <a:xfrm>
            <a:off x="2871216" y="3008376"/>
            <a:ext cx="1298448" cy="109728"/>
          </a:xfrm>
          <a:prstGeom prst="rect">
            <a:avLst/>
          </a:prstGeom>
          <a:noFill/>
          <a:ln>
            <a:noFill/>
          </a:ln>
        </p:spPr>
        <p:txBody>
          <a:bodyPr wrap="square" anchor="t"/>
          <a:lstStyle/>
          <a:p>
            <a:r>
              <a:rPr lang="en-US" sz="819" dirty="0">
                <a:solidFill>
                  <a:srgbClr val="FFFFFF"/>
                </a:solidFill>
                <a:latin typeface="Aptos"/>
              </a:rPr>
              <a:t>RTX + CXL</a:t>
            </a:r>
          </a:p>
          <a:p>
            <a:pPr algn="l"/>
            <a:endParaRPr lang="en-US" sz="819" dirty="0">
              <a:solidFill>
                <a:srgbClr val="FFFFFF"/>
              </a:solidFill>
              <a:latin typeface="Aptos"/>
            </a:endParaRPr>
          </a:p>
        </p:txBody>
      </p:sp>
      <p:sp>
        <p:nvSpPr>
          <p:cNvPr id="51" name="Shape 51"/>
          <p:cNvSpPr/>
          <p:nvPr/>
        </p:nvSpPr>
        <p:spPr>
          <a:xfrm>
            <a:off x="4251960" y="2752344"/>
            <a:ext cx="1371600" cy="667512"/>
          </a:xfrm>
          <a:prstGeom prst="rect">
            <a:avLst/>
          </a:prstGeom>
          <a:solidFill>
            <a:srgbClr val="F59E0B"/>
          </a:solidFill>
          <a:ln w="6350">
            <a:solidFill>
              <a:srgbClr val="FFFFFF"/>
            </a:solidFill>
          </a:ln>
        </p:spPr>
        <p:txBody>
          <a:bodyPr/>
          <a:lstStyle/>
          <a:p>
            <a:endParaRPr lang="en-US"/>
          </a:p>
        </p:txBody>
      </p:sp>
      <p:sp>
        <p:nvSpPr>
          <p:cNvPr id="52" name="TextBox 52"/>
          <p:cNvSpPr txBox="1"/>
          <p:nvPr/>
        </p:nvSpPr>
        <p:spPr>
          <a:xfrm>
            <a:off x="4288536" y="3008376"/>
            <a:ext cx="1298448" cy="109728"/>
          </a:xfrm>
          <a:prstGeom prst="rect">
            <a:avLst/>
          </a:prstGeom>
          <a:noFill/>
          <a:ln>
            <a:noFill/>
          </a:ln>
        </p:spPr>
        <p:txBody>
          <a:bodyPr wrap="square" anchor="t"/>
          <a:lstStyle/>
          <a:p>
            <a:r>
              <a:rPr lang="en-US" sz="819" dirty="0">
                <a:solidFill>
                  <a:srgbClr val="FFFFFF"/>
                </a:solidFill>
                <a:latin typeface="Aptos"/>
              </a:rPr>
              <a:t>RTX + CXL</a:t>
            </a:r>
          </a:p>
        </p:txBody>
      </p:sp>
      <p:sp>
        <p:nvSpPr>
          <p:cNvPr id="53" name="Shape 53"/>
          <p:cNvSpPr/>
          <p:nvPr/>
        </p:nvSpPr>
        <p:spPr>
          <a:xfrm>
            <a:off x="5669280" y="2752344"/>
            <a:ext cx="1371600" cy="667512"/>
          </a:xfrm>
          <a:prstGeom prst="rect">
            <a:avLst/>
          </a:prstGeom>
          <a:solidFill>
            <a:srgbClr val="0F766E"/>
          </a:solidFill>
          <a:ln w="6350">
            <a:solidFill>
              <a:srgbClr val="FFFFFF"/>
            </a:solidFill>
          </a:ln>
        </p:spPr>
        <p:txBody>
          <a:bodyPr/>
          <a:lstStyle/>
          <a:p>
            <a:endParaRPr lang="en-US"/>
          </a:p>
        </p:txBody>
      </p:sp>
      <p:sp>
        <p:nvSpPr>
          <p:cNvPr id="54" name="TextBox 54"/>
          <p:cNvSpPr txBox="1"/>
          <p:nvPr/>
        </p:nvSpPr>
        <p:spPr>
          <a:xfrm>
            <a:off x="5705856" y="3008376"/>
            <a:ext cx="1298448" cy="109728"/>
          </a:xfrm>
          <a:prstGeom prst="rect">
            <a:avLst/>
          </a:prstGeom>
          <a:noFill/>
          <a:ln>
            <a:noFill/>
          </a:ln>
        </p:spPr>
        <p:txBody>
          <a:bodyPr wrap="square" anchor="t"/>
          <a:lstStyle/>
          <a:p>
            <a:pPr algn="l"/>
            <a:r>
              <a:rPr lang="en-US" sz="819" dirty="0">
                <a:solidFill>
                  <a:srgbClr val="FFFFFF"/>
                </a:solidFill>
                <a:latin typeface="Aptos"/>
              </a:rPr>
              <a:t>ATMOS</a:t>
            </a:r>
          </a:p>
        </p:txBody>
      </p:sp>
      <p:sp>
        <p:nvSpPr>
          <p:cNvPr id="55" name="Shape 55"/>
          <p:cNvSpPr/>
          <p:nvPr/>
        </p:nvSpPr>
        <p:spPr>
          <a:xfrm>
            <a:off x="7086600" y="2752344"/>
            <a:ext cx="1371600" cy="667512"/>
          </a:xfrm>
          <a:prstGeom prst="rect">
            <a:avLst/>
          </a:prstGeom>
          <a:solidFill>
            <a:srgbClr val="0F766E"/>
          </a:solidFill>
          <a:ln w="6350">
            <a:solidFill>
              <a:srgbClr val="FFFFFF"/>
            </a:solidFill>
          </a:ln>
        </p:spPr>
        <p:txBody>
          <a:bodyPr/>
          <a:lstStyle/>
          <a:p>
            <a:endParaRPr lang="en-US"/>
          </a:p>
        </p:txBody>
      </p:sp>
      <p:sp>
        <p:nvSpPr>
          <p:cNvPr id="56" name="TextBox 56"/>
          <p:cNvSpPr txBox="1"/>
          <p:nvPr/>
        </p:nvSpPr>
        <p:spPr>
          <a:xfrm>
            <a:off x="7123176" y="3008376"/>
            <a:ext cx="1298448" cy="109728"/>
          </a:xfrm>
          <a:prstGeom prst="rect">
            <a:avLst/>
          </a:prstGeom>
          <a:noFill/>
          <a:ln>
            <a:noFill/>
          </a:ln>
        </p:spPr>
        <p:txBody>
          <a:bodyPr wrap="square" anchor="t"/>
          <a:lstStyle/>
          <a:p>
            <a:pPr algn="l"/>
            <a:r>
              <a:rPr lang="en-US" sz="819" dirty="0">
                <a:solidFill>
                  <a:srgbClr val="FFFFFF"/>
                </a:solidFill>
                <a:latin typeface="Aptos"/>
              </a:rPr>
              <a:t>ATMOS</a:t>
            </a:r>
          </a:p>
        </p:txBody>
      </p:sp>
      <p:sp>
        <p:nvSpPr>
          <p:cNvPr id="57" name="TextBox 57"/>
          <p:cNvSpPr txBox="1"/>
          <p:nvPr/>
        </p:nvSpPr>
        <p:spPr>
          <a:xfrm>
            <a:off x="841248" y="3721608"/>
            <a:ext cx="411480" cy="109728"/>
          </a:xfrm>
          <a:prstGeom prst="rect">
            <a:avLst/>
          </a:prstGeom>
          <a:noFill/>
          <a:ln>
            <a:noFill/>
          </a:ln>
        </p:spPr>
        <p:txBody>
          <a:bodyPr wrap="square" anchor="t"/>
          <a:lstStyle/>
          <a:p>
            <a:pPr algn="l"/>
            <a:r>
              <a:rPr lang="en-US" sz="900" dirty="0">
                <a:solidFill>
                  <a:srgbClr val="334155"/>
                </a:solidFill>
                <a:latin typeface="Aptos"/>
              </a:rPr>
              <a:t>32</a:t>
            </a:r>
          </a:p>
        </p:txBody>
      </p:sp>
      <p:sp>
        <p:nvSpPr>
          <p:cNvPr id="58" name="Shape 58"/>
          <p:cNvSpPr/>
          <p:nvPr/>
        </p:nvSpPr>
        <p:spPr>
          <a:xfrm>
            <a:off x="1417320" y="3465576"/>
            <a:ext cx="1371600" cy="667512"/>
          </a:xfrm>
          <a:prstGeom prst="rect">
            <a:avLst/>
          </a:prstGeom>
          <a:solidFill>
            <a:srgbClr val="2563EB"/>
          </a:solidFill>
          <a:ln w="6350">
            <a:solidFill>
              <a:srgbClr val="FFFFFF"/>
            </a:solidFill>
          </a:ln>
        </p:spPr>
        <p:txBody>
          <a:bodyPr/>
          <a:lstStyle/>
          <a:p>
            <a:endParaRPr lang="en-US"/>
          </a:p>
        </p:txBody>
      </p:sp>
      <p:sp>
        <p:nvSpPr>
          <p:cNvPr id="59" name="TextBox 59"/>
          <p:cNvSpPr txBox="1"/>
          <p:nvPr/>
        </p:nvSpPr>
        <p:spPr>
          <a:xfrm>
            <a:off x="1453896" y="3721608"/>
            <a:ext cx="1298448" cy="109728"/>
          </a:xfrm>
          <a:prstGeom prst="rect">
            <a:avLst/>
          </a:prstGeom>
          <a:noFill/>
          <a:ln>
            <a:noFill/>
          </a:ln>
        </p:spPr>
        <p:txBody>
          <a:bodyPr wrap="square" anchor="t"/>
          <a:lstStyle/>
          <a:p>
            <a:pPr algn="l"/>
            <a:r>
              <a:rPr lang="en-US" sz="819" dirty="0">
                <a:solidFill>
                  <a:srgbClr val="FFFFFF"/>
                </a:solidFill>
                <a:latin typeface="Aptos"/>
              </a:rPr>
              <a:t>RTX</a:t>
            </a:r>
          </a:p>
        </p:txBody>
      </p:sp>
      <p:sp>
        <p:nvSpPr>
          <p:cNvPr id="60" name="Shape 60"/>
          <p:cNvSpPr/>
          <p:nvPr/>
        </p:nvSpPr>
        <p:spPr>
          <a:xfrm>
            <a:off x="2834640" y="3465576"/>
            <a:ext cx="1371600" cy="667512"/>
          </a:xfrm>
          <a:prstGeom prst="rect">
            <a:avLst/>
          </a:prstGeom>
          <a:solidFill>
            <a:srgbClr val="2563EB"/>
          </a:solidFill>
          <a:ln w="6350">
            <a:solidFill>
              <a:srgbClr val="FFFFFF"/>
            </a:solidFill>
          </a:ln>
        </p:spPr>
        <p:txBody>
          <a:bodyPr/>
          <a:lstStyle/>
          <a:p>
            <a:endParaRPr lang="en-US"/>
          </a:p>
        </p:txBody>
      </p:sp>
      <p:sp>
        <p:nvSpPr>
          <p:cNvPr id="61" name="TextBox 61"/>
          <p:cNvSpPr txBox="1"/>
          <p:nvPr/>
        </p:nvSpPr>
        <p:spPr>
          <a:xfrm>
            <a:off x="2871216" y="3721608"/>
            <a:ext cx="1298448" cy="109728"/>
          </a:xfrm>
          <a:prstGeom prst="rect">
            <a:avLst/>
          </a:prstGeom>
          <a:noFill/>
          <a:ln>
            <a:noFill/>
          </a:ln>
        </p:spPr>
        <p:txBody>
          <a:bodyPr wrap="square" anchor="t"/>
          <a:lstStyle/>
          <a:p>
            <a:pPr algn="l"/>
            <a:r>
              <a:rPr lang="en-US" sz="819" dirty="0">
                <a:solidFill>
                  <a:srgbClr val="FFFFFF"/>
                </a:solidFill>
                <a:latin typeface="Aptos"/>
              </a:rPr>
              <a:t>RTX</a:t>
            </a:r>
          </a:p>
        </p:txBody>
      </p:sp>
      <p:sp>
        <p:nvSpPr>
          <p:cNvPr id="62" name="Shape 62"/>
          <p:cNvSpPr/>
          <p:nvPr/>
        </p:nvSpPr>
        <p:spPr>
          <a:xfrm>
            <a:off x="4251960" y="3465576"/>
            <a:ext cx="1371600" cy="667512"/>
          </a:xfrm>
          <a:prstGeom prst="rect">
            <a:avLst/>
          </a:prstGeom>
          <a:solidFill>
            <a:srgbClr val="F59E0B"/>
          </a:solidFill>
          <a:ln w="6350">
            <a:solidFill>
              <a:srgbClr val="FFFFFF"/>
            </a:solidFill>
          </a:ln>
        </p:spPr>
        <p:txBody>
          <a:bodyPr/>
          <a:lstStyle/>
          <a:p>
            <a:endParaRPr lang="en-US" dirty="0"/>
          </a:p>
        </p:txBody>
      </p:sp>
      <p:sp>
        <p:nvSpPr>
          <p:cNvPr id="63" name="TextBox 63"/>
          <p:cNvSpPr txBox="1"/>
          <p:nvPr/>
        </p:nvSpPr>
        <p:spPr>
          <a:xfrm>
            <a:off x="4288536" y="3721608"/>
            <a:ext cx="1298448" cy="109728"/>
          </a:xfrm>
          <a:prstGeom prst="rect">
            <a:avLst/>
          </a:prstGeom>
          <a:noFill/>
          <a:ln>
            <a:noFill/>
          </a:ln>
        </p:spPr>
        <p:txBody>
          <a:bodyPr wrap="square" anchor="t"/>
          <a:lstStyle/>
          <a:p>
            <a:r>
              <a:rPr lang="en-US" sz="819" dirty="0">
                <a:solidFill>
                  <a:srgbClr val="FFFFFF"/>
                </a:solidFill>
                <a:latin typeface="Aptos"/>
              </a:rPr>
              <a:t>RTX + CXL</a:t>
            </a:r>
          </a:p>
          <a:p>
            <a:pPr algn="l"/>
            <a:endParaRPr lang="en-US" sz="819" dirty="0">
              <a:solidFill>
                <a:srgbClr val="FFFFFF"/>
              </a:solidFill>
              <a:latin typeface="Aptos"/>
            </a:endParaRPr>
          </a:p>
        </p:txBody>
      </p:sp>
      <p:sp>
        <p:nvSpPr>
          <p:cNvPr id="64" name="Shape 64"/>
          <p:cNvSpPr/>
          <p:nvPr/>
        </p:nvSpPr>
        <p:spPr>
          <a:xfrm>
            <a:off x="5669280" y="3465576"/>
            <a:ext cx="1371600" cy="667512"/>
          </a:xfrm>
          <a:prstGeom prst="rect">
            <a:avLst/>
          </a:prstGeom>
          <a:solidFill>
            <a:srgbClr val="0F766E"/>
          </a:solidFill>
          <a:ln w="6350">
            <a:solidFill>
              <a:srgbClr val="FFFFFF"/>
            </a:solidFill>
          </a:ln>
        </p:spPr>
        <p:txBody>
          <a:bodyPr/>
          <a:lstStyle/>
          <a:p>
            <a:endParaRPr lang="en-US"/>
          </a:p>
        </p:txBody>
      </p:sp>
      <p:sp>
        <p:nvSpPr>
          <p:cNvPr id="65" name="TextBox 65"/>
          <p:cNvSpPr txBox="1"/>
          <p:nvPr/>
        </p:nvSpPr>
        <p:spPr>
          <a:xfrm>
            <a:off x="5705856" y="3721608"/>
            <a:ext cx="1298448" cy="109728"/>
          </a:xfrm>
          <a:prstGeom prst="rect">
            <a:avLst/>
          </a:prstGeom>
          <a:noFill/>
          <a:ln>
            <a:noFill/>
          </a:ln>
        </p:spPr>
        <p:txBody>
          <a:bodyPr wrap="square" anchor="t"/>
          <a:lstStyle/>
          <a:p>
            <a:pPr algn="l"/>
            <a:r>
              <a:rPr lang="en-US" sz="819" dirty="0">
                <a:solidFill>
                  <a:srgbClr val="FFFFFF"/>
                </a:solidFill>
                <a:latin typeface="Aptos"/>
              </a:rPr>
              <a:t>ATMOS</a:t>
            </a:r>
          </a:p>
        </p:txBody>
      </p:sp>
      <p:sp>
        <p:nvSpPr>
          <p:cNvPr id="66" name="Shape 66"/>
          <p:cNvSpPr/>
          <p:nvPr/>
        </p:nvSpPr>
        <p:spPr>
          <a:xfrm>
            <a:off x="7086600" y="3465576"/>
            <a:ext cx="1371600" cy="667512"/>
          </a:xfrm>
          <a:prstGeom prst="rect">
            <a:avLst/>
          </a:prstGeom>
          <a:solidFill>
            <a:srgbClr val="0F766E"/>
          </a:solidFill>
          <a:ln w="6350">
            <a:solidFill>
              <a:srgbClr val="FFFFFF"/>
            </a:solidFill>
          </a:ln>
        </p:spPr>
        <p:txBody>
          <a:bodyPr/>
          <a:lstStyle/>
          <a:p>
            <a:endParaRPr lang="en-US"/>
          </a:p>
        </p:txBody>
      </p:sp>
      <p:sp>
        <p:nvSpPr>
          <p:cNvPr id="67" name="TextBox 67"/>
          <p:cNvSpPr txBox="1"/>
          <p:nvPr/>
        </p:nvSpPr>
        <p:spPr>
          <a:xfrm>
            <a:off x="7123176" y="3721608"/>
            <a:ext cx="1298448" cy="109728"/>
          </a:xfrm>
          <a:prstGeom prst="rect">
            <a:avLst/>
          </a:prstGeom>
          <a:noFill/>
          <a:ln>
            <a:noFill/>
          </a:ln>
        </p:spPr>
        <p:txBody>
          <a:bodyPr wrap="square" anchor="t"/>
          <a:lstStyle/>
          <a:p>
            <a:pPr algn="l"/>
            <a:r>
              <a:rPr lang="en-US" sz="819" dirty="0">
                <a:solidFill>
                  <a:srgbClr val="FFFFFF"/>
                </a:solidFill>
                <a:latin typeface="Aptos"/>
              </a:rPr>
              <a:t>ATMOS</a:t>
            </a:r>
          </a:p>
        </p:txBody>
      </p:sp>
      <p:sp>
        <p:nvSpPr>
          <p:cNvPr id="68" name="TextBox 68"/>
          <p:cNvSpPr txBox="1"/>
          <p:nvPr/>
        </p:nvSpPr>
        <p:spPr>
          <a:xfrm>
            <a:off x="841248" y="4434840"/>
            <a:ext cx="411480" cy="109728"/>
          </a:xfrm>
          <a:prstGeom prst="rect">
            <a:avLst/>
          </a:prstGeom>
          <a:noFill/>
          <a:ln>
            <a:noFill/>
          </a:ln>
        </p:spPr>
        <p:txBody>
          <a:bodyPr wrap="square" anchor="t"/>
          <a:lstStyle/>
          <a:p>
            <a:pPr algn="l"/>
            <a:r>
              <a:rPr lang="en-US" sz="900" dirty="0">
                <a:solidFill>
                  <a:srgbClr val="334155"/>
                </a:solidFill>
                <a:latin typeface="Aptos"/>
              </a:rPr>
              <a:t>8</a:t>
            </a:r>
          </a:p>
        </p:txBody>
      </p:sp>
      <p:sp>
        <p:nvSpPr>
          <p:cNvPr id="69" name="Shape 69"/>
          <p:cNvSpPr/>
          <p:nvPr/>
        </p:nvSpPr>
        <p:spPr>
          <a:xfrm>
            <a:off x="1417320" y="4178808"/>
            <a:ext cx="1371600" cy="667512"/>
          </a:xfrm>
          <a:prstGeom prst="rect">
            <a:avLst/>
          </a:prstGeom>
          <a:solidFill>
            <a:srgbClr val="2563EB"/>
          </a:solidFill>
          <a:ln w="6350">
            <a:solidFill>
              <a:srgbClr val="FFFFFF"/>
            </a:solidFill>
          </a:ln>
        </p:spPr>
        <p:txBody>
          <a:bodyPr/>
          <a:lstStyle/>
          <a:p>
            <a:endParaRPr lang="en-US"/>
          </a:p>
        </p:txBody>
      </p:sp>
      <p:sp>
        <p:nvSpPr>
          <p:cNvPr id="70" name="TextBox 70"/>
          <p:cNvSpPr txBox="1"/>
          <p:nvPr/>
        </p:nvSpPr>
        <p:spPr>
          <a:xfrm>
            <a:off x="1453896" y="4434840"/>
            <a:ext cx="1298448" cy="109728"/>
          </a:xfrm>
          <a:prstGeom prst="rect">
            <a:avLst/>
          </a:prstGeom>
          <a:noFill/>
          <a:ln>
            <a:noFill/>
          </a:ln>
        </p:spPr>
        <p:txBody>
          <a:bodyPr wrap="square" anchor="t"/>
          <a:lstStyle/>
          <a:p>
            <a:pPr algn="l"/>
            <a:r>
              <a:rPr lang="en-US" sz="819" dirty="0">
                <a:solidFill>
                  <a:srgbClr val="FFFFFF"/>
                </a:solidFill>
                <a:latin typeface="Aptos"/>
              </a:rPr>
              <a:t>RTX</a:t>
            </a:r>
          </a:p>
        </p:txBody>
      </p:sp>
      <p:sp>
        <p:nvSpPr>
          <p:cNvPr id="71" name="Shape 71"/>
          <p:cNvSpPr/>
          <p:nvPr/>
        </p:nvSpPr>
        <p:spPr>
          <a:xfrm>
            <a:off x="2834640" y="4178808"/>
            <a:ext cx="1371600" cy="667512"/>
          </a:xfrm>
          <a:prstGeom prst="rect">
            <a:avLst/>
          </a:prstGeom>
          <a:solidFill>
            <a:srgbClr val="2563EB"/>
          </a:solidFill>
          <a:ln w="6350">
            <a:solidFill>
              <a:srgbClr val="FFFFFF"/>
            </a:solidFill>
          </a:ln>
        </p:spPr>
        <p:txBody>
          <a:bodyPr/>
          <a:lstStyle/>
          <a:p>
            <a:endParaRPr lang="en-US"/>
          </a:p>
        </p:txBody>
      </p:sp>
      <p:sp>
        <p:nvSpPr>
          <p:cNvPr id="72" name="TextBox 72"/>
          <p:cNvSpPr txBox="1"/>
          <p:nvPr/>
        </p:nvSpPr>
        <p:spPr>
          <a:xfrm>
            <a:off x="2871216" y="4434840"/>
            <a:ext cx="1298448" cy="109728"/>
          </a:xfrm>
          <a:prstGeom prst="rect">
            <a:avLst/>
          </a:prstGeom>
          <a:noFill/>
          <a:ln>
            <a:noFill/>
          </a:ln>
        </p:spPr>
        <p:txBody>
          <a:bodyPr wrap="square" anchor="t"/>
          <a:lstStyle/>
          <a:p>
            <a:pPr algn="l"/>
            <a:r>
              <a:rPr lang="en-US" sz="819" dirty="0">
                <a:solidFill>
                  <a:srgbClr val="FFFFFF"/>
                </a:solidFill>
                <a:latin typeface="Aptos"/>
              </a:rPr>
              <a:t>RTX</a:t>
            </a:r>
          </a:p>
        </p:txBody>
      </p:sp>
      <p:sp>
        <p:nvSpPr>
          <p:cNvPr id="73" name="Shape 73"/>
          <p:cNvSpPr/>
          <p:nvPr/>
        </p:nvSpPr>
        <p:spPr>
          <a:xfrm>
            <a:off x="4251960" y="4178808"/>
            <a:ext cx="1371600" cy="667512"/>
          </a:xfrm>
          <a:prstGeom prst="rect">
            <a:avLst/>
          </a:prstGeom>
          <a:solidFill>
            <a:srgbClr val="2563EB"/>
          </a:solidFill>
          <a:ln w="6350">
            <a:solidFill>
              <a:srgbClr val="FFFFFF"/>
            </a:solidFill>
          </a:ln>
        </p:spPr>
        <p:txBody>
          <a:bodyPr/>
          <a:lstStyle/>
          <a:p>
            <a:endParaRPr lang="en-US"/>
          </a:p>
        </p:txBody>
      </p:sp>
      <p:sp>
        <p:nvSpPr>
          <p:cNvPr id="74" name="TextBox 74"/>
          <p:cNvSpPr txBox="1"/>
          <p:nvPr/>
        </p:nvSpPr>
        <p:spPr>
          <a:xfrm>
            <a:off x="4288536" y="4434840"/>
            <a:ext cx="1298448" cy="109728"/>
          </a:xfrm>
          <a:prstGeom prst="rect">
            <a:avLst/>
          </a:prstGeom>
          <a:noFill/>
          <a:ln>
            <a:noFill/>
          </a:ln>
        </p:spPr>
        <p:txBody>
          <a:bodyPr wrap="square" anchor="t"/>
          <a:lstStyle/>
          <a:p>
            <a:pPr algn="l"/>
            <a:r>
              <a:rPr lang="en-US" sz="819" dirty="0">
                <a:solidFill>
                  <a:srgbClr val="FFFFFF"/>
                </a:solidFill>
                <a:latin typeface="Aptos"/>
              </a:rPr>
              <a:t>RTX</a:t>
            </a:r>
          </a:p>
        </p:txBody>
      </p:sp>
      <p:sp>
        <p:nvSpPr>
          <p:cNvPr id="75" name="Shape 75"/>
          <p:cNvSpPr/>
          <p:nvPr/>
        </p:nvSpPr>
        <p:spPr>
          <a:xfrm>
            <a:off x="5669280" y="4178808"/>
            <a:ext cx="1371600" cy="667512"/>
          </a:xfrm>
          <a:prstGeom prst="rect">
            <a:avLst/>
          </a:prstGeom>
          <a:solidFill>
            <a:srgbClr val="F59E0B"/>
          </a:solidFill>
          <a:ln w="6350">
            <a:solidFill>
              <a:srgbClr val="FFFFFF"/>
            </a:solidFill>
          </a:ln>
        </p:spPr>
        <p:txBody>
          <a:bodyPr/>
          <a:lstStyle/>
          <a:p>
            <a:endParaRPr lang="en-US"/>
          </a:p>
        </p:txBody>
      </p:sp>
      <p:sp>
        <p:nvSpPr>
          <p:cNvPr id="76" name="TextBox 76"/>
          <p:cNvSpPr txBox="1"/>
          <p:nvPr/>
        </p:nvSpPr>
        <p:spPr>
          <a:xfrm>
            <a:off x="5705856" y="4434840"/>
            <a:ext cx="1298448" cy="109728"/>
          </a:xfrm>
          <a:prstGeom prst="rect">
            <a:avLst/>
          </a:prstGeom>
          <a:noFill/>
          <a:ln>
            <a:noFill/>
          </a:ln>
        </p:spPr>
        <p:txBody>
          <a:bodyPr wrap="square" anchor="t"/>
          <a:lstStyle/>
          <a:p>
            <a:r>
              <a:rPr lang="en-US" sz="819" dirty="0">
                <a:solidFill>
                  <a:srgbClr val="FFFFFF"/>
                </a:solidFill>
                <a:latin typeface="Aptos"/>
              </a:rPr>
              <a:t>RTX + CXL</a:t>
            </a:r>
          </a:p>
          <a:p>
            <a:pPr algn="l"/>
            <a:endParaRPr lang="en-US" sz="819" dirty="0">
              <a:solidFill>
                <a:srgbClr val="FFFFFF"/>
              </a:solidFill>
              <a:latin typeface="Aptos"/>
            </a:endParaRPr>
          </a:p>
        </p:txBody>
      </p:sp>
      <p:sp>
        <p:nvSpPr>
          <p:cNvPr id="77" name="Shape 77"/>
          <p:cNvSpPr/>
          <p:nvPr/>
        </p:nvSpPr>
        <p:spPr>
          <a:xfrm>
            <a:off x="7086600" y="4178808"/>
            <a:ext cx="1371600" cy="667512"/>
          </a:xfrm>
          <a:prstGeom prst="rect">
            <a:avLst/>
          </a:prstGeom>
          <a:solidFill>
            <a:srgbClr val="0F766E"/>
          </a:solidFill>
          <a:ln w="6350">
            <a:solidFill>
              <a:srgbClr val="FFFFFF"/>
            </a:solidFill>
          </a:ln>
        </p:spPr>
        <p:txBody>
          <a:bodyPr/>
          <a:lstStyle/>
          <a:p>
            <a:endParaRPr lang="en-US"/>
          </a:p>
        </p:txBody>
      </p:sp>
      <p:sp>
        <p:nvSpPr>
          <p:cNvPr id="78" name="TextBox 78"/>
          <p:cNvSpPr txBox="1"/>
          <p:nvPr/>
        </p:nvSpPr>
        <p:spPr>
          <a:xfrm>
            <a:off x="7123176" y="4434840"/>
            <a:ext cx="1298448" cy="109728"/>
          </a:xfrm>
          <a:prstGeom prst="rect">
            <a:avLst/>
          </a:prstGeom>
          <a:noFill/>
          <a:ln>
            <a:noFill/>
          </a:ln>
        </p:spPr>
        <p:txBody>
          <a:bodyPr wrap="square" anchor="t"/>
          <a:lstStyle/>
          <a:p>
            <a:pPr algn="l"/>
            <a:r>
              <a:rPr lang="en-US" sz="819" dirty="0">
                <a:solidFill>
                  <a:srgbClr val="FFFFFF"/>
                </a:solidFill>
                <a:latin typeface="Aptos"/>
              </a:rPr>
              <a:t>ATMOS</a:t>
            </a:r>
          </a:p>
        </p:txBody>
      </p:sp>
      <p:sp>
        <p:nvSpPr>
          <p:cNvPr id="79" name="Shape 79"/>
          <p:cNvSpPr/>
          <p:nvPr/>
        </p:nvSpPr>
        <p:spPr>
          <a:xfrm>
            <a:off x="8823960" y="1344168"/>
            <a:ext cx="2487168" cy="3547872"/>
          </a:xfrm>
          <a:prstGeom prst="roundRect">
            <a:avLst/>
          </a:prstGeom>
          <a:solidFill>
            <a:srgbClr val="FFFFFF"/>
          </a:solidFill>
          <a:ln w="6350">
            <a:solidFill>
              <a:srgbClr val="D8E2EE"/>
            </a:solidFill>
          </a:ln>
        </p:spPr>
        <p:txBody>
          <a:bodyPr/>
          <a:lstStyle/>
          <a:p>
            <a:endParaRPr lang="en-US"/>
          </a:p>
        </p:txBody>
      </p:sp>
      <p:sp>
        <p:nvSpPr>
          <p:cNvPr id="80" name="Shape 80"/>
          <p:cNvSpPr/>
          <p:nvPr/>
        </p:nvSpPr>
        <p:spPr>
          <a:xfrm>
            <a:off x="8823960" y="1344168"/>
            <a:ext cx="73152" cy="3547872"/>
          </a:xfrm>
          <a:prstGeom prst="rect">
            <a:avLst/>
          </a:prstGeom>
          <a:solidFill>
            <a:schemeClr val="accent2"/>
          </a:solidFill>
          <a:ln w="6350">
            <a:solidFill>
              <a:srgbClr val="00A3A3"/>
            </a:solidFill>
          </a:ln>
        </p:spPr>
        <p:txBody>
          <a:bodyPr/>
          <a:lstStyle/>
          <a:p>
            <a:endParaRPr lang="en-US"/>
          </a:p>
        </p:txBody>
      </p:sp>
      <p:sp>
        <p:nvSpPr>
          <p:cNvPr id="81" name="TextBox 81"/>
          <p:cNvSpPr txBox="1"/>
          <p:nvPr/>
        </p:nvSpPr>
        <p:spPr>
          <a:xfrm>
            <a:off x="9006840" y="1490472"/>
            <a:ext cx="2157984" cy="228600"/>
          </a:xfrm>
          <a:prstGeom prst="rect">
            <a:avLst/>
          </a:prstGeom>
          <a:noFill/>
          <a:ln>
            <a:noFill/>
          </a:ln>
        </p:spPr>
        <p:txBody>
          <a:bodyPr wrap="square" anchor="t"/>
          <a:lstStyle/>
          <a:p>
            <a:pPr algn="l"/>
            <a:r>
              <a:rPr lang="en-US" sz="1300" dirty="0">
                <a:solidFill>
                  <a:srgbClr val="0F172A"/>
                </a:solidFill>
                <a:latin typeface="Aptos"/>
              </a:rPr>
              <a:t>How to read this</a:t>
            </a:r>
          </a:p>
        </p:txBody>
      </p:sp>
      <p:sp>
        <p:nvSpPr>
          <p:cNvPr id="82" name="TextBox 82"/>
          <p:cNvSpPr txBox="1"/>
          <p:nvPr/>
        </p:nvSpPr>
        <p:spPr>
          <a:xfrm>
            <a:off x="9006840" y="1801368"/>
            <a:ext cx="2176272" cy="2980944"/>
          </a:xfrm>
          <a:prstGeom prst="rect">
            <a:avLst/>
          </a:prstGeom>
          <a:noFill/>
          <a:ln>
            <a:noFill/>
          </a:ln>
        </p:spPr>
        <p:txBody>
          <a:bodyPr wrap="square" anchor="t"/>
          <a:lstStyle/>
          <a:p>
            <a:pPr algn="l"/>
            <a:r>
              <a:rPr lang="en-US" sz="860" dirty="0">
                <a:solidFill>
                  <a:srgbClr val="475569"/>
                </a:solidFill>
                <a:latin typeface="Aptos"/>
              </a:rPr>
              <a:t>Low context and low concurrency often favor RTX because everything fits in fast memory. As context, concurrency, and reusable MoE/KV working set grow, warm capacity and persistent HBF become more interesting. Extreme cells require measurement because queueing, tools, and tail latency can dominate.</a:t>
            </a:r>
          </a:p>
        </p:txBody>
      </p:sp>
      <p:sp>
        <p:nvSpPr>
          <p:cNvPr id="83" name="TextBox 83"/>
          <p:cNvSpPr txBox="1"/>
          <p:nvPr/>
        </p:nvSpPr>
        <p:spPr>
          <a:xfrm>
            <a:off x="1444752" y="5138928"/>
            <a:ext cx="6675120" cy="228600"/>
          </a:xfrm>
          <a:prstGeom prst="rect">
            <a:avLst/>
          </a:prstGeom>
          <a:noFill/>
          <a:ln>
            <a:noFill/>
          </a:ln>
        </p:spPr>
        <p:txBody>
          <a:bodyPr wrap="square" anchor="t"/>
          <a:lstStyle/>
          <a:p>
            <a:pPr algn="l"/>
            <a:r>
              <a:rPr lang="en-US" sz="850" dirty="0">
                <a:solidFill>
                  <a:srgbClr val="B45309"/>
                </a:solidFill>
                <a:latin typeface="Aptos"/>
              </a:rPr>
              <a:t>Assumption: high reuse/locality. With low reuse or random small transfers, shift cells left toward RTX/no-fit.</a:t>
            </a:r>
          </a:p>
        </p:txBody>
      </p:sp>
      <p:sp>
        <p:nvSpPr>
          <p:cNvPr id="85" name="TextBox 26">
            <a:extLst>
              <a:ext uri="{FF2B5EF4-FFF2-40B4-BE49-F238E27FC236}">
                <a16:creationId xmlns:a16="http://schemas.microsoft.com/office/drawing/2014/main" id="{B1738DED-C38C-F89D-C6DA-432D03A0E6E1}"/>
              </a:ext>
            </a:extLst>
          </p:cNvPr>
          <p:cNvSpPr txBox="1"/>
          <p:nvPr/>
        </p:nvSpPr>
        <p:spPr>
          <a:xfrm>
            <a:off x="2825496" y="2249424"/>
            <a:ext cx="1298448" cy="109728"/>
          </a:xfrm>
          <a:prstGeom prst="rect">
            <a:avLst/>
          </a:prstGeom>
          <a:noFill/>
          <a:ln>
            <a:noFill/>
          </a:ln>
        </p:spPr>
        <p:txBody>
          <a:bodyPr wrap="square" anchor="t"/>
          <a:lstStyle/>
          <a:p>
            <a:pPr algn="l"/>
            <a:r>
              <a:rPr lang="en-US" sz="819" dirty="0">
                <a:solidFill>
                  <a:srgbClr val="FFFFFF"/>
                </a:solidFill>
                <a:latin typeface="Aptos"/>
              </a:rPr>
              <a:t>RTX + CXL</a:t>
            </a:r>
          </a:p>
        </p:txBody>
      </p:sp>
      <p:sp>
        <p:nvSpPr>
          <p:cNvPr id="88" name="Shape 31">
            <a:extLst>
              <a:ext uri="{FF2B5EF4-FFF2-40B4-BE49-F238E27FC236}">
                <a16:creationId xmlns:a16="http://schemas.microsoft.com/office/drawing/2014/main" id="{70574FDA-A1EF-BA99-4508-69882E69812C}"/>
              </a:ext>
            </a:extLst>
          </p:cNvPr>
          <p:cNvSpPr/>
          <p:nvPr/>
        </p:nvSpPr>
        <p:spPr>
          <a:xfrm>
            <a:off x="7077456" y="1325880"/>
            <a:ext cx="1371600" cy="667512"/>
          </a:xfrm>
          <a:prstGeom prst="rect">
            <a:avLst/>
          </a:prstGeom>
          <a:solidFill>
            <a:srgbClr val="0F766E"/>
          </a:solidFill>
          <a:ln w="6350">
            <a:solidFill>
              <a:srgbClr val="FFFFFF"/>
            </a:solidFill>
          </a:ln>
        </p:spPr>
        <p:txBody>
          <a:bodyPr/>
          <a:lstStyle/>
          <a:p>
            <a:endParaRPr lang="en-US"/>
          </a:p>
        </p:txBody>
      </p:sp>
      <p:sp>
        <p:nvSpPr>
          <p:cNvPr id="89" name="TextBox 32">
            <a:extLst>
              <a:ext uri="{FF2B5EF4-FFF2-40B4-BE49-F238E27FC236}">
                <a16:creationId xmlns:a16="http://schemas.microsoft.com/office/drawing/2014/main" id="{F6BB6D90-AAA0-F019-23FA-BF6CAC44B4CF}"/>
              </a:ext>
            </a:extLst>
          </p:cNvPr>
          <p:cNvSpPr txBox="1"/>
          <p:nvPr/>
        </p:nvSpPr>
        <p:spPr>
          <a:xfrm>
            <a:off x="7040880" y="1604772"/>
            <a:ext cx="1298448" cy="109728"/>
          </a:xfrm>
          <a:prstGeom prst="rect">
            <a:avLst/>
          </a:prstGeom>
          <a:noFill/>
          <a:ln>
            <a:noFill/>
          </a:ln>
        </p:spPr>
        <p:txBody>
          <a:bodyPr wrap="square" anchor="t"/>
          <a:lstStyle/>
          <a:p>
            <a:pPr algn="l"/>
            <a:r>
              <a:rPr lang="en-US" sz="819" dirty="0">
                <a:solidFill>
                  <a:srgbClr val="FFFFFF"/>
                </a:solidFill>
                <a:latin typeface="Aptos"/>
              </a:rPr>
              <a:t>ATMOS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8FAFC"/>
          </a:solidFill>
          <a:ln w="6350">
            <a:solidFill>
              <a:srgbClr val="F8FAFC"/>
            </a:solidFill>
          </a:ln>
        </p:spPr>
        <p:txBody>
          <a:bodyPr/>
          <a:lstStyle/>
          <a:p>
            <a:endParaRPr lang="en-US"/>
          </a:p>
        </p:txBody>
      </p:sp>
      <p:sp>
        <p:nvSpPr>
          <p:cNvPr id="3" name="Shape 3"/>
          <p:cNvSpPr/>
          <p:nvPr/>
        </p:nvSpPr>
        <p:spPr>
          <a:xfrm>
            <a:off x="0" y="0"/>
            <a:ext cx="146304" cy="6858000"/>
          </a:xfrm>
          <a:prstGeom prst="rect">
            <a:avLst/>
          </a:prstGeom>
          <a:solidFill>
            <a:schemeClr val="accent2"/>
          </a:solidFill>
          <a:ln w="6350">
            <a:solidFill>
              <a:srgbClr val="00A3A3"/>
            </a:solidFill>
          </a:ln>
        </p:spPr>
        <p:txBody>
          <a:bodyPr/>
          <a:lstStyle/>
          <a:p>
            <a:endParaRPr lang="en-US"/>
          </a:p>
        </p:txBody>
      </p:sp>
      <p:sp>
        <p:nvSpPr>
          <p:cNvPr id="4" name="TextBox 4"/>
          <p:cNvSpPr txBox="1"/>
          <p:nvPr/>
        </p:nvSpPr>
        <p:spPr>
          <a:xfrm>
            <a:off x="384048" y="256032"/>
            <a:ext cx="9326880" cy="384048"/>
          </a:xfrm>
          <a:prstGeom prst="rect">
            <a:avLst/>
          </a:prstGeom>
          <a:noFill/>
          <a:ln>
            <a:noFill/>
          </a:ln>
        </p:spPr>
        <p:txBody>
          <a:bodyPr wrap="square" anchor="t"/>
          <a:lstStyle/>
          <a:p>
            <a:pPr algn="l"/>
            <a:r>
              <a:rPr lang="en-US" sz="2600" dirty="0">
                <a:solidFill>
                  <a:srgbClr val="0F172A"/>
                </a:solidFill>
                <a:latin typeface="Aptos"/>
              </a:rPr>
              <a:t>Parameter Levers That Shift the Winner</a:t>
            </a:r>
          </a:p>
        </p:txBody>
      </p:sp>
      <p:sp>
        <p:nvSpPr>
          <p:cNvPr id="5" name="TextBox 5"/>
          <p:cNvSpPr txBox="1"/>
          <p:nvPr/>
        </p:nvSpPr>
        <p:spPr>
          <a:xfrm>
            <a:off x="402336" y="694944"/>
            <a:ext cx="9875520" cy="256032"/>
          </a:xfrm>
          <a:prstGeom prst="rect">
            <a:avLst/>
          </a:prstGeom>
          <a:noFill/>
          <a:ln>
            <a:noFill/>
          </a:ln>
        </p:spPr>
        <p:txBody>
          <a:bodyPr wrap="square" anchor="t"/>
          <a:lstStyle/>
          <a:p>
            <a:pPr algn="l"/>
            <a:r>
              <a:rPr lang="en-US" sz="1000" dirty="0">
                <a:solidFill>
                  <a:srgbClr val="475569"/>
                </a:solidFill>
                <a:latin typeface="Aptos"/>
              </a:rPr>
              <a:t>The platform choice moves when workload shape changes. These are the knobs to sweep in the POC.</a:t>
            </a:r>
          </a:p>
        </p:txBody>
      </p:sp>
      <p:sp>
        <p:nvSpPr>
          <p:cNvPr id="6" name="Shape 6"/>
          <p:cNvSpPr/>
          <p:nvPr/>
        </p:nvSpPr>
        <p:spPr>
          <a:xfrm>
            <a:off x="10515600" y="274320"/>
            <a:ext cx="1243584" cy="347472"/>
          </a:xfrm>
          <a:prstGeom prst="roundRect">
            <a:avLst/>
          </a:prstGeom>
          <a:solidFill>
            <a:srgbClr val="E0F2FE"/>
          </a:solidFill>
          <a:ln w="6350">
            <a:solidFill>
              <a:srgbClr val="7DD3FC"/>
            </a:solidFill>
          </a:ln>
        </p:spPr>
        <p:txBody>
          <a:bodyPr/>
          <a:lstStyle/>
          <a:p>
            <a:endParaRPr lang="en-US"/>
          </a:p>
        </p:txBody>
      </p:sp>
      <p:sp>
        <p:nvSpPr>
          <p:cNvPr id="7" name="TextBox 7"/>
          <p:cNvSpPr txBox="1"/>
          <p:nvPr/>
        </p:nvSpPr>
        <p:spPr>
          <a:xfrm>
            <a:off x="10607040" y="356616"/>
            <a:ext cx="1060704" cy="128016"/>
          </a:xfrm>
          <a:prstGeom prst="rect">
            <a:avLst/>
          </a:prstGeom>
          <a:noFill/>
          <a:ln>
            <a:noFill/>
          </a:ln>
        </p:spPr>
        <p:txBody>
          <a:bodyPr wrap="square" anchor="t"/>
          <a:lstStyle/>
          <a:p>
            <a:pPr algn="l"/>
            <a:r>
              <a:rPr lang="en-US" sz="800" dirty="0">
                <a:solidFill>
                  <a:srgbClr val="075985"/>
                </a:solidFill>
                <a:latin typeface="Aptos"/>
              </a:rPr>
              <a:t>v3 workload-fit</a:t>
            </a:r>
          </a:p>
        </p:txBody>
      </p:sp>
      <p:sp>
        <p:nvSpPr>
          <p:cNvPr id="8" name="TextBox 8"/>
          <p:cNvSpPr txBox="1"/>
          <p:nvPr/>
        </p:nvSpPr>
        <p:spPr>
          <a:xfrm>
            <a:off x="420624" y="6510528"/>
            <a:ext cx="7498080" cy="164592"/>
          </a:xfrm>
          <a:prstGeom prst="rect">
            <a:avLst/>
          </a:prstGeom>
          <a:noFill/>
          <a:ln>
            <a:noFill/>
          </a:ln>
        </p:spPr>
        <p:txBody>
          <a:bodyPr wrap="square" anchor="t"/>
          <a:lstStyle/>
          <a:p>
            <a:pPr algn="l"/>
            <a:r>
              <a:rPr lang="en-US" sz="700" dirty="0">
                <a:solidFill>
                  <a:srgbClr val="64748B"/>
                </a:solidFill>
                <a:latin typeface="Aptos"/>
              </a:rPr>
              <a:t>Direction is illustrative; final winner comes from SLO-qualified accepted-task results.</a:t>
            </a:r>
          </a:p>
        </p:txBody>
      </p:sp>
      <p:sp>
        <p:nvSpPr>
          <p:cNvPr id="9" name="Shape 9"/>
          <p:cNvSpPr/>
          <p:nvPr/>
        </p:nvSpPr>
        <p:spPr>
          <a:xfrm>
            <a:off x="594360" y="1051560"/>
            <a:ext cx="2514600" cy="4983480"/>
          </a:xfrm>
          <a:prstGeom prst="roundRect">
            <a:avLst/>
          </a:prstGeom>
          <a:solidFill>
            <a:srgbClr val="FFFFFF"/>
          </a:solidFill>
          <a:ln w="6350">
            <a:solidFill>
              <a:srgbClr val="D8E2EE"/>
            </a:solidFill>
          </a:ln>
        </p:spPr>
        <p:txBody>
          <a:bodyPr/>
          <a:lstStyle/>
          <a:p>
            <a:endParaRPr lang="en-US"/>
          </a:p>
        </p:txBody>
      </p:sp>
      <p:sp>
        <p:nvSpPr>
          <p:cNvPr id="10" name="Shape 10"/>
          <p:cNvSpPr/>
          <p:nvPr/>
        </p:nvSpPr>
        <p:spPr>
          <a:xfrm>
            <a:off x="594360" y="1051560"/>
            <a:ext cx="2514600" cy="384048"/>
          </a:xfrm>
          <a:prstGeom prst="roundRect">
            <a:avLst/>
          </a:prstGeom>
          <a:solidFill>
            <a:srgbClr val="2563EB"/>
          </a:solidFill>
          <a:ln w="6350">
            <a:solidFill>
              <a:srgbClr val="2563EB"/>
            </a:solidFill>
          </a:ln>
        </p:spPr>
        <p:txBody>
          <a:bodyPr/>
          <a:lstStyle/>
          <a:p>
            <a:endParaRPr lang="en-US"/>
          </a:p>
        </p:txBody>
      </p:sp>
      <p:sp>
        <p:nvSpPr>
          <p:cNvPr id="11" name="TextBox 11"/>
          <p:cNvSpPr txBox="1"/>
          <p:nvPr/>
        </p:nvSpPr>
        <p:spPr>
          <a:xfrm>
            <a:off x="704088" y="1170432"/>
            <a:ext cx="2286000" cy="91440"/>
          </a:xfrm>
          <a:prstGeom prst="rect">
            <a:avLst/>
          </a:prstGeom>
          <a:noFill/>
          <a:ln>
            <a:noFill/>
          </a:ln>
        </p:spPr>
        <p:txBody>
          <a:bodyPr wrap="square" anchor="t"/>
          <a:lstStyle/>
          <a:p>
            <a:pPr algn="l"/>
            <a:r>
              <a:rPr lang="en-US" sz="840" dirty="0">
                <a:solidFill>
                  <a:srgbClr val="FFFFFF"/>
                </a:solidFill>
                <a:latin typeface="Aptos"/>
              </a:rPr>
              <a:t>Pushes RTX/GPU</a:t>
            </a:r>
          </a:p>
        </p:txBody>
      </p:sp>
      <p:sp>
        <p:nvSpPr>
          <p:cNvPr id="12" name="Shape 12"/>
          <p:cNvSpPr/>
          <p:nvPr/>
        </p:nvSpPr>
        <p:spPr>
          <a:xfrm>
            <a:off x="3447288" y="1051560"/>
            <a:ext cx="2514600" cy="4983480"/>
          </a:xfrm>
          <a:prstGeom prst="roundRect">
            <a:avLst/>
          </a:prstGeom>
          <a:solidFill>
            <a:srgbClr val="FFFFFF"/>
          </a:solidFill>
          <a:ln w="6350">
            <a:solidFill>
              <a:srgbClr val="D8E2EE"/>
            </a:solidFill>
          </a:ln>
        </p:spPr>
        <p:txBody>
          <a:bodyPr/>
          <a:lstStyle/>
          <a:p>
            <a:endParaRPr lang="en-US"/>
          </a:p>
        </p:txBody>
      </p:sp>
      <p:sp>
        <p:nvSpPr>
          <p:cNvPr id="13" name="Shape 13"/>
          <p:cNvSpPr/>
          <p:nvPr/>
        </p:nvSpPr>
        <p:spPr>
          <a:xfrm>
            <a:off x="3447288" y="1051560"/>
            <a:ext cx="2514600" cy="384048"/>
          </a:xfrm>
          <a:prstGeom prst="roundRect">
            <a:avLst/>
          </a:prstGeom>
          <a:solidFill>
            <a:srgbClr val="F59E0B"/>
          </a:solidFill>
          <a:ln w="6350">
            <a:solidFill>
              <a:srgbClr val="F59E0B"/>
            </a:solidFill>
          </a:ln>
        </p:spPr>
        <p:txBody>
          <a:bodyPr/>
          <a:lstStyle/>
          <a:p>
            <a:endParaRPr lang="en-US"/>
          </a:p>
        </p:txBody>
      </p:sp>
      <p:sp>
        <p:nvSpPr>
          <p:cNvPr id="14" name="TextBox 14"/>
          <p:cNvSpPr txBox="1"/>
          <p:nvPr/>
        </p:nvSpPr>
        <p:spPr>
          <a:xfrm>
            <a:off x="3557016" y="1170432"/>
            <a:ext cx="2286000" cy="91440"/>
          </a:xfrm>
          <a:prstGeom prst="rect">
            <a:avLst/>
          </a:prstGeom>
          <a:noFill/>
          <a:ln>
            <a:noFill/>
          </a:ln>
        </p:spPr>
        <p:txBody>
          <a:bodyPr wrap="square" anchor="t"/>
          <a:lstStyle/>
          <a:p>
            <a:pPr algn="l"/>
            <a:r>
              <a:rPr lang="en-US" sz="840" dirty="0">
                <a:solidFill>
                  <a:srgbClr val="FFFFFF"/>
                </a:solidFill>
                <a:latin typeface="Aptos"/>
              </a:rPr>
              <a:t>Pushes RTX+CXL</a:t>
            </a:r>
          </a:p>
        </p:txBody>
      </p:sp>
      <p:sp>
        <p:nvSpPr>
          <p:cNvPr id="15" name="Shape 15"/>
          <p:cNvSpPr/>
          <p:nvPr/>
        </p:nvSpPr>
        <p:spPr>
          <a:xfrm>
            <a:off x="6300216" y="1051560"/>
            <a:ext cx="2514600" cy="4983480"/>
          </a:xfrm>
          <a:prstGeom prst="roundRect">
            <a:avLst/>
          </a:prstGeom>
          <a:solidFill>
            <a:srgbClr val="FFFFFF"/>
          </a:solidFill>
          <a:ln w="6350">
            <a:solidFill>
              <a:srgbClr val="D8E2EE"/>
            </a:solidFill>
          </a:ln>
        </p:spPr>
        <p:txBody>
          <a:bodyPr/>
          <a:lstStyle/>
          <a:p>
            <a:endParaRPr lang="en-US"/>
          </a:p>
        </p:txBody>
      </p:sp>
      <p:sp>
        <p:nvSpPr>
          <p:cNvPr id="16" name="Shape 16"/>
          <p:cNvSpPr/>
          <p:nvPr/>
        </p:nvSpPr>
        <p:spPr>
          <a:xfrm>
            <a:off x="6300216" y="1051560"/>
            <a:ext cx="2514600" cy="384048"/>
          </a:xfrm>
          <a:prstGeom prst="roundRect">
            <a:avLst/>
          </a:prstGeom>
          <a:solidFill>
            <a:srgbClr val="0F766E"/>
          </a:solidFill>
          <a:ln w="6350">
            <a:solidFill>
              <a:srgbClr val="0F766E"/>
            </a:solidFill>
          </a:ln>
        </p:spPr>
        <p:txBody>
          <a:bodyPr/>
          <a:lstStyle/>
          <a:p>
            <a:endParaRPr lang="en-US"/>
          </a:p>
        </p:txBody>
      </p:sp>
      <p:sp>
        <p:nvSpPr>
          <p:cNvPr id="17" name="TextBox 17"/>
          <p:cNvSpPr txBox="1"/>
          <p:nvPr/>
        </p:nvSpPr>
        <p:spPr>
          <a:xfrm>
            <a:off x="6409944" y="1170432"/>
            <a:ext cx="2286000" cy="91440"/>
          </a:xfrm>
          <a:prstGeom prst="rect">
            <a:avLst/>
          </a:prstGeom>
          <a:noFill/>
          <a:ln>
            <a:noFill/>
          </a:ln>
        </p:spPr>
        <p:txBody>
          <a:bodyPr wrap="square" anchor="t"/>
          <a:lstStyle/>
          <a:p>
            <a:pPr algn="l"/>
            <a:r>
              <a:rPr lang="en-US" sz="840" dirty="0">
                <a:solidFill>
                  <a:srgbClr val="FFFFFF"/>
                </a:solidFill>
                <a:latin typeface="Aptos"/>
              </a:rPr>
              <a:t>Pushes ATMOS/HBF</a:t>
            </a:r>
          </a:p>
        </p:txBody>
      </p:sp>
      <p:sp>
        <p:nvSpPr>
          <p:cNvPr id="18" name="Shape 18"/>
          <p:cNvSpPr/>
          <p:nvPr/>
        </p:nvSpPr>
        <p:spPr>
          <a:xfrm>
            <a:off x="9153144" y="1051560"/>
            <a:ext cx="2514600" cy="4983480"/>
          </a:xfrm>
          <a:prstGeom prst="roundRect">
            <a:avLst/>
          </a:prstGeom>
          <a:solidFill>
            <a:srgbClr val="FFFFFF"/>
          </a:solidFill>
          <a:ln w="6350">
            <a:solidFill>
              <a:srgbClr val="D8E2EE"/>
            </a:solidFill>
          </a:ln>
        </p:spPr>
        <p:txBody>
          <a:bodyPr/>
          <a:lstStyle/>
          <a:p>
            <a:endParaRPr lang="en-US"/>
          </a:p>
        </p:txBody>
      </p:sp>
      <p:sp>
        <p:nvSpPr>
          <p:cNvPr id="19" name="Shape 19"/>
          <p:cNvSpPr/>
          <p:nvPr/>
        </p:nvSpPr>
        <p:spPr>
          <a:xfrm>
            <a:off x="9153144" y="1051560"/>
            <a:ext cx="2514600" cy="384048"/>
          </a:xfrm>
          <a:prstGeom prst="roundRect">
            <a:avLst/>
          </a:prstGeom>
          <a:solidFill>
            <a:srgbClr val="64748B"/>
          </a:solidFill>
          <a:ln w="6350">
            <a:solidFill>
              <a:srgbClr val="64748B"/>
            </a:solidFill>
          </a:ln>
        </p:spPr>
        <p:txBody>
          <a:bodyPr/>
          <a:lstStyle/>
          <a:p>
            <a:endParaRPr lang="en-US"/>
          </a:p>
        </p:txBody>
      </p:sp>
      <p:sp>
        <p:nvSpPr>
          <p:cNvPr id="20" name="TextBox 20"/>
          <p:cNvSpPr txBox="1"/>
          <p:nvPr/>
        </p:nvSpPr>
        <p:spPr>
          <a:xfrm>
            <a:off x="9262872" y="1170432"/>
            <a:ext cx="2286000" cy="91440"/>
          </a:xfrm>
          <a:prstGeom prst="rect">
            <a:avLst/>
          </a:prstGeom>
          <a:noFill/>
          <a:ln>
            <a:noFill/>
          </a:ln>
        </p:spPr>
        <p:txBody>
          <a:bodyPr wrap="square" anchor="t"/>
          <a:lstStyle/>
          <a:p>
            <a:pPr algn="l"/>
            <a:r>
              <a:rPr lang="en-US" sz="840" dirty="0">
                <a:solidFill>
                  <a:srgbClr val="FFFFFF"/>
                </a:solidFill>
                <a:latin typeface="Aptos"/>
              </a:rPr>
              <a:t>Blocks all / no-fit</a:t>
            </a:r>
          </a:p>
        </p:txBody>
      </p:sp>
      <p:sp>
        <p:nvSpPr>
          <p:cNvPr id="21" name="Shape 21"/>
          <p:cNvSpPr/>
          <p:nvPr/>
        </p:nvSpPr>
        <p:spPr>
          <a:xfrm>
            <a:off x="795528" y="1719072"/>
            <a:ext cx="2103120" cy="384048"/>
          </a:xfrm>
          <a:prstGeom prst="roundRect">
            <a:avLst/>
          </a:prstGeom>
          <a:solidFill>
            <a:srgbClr val="F8FAFC"/>
          </a:solidFill>
          <a:ln w="6350">
            <a:solidFill>
              <a:srgbClr val="CBD5E1"/>
            </a:solidFill>
          </a:ln>
        </p:spPr>
        <p:txBody>
          <a:bodyPr/>
          <a:lstStyle/>
          <a:p>
            <a:endParaRPr lang="en-US"/>
          </a:p>
        </p:txBody>
      </p:sp>
      <p:sp>
        <p:nvSpPr>
          <p:cNvPr id="22" name="TextBox 22"/>
          <p:cNvSpPr txBox="1"/>
          <p:nvPr/>
        </p:nvSpPr>
        <p:spPr>
          <a:xfrm>
            <a:off x="886968" y="1847088"/>
            <a:ext cx="1920240" cy="82296"/>
          </a:xfrm>
          <a:prstGeom prst="rect">
            <a:avLst/>
          </a:prstGeom>
          <a:noFill/>
          <a:ln>
            <a:noFill/>
          </a:ln>
        </p:spPr>
        <p:txBody>
          <a:bodyPr wrap="square" anchor="t"/>
          <a:lstStyle/>
          <a:p>
            <a:pPr algn="l"/>
            <a:r>
              <a:rPr lang="en-US" sz="819" dirty="0">
                <a:solidFill>
                  <a:srgbClr val="334155"/>
                </a:solidFill>
                <a:latin typeface="Aptos"/>
              </a:rPr>
              <a:t>Small active model</a:t>
            </a:r>
          </a:p>
        </p:txBody>
      </p:sp>
      <p:sp>
        <p:nvSpPr>
          <p:cNvPr id="23" name="Shape 23"/>
          <p:cNvSpPr/>
          <p:nvPr/>
        </p:nvSpPr>
        <p:spPr>
          <a:xfrm>
            <a:off x="795528" y="2432304"/>
            <a:ext cx="2103120" cy="384048"/>
          </a:xfrm>
          <a:prstGeom prst="roundRect">
            <a:avLst/>
          </a:prstGeom>
          <a:solidFill>
            <a:srgbClr val="F8FAFC"/>
          </a:solidFill>
          <a:ln w="6350">
            <a:solidFill>
              <a:srgbClr val="CBD5E1"/>
            </a:solidFill>
          </a:ln>
        </p:spPr>
        <p:txBody>
          <a:bodyPr/>
          <a:lstStyle/>
          <a:p>
            <a:endParaRPr lang="en-US"/>
          </a:p>
        </p:txBody>
      </p:sp>
      <p:sp>
        <p:nvSpPr>
          <p:cNvPr id="24" name="TextBox 24"/>
          <p:cNvSpPr txBox="1"/>
          <p:nvPr/>
        </p:nvSpPr>
        <p:spPr>
          <a:xfrm>
            <a:off x="886968" y="2560320"/>
            <a:ext cx="1920240" cy="82296"/>
          </a:xfrm>
          <a:prstGeom prst="rect">
            <a:avLst/>
          </a:prstGeom>
          <a:noFill/>
          <a:ln>
            <a:noFill/>
          </a:ln>
        </p:spPr>
        <p:txBody>
          <a:bodyPr wrap="square" anchor="t"/>
          <a:lstStyle/>
          <a:p>
            <a:pPr algn="l"/>
            <a:r>
              <a:rPr lang="en-US" sz="819" dirty="0">
                <a:solidFill>
                  <a:srgbClr val="334155"/>
                </a:solidFill>
                <a:latin typeface="Aptos"/>
              </a:rPr>
              <a:t>short context</a:t>
            </a:r>
          </a:p>
        </p:txBody>
      </p:sp>
      <p:sp>
        <p:nvSpPr>
          <p:cNvPr id="25" name="Shape 25"/>
          <p:cNvSpPr/>
          <p:nvPr/>
        </p:nvSpPr>
        <p:spPr>
          <a:xfrm>
            <a:off x="795528" y="3145536"/>
            <a:ext cx="2103120" cy="384048"/>
          </a:xfrm>
          <a:prstGeom prst="roundRect">
            <a:avLst/>
          </a:prstGeom>
          <a:solidFill>
            <a:srgbClr val="F8FAFC"/>
          </a:solidFill>
          <a:ln w="6350">
            <a:solidFill>
              <a:srgbClr val="CBD5E1"/>
            </a:solidFill>
          </a:ln>
        </p:spPr>
        <p:txBody>
          <a:bodyPr/>
          <a:lstStyle/>
          <a:p>
            <a:endParaRPr lang="en-US"/>
          </a:p>
        </p:txBody>
      </p:sp>
      <p:sp>
        <p:nvSpPr>
          <p:cNvPr id="26" name="TextBox 26"/>
          <p:cNvSpPr txBox="1"/>
          <p:nvPr/>
        </p:nvSpPr>
        <p:spPr>
          <a:xfrm>
            <a:off x="886968" y="3273552"/>
            <a:ext cx="1920240" cy="82296"/>
          </a:xfrm>
          <a:prstGeom prst="rect">
            <a:avLst/>
          </a:prstGeom>
          <a:noFill/>
          <a:ln>
            <a:noFill/>
          </a:ln>
        </p:spPr>
        <p:txBody>
          <a:bodyPr wrap="square" anchor="t"/>
          <a:lstStyle/>
          <a:p>
            <a:pPr algn="l"/>
            <a:r>
              <a:rPr lang="en-US" sz="819" dirty="0">
                <a:solidFill>
                  <a:srgbClr val="334155"/>
                </a:solidFill>
                <a:latin typeface="Aptos"/>
              </a:rPr>
              <a:t>low switching</a:t>
            </a:r>
          </a:p>
        </p:txBody>
      </p:sp>
      <p:sp>
        <p:nvSpPr>
          <p:cNvPr id="27" name="Shape 27"/>
          <p:cNvSpPr/>
          <p:nvPr/>
        </p:nvSpPr>
        <p:spPr>
          <a:xfrm>
            <a:off x="795528" y="3858768"/>
            <a:ext cx="2103120" cy="384048"/>
          </a:xfrm>
          <a:prstGeom prst="roundRect">
            <a:avLst/>
          </a:prstGeom>
          <a:solidFill>
            <a:srgbClr val="F8FAFC"/>
          </a:solidFill>
          <a:ln w="6350">
            <a:solidFill>
              <a:srgbClr val="CBD5E1"/>
            </a:solidFill>
          </a:ln>
        </p:spPr>
        <p:txBody>
          <a:bodyPr/>
          <a:lstStyle/>
          <a:p>
            <a:endParaRPr lang="en-US"/>
          </a:p>
        </p:txBody>
      </p:sp>
      <p:sp>
        <p:nvSpPr>
          <p:cNvPr id="28" name="TextBox 28"/>
          <p:cNvSpPr txBox="1"/>
          <p:nvPr/>
        </p:nvSpPr>
        <p:spPr>
          <a:xfrm>
            <a:off x="886968" y="3986784"/>
            <a:ext cx="1920240" cy="82296"/>
          </a:xfrm>
          <a:prstGeom prst="rect">
            <a:avLst/>
          </a:prstGeom>
          <a:noFill/>
          <a:ln>
            <a:noFill/>
          </a:ln>
        </p:spPr>
        <p:txBody>
          <a:bodyPr wrap="square" anchor="t"/>
          <a:lstStyle/>
          <a:p>
            <a:pPr algn="l"/>
            <a:r>
              <a:rPr lang="en-US" sz="819" dirty="0">
                <a:solidFill>
                  <a:srgbClr val="334155"/>
                </a:solidFill>
                <a:latin typeface="Aptos"/>
              </a:rPr>
              <a:t>strict interactive SLO</a:t>
            </a:r>
          </a:p>
        </p:txBody>
      </p:sp>
      <p:sp>
        <p:nvSpPr>
          <p:cNvPr id="29" name="Shape 29"/>
          <p:cNvSpPr/>
          <p:nvPr/>
        </p:nvSpPr>
        <p:spPr>
          <a:xfrm>
            <a:off x="3648456" y="1719072"/>
            <a:ext cx="2103120" cy="384048"/>
          </a:xfrm>
          <a:prstGeom prst="roundRect">
            <a:avLst/>
          </a:prstGeom>
          <a:solidFill>
            <a:srgbClr val="F8FAFC"/>
          </a:solidFill>
          <a:ln w="6350">
            <a:solidFill>
              <a:srgbClr val="CBD5E1"/>
            </a:solidFill>
          </a:ln>
        </p:spPr>
        <p:txBody>
          <a:bodyPr/>
          <a:lstStyle/>
          <a:p>
            <a:endParaRPr lang="en-US"/>
          </a:p>
        </p:txBody>
      </p:sp>
      <p:sp>
        <p:nvSpPr>
          <p:cNvPr id="30" name="TextBox 30"/>
          <p:cNvSpPr txBox="1"/>
          <p:nvPr/>
        </p:nvSpPr>
        <p:spPr>
          <a:xfrm>
            <a:off x="3739896" y="1847088"/>
            <a:ext cx="1920240" cy="82296"/>
          </a:xfrm>
          <a:prstGeom prst="rect">
            <a:avLst/>
          </a:prstGeom>
          <a:noFill/>
          <a:ln>
            <a:noFill/>
          </a:ln>
        </p:spPr>
        <p:txBody>
          <a:bodyPr wrap="square" anchor="t"/>
          <a:lstStyle/>
          <a:p>
            <a:pPr algn="l"/>
            <a:r>
              <a:rPr lang="en-US" sz="819" dirty="0">
                <a:solidFill>
                  <a:srgbClr val="334155"/>
                </a:solidFill>
                <a:latin typeface="Aptos"/>
              </a:rPr>
              <a:t>Warm overflow</a:t>
            </a:r>
          </a:p>
        </p:txBody>
      </p:sp>
      <p:sp>
        <p:nvSpPr>
          <p:cNvPr id="31" name="Shape 31"/>
          <p:cNvSpPr/>
          <p:nvPr/>
        </p:nvSpPr>
        <p:spPr>
          <a:xfrm>
            <a:off x="3648456" y="2432304"/>
            <a:ext cx="2103120" cy="384048"/>
          </a:xfrm>
          <a:prstGeom prst="roundRect">
            <a:avLst/>
          </a:prstGeom>
          <a:solidFill>
            <a:srgbClr val="F8FAFC"/>
          </a:solidFill>
          <a:ln w="6350">
            <a:solidFill>
              <a:srgbClr val="CBD5E1"/>
            </a:solidFill>
          </a:ln>
        </p:spPr>
        <p:txBody>
          <a:bodyPr/>
          <a:lstStyle/>
          <a:p>
            <a:endParaRPr lang="en-US"/>
          </a:p>
        </p:txBody>
      </p:sp>
      <p:sp>
        <p:nvSpPr>
          <p:cNvPr id="32" name="TextBox 32"/>
          <p:cNvSpPr txBox="1"/>
          <p:nvPr/>
        </p:nvSpPr>
        <p:spPr>
          <a:xfrm>
            <a:off x="3739896" y="2560320"/>
            <a:ext cx="1920240" cy="82296"/>
          </a:xfrm>
          <a:prstGeom prst="rect">
            <a:avLst/>
          </a:prstGeom>
          <a:noFill/>
          <a:ln>
            <a:noFill/>
          </a:ln>
        </p:spPr>
        <p:txBody>
          <a:bodyPr wrap="square" anchor="t"/>
          <a:lstStyle/>
          <a:p>
            <a:pPr algn="l"/>
            <a:r>
              <a:rPr lang="en-US" sz="819" dirty="0">
                <a:solidFill>
                  <a:srgbClr val="334155"/>
                </a:solidFill>
                <a:latin typeface="Aptos"/>
              </a:rPr>
              <a:t>moderate reuse</a:t>
            </a:r>
          </a:p>
        </p:txBody>
      </p:sp>
      <p:sp>
        <p:nvSpPr>
          <p:cNvPr id="33" name="Shape 33"/>
          <p:cNvSpPr/>
          <p:nvPr/>
        </p:nvSpPr>
        <p:spPr>
          <a:xfrm>
            <a:off x="3648456" y="3145536"/>
            <a:ext cx="2103120" cy="384048"/>
          </a:xfrm>
          <a:prstGeom prst="roundRect">
            <a:avLst/>
          </a:prstGeom>
          <a:solidFill>
            <a:srgbClr val="F8FAFC"/>
          </a:solidFill>
          <a:ln w="6350">
            <a:solidFill>
              <a:srgbClr val="CBD5E1"/>
            </a:solidFill>
          </a:ln>
        </p:spPr>
        <p:txBody>
          <a:bodyPr/>
          <a:lstStyle/>
          <a:p>
            <a:endParaRPr lang="en-US"/>
          </a:p>
        </p:txBody>
      </p:sp>
      <p:sp>
        <p:nvSpPr>
          <p:cNvPr id="34" name="TextBox 34"/>
          <p:cNvSpPr txBox="1"/>
          <p:nvPr/>
        </p:nvSpPr>
        <p:spPr>
          <a:xfrm>
            <a:off x="3739896" y="3273552"/>
            <a:ext cx="1920240" cy="82296"/>
          </a:xfrm>
          <a:prstGeom prst="rect">
            <a:avLst/>
          </a:prstGeom>
          <a:noFill/>
          <a:ln>
            <a:noFill/>
          </a:ln>
        </p:spPr>
        <p:txBody>
          <a:bodyPr wrap="square" anchor="t"/>
          <a:lstStyle/>
          <a:p>
            <a:pPr algn="l"/>
            <a:r>
              <a:rPr lang="en-US" sz="819" dirty="0">
                <a:solidFill>
                  <a:srgbClr val="334155"/>
                </a:solidFill>
                <a:latin typeface="Aptos"/>
              </a:rPr>
              <a:t>real CXL device</a:t>
            </a:r>
          </a:p>
        </p:txBody>
      </p:sp>
      <p:sp>
        <p:nvSpPr>
          <p:cNvPr id="35" name="Shape 35"/>
          <p:cNvSpPr/>
          <p:nvPr/>
        </p:nvSpPr>
        <p:spPr>
          <a:xfrm>
            <a:off x="3648456" y="3858768"/>
            <a:ext cx="2103120" cy="384048"/>
          </a:xfrm>
          <a:prstGeom prst="roundRect">
            <a:avLst/>
          </a:prstGeom>
          <a:solidFill>
            <a:srgbClr val="F8FAFC"/>
          </a:solidFill>
          <a:ln w="6350">
            <a:solidFill>
              <a:srgbClr val="CBD5E1"/>
            </a:solidFill>
          </a:ln>
        </p:spPr>
        <p:txBody>
          <a:bodyPr/>
          <a:lstStyle/>
          <a:p>
            <a:endParaRPr lang="en-US"/>
          </a:p>
        </p:txBody>
      </p:sp>
      <p:sp>
        <p:nvSpPr>
          <p:cNvPr id="36" name="TextBox 36"/>
          <p:cNvSpPr txBox="1"/>
          <p:nvPr/>
        </p:nvSpPr>
        <p:spPr>
          <a:xfrm>
            <a:off x="3739896" y="3986784"/>
            <a:ext cx="1920240" cy="82296"/>
          </a:xfrm>
          <a:prstGeom prst="rect">
            <a:avLst/>
          </a:prstGeom>
          <a:noFill/>
          <a:ln>
            <a:noFill/>
          </a:ln>
        </p:spPr>
        <p:txBody>
          <a:bodyPr wrap="square" anchor="t"/>
          <a:lstStyle/>
          <a:p>
            <a:pPr algn="l"/>
            <a:r>
              <a:rPr lang="en-US" sz="819" dirty="0">
                <a:solidFill>
                  <a:srgbClr val="334155"/>
                </a:solidFill>
                <a:latin typeface="Aptos"/>
              </a:rPr>
              <a:t>stable staging path</a:t>
            </a:r>
          </a:p>
        </p:txBody>
      </p:sp>
      <p:sp>
        <p:nvSpPr>
          <p:cNvPr id="37" name="Shape 37"/>
          <p:cNvSpPr/>
          <p:nvPr/>
        </p:nvSpPr>
        <p:spPr>
          <a:xfrm>
            <a:off x="6501384" y="1719072"/>
            <a:ext cx="2103120" cy="384048"/>
          </a:xfrm>
          <a:prstGeom prst="roundRect">
            <a:avLst/>
          </a:prstGeom>
          <a:solidFill>
            <a:srgbClr val="F8FAFC"/>
          </a:solidFill>
          <a:ln w="6350">
            <a:solidFill>
              <a:srgbClr val="CBD5E1"/>
            </a:solidFill>
          </a:ln>
        </p:spPr>
        <p:txBody>
          <a:bodyPr/>
          <a:lstStyle/>
          <a:p>
            <a:endParaRPr lang="en-US"/>
          </a:p>
        </p:txBody>
      </p:sp>
      <p:sp>
        <p:nvSpPr>
          <p:cNvPr id="38" name="TextBox 38"/>
          <p:cNvSpPr txBox="1"/>
          <p:nvPr/>
        </p:nvSpPr>
        <p:spPr>
          <a:xfrm>
            <a:off x="6592824" y="1847088"/>
            <a:ext cx="1920240" cy="82296"/>
          </a:xfrm>
          <a:prstGeom prst="rect">
            <a:avLst/>
          </a:prstGeom>
          <a:noFill/>
          <a:ln>
            <a:noFill/>
          </a:ln>
        </p:spPr>
        <p:txBody>
          <a:bodyPr wrap="square" anchor="t"/>
          <a:lstStyle/>
          <a:p>
            <a:pPr algn="l"/>
            <a:r>
              <a:rPr lang="en-US" sz="819" dirty="0">
                <a:solidFill>
                  <a:srgbClr val="334155"/>
                </a:solidFill>
                <a:latin typeface="Aptos"/>
              </a:rPr>
              <a:t>Large MoE footprint</a:t>
            </a:r>
          </a:p>
        </p:txBody>
      </p:sp>
      <p:sp>
        <p:nvSpPr>
          <p:cNvPr id="39" name="Shape 39"/>
          <p:cNvSpPr/>
          <p:nvPr/>
        </p:nvSpPr>
        <p:spPr>
          <a:xfrm>
            <a:off x="6501384" y="2432304"/>
            <a:ext cx="2103120" cy="384048"/>
          </a:xfrm>
          <a:prstGeom prst="roundRect">
            <a:avLst/>
          </a:prstGeom>
          <a:solidFill>
            <a:srgbClr val="F8FAFC"/>
          </a:solidFill>
          <a:ln w="6350">
            <a:solidFill>
              <a:srgbClr val="CBD5E1"/>
            </a:solidFill>
          </a:ln>
        </p:spPr>
        <p:txBody>
          <a:bodyPr/>
          <a:lstStyle/>
          <a:p>
            <a:endParaRPr lang="en-US"/>
          </a:p>
        </p:txBody>
      </p:sp>
      <p:sp>
        <p:nvSpPr>
          <p:cNvPr id="40" name="TextBox 40"/>
          <p:cNvSpPr txBox="1"/>
          <p:nvPr/>
        </p:nvSpPr>
        <p:spPr>
          <a:xfrm>
            <a:off x="6592824" y="2560320"/>
            <a:ext cx="1920240" cy="82296"/>
          </a:xfrm>
          <a:prstGeom prst="rect">
            <a:avLst/>
          </a:prstGeom>
          <a:noFill/>
          <a:ln>
            <a:noFill/>
          </a:ln>
        </p:spPr>
        <p:txBody>
          <a:bodyPr wrap="square" anchor="t"/>
          <a:lstStyle/>
          <a:p>
            <a:pPr algn="l"/>
            <a:r>
              <a:rPr lang="en-US" sz="819" dirty="0">
                <a:solidFill>
                  <a:srgbClr val="334155"/>
                </a:solidFill>
                <a:latin typeface="Aptos"/>
              </a:rPr>
              <a:t>hot expert reuse</a:t>
            </a:r>
          </a:p>
        </p:txBody>
      </p:sp>
      <p:sp>
        <p:nvSpPr>
          <p:cNvPr id="41" name="Shape 41"/>
          <p:cNvSpPr/>
          <p:nvPr/>
        </p:nvSpPr>
        <p:spPr>
          <a:xfrm>
            <a:off x="6501384" y="3145536"/>
            <a:ext cx="2103120" cy="384048"/>
          </a:xfrm>
          <a:prstGeom prst="roundRect">
            <a:avLst/>
          </a:prstGeom>
          <a:solidFill>
            <a:srgbClr val="F8FAFC"/>
          </a:solidFill>
          <a:ln w="6350">
            <a:solidFill>
              <a:srgbClr val="CBD5E1"/>
            </a:solidFill>
          </a:ln>
        </p:spPr>
        <p:txBody>
          <a:bodyPr/>
          <a:lstStyle/>
          <a:p>
            <a:endParaRPr lang="en-US"/>
          </a:p>
        </p:txBody>
      </p:sp>
      <p:sp>
        <p:nvSpPr>
          <p:cNvPr id="42" name="TextBox 42"/>
          <p:cNvSpPr txBox="1"/>
          <p:nvPr/>
        </p:nvSpPr>
        <p:spPr>
          <a:xfrm>
            <a:off x="6592824" y="3273552"/>
            <a:ext cx="1920240" cy="82296"/>
          </a:xfrm>
          <a:prstGeom prst="rect">
            <a:avLst/>
          </a:prstGeom>
          <a:noFill/>
          <a:ln>
            <a:noFill/>
          </a:ln>
        </p:spPr>
        <p:txBody>
          <a:bodyPr wrap="square" anchor="t"/>
          <a:lstStyle/>
          <a:p>
            <a:pPr algn="l"/>
            <a:r>
              <a:rPr lang="en-US" sz="819" dirty="0">
                <a:solidFill>
                  <a:srgbClr val="334155"/>
                </a:solidFill>
                <a:latin typeface="Aptos"/>
              </a:rPr>
              <a:t>long prefixes</a:t>
            </a:r>
          </a:p>
        </p:txBody>
      </p:sp>
      <p:sp>
        <p:nvSpPr>
          <p:cNvPr id="43" name="Shape 43"/>
          <p:cNvSpPr/>
          <p:nvPr/>
        </p:nvSpPr>
        <p:spPr>
          <a:xfrm>
            <a:off x="6501384" y="3858768"/>
            <a:ext cx="2103120" cy="384048"/>
          </a:xfrm>
          <a:prstGeom prst="roundRect">
            <a:avLst/>
          </a:prstGeom>
          <a:solidFill>
            <a:srgbClr val="F8FAFC"/>
          </a:solidFill>
          <a:ln w="6350">
            <a:solidFill>
              <a:srgbClr val="CBD5E1"/>
            </a:solidFill>
          </a:ln>
        </p:spPr>
        <p:txBody>
          <a:bodyPr/>
          <a:lstStyle/>
          <a:p>
            <a:endParaRPr lang="en-US"/>
          </a:p>
        </p:txBody>
      </p:sp>
      <p:sp>
        <p:nvSpPr>
          <p:cNvPr id="44" name="TextBox 44"/>
          <p:cNvSpPr txBox="1"/>
          <p:nvPr/>
        </p:nvSpPr>
        <p:spPr>
          <a:xfrm>
            <a:off x="6592824" y="3986784"/>
            <a:ext cx="1920240" cy="82296"/>
          </a:xfrm>
          <a:prstGeom prst="rect">
            <a:avLst/>
          </a:prstGeom>
          <a:noFill/>
          <a:ln>
            <a:noFill/>
          </a:ln>
        </p:spPr>
        <p:txBody>
          <a:bodyPr wrap="square" anchor="t"/>
          <a:lstStyle/>
          <a:p>
            <a:pPr algn="l"/>
            <a:r>
              <a:rPr lang="en-US" sz="819" dirty="0">
                <a:solidFill>
                  <a:srgbClr val="334155"/>
                </a:solidFill>
                <a:latin typeface="Aptos"/>
              </a:rPr>
              <a:t>capacity-led scale-out</a:t>
            </a:r>
          </a:p>
        </p:txBody>
      </p:sp>
      <p:sp>
        <p:nvSpPr>
          <p:cNvPr id="45" name="Shape 45"/>
          <p:cNvSpPr/>
          <p:nvPr/>
        </p:nvSpPr>
        <p:spPr>
          <a:xfrm>
            <a:off x="9354312" y="1719072"/>
            <a:ext cx="2103120" cy="384048"/>
          </a:xfrm>
          <a:prstGeom prst="roundRect">
            <a:avLst/>
          </a:prstGeom>
          <a:solidFill>
            <a:srgbClr val="F8FAFC"/>
          </a:solidFill>
          <a:ln w="6350">
            <a:solidFill>
              <a:srgbClr val="CBD5E1"/>
            </a:solidFill>
          </a:ln>
        </p:spPr>
        <p:txBody>
          <a:bodyPr/>
          <a:lstStyle/>
          <a:p>
            <a:endParaRPr lang="en-US"/>
          </a:p>
        </p:txBody>
      </p:sp>
      <p:sp>
        <p:nvSpPr>
          <p:cNvPr id="46" name="TextBox 46"/>
          <p:cNvSpPr txBox="1"/>
          <p:nvPr/>
        </p:nvSpPr>
        <p:spPr>
          <a:xfrm>
            <a:off x="9445752" y="1847088"/>
            <a:ext cx="1920240" cy="82296"/>
          </a:xfrm>
          <a:prstGeom prst="rect">
            <a:avLst/>
          </a:prstGeom>
          <a:noFill/>
          <a:ln>
            <a:noFill/>
          </a:ln>
        </p:spPr>
        <p:txBody>
          <a:bodyPr wrap="square" anchor="t"/>
          <a:lstStyle/>
          <a:p>
            <a:pPr algn="l"/>
            <a:r>
              <a:rPr lang="en-US" sz="819" dirty="0">
                <a:solidFill>
                  <a:srgbClr val="334155"/>
                </a:solidFill>
                <a:latin typeface="Aptos"/>
              </a:rPr>
              <a:t>Tool/RAG dominates</a:t>
            </a:r>
          </a:p>
        </p:txBody>
      </p:sp>
      <p:sp>
        <p:nvSpPr>
          <p:cNvPr id="47" name="Shape 47"/>
          <p:cNvSpPr/>
          <p:nvPr/>
        </p:nvSpPr>
        <p:spPr>
          <a:xfrm>
            <a:off x="9354312" y="2432304"/>
            <a:ext cx="2103120" cy="384048"/>
          </a:xfrm>
          <a:prstGeom prst="roundRect">
            <a:avLst/>
          </a:prstGeom>
          <a:solidFill>
            <a:srgbClr val="F8FAFC"/>
          </a:solidFill>
          <a:ln w="6350">
            <a:solidFill>
              <a:srgbClr val="CBD5E1"/>
            </a:solidFill>
          </a:ln>
        </p:spPr>
        <p:txBody>
          <a:bodyPr/>
          <a:lstStyle/>
          <a:p>
            <a:endParaRPr lang="en-US"/>
          </a:p>
        </p:txBody>
      </p:sp>
      <p:sp>
        <p:nvSpPr>
          <p:cNvPr id="48" name="TextBox 48"/>
          <p:cNvSpPr txBox="1"/>
          <p:nvPr/>
        </p:nvSpPr>
        <p:spPr>
          <a:xfrm>
            <a:off x="9445752" y="2560320"/>
            <a:ext cx="1920240" cy="82296"/>
          </a:xfrm>
          <a:prstGeom prst="rect">
            <a:avLst/>
          </a:prstGeom>
          <a:noFill/>
          <a:ln>
            <a:noFill/>
          </a:ln>
        </p:spPr>
        <p:txBody>
          <a:bodyPr wrap="square" anchor="t"/>
          <a:lstStyle/>
          <a:p>
            <a:pPr algn="l"/>
            <a:r>
              <a:rPr lang="en-US" sz="819" dirty="0">
                <a:solidFill>
                  <a:srgbClr val="334155"/>
                </a:solidFill>
                <a:latin typeface="Aptos"/>
              </a:rPr>
              <a:t>low reuse</a:t>
            </a:r>
          </a:p>
        </p:txBody>
      </p:sp>
      <p:sp>
        <p:nvSpPr>
          <p:cNvPr id="49" name="Shape 49"/>
          <p:cNvSpPr/>
          <p:nvPr/>
        </p:nvSpPr>
        <p:spPr>
          <a:xfrm>
            <a:off x="9354312" y="3145536"/>
            <a:ext cx="2103120" cy="384048"/>
          </a:xfrm>
          <a:prstGeom prst="roundRect">
            <a:avLst/>
          </a:prstGeom>
          <a:solidFill>
            <a:srgbClr val="F8FAFC"/>
          </a:solidFill>
          <a:ln w="6350">
            <a:solidFill>
              <a:srgbClr val="CBD5E1"/>
            </a:solidFill>
          </a:ln>
        </p:spPr>
        <p:txBody>
          <a:bodyPr/>
          <a:lstStyle/>
          <a:p>
            <a:endParaRPr lang="en-US"/>
          </a:p>
        </p:txBody>
      </p:sp>
      <p:sp>
        <p:nvSpPr>
          <p:cNvPr id="50" name="TextBox 50"/>
          <p:cNvSpPr txBox="1"/>
          <p:nvPr/>
        </p:nvSpPr>
        <p:spPr>
          <a:xfrm>
            <a:off x="9445752" y="3273552"/>
            <a:ext cx="1920240" cy="82296"/>
          </a:xfrm>
          <a:prstGeom prst="rect">
            <a:avLst/>
          </a:prstGeom>
          <a:noFill/>
          <a:ln>
            <a:noFill/>
          </a:ln>
        </p:spPr>
        <p:txBody>
          <a:bodyPr wrap="square" anchor="t"/>
          <a:lstStyle/>
          <a:p>
            <a:pPr algn="l"/>
            <a:r>
              <a:rPr lang="en-US" sz="819" dirty="0">
                <a:solidFill>
                  <a:srgbClr val="334155"/>
                </a:solidFill>
                <a:latin typeface="Aptos"/>
              </a:rPr>
              <a:t>random tiny reads</a:t>
            </a:r>
          </a:p>
        </p:txBody>
      </p:sp>
      <p:sp>
        <p:nvSpPr>
          <p:cNvPr id="51" name="Shape 51"/>
          <p:cNvSpPr/>
          <p:nvPr/>
        </p:nvSpPr>
        <p:spPr>
          <a:xfrm>
            <a:off x="9354312" y="3858768"/>
            <a:ext cx="2103120" cy="384048"/>
          </a:xfrm>
          <a:prstGeom prst="roundRect">
            <a:avLst/>
          </a:prstGeom>
          <a:solidFill>
            <a:srgbClr val="F8FAFC"/>
          </a:solidFill>
          <a:ln w="6350">
            <a:solidFill>
              <a:srgbClr val="CBD5E1"/>
            </a:solidFill>
          </a:ln>
        </p:spPr>
        <p:txBody>
          <a:bodyPr/>
          <a:lstStyle/>
          <a:p>
            <a:endParaRPr lang="en-US"/>
          </a:p>
        </p:txBody>
      </p:sp>
      <p:sp>
        <p:nvSpPr>
          <p:cNvPr id="52" name="TextBox 52"/>
          <p:cNvSpPr txBox="1"/>
          <p:nvPr/>
        </p:nvSpPr>
        <p:spPr>
          <a:xfrm>
            <a:off x="9445752" y="3986784"/>
            <a:ext cx="1920240" cy="82296"/>
          </a:xfrm>
          <a:prstGeom prst="rect">
            <a:avLst/>
          </a:prstGeom>
          <a:noFill/>
          <a:ln>
            <a:noFill/>
          </a:ln>
        </p:spPr>
        <p:txBody>
          <a:bodyPr wrap="square" anchor="t"/>
          <a:lstStyle/>
          <a:p>
            <a:pPr algn="l"/>
            <a:r>
              <a:rPr lang="en-US" sz="819" dirty="0">
                <a:solidFill>
                  <a:srgbClr val="334155"/>
                </a:solidFill>
                <a:latin typeface="Aptos"/>
              </a:rPr>
              <a:t>quality below threshold</a:t>
            </a:r>
          </a:p>
        </p:txBody>
      </p:sp>
      <p:sp>
        <p:nvSpPr>
          <p:cNvPr id="53" name="Shape 53"/>
          <p:cNvSpPr/>
          <p:nvPr/>
        </p:nvSpPr>
        <p:spPr>
          <a:xfrm>
            <a:off x="1051560" y="5632704"/>
            <a:ext cx="9875520" cy="502920"/>
          </a:xfrm>
          <a:prstGeom prst="roundRect">
            <a:avLst/>
          </a:prstGeom>
          <a:solidFill>
            <a:srgbClr val="EEF2FF"/>
          </a:solidFill>
          <a:ln w="6350">
            <a:solidFill>
              <a:srgbClr val="C7D2FE"/>
            </a:solidFill>
          </a:ln>
        </p:spPr>
        <p:txBody>
          <a:bodyPr/>
          <a:lstStyle/>
          <a:p>
            <a:endParaRPr lang="en-US"/>
          </a:p>
        </p:txBody>
      </p:sp>
      <p:sp>
        <p:nvSpPr>
          <p:cNvPr id="54" name="TextBox 54"/>
          <p:cNvSpPr txBox="1"/>
          <p:nvPr/>
        </p:nvSpPr>
        <p:spPr>
          <a:xfrm>
            <a:off x="1188720" y="5806440"/>
            <a:ext cx="9601200" cy="91440"/>
          </a:xfrm>
          <a:prstGeom prst="rect">
            <a:avLst/>
          </a:prstGeom>
          <a:noFill/>
          <a:ln>
            <a:noFill/>
          </a:ln>
        </p:spPr>
        <p:txBody>
          <a:bodyPr wrap="square" anchor="t"/>
          <a:lstStyle/>
          <a:p>
            <a:pPr algn="l"/>
            <a:r>
              <a:rPr lang="en-US" sz="900" dirty="0">
                <a:solidFill>
                  <a:srgbClr val="3730A3"/>
                </a:solidFill>
                <a:latin typeface="Aptos"/>
              </a:rPr>
              <a:t>POC sweep: model weights x TP/EP placement x context x concurrency x RAG payload x tool latency x reuse locality x cost/power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8FAFC"/>
          </a:solidFill>
          <a:ln w="6350">
            <a:solidFill>
              <a:srgbClr val="F8FAFC"/>
            </a:solidFill>
          </a:ln>
        </p:spPr>
        <p:txBody>
          <a:bodyPr/>
          <a:lstStyle/>
          <a:p>
            <a:endParaRPr lang="en-US"/>
          </a:p>
        </p:txBody>
      </p:sp>
      <p:sp>
        <p:nvSpPr>
          <p:cNvPr id="3" name="Shape 3"/>
          <p:cNvSpPr/>
          <p:nvPr/>
        </p:nvSpPr>
        <p:spPr>
          <a:xfrm>
            <a:off x="0" y="0"/>
            <a:ext cx="146304" cy="6858000"/>
          </a:xfrm>
          <a:prstGeom prst="rect">
            <a:avLst/>
          </a:prstGeom>
          <a:solidFill>
            <a:schemeClr val="accent2"/>
          </a:solidFill>
          <a:ln w="6350">
            <a:solidFill>
              <a:srgbClr val="00A3A3"/>
            </a:solidFill>
          </a:ln>
        </p:spPr>
        <p:txBody>
          <a:bodyPr/>
          <a:lstStyle/>
          <a:p>
            <a:endParaRPr lang="en-US"/>
          </a:p>
        </p:txBody>
      </p:sp>
      <p:sp>
        <p:nvSpPr>
          <p:cNvPr id="4" name="TextBox 4"/>
          <p:cNvSpPr txBox="1"/>
          <p:nvPr/>
        </p:nvSpPr>
        <p:spPr>
          <a:xfrm>
            <a:off x="384048" y="256032"/>
            <a:ext cx="9326880" cy="384048"/>
          </a:xfrm>
          <a:prstGeom prst="rect">
            <a:avLst/>
          </a:prstGeom>
          <a:noFill/>
          <a:ln>
            <a:noFill/>
          </a:ln>
        </p:spPr>
        <p:txBody>
          <a:bodyPr wrap="square" anchor="t"/>
          <a:lstStyle/>
          <a:p>
            <a:pPr algn="l"/>
            <a:r>
              <a:rPr lang="en-US" sz="2600" dirty="0">
                <a:solidFill>
                  <a:srgbClr val="0F172A"/>
                </a:solidFill>
                <a:latin typeface="Aptos"/>
              </a:rPr>
              <a:t>Parallelism and Placement Change the Economics</a:t>
            </a:r>
          </a:p>
        </p:txBody>
      </p:sp>
      <p:sp>
        <p:nvSpPr>
          <p:cNvPr id="5" name="TextBox 5"/>
          <p:cNvSpPr txBox="1"/>
          <p:nvPr/>
        </p:nvSpPr>
        <p:spPr>
          <a:xfrm>
            <a:off x="402336" y="694944"/>
            <a:ext cx="9875520" cy="256032"/>
          </a:xfrm>
          <a:prstGeom prst="rect">
            <a:avLst/>
          </a:prstGeom>
          <a:noFill/>
          <a:ln>
            <a:noFill/>
          </a:ln>
        </p:spPr>
        <p:txBody>
          <a:bodyPr wrap="square" anchor="t"/>
          <a:lstStyle/>
          <a:p>
            <a:pPr algn="l"/>
            <a:r>
              <a:rPr lang="en-US" sz="1000" dirty="0">
                <a:solidFill>
                  <a:srgbClr val="475569"/>
                </a:solidFill>
                <a:latin typeface="Aptos"/>
              </a:rPr>
              <a:t>The same model can look cheap or expensive depending on sharding, routing, and what stays resident.</a:t>
            </a:r>
          </a:p>
        </p:txBody>
      </p:sp>
      <p:sp>
        <p:nvSpPr>
          <p:cNvPr id="6" name="Shape 6"/>
          <p:cNvSpPr/>
          <p:nvPr/>
        </p:nvSpPr>
        <p:spPr>
          <a:xfrm>
            <a:off x="10515600" y="274320"/>
            <a:ext cx="1243584" cy="347472"/>
          </a:xfrm>
          <a:prstGeom prst="roundRect">
            <a:avLst/>
          </a:prstGeom>
          <a:solidFill>
            <a:srgbClr val="E0F2FE"/>
          </a:solidFill>
          <a:ln w="6350">
            <a:solidFill>
              <a:srgbClr val="7DD3FC"/>
            </a:solidFill>
          </a:ln>
        </p:spPr>
        <p:txBody>
          <a:bodyPr/>
          <a:lstStyle/>
          <a:p>
            <a:endParaRPr lang="en-US"/>
          </a:p>
        </p:txBody>
      </p:sp>
      <p:sp>
        <p:nvSpPr>
          <p:cNvPr id="7" name="TextBox 7"/>
          <p:cNvSpPr txBox="1"/>
          <p:nvPr/>
        </p:nvSpPr>
        <p:spPr>
          <a:xfrm>
            <a:off x="10607040" y="356616"/>
            <a:ext cx="1060704" cy="128016"/>
          </a:xfrm>
          <a:prstGeom prst="rect">
            <a:avLst/>
          </a:prstGeom>
          <a:noFill/>
          <a:ln>
            <a:noFill/>
          </a:ln>
        </p:spPr>
        <p:txBody>
          <a:bodyPr wrap="square" anchor="t"/>
          <a:lstStyle/>
          <a:p>
            <a:pPr algn="l"/>
            <a:r>
              <a:rPr lang="en-US" sz="800" dirty="0">
                <a:solidFill>
                  <a:srgbClr val="075985"/>
                </a:solidFill>
                <a:latin typeface="Aptos"/>
              </a:rPr>
              <a:t>v3 workload-fit</a:t>
            </a:r>
          </a:p>
        </p:txBody>
      </p:sp>
      <p:sp>
        <p:nvSpPr>
          <p:cNvPr id="8" name="TextBox 8"/>
          <p:cNvSpPr txBox="1"/>
          <p:nvPr/>
        </p:nvSpPr>
        <p:spPr>
          <a:xfrm>
            <a:off x="420624" y="6510528"/>
            <a:ext cx="7498080" cy="164592"/>
          </a:xfrm>
          <a:prstGeom prst="rect">
            <a:avLst/>
          </a:prstGeom>
          <a:noFill/>
          <a:ln>
            <a:noFill/>
          </a:ln>
        </p:spPr>
        <p:txBody>
          <a:bodyPr wrap="square" anchor="t"/>
          <a:lstStyle/>
          <a:p>
            <a:pPr algn="l"/>
            <a:r>
              <a:rPr lang="en-US" sz="700" dirty="0">
                <a:solidFill>
                  <a:srgbClr val="64748B"/>
                </a:solidFill>
                <a:latin typeface="Aptos"/>
              </a:rPr>
              <a:t>Use this slide to explain why the POC must sweep TP/EP, not freeze one topology too early.</a:t>
            </a:r>
          </a:p>
        </p:txBody>
      </p:sp>
      <p:sp>
        <p:nvSpPr>
          <p:cNvPr id="9" name="Shape 9"/>
          <p:cNvSpPr/>
          <p:nvPr/>
        </p:nvSpPr>
        <p:spPr>
          <a:xfrm>
            <a:off x="594360" y="1170432"/>
            <a:ext cx="2148840" cy="4434840"/>
          </a:xfrm>
          <a:prstGeom prst="roundRect">
            <a:avLst/>
          </a:prstGeom>
          <a:solidFill>
            <a:srgbClr val="FFFFFF"/>
          </a:solidFill>
          <a:ln w="6350">
            <a:solidFill>
              <a:srgbClr val="D8E2EE"/>
            </a:solidFill>
          </a:ln>
        </p:spPr>
        <p:txBody>
          <a:bodyPr/>
          <a:lstStyle/>
          <a:p>
            <a:endParaRPr lang="en-US"/>
          </a:p>
        </p:txBody>
      </p:sp>
      <p:sp>
        <p:nvSpPr>
          <p:cNvPr id="10" name="TextBox 10"/>
          <p:cNvSpPr txBox="1"/>
          <p:nvPr/>
        </p:nvSpPr>
        <p:spPr>
          <a:xfrm>
            <a:off x="777240" y="1371600"/>
            <a:ext cx="1783080" cy="164592"/>
          </a:xfrm>
          <a:prstGeom prst="rect">
            <a:avLst/>
          </a:prstGeom>
          <a:noFill/>
          <a:ln>
            <a:noFill/>
          </a:ln>
        </p:spPr>
        <p:txBody>
          <a:bodyPr wrap="square" anchor="t"/>
          <a:lstStyle/>
          <a:p>
            <a:pPr algn="l"/>
            <a:r>
              <a:rPr lang="en-US" sz="1300" dirty="0">
                <a:solidFill>
                  <a:srgbClr val="0F172A"/>
                </a:solidFill>
                <a:latin typeface="Aptos"/>
              </a:rPr>
              <a:t>Model footprint</a:t>
            </a:r>
          </a:p>
        </p:txBody>
      </p:sp>
      <p:sp>
        <p:nvSpPr>
          <p:cNvPr id="11" name="Shape 11"/>
          <p:cNvSpPr/>
          <p:nvPr/>
        </p:nvSpPr>
        <p:spPr>
          <a:xfrm>
            <a:off x="960120" y="1783080"/>
            <a:ext cx="1417320" cy="566928"/>
          </a:xfrm>
          <a:prstGeom prst="roundRect">
            <a:avLst/>
          </a:prstGeom>
          <a:solidFill>
            <a:srgbClr val="2563EB"/>
          </a:solidFill>
          <a:ln w="6350">
            <a:solidFill>
              <a:srgbClr val="2563EB"/>
            </a:solidFill>
          </a:ln>
        </p:spPr>
        <p:txBody>
          <a:bodyPr/>
          <a:lstStyle/>
          <a:p>
            <a:endParaRPr lang="en-US"/>
          </a:p>
        </p:txBody>
      </p:sp>
      <p:sp>
        <p:nvSpPr>
          <p:cNvPr id="12" name="TextBox 12"/>
          <p:cNvSpPr txBox="1"/>
          <p:nvPr/>
        </p:nvSpPr>
        <p:spPr>
          <a:xfrm>
            <a:off x="1033272" y="1965960"/>
            <a:ext cx="1280160" cy="109728"/>
          </a:xfrm>
          <a:prstGeom prst="rect">
            <a:avLst/>
          </a:prstGeom>
          <a:noFill/>
          <a:ln>
            <a:noFill/>
          </a:ln>
        </p:spPr>
        <p:txBody>
          <a:bodyPr wrap="square" anchor="t"/>
          <a:lstStyle/>
          <a:p>
            <a:pPr algn="l"/>
            <a:r>
              <a:rPr lang="en-US" sz="740" dirty="0">
                <a:solidFill>
                  <a:srgbClr val="FFFFFF"/>
                </a:solidFill>
                <a:latin typeface="Aptos"/>
              </a:rPr>
              <a:t>Resident hot experts</a:t>
            </a:r>
          </a:p>
        </p:txBody>
      </p:sp>
      <p:sp>
        <p:nvSpPr>
          <p:cNvPr id="13" name="Shape 13"/>
          <p:cNvSpPr/>
          <p:nvPr/>
        </p:nvSpPr>
        <p:spPr>
          <a:xfrm>
            <a:off x="960120" y="2240280"/>
            <a:ext cx="1417320" cy="566928"/>
          </a:xfrm>
          <a:prstGeom prst="roundRect">
            <a:avLst/>
          </a:prstGeom>
          <a:solidFill>
            <a:srgbClr val="F59E0B"/>
          </a:solidFill>
          <a:ln w="6350">
            <a:solidFill>
              <a:srgbClr val="F59E0B"/>
            </a:solidFill>
          </a:ln>
        </p:spPr>
        <p:txBody>
          <a:bodyPr/>
          <a:lstStyle/>
          <a:p>
            <a:endParaRPr lang="en-US"/>
          </a:p>
        </p:txBody>
      </p:sp>
      <p:sp>
        <p:nvSpPr>
          <p:cNvPr id="14" name="TextBox 14"/>
          <p:cNvSpPr txBox="1"/>
          <p:nvPr/>
        </p:nvSpPr>
        <p:spPr>
          <a:xfrm>
            <a:off x="1033272" y="2423160"/>
            <a:ext cx="1280160" cy="109728"/>
          </a:xfrm>
          <a:prstGeom prst="rect">
            <a:avLst/>
          </a:prstGeom>
          <a:noFill/>
          <a:ln>
            <a:noFill/>
          </a:ln>
        </p:spPr>
        <p:txBody>
          <a:bodyPr wrap="square" anchor="t"/>
          <a:lstStyle/>
          <a:p>
            <a:pPr algn="l"/>
            <a:r>
              <a:rPr lang="en-US" sz="740" dirty="0">
                <a:solidFill>
                  <a:srgbClr val="FFFFFF"/>
                </a:solidFill>
                <a:latin typeface="Aptos"/>
              </a:rPr>
              <a:t>Warm experts / KV</a:t>
            </a:r>
          </a:p>
        </p:txBody>
      </p:sp>
      <p:sp>
        <p:nvSpPr>
          <p:cNvPr id="15" name="Shape 15"/>
          <p:cNvSpPr/>
          <p:nvPr/>
        </p:nvSpPr>
        <p:spPr>
          <a:xfrm>
            <a:off x="960120" y="2697480"/>
            <a:ext cx="1417320" cy="566928"/>
          </a:xfrm>
          <a:prstGeom prst="roundRect">
            <a:avLst/>
          </a:prstGeom>
          <a:solidFill>
            <a:srgbClr val="0F766E"/>
          </a:solidFill>
          <a:ln w="6350">
            <a:solidFill>
              <a:srgbClr val="0F766E"/>
            </a:solidFill>
          </a:ln>
        </p:spPr>
        <p:txBody>
          <a:bodyPr/>
          <a:lstStyle/>
          <a:p>
            <a:endParaRPr lang="en-US"/>
          </a:p>
        </p:txBody>
      </p:sp>
      <p:sp>
        <p:nvSpPr>
          <p:cNvPr id="16" name="TextBox 16"/>
          <p:cNvSpPr txBox="1"/>
          <p:nvPr/>
        </p:nvSpPr>
        <p:spPr>
          <a:xfrm>
            <a:off x="1033272" y="2880360"/>
            <a:ext cx="1280160" cy="109728"/>
          </a:xfrm>
          <a:prstGeom prst="rect">
            <a:avLst/>
          </a:prstGeom>
          <a:noFill/>
          <a:ln>
            <a:noFill/>
          </a:ln>
        </p:spPr>
        <p:txBody>
          <a:bodyPr wrap="square" anchor="t"/>
          <a:lstStyle/>
          <a:p>
            <a:pPr algn="l"/>
            <a:r>
              <a:rPr lang="en-US" sz="740" dirty="0">
                <a:solidFill>
                  <a:srgbClr val="FFFFFF"/>
                </a:solidFill>
                <a:latin typeface="Aptos"/>
              </a:rPr>
              <a:t>Cold or reusable state</a:t>
            </a:r>
          </a:p>
        </p:txBody>
      </p:sp>
      <p:sp>
        <p:nvSpPr>
          <p:cNvPr id="17" name="Shape 17"/>
          <p:cNvSpPr/>
          <p:nvPr/>
        </p:nvSpPr>
        <p:spPr>
          <a:xfrm>
            <a:off x="3200400" y="1097280"/>
            <a:ext cx="2212848" cy="1874520"/>
          </a:xfrm>
          <a:prstGeom prst="roundRect">
            <a:avLst/>
          </a:prstGeom>
          <a:solidFill>
            <a:srgbClr val="FFFFFF"/>
          </a:solidFill>
          <a:ln w="6350">
            <a:solidFill>
              <a:srgbClr val="D8E2EE"/>
            </a:solidFill>
          </a:ln>
        </p:spPr>
        <p:txBody>
          <a:bodyPr/>
          <a:lstStyle/>
          <a:p>
            <a:endParaRPr lang="en-US"/>
          </a:p>
        </p:txBody>
      </p:sp>
      <p:sp>
        <p:nvSpPr>
          <p:cNvPr id="18" name="Shape 18"/>
          <p:cNvSpPr/>
          <p:nvPr/>
        </p:nvSpPr>
        <p:spPr>
          <a:xfrm>
            <a:off x="3200400" y="1097280"/>
            <a:ext cx="73152" cy="1874520"/>
          </a:xfrm>
          <a:prstGeom prst="rect">
            <a:avLst/>
          </a:prstGeom>
          <a:solidFill>
            <a:srgbClr val="2563EB"/>
          </a:solidFill>
          <a:ln w="6350">
            <a:solidFill>
              <a:srgbClr val="2563EB"/>
            </a:solidFill>
          </a:ln>
        </p:spPr>
        <p:txBody>
          <a:bodyPr/>
          <a:lstStyle/>
          <a:p>
            <a:endParaRPr lang="en-US"/>
          </a:p>
        </p:txBody>
      </p:sp>
      <p:sp>
        <p:nvSpPr>
          <p:cNvPr id="19" name="TextBox 19"/>
          <p:cNvSpPr txBox="1"/>
          <p:nvPr/>
        </p:nvSpPr>
        <p:spPr>
          <a:xfrm>
            <a:off x="3383280" y="1243584"/>
            <a:ext cx="1883664" cy="228600"/>
          </a:xfrm>
          <a:prstGeom prst="rect">
            <a:avLst/>
          </a:prstGeom>
          <a:noFill/>
          <a:ln>
            <a:noFill/>
          </a:ln>
        </p:spPr>
        <p:txBody>
          <a:bodyPr wrap="square" anchor="t"/>
          <a:lstStyle/>
          <a:p>
            <a:pPr algn="l"/>
            <a:r>
              <a:rPr lang="en-US" sz="1300" dirty="0">
                <a:solidFill>
                  <a:srgbClr val="0F172A"/>
                </a:solidFill>
                <a:latin typeface="Aptos"/>
              </a:rPr>
              <a:t>Tensor parallel</a:t>
            </a:r>
          </a:p>
        </p:txBody>
      </p:sp>
      <p:sp>
        <p:nvSpPr>
          <p:cNvPr id="20" name="TextBox 20"/>
          <p:cNvSpPr txBox="1"/>
          <p:nvPr/>
        </p:nvSpPr>
        <p:spPr>
          <a:xfrm>
            <a:off x="3383280" y="1554480"/>
            <a:ext cx="1901952" cy="1307592"/>
          </a:xfrm>
          <a:prstGeom prst="rect">
            <a:avLst/>
          </a:prstGeom>
          <a:noFill/>
          <a:ln>
            <a:noFill/>
          </a:ln>
        </p:spPr>
        <p:txBody>
          <a:bodyPr wrap="square" anchor="t"/>
          <a:lstStyle/>
          <a:p>
            <a:pPr algn="l"/>
            <a:r>
              <a:rPr lang="en-US" sz="860" dirty="0">
                <a:solidFill>
                  <a:srgbClr val="475569"/>
                </a:solidFill>
                <a:latin typeface="Aptos"/>
              </a:rPr>
              <a:t>Splits tensors across GPUs. Can reduce per-GPU weights, but adds cross-GPU communication and synchronization.</a:t>
            </a:r>
          </a:p>
        </p:txBody>
      </p:sp>
      <p:sp>
        <p:nvSpPr>
          <p:cNvPr id="21" name="Shape 21"/>
          <p:cNvSpPr/>
          <p:nvPr/>
        </p:nvSpPr>
        <p:spPr>
          <a:xfrm>
            <a:off x="5806440" y="1097280"/>
            <a:ext cx="2212848" cy="1874520"/>
          </a:xfrm>
          <a:prstGeom prst="roundRect">
            <a:avLst/>
          </a:prstGeom>
          <a:solidFill>
            <a:srgbClr val="FFFFFF"/>
          </a:solidFill>
          <a:ln w="6350">
            <a:solidFill>
              <a:srgbClr val="D8E2EE"/>
            </a:solidFill>
          </a:ln>
        </p:spPr>
        <p:txBody>
          <a:bodyPr/>
          <a:lstStyle/>
          <a:p>
            <a:endParaRPr lang="en-US"/>
          </a:p>
        </p:txBody>
      </p:sp>
      <p:sp>
        <p:nvSpPr>
          <p:cNvPr id="22" name="Shape 22"/>
          <p:cNvSpPr/>
          <p:nvPr/>
        </p:nvSpPr>
        <p:spPr>
          <a:xfrm>
            <a:off x="5806440" y="1097280"/>
            <a:ext cx="73152" cy="1874520"/>
          </a:xfrm>
          <a:prstGeom prst="rect">
            <a:avLst/>
          </a:prstGeom>
          <a:solidFill>
            <a:srgbClr val="F59E0B"/>
          </a:solidFill>
          <a:ln w="6350">
            <a:solidFill>
              <a:srgbClr val="F59E0B"/>
            </a:solidFill>
          </a:ln>
        </p:spPr>
        <p:txBody>
          <a:bodyPr/>
          <a:lstStyle/>
          <a:p>
            <a:endParaRPr lang="en-US"/>
          </a:p>
        </p:txBody>
      </p:sp>
      <p:sp>
        <p:nvSpPr>
          <p:cNvPr id="23" name="TextBox 23"/>
          <p:cNvSpPr txBox="1"/>
          <p:nvPr/>
        </p:nvSpPr>
        <p:spPr>
          <a:xfrm>
            <a:off x="5989320" y="1243584"/>
            <a:ext cx="1883664" cy="228600"/>
          </a:xfrm>
          <a:prstGeom prst="rect">
            <a:avLst/>
          </a:prstGeom>
          <a:noFill/>
          <a:ln>
            <a:noFill/>
          </a:ln>
        </p:spPr>
        <p:txBody>
          <a:bodyPr wrap="square" anchor="t"/>
          <a:lstStyle/>
          <a:p>
            <a:pPr algn="l"/>
            <a:r>
              <a:rPr lang="en-US" sz="1300" dirty="0">
                <a:solidFill>
                  <a:srgbClr val="0F172A"/>
                </a:solidFill>
                <a:latin typeface="Aptos"/>
              </a:rPr>
              <a:t>Expert parallel</a:t>
            </a:r>
          </a:p>
        </p:txBody>
      </p:sp>
      <p:sp>
        <p:nvSpPr>
          <p:cNvPr id="24" name="TextBox 24"/>
          <p:cNvSpPr txBox="1"/>
          <p:nvPr/>
        </p:nvSpPr>
        <p:spPr>
          <a:xfrm>
            <a:off x="5989320" y="1554480"/>
            <a:ext cx="1901952" cy="1307592"/>
          </a:xfrm>
          <a:prstGeom prst="rect">
            <a:avLst/>
          </a:prstGeom>
          <a:noFill/>
          <a:ln>
            <a:noFill/>
          </a:ln>
        </p:spPr>
        <p:txBody>
          <a:bodyPr wrap="square" anchor="t"/>
          <a:lstStyle/>
          <a:p>
            <a:pPr algn="l"/>
            <a:r>
              <a:rPr lang="en-US" sz="860" dirty="0">
                <a:solidFill>
                  <a:srgbClr val="475569"/>
                </a:solidFill>
                <a:latin typeface="Aptos"/>
              </a:rPr>
              <a:t>Places different experts on different devices. Good when routing locality is stable; expensive when experts churn.</a:t>
            </a:r>
          </a:p>
        </p:txBody>
      </p:sp>
      <p:sp>
        <p:nvSpPr>
          <p:cNvPr id="25" name="Shape 25"/>
          <p:cNvSpPr/>
          <p:nvPr/>
        </p:nvSpPr>
        <p:spPr>
          <a:xfrm>
            <a:off x="8412480" y="1097280"/>
            <a:ext cx="2212848" cy="1874520"/>
          </a:xfrm>
          <a:prstGeom prst="roundRect">
            <a:avLst/>
          </a:prstGeom>
          <a:solidFill>
            <a:srgbClr val="FFFFFF"/>
          </a:solidFill>
          <a:ln w="6350">
            <a:solidFill>
              <a:srgbClr val="D8E2EE"/>
            </a:solidFill>
          </a:ln>
        </p:spPr>
        <p:txBody>
          <a:bodyPr/>
          <a:lstStyle/>
          <a:p>
            <a:endParaRPr lang="en-US"/>
          </a:p>
        </p:txBody>
      </p:sp>
      <p:sp>
        <p:nvSpPr>
          <p:cNvPr id="26" name="Shape 26"/>
          <p:cNvSpPr/>
          <p:nvPr/>
        </p:nvSpPr>
        <p:spPr>
          <a:xfrm>
            <a:off x="8412480" y="1097280"/>
            <a:ext cx="73152" cy="1874520"/>
          </a:xfrm>
          <a:prstGeom prst="rect">
            <a:avLst/>
          </a:prstGeom>
          <a:solidFill>
            <a:srgbClr val="0F766E"/>
          </a:solidFill>
          <a:ln w="6350">
            <a:solidFill>
              <a:srgbClr val="0F766E"/>
            </a:solidFill>
          </a:ln>
        </p:spPr>
        <p:txBody>
          <a:bodyPr/>
          <a:lstStyle/>
          <a:p>
            <a:endParaRPr lang="en-US"/>
          </a:p>
        </p:txBody>
      </p:sp>
      <p:sp>
        <p:nvSpPr>
          <p:cNvPr id="27" name="TextBox 27"/>
          <p:cNvSpPr txBox="1"/>
          <p:nvPr/>
        </p:nvSpPr>
        <p:spPr>
          <a:xfrm>
            <a:off x="8595360" y="1243584"/>
            <a:ext cx="1883664" cy="228600"/>
          </a:xfrm>
          <a:prstGeom prst="rect">
            <a:avLst/>
          </a:prstGeom>
          <a:noFill/>
          <a:ln>
            <a:noFill/>
          </a:ln>
        </p:spPr>
        <p:txBody>
          <a:bodyPr wrap="square" anchor="t"/>
          <a:lstStyle/>
          <a:p>
            <a:pPr algn="l"/>
            <a:r>
              <a:rPr lang="en-US" sz="1300" dirty="0">
                <a:solidFill>
                  <a:srgbClr val="0F172A"/>
                </a:solidFill>
                <a:latin typeface="Aptos"/>
              </a:rPr>
              <a:t>Tiered HBF placement</a:t>
            </a:r>
          </a:p>
        </p:txBody>
      </p:sp>
      <p:sp>
        <p:nvSpPr>
          <p:cNvPr id="28" name="TextBox 28"/>
          <p:cNvSpPr txBox="1"/>
          <p:nvPr/>
        </p:nvSpPr>
        <p:spPr>
          <a:xfrm>
            <a:off x="8595360" y="1554480"/>
            <a:ext cx="1901952" cy="1307592"/>
          </a:xfrm>
          <a:prstGeom prst="rect">
            <a:avLst/>
          </a:prstGeom>
          <a:noFill/>
          <a:ln>
            <a:noFill/>
          </a:ln>
        </p:spPr>
        <p:txBody>
          <a:bodyPr wrap="square" anchor="t"/>
          <a:lstStyle/>
          <a:p>
            <a:pPr algn="l"/>
            <a:r>
              <a:rPr lang="en-US" sz="860" dirty="0">
                <a:solidFill>
                  <a:srgbClr val="475569"/>
                </a:solidFill>
                <a:latin typeface="Aptos"/>
              </a:rPr>
              <a:t>Keeps broad expert/KV portfolio near compute. Wins only when fetch/preload is hidden or cheaper than scale-out.</a:t>
            </a:r>
          </a:p>
        </p:txBody>
      </p:sp>
      <p:cxnSp>
        <p:nvCxnSpPr>
          <p:cNvPr id="29" name="Line 29"/>
          <p:cNvCxnSpPr/>
          <p:nvPr/>
        </p:nvCxnSpPr>
        <p:spPr>
          <a:xfrm flipV="1">
            <a:off x="2697480" y="2057400"/>
            <a:ext cx="502920" cy="731520"/>
          </a:xfrm>
          <a:prstGeom prst="line">
            <a:avLst/>
          </a:prstGeom>
          <a:ln w="25400">
            <a:solidFill>
              <a:srgbClr val="94A3B8"/>
            </a:solidFill>
          </a:ln>
        </p:spPr>
      </p:cxnSp>
      <p:cxnSp>
        <p:nvCxnSpPr>
          <p:cNvPr id="30" name="Line 30"/>
          <p:cNvCxnSpPr/>
          <p:nvPr/>
        </p:nvCxnSpPr>
        <p:spPr>
          <a:xfrm flipV="1">
            <a:off x="2697480" y="2057400"/>
            <a:ext cx="3108960" cy="731520"/>
          </a:xfrm>
          <a:prstGeom prst="line">
            <a:avLst/>
          </a:prstGeom>
          <a:ln w="25400">
            <a:solidFill>
              <a:srgbClr val="94A3B8"/>
            </a:solidFill>
          </a:ln>
        </p:spPr>
      </p:cxnSp>
      <p:cxnSp>
        <p:nvCxnSpPr>
          <p:cNvPr id="31" name="Line 31"/>
          <p:cNvCxnSpPr/>
          <p:nvPr/>
        </p:nvCxnSpPr>
        <p:spPr>
          <a:xfrm flipV="1">
            <a:off x="2697480" y="2057400"/>
            <a:ext cx="5715000" cy="731520"/>
          </a:xfrm>
          <a:prstGeom prst="line">
            <a:avLst/>
          </a:prstGeom>
          <a:ln w="25400">
            <a:solidFill>
              <a:srgbClr val="94A3B8"/>
            </a:solidFill>
          </a:ln>
        </p:spPr>
      </p:cxnSp>
      <p:sp>
        <p:nvSpPr>
          <p:cNvPr id="32" name="Shape 32"/>
          <p:cNvSpPr/>
          <p:nvPr/>
        </p:nvSpPr>
        <p:spPr>
          <a:xfrm>
            <a:off x="685800" y="3456432"/>
            <a:ext cx="2423160" cy="310896"/>
          </a:xfrm>
          <a:prstGeom prst="rect">
            <a:avLst/>
          </a:prstGeom>
          <a:solidFill>
            <a:srgbClr val="0F172A"/>
          </a:solidFill>
          <a:ln w="6350">
            <a:solidFill>
              <a:srgbClr val="0F172A"/>
            </a:solidFill>
          </a:ln>
        </p:spPr>
        <p:txBody>
          <a:bodyPr/>
          <a:lstStyle/>
          <a:p>
            <a:endParaRPr lang="en-US"/>
          </a:p>
        </p:txBody>
      </p:sp>
      <p:sp>
        <p:nvSpPr>
          <p:cNvPr id="33" name="TextBox 33"/>
          <p:cNvSpPr txBox="1"/>
          <p:nvPr/>
        </p:nvSpPr>
        <p:spPr>
          <a:xfrm>
            <a:off x="758952" y="3566160"/>
            <a:ext cx="2276856" cy="73152"/>
          </a:xfrm>
          <a:prstGeom prst="rect">
            <a:avLst/>
          </a:prstGeom>
          <a:noFill/>
          <a:ln>
            <a:noFill/>
          </a:ln>
        </p:spPr>
        <p:txBody>
          <a:bodyPr wrap="square" anchor="t"/>
          <a:lstStyle/>
          <a:p>
            <a:pPr algn="l"/>
            <a:r>
              <a:rPr lang="en-US" sz="720" dirty="0">
                <a:solidFill>
                  <a:srgbClr val="FFFFFF"/>
                </a:solidFill>
                <a:latin typeface="Aptos"/>
              </a:rPr>
              <a:t>Question</a:t>
            </a:r>
          </a:p>
        </p:txBody>
      </p:sp>
      <p:sp>
        <p:nvSpPr>
          <p:cNvPr id="34" name="Shape 34"/>
          <p:cNvSpPr/>
          <p:nvPr/>
        </p:nvSpPr>
        <p:spPr>
          <a:xfrm>
            <a:off x="3108960" y="3456432"/>
            <a:ext cx="3886200" cy="310896"/>
          </a:xfrm>
          <a:prstGeom prst="rect">
            <a:avLst/>
          </a:prstGeom>
          <a:solidFill>
            <a:srgbClr val="0F172A"/>
          </a:solidFill>
          <a:ln w="6350">
            <a:solidFill>
              <a:srgbClr val="0F172A"/>
            </a:solidFill>
          </a:ln>
        </p:spPr>
        <p:txBody>
          <a:bodyPr/>
          <a:lstStyle/>
          <a:p>
            <a:endParaRPr lang="en-US"/>
          </a:p>
        </p:txBody>
      </p:sp>
      <p:sp>
        <p:nvSpPr>
          <p:cNvPr id="35" name="TextBox 35"/>
          <p:cNvSpPr txBox="1"/>
          <p:nvPr/>
        </p:nvSpPr>
        <p:spPr>
          <a:xfrm>
            <a:off x="3182112" y="3566160"/>
            <a:ext cx="3739896" cy="73152"/>
          </a:xfrm>
          <a:prstGeom prst="rect">
            <a:avLst/>
          </a:prstGeom>
          <a:noFill/>
          <a:ln>
            <a:noFill/>
          </a:ln>
        </p:spPr>
        <p:txBody>
          <a:bodyPr wrap="square" anchor="t"/>
          <a:lstStyle/>
          <a:p>
            <a:pPr algn="l"/>
            <a:r>
              <a:rPr lang="en-US" sz="720" dirty="0">
                <a:solidFill>
                  <a:srgbClr val="FFFFFF"/>
                </a:solidFill>
                <a:latin typeface="Aptos"/>
              </a:rPr>
              <a:t>Why it matters</a:t>
            </a:r>
          </a:p>
        </p:txBody>
      </p:sp>
      <p:sp>
        <p:nvSpPr>
          <p:cNvPr id="36" name="Shape 36"/>
          <p:cNvSpPr/>
          <p:nvPr/>
        </p:nvSpPr>
        <p:spPr>
          <a:xfrm>
            <a:off x="6995160" y="3456432"/>
            <a:ext cx="3840480" cy="310896"/>
          </a:xfrm>
          <a:prstGeom prst="rect">
            <a:avLst/>
          </a:prstGeom>
          <a:solidFill>
            <a:srgbClr val="0F172A"/>
          </a:solidFill>
          <a:ln w="6350">
            <a:solidFill>
              <a:srgbClr val="0F172A"/>
            </a:solidFill>
          </a:ln>
        </p:spPr>
        <p:txBody>
          <a:bodyPr/>
          <a:lstStyle/>
          <a:p>
            <a:endParaRPr lang="en-US"/>
          </a:p>
        </p:txBody>
      </p:sp>
      <p:sp>
        <p:nvSpPr>
          <p:cNvPr id="37" name="TextBox 37"/>
          <p:cNvSpPr txBox="1"/>
          <p:nvPr/>
        </p:nvSpPr>
        <p:spPr>
          <a:xfrm>
            <a:off x="7068312" y="3566160"/>
            <a:ext cx="3694176" cy="73152"/>
          </a:xfrm>
          <a:prstGeom prst="rect">
            <a:avLst/>
          </a:prstGeom>
          <a:noFill/>
          <a:ln>
            <a:noFill/>
          </a:ln>
        </p:spPr>
        <p:txBody>
          <a:bodyPr wrap="square" anchor="t"/>
          <a:lstStyle/>
          <a:p>
            <a:pPr algn="l"/>
            <a:r>
              <a:rPr lang="en-US" sz="720" dirty="0">
                <a:solidFill>
                  <a:srgbClr val="FFFFFF"/>
                </a:solidFill>
                <a:latin typeface="Aptos"/>
              </a:rPr>
              <a:t>External takeaway</a:t>
            </a:r>
          </a:p>
        </p:txBody>
      </p:sp>
      <p:sp>
        <p:nvSpPr>
          <p:cNvPr id="38" name="Shape 38"/>
          <p:cNvSpPr/>
          <p:nvPr/>
        </p:nvSpPr>
        <p:spPr>
          <a:xfrm>
            <a:off x="685800" y="3822192"/>
            <a:ext cx="2423160" cy="438912"/>
          </a:xfrm>
          <a:prstGeom prst="rect">
            <a:avLst/>
          </a:prstGeom>
          <a:solidFill>
            <a:srgbClr val="FFFFFF"/>
          </a:solidFill>
          <a:ln w="6350">
            <a:solidFill>
              <a:srgbClr val="E2E8F0"/>
            </a:solidFill>
          </a:ln>
        </p:spPr>
        <p:txBody>
          <a:bodyPr/>
          <a:lstStyle/>
          <a:p>
            <a:endParaRPr lang="en-US"/>
          </a:p>
        </p:txBody>
      </p:sp>
      <p:sp>
        <p:nvSpPr>
          <p:cNvPr id="39" name="TextBox 39"/>
          <p:cNvSpPr txBox="1"/>
          <p:nvPr/>
        </p:nvSpPr>
        <p:spPr>
          <a:xfrm>
            <a:off x="758952" y="3922776"/>
            <a:ext cx="2276856" cy="109728"/>
          </a:xfrm>
          <a:prstGeom prst="rect">
            <a:avLst/>
          </a:prstGeom>
          <a:noFill/>
          <a:ln>
            <a:noFill/>
          </a:ln>
        </p:spPr>
        <p:txBody>
          <a:bodyPr wrap="square" anchor="t"/>
          <a:lstStyle/>
          <a:p>
            <a:pPr algn="l"/>
            <a:r>
              <a:rPr lang="en-US" sz="700" dirty="0">
                <a:solidFill>
                  <a:srgbClr val="334155"/>
                </a:solidFill>
                <a:latin typeface="Aptos"/>
              </a:rPr>
              <a:t>What fits in GDDR?</a:t>
            </a:r>
          </a:p>
        </p:txBody>
      </p:sp>
      <p:sp>
        <p:nvSpPr>
          <p:cNvPr id="40" name="Shape 40"/>
          <p:cNvSpPr/>
          <p:nvPr/>
        </p:nvSpPr>
        <p:spPr>
          <a:xfrm>
            <a:off x="3108960" y="3822192"/>
            <a:ext cx="3886200" cy="438912"/>
          </a:xfrm>
          <a:prstGeom prst="rect">
            <a:avLst/>
          </a:prstGeom>
          <a:solidFill>
            <a:srgbClr val="FFFFFF"/>
          </a:solidFill>
          <a:ln w="6350">
            <a:solidFill>
              <a:srgbClr val="E2E8F0"/>
            </a:solidFill>
          </a:ln>
        </p:spPr>
        <p:txBody>
          <a:bodyPr/>
          <a:lstStyle/>
          <a:p>
            <a:endParaRPr lang="en-US"/>
          </a:p>
        </p:txBody>
      </p:sp>
      <p:sp>
        <p:nvSpPr>
          <p:cNvPr id="41" name="TextBox 41"/>
          <p:cNvSpPr txBox="1"/>
          <p:nvPr/>
        </p:nvSpPr>
        <p:spPr>
          <a:xfrm>
            <a:off x="3182112" y="3922776"/>
            <a:ext cx="3739896" cy="109728"/>
          </a:xfrm>
          <a:prstGeom prst="rect">
            <a:avLst/>
          </a:prstGeom>
          <a:noFill/>
          <a:ln>
            <a:noFill/>
          </a:ln>
        </p:spPr>
        <p:txBody>
          <a:bodyPr wrap="square" anchor="t"/>
          <a:lstStyle/>
          <a:p>
            <a:pPr algn="l"/>
            <a:r>
              <a:rPr lang="en-US" sz="700" dirty="0">
                <a:solidFill>
                  <a:srgbClr val="334155"/>
                </a:solidFill>
                <a:latin typeface="Aptos"/>
              </a:rPr>
              <a:t>If active weights/KV fit, GPU path can dominate.</a:t>
            </a:r>
          </a:p>
        </p:txBody>
      </p:sp>
      <p:sp>
        <p:nvSpPr>
          <p:cNvPr id="42" name="Shape 42"/>
          <p:cNvSpPr/>
          <p:nvPr/>
        </p:nvSpPr>
        <p:spPr>
          <a:xfrm>
            <a:off x="6995160" y="3822192"/>
            <a:ext cx="3840480" cy="438912"/>
          </a:xfrm>
          <a:prstGeom prst="rect">
            <a:avLst/>
          </a:prstGeom>
          <a:solidFill>
            <a:srgbClr val="FFFFFF"/>
          </a:solidFill>
          <a:ln w="6350">
            <a:solidFill>
              <a:srgbClr val="E2E8F0"/>
            </a:solidFill>
          </a:ln>
        </p:spPr>
        <p:txBody>
          <a:bodyPr/>
          <a:lstStyle/>
          <a:p>
            <a:endParaRPr lang="en-US"/>
          </a:p>
        </p:txBody>
      </p:sp>
      <p:sp>
        <p:nvSpPr>
          <p:cNvPr id="43" name="TextBox 43"/>
          <p:cNvSpPr txBox="1"/>
          <p:nvPr/>
        </p:nvSpPr>
        <p:spPr>
          <a:xfrm>
            <a:off x="7068312" y="3922776"/>
            <a:ext cx="3694176" cy="109728"/>
          </a:xfrm>
          <a:prstGeom prst="rect">
            <a:avLst/>
          </a:prstGeom>
          <a:noFill/>
          <a:ln>
            <a:noFill/>
          </a:ln>
        </p:spPr>
        <p:txBody>
          <a:bodyPr wrap="square" anchor="t"/>
          <a:lstStyle/>
          <a:p>
            <a:pPr algn="l"/>
            <a:r>
              <a:rPr lang="en-US" sz="700" dirty="0">
                <a:solidFill>
                  <a:srgbClr val="334155"/>
                </a:solidFill>
                <a:latin typeface="Aptos"/>
              </a:rPr>
              <a:t>Do not over-sell HBF for fit-in-memory workloads.</a:t>
            </a:r>
          </a:p>
        </p:txBody>
      </p:sp>
      <p:sp>
        <p:nvSpPr>
          <p:cNvPr id="44" name="Shape 44"/>
          <p:cNvSpPr/>
          <p:nvPr/>
        </p:nvSpPr>
        <p:spPr>
          <a:xfrm>
            <a:off x="685800" y="4315968"/>
            <a:ext cx="2423160" cy="438912"/>
          </a:xfrm>
          <a:prstGeom prst="rect">
            <a:avLst/>
          </a:prstGeom>
          <a:solidFill>
            <a:srgbClr val="F8FAFC"/>
          </a:solidFill>
          <a:ln w="6350">
            <a:solidFill>
              <a:srgbClr val="E2E8F0"/>
            </a:solidFill>
          </a:ln>
        </p:spPr>
        <p:txBody>
          <a:bodyPr/>
          <a:lstStyle/>
          <a:p>
            <a:endParaRPr lang="en-US"/>
          </a:p>
        </p:txBody>
      </p:sp>
      <p:sp>
        <p:nvSpPr>
          <p:cNvPr id="45" name="TextBox 45"/>
          <p:cNvSpPr txBox="1"/>
          <p:nvPr/>
        </p:nvSpPr>
        <p:spPr>
          <a:xfrm>
            <a:off x="758952" y="4416552"/>
            <a:ext cx="2276856" cy="109728"/>
          </a:xfrm>
          <a:prstGeom prst="rect">
            <a:avLst/>
          </a:prstGeom>
          <a:noFill/>
          <a:ln>
            <a:noFill/>
          </a:ln>
        </p:spPr>
        <p:txBody>
          <a:bodyPr wrap="square" anchor="t"/>
          <a:lstStyle/>
          <a:p>
            <a:pPr algn="l"/>
            <a:r>
              <a:rPr lang="en-US" sz="700" dirty="0">
                <a:solidFill>
                  <a:srgbClr val="334155"/>
                </a:solidFill>
                <a:latin typeface="Aptos"/>
              </a:rPr>
              <a:t>How stable is routing?</a:t>
            </a:r>
          </a:p>
        </p:txBody>
      </p:sp>
      <p:sp>
        <p:nvSpPr>
          <p:cNvPr id="46" name="Shape 46"/>
          <p:cNvSpPr/>
          <p:nvPr/>
        </p:nvSpPr>
        <p:spPr>
          <a:xfrm>
            <a:off x="3108960" y="4315968"/>
            <a:ext cx="3886200" cy="438912"/>
          </a:xfrm>
          <a:prstGeom prst="rect">
            <a:avLst/>
          </a:prstGeom>
          <a:solidFill>
            <a:srgbClr val="F8FAFC"/>
          </a:solidFill>
          <a:ln w="6350">
            <a:solidFill>
              <a:srgbClr val="E2E8F0"/>
            </a:solidFill>
          </a:ln>
        </p:spPr>
        <p:txBody>
          <a:bodyPr/>
          <a:lstStyle/>
          <a:p>
            <a:endParaRPr lang="en-US"/>
          </a:p>
        </p:txBody>
      </p:sp>
      <p:sp>
        <p:nvSpPr>
          <p:cNvPr id="47" name="TextBox 47"/>
          <p:cNvSpPr txBox="1"/>
          <p:nvPr/>
        </p:nvSpPr>
        <p:spPr>
          <a:xfrm>
            <a:off x="3182112" y="4416552"/>
            <a:ext cx="3739896" cy="109728"/>
          </a:xfrm>
          <a:prstGeom prst="rect">
            <a:avLst/>
          </a:prstGeom>
          <a:noFill/>
          <a:ln>
            <a:noFill/>
          </a:ln>
        </p:spPr>
        <p:txBody>
          <a:bodyPr wrap="square" anchor="t"/>
          <a:lstStyle/>
          <a:p>
            <a:pPr algn="l"/>
            <a:r>
              <a:rPr lang="en-US" sz="700" dirty="0">
                <a:solidFill>
                  <a:srgbClr val="334155"/>
                </a:solidFill>
                <a:latin typeface="Aptos"/>
              </a:rPr>
              <a:t>Hot experts favor cache/persistent tiers; churn hurts.</a:t>
            </a:r>
          </a:p>
        </p:txBody>
      </p:sp>
      <p:sp>
        <p:nvSpPr>
          <p:cNvPr id="48" name="Shape 48"/>
          <p:cNvSpPr/>
          <p:nvPr/>
        </p:nvSpPr>
        <p:spPr>
          <a:xfrm>
            <a:off x="6995160" y="4315968"/>
            <a:ext cx="3840480" cy="438912"/>
          </a:xfrm>
          <a:prstGeom prst="rect">
            <a:avLst/>
          </a:prstGeom>
          <a:solidFill>
            <a:srgbClr val="F8FAFC"/>
          </a:solidFill>
          <a:ln w="6350">
            <a:solidFill>
              <a:srgbClr val="E2E8F0"/>
            </a:solidFill>
          </a:ln>
        </p:spPr>
        <p:txBody>
          <a:bodyPr/>
          <a:lstStyle/>
          <a:p>
            <a:endParaRPr lang="en-US"/>
          </a:p>
        </p:txBody>
      </p:sp>
      <p:sp>
        <p:nvSpPr>
          <p:cNvPr id="49" name="TextBox 49"/>
          <p:cNvSpPr txBox="1"/>
          <p:nvPr/>
        </p:nvSpPr>
        <p:spPr>
          <a:xfrm>
            <a:off x="7068312" y="4416552"/>
            <a:ext cx="3694176" cy="109728"/>
          </a:xfrm>
          <a:prstGeom prst="rect">
            <a:avLst/>
          </a:prstGeom>
          <a:noFill/>
          <a:ln>
            <a:noFill/>
          </a:ln>
        </p:spPr>
        <p:txBody>
          <a:bodyPr wrap="square" anchor="t"/>
          <a:lstStyle/>
          <a:p>
            <a:pPr algn="l"/>
            <a:r>
              <a:rPr lang="en-US" sz="700" dirty="0">
                <a:solidFill>
                  <a:srgbClr val="334155"/>
                </a:solidFill>
                <a:latin typeface="Aptos"/>
              </a:rPr>
              <a:t>Ask for traces or generate realistic locality cases.</a:t>
            </a:r>
          </a:p>
        </p:txBody>
      </p:sp>
      <p:sp>
        <p:nvSpPr>
          <p:cNvPr id="50" name="Shape 50"/>
          <p:cNvSpPr/>
          <p:nvPr/>
        </p:nvSpPr>
        <p:spPr>
          <a:xfrm>
            <a:off x="685800" y="4809744"/>
            <a:ext cx="2423160" cy="438912"/>
          </a:xfrm>
          <a:prstGeom prst="rect">
            <a:avLst/>
          </a:prstGeom>
          <a:solidFill>
            <a:srgbClr val="FFFFFF"/>
          </a:solidFill>
          <a:ln w="6350">
            <a:solidFill>
              <a:srgbClr val="E2E8F0"/>
            </a:solidFill>
          </a:ln>
        </p:spPr>
        <p:txBody>
          <a:bodyPr/>
          <a:lstStyle/>
          <a:p>
            <a:endParaRPr lang="en-US"/>
          </a:p>
        </p:txBody>
      </p:sp>
      <p:sp>
        <p:nvSpPr>
          <p:cNvPr id="51" name="TextBox 51"/>
          <p:cNvSpPr txBox="1"/>
          <p:nvPr/>
        </p:nvSpPr>
        <p:spPr>
          <a:xfrm>
            <a:off x="758952" y="4910328"/>
            <a:ext cx="2276856" cy="109728"/>
          </a:xfrm>
          <a:prstGeom prst="rect">
            <a:avLst/>
          </a:prstGeom>
          <a:noFill/>
          <a:ln>
            <a:noFill/>
          </a:ln>
        </p:spPr>
        <p:txBody>
          <a:bodyPr wrap="square" anchor="t"/>
          <a:lstStyle/>
          <a:p>
            <a:pPr algn="l"/>
            <a:r>
              <a:rPr lang="en-US" sz="700" dirty="0">
                <a:solidFill>
                  <a:srgbClr val="334155"/>
                </a:solidFill>
                <a:latin typeface="Aptos"/>
              </a:rPr>
              <a:t>Can fetch overlap compute?</a:t>
            </a:r>
          </a:p>
        </p:txBody>
      </p:sp>
      <p:sp>
        <p:nvSpPr>
          <p:cNvPr id="52" name="Shape 52"/>
          <p:cNvSpPr/>
          <p:nvPr/>
        </p:nvSpPr>
        <p:spPr>
          <a:xfrm>
            <a:off x="3108960" y="4809744"/>
            <a:ext cx="3886200" cy="438912"/>
          </a:xfrm>
          <a:prstGeom prst="rect">
            <a:avLst/>
          </a:prstGeom>
          <a:solidFill>
            <a:srgbClr val="FFFFFF"/>
          </a:solidFill>
          <a:ln w="6350">
            <a:solidFill>
              <a:srgbClr val="E2E8F0"/>
            </a:solidFill>
          </a:ln>
        </p:spPr>
        <p:txBody>
          <a:bodyPr/>
          <a:lstStyle/>
          <a:p>
            <a:endParaRPr lang="en-US"/>
          </a:p>
        </p:txBody>
      </p:sp>
      <p:sp>
        <p:nvSpPr>
          <p:cNvPr id="53" name="TextBox 53"/>
          <p:cNvSpPr txBox="1"/>
          <p:nvPr/>
        </p:nvSpPr>
        <p:spPr>
          <a:xfrm>
            <a:off x="3182112" y="4910328"/>
            <a:ext cx="3739896" cy="109728"/>
          </a:xfrm>
          <a:prstGeom prst="rect">
            <a:avLst/>
          </a:prstGeom>
          <a:noFill/>
          <a:ln>
            <a:noFill/>
          </a:ln>
        </p:spPr>
        <p:txBody>
          <a:bodyPr wrap="square" anchor="t"/>
          <a:lstStyle/>
          <a:p>
            <a:pPr algn="l"/>
            <a:r>
              <a:rPr lang="en-US" sz="700" dirty="0">
                <a:solidFill>
                  <a:srgbClr val="334155"/>
                </a:solidFill>
                <a:latin typeface="Aptos"/>
              </a:rPr>
              <a:t>Peak bandwidth helps only if exposed stalls shrink.</a:t>
            </a:r>
          </a:p>
        </p:txBody>
      </p:sp>
      <p:sp>
        <p:nvSpPr>
          <p:cNvPr id="54" name="Shape 54"/>
          <p:cNvSpPr/>
          <p:nvPr/>
        </p:nvSpPr>
        <p:spPr>
          <a:xfrm>
            <a:off x="6995160" y="4809744"/>
            <a:ext cx="3840480" cy="438912"/>
          </a:xfrm>
          <a:prstGeom prst="rect">
            <a:avLst/>
          </a:prstGeom>
          <a:solidFill>
            <a:srgbClr val="FFFFFF"/>
          </a:solidFill>
          <a:ln w="6350">
            <a:solidFill>
              <a:srgbClr val="E2E8F0"/>
            </a:solidFill>
          </a:ln>
        </p:spPr>
        <p:txBody>
          <a:bodyPr/>
          <a:lstStyle/>
          <a:p>
            <a:endParaRPr lang="en-US"/>
          </a:p>
        </p:txBody>
      </p:sp>
      <p:sp>
        <p:nvSpPr>
          <p:cNvPr id="55" name="TextBox 55"/>
          <p:cNvSpPr txBox="1"/>
          <p:nvPr/>
        </p:nvSpPr>
        <p:spPr>
          <a:xfrm>
            <a:off x="7068312" y="4910328"/>
            <a:ext cx="3694176" cy="109728"/>
          </a:xfrm>
          <a:prstGeom prst="rect">
            <a:avLst/>
          </a:prstGeom>
          <a:noFill/>
          <a:ln>
            <a:noFill/>
          </a:ln>
        </p:spPr>
        <p:txBody>
          <a:bodyPr wrap="square" anchor="t"/>
          <a:lstStyle/>
          <a:p>
            <a:pPr algn="l"/>
            <a:r>
              <a:rPr lang="en-US" sz="700" dirty="0">
                <a:solidFill>
                  <a:srgbClr val="334155"/>
                </a:solidFill>
                <a:latin typeface="Aptos"/>
              </a:rPr>
              <a:t>Show latency stacks and queue curves.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8FAFC"/>
          </a:solidFill>
          <a:ln w="6350">
            <a:solidFill>
              <a:srgbClr val="F8FAFC"/>
            </a:solidFill>
          </a:ln>
        </p:spPr>
        <p:txBody>
          <a:bodyPr/>
          <a:lstStyle/>
          <a:p>
            <a:endParaRPr lang="en-US"/>
          </a:p>
        </p:txBody>
      </p:sp>
      <p:sp>
        <p:nvSpPr>
          <p:cNvPr id="3" name="Shape 3"/>
          <p:cNvSpPr/>
          <p:nvPr/>
        </p:nvSpPr>
        <p:spPr>
          <a:xfrm>
            <a:off x="0" y="0"/>
            <a:ext cx="146304" cy="6858000"/>
          </a:xfrm>
          <a:prstGeom prst="rect">
            <a:avLst/>
          </a:prstGeom>
          <a:solidFill>
            <a:schemeClr val="accent2"/>
          </a:solidFill>
          <a:ln w="6350">
            <a:solidFill>
              <a:srgbClr val="00A3A3"/>
            </a:solidFill>
          </a:ln>
        </p:spPr>
        <p:txBody>
          <a:bodyPr/>
          <a:lstStyle/>
          <a:p>
            <a:endParaRPr lang="en-US"/>
          </a:p>
        </p:txBody>
      </p:sp>
      <p:sp>
        <p:nvSpPr>
          <p:cNvPr id="4" name="TextBox 4"/>
          <p:cNvSpPr txBox="1"/>
          <p:nvPr/>
        </p:nvSpPr>
        <p:spPr>
          <a:xfrm>
            <a:off x="384048" y="256032"/>
            <a:ext cx="9326880" cy="384048"/>
          </a:xfrm>
          <a:prstGeom prst="rect">
            <a:avLst/>
          </a:prstGeom>
          <a:noFill/>
          <a:ln>
            <a:noFill/>
          </a:ln>
        </p:spPr>
        <p:txBody>
          <a:bodyPr wrap="square" anchor="t"/>
          <a:lstStyle/>
          <a:p>
            <a:pPr algn="l"/>
            <a:r>
              <a:rPr lang="en-US" sz="2600" dirty="0">
                <a:solidFill>
                  <a:srgbClr val="0F172A"/>
                </a:solidFill>
                <a:latin typeface="Aptos"/>
              </a:rPr>
              <a:t>Break-Even Surface: Nonresident Bytes vs Reuse</a:t>
            </a:r>
          </a:p>
        </p:txBody>
      </p:sp>
      <p:sp>
        <p:nvSpPr>
          <p:cNvPr id="6" name="Shape 6"/>
          <p:cNvSpPr/>
          <p:nvPr/>
        </p:nvSpPr>
        <p:spPr>
          <a:xfrm>
            <a:off x="10515600" y="274320"/>
            <a:ext cx="1243584" cy="347472"/>
          </a:xfrm>
          <a:prstGeom prst="roundRect">
            <a:avLst/>
          </a:prstGeom>
          <a:solidFill>
            <a:srgbClr val="E0F2FE"/>
          </a:solidFill>
          <a:ln w="6350">
            <a:solidFill>
              <a:srgbClr val="7DD3FC"/>
            </a:solidFill>
          </a:ln>
        </p:spPr>
        <p:txBody>
          <a:bodyPr/>
          <a:lstStyle/>
          <a:p>
            <a:endParaRPr lang="en-US"/>
          </a:p>
        </p:txBody>
      </p:sp>
      <p:sp>
        <p:nvSpPr>
          <p:cNvPr id="7" name="TextBox 7"/>
          <p:cNvSpPr txBox="1"/>
          <p:nvPr/>
        </p:nvSpPr>
        <p:spPr>
          <a:xfrm>
            <a:off x="10607040" y="356616"/>
            <a:ext cx="1060704" cy="128016"/>
          </a:xfrm>
          <a:prstGeom prst="rect">
            <a:avLst/>
          </a:prstGeom>
          <a:noFill/>
          <a:ln>
            <a:noFill/>
          </a:ln>
        </p:spPr>
        <p:txBody>
          <a:bodyPr wrap="square" anchor="t"/>
          <a:lstStyle/>
          <a:p>
            <a:pPr algn="l"/>
            <a:r>
              <a:rPr lang="en-US" sz="800" dirty="0">
                <a:solidFill>
                  <a:srgbClr val="075985"/>
                </a:solidFill>
                <a:latin typeface="Aptos"/>
              </a:rPr>
              <a:t>v3 workload-fit</a:t>
            </a:r>
          </a:p>
        </p:txBody>
      </p:sp>
      <p:sp>
        <p:nvSpPr>
          <p:cNvPr id="8" name="TextBox 8"/>
          <p:cNvSpPr txBox="1"/>
          <p:nvPr/>
        </p:nvSpPr>
        <p:spPr>
          <a:xfrm>
            <a:off x="420624" y="6510528"/>
            <a:ext cx="7498080" cy="164592"/>
          </a:xfrm>
          <a:prstGeom prst="rect">
            <a:avLst/>
          </a:prstGeom>
          <a:noFill/>
          <a:ln>
            <a:noFill/>
          </a:ln>
        </p:spPr>
        <p:txBody>
          <a:bodyPr wrap="square" anchor="t"/>
          <a:lstStyle/>
          <a:p>
            <a:pPr algn="l"/>
            <a:r>
              <a:rPr lang="en-US" sz="700" dirty="0">
                <a:solidFill>
                  <a:srgbClr val="64748B"/>
                </a:solidFill>
                <a:latin typeface="Aptos"/>
              </a:rPr>
              <a:t>A break-even cell is where the complete service changes winner at fixed quality and SLO.</a:t>
            </a:r>
          </a:p>
        </p:txBody>
      </p:sp>
      <p:sp>
        <p:nvSpPr>
          <p:cNvPr id="9" name="Shape 9"/>
          <p:cNvSpPr/>
          <p:nvPr/>
        </p:nvSpPr>
        <p:spPr>
          <a:xfrm>
            <a:off x="1664208" y="5163642"/>
            <a:ext cx="164592" cy="164592"/>
          </a:xfrm>
          <a:prstGeom prst="rect">
            <a:avLst/>
          </a:prstGeom>
          <a:solidFill>
            <a:srgbClr val="2563EB"/>
          </a:solidFill>
          <a:ln w="6350">
            <a:solidFill>
              <a:srgbClr val="2563EB"/>
            </a:solidFill>
          </a:ln>
        </p:spPr>
        <p:txBody>
          <a:bodyPr/>
          <a:lstStyle/>
          <a:p>
            <a:endParaRPr lang="en-US"/>
          </a:p>
        </p:txBody>
      </p:sp>
      <p:sp>
        <p:nvSpPr>
          <p:cNvPr id="10" name="TextBox 10"/>
          <p:cNvSpPr txBox="1"/>
          <p:nvPr/>
        </p:nvSpPr>
        <p:spPr>
          <a:xfrm>
            <a:off x="1883664" y="5172786"/>
            <a:ext cx="914400" cy="118872"/>
          </a:xfrm>
          <a:prstGeom prst="rect">
            <a:avLst/>
          </a:prstGeom>
          <a:noFill/>
          <a:ln>
            <a:noFill/>
          </a:ln>
        </p:spPr>
        <p:txBody>
          <a:bodyPr wrap="square" anchor="t"/>
          <a:lstStyle/>
          <a:p>
            <a:pPr algn="l"/>
            <a:r>
              <a:rPr lang="en-US" sz="750" dirty="0">
                <a:solidFill>
                  <a:srgbClr val="334155"/>
                </a:solidFill>
                <a:latin typeface="Aptos"/>
              </a:rPr>
              <a:t>RTX/GPU</a:t>
            </a:r>
          </a:p>
        </p:txBody>
      </p:sp>
      <p:sp>
        <p:nvSpPr>
          <p:cNvPr id="11" name="Shape 11"/>
          <p:cNvSpPr/>
          <p:nvPr/>
        </p:nvSpPr>
        <p:spPr>
          <a:xfrm>
            <a:off x="2990088" y="5163642"/>
            <a:ext cx="164592" cy="164592"/>
          </a:xfrm>
          <a:prstGeom prst="rect">
            <a:avLst/>
          </a:prstGeom>
          <a:solidFill>
            <a:srgbClr val="F59E0B"/>
          </a:solidFill>
          <a:ln w="6350">
            <a:solidFill>
              <a:srgbClr val="F59E0B"/>
            </a:solidFill>
          </a:ln>
        </p:spPr>
        <p:txBody>
          <a:bodyPr/>
          <a:lstStyle/>
          <a:p>
            <a:endParaRPr lang="en-US"/>
          </a:p>
        </p:txBody>
      </p:sp>
      <p:sp>
        <p:nvSpPr>
          <p:cNvPr id="12" name="TextBox 12"/>
          <p:cNvSpPr txBox="1"/>
          <p:nvPr/>
        </p:nvSpPr>
        <p:spPr>
          <a:xfrm>
            <a:off x="3209544" y="5172786"/>
            <a:ext cx="914400" cy="118872"/>
          </a:xfrm>
          <a:prstGeom prst="rect">
            <a:avLst/>
          </a:prstGeom>
          <a:noFill/>
          <a:ln>
            <a:noFill/>
          </a:ln>
        </p:spPr>
        <p:txBody>
          <a:bodyPr wrap="square" anchor="t"/>
          <a:lstStyle/>
          <a:p>
            <a:pPr algn="l"/>
            <a:r>
              <a:rPr lang="en-US" sz="750" dirty="0">
                <a:solidFill>
                  <a:srgbClr val="334155"/>
                </a:solidFill>
                <a:latin typeface="Aptos"/>
              </a:rPr>
              <a:t>RTX+CXL</a:t>
            </a:r>
          </a:p>
        </p:txBody>
      </p:sp>
      <p:sp>
        <p:nvSpPr>
          <p:cNvPr id="13" name="Shape 13"/>
          <p:cNvSpPr/>
          <p:nvPr/>
        </p:nvSpPr>
        <p:spPr>
          <a:xfrm>
            <a:off x="4315968" y="5163642"/>
            <a:ext cx="164592" cy="164592"/>
          </a:xfrm>
          <a:prstGeom prst="rect">
            <a:avLst/>
          </a:prstGeom>
          <a:solidFill>
            <a:srgbClr val="0F766E"/>
          </a:solidFill>
          <a:ln w="6350">
            <a:solidFill>
              <a:srgbClr val="0F766E"/>
            </a:solidFill>
          </a:ln>
        </p:spPr>
        <p:txBody>
          <a:bodyPr/>
          <a:lstStyle/>
          <a:p>
            <a:endParaRPr lang="en-US"/>
          </a:p>
        </p:txBody>
      </p:sp>
      <p:sp>
        <p:nvSpPr>
          <p:cNvPr id="14" name="TextBox 14"/>
          <p:cNvSpPr txBox="1"/>
          <p:nvPr/>
        </p:nvSpPr>
        <p:spPr>
          <a:xfrm>
            <a:off x="4535424" y="5172786"/>
            <a:ext cx="914400" cy="118872"/>
          </a:xfrm>
          <a:prstGeom prst="rect">
            <a:avLst/>
          </a:prstGeom>
          <a:noFill/>
          <a:ln>
            <a:noFill/>
          </a:ln>
        </p:spPr>
        <p:txBody>
          <a:bodyPr wrap="square" anchor="t"/>
          <a:lstStyle/>
          <a:p>
            <a:pPr algn="l"/>
            <a:r>
              <a:rPr lang="en-US" sz="750" dirty="0">
                <a:solidFill>
                  <a:srgbClr val="334155"/>
                </a:solidFill>
                <a:latin typeface="Aptos"/>
              </a:rPr>
              <a:t>ATMOS/HBF</a:t>
            </a:r>
          </a:p>
        </p:txBody>
      </p:sp>
      <p:sp>
        <p:nvSpPr>
          <p:cNvPr id="15" name="Shape 15"/>
          <p:cNvSpPr/>
          <p:nvPr/>
        </p:nvSpPr>
        <p:spPr>
          <a:xfrm>
            <a:off x="5641848" y="5163642"/>
            <a:ext cx="164592" cy="164592"/>
          </a:xfrm>
          <a:prstGeom prst="rect">
            <a:avLst/>
          </a:prstGeom>
          <a:solidFill>
            <a:srgbClr val="64748B"/>
          </a:solidFill>
          <a:ln w="6350">
            <a:solidFill>
              <a:srgbClr val="64748B"/>
            </a:solidFill>
          </a:ln>
        </p:spPr>
        <p:txBody>
          <a:bodyPr/>
          <a:lstStyle/>
          <a:p>
            <a:endParaRPr lang="en-US"/>
          </a:p>
        </p:txBody>
      </p:sp>
      <p:sp>
        <p:nvSpPr>
          <p:cNvPr id="16" name="TextBox 16"/>
          <p:cNvSpPr txBox="1"/>
          <p:nvPr/>
        </p:nvSpPr>
        <p:spPr>
          <a:xfrm>
            <a:off x="5861304" y="5172786"/>
            <a:ext cx="914400" cy="118872"/>
          </a:xfrm>
          <a:prstGeom prst="rect">
            <a:avLst/>
          </a:prstGeom>
          <a:noFill/>
          <a:ln>
            <a:noFill/>
          </a:ln>
        </p:spPr>
        <p:txBody>
          <a:bodyPr wrap="square" anchor="t"/>
          <a:lstStyle/>
          <a:p>
            <a:pPr algn="l"/>
            <a:r>
              <a:rPr lang="en-US" sz="750" dirty="0">
                <a:solidFill>
                  <a:srgbClr val="334155"/>
                </a:solidFill>
                <a:latin typeface="Aptos"/>
              </a:rPr>
              <a:t>No-fit/measure</a:t>
            </a:r>
          </a:p>
        </p:txBody>
      </p:sp>
      <p:sp>
        <p:nvSpPr>
          <p:cNvPr id="17" name="TextBox 17"/>
          <p:cNvSpPr txBox="1"/>
          <p:nvPr/>
        </p:nvSpPr>
        <p:spPr>
          <a:xfrm>
            <a:off x="1664208" y="941832"/>
            <a:ext cx="1325880" cy="182880"/>
          </a:xfrm>
          <a:prstGeom prst="rect">
            <a:avLst/>
          </a:prstGeom>
          <a:noFill/>
          <a:ln>
            <a:noFill/>
          </a:ln>
        </p:spPr>
        <p:txBody>
          <a:bodyPr wrap="square" anchor="t"/>
          <a:lstStyle/>
          <a:p>
            <a:pPr algn="l"/>
            <a:r>
              <a:rPr lang="en-US" sz="770" dirty="0">
                <a:solidFill>
                  <a:srgbClr val="334155"/>
                </a:solidFill>
                <a:latin typeface="Aptos"/>
              </a:rPr>
              <a:t>Low reuse</a:t>
            </a:r>
          </a:p>
        </p:txBody>
      </p:sp>
      <p:sp>
        <p:nvSpPr>
          <p:cNvPr id="18" name="TextBox 18"/>
          <p:cNvSpPr txBox="1"/>
          <p:nvPr/>
        </p:nvSpPr>
        <p:spPr>
          <a:xfrm>
            <a:off x="2990088" y="941832"/>
            <a:ext cx="1325880" cy="182880"/>
          </a:xfrm>
          <a:prstGeom prst="rect">
            <a:avLst/>
          </a:prstGeom>
          <a:noFill/>
          <a:ln>
            <a:noFill/>
          </a:ln>
        </p:spPr>
        <p:txBody>
          <a:bodyPr wrap="square" anchor="t"/>
          <a:lstStyle/>
          <a:p>
            <a:pPr algn="l"/>
            <a:r>
              <a:rPr lang="en-US" sz="770" dirty="0">
                <a:solidFill>
                  <a:srgbClr val="334155"/>
                </a:solidFill>
                <a:latin typeface="Aptos"/>
              </a:rPr>
              <a:t>Some reuse</a:t>
            </a:r>
          </a:p>
        </p:txBody>
      </p:sp>
      <p:sp>
        <p:nvSpPr>
          <p:cNvPr id="19" name="TextBox 19"/>
          <p:cNvSpPr txBox="1"/>
          <p:nvPr/>
        </p:nvSpPr>
        <p:spPr>
          <a:xfrm>
            <a:off x="4315968" y="941832"/>
            <a:ext cx="1325880" cy="182880"/>
          </a:xfrm>
          <a:prstGeom prst="rect">
            <a:avLst/>
          </a:prstGeom>
          <a:noFill/>
          <a:ln>
            <a:noFill/>
          </a:ln>
        </p:spPr>
        <p:txBody>
          <a:bodyPr wrap="square" anchor="t"/>
          <a:lstStyle/>
          <a:p>
            <a:pPr algn="l"/>
            <a:r>
              <a:rPr lang="en-US" sz="770" dirty="0">
                <a:solidFill>
                  <a:srgbClr val="334155"/>
                </a:solidFill>
                <a:latin typeface="Aptos"/>
              </a:rPr>
              <a:t>High reuse</a:t>
            </a:r>
          </a:p>
        </p:txBody>
      </p:sp>
      <p:sp>
        <p:nvSpPr>
          <p:cNvPr id="20" name="TextBox 20"/>
          <p:cNvSpPr txBox="1"/>
          <p:nvPr/>
        </p:nvSpPr>
        <p:spPr>
          <a:xfrm>
            <a:off x="5641848" y="941832"/>
            <a:ext cx="1325880" cy="182880"/>
          </a:xfrm>
          <a:prstGeom prst="rect">
            <a:avLst/>
          </a:prstGeom>
          <a:noFill/>
          <a:ln>
            <a:noFill/>
          </a:ln>
        </p:spPr>
        <p:txBody>
          <a:bodyPr wrap="square" anchor="t"/>
          <a:lstStyle/>
          <a:p>
            <a:pPr algn="l"/>
            <a:r>
              <a:rPr lang="en-US" sz="770" dirty="0">
                <a:solidFill>
                  <a:srgbClr val="334155"/>
                </a:solidFill>
                <a:latin typeface="Aptos"/>
              </a:rPr>
              <a:t>Hot experts</a:t>
            </a:r>
          </a:p>
        </p:txBody>
      </p:sp>
      <p:sp>
        <p:nvSpPr>
          <p:cNvPr id="21" name="TextBox 21"/>
          <p:cNvSpPr txBox="1"/>
          <p:nvPr/>
        </p:nvSpPr>
        <p:spPr>
          <a:xfrm>
            <a:off x="6967728" y="941832"/>
            <a:ext cx="1325880" cy="182880"/>
          </a:xfrm>
          <a:prstGeom prst="rect">
            <a:avLst/>
          </a:prstGeom>
          <a:noFill/>
          <a:ln>
            <a:noFill/>
          </a:ln>
        </p:spPr>
        <p:txBody>
          <a:bodyPr wrap="square" anchor="t"/>
          <a:lstStyle/>
          <a:p>
            <a:pPr algn="l"/>
            <a:r>
              <a:rPr lang="en-US" sz="770" dirty="0">
                <a:solidFill>
                  <a:srgbClr val="334155"/>
                </a:solidFill>
                <a:latin typeface="Aptos"/>
              </a:rPr>
              <a:t>Hot + long KV</a:t>
            </a:r>
          </a:p>
        </p:txBody>
      </p:sp>
      <p:sp>
        <p:nvSpPr>
          <p:cNvPr id="22" name="TextBox 22"/>
          <p:cNvSpPr txBox="1"/>
          <p:nvPr/>
        </p:nvSpPr>
        <p:spPr>
          <a:xfrm>
            <a:off x="3995928" y="731520"/>
            <a:ext cx="2103120" cy="137160"/>
          </a:xfrm>
          <a:prstGeom prst="rect">
            <a:avLst/>
          </a:prstGeom>
          <a:noFill/>
          <a:ln>
            <a:noFill/>
          </a:ln>
        </p:spPr>
        <p:txBody>
          <a:bodyPr wrap="square" anchor="t"/>
          <a:lstStyle/>
          <a:p>
            <a:pPr algn="l"/>
            <a:r>
              <a:rPr lang="en-US" sz="900" dirty="0">
                <a:solidFill>
                  <a:srgbClr val="0F172A"/>
                </a:solidFill>
                <a:latin typeface="Aptos"/>
              </a:rPr>
              <a:t>Reuse and routing locality -&gt;</a:t>
            </a:r>
          </a:p>
        </p:txBody>
      </p:sp>
      <p:sp>
        <p:nvSpPr>
          <p:cNvPr id="23" name="TextBox 23"/>
          <p:cNvSpPr txBox="1"/>
          <p:nvPr/>
        </p:nvSpPr>
        <p:spPr>
          <a:xfrm>
            <a:off x="347472" y="2971800"/>
            <a:ext cx="1005840" cy="182880"/>
          </a:xfrm>
          <a:prstGeom prst="rect">
            <a:avLst/>
          </a:prstGeom>
          <a:noFill/>
          <a:ln>
            <a:noFill/>
          </a:ln>
        </p:spPr>
        <p:txBody>
          <a:bodyPr wrap="square" anchor="t"/>
          <a:lstStyle/>
          <a:p>
            <a:pPr algn="l"/>
            <a:r>
              <a:rPr lang="en-US" sz="830" dirty="0">
                <a:solidFill>
                  <a:srgbClr val="0F172A"/>
                </a:solidFill>
                <a:latin typeface="Aptos"/>
              </a:rPr>
              <a:t>Nonresident bytes / request</a:t>
            </a:r>
          </a:p>
        </p:txBody>
      </p:sp>
      <p:sp>
        <p:nvSpPr>
          <p:cNvPr id="24" name="TextBox 24"/>
          <p:cNvSpPr txBox="1"/>
          <p:nvPr/>
        </p:nvSpPr>
        <p:spPr>
          <a:xfrm>
            <a:off x="1005840" y="1581912"/>
            <a:ext cx="502920" cy="91440"/>
          </a:xfrm>
          <a:prstGeom prst="rect">
            <a:avLst/>
          </a:prstGeom>
          <a:noFill/>
          <a:ln>
            <a:noFill/>
          </a:ln>
        </p:spPr>
        <p:txBody>
          <a:bodyPr wrap="square" anchor="t"/>
          <a:lstStyle/>
          <a:p>
            <a:pPr algn="l"/>
            <a:r>
              <a:rPr lang="en-US" sz="850" dirty="0">
                <a:solidFill>
                  <a:srgbClr val="334155"/>
                </a:solidFill>
                <a:latin typeface="Aptos"/>
              </a:rPr>
              <a:t>320 GB</a:t>
            </a:r>
          </a:p>
        </p:txBody>
      </p:sp>
      <p:sp>
        <p:nvSpPr>
          <p:cNvPr id="25" name="Shape 25"/>
          <p:cNvSpPr/>
          <p:nvPr/>
        </p:nvSpPr>
        <p:spPr>
          <a:xfrm>
            <a:off x="1664208" y="1325880"/>
            <a:ext cx="1280160" cy="640080"/>
          </a:xfrm>
          <a:prstGeom prst="rect">
            <a:avLst/>
          </a:prstGeom>
          <a:solidFill>
            <a:srgbClr val="64748B"/>
          </a:solidFill>
          <a:ln w="6350">
            <a:solidFill>
              <a:srgbClr val="FFFFFF"/>
            </a:solidFill>
          </a:ln>
        </p:spPr>
        <p:txBody>
          <a:bodyPr/>
          <a:lstStyle/>
          <a:p>
            <a:endParaRPr lang="en-US"/>
          </a:p>
        </p:txBody>
      </p:sp>
      <p:sp>
        <p:nvSpPr>
          <p:cNvPr id="26" name="TextBox 26"/>
          <p:cNvSpPr txBox="1"/>
          <p:nvPr/>
        </p:nvSpPr>
        <p:spPr>
          <a:xfrm>
            <a:off x="1691640" y="1572768"/>
            <a:ext cx="1234440" cy="91440"/>
          </a:xfrm>
          <a:prstGeom prst="rect">
            <a:avLst/>
          </a:prstGeom>
          <a:noFill/>
          <a:ln>
            <a:noFill/>
          </a:ln>
        </p:spPr>
        <p:txBody>
          <a:bodyPr wrap="square" anchor="t"/>
          <a:lstStyle/>
          <a:p>
            <a:pPr algn="l"/>
            <a:r>
              <a:rPr lang="en-US" sz="740" dirty="0">
                <a:solidFill>
                  <a:srgbClr val="FFFFFF"/>
                </a:solidFill>
                <a:latin typeface="Aptos"/>
              </a:rPr>
              <a:t>NO-FIT?</a:t>
            </a:r>
          </a:p>
        </p:txBody>
      </p:sp>
      <p:sp>
        <p:nvSpPr>
          <p:cNvPr id="27" name="Shape 27"/>
          <p:cNvSpPr/>
          <p:nvPr/>
        </p:nvSpPr>
        <p:spPr>
          <a:xfrm>
            <a:off x="2990088" y="1325880"/>
            <a:ext cx="1280160" cy="640080"/>
          </a:xfrm>
          <a:prstGeom prst="rect">
            <a:avLst/>
          </a:prstGeom>
          <a:solidFill>
            <a:srgbClr val="F59E0B"/>
          </a:solidFill>
          <a:ln w="6350">
            <a:solidFill>
              <a:srgbClr val="FFFFFF"/>
            </a:solidFill>
          </a:ln>
        </p:spPr>
        <p:txBody>
          <a:bodyPr/>
          <a:lstStyle/>
          <a:p>
            <a:endParaRPr lang="en-US"/>
          </a:p>
        </p:txBody>
      </p:sp>
      <p:sp>
        <p:nvSpPr>
          <p:cNvPr id="28" name="TextBox 28"/>
          <p:cNvSpPr txBox="1"/>
          <p:nvPr/>
        </p:nvSpPr>
        <p:spPr>
          <a:xfrm>
            <a:off x="3017520" y="1572768"/>
            <a:ext cx="1234440" cy="91440"/>
          </a:xfrm>
          <a:prstGeom prst="rect">
            <a:avLst/>
          </a:prstGeom>
          <a:noFill/>
          <a:ln>
            <a:noFill/>
          </a:ln>
        </p:spPr>
        <p:txBody>
          <a:bodyPr wrap="square" anchor="t"/>
          <a:lstStyle/>
          <a:p>
            <a:pPr algn="l"/>
            <a:r>
              <a:rPr lang="en-US" sz="740" dirty="0">
                <a:solidFill>
                  <a:srgbClr val="FFFFFF"/>
                </a:solidFill>
                <a:latin typeface="Aptos"/>
              </a:rPr>
              <a:t>CXL</a:t>
            </a:r>
          </a:p>
        </p:txBody>
      </p:sp>
      <p:sp>
        <p:nvSpPr>
          <p:cNvPr id="29" name="Shape 29"/>
          <p:cNvSpPr/>
          <p:nvPr/>
        </p:nvSpPr>
        <p:spPr>
          <a:xfrm>
            <a:off x="4315968" y="1325880"/>
            <a:ext cx="1280160" cy="640080"/>
          </a:xfrm>
          <a:prstGeom prst="rect">
            <a:avLst/>
          </a:prstGeom>
          <a:solidFill>
            <a:srgbClr val="0F766E"/>
          </a:solidFill>
          <a:ln w="6350">
            <a:solidFill>
              <a:srgbClr val="FFFFFF"/>
            </a:solidFill>
          </a:ln>
        </p:spPr>
        <p:txBody>
          <a:bodyPr/>
          <a:lstStyle/>
          <a:p>
            <a:endParaRPr lang="en-US"/>
          </a:p>
        </p:txBody>
      </p:sp>
      <p:sp>
        <p:nvSpPr>
          <p:cNvPr id="30" name="TextBox 30"/>
          <p:cNvSpPr txBox="1"/>
          <p:nvPr/>
        </p:nvSpPr>
        <p:spPr>
          <a:xfrm>
            <a:off x="4343400" y="1572768"/>
            <a:ext cx="1234440" cy="91440"/>
          </a:xfrm>
          <a:prstGeom prst="rect">
            <a:avLst/>
          </a:prstGeom>
          <a:noFill/>
          <a:ln>
            <a:noFill/>
          </a:ln>
        </p:spPr>
        <p:txBody>
          <a:bodyPr wrap="square" anchor="t"/>
          <a:lstStyle/>
          <a:p>
            <a:pPr algn="l"/>
            <a:r>
              <a:rPr lang="en-US" sz="740" dirty="0">
                <a:solidFill>
                  <a:srgbClr val="FFFFFF"/>
                </a:solidFill>
                <a:latin typeface="Aptos"/>
              </a:rPr>
              <a:t>ATMOS</a:t>
            </a:r>
          </a:p>
        </p:txBody>
      </p:sp>
      <p:sp>
        <p:nvSpPr>
          <p:cNvPr id="31" name="Shape 31"/>
          <p:cNvSpPr/>
          <p:nvPr/>
        </p:nvSpPr>
        <p:spPr>
          <a:xfrm>
            <a:off x="5641848" y="1325880"/>
            <a:ext cx="1280160" cy="640080"/>
          </a:xfrm>
          <a:prstGeom prst="rect">
            <a:avLst/>
          </a:prstGeom>
          <a:solidFill>
            <a:srgbClr val="0F766E"/>
          </a:solidFill>
          <a:ln w="6350">
            <a:solidFill>
              <a:srgbClr val="FFFFFF"/>
            </a:solidFill>
          </a:ln>
        </p:spPr>
        <p:txBody>
          <a:bodyPr/>
          <a:lstStyle/>
          <a:p>
            <a:endParaRPr lang="en-US"/>
          </a:p>
        </p:txBody>
      </p:sp>
      <p:sp>
        <p:nvSpPr>
          <p:cNvPr id="32" name="TextBox 32"/>
          <p:cNvSpPr txBox="1"/>
          <p:nvPr/>
        </p:nvSpPr>
        <p:spPr>
          <a:xfrm>
            <a:off x="5669280" y="1572768"/>
            <a:ext cx="1234440" cy="91440"/>
          </a:xfrm>
          <a:prstGeom prst="rect">
            <a:avLst/>
          </a:prstGeom>
          <a:noFill/>
          <a:ln>
            <a:noFill/>
          </a:ln>
        </p:spPr>
        <p:txBody>
          <a:bodyPr wrap="square" anchor="t"/>
          <a:lstStyle/>
          <a:p>
            <a:pPr algn="l"/>
            <a:r>
              <a:rPr lang="en-US" sz="740" dirty="0">
                <a:solidFill>
                  <a:srgbClr val="FFFFFF"/>
                </a:solidFill>
                <a:latin typeface="Aptos"/>
              </a:rPr>
              <a:t>ATMOS</a:t>
            </a:r>
          </a:p>
        </p:txBody>
      </p:sp>
      <p:sp>
        <p:nvSpPr>
          <p:cNvPr id="33" name="Shape 33"/>
          <p:cNvSpPr/>
          <p:nvPr/>
        </p:nvSpPr>
        <p:spPr>
          <a:xfrm>
            <a:off x="6967728" y="1325880"/>
            <a:ext cx="1280160" cy="640080"/>
          </a:xfrm>
          <a:prstGeom prst="rect">
            <a:avLst/>
          </a:prstGeom>
          <a:solidFill>
            <a:srgbClr val="0F766E"/>
          </a:solidFill>
          <a:ln w="6350">
            <a:solidFill>
              <a:srgbClr val="FFFFFF"/>
            </a:solidFill>
          </a:ln>
        </p:spPr>
        <p:txBody>
          <a:bodyPr/>
          <a:lstStyle/>
          <a:p>
            <a:endParaRPr lang="en-US"/>
          </a:p>
        </p:txBody>
      </p:sp>
      <p:sp>
        <p:nvSpPr>
          <p:cNvPr id="34" name="TextBox 34"/>
          <p:cNvSpPr txBox="1"/>
          <p:nvPr/>
        </p:nvSpPr>
        <p:spPr>
          <a:xfrm>
            <a:off x="6995160" y="1572768"/>
            <a:ext cx="1234440" cy="91440"/>
          </a:xfrm>
          <a:prstGeom prst="rect">
            <a:avLst/>
          </a:prstGeom>
          <a:noFill/>
          <a:ln>
            <a:noFill/>
          </a:ln>
        </p:spPr>
        <p:txBody>
          <a:bodyPr wrap="square" anchor="t"/>
          <a:lstStyle/>
          <a:p>
            <a:pPr algn="l"/>
            <a:r>
              <a:rPr lang="en-US" sz="740" dirty="0">
                <a:solidFill>
                  <a:srgbClr val="FFFFFF"/>
                </a:solidFill>
                <a:latin typeface="Aptos"/>
              </a:rPr>
              <a:t>ATMOS</a:t>
            </a:r>
          </a:p>
        </p:txBody>
      </p:sp>
      <p:sp>
        <p:nvSpPr>
          <p:cNvPr id="35" name="TextBox 35"/>
          <p:cNvSpPr txBox="1"/>
          <p:nvPr/>
        </p:nvSpPr>
        <p:spPr>
          <a:xfrm>
            <a:off x="1005840" y="2267712"/>
            <a:ext cx="502920" cy="91440"/>
          </a:xfrm>
          <a:prstGeom prst="rect">
            <a:avLst/>
          </a:prstGeom>
          <a:noFill/>
          <a:ln>
            <a:noFill/>
          </a:ln>
        </p:spPr>
        <p:txBody>
          <a:bodyPr wrap="square" anchor="t"/>
          <a:lstStyle/>
          <a:p>
            <a:pPr algn="l"/>
            <a:r>
              <a:rPr lang="en-US" sz="850" dirty="0">
                <a:solidFill>
                  <a:srgbClr val="334155"/>
                </a:solidFill>
                <a:latin typeface="Aptos"/>
              </a:rPr>
              <a:t>160 GB</a:t>
            </a:r>
          </a:p>
        </p:txBody>
      </p:sp>
      <p:sp>
        <p:nvSpPr>
          <p:cNvPr id="36" name="Shape 36"/>
          <p:cNvSpPr/>
          <p:nvPr/>
        </p:nvSpPr>
        <p:spPr>
          <a:xfrm>
            <a:off x="1664208" y="2011680"/>
            <a:ext cx="1280160" cy="640080"/>
          </a:xfrm>
          <a:prstGeom prst="rect">
            <a:avLst/>
          </a:prstGeom>
          <a:solidFill>
            <a:srgbClr val="64748B"/>
          </a:solidFill>
          <a:ln w="6350">
            <a:solidFill>
              <a:srgbClr val="FFFFFF"/>
            </a:solidFill>
          </a:ln>
        </p:spPr>
        <p:txBody>
          <a:bodyPr/>
          <a:lstStyle/>
          <a:p>
            <a:endParaRPr lang="en-US"/>
          </a:p>
        </p:txBody>
      </p:sp>
      <p:sp>
        <p:nvSpPr>
          <p:cNvPr id="37" name="TextBox 37"/>
          <p:cNvSpPr txBox="1"/>
          <p:nvPr/>
        </p:nvSpPr>
        <p:spPr>
          <a:xfrm>
            <a:off x="1691640" y="2258568"/>
            <a:ext cx="1234440" cy="91440"/>
          </a:xfrm>
          <a:prstGeom prst="rect">
            <a:avLst/>
          </a:prstGeom>
          <a:noFill/>
          <a:ln>
            <a:noFill/>
          </a:ln>
        </p:spPr>
        <p:txBody>
          <a:bodyPr wrap="square" anchor="t"/>
          <a:lstStyle/>
          <a:p>
            <a:pPr algn="l"/>
            <a:r>
              <a:rPr lang="en-US" sz="740" dirty="0">
                <a:solidFill>
                  <a:srgbClr val="FFFFFF"/>
                </a:solidFill>
                <a:latin typeface="Aptos"/>
              </a:rPr>
              <a:t>NO-FIT?</a:t>
            </a:r>
          </a:p>
        </p:txBody>
      </p:sp>
      <p:sp>
        <p:nvSpPr>
          <p:cNvPr id="38" name="Shape 38"/>
          <p:cNvSpPr/>
          <p:nvPr/>
        </p:nvSpPr>
        <p:spPr>
          <a:xfrm>
            <a:off x="2990088" y="2011680"/>
            <a:ext cx="1280160" cy="640080"/>
          </a:xfrm>
          <a:prstGeom prst="rect">
            <a:avLst/>
          </a:prstGeom>
          <a:solidFill>
            <a:srgbClr val="F59E0B"/>
          </a:solidFill>
          <a:ln w="6350">
            <a:solidFill>
              <a:srgbClr val="FFFFFF"/>
            </a:solidFill>
          </a:ln>
        </p:spPr>
        <p:txBody>
          <a:bodyPr/>
          <a:lstStyle/>
          <a:p>
            <a:endParaRPr lang="en-US"/>
          </a:p>
        </p:txBody>
      </p:sp>
      <p:sp>
        <p:nvSpPr>
          <p:cNvPr id="39" name="TextBox 39"/>
          <p:cNvSpPr txBox="1"/>
          <p:nvPr/>
        </p:nvSpPr>
        <p:spPr>
          <a:xfrm>
            <a:off x="3017520" y="2258568"/>
            <a:ext cx="1234440" cy="91440"/>
          </a:xfrm>
          <a:prstGeom prst="rect">
            <a:avLst/>
          </a:prstGeom>
          <a:noFill/>
          <a:ln>
            <a:noFill/>
          </a:ln>
        </p:spPr>
        <p:txBody>
          <a:bodyPr wrap="square" anchor="t"/>
          <a:lstStyle/>
          <a:p>
            <a:pPr algn="l"/>
            <a:r>
              <a:rPr lang="en-US" sz="740" dirty="0">
                <a:solidFill>
                  <a:srgbClr val="FFFFFF"/>
                </a:solidFill>
                <a:latin typeface="Aptos"/>
              </a:rPr>
              <a:t>CXL</a:t>
            </a:r>
          </a:p>
        </p:txBody>
      </p:sp>
      <p:sp>
        <p:nvSpPr>
          <p:cNvPr id="40" name="Shape 40"/>
          <p:cNvSpPr/>
          <p:nvPr/>
        </p:nvSpPr>
        <p:spPr>
          <a:xfrm>
            <a:off x="4315968" y="2011680"/>
            <a:ext cx="1280160" cy="640080"/>
          </a:xfrm>
          <a:prstGeom prst="rect">
            <a:avLst/>
          </a:prstGeom>
          <a:solidFill>
            <a:srgbClr val="0F766E"/>
          </a:solidFill>
          <a:ln w="6350">
            <a:solidFill>
              <a:srgbClr val="FFFFFF"/>
            </a:solidFill>
          </a:ln>
        </p:spPr>
        <p:txBody>
          <a:bodyPr/>
          <a:lstStyle/>
          <a:p>
            <a:endParaRPr lang="en-US"/>
          </a:p>
        </p:txBody>
      </p:sp>
      <p:sp>
        <p:nvSpPr>
          <p:cNvPr id="41" name="TextBox 41"/>
          <p:cNvSpPr txBox="1"/>
          <p:nvPr/>
        </p:nvSpPr>
        <p:spPr>
          <a:xfrm>
            <a:off x="4343400" y="2258568"/>
            <a:ext cx="1234440" cy="91440"/>
          </a:xfrm>
          <a:prstGeom prst="rect">
            <a:avLst/>
          </a:prstGeom>
          <a:noFill/>
          <a:ln>
            <a:noFill/>
          </a:ln>
        </p:spPr>
        <p:txBody>
          <a:bodyPr wrap="square" anchor="t"/>
          <a:lstStyle/>
          <a:p>
            <a:pPr algn="l"/>
            <a:r>
              <a:rPr lang="en-US" sz="740" dirty="0">
                <a:solidFill>
                  <a:srgbClr val="FFFFFF"/>
                </a:solidFill>
                <a:latin typeface="Aptos"/>
              </a:rPr>
              <a:t>ATMOS</a:t>
            </a:r>
          </a:p>
        </p:txBody>
      </p:sp>
      <p:sp>
        <p:nvSpPr>
          <p:cNvPr id="42" name="Shape 42"/>
          <p:cNvSpPr/>
          <p:nvPr/>
        </p:nvSpPr>
        <p:spPr>
          <a:xfrm>
            <a:off x="5641848" y="2011680"/>
            <a:ext cx="1280160" cy="640080"/>
          </a:xfrm>
          <a:prstGeom prst="rect">
            <a:avLst/>
          </a:prstGeom>
          <a:solidFill>
            <a:srgbClr val="0F766E"/>
          </a:solidFill>
          <a:ln w="6350">
            <a:solidFill>
              <a:srgbClr val="FFFFFF"/>
            </a:solidFill>
          </a:ln>
        </p:spPr>
        <p:txBody>
          <a:bodyPr/>
          <a:lstStyle/>
          <a:p>
            <a:endParaRPr lang="en-US"/>
          </a:p>
        </p:txBody>
      </p:sp>
      <p:sp>
        <p:nvSpPr>
          <p:cNvPr id="43" name="TextBox 43"/>
          <p:cNvSpPr txBox="1"/>
          <p:nvPr/>
        </p:nvSpPr>
        <p:spPr>
          <a:xfrm>
            <a:off x="5669280" y="2258568"/>
            <a:ext cx="1234440" cy="91440"/>
          </a:xfrm>
          <a:prstGeom prst="rect">
            <a:avLst/>
          </a:prstGeom>
          <a:noFill/>
          <a:ln>
            <a:noFill/>
          </a:ln>
        </p:spPr>
        <p:txBody>
          <a:bodyPr wrap="square" anchor="t"/>
          <a:lstStyle/>
          <a:p>
            <a:pPr algn="l"/>
            <a:r>
              <a:rPr lang="en-US" sz="740" dirty="0">
                <a:solidFill>
                  <a:srgbClr val="FFFFFF"/>
                </a:solidFill>
                <a:latin typeface="Aptos"/>
              </a:rPr>
              <a:t>ATMOS</a:t>
            </a:r>
          </a:p>
        </p:txBody>
      </p:sp>
      <p:sp>
        <p:nvSpPr>
          <p:cNvPr id="44" name="Shape 44"/>
          <p:cNvSpPr/>
          <p:nvPr/>
        </p:nvSpPr>
        <p:spPr>
          <a:xfrm>
            <a:off x="6967728" y="2011680"/>
            <a:ext cx="1280160" cy="640080"/>
          </a:xfrm>
          <a:prstGeom prst="rect">
            <a:avLst/>
          </a:prstGeom>
          <a:solidFill>
            <a:srgbClr val="0F766E"/>
          </a:solidFill>
          <a:ln w="6350">
            <a:solidFill>
              <a:srgbClr val="FFFFFF"/>
            </a:solidFill>
          </a:ln>
        </p:spPr>
        <p:txBody>
          <a:bodyPr/>
          <a:lstStyle/>
          <a:p>
            <a:endParaRPr lang="en-US"/>
          </a:p>
        </p:txBody>
      </p:sp>
      <p:sp>
        <p:nvSpPr>
          <p:cNvPr id="45" name="TextBox 45"/>
          <p:cNvSpPr txBox="1"/>
          <p:nvPr/>
        </p:nvSpPr>
        <p:spPr>
          <a:xfrm>
            <a:off x="6995160" y="2258568"/>
            <a:ext cx="1234440" cy="91440"/>
          </a:xfrm>
          <a:prstGeom prst="rect">
            <a:avLst/>
          </a:prstGeom>
          <a:noFill/>
          <a:ln>
            <a:noFill/>
          </a:ln>
        </p:spPr>
        <p:txBody>
          <a:bodyPr wrap="square" anchor="t"/>
          <a:lstStyle/>
          <a:p>
            <a:pPr algn="l"/>
            <a:r>
              <a:rPr lang="en-US" sz="740" dirty="0">
                <a:solidFill>
                  <a:srgbClr val="FFFFFF"/>
                </a:solidFill>
                <a:latin typeface="Aptos"/>
              </a:rPr>
              <a:t>ATMOS</a:t>
            </a:r>
          </a:p>
        </p:txBody>
      </p:sp>
      <p:sp>
        <p:nvSpPr>
          <p:cNvPr id="46" name="TextBox 46"/>
          <p:cNvSpPr txBox="1"/>
          <p:nvPr/>
        </p:nvSpPr>
        <p:spPr>
          <a:xfrm>
            <a:off x="1005840" y="2953512"/>
            <a:ext cx="502920" cy="91440"/>
          </a:xfrm>
          <a:prstGeom prst="rect">
            <a:avLst/>
          </a:prstGeom>
          <a:noFill/>
          <a:ln>
            <a:noFill/>
          </a:ln>
        </p:spPr>
        <p:txBody>
          <a:bodyPr wrap="square" anchor="t"/>
          <a:lstStyle/>
          <a:p>
            <a:pPr algn="l"/>
            <a:r>
              <a:rPr lang="en-US" sz="850" dirty="0">
                <a:solidFill>
                  <a:srgbClr val="334155"/>
                </a:solidFill>
                <a:latin typeface="Aptos"/>
              </a:rPr>
              <a:t>80 GB</a:t>
            </a:r>
          </a:p>
        </p:txBody>
      </p:sp>
      <p:sp>
        <p:nvSpPr>
          <p:cNvPr id="47" name="Shape 47"/>
          <p:cNvSpPr/>
          <p:nvPr/>
        </p:nvSpPr>
        <p:spPr>
          <a:xfrm>
            <a:off x="1664208" y="2697480"/>
            <a:ext cx="1280160" cy="640080"/>
          </a:xfrm>
          <a:prstGeom prst="rect">
            <a:avLst/>
          </a:prstGeom>
          <a:solidFill>
            <a:srgbClr val="2563EB"/>
          </a:solidFill>
          <a:ln w="6350">
            <a:solidFill>
              <a:srgbClr val="FFFFFF"/>
            </a:solidFill>
          </a:ln>
        </p:spPr>
        <p:txBody>
          <a:bodyPr/>
          <a:lstStyle/>
          <a:p>
            <a:endParaRPr lang="en-US"/>
          </a:p>
        </p:txBody>
      </p:sp>
      <p:sp>
        <p:nvSpPr>
          <p:cNvPr id="48" name="TextBox 48"/>
          <p:cNvSpPr txBox="1"/>
          <p:nvPr/>
        </p:nvSpPr>
        <p:spPr>
          <a:xfrm>
            <a:off x="1691640" y="2944368"/>
            <a:ext cx="1234440" cy="91440"/>
          </a:xfrm>
          <a:prstGeom prst="rect">
            <a:avLst/>
          </a:prstGeom>
          <a:noFill/>
          <a:ln>
            <a:noFill/>
          </a:ln>
        </p:spPr>
        <p:txBody>
          <a:bodyPr wrap="square" anchor="t"/>
          <a:lstStyle/>
          <a:p>
            <a:pPr algn="l"/>
            <a:r>
              <a:rPr lang="en-US" sz="740" dirty="0">
                <a:solidFill>
                  <a:srgbClr val="FFFFFF"/>
                </a:solidFill>
                <a:latin typeface="Aptos"/>
              </a:rPr>
              <a:t>RTX</a:t>
            </a:r>
          </a:p>
        </p:txBody>
      </p:sp>
      <p:sp>
        <p:nvSpPr>
          <p:cNvPr id="49" name="Shape 49"/>
          <p:cNvSpPr/>
          <p:nvPr/>
        </p:nvSpPr>
        <p:spPr>
          <a:xfrm>
            <a:off x="2990088" y="2697480"/>
            <a:ext cx="1280160" cy="640080"/>
          </a:xfrm>
          <a:prstGeom prst="rect">
            <a:avLst/>
          </a:prstGeom>
          <a:solidFill>
            <a:srgbClr val="F59E0B"/>
          </a:solidFill>
          <a:ln w="6350">
            <a:solidFill>
              <a:srgbClr val="FFFFFF"/>
            </a:solidFill>
          </a:ln>
        </p:spPr>
        <p:txBody>
          <a:bodyPr/>
          <a:lstStyle/>
          <a:p>
            <a:endParaRPr lang="en-US"/>
          </a:p>
        </p:txBody>
      </p:sp>
      <p:sp>
        <p:nvSpPr>
          <p:cNvPr id="50" name="TextBox 50"/>
          <p:cNvSpPr txBox="1"/>
          <p:nvPr/>
        </p:nvSpPr>
        <p:spPr>
          <a:xfrm>
            <a:off x="3017520" y="2944368"/>
            <a:ext cx="1234440" cy="91440"/>
          </a:xfrm>
          <a:prstGeom prst="rect">
            <a:avLst/>
          </a:prstGeom>
          <a:noFill/>
          <a:ln>
            <a:noFill/>
          </a:ln>
        </p:spPr>
        <p:txBody>
          <a:bodyPr wrap="square" anchor="t"/>
          <a:lstStyle/>
          <a:p>
            <a:pPr algn="l"/>
            <a:r>
              <a:rPr lang="en-US" sz="740" dirty="0">
                <a:solidFill>
                  <a:srgbClr val="FFFFFF"/>
                </a:solidFill>
                <a:latin typeface="Aptos"/>
              </a:rPr>
              <a:t>CXL</a:t>
            </a:r>
          </a:p>
        </p:txBody>
      </p:sp>
      <p:sp>
        <p:nvSpPr>
          <p:cNvPr id="51" name="Shape 51"/>
          <p:cNvSpPr/>
          <p:nvPr/>
        </p:nvSpPr>
        <p:spPr>
          <a:xfrm>
            <a:off x="4315968" y="2697480"/>
            <a:ext cx="1280160" cy="640080"/>
          </a:xfrm>
          <a:prstGeom prst="rect">
            <a:avLst/>
          </a:prstGeom>
          <a:solidFill>
            <a:srgbClr val="F59E0B"/>
          </a:solidFill>
          <a:ln w="6350">
            <a:solidFill>
              <a:srgbClr val="FFFFFF"/>
            </a:solidFill>
          </a:ln>
        </p:spPr>
        <p:txBody>
          <a:bodyPr/>
          <a:lstStyle/>
          <a:p>
            <a:endParaRPr lang="en-US"/>
          </a:p>
        </p:txBody>
      </p:sp>
      <p:sp>
        <p:nvSpPr>
          <p:cNvPr id="52" name="TextBox 52"/>
          <p:cNvSpPr txBox="1"/>
          <p:nvPr/>
        </p:nvSpPr>
        <p:spPr>
          <a:xfrm>
            <a:off x="4343400" y="2944368"/>
            <a:ext cx="1234440" cy="91440"/>
          </a:xfrm>
          <a:prstGeom prst="rect">
            <a:avLst/>
          </a:prstGeom>
          <a:noFill/>
          <a:ln>
            <a:noFill/>
          </a:ln>
        </p:spPr>
        <p:txBody>
          <a:bodyPr wrap="square" anchor="t"/>
          <a:lstStyle/>
          <a:p>
            <a:pPr algn="l"/>
            <a:r>
              <a:rPr lang="en-US" sz="740" dirty="0">
                <a:solidFill>
                  <a:srgbClr val="FFFFFF"/>
                </a:solidFill>
                <a:latin typeface="Aptos"/>
              </a:rPr>
              <a:t>CXL</a:t>
            </a:r>
          </a:p>
        </p:txBody>
      </p:sp>
      <p:sp>
        <p:nvSpPr>
          <p:cNvPr id="53" name="Shape 53"/>
          <p:cNvSpPr/>
          <p:nvPr/>
        </p:nvSpPr>
        <p:spPr>
          <a:xfrm>
            <a:off x="5641848" y="2697480"/>
            <a:ext cx="1280160" cy="640080"/>
          </a:xfrm>
          <a:prstGeom prst="rect">
            <a:avLst/>
          </a:prstGeom>
          <a:solidFill>
            <a:srgbClr val="0F766E"/>
          </a:solidFill>
          <a:ln w="6350">
            <a:solidFill>
              <a:srgbClr val="FFFFFF"/>
            </a:solidFill>
          </a:ln>
        </p:spPr>
        <p:txBody>
          <a:bodyPr/>
          <a:lstStyle/>
          <a:p>
            <a:endParaRPr lang="en-US"/>
          </a:p>
        </p:txBody>
      </p:sp>
      <p:sp>
        <p:nvSpPr>
          <p:cNvPr id="54" name="TextBox 54"/>
          <p:cNvSpPr txBox="1"/>
          <p:nvPr/>
        </p:nvSpPr>
        <p:spPr>
          <a:xfrm>
            <a:off x="5669280" y="2944368"/>
            <a:ext cx="1234440" cy="91440"/>
          </a:xfrm>
          <a:prstGeom prst="rect">
            <a:avLst/>
          </a:prstGeom>
          <a:noFill/>
          <a:ln>
            <a:noFill/>
          </a:ln>
        </p:spPr>
        <p:txBody>
          <a:bodyPr wrap="square" anchor="t"/>
          <a:lstStyle/>
          <a:p>
            <a:pPr algn="l"/>
            <a:r>
              <a:rPr lang="en-US" sz="740" dirty="0">
                <a:solidFill>
                  <a:srgbClr val="FFFFFF"/>
                </a:solidFill>
                <a:latin typeface="Aptos"/>
              </a:rPr>
              <a:t>ATMOS</a:t>
            </a:r>
          </a:p>
        </p:txBody>
      </p:sp>
      <p:sp>
        <p:nvSpPr>
          <p:cNvPr id="55" name="Shape 55"/>
          <p:cNvSpPr/>
          <p:nvPr/>
        </p:nvSpPr>
        <p:spPr>
          <a:xfrm>
            <a:off x="6967728" y="2697480"/>
            <a:ext cx="1280160" cy="640080"/>
          </a:xfrm>
          <a:prstGeom prst="rect">
            <a:avLst/>
          </a:prstGeom>
          <a:solidFill>
            <a:srgbClr val="0F766E"/>
          </a:solidFill>
          <a:ln w="6350">
            <a:solidFill>
              <a:srgbClr val="FFFFFF"/>
            </a:solidFill>
          </a:ln>
        </p:spPr>
        <p:txBody>
          <a:bodyPr/>
          <a:lstStyle/>
          <a:p>
            <a:endParaRPr lang="en-US"/>
          </a:p>
        </p:txBody>
      </p:sp>
      <p:sp>
        <p:nvSpPr>
          <p:cNvPr id="56" name="TextBox 56"/>
          <p:cNvSpPr txBox="1"/>
          <p:nvPr/>
        </p:nvSpPr>
        <p:spPr>
          <a:xfrm>
            <a:off x="6995160" y="2944368"/>
            <a:ext cx="1234440" cy="91440"/>
          </a:xfrm>
          <a:prstGeom prst="rect">
            <a:avLst/>
          </a:prstGeom>
          <a:noFill/>
          <a:ln>
            <a:noFill/>
          </a:ln>
        </p:spPr>
        <p:txBody>
          <a:bodyPr wrap="square" anchor="t"/>
          <a:lstStyle/>
          <a:p>
            <a:pPr algn="l"/>
            <a:r>
              <a:rPr lang="en-US" sz="740" dirty="0">
                <a:solidFill>
                  <a:srgbClr val="FFFFFF"/>
                </a:solidFill>
                <a:latin typeface="Aptos"/>
              </a:rPr>
              <a:t>ATMOS</a:t>
            </a:r>
          </a:p>
        </p:txBody>
      </p:sp>
      <p:sp>
        <p:nvSpPr>
          <p:cNvPr id="57" name="TextBox 57"/>
          <p:cNvSpPr txBox="1"/>
          <p:nvPr/>
        </p:nvSpPr>
        <p:spPr>
          <a:xfrm>
            <a:off x="1005840" y="3639312"/>
            <a:ext cx="502920" cy="91440"/>
          </a:xfrm>
          <a:prstGeom prst="rect">
            <a:avLst/>
          </a:prstGeom>
          <a:noFill/>
          <a:ln>
            <a:noFill/>
          </a:ln>
        </p:spPr>
        <p:txBody>
          <a:bodyPr wrap="square" anchor="t"/>
          <a:lstStyle/>
          <a:p>
            <a:pPr algn="l"/>
            <a:r>
              <a:rPr lang="en-US" sz="850" dirty="0">
                <a:solidFill>
                  <a:srgbClr val="334155"/>
                </a:solidFill>
                <a:latin typeface="Aptos"/>
              </a:rPr>
              <a:t>40 GB</a:t>
            </a:r>
          </a:p>
        </p:txBody>
      </p:sp>
      <p:sp>
        <p:nvSpPr>
          <p:cNvPr id="58" name="Shape 58"/>
          <p:cNvSpPr/>
          <p:nvPr/>
        </p:nvSpPr>
        <p:spPr>
          <a:xfrm>
            <a:off x="1664208" y="3383280"/>
            <a:ext cx="1280160" cy="640080"/>
          </a:xfrm>
          <a:prstGeom prst="rect">
            <a:avLst/>
          </a:prstGeom>
          <a:solidFill>
            <a:srgbClr val="2563EB"/>
          </a:solidFill>
          <a:ln w="6350">
            <a:solidFill>
              <a:srgbClr val="FFFFFF"/>
            </a:solidFill>
          </a:ln>
        </p:spPr>
        <p:txBody>
          <a:bodyPr/>
          <a:lstStyle/>
          <a:p>
            <a:endParaRPr lang="en-US"/>
          </a:p>
        </p:txBody>
      </p:sp>
      <p:sp>
        <p:nvSpPr>
          <p:cNvPr id="59" name="TextBox 59"/>
          <p:cNvSpPr txBox="1"/>
          <p:nvPr/>
        </p:nvSpPr>
        <p:spPr>
          <a:xfrm>
            <a:off x="1691640" y="3630168"/>
            <a:ext cx="1234440" cy="91440"/>
          </a:xfrm>
          <a:prstGeom prst="rect">
            <a:avLst/>
          </a:prstGeom>
          <a:noFill/>
          <a:ln>
            <a:noFill/>
          </a:ln>
        </p:spPr>
        <p:txBody>
          <a:bodyPr wrap="square" anchor="t"/>
          <a:lstStyle/>
          <a:p>
            <a:pPr algn="l"/>
            <a:r>
              <a:rPr lang="en-US" sz="740" dirty="0">
                <a:solidFill>
                  <a:srgbClr val="FFFFFF"/>
                </a:solidFill>
                <a:latin typeface="Aptos"/>
              </a:rPr>
              <a:t>RTX</a:t>
            </a:r>
          </a:p>
        </p:txBody>
      </p:sp>
      <p:sp>
        <p:nvSpPr>
          <p:cNvPr id="60" name="Shape 60"/>
          <p:cNvSpPr/>
          <p:nvPr/>
        </p:nvSpPr>
        <p:spPr>
          <a:xfrm>
            <a:off x="2990088" y="3383280"/>
            <a:ext cx="1280160" cy="640080"/>
          </a:xfrm>
          <a:prstGeom prst="rect">
            <a:avLst/>
          </a:prstGeom>
          <a:solidFill>
            <a:srgbClr val="2563EB"/>
          </a:solidFill>
          <a:ln w="6350">
            <a:solidFill>
              <a:srgbClr val="FFFFFF"/>
            </a:solidFill>
          </a:ln>
        </p:spPr>
        <p:txBody>
          <a:bodyPr/>
          <a:lstStyle/>
          <a:p>
            <a:endParaRPr lang="en-US"/>
          </a:p>
        </p:txBody>
      </p:sp>
      <p:sp>
        <p:nvSpPr>
          <p:cNvPr id="61" name="TextBox 61"/>
          <p:cNvSpPr txBox="1"/>
          <p:nvPr/>
        </p:nvSpPr>
        <p:spPr>
          <a:xfrm>
            <a:off x="3017520" y="3630168"/>
            <a:ext cx="1234440" cy="91440"/>
          </a:xfrm>
          <a:prstGeom prst="rect">
            <a:avLst/>
          </a:prstGeom>
          <a:noFill/>
          <a:ln>
            <a:noFill/>
          </a:ln>
        </p:spPr>
        <p:txBody>
          <a:bodyPr wrap="square" anchor="t"/>
          <a:lstStyle/>
          <a:p>
            <a:pPr algn="l"/>
            <a:r>
              <a:rPr lang="en-US" sz="740" dirty="0">
                <a:solidFill>
                  <a:srgbClr val="FFFFFF"/>
                </a:solidFill>
                <a:latin typeface="Aptos"/>
              </a:rPr>
              <a:t>RTX</a:t>
            </a:r>
          </a:p>
        </p:txBody>
      </p:sp>
      <p:sp>
        <p:nvSpPr>
          <p:cNvPr id="62" name="Shape 62"/>
          <p:cNvSpPr/>
          <p:nvPr/>
        </p:nvSpPr>
        <p:spPr>
          <a:xfrm>
            <a:off x="4315968" y="3383280"/>
            <a:ext cx="1280160" cy="640080"/>
          </a:xfrm>
          <a:prstGeom prst="rect">
            <a:avLst/>
          </a:prstGeom>
          <a:solidFill>
            <a:srgbClr val="F59E0B"/>
          </a:solidFill>
          <a:ln w="6350">
            <a:solidFill>
              <a:srgbClr val="FFFFFF"/>
            </a:solidFill>
          </a:ln>
        </p:spPr>
        <p:txBody>
          <a:bodyPr/>
          <a:lstStyle/>
          <a:p>
            <a:endParaRPr lang="en-US"/>
          </a:p>
        </p:txBody>
      </p:sp>
      <p:sp>
        <p:nvSpPr>
          <p:cNvPr id="63" name="TextBox 63"/>
          <p:cNvSpPr txBox="1"/>
          <p:nvPr/>
        </p:nvSpPr>
        <p:spPr>
          <a:xfrm>
            <a:off x="4343400" y="3630168"/>
            <a:ext cx="1234440" cy="91440"/>
          </a:xfrm>
          <a:prstGeom prst="rect">
            <a:avLst/>
          </a:prstGeom>
          <a:noFill/>
          <a:ln>
            <a:noFill/>
          </a:ln>
        </p:spPr>
        <p:txBody>
          <a:bodyPr wrap="square" anchor="t"/>
          <a:lstStyle/>
          <a:p>
            <a:pPr algn="l"/>
            <a:r>
              <a:rPr lang="en-US" sz="740" dirty="0">
                <a:solidFill>
                  <a:srgbClr val="FFFFFF"/>
                </a:solidFill>
                <a:latin typeface="Aptos"/>
              </a:rPr>
              <a:t>CXL</a:t>
            </a:r>
          </a:p>
        </p:txBody>
      </p:sp>
      <p:sp>
        <p:nvSpPr>
          <p:cNvPr id="64" name="Shape 64"/>
          <p:cNvSpPr/>
          <p:nvPr/>
        </p:nvSpPr>
        <p:spPr>
          <a:xfrm>
            <a:off x="5641848" y="3383280"/>
            <a:ext cx="1280160" cy="640080"/>
          </a:xfrm>
          <a:prstGeom prst="rect">
            <a:avLst/>
          </a:prstGeom>
          <a:solidFill>
            <a:srgbClr val="F59E0B"/>
          </a:solidFill>
          <a:ln w="6350">
            <a:solidFill>
              <a:srgbClr val="FFFFFF"/>
            </a:solidFill>
          </a:ln>
        </p:spPr>
        <p:txBody>
          <a:bodyPr/>
          <a:lstStyle/>
          <a:p>
            <a:endParaRPr lang="en-US"/>
          </a:p>
        </p:txBody>
      </p:sp>
      <p:sp>
        <p:nvSpPr>
          <p:cNvPr id="65" name="TextBox 65"/>
          <p:cNvSpPr txBox="1"/>
          <p:nvPr/>
        </p:nvSpPr>
        <p:spPr>
          <a:xfrm>
            <a:off x="5669280" y="3630168"/>
            <a:ext cx="1234440" cy="91440"/>
          </a:xfrm>
          <a:prstGeom prst="rect">
            <a:avLst/>
          </a:prstGeom>
          <a:noFill/>
          <a:ln>
            <a:noFill/>
          </a:ln>
        </p:spPr>
        <p:txBody>
          <a:bodyPr wrap="square" anchor="t"/>
          <a:lstStyle/>
          <a:p>
            <a:pPr algn="l"/>
            <a:r>
              <a:rPr lang="en-US" sz="740" dirty="0">
                <a:solidFill>
                  <a:srgbClr val="FFFFFF"/>
                </a:solidFill>
                <a:latin typeface="Aptos"/>
              </a:rPr>
              <a:t>CXL</a:t>
            </a:r>
          </a:p>
        </p:txBody>
      </p:sp>
      <p:sp>
        <p:nvSpPr>
          <p:cNvPr id="66" name="Shape 66"/>
          <p:cNvSpPr/>
          <p:nvPr/>
        </p:nvSpPr>
        <p:spPr>
          <a:xfrm>
            <a:off x="6967728" y="3383280"/>
            <a:ext cx="1280160" cy="640080"/>
          </a:xfrm>
          <a:prstGeom prst="rect">
            <a:avLst/>
          </a:prstGeom>
          <a:solidFill>
            <a:srgbClr val="0F766E"/>
          </a:solidFill>
          <a:ln w="6350">
            <a:solidFill>
              <a:srgbClr val="FFFFFF"/>
            </a:solidFill>
          </a:ln>
        </p:spPr>
        <p:txBody>
          <a:bodyPr/>
          <a:lstStyle/>
          <a:p>
            <a:endParaRPr lang="en-US"/>
          </a:p>
        </p:txBody>
      </p:sp>
      <p:sp>
        <p:nvSpPr>
          <p:cNvPr id="67" name="TextBox 67"/>
          <p:cNvSpPr txBox="1"/>
          <p:nvPr/>
        </p:nvSpPr>
        <p:spPr>
          <a:xfrm>
            <a:off x="6995160" y="3630168"/>
            <a:ext cx="1234440" cy="91440"/>
          </a:xfrm>
          <a:prstGeom prst="rect">
            <a:avLst/>
          </a:prstGeom>
          <a:noFill/>
          <a:ln>
            <a:noFill/>
          </a:ln>
        </p:spPr>
        <p:txBody>
          <a:bodyPr wrap="square" anchor="t"/>
          <a:lstStyle/>
          <a:p>
            <a:pPr algn="l"/>
            <a:r>
              <a:rPr lang="en-US" sz="740" dirty="0">
                <a:solidFill>
                  <a:srgbClr val="FFFFFF"/>
                </a:solidFill>
                <a:latin typeface="Aptos"/>
              </a:rPr>
              <a:t>ATMOS</a:t>
            </a:r>
          </a:p>
        </p:txBody>
      </p:sp>
      <p:sp>
        <p:nvSpPr>
          <p:cNvPr id="68" name="TextBox 68"/>
          <p:cNvSpPr txBox="1"/>
          <p:nvPr/>
        </p:nvSpPr>
        <p:spPr>
          <a:xfrm>
            <a:off x="1005840" y="4325112"/>
            <a:ext cx="502920" cy="91440"/>
          </a:xfrm>
          <a:prstGeom prst="rect">
            <a:avLst/>
          </a:prstGeom>
          <a:noFill/>
          <a:ln>
            <a:noFill/>
          </a:ln>
        </p:spPr>
        <p:txBody>
          <a:bodyPr wrap="square" anchor="t"/>
          <a:lstStyle/>
          <a:p>
            <a:pPr algn="l"/>
            <a:r>
              <a:rPr lang="en-US" sz="850" dirty="0">
                <a:solidFill>
                  <a:srgbClr val="334155"/>
                </a:solidFill>
                <a:latin typeface="Aptos"/>
              </a:rPr>
              <a:t>20 GB</a:t>
            </a:r>
          </a:p>
        </p:txBody>
      </p:sp>
      <p:sp>
        <p:nvSpPr>
          <p:cNvPr id="69" name="Shape 69"/>
          <p:cNvSpPr/>
          <p:nvPr/>
        </p:nvSpPr>
        <p:spPr>
          <a:xfrm>
            <a:off x="1664208" y="4069080"/>
            <a:ext cx="1280160" cy="640080"/>
          </a:xfrm>
          <a:prstGeom prst="rect">
            <a:avLst/>
          </a:prstGeom>
          <a:solidFill>
            <a:srgbClr val="2563EB"/>
          </a:solidFill>
          <a:ln w="6350">
            <a:solidFill>
              <a:srgbClr val="FFFFFF"/>
            </a:solidFill>
          </a:ln>
        </p:spPr>
        <p:txBody>
          <a:bodyPr/>
          <a:lstStyle/>
          <a:p>
            <a:endParaRPr lang="en-US"/>
          </a:p>
        </p:txBody>
      </p:sp>
      <p:sp>
        <p:nvSpPr>
          <p:cNvPr id="70" name="TextBox 70"/>
          <p:cNvSpPr txBox="1"/>
          <p:nvPr/>
        </p:nvSpPr>
        <p:spPr>
          <a:xfrm>
            <a:off x="1691640" y="4315968"/>
            <a:ext cx="1234440" cy="91440"/>
          </a:xfrm>
          <a:prstGeom prst="rect">
            <a:avLst/>
          </a:prstGeom>
          <a:noFill/>
          <a:ln>
            <a:noFill/>
          </a:ln>
        </p:spPr>
        <p:txBody>
          <a:bodyPr wrap="square" anchor="t"/>
          <a:lstStyle/>
          <a:p>
            <a:pPr algn="l"/>
            <a:r>
              <a:rPr lang="en-US" sz="740" dirty="0">
                <a:solidFill>
                  <a:srgbClr val="FFFFFF"/>
                </a:solidFill>
                <a:latin typeface="Aptos"/>
              </a:rPr>
              <a:t>RTX</a:t>
            </a:r>
          </a:p>
        </p:txBody>
      </p:sp>
      <p:sp>
        <p:nvSpPr>
          <p:cNvPr id="71" name="Shape 71"/>
          <p:cNvSpPr/>
          <p:nvPr/>
        </p:nvSpPr>
        <p:spPr>
          <a:xfrm>
            <a:off x="2990088" y="4069080"/>
            <a:ext cx="1280160" cy="640080"/>
          </a:xfrm>
          <a:prstGeom prst="rect">
            <a:avLst/>
          </a:prstGeom>
          <a:solidFill>
            <a:srgbClr val="2563EB"/>
          </a:solidFill>
          <a:ln w="6350">
            <a:solidFill>
              <a:srgbClr val="FFFFFF"/>
            </a:solidFill>
          </a:ln>
        </p:spPr>
        <p:txBody>
          <a:bodyPr/>
          <a:lstStyle/>
          <a:p>
            <a:endParaRPr lang="en-US"/>
          </a:p>
        </p:txBody>
      </p:sp>
      <p:sp>
        <p:nvSpPr>
          <p:cNvPr id="72" name="TextBox 72"/>
          <p:cNvSpPr txBox="1"/>
          <p:nvPr/>
        </p:nvSpPr>
        <p:spPr>
          <a:xfrm>
            <a:off x="3017520" y="4315968"/>
            <a:ext cx="1234440" cy="91440"/>
          </a:xfrm>
          <a:prstGeom prst="rect">
            <a:avLst/>
          </a:prstGeom>
          <a:noFill/>
          <a:ln>
            <a:noFill/>
          </a:ln>
        </p:spPr>
        <p:txBody>
          <a:bodyPr wrap="square" anchor="t"/>
          <a:lstStyle/>
          <a:p>
            <a:pPr algn="l"/>
            <a:r>
              <a:rPr lang="en-US" sz="740" dirty="0">
                <a:solidFill>
                  <a:srgbClr val="FFFFFF"/>
                </a:solidFill>
                <a:latin typeface="Aptos"/>
              </a:rPr>
              <a:t>RTX</a:t>
            </a:r>
          </a:p>
        </p:txBody>
      </p:sp>
      <p:sp>
        <p:nvSpPr>
          <p:cNvPr id="73" name="Shape 73"/>
          <p:cNvSpPr/>
          <p:nvPr/>
        </p:nvSpPr>
        <p:spPr>
          <a:xfrm>
            <a:off x="4315968" y="4069080"/>
            <a:ext cx="1280160" cy="640080"/>
          </a:xfrm>
          <a:prstGeom prst="rect">
            <a:avLst/>
          </a:prstGeom>
          <a:solidFill>
            <a:srgbClr val="2563EB"/>
          </a:solidFill>
          <a:ln w="6350">
            <a:solidFill>
              <a:srgbClr val="FFFFFF"/>
            </a:solidFill>
          </a:ln>
        </p:spPr>
        <p:txBody>
          <a:bodyPr/>
          <a:lstStyle/>
          <a:p>
            <a:endParaRPr lang="en-US"/>
          </a:p>
        </p:txBody>
      </p:sp>
      <p:sp>
        <p:nvSpPr>
          <p:cNvPr id="74" name="TextBox 74"/>
          <p:cNvSpPr txBox="1"/>
          <p:nvPr/>
        </p:nvSpPr>
        <p:spPr>
          <a:xfrm>
            <a:off x="4343400" y="4315968"/>
            <a:ext cx="1234440" cy="91440"/>
          </a:xfrm>
          <a:prstGeom prst="rect">
            <a:avLst/>
          </a:prstGeom>
          <a:noFill/>
          <a:ln>
            <a:noFill/>
          </a:ln>
        </p:spPr>
        <p:txBody>
          <a:bodyPr wrap="square" anchor="t"/>
          <a:lstStyle/>
          <a:p>
            <a:pPr algn="l"/>
            <a:r>
              <a:rPr lang="en-US" sz="740" dirty="0">
                <a:solidFill>
                  <a:srgbClr val="FFFFFF"/>
                </a:solidFill>
                <a:latin typeface="Aptos"/>
              </a:rPr>
              <a:t>RTX</a:t>
            </a:r>
          </a:p>
        </p:txBody>
      </p:sp>
      <p:sp>
        <p:nvSpPr>
          <p:cNvPr id="75" name="Shape 75"/>
          <p:cNvSpPr/>
          <p:nvPr/>
        </p:nvSpPr>
        <p:spPr>
          <a:xfrm>
            <a:off x="5641848" y="4069080"/>
            <a:ext cx="1280160" cy="640080"/>
          </a:xfrm>
          <a:prstGeom prst="rect">
            <a:avLst/>
          </a:prstGeom>
          <a:solidFill>
            <a:srgbClr val="F59E0B"/>
          </a:solidFill>
          <a:ln w="6350">
            <a:solidFill>
              <a:srgbClr val="FFFFFF"/>
            </a:solidFill>
          </a:ln>
        </p:spPr>
        <p:txBody>
          <a:bodyPr/>
          <a:lstStyle/>
          <a:p>
            <a:endParaRPr lang="en-US"/>
          </a:p>
        </p:txBody>
      </p:sp>
      <p:sp>
        <p:nvSpPr>
          <p:cNvPr id="76" name="TextBox 76"/>
          <p:cNvSpPr txBox="1"/>
          <p:nvPr/>
        </p:nvSpPr>
        <p:spPr>
          <a:xfrm>
            <a:off x="5669280" y="4315968"/>
            <a:ext cx="1234440" cy="91440"/>
          </a:xfrm>
          <a:prstGeom prst="rect">
            <a:avLst/>
          </a:prstGeom>
          <a:noFill/>
          <a:ln>
            <a:noFill/>
          </a:ln>
        </p:spPr>
        <p:txBody>
          <a:bodyPr wrap="square" anchor="t"/>
          <a:lstStyle/>
          <a:p>
            <a:pPr algn="l"/>
            <a:r>
              <a:rPr lang="en-US" sz="740" dirty="0">
                <a:solidFill>
                  <a:srgbClr val="FFFFFF"/>
                </a:solidFill>
                <a:latin typeface="Aptos"/>
              </a:rPr>
              <a:t>CXL</a:t>
            </a:r>
          </a:p>
        </p:txBody>
      </p:sp>
      <p:sp>
        <p:nvSpPr>
          <p:cNvPr id="77" name="Shape 77"/>
          <p:cNvSpPr/>
          <p:nvPr/>
        </p:nvSpPr>
        <p:spPr>
          <a:xfrm>
            <a:off x="6967728" y="4069080"/>
            <a:ext cx="1280160" cy="640080"/>
          </a:xfrm>
          <a:prstGeom prst="rect">
            <a:avLst/>
          </a:prstGeom>
          <a:solidFill>
            <a:srgbClr val="F59E0B"/>
          </a:solidFill>
          <a:ln w="6350">
            <a:solidFill>
              <a:srgbClr val="FFFFFF"/>
            </a:solidFill>
          </a:ln>
        </p:spPr>
        <p:txBody>
          <a:bodyPr/>
          <a:lstStyle/>
          <a:p>
            <a:endParaRPr lang="en-US"/>
          </a:p>
        </p:txBody>
      </p:sp>
      <p:sp>
        <p:nvSpPr>
          <p:cNvPr id="78" name="TextBox 78"/>
          <p:cNvSpPr txBox="1"/>
          <p:nvPr/>
        </p:nvSpPr>
        <p:spPr>
          <a:xfrm>
            <a:off x="6995160" y="4315968"/>
            <a:ext cx="1234440" cy="91440"/>
          </a:xfrm>
          <a:prstGeom prst="rect">
            <a:avLst/>
          </a:prstGeom>
          <a:noFill/>
          <a:ln>
            <a:noFill/>
          </a:ln>
        </p:spPr>
        <p:txBody>
          <a:bodyPr wrap="square" anchor="t"/>
          <a:lstStyle/>
          <a:p>
            <a:pPr algn="l"/>
            <a:r>
              <a:rPr lang="en-US" sz="740" dirty="0">
                <a:solidFill>
                  <a:srgbClr val="FFFFFF"/>
                </a:solidFill>
                <a:latin typeface="Aptos"/>
              </a:rPr>
              <a:t>CXL</a:t>
            </a:r>
          </a:p>
        </p:txBody>
      </p:sp>
      <p:sp>
        <p:nvSpPr>
          <p:cNvPr id="79" name="Shape 79"/>
          <p:cNvSpPr/>
          <p:nvPr/>
        </p:nvSpPr>
        <p:spPr>
          <a:xfrm>
            <a:off x="8595360" y="1298448"/>
            <a:ext cx="2578608" cy="2377440"/>
          </a:xfrm>
          <a:prstGeom prst="roundRect">
            <a:avLst/>
          </a:prstGeom>
          <a:solidFill>
            <a:srgbClr val="FFFFFF"/>
          </a:solidFill>
          <a:ln w="6350">
            <a:solidFill>
              <a:srgbClr val="D8E2EE"/>
            </a:solidFill>
          </a:ln>
        </p:spPr>
        <p:txBody>
          <a:bodyPr/>
          <a:lstStyle/>
          <a:p>
            <a:endParaRPr lang="en-US"/>
          </a:p>
        </p:txBody>
      </p:sp>
      <p:sp>
        <p:nvSpPr>
          <p:cNvPr id="80" name="Shape 80"/>
          <p:cNvSpPr/>
          <p:nvPr/>
        </p:nvSpPr>
        <p:spPr>
          <a:xfrm>
            <a:off x="8595360" y="1298448"/>
            <a:ext cx="73152" cy="2377440"/>
          </a:xfrm>
          <a:prstGeom prst="rect">
            <a:avLst/>
          </a:prstGeom>
          <a:solidFill>
            <a:schemeClr val="accent2"/>
          </a:solidFill>
          <a:ln w="6350">
            <a:solidFill>
              <a:srgbClr val="0F766E"/>
            </a:solidFill>
          </a:ln>
        </p:spPr>
        <p:txBody>
          <a:bodyPr/>
          <a:lstStyle/>
          <a:p>
            <a:endParaRPr lang="en-US"/>
          </a:p>
        </p:txBody>
      </p:sp>
      <p:sp>
        <p:nvSpPr>
          <p:cNvPr id="81" name="TextBox 81"/>
          <p:cNvSpPr txBox="1"/>
          <p:nvPr/>
        </p:nvSpPr>
        <p:spPr>
          <a:xfrm>
            <a:off x="8778240" y="1444752"/>
            <a:ext cx="2249424" cy="228600"/>
          </a:xfrm>
          <a:prstGeom prst="rect">
            <a:avLst/>
          </a:prstGeom>
          <a:noFill/>
          <a:ln>
            <a:noFill/>
          </a:ln>
        </p:spPr>
        <p:txBody>
          <a:bodyPr wrap="square" anchor="t"/>
          <a:lstStyle/>
          <a:p>
            <a:pPr algn="l"/>
            <a:r>
              <a:rPr lang="en-US" sz="1300" dirty="0">
                <a:solidFill>
                  <a:srgbClr val="0F172A"/>
                </a:solidFill>
                <a:latin typeface="Aptos"/>
              </a:rPr>
              <a:t>Break-even logic</a:t>
            </a:r>
          </a:p>
        </p:txBody>
      </p:sp>
      <p:sp>
        <p:nvSpPr>
          <p:cNvPr id="82" name="TextBox 82"/>
          <p:cNvSpPr txBox="1"/>
          <p:nvPr/>
        </p:nvSpPr>
        <p:spPr>
          <a:xfrm>
            <a:off x="8778240" y="1755648"/>
            <a:ext cx="2267712" cy="1810512"/>
          </a:xfrm>
          <a:prstGeom prst="rect">
            <a:avLst/>
          </a:prstGeom>
          <a:noFill/>
          <a:ln>
            <a:noFill/>
          </a:ln>
        </p:spPr>
        <p:txBody>
          <a:bodyPr wrap="square" anchor="t"/>
          <a:lstStyle/>
          <a:p>
            <a:pPr algn="l"/>
            <a:r>
              <a:rPr lang="en-US" sz="860" dirty="0">
                <a:solidFill>
                  <a:srgbClr val="475569"/>
                </a:solidFill>
                <a:latin typeface="Aptos"/>
              </a:rPr>
              <a:t>HBF helps when avoided reload/recompute and reduced scale-out exceed HBF path latency, software overhead, power, and cost. Higher reuse moves right. Larger nonresident working set moves up.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8FAFC"/>
          </a:solidFill>
          <a:ln w="6350">
            <a:solidFill>
              <a:srgbClr val="F8FAFC"/>
            </a:solidFill>
          </a:ln>
        </p:spPr>
        <p:txBody>
          <a:bodyPr/>
          <a:lstStyle/>
          <a:p>
            <a:endParaRPr lang="en-US"/>
          </a:p>
        </p:txBody>
      </p:sp>
      <p:sp>
        <p:nvSpPr>
          <p:cNvPr id="3" name="Shape 3"/>
          <p:cNvSpPr/>
          <p:nvPr/>
        </p:nvSpPr>
        <p:spPr>
          <a:xfrm>
            <a:off x="0" y="0"/>
            <a:ext cx="146304" cy="6858000"/>
          </a:xfrm>
          <a:prstGeom prst="rect">
            <a:avLst/>
          </a:prstGeom>
          <a:solidFill>
            <a:schemeClr val="accent2"/>
          </a:solidFill>
          <a:ln w="6350">
            <a:solidFill>
              <a:srgbClr val="00A3A3"/>
            </a:solidFill>
          </a:ln>
        </p:spPr>
        <p:txBody>
          <a:bodyPr/>
          <a:lstStyle/>
          <a:p>
            <a:endParaRPr lang="en-US"/>
          </a:p>
        </p:txBody>
      </p:sp>
      <p:sp>
        <p:nvSpPr>
          <p:cNvPr id="4" name="TextBox 4"/>
          <p:cNvSpPr txBox="1"/>
          <p:nvPr/>
        </p:nvSpPr>
        <p:spPr>
          <a:xfrm>
            <a:off x="384048" y="256032"/>
            <a:ext cx="9326880" cy="384048"/>
          </a:xfrm>
          <a:prstGeom prst="rect">
            <a:avLst/>
          </a:prstGeom>
          <a:noFill/>
          <a:ln>
            <a:noFill/>
          </a:ln>
        </p:spPr>
        <p:txBody>
          <a:bodyPr wrap="square" anchor="t"/>
          <a:lstStyle/>
          <a:p>
            <a:pPr algn="l"/>
            <a:r>
              <a:rPr lang="en-US" sz="2600" dirty="0">
                <a:solidFill>
                  <a:srgbClr val="0F172A"/>
                </a:solidFill>
                <a:latin typeface="Aptos"/>
              </a:rPr>
              <a:t>Capacity Curve: Where the SLO Breaks</a:t>
            </a:r>
          </a:p>
        </p:txBody>
      </p:sp>
      <p:sp>
        <p:nvSpPr>
          <p:cNvPr id="5" name="TextBox 5"/>
          <p:cNvSpPr txBox="1"/>
          <p:nvPr/>
        </p:nvSpPr>
        <p:spPr>
          <a:xfrm>
            <a:off x="402336" y="694944"/>
            <a:ext cx="9875520" cy="256032"/>
          </a:xfrm>
          <a:prstGeom prst="rect">
            <a:avLst/>
          </a:prstGeom>
          <a:noFill/>
          <a:ln>
            <a:noFill/>
          </a:ln>
        </p:spPr>
        <p:txBody>
          <a:bodyPr wrap="square" anchor="t"/>
          <a:lstStyle/>
          <a:p>
            <a:pPr algn="l"/>
            <a:r>
              <a:rPr lang="en-US" sz="1000" dirty="0">
                <a:solidFill>
                  <a:srgbClr val="475569"/>
                </a:solidFill>
                <a:latin typeface="Aptos"/>
              </a:rPr>
              <a:t>Illustrative queue-and-latency knee. Replace with real low, target, and saturation results.</a:t>
            </a:r>
          </a:p>
        </p:txBody>
      </p:sp>
      <p:sp>
        <p:nvSpPr>
          <p:cNvPr id="6" name="Shape 6"/>
          <p:cNvSpPr/>
          <p:nvPr/>
        </p:nvSpPr>
        <p:spPr>
          <a:xfrm>
            <a:off x="10515600" y="274320"/>
            <a:ext cx="1243584" cy="347472"/>
          </a:xfrm>
          <a:prstGeom prst="roundRect">
            <a:avLst/>
          </a:prstGeom>
          <a:solidFill>
            <a:srgbClr val="E0F2FE"/>
          </a:solidFill>
          <a:ln w="6350">
            <a:solidFill>
              <a:srgbClr val="7DD3FC"/>
            </a:solidFill>
          </a:ln>
        </p:spPr>
        <p:txBody>
          <a:bodyPr/>
          <a:lstStyle/>
          <a:p>
            <a:endParaRPr lang="en-US"/>
          </a:p>
        </p:txBody>
      </p:sp>
      <p:sp>
        <p:nvSpPr>
          <p:cNvPr id="7" name="TextBox 7"/>
          <p:cNvSpPr txBox="1"/>
          <p:nvPr/>
        </p:nvSpPr>
        <p:spPr>
          <a:xfrm>
            <a:off x="10607040" y="356616"/>
            <a:ext cx="1060704" cy="128016"/>
          </a:xfrm>
          <a:prstGeom prst="rect">
            <a:avLst/>
          </a:prstGeom>
          <a:noFill/>
          <a:ln>
            <a:noFill/>
          </a:ln>
        </p:spPr>
        <p:txBody>
          <a:bodyPr wrap="square" anchor="t"/>
          <a:lstStyle/>
          <a:p>
            <a:pPr algn="l"/>
            <a:r>
              <a:rPr lang="en-US" sz="800" dirty="0">
                <a:solidFill>
                  <a:srgbClr val="075985"/>
                </a:solidFill>
                <a:latin typeface="Aptos"/>
              </a:rPr>
              <a:t>v3 workload-fit</a:t>
            </a:r>
          </a:p>
        </p:txBody>
      </p:sp>
      <p:sp>
        <p:nvSpPr>
          <p:cNvPr id="8" name="TextBox 8"/>
          <p:cNvSpPr txBox="1"/>
          <p:nvPr/>
        </p:nvSpPr>
        <p:spPr>
          <a:xfrm>
            <a:off x="420624" y="6510528"/>
            <a:ext cx="7498080" cy="164592"/>
          </a:xfrm>
          <a:prstGeom prst="rect">
            <a:avLst/>
          </a:prstGeom>
          <a:noFill/>
          <a:ln>
            <a:noFill/>
          </a:ln>
        </p:spPr>
        <p:txBody>
          <a:bodyPr wrap="square" anchor="t"/>
          <a:lstStyle/>
          <a:p>
            <a:pPr algn="l"/>
            <a:r>
              <a:rPr lang="en-US" sz="700" dirty="0">
                <a:solidFill>
                  <a:srgbClr val="64748B"/>
                </a:solidFill>
                <a:latin typeface="Aptos"/>
              </a:rPr>
              <a:t>The winner is the highest accepted arrival rate before quality, latency, or queue depth violates the SLO.</a:t>
            </a:r>
          </a:p>
        </p:txBody>
      </p:sp>
      <p:cxnSp>
        <p:nvCxnSpPr>
          <p:cNvPr id="9" name="Line 9"/>
          <p:cNvCxnSpPr/>
          <p:nvPr/>
        </p:nvCxnSpPr>
        <p:spPr>
          <a:xfrm>
            <a:off x="1143000" y="5303520"/>
            <a:ext cx="9464040" cy="9144"/>
          </a:xfrm>
          <a:prstGeom prst="line">
            <a:avLst/>
          </a:prstGeom>
          <a:ln w="25400">
            <a:solidFill>
              <a:srgbClr val="334155"/>
            </a:solidFill>
          </a:ln>
        </p:spPr>
      </p:cxnSp>
      <p:cxnSp>
        <p:nvCxnSpPr>
          <p:cNvPr id="10" name="Line 10"/>
          <p:cNvCxnSpPr/>
          <p:nvPr/>
        </p:nvCxnSpPr>
        <p:spPr>
          <a:xfrm flipV="1">
            <a:off x="1143000" y="1005840"/>
            <a:ext cx="9144" cy="4297680"/>
          </a:xfrm>
          <a:prstGeom prst="line">
            <a:avLst/>
          </a:prstGeom>
          <a:ln w="25400">
            <a:solidFill>
              <a:srgbClr val="334155"/>
            </a:solidFill>
          </a:ln>
        </p:spPr>
      </p:cxnSp>
      <p:sp>
        <p:nvSpPr>
          <p:cNvPr id="11" name="TextBox 11"/>
          <p:cNvSpPr txBox="1"/>
          <p:nvPr/>
        </p:nvSpPr>
        <p:spPr>
          <a:xfrm>
            <a:off x="3886200" y="5577840"/>
            <a:ext cx="3840480" cy="146304"/>
          </a:xfrm>
          <a:prstGeom prst="rect">
            <a:avLst/>
          </a:prstGeom>
          <a:noFill/>
          <a:ln>
            <a:noFill/>
          </a:ln>
        </p:spPr>
        <p:txBody>
          <a:bodyPr wrap="square" anchor="t"/>
          <a:lstStyle/>
          <a:p>
            <a:pPr algn="l"/>
            <a:r>
              <a:rPr lang="en-US" sz="900" dirty="0">
                <a:solidFill>
                  <a:srgbClr val="0F172A"/>
                </a:solidFill>
                <a:latin typeface="Aptos"/>
              </a:rPr>
              <a:t>Arrival rate / loan packages per hour</a:t>
            </a:r>
          </a:p>
        </p:txBody>
      </p:sp>
      <p:sp>
        <p:nvSpPr>
          <p:cNvPr id="12" name="TextBox 12"/>
          <p:cNvSpPr txBox="1"/>
          <p:nvPr/>
        </p:nvSpPr>
        <p:spPr>
          <a:xfrm>
            <a:off x="164592" y="2788920"/>
            <a:ext cx="914400" cy="146304"/>
          </a:xfrm>
          <a:prstGeom prst="rect">
            <a:avLst/>
          </a:prstGeom>
          <a:noFill/>
          <a:ln>
            <a:noFill/>
          </a:ln>
        </p:spPr>
        <p:txBody>
          <a:bodyPr wrap="square" anchor="t"/>
          <a:lstStyle/>
          <a:p>
            <a:pPr algn="l"/>
            <a:r>
              <a:rPr lang="en-US" sz="850" dirty="0">
                <a:solidFill>
                  <a:srgbClr val="0F172A"/>
                </a:solidFill>
                <a:latin typeface="Aptos"/>
              </a:rPr>
              <a:t>p95 latency / queue pressure</a:t>
            </a:r>
          </a:p>
        </p:txBody>
      </p:sp>
      <p:sp>
        <p:nvSpPr>
          <p:cNvPr id="13" name="Shape 13"/>
          <p:cNvSpPr/>
          <p:nvPr/>
        </p:nvSpPr>
        <p:spPr>
          <a:xfrm>
            <a:off x="1143000" y="2057400"/>
            <a:ext cx="9464040" cy="22860"/>
          </a:xfrm>
          <a:prstGeom prst="rect">
            <a:avLst/>
          </a:prstGeom>
          <a:solidFill>
            <a:srgbClr val="DC2626"/>
          </a:solidFill>
          <a:ln w="6350">
            <a:solidFill>
              <a:srgbClr val="DC2626"/>
            </a:solidFill>
          </a:ln>
        </p:spPr>
        <p:txBody>
          <a:bodyPr/>
          <a:lstStyle/>
          <a:p>
            <a:endParaRPr lang="en-US"/>
          </a:p>
        </p:txBody>
      </p:sp>
      <p:sp>
        <p:nvSpPr>
          <p:cNvPr id="14" name="TextBox 14"/>
          <p:cNvSpPr txBox="1"/>
          <p:nvPr/>
        </p:nvSpPr>
        <p:spPr>
          <a:xfrm>
            <a:off x="9601200" y="1874520"/>
            <a:ext cx="914400" cy="91440"/>
          </a:xfrm>
          <a:prstGeom prst="rect">
            <a:avLst/>
          </a:prstGeom>
          <a:noFill/>
          <a:ln>
            <a:noFill/>
          </a:ln>
        </p:spPr>
        <p:txBody>
          <a:bodyPr wrap="square" anchor="t"/>
          <a:lstStyle/>
          <a:p>
            <a:pPr algn="l"/>
            <a:r>
              <a:rPr lang="en-US" sz="750" dirty="0">
                <a:solidFill>
                  <a:srgbClr val="DC2626"/>
                </a:solidFill>
                <a:latin typeface="Aptos"/>
              </a:rPr>
              <a:t>SLO boundary</a:t>
            </a:r>
          </a:p>
        </p:txBody>
      </p:sp>
      <p:cxnSp>
        <p:nvCxnSpPr>
          <p:cNvPr id="15" name="Line 15"/>
          <p:cNvCxnSpPr/>
          <p:nvPr/>
        </p:nvCxnSpPr>
        <p:spPr>
          <a:xfrm flipV="1">
            <a:off x="1280160" y="4114800"/>
            <a:ext cx="1463040" cy="548640"/>
          </a:xfrm>
          <a:prstGeom prst="line">
            <a:avLst/>
          </a:prstGeom>
          <a:ln w="38100">
            <a:solidFill>
              <a:srgbClr val="2563EB"/>
            </a:solidFill>
          </a:ln>
        </p:spPr>
      </p:cxnSp>
      <p:cxnSp>
        <p:nvCxnSpPr>
          <p:cNvPr id="16" name="Line 16"/>
          <p:cNvCxnSpPr/>
          <p:nvPr/>
        </p:nvCxnSpPr>
        <p:spPr>
          <a:xfrm flipV="1">
            <a:off x="2743200" y="3246120"/>
            <a:ext cx="1645920" cy="868680"/>
          </a:xfrm>
          <a:prstGeom prst="line">
            <a:avLst/>
          </a:prstGeom>
          <a:ln w="38100">
            <a:solidFill>
              <a:srgbClr val="2563EB"/>
            </a:solidFill>
          </a:ln>
        </p:spPr>
      </p:cxnSp>
      <p:cxnSp>
        <p:nvCxnSpPr>
          <p:cNvPr id="17" name="Line 17"/>
          <p:cNvCxnSpPr/>
          <p:nvPr/>
        </p:nvCxnSpPr>
        <p:spPr>
          <a:xfrm flipV="1">
            <a:off x="4389120" y="2148840"/>
            <a:ext cx="1097280" cy="1097280"/>
          </a:xfrm>
          <a:prstGeom prst="line">
            <a:avLst/>
          </a:prstGeom>
          <a:ln w="38100">
            <a:solidFill>
              <a:srgbClr val="2563EB"/>
            </a:solidFill>
          </a:ln>
        </p:spPr>
      </p:cxnSp>
      <p:cxnSp>
        <p:nvCxnSpPr>
          <p:cNvPr id="18" name="Line 18"/>
          <p:cNvCxnSpPr/>
          <p:nvPr/>
        </p:nvCxnSpPr>
        <p:spPr>
          <a:xfrm flipV="1">
            <a:off x="5486400" y="1508760"/>
            <a:ext cx="640080" cy="640080"/>
          </a:xfrm>
          <a:prstGeom prst="line">
            <a:avLst/>
          </a:prstGeom>
          <a:ln w="38100">
            <a:solidFill>
              <a:srgbClr val="2563EB"/>
            </a:solidFill>
          </a:ln>
        </p:spPr>
      </p:cxnSp>
      <p:sp>
        <p:nvSpPr>
          <p:cNvPr id="19" name="Shape 19"/>
          <p:cNvSpPr/>
          <p:nvPr/>
        </p:nvSpPr>
        <p:spPr>
          <a:xfrm>
            <a:off x="1234440" y="4617720"/>
            <a:ext cx="91440" cy="91440"/>
          </a:xfrm>
          <a:prstGeom prst="roundRect">
            <a:avLst/>
          </a:prstGeom>
          <a:solidFill>
            <a:srgbClr val="2563EB"/>
          </a:solidFill>
          <a:ln w="6350">
            <a:solidFill>
              <a:srgbClr val="2563EB"/>
            </a:solidFill>
          </a:ln>
        </p:spPr>
        <p:txBody>
          <a:bodyPr/>
          <a:lstStyle/>
          <a:p>
            <a:endParaRPr lang="en-US"/>
          </a:p>
        </p:txBody>
      </p:sp>
      <p:sp>
        <p:nvSpPr>
          <p:cNvPr id="20" name="Shape 20"/>
          <p:cNvSpPr/>
          <p:nvPr/>
        </p:nvSpPr>
        <p:spPr>
          <a:xfrm>
            <a:off x="2697480" y="4069080"/>
            <a:ext cx="91440" cy="91440"/>
          </a:xfrm>
          <a:prstGeom prst="roundRect">
            <a:avLst/>
          </a:prstGeom>
          <a:solidFill>
            <a:srgbClr val="2563EB"/>
          </a:solidFill>
          <a:ln w="6350">
            <a:solidFill>
              <a:srgbClr val="2563EB"/>
            </a:solidFill>
          </a:ln>
        </p:spPr>
        <p:txBody>
          <a:bodyPr/>
          <a:lstStyle/>
          <a:p>
            <a:endParaRPr lang="en-US"/>
          </a:p>
        </p:txBody>
      </p:sp>
      <p:sp>
        <p:nvSpPr>
          <p:cNvPr id="21" name="Shape 21"/>
          <p:cNvSpPr/>
          <p:nvPr/>
        </p:nvSpPr>
        <p:spPr>
          <a:xfrm>
            <a:off x="4343400" y="3200400"/>
            <a:ext cx="91440" cy="91440"/>
          </a:xfrm>
          <a:prstGeom prst="roundRect">
            <a:avLst/>
          </a:prstGeom>
          <a:solidFill>
            <a:srgbClr val="2563EB"/>
          </a:solidFill>
          <a:ln w="6350">
            <a:solidFill>
              <a:srgbClr val="2563EB"/>
            </a:solidFill>
          </a:ln>
        </p:spPr>
        <p:txBody>
          <a:bodyPr/>
          <a:lstStyle/>
          <a:p>
            <a:endParaRPr lang="en-US"/>
          </a:p>
        </p:txBody>
      </p:sp>
      <p:sp>
        <p:nvSpPr>
          <p:cNvPr id="22" name="Shape 22"/>
          <p:cNvSpPr/>
          <p:nvPr/>
        </p:nvSpPr>
        <p:spPr>
          <a:xfrm>
            <a:off x="5440680" y="2103120"/>
            <a:ext cx="91440" cy="91440"/>
          </a:xfrm>
          <a:prstGeom prst="roundRect">
            <a:avLst/>
          </a:prstGeom>
          <a:solidFill>
            <a:srgbClr val="2563EB"/>
          </a:solidFill>
          <a:ln w="6350">
            <a:solidFill>
              <a:srgbClr val="2563EB"/>
            </a:solidFill>
          </a:ln>
        </p:spPr>
        <p:txBody>
          <a:bodyPr/>
          <a:lstStyle/>
          <a:p>
            <a:endParaRPr lang="en-US"/>
          </a:p>
        </p:txBody>
      </p:sp>
      <p:sp>
        <p:nvSpPr>
          <p:cNvPr id="23" name="Shape 23"/>
          <p:cNvSpPr/>
          <p:nvPr/>
        </p:nvSpPr>
        <p:spPr>
          <a:xfrm>
            <a:off x="6080760" y="1463040"/>
            <a:ext cx="91440" cy="91440"/>
          </a:xfrm>
          <a:prstGeom prst="roundRect">
            <a:avLst/>
          </a:prstGeom>
          <a:solidFill>
            <a:srgbClr val="2563EB"/>
          </a:solidFill>
          <a:ln w="6350">
            <a:solidFill>
              <a:srgbClr val="2563EB"/>
            </a:solidFill>
          </a:ln>
        </p:spPr>
        <p:txBody>
          <a:bodyPr/>
          <a:lstStyle/>
          <a:p>
            <a:endParaRPr lang="en-US"/>
          </a:p>
        </p:txBody>
      </p:sp>
      <p:cxnSp>
        <p:nvCxnSpPr>
          <p:cNvPr id="24" name="Line 24"/>
          <p:cNvCxnSpPr/>
          <p:nvPr/>
        </p:nvCxnSpPr>
        <p:spPr>
          <a:xfrm flipV="1">
            <a:off x="1280160" y="4251960"/>
            <a:ext cx="1920240" cy="457200"/>
          </a:xfrm>
          <a:prstGeom prst="line">
            <a:avLst/>
          </a:prstGeom>
          <a:ln w="38100">
            <a:solidFill>
              <a:srgbClr val="F59E0B"/>
            </a:solidFill>
          </a:ln>
        </p:spPr>
      </p:cxnSp>
      <p:cxnSp>
        <p:nvCxnSpPr>
          <p:cNvPr id="25" name="Line 25"/>
          <p:cNvCxnSpPr/>
          <p:nvPr/>
        </p:nvCxnSpPr>
        <p:spPr>
          <a:xfrm flipV="1">
            <a:off x="3200400" y="3520440"/>
            <a:ext cx="1920240" cy="731520"/>
          </a:xfrm>
          <a:prstGeom prst="line">
            <a:avLst/>
          </a:prstGeom>
          <a:ln w="38100">
            <a:solidFill>
              <a:srgbClr val="F59E0B"/>
            </a:solidFill>
          </a:ln>
        </p:spPr>
      </p:cxnSp>
      <p:cxnSp>
        <p:nvCxnSpPr>
          <p:cNvPr id="26" name="Line 26"/>
          <p:cNvCxnSpPr/>
          <p:nvPr/>
        </p:nvCxnSpPr>
        <p:spPr>
          <a:xfrm flipV="1">
            <a:off x="5120640" y="2331720"/>
            <a:ext cx="1554480" cy="1188720"/>
          </a:xfrm>
          <a:prstGeom prst="line">
            <a:avLst/>
          </a:prstGeom>
          <a:ln w="38100">
            <a:solidFill>
              <a:srgbClr val="F59E0B"/>
            </a:solidFill>
          </a:ln>
        </p:spPr>
      </p:cxnSp>
      <p:cxnSp>
        <p:nvCxnSpPr>
          <p:cNvPr id="27" name="Line 27"/>
          <p:cNvCxnSpPr/>
          <p:nvPr/>
        </p:nvCxnSpPr>
        <p:spPr>
          <a:xfrm flipV="1">
            <a:off x="6675120" y="1508760"/>
            <a:ext cx="640080" cy="822960"/>
          </a:xfrm>
          <a:prstGeom prst="line">
            <a:avLst/>
          </a:prstGeom>
          <a:ln w="38100">
            <a:solidFill>
              <a:srgbClr val="F59E0B"/>
            </a:solidFill>
          </a:ln>
        </p:spPr>
      </p:cxnSp>
      <p:sp>
        <p:nvSpPr>
          <p:cNvPr id="28" name="Shape 28"/>
          <p:cNvSpPr/>
          <p:nvPr/>
        </p:nvSpPr>
        <p:spPr>
          <a:xfrm>
            <a:off x="1234440" y="4663440"/>
            <a:ext cx="91440" cy="91440"/>
          </a:xfrm>
          <a:prstGeom prst="roundRect">
            <a:avLst/>
          </a:prstGeom>
          <a:solidFill>
            <a:srgbClr val="F59E0B"/>
          </a:solidFill>
          <a:ln w="6350">
            <a:solidFill>
              <a:srgbClr val="F59E0B"/>
            </a:solidFill>
          </a:ln>
        </p:spPr>
        <p:txBody>
          <a:bodyPr/>
          <a:lstStyle/>
          <a:p>
            <a:endParaRPr lang="en-US"/>
          </a:p>
        </p:txBody>
      </p:sp>
      <p:sp>
        <p:nvSpPr>
          <p:cNvPr id="29" name="Shape 29"/>
          <p:cNvSpPr/>
          <p:nvPr/>
        </p:nvSpPr>
        <p:spPr>
          <a:xfrm>
            <a:off x="3154680" y="4206240"/>
            <a:ext cx="91440" cy="91440"/>
          </a:xfrm>
          <a:prstGeom prst="roundRect">
            <a:avLst/>
          </a:prstGeom>
          <a:solidFill>
            <a:srgbClr val="F59E0B"/>
          </a:solidFill>
          <a:ln w="6350">
            <a:solidFill>
              <a:srgbClr val="F59E0B"/>
            </a:solidFill>
          </a:ln>
        </p:spPr>
        <p:txBody>
          <a:bodyPr/>
          <a:lstStyle/>
          <a:p>
            <a:endParaRPr lang="en-US"/>
          </a:p>
        </p:txBody>
      </p:sp>
      <p:sp>
        <p:nvSpPr>
          <p:cNvPr id="30" name="Shape 30"/>
          <p:cNvSpPr/>
          <p:nvPr/>
        </p:nvSpPr>
        <p:spPr>
          <a:xfrm>
            <a:off x="5074920" y="3474720"/>
            <a:ext cx="91440" cy="91440"/>
          </a:xfrm>
          <a:prstGeom prst="roundRect">
            <a:avLst/>
          </a:prstGeom>
          <a:solidFill>
            <a:srgbClr val="F59E0B"/>
          </a:solidFill>
          <a:ln w="6350">
            <a:solidFill>
              <a:srgbClr val="F59E0B"/>
            </a:solidFill>
          </a:ln>
        </p:spPr>
        <p:txBody>
          <a:bodyPr/>
          <a:lstStyle/>
          <a:p>
            <a:endParaRPr lang="en-US"/>
          </a:p>
        </p:txBody>
      </p:sp>
      <p:sp>
        <p:nvSpPr>
          <p:cNvPr id="31" name="Shape 31"/>
          <p:cNvSpPr/>
          <p:nvPr/>
        </p:nvSpPr>
        <p:spPr>
          <a:xfrm>
            <a:off x="6629400" y="2286000"/>
            <a:ext cx="91440" cy="91440"/>
          </a:xfrm>
          <a:prstGeom prst="roundRect">
            <a:avLst/>
          </a:prstGeom>
          <a:solidFill>
            <a:srgbClr val="F59E0B"/>
          </a:solidFill>
          <a:ln w="6350">
            <a:solidFill>
              <a:srgbClr val="F59E0B"/>
            </a:solidFill>
          </a:ln>
        </p:spPr>
        <p:txBody>
          <a:bodyPr/>
          <a:lstStyle/>
          <a:p>
            <a:endParaRPr lang="en-US"/>
          </a:p>
        </p:txBody>
      </p:sp>
      <p:sp>
        <p:nvSpPr>
          <p:cNvPr id="32" name="Shape 32"/>
          <p:cNvSpPr/>
          <p:nvPr/>
        </p:nvSpPr>
        <p:spPr>
          <a:xfrm>
            <a:off x="7269480" y="1463040"/>
            <a:ext cx="91440" cy="91440"/>
          </a:xfrm>
          <a:prstGeom prst="roundRect">
            <a:avLst/>
          </a:prstGeom>
          <a:solidFill>
            <a:srgbClr val="F59E0B"/>
          </a:solidFill>
          <a:ln w="6350">
            <a:solidFill>
              <a:srgbClr val="F59E0B"/>
            </a:solidFill>
          </a:ln>
        </p:spPr>
        <p:txBody>
          <a:bodyPr/>
          <a:lstStyle/>
          <a:p>
            <a:endParaRPr lang="en-US"/>
          </a:p>
        </p:txBody>
      </p:sp>
      <p:cxnSp>
        <p:nvCxnSpPr>
          <p:cNvPr id="33" name="Line 33"/>
          <p:cNvCxnSpPr/>
          <p:nvPr/>
        </p:nvCxnSpPr>
        <p:spPr>
          <a:xfrm flipV="1">
            <a:off x="1280160" y="4343400"/>
            <a:ext cx="2377440" cy="411480"/>
          </a:xfrm>
          <a:prstGeom prst="line">
            <a:avLst/>
          </a:prstGeom>
          <a:ln w="38100">
            <a:solidFill>
              <a:srgbClr val="0F766E"/>
            </a:solidFill>
          </a:ln>
        </p:spPr>
      </p:cxnSp>
      <p:cxnSp>
        <p:nvCxnSpPr>
          <p:cNvPr id="34" name="Line 34"/>
          <p:cNvCxnSpPr/>
          <p:nvPr/>
        </p:nvCxnSpPr>
        <p:spPr>
          <a:xfrm flipV="1">
            <a:off x="3657600" y="3703320"/>
            <a:ext cx="2194560" cy="640080"/>
          </a:xfrm>
          <a:prstGeom prst="line">
            <a:avLst/>
          </a:prstGeom>
          <a:ln w="38100">
            <a:solidFill>
              <a:srgbClr val="0F766E"/>
            </a:solidFill>
          </a:ln>
        </p:spPr>
      </p:cxnSp>
      <p:cxnSp>
        <p:nvCxnSpPr>
          <p:cNvPr id="35" name="Line 35"/>
          <p:cNvCxnSpPr/>
          <p:nvPr/>
        </p:nvCxnSpPr>
        <p:spPr>
          <a:xfrm flipV="1">
            <a:off x="5852160" y="2743200"/>
            <a:ext cx="2103120" cy="960120"/>
          </a:xfrm>
          <a:prstGeom prst="line">
            <a:avLst/>
          </a:prstGeom>
          <a:ln w="38100">
            <a:solidFill>
              <a:srgbClr val="0F766E"/>
            </a:solidFill>
          </a:ln>
        </p:spPr>
      </p:cxnSp>
      <p:cxnSp>
        <p:nvCxnSpPr>
          <p:cNvPr id="36" name="Line 36"/>
          <p:cNvCxnSpPr/>
          <p:nvPr/>
        </p:nvCxnSpPr>
        <p:spPr>
          <a:xfrm flipV="1">
            <a:off x="7955280" y="1874520"/>
            <a:ext cx="1371600" cy="868680"/>
          </a:xfrm>
          <a:prstGeom prst="line">
            <a:avLst/>
          </a:prstGeom>
          <a:ln w="38100">
            <a:solidFill>
              <a:srgbClr val="0F766E"/>
            </a:solidFill>
          </a:ln>
        </p:spPr>
      </p:cxnSp>
      <p:sp>
        <p:nvSpPr>
          <p:cNvPr id="37" name="Shape 37"/>
          <p:cNvSpPr/>
          <p:nvPr/>
        </p:nvSpPr>
        <p:spPr>
          <a:xfrm>
            <a:off x="1234440" y="4709160"/>
            <a:ext cx="91440" cy="91440"/>
          </a:xfrm>
          <a:prstGeom prst="roundRect">
            <a:avLst/>
          </a:prstGeom>
          <a:solidFill>
            <a:srgbClr val="0F766E"/>
          </a:solidFill>
          <a:ln w="6350">
            <a:solidFill>
              <a:srgbClr val="0F766E"/>
            </a:solidFill>
          </a:ln>
        </p:spPr>
        <p:txBody>
          <a:bodyPr/>
          <a:lstStyle/>
          <a:p>
            <a:endParaRPr lang="en-US"/>
          </a:p>
        </p:txBody>
      </p:sp>
      <p:sp>
        <p:nvSpPr>
          <p:cNvPr id="38" name="Shape 38"/>
          <p:cNvSpPr/>
          <p:nvPr/>
        </p:nvSpPr>
        <p:spPr>
          <a:xfrm>
            <a:off x="3611880" y="4297680"/>
            <a:ext cx="91440" cy="91440"/>
          </a:xfrm>
          <a:prstGeom prst="roundRect">
            <a:avLst/>
          </a:prstGeom>
          <a:solidFill>
            <a:srgbClr val="0F766E"/>
          </a:solidFill>
          <a:ln w="6350">
            <a:solidFill>
              <a:srgbClr val="0F766E"/>
            </a:solidFill>
          </a:ln>
        </p:spPr>
        <p:txBody>
          <a:bodyPr/>
          <a:lstStyle/>
          <a:p>
            <a:endParaRPr lang="en-US"/>
          </a:p>
        </p:txBody>
      </p:sp>
      <p:sp>
        <p:nvSpPr>
          <p:cNvPr id="39" name="Shape 39"/>
          <p:cNvSpPr/>
          <p:nvPr/>
        </p:nvSpPr>
        <p:spPr>
          <a:xfrm>
            <a:off x="5806440" y="3657600"/>
            <a:ext cx="91440" cy="91440"/>
          </a:xfrm>
          <a:prstGeom prst="roundRect">
            <a:avLst/>
          </a:prstGeom>
          <a:solidFill>
            <a:srgbClr val="0F766E"/>
          </a:solidFill>
          <a:ln w="6350">
            <a:solidFill>
              <a:srgbClr val="0F766E"/>
            </a:solidFill>
          </a:ln>
        </p:spPr>
        <p:txBody>
          <a:bodyPr/>
          <a:lstStyle/>
          <a:p>
            <a:endParaRPr lang="en-US"/>
          </a:p>
        </p:txBody>
      </p:sp>
      <p:sp>
        <p:nvSpPr>
          <p:cNvPr id="40" name="Shape 40"/>
          <p:cNvSpPr/>
          <p:nvPr/>
        </p:nvSpPr>
        <p:spPr>
          <a:xfrm>
            <a:off x="7909560" y="2697480"/>
            <a:ext cx="91440" cy="91440"/>
          </a:xfrm>
          <a:prstGeom prst="roundRect">
            <a:avLst/>
          </a:prstGeom>
          <a:solidFill>
            <a:srgbClr val="0F766E"/>
          </a:solidFill>
          <a:ln w="6350">
            <a:solidFill>
              <a:srgbClr val="0F766E"/>
            </a:solidFill>
          </a:ln>
        </p:spPr>
        <p:txBody>
          <a:bodyPr/>
          <a:lstStyle/>
          <a:p>
            <a:endParaRPr lang="en-US"/>
          </a:p>
        </p:txBody>
      </p:sp>
      <p:sp>
        <p:nvSpPr>
          <p:cNvPr id="41" name="Shape 41"/>
          <p:cNvSpPr/>
          <p:nvPr/>
        </p:nvSpPr>
        <p:spPr>
          <a:xfrm>
            <a:off x="9281160" y="1828800"/>
            <a:ext cx="91440" cy="91440"/>
          </a:xfrm>
          <a:prstGeom prst="roundRect">
            <a:avLst/>
          </a:prstGeom>
          <a:solidFill>
            <a:srgbClr val="0F766E"/>
          </a:solidFill>
          <a:ln w="6350">
            <a:solidFill>
              <a:srgbClr val="0F766E"/>
            </a:solidFill>
          </a:ln>
        </p:spPr>
        <p:txBody>
          <a:bodyPr/>
          <a:lstStyle/>
          <a:p>
            <a:endParaRPr lang="en-US"/>
          </a:p>
        </p:txBody>
      </p:sp>
      <p:sp>
        <p:nvSpPr>
          <p:cNvPr id="42" name="Shape 42"/>
          <p:cNvSpPr/>
          <p:nvPr/>
        </p:nvSpPr>
        <p:spPr>
          <a:xfrm>
            <a:off x="5806440" y="804672"/>
            <a:ext cx="164592" cy="164592"/>
          </a:xfrm>
          <a:prstGeom prst="rect">
            <a:avLst/>
          </a:prstGeom>
          <a:solidFill>
            <a:srgbClr val="2563EB"/>
          </a:solidFill>
          <a:ln w="6350">
            <a:solidFill>
              <a:srgbClr val="2563EB"/>
            </a:solidFill>
          </a:ln>
        </p:spPr>
        <p:txBody>
          <a:bodyPr/>
          <a:lstStyle/>
          <a:p>
            <a:endParaRPr lang="en-US"/>
          </a:p>
        </p:txBody>
      </p:sp>
      <p:sp>
        <p:nvSpPr>
          <p:cNvPr id="43" name="TextBox 43"/>
          <p:cNvSpPr txBox="1"/>
          <p:nvPr/>
        </p:nvSpPr>
        <p:spPr>
          <a:xfrm>
            <a:off x="6025896" y="813816"/>
            <a:ext cx="914400" cy="118872"/>
          </a:xfrm>
          <a:prstGeom prst="rect">
            <a:avLst/>
          </a:prstGeom>
          <a:noFill/>
          <a:ln>
            <a:noFill/>
          </a:ln>
        </p:spPr>
        <p:txBody>
          <a:bodyPr wrap="square" anchor="t"/>
          <a:lstStyle/>
          <a:p>
            <a:pPr algn="l"/>
            <a:r>
              <a:rPr lang="en-US" sz="750" dirty="0">
                <a:solidFill>
                  <a:srgbClr val="334155"/>
                </a:solidFill>
                <a:latin typeface="Aptos"/>
              </a:rPr>
              <a:t>RTX/GPU</a:t>
            </a:r>
          </a:p>
        </p:txBody>
      </p:sp>
      <p:sp>
        <p:nvSpPr>
          <p:cNvPr id="44" name="Shape 44"/>
          <p:cNvSpPr/>
          <p:nvPr/>
        </p:nvSpPr>
        <p:spPr>
          <a:xfrm>
            <a:off x="7132320" y="804672"/>
            <a:ext cx="164592" cy="164592"/>
          </a:xfrm>
          <a:prstGeom prst="rect">
            <a:avLst/>
          </a:prstGeom>
          <a:solidFill>
            <a:srgbClr val="F59E0B"/>
          </a:solidFill>
          <a:ln w="6350">
            <a:solidFill>
              <a:srgbClr val="F59E0B"/>
            </a:solidFill>
          </a:ln>
        </p:spPr>
        <p:txBody>
          <a:bodyPr/>
          <a:lstStyle/>
          <a:p>
            <a:endParaRPr lang="en-US"/>
          </a:p>
        </p:txBody>
      </p:sp>
      <p:sp>
        <p:nvSpPr>
          <p:cNvPr id="45" name="TextBox 45"/>
          <p:cNvSpPr txBox="1"/>
          <p:nvPr/>
        </p:nvSpPr>
        <p:spPr>
          <a:xfrm>
            <a:off x="7351776" y="813816"/>
            <a:ext cx="914400" cy="118872"/>
          </a:xfrm>
          <a:prstGeom prst="rect">
            <a:avLst/>
          </a:prstGeom>
          <a:noFill/>
          <a:ln>
            <a:noFill/>
          </a:ln>
        </p:spPr>
        <p:txBody>
          <a:bodyPr wrap="square" anchor="t"/>
          <a:lstStyle/>
          <a:p>
            <a:pPr algn="l"/>
            <a:r>
              <a:rPr lang="en-US" sz="750" dirty="0">
                <a:solidFill>
                  <a:srgbClr val="334155"/>
                </a:solidFill>
                <a:latin typeface="Aptos"/>
              </a:rPr>
              <a:t>RTX+CXL</a:t>
            </a:r>
          </a:p>
        </p:txBody>
      </p:sp>
      <p:sp>
        <p:nvSpPr>
          <p:cNvPr id="46" name="Shape 46"/>
          <p:cNvSpPr/>
          <p:nvPr/>
        </p:nvSpPr>
        <p:spPr>
          <a:xfrm>
            <a:off x="8458200" y="804672"/>
            <a:ext cx="164592" cy="164592"/>
          </a:xfrm>
          <a:prstGeom prst="rect">
            <a:avLst/>
          </a:prstGeom>
          <a:solidFill>
            <a:srgbClr val="0F766E"/>
          </a:solidFill>
          <a:ln w="6350">
            <a:solidFill>
              <a:srgbClr val="0F766E"/>
            </a:solidFill>
          </a:ln>
        </p:spPr>
        <p:txBody>
          <a:bodyPr/>
          <a:lstStyle/>
          <a:p>
            <a:endParaRPr lang="en-US"/>
          </a:p>
        </p:txBody>
      </p:sp>
      <p:sp>
        <p:nvSpPr>
          <p:cNvPr id="47" name="TextBox 47"/>
          <p:cNvSpPr txBox="1"/>
          <p:nvPr/>
        </p:nvSpPr>
        <p:spPr>
          <a:xfrm>
            <a:off x="8677656" y="813816"/>
            <a:ext cx="914400" cy="118872"/>
          </a:xfrm>
          <a:prstGeom prst="rect">
            <a:avLst/>
          </a:prstGeom>
          <a:noFill/>
          <a:ln>
            <a:noFill/>
          </a:ln>
        </p:spPr>
        <p:txBody>
          <a:bodyPr wrap="square" anchor="t"/>
          <a:lstStyle/>
          <a:p>
            <a:pPr algn="l"/>
            <a:r>
              <a:rPr lang="en-US" sz="750" dirty="0">
                <a:solidFill>
                  <a:srgbClr val="334155"/>
                </a:solidFill>
                <a:latin typeface="Aptos"/>
              </a:rPr>
              <a:t>ATMOS/HBF</a:t>
            </a:r>
          </a:p>
        </p:txBody>
      </p:sp>
      <p:sp>
        <p:nvSpPr>
          <p:cNvPr id="48" name="Shape 48"/>
          <p:cNvSpPr/>
          <p:nvPr/>
        </p:nvSpPr>
        <p:spPr>
          <a:xfrm>
            <a:off x="9784080" y="804672"/>
            <a:ext cx="164592" cy="164592"/>
          </a:xfrm>
          <a:prstGeom prst="rect">
            <a:avLst/>
          </a:prstGeom>
          <a:solidFill>
            <a:srgbClr val="64748B"/>
          </a:solidFill>
          <a:ln w="6350">
            <a:solidFill>
              <a:srgbClr val="64748B"/>
            </a:solidFill>
          </a:ln>
        </p:spPr>
        <p:txBody>
          <a:bodyPr/>
          <a:lstStyle/>
          <a:p>
            <a:endParaRPr lang="en-US"/>
          </a:p>
        </p:txBody>
      </p:sp>
      <p:sp>
        <p:nvSpPr>
          <p:cNvPr id="49" name="TextBox 49"/>
          <p:cNvSpPr txBox="1"/>
          <p:nvPr/>
        </p:nvSpPr>
        <p:spPr>
          <a:xfrm>
            <a:off x="10003536" y="813816"/>
            <a:ext cx="914400" cy="118872"/>
          </a:xfrm>
          <a:prstGeom prst="rect">
            <a:avLst/>
          </a:prstGeom>
          <a:noFill/>
          <a:ln>
            <a:noFill/>
          </a:ln>
        </p:spPr>
        <p:txBody>
          <a:bodyPr wrap="square" anchor="t"/>
          <a:lstStyle/>
          <a:p>
            <a:pPr algn="l"/>
            <a:r>
              <a:rPr lang="en-US" sz="750" dirty="0">
                <a:solidFill>
                  <a:srgbClr val="334155"/>
                </a:solidFill>
                <a:latin typeface="Aptos"/>
              </a:rPr>
              <a:t>No-fit/measure</a:t>
            </a:r>
          </a:p>
        </p:txBody>
      </p:sp>
      <p:sp>
        <p:nvSpPr>
          <p:cNvPr id="50" name="Shape 50"/>
          <p:cNvSpPr/>
          <p:nvPr/>
        </p:nvSpPr>
        <p:spPr>
          <a:xfrm>
            <a:off x="7086600" y="3310128"/>
            <a:ext cx="3429000" cy="1417320"/>
          </a:xfrm>
          <a:prstGeom prst="roundRect">
            <a:avLst/>
          </a:prstGeom>
          <a:solidFill>
            <a:srgbClr val="FFFFFF"/>
          </a:solidFill>
          <a:ln w="6350">
            <a:solidFill>
              <a:srgbClr val="D8E2EE"/>
            </a:solidFill>
          </a:ln>
        </p:spPr>
        <p:txBody>
          <a:bodyPr/>
          <a:lstStyle/>
          <a:p>
            <a:endParaRPr lang="en-US"/>
          </a:p>
        </p:txBody>
      </p:sp>
      <p:sp>
        <p:nvSpPr>
          <p:cNvPr id="51" name="Shape 51"/>
          <p:cNvSpPr/>
          <p:nvPr/>
        </p:nvSpPr>
        <p:spPr>
          <a:xfrm>
            <a:off x="7086600" y="3310128"/>
            <a:ext cx="73152" cy="1417320"/>
          </a:xfrm>
          <a:prstGeom prst="rect">
            <a:avLst/>
          </a:prstGeom>
          <a:solidFill>
            <a:srgbClr val="00A3A3"/>
          </a:solidFill>
          <a:ln w="6350">
            <a:solidFill>
              <a:srgbClr val="00A3A3"/>
            </a:solidFill>
          </a:ln>
        </p:spPr>
        <p:txBody>
          <a:bodyPr/>
          <a:lstStyle/>
          <a:p>
            <a:endParaRPr lang="en-US"/>
          </a:p>
        </p:txBody>
      </p:sp>
      <p:sp>
        <p:nvSpPr>
          <p:cNvPr id="52" name="TextBox 52"/>
          <p:cNvSpPr txBox="1"/>
          <p:nvPr/>
        </p:nvSpPr>
        <p:spPr>
          <a:xfrm>
            <a:off x="7269480" y="3456432"/>
            <a:ext cx="3099816" cy="228600"/>
          </a:xfrm>
          <a:prstGeom prst="rect">
            <a:avLst/>
          </a:prstGeom>
          <a:noFill/>
          <a:ln>
            <a:noFill/>
          </a:ln>
        </p:spPr>
        <p:txBody>
          <a:bodyPr wrap="square" anchor="t"/>
          <a:lstStyle/>
          <a:p>
            <a:pPr algn="l"/>
            <a:r>
              <a:rPr lang="en-US" sz="1300" dirty="0">
                <a:solidFill>
                  <a:srgbClr val="0F172A"/>
                </a:solidFill>
                <a:latin typeface="Aptos"/>
              </a:rPr>
              <a:t>Decision readout</a:t>
            </a:r>
          </a:p>
        </p:txBody>
      </p:sp>
      <p:sp>
        <p:nvSpPr>
          <p:cNvPr id="53" name="TextBox 53"/>
          <p:cNvSpPr txBox="1"/>
          <p:nvPr/>
        </p:nvSpPr>
        <p:spPr>
          <a:xfrm>
            <a:off x="7269480" y="3767328"/>
            <a:ext cx="3118104" cy="850392"/>
          </a:xfrm>
          <a:prstGeom prst="rect">
            <a:avLst/>
          </a:prstGeom>
          <a:noFill/>
          <a:ln>
            <a:noFill/>
          </a:ln>
        </p:spPr>
        <p:txBody>
          <a:bodyPr wrap="square" anchor="t"/>
          <a:lstStyle/>
          <a:p>
            <a:pPr algn="l"/>
            <a:r>
              <a:rPr lang="en-US" sz="860" dirty="0">
                <a:solidFill>
                  <a:srgbClr val="475569"/>
                </a:solidFill>
                <a:latin typeface="Aptos"/>
              </a:rPr>
              <a:t>Report low, target, burst, and saturation points. Show not just average throughput, but p95/p99 latency, queue growth, correctness pass rate, and failure/fallback behavior.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4592" y="4791456"/>
            <a:ext cx="1417320" cy="530352"/>
          </a:xfrm>
          <a:prstGeom prst="rect">
            <a:avLst/>
          </a:prstGeom>
          <a:solidFill>
            <a:srgbClr val="FFFCF9"/>
          </a:solidFill>
          <a:ln w="10160">
            <a:solidFill>
              <a:srgbClr val="FFF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01752"/>
            <a:ext cx="3931920" cy="182880"/>
          </a:xfrm>
          <a:prstGeom prst="rect">
            <a:avLst/>
          </a:prstGeom>
          <a:noFill/>
        </p:spPr>
        <p:txBody>
          <a:bodyPr wrap="square" lIns="0" tIns="0" rIns="0" bIns="0" anchor="ctr">
            <a:spAutoFit/>
          </a:bodyPr>
          <a:lstStyle/>
          <a:p>
            <a:pPr algn="l">
              <a:lnSpc>
                <a:spcPct val="100000"/>
              </a:lnSpc>
              <a:spcAft>
                <a:spcPts val="0"/>
              </a:spcAft>
            </a:pPr>
            <a:r>
              <a:rPr sz="850" b="1" i="0">
                <a:solidFill>
                  <a:srgbClr val="E10600"/>
                </a:solidFill>
                <a:latin typeface="Pilat"/>
              </a:rPr>
              <a:t>CUSTOMER VALUE</a:t>
            </a:r>
          </a:p>
        </p:txBody>
      </p:sp>
      <p:sp>
        <p:nvSpPr>
          <p:cNvPr id="4" name="TextBox 3"/>
          <p:cNvSpPr txBox="1"/>
          <p:nvPr/>
        </p:nvSpPr>
        <p:spPr>
          <a:xfrm>
            <a:off x="566928" y="566928"/>
            <a:ext cx="10698480" cy="457200"/>
          </a:xfrm>
          <a:prstGeom prst="rect">
            <a:avLst/>
          </a:prstGeom>
          <a:noFill/>
        </p:spPr>
        <p:txBody>
          <a:bodyPr wrap="square" lIns="64008" tIns="64008" rIns="64008" bIns="64008" anchor="ctr">
            <a:spAutoFit/>
          </a:bodyPr>
          <a:lstStyle/>
          <a:p>
            <a:pPr algn="l">
              <a:lnSpc>
                <a:spcPct val="100000"/>
              </a:lnSpc>
              <a:spcAft>
                <a:spcPts val="0"/>
              </a:spcAft>
            </a:pPr>
            <a:r>
              <a:rPr sz="2600" b="1" i="0">
                <a:solidFill>
                  <a:srgbClr val="000000"/>
                </a:solidFill>
                <a:latin typeface="Pilat Book"/>
              </a:rPr>
              <a:t>ATMOS targets infrastructure cost and engineering effort together</a:t>
            </a:r>
          </a:p>
        </p:txBody>
      </p:sp>
      <p:sp>
        <p:nvSpPr>
          <p:cNvPr id="6" name="Rectangle 5"/>
          <p:cNvSpPr/>
          <p:nvPr/>
        </p:nvSpPr>
        <p:spPr>
          <a:xfrm>
            <a:off x="566928" y="1472184"/>
            <a:ext cx="11018520" cy="16459"/>
          </a:xfrm>
          <a:prstGeom prst="rect">
            <a:avLst/>
          </a:prstGeom>
          <a:solidFill>
            <a:srgbClr val="BCB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66928" y="1801368"/>
            <a:ext cx="5175504" cy="1243584"/>
          </a:xfrm>
          <a:prstGeom prst="roundRect">
            <a:avLst/>
          </a:prstGeom>
          <a:solidFill>
            <a:srgbClr val="FFFCF9"/>
          </a:solidFill>
          <a:ln w="10160">
            <a:solidFill>
              <a:srgbClr val="EE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95528" y="2011680"/>
            <a:ext cx="393192" cy="393192"/>
          </a:xfrm>
          <a:prstGeom prst="ellipse">
            <a:avLst/>
          </a:prstGeom>
          <a:solidFill>
            <a:srgbClr val="E10600"/>
          </a:solidFill>
          <a:ln>
            <a:solidFill>
              <a:srgbClr val="E10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5528" y="2020824"/>
            <a:ext cx="393192" cy="374904"/>
          </a:xfrm>
          <a:prstGeom prst="rect">
            <a:avLst/>
          </a:prstGeom>
          <a:noFill/>
        </p:spPr>
        <p:txBody>
          <a:bodyPr wrap="square" lIns="0" tIns="0" rIns="0" bIns="0" anchor="ctr">
            <a:spAutoFit/>
          </a:bodyPr>
          <a:lstStyle/>
          <a:p>
            <a:pPr algn="ctr">
              <a:lnSpc>
                <a:spcPct val="100000"/>
              </a:lnSpc>
              <a:spcAft>
                <a:spcPts val="0"/>
              </a:spcAft>
            </a:pPr>
            <a:r>
              <a:rPr sz="850" b="1" i="0">
                <a:solidFill>
                  <a:srgbClr val="FFFCF9"/>
                </a:solidFill>
                <a:latin typeface="Pilat"/>
              </a:rPr>
              <a:t>1</a:t>
            </a:r>
          </a:p>
        </p:txBody>
      </p:sp>
      <p:sp>
        <p:nvSpPr>
          <p:cNvPr id="10" name="TextBox 9"/>
          <p:cNvSpPr txBox="1"/>
          <p:nvPr/>
        </p:nvSpPr>
        <p:spPr>
          <a:xfrm>
            <a:off x="1408176" y="1984248"/>
            <a:ext cx="3931920" cy="237744"/>
          </a:xfrm>
          <a:prstGeom prst="rect">
            <a:avLst/>
          </a:prstGeom>
          <a:noFill/>
        </p:spPr>
        <p:txBody>
          <a:bodyPr wrap="square" lIns="0" tIns="0" rIns="0" bIns="0" anchor="ctr">
            <a:spAutoFit/>
          </a:bodyPr>
          <a:lstStyle/>
          <a:p>
            <a:pPr algn="l">
              <a:lnSpc>
                <a:spcPct val="100000"/>
              </a:lnSpc>
              <a:spcAft>
                <a:spcPts val="0"/>
              </a:spcAft>
            </a:pPr>
            <a:r>
              <a:rPr sz="1300" b="1" i="0">
                <a:solidFill>
                  <a:srgbClr val="000000"/>
                </a:solidFill>
                <a:latin typeface="Pilat Book"/>
              </a:rPr>
              <a:t>Fewer capacity-driven shards</a:t>
            </a:r>
          </a:p>
        </p:txBody>
      </p:sp>
      <p:sp>
        <p:nvSpPr>
          <p:cNvPr id="11" name="TextBox 10"/>
          <p:cNvSpPr txBox="1"/>
          <p:nvPr/>
        </p:nvSpPr>
        <p:spPr>
          <a:xfrm>
            <a:off x="1408176" y="2313432"/>
            <a:ext cx="3950208" cy="429768"/>
          </a:xfrm>
          <a:prstGeom prst="rect">
            <a:avLst/>
          </a:prstGeom>
          <a:noFill/>
        </p:spPr>
        <p:txBody>
          <a:bodyPr wrap="square" lIns="0" tIns="0" rIns="0" bIns="0" anchor="t">
            <a:spAutoFit/>
          </a:bodyPr>
          <a:lstStyle/>
          <a:p>
            <a:pPr algn="l">
              <a:lnSpc>
                <a:spcPct val="100000"/>
              </a:lnSpc>
              <a:spcAft>
                <a:spcPts val="0"/>
              </a:spcAft>
            </a:pPr>
            <a:r>
              <a:rPr sz="940" b="0" i="0">
                <a:solidFill>
                  <a:srgbClr val="686868"/>
                </a:solidFill>
                <a:latin typeface="Pilat"/>
              </a:rPr>
              <a:t>Potentially reduce accelerator slots, hosts and interconnect required only to make the model fit.</a:t>
            </a:r>
          </a:p>
        </p:txBody>
      </p:sp>
      <p:sp>
        <p:nvSpPr>
          <p:cNvPr id="12" name="Rounded Rectangle 11"/>
          <p:cNvSpPr/>
          <p:nvPr/>
        </p:nvSpPr>
        <p:spPr>
          <a:xfrm>
            <a:off x="6126480" y="1801368"/>
            <a:ext cx="5175504" cy="1243584"/>
          </a:xfrm>
          <a:prstGeom prst="roundRect">
            <a:avLst/>
          </a:prstGeom>
          <a:solidFill>
            <a:srgbClr val="FFFCF9"/>
          </a:solidFill>
          <a:ln w="10160">
            <a:solidFill>
              <a:srgbClr val="EE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355080" y="2011680"/>
            <a:ext cx="393192" cy="393192"/>
          </a:xfrm>
          <a:prstGeom prst="ellipse">
            <a:avLst/>
          </a:prstGeom>
          <a:solidFill>
            <a:srgbClr val="772C22"/>
          </a:solidFill>
          <a:ln>
            <a:solidFill>
              <a:srgbClr val="772C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2020824"/>
            <a:ext cx="393192" cy="374904"/>
          </a:xfrm>
          <a:prstGeom prst="rect">
            <a:avLst/>
          </a:prstGeom>
          <a:noFill/>
        </p:spPr>
        <p:txBody>
          <a:bodyPr wrap="square" lIns="0" tIns="0" rIns="0" bIns="0" anchor="ctr">
            <a:spAutoFit/>
          </a:bodyPr>
          <a:lstStyle/>
          <a:p>
            <a:pPr algn="ctr">
              <a:lnSpc>
                <a:spcPct val="100000"/>
              </a:lnSpc>
              <a:spcAft>
                <a:spcPts val="0"/>
              </a:spcAft>
            </a:pPr>
            <a:r>
              <a:rPr sz="850" b="1" i="0">
                <a:solidFill>
                  <a:srgbClr val="FFFCF9"/>
                </a:solidFill>
                <a:latin typeface="Pilat"/>
              </a:rPr>
              <a:t>2</a:t>
            </a:r>
          </a:p>
        </p:txBody>
      </p:sp>
      <p:sp>
        <p:nvSpPr>
          <p:cNvPr id="15" name="TextBox 14"/>
          <p:cNvSpPr txBox="1"/>
          <p:nvPr/>
        </p:nvSpPr>
        <p:spPr>
          <a:xfrm>
            <a:off x="6967728" y="1984248"/>
            <a:ext cx="3931920" cy="237744"/>
          </a:xfrm>
          <a:prstGeom prst="rect">
            <a:avLst/>
          </a:prstGeom>
          <a:noFill/>
        </p:spPr>
        <p:txBody>
          <a:bodyPr wrap="square" lIns="0" tIns="0" rIns="0" bIns="0" anchor="ctr">
            <a:spAutoFit/>
          </a:bodyPr>
          <a:lstStyle/>
          <a:p>
            <a:pPr algn="l">
              <a:lnSpc>
                <a:spcPct val="100000"/>
              </a:lnSpc>
              <a:spcAft>
                <a:spcPts val="0"/>
              </a:spcAft>
            </a:pPr>
            <a:r>
              <a:rPr sz="1300" b="1" i="0">
                <a:solidFill>
                  <a:srgbClr val="000000"/>
                </a:solidFill>
                <a:latin typeface="Pilat Book"/>
              </a:rPr>
              <a:t>Less distributed-serving work</a:t>
            </a:r>
          </a:p>
        </p:txBody>
      </p:sp>
      <p:sp>
        <p:nvSpPr>
          <p:cNvPr id="16" name="TextBox 15"/>
          <p:cNvSpPr txBox="1"/>
          <p:nvPr/>
        </p:nvSpPr>
        <p:spPr>
          <a:xfrm>
            <a:off x="6967728" y="2313432"/>
            <a:ext cx="3950208" cy="429768"/>
          </a:xfrm>
          <a:prstGeom prst="rect">
            <a:avLst/>
          </a:prstGeom>
          <a:noFill/>
        </p:spPr>
        <p:txBody>
          <a:bodyPr wrap="square" lIns="0" tIns="0" rIns="0" bIns="0" anchor="t">
            <a:spAutoFit/>
          </a:bodyPr>
          <a:lstStyle/>
          <a:p>
            <a:pPr algn="l">
              <a:lnSpc>
                <a:spcPct val="100000"/>
              </a:lnSpc>
              <a:spcAft>
                <a:spcPts val="0"/>
              </a:spcAft>
            </a:pPr>
            <a:r>
              <a:rPr sz="940" b="0" i="0">
                <a:solidFill>
                  <a:srgbClr val="686868"/>
                </a:solidFill>
                <a:latin typeface="Pilat"/>
              </a:rPr>
              <a:t>Reduce topology-specific sharding, communication tuning, regression testing and recovery logic.</a:t>
            </a:r>
          </a:p>
        </p:txBody>
      </p:sp>
      <p:sp>
        <p:nvSpPr>
          <p:cNvPr id="17" name="Rounded Rectangle 16"/>
          <p:cNvSpPr/>
          <p:nvPr/>
        </p:nvSpPr>
        <p:spPr>
          <a:xfrm>
            <a:off x="566928" y="3401568"/>
            <a:ext cx="5175504" cy="1243584"/>
          </a:xfrm>
          <a:prstGeom prst="roundRect">
            <a:avLst/>
          </a:prstGeom>
          <a:solidFill>
            <a:srgbClr val="FFFCF9"/>
          </a:solidFill>
          <a:ln w="10160">
            <a:solidFill>
              <a:srgbClr val="EE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95528" y="3611879"/>
            <a:ext cx="393192" cy="393192"/>
          </a:xfrm>
          <a:prstGeom prst="ellipse">
            <a:avLst/>
          </a:prstGeom>
          <a:solidFill>
            <a:srgbClr val="2D6FA3"/>
          </a:solidFill>
          <a:ln>
            <a:solidFill>
              <a:srgbClr val="2D6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95528" y="3621023"/>
            <a:ext cx="393192" cy="374904"/>
          </a:xfrm>
          <a:prstGeom prst="rect">
            <a:avLst/>
          </a:prstGeom>
          <a:noFill/>
        </p:spPr>
        <p:txBody>
          <a:bodyPr wrap="square" lIns="0" tIns="0" rIns="0" bIns="0" anchor="ctr">
            <a:spAutoFit/>
          </a:bodyPr>
          <a:lstStyle/>
          <a:p>
            <a:pPr algn="ctr">
              <a:lnSpc>
                <a:spcPct val="100000"/>
              </a:lnSpc>
              <a:spcAft>
                <a:spcPts val="0"/>
              </a:spcAft>
            </a:pPr>
            <a:r>
              <a:rPr sz="850" b="1" i="0">
                <a:solidFill>
                  <a:srgbClr val="FFFCF9"/>
                </a:solidFill>
                <a:latin typeface="Pilat"/>
              </a:rPr>
              <a:t>3</a:t>
            </a:r>
          </a:p>
        </p:txBody>
      </p:sp>
      <p:sp>
        <p:nvSpPr>
          <p:cNvPr id="20" name="TextBox 19"/>
          <p:cNvSpPr txBox="1"/>
          <p:nvPr/>
        </p:nvSpPr>
        <p:spPr>
          <a:xfrm>
            <a:off x="1408176" y="3584448"/>
            <a:ext cx="3931920" cy="237744"/>
          </a:xfrm>
          <a:prstGeom prst="rect">
            <a:avLst/>
          </a:prstGeom>
          <a:noFill/>
        </p:spPr>
        <p:txBody>
          <a:bodyPr wrap="square" lIns="0" tIns="0" rIns="0" bIns="0" anchor="ctr">
            <a:spAutoFit/>
          </a:bodyPr>
          <a:lstStyle/>
          <a:p>
            <a:pPr algn="l">
              <a:lnSpc>
                <a:spcPct val="100000"/>
              </a:lnSpc>
              <a:spcAft>
                <a:spcPts val="0"/>
              </a:spcAft>
            </a:pPr>
            <a:r>
              <a:rPr sz="1300" b="1" i="0">
                <a:solidFill>
                  <a:srgbClr val="000000"/>
                </a:solidFill>
                <a:latin typeface="Pilat Book"/>
              </a:rPr>
              <a:t>More useful memory headroom</a:t>
            </a:r>
          </a:p>
        </p:txBody>
      </p:sp>
      <p:sp>
        <p:nvSpPr>
          <p:cNvPr id="21" name="TextBox 20"/>
          <p:cNvSpPr txBox="1"/>
          <p:nvPr/>
        </p:nvSpPr>
        <p:spPr>
          <a:xfrm>
            <a:off x="1408176" y="3913631"/>
            <a:ext cx="3950208" cy="429768"/>
          </a:xfrm>
          <a:prstGeom prst="rect">
            <a:avLst/>
          </a:prstGeom>
          <a:noFill/>
        </p:spPr>
        <p:txBody>
          <a:bodyPr wrap="square" lIns="0" tIns="0" rIns="0" bIns="0" anchor="t">
            <a:spAutoFit/>
          </a:bodyPr>
          <a:lstStyle/>
          <a:p>
            <a:pPr algn="l">
              <a:lnSpc>
                <a:spcPct val="100000"/>
              </a:lnSpc>
              <a:spcAft>
                <a:spcPts val="0"/>
              </a:spcAft>
            </a:pPr>
            <a:r>
              <a:rPr sz="940" b="0" i="0">
                <a:solidFill>
                  <a:srgbClr val="686868"/>
                </a:solidFill>
                <a:latin typeface="Pilat"/>
              </a:rPr>
              <a:t>Reserve the fastest working tier for active KV and execution rather than static model capacity.</a:t>
            </a:r>
          </a:p>
        </p:txBody>
      </p:sp>
      <p:sp>
        <p:nvSpPr>
          <p:cNvPr id="22" name="Rounded Rectangle 21"/>
          <p:cNvSpPr/>
          <p:nvPr/>
        </p:nvSpPr>
        <p:spPr>
          <a:xfrm>
            <a:off x="6126480" y="3401568"/>
            <a:ext cx="5175504" cy="1243584"/>
          </a:xfrm>
          <a:prstGeom prst="roundRect">
            <a:avLst/>
          </a:prstGeom>
          <a:solidFill>
            <a:srgbClr val="FFFCF9"/>
          </a:solidFill>
          <a:ln w="10160">
            <a:solidFill>
              <a:srgbClr val="EE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355080" y="3611879"/>
            <a:ext cx="393192" cy="393192"/>
          </a:xfrm>
          <a:prstGeom prst="ellipse">
            <a:avLst/>
          </a:prstGeom>
          <a:solidFill>
            <a:srgbClr val="D48A16"/>
          </a:solidFill>
          <a:ln>
            <a:solidFill>
              <a:srgbClr val="D48A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55080" y="3621023"/>
            <a:ext cx="393192" cy="374904"/>
          </a:xfrm>
          <a:prstGeom prst="rect">
            <a:avLst/>
          </a:prstGeom>
          <a:noFill/>
        </p:spPr>
        <p:txBody>
          <a:bodyPr wrap="square" lIns="0" tIns="0" rIns="0" bIns="0" anchor="ctr">
            <a:spAutoFit/>
          </a:bodyPr>
          <a:lstStyle/>
          <a:p>
            <a:pPr algn="ctr">
              <a:lnSpc>
                <a:spcPct val="100000"/>
              </a:lnSpc>
              <a:spcAft>
                <a:spcPts val="0"/>
              </a:spcAft>
            </a:pPr>
            <a:r>
              <a:rPr sz="850" b="1" i="0">
                <a:solidFill>
                  <a:srgbClr val="FFFCF9"/>
                </a:solidFill>
                <a:latin typeface="Pilat"/>
              </a:rPr>
              <a:t>4</a:t>
            </a:r>
          </a:p>
        </p:txBody>
      </p:sp>
      <p:sp>
        <p:nvSpPr>
          <p:cNvPr id="25" name="TextBox 24"/>
          <p:cNvSpPr txBox="1"/>
          <p:nvPr/>
        </p:nvSpPr>
        <p:spPr>
          <a:xfrm>
            <a:off x="6967728" y="3584448"/>
            <a:ext cx="3931920" cy="237744"/>
          </a:xfrm>
          <a:prstGeom prst="rect">
            <a:avLst/>
          </a:prstGeom>
          <a:noFill/>
        </p:spPr>
        <p:txBody>
          <a:bodyPr wrap="square" lIns="0" tIns="0" rIns="0" bIns="0" anchor="ctr">
            <a:spAutoFit/>
          </a:bodyPr>
          <a:lstStyle/>
          <a:p>
            <a:pPr algn="l">
              <a:lnSpc>
                <a:spcPct val="100000"/>
              </a:lnSpc>
              <a:spcAft>
                <a:spcPts val="0"/>
              </a:spcAft>
            </a:pPr>
            <a:r>
              <a:rPr sz="1300" b="1" i="0">
                <a:solidFill>
                  <a:srgbClr val="000000"/>
                </a:solidFill>
                <a:latin typeface="Pilat Book"/>
              </a:rPr>
              <a:t>A lower-overhead path to scale</a:t>
            </a:r>
          </a:p>
        </p:txBody>
      </p:sp>
      <p:sp>
        <p:nvSpPr>
          <p:cNvPr id="26" name="TextBox 25"/>
          <p:cNvSpPr txBox="1"/>
          <p:nvPr/>
        </p:nvSpPr>
        <p:spPr>
          <a:xfrm>
            <a:off x="6967728" y="3913631"/>
            <a:ext cx="3950208" cy="429768"/>
          </a:xfrm>
          <a:prstGeom prst="rect">
            <a:avLst/>
          </a:prstGeom>
          <a:noFill/>
        </p:spPr>
        <p:txBody>
          <a:bodyPr wrap="square" lIns="0" tIns="0" rIns="0" bIns="0" anchor="t">
            <a:spAutoFit/>
          </a:bodyPr>
          <a:lstStyle/>
          <a:p>
            <a:pPr algn="l">
              <a:lnSpc>
                <a:spcPct val="100000"/>
              </a:lnSpc>
              <a:spcAft>
                <a:spcPts val="0"/>
              </a:spcAft>
            </a:pPr>
            <a:r>
              <a:rPr sz="940" b="0" i="0">
                <a:solidFill>
                  <a:srgbClr val="686868"/>
                </a:solidFill>
                <a:latin typeface="Pilat"/>
              </a:rPr>
              <a:t>Evaluate rack power, cooling, network traffic and deployment steps per useful workload.</a:t>
            </a:r>
          </a:p>
        </p:txBody>
      </p:sp>
      <p:sp>
        <p:nvSpPr>
          <p:cNvPr id="27" name="TextBox 26"/>
          <p:cNvSpPr txBox="1"/>
          <p:nvPr/>
        </p:nvSpPr>
        <p:spPr>
          <a:xfrm>
            <a:off x="566928" y="5166360"/>
            <a:ext cx="3657600" cy="228600"/>
          </a:xfrm>
          <a:prstGeom prst="rect">
            <a:avLst/>
          </a:prstGeom>
          <a:noFill/>
        </p:spPr>
        <p:txBody>
          <a:bodyPr wrap="square" lIns="0" tIns="0" rIns="0" bIns="0" anchor="ctr">
            <a:spAutoFit/>
          </a:bodyPr>
          <a:lstStyle/>
          <a:p>
            <a:pPr algn="l">
              <a:lnSpc>
                <a:spcPct val="100000"/>
              </a:lnSpc>
              <a:spcAft>
                <a:spcPts val="0"/>
              </a:spcAft>
            </a:pPr>
            <a:r>
              <a:rPr sz="1350" b="1" i="0">
                <a:solidFill>
                  <a:srgbClr val="000000"/>
                </a:solidFill>
                <a:latin typeface="Pilat Book"/>
              </a:rPr>
              <a:t>Customer-owned decision scorecard</a:t>
            </a:r>
          </a:p>
        </p:txBody>
      </p:sp>
      <p:sp>
        <p:nvSpPr>
          <p:cNvPr id="28" name="Rounded Rectangle 27"/>
          <p:cNvSpPr/>
          <p:nvPr/>
        </p:nvSpPr>
        <p:spPr>
          <a:xfrm>
            <a:off x="566928" y="5532120"/>
            <a:ext cx="2121408" cy="667512"/>
          </a:xfrm>
          <a:prstGeom prst="roundRect">
            <a:avLst/>
          </a:prstGeom>
          <a:solidFill>
            <a:srgbClr val="FFFCF9"/>
          </a:solidFill>
          <a:ln w="10160">
            <a:solidFill>
              <a:srgbClr val="EE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66928" y="5532120"/>
            <a:ext cx="64008" cy="667512"/>
          </a:xfrm>
          <a:prstGeom prst="rect">
            <a:avLst/>
          </a:prstGeom>
          <a:solidFill>
            <a:srgbClr val="E10600"/>
          </a:solidFill>
          <a:ln w="10160">
            <a:solidFill>
              <a:srgbClr val="E10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49808" y="5641848"/>
            <a:ext cx="1847088" cy="228600"/>
          </a:xfrm>
          <a:prstGeom prst="rect">
            <a:avLst/>
          </a:prstGeom>
          <a:noFill/>
        </p:spPr>
        <p:txBody>
          <a:bodyPr wrap="square" lIns="0" tIns="0" rIns="0" bIns="0" anchor="ctr">
            <a:spAutoFit/>
          </a:bodyPr>
          <a:lstStyle/>
          <a:p>
            <a:pPr algn="l">
              <a:lnSpc>
                <a:spcPct val="100000"/>
              </a:lnSpc>
              <a:spcAft>
                <a:spcPts val="0"/>
              </a:spcAft>
            </a:pPr>
            <a:r>
              <a:rPr sz="1200" b="1" i="0">
                <a:solidFill>
                  <a:srgbClr val="000000"/>
                </a:solidFill>
                <a:latin typeface="Pilat Book"/>
              </a:rPr>
              <a:t>$/useful token</a:t>
            </a:r>
          </a:p>
        </p:txBody>
      </p:sp>
      <p:sp>
        <p:nvSpPr>
          <p:cNvPr id="31" name="TextBox 30"/>
          <p:cNvSpPr txBox="1"/>
          <p:nvPr/>
        </p:nvSpPr>
        <p:spPr>
          <a:xfrm>
            <a:off x="749808" y="5925312"/>
            <a:ext cx="1847088" cy="146304"/>
          </a:xfrm>
          <a:prstGeom prst="rect">
            <a:avLst/>
          </a:prstGeom>
          <a:noFill/>
        </p:spPr>
        <p:txBody>
          <a:bodyPr wrap="square" lIns="0" tIns="0" rIns="0" bIns="0" anchor="ctr">
            <a:spAutoFit/>
          </a:bodyPr>
          <a:lstStyle/>
          <a:p>
            <a:pPr algn="l">
              <a:lnSpc>
                <a:spcPct val="100000"/>
              </a:lnSpc>
              <a:spcAft>
                <a:spcPts val="0"/>
              </a:spcAft>
            </a:pPr>
            <a:r>
              <a:rPr sz="819" b="0" i="0">
                <a:solidFill>
                  <a:srgbClr val="686868"/>
                </a:solidFill>
                <a:latin typeface="Pilat"/>
              </a:rPr>
              <a:t>Infrastructure economics</a:t>
            </a:r>
          </a:p>
        </p:txBody>
      </p:sp>
      <p:sp>
        <p:nvSpPr>
          <p:cNvPr id="32" name="Rounded Rectangle 31"/>
          <p:cNvSpPr/>
          <p:nvPr/>
        </p:nvSpPr>
        <p:spPr>
          <a:xfrm>
            <a:off x="2880360" y="5532120"/>
            <a:ext cx="2121408" cy="667512"/>
          </a:xfrm>
          <a:prstGeom prst="roundRect">
            <a:avLst/>
          </a:prstGeom>
          <a:solidFill>
            <a:srgbClr val="FFFCF9"/>
          </a:solidFill>
          <a:ln w="10160">
            <a:solidFill>
              <a:srgbClr val="EE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2880360" y="5532120"/>
            <a:ext cx="64008" cy="667512"/>
          </a:xfrm>
          <a:prstGeom prst="rect">
            <a:avLst/>
          </a:prstGeom>
          <a:solidFill>
            <a:srgbClr val="772C22"/>
          </a:solidFill>
          <a:ln w="10160">
            <a:solidFill>
              <a:srgbClr val="772C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063240" y="5641848"/>
            <a:ext cx="1847088" cy="228600"/>
          </a:xfrm>
          <a:prstGeom prst="rect">
            <a:avLst/>
          </a:prstGeom>
          <a:noFill/>
        </p:spPr>
        <p:txBody>
          <a:bodyPr wrap="square" lIns="0" tIns="0" rIns="0" bIns="0" anchor="ctr">
            <a:spAutoFit/>
          </a:bodyPr>
          <a:lstStyle/>
          <a:p>
            <a:pPr algn="l">
              <a:lnSpc>
                <a:spcPct val="100000"/>
              </a:lnSpc>
              <a:spcAft>
                <a:spcPts val="0"/>
              </a:spcAft>
            </a:pPr>
            <a:r>
              <a:rPr sz="1200" b="1" i="0">
                <a:solidFill>
                  <a:srgbClr val="000000"/>
                </a:solidFill>
                <a:latin typeface="Pilat Book"/>
              </a:rPr>
              <a:t>p99 / TTFT</a:t>
            </a:r>
          </a:p>
        </p:txBody>
      </p:sp>
      <p:sp>
        <p:nvSpPr>
          <p:cNvPr id="35" name="TextBox 34"/>
          <p:cNvSpPr txBox="1"/>
          <p:nvPr/>
        </p:nvSpPr>
        <p:spPr>
          <a:xfrm>
            <a:off x="3063240" y="5925312"/>
            <a:ext cx="1847088" cy="146304"/>
          </a:xfrm>
          <a:prstGeom prst="rect">
            <a:avLst/>
          </a:prstGeom>
          <a:noFill/>
        </p:spPr>
        <p:txBody>
          <a:bodyPr wrap="square" lIns="0" tIns="0" rIns="0" bIns="0" anchor="ctr">
            <a:spAutoFit/>
          </a:bodyPr>
          <a:lstStyle/>
          <a:p>
            <a:pPr algn="l">
              <a:lnSpc>
                <a:spcPct val="100000"/>
              </a:lnSpc>
              <a:spcAft>
                <a:spcPts val="0"/>
              </a:spcAft>
            </a:pPr>
            <a:r>
              <a:rPr sz="819" b="0" i="0">
                <a:solidFill>
                  <a:srgbClr val="686868"/>
                </a:solidFill>
                <a:latin typeface="Pilat"/>
              </a:rPr>
              <a:t>Customer experience</a:t>
            </a:r>
          </a:p>
        </p:txBody>
      </p:sp>
      <p:sp>
        <p:nvSpPr>
          <p:cNvPr id="36" name="Rounded Rectangle 35"/>
          <p:cNvSpPr/>
          <p:nvPr/>
        </p:nvSpPr>
        <p:spPr>
          <a:xfrm>
            <a:off x="5193792" y="5532120"/>
            <a:ext cx="2121408" cy="667512"/>
          </a:xfrm>
          <a:prstGeom prst="roundRect">
            <a:avLst/>
          </a:prstGeom>
          <a:solidFill>
            <a:srgbClr val="FFFCF9"/>
          </a:solidFill>
          <a:ln w="10160">
            <a:solidFill>
              <a:srgbClr val="EE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5193792" y="5532120"/>
            <a:ext cx="64008" cy="667512"/>
          </a:xfrm>
          <a:prstGeom prst="rect">
            <a:avLst/>
          </a:prstGeom>
          <a:solidFill>
            <a:srgbClr val="2D6FA3"/>
          </a:solidFill>
          <a:ln w="10160">
            <a:solidFill>
              <a:srgbClr val="2D6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376672" y="5641848"/>
            <a:ext cx="1847088" cy="228600"/>
          </a:xfrm>
          <a:prstGeom prst="rect">
            <a:avLst/>
          </a:prstGeom>
          <a:noFill/>
        </p:spPr>
        <p:txBody>
          <a:bodyPr wrap="square" lIns="0" tIns="0" rIns="0" bIns="0" anchor="ctr">
            <a:spAutoFit/>
          </a:bodyPr>
          <a:lstStyle/>
          <a:p>
            <a:pPr algn="l">
              <a:lnSpc>
                <a:spcPct val="100000"/>
              </a:lnSpc>
              <a:spcAft>
                <a:spcPts val="0"/>
              </a:spcAft>
            </a:pPr>
            <a:r>
              <a:rPr sz="1200" b="1" i="0">
                <a:solidFill>
                  <a:srgbClr val="000000"/>
                </a:solidFill>
                <a:latin typeface="Pilat Book"/>
              </a:rPr>
              <a:t>Tokens / rack</a:t>
            </a:r>
          </a:p>
        </p:txBody>
      </p:sp>
      <p:sp>
        <p:nvSpPr>
          <p:cNvPr id="39" name="TextBox 38"/>
          <p:cNvSpPr txBox="1"/>
          <p:nvPr/>
        </p:nvSpPr>
        <p:spPr>
          <a:xfrm>
            <a:off x="5376672" y="5925312"/>
            <a:ext cx="1847088" cy="146304"/>
          </a:xfrm>
          <a:prstGeom prst="rect">
            <a:avLst/>
          </a:prstGeom>
          <a:noFill/>
        </p:spPr>
        <p:txBody>
          <a:bodyPr wrap="square" lIns="0" tIns="0" rIns="0" bIns="0" anchor="ctr">
            <a:spAutoFit/>
          </a:bodyPr>
          <a:lstStyle/>
          <a:p>
            <a:pPr algn="l">
              <a:lnSpc>
                <a:spcPct val="100000"/>
              </a:lnSpc>
              <a:spcAft>
                <a:spcPts val="0"/>
              </a:spcAft>
            </a:pPr>
            <a:r>
              <a:rPr sz="819" b="0" i="0">
                <a:solidFill>
                  <a:srgbClr val="686868"/>
                </a:solidFill>
                <a:latin typeface="Pilat"/>
              </a:rPr>
              <a:t>Capacity efficiency</a:t>
            </a:r>
          </a:p>
        </p:txBody>
      </p:sp>
      <p:sp>
        <p:nvSpPr>
          <p:cNvPr id="40" name="Rounded Rectangle 39"/>
          <p:cNvSpPr/>
          <p:nvPr/>
        </p:nvSpPr>
        <p:spPr>
          <a:xfrm>
            <a:off x="7507224" y="5532120"/>
            <a:ext cx="2121408" cy="667512"/>
          </a:xfrm>
          <a:prstGeom prst="roundRect">
            <a:avLst/>
          </a:prstGeom>
          <a:solidFill>
            <a:srgbClr val="FFFCF9"/>
          </a:solidFill>
          <a:ln w="10160">
            <a:solidFill>
              <a:srgbClr val="EE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507224" y="5532120"/>
            <a:ext cx="64008" cy="667512"/>
          </a:xfrm>
          <a:prstGeom prst="rect">
            <a:avLst/>
          </a:prstGeom>
          <a:solidFill>
            <a:srgbClr val="D48A16"/>
          </a:solidFill>
          <a:ln w="10160">
            <a:solidFill>
              <a:srgbClr val="D48A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690104" y="5641848"/>
            <a:ext cx="1847088" cy="228600"/>
          </a:xfrm>
          <a:prstGeom prst="rect">
            <a:avLst/>
          </a:prstGeom>
          <a:noFill/>
        </p:spPr>
        <p:txBody>
          <a:bodyPr wrap="square" lIns="0" tIns="0" rIns="0" bIns="0" anchor="ctr">
            <a:spAutoFit/>
          </a:bodyPr>
          <a:lstStyle/>
          <a:p>
            <a:pPr algn="l">
              <a:lnSpc>
                <a:spcPct val="100000"/>
              </a:lnSpc>
              <a:spcAft>
                <a:spcPts val="0"/>
              </a:spcAft>
            </a:pPr>
            <a:r>
              <a:rPr sz="1200" b="1" i="0">
                <a:solidFill>
                  <a:srgbClr val="000000"/>
                </a:solidFill>
                <a:latin typeface="Pilat Book"/>
              </a:rPr>
              <a:t>Watts / token</a:t>
            </a:r>
          </a:p>
        </p:txBody>
      </p:sp>
      <p:sp>
        <p:nvSpPr>
          <p:cNvPr id="43" name="TextBox 42"/>
          <p:cNvSpPr txBox="1"/>
          <p:nvPr/>
        </p:nvSpPr>
        <p:spPr>
          <a:xfrm>
            <a:off x="7690104" y="5925312"/>
            <a:ext cx="1847088" cy="146304"/>
          </a:xfrm>
          <a:prstGeom prst="rect">
            <a:avLst/>
          </a:prstGeom>
          <a:noFill/>
        </p:spPr>
        <p:txBody>
          <a:bodyPr wrap="square" lIns="0" tIns="0" rIns="0" bIns="0" anchor="ctr">
            <a:spAutoFit/>
          </a:bodyPr>
          <a:lstStyle/>
          <a:p>
            <a:pPr algn="l">
              <a:lnSpc>
                <a:spcPct val="100000"/>
              </a:lnSpc>
              <a:spcAft>
                <a:spcPts val="0"/>
              </a:spcAft>
            </a:pPr>
            <a:r>
              <a:rPr sz="819" b="0" i="0">
                <a:solidFill>
                  <a:srgbClr val="686868"/>
                </a:solidFill>
                <a:latin typeface="Pilat"/>
              </a:rPr>
              <a:t>Energy efficiency</a:t>
            </a:r>
          </a:p>
        </p:txBody>
      </p:sp>
      <p:sp>
        <p:nvSpPr>
          <p:cNvPr id="44" name="Rounded Rectangle 43"/>
          <p:cNvSpPr/>
          <p:nvPr/>
        </p:nvSpPr>
        <p:spPr>
          <a:xfrm>
            <a:off x="9820656" y="5532120"/>
            <a:ext cx="1764792" cy="667512"/>
          </a:xfrm>
          <a:prstGeom prst="roundRect">
            <a:avLst/>
          </a:prstGeom>
          <a:solidFill>
            <a:srgbClr val="FFFCF9"/>
          </a:solidFill>
          <a:ln w="10160">
            <a:solidFill>
              <a:srgbClr val="EE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9820656" y="5532120"/>
            <a:ext cx="64008" cy="667512"/>
          </a:xfrm>
          <a:prstGeom prst="rect">
            <a:avLst/>
          </a:prstGeom>
          <a:solidFill>
            <a:srgbClr val="BCBCBC"/>
          </a:solidFill>
          <a:ln w="10160">
            <a:solidFill>
              <a:srgbClr val="BCB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0003536" y="5641848"/>
            <a:ext cx="1490472" cy="228600"/>
          </a:xfrm>
          <a:prstGeom prst="rect">
            <a:avLst/>
          </a:prstGeom>
          <a:noFill/>
        </p:spPr>
        <p:txBody>
          <a:bodyPr wrap="square" lIns="0" tIns="0" rIns="0" bIns="0" anchor="ctr">
            <a:spAutoFit/>
          </a:bodyPr>
          <a:lstStyle/>
          <a:p>
            <a:pPr algn="l">
              <a:lnSpc>
                <a:spcPct val="100000"/>
              </a:lnSpc>
              <a:spcAft>
                <a:spcPts val="0"/>
              </a:spcAft>
            </a:pPr>
            <a:r>
              <a:rPr sz="1200" b="1" i="0">
                <a:solidFill>
                  <a:srgbClr val="000000"/>
                </a:solidFill>
                <a:latin typeface="Pilat Book"/>
              </a:rPr>
              <a:t>Steps / release</a:t>
            </a:r>
          </a:p>
        </p:txBody>
      </p:sp>
      <p:sp>
        <p:nvSpPr>
          <p:cNvPr id="47" name="TextBox 46"/>
          <p:cNvSpPr txBox="1"/>
          <p:nvPr/>
        </p:nvSpPr>
        <p:spPr>
          <a:xfrm>
            <a:off x="10003536" y="5925312"/>
            <a:ext cx="1490472" cy="146304"/>
          </a:xfrm>
          <a:prstGeom prst="rect">
            <a:avLst/>
          </a:prstGeom>
          <a:noFill/>
        </p:spPr>
        <p:txBody>
          <a:bodyPr wrap="square" lIns="0" tIns="0" rIns="0" bIns="0" anchor="ctr">
            <a:spAutoFit/>
          </a:bodyPr>
          <a:lstStyle/>
          <a:p>
            <a:pPr algn="l">
              <a:lnSpc>
                <a:spcPct val="100000"/>
              </a:lnSpc>
              <a:spcAft>
                <a:spcPts val="0"/>
              </a:spcAft>
            </a:pPr>
            <a:r>
              <a:rPr sz="819" b="0" i="0">
                <a:solidFill>
                  <a:srgbClr val="686868"/>
                </a:solidFill>
                <a:latin typeface="Pilat"/>
              </a:rPr>
              <a:t>Engineering effort</a:t>
            </a:r>
          </a:p>
        </p:txBody>
      </p:sp>
      <p:sp>
        <p:nvSpPr>
          <p:cNvPr id="48" name="TextBox 47"/>
          <p:cNvSpPr txBox="1"/>
          <p:nvPr/>
        </p:nvSpPr>
        <p:spPr>
          <a:xfrm>
            <a:off x="292608" y="6492240"/>
            <a:ext cx="914400" cy="137160"/>
          </a:xfrm>
          <a:prstGeom prst="rect">
            <a:avLst/>
          </a:prstGeom>
          <a:noFill/>
        </p:spPr>
        <p:txBody>
          <a:bodyPr wrap="square" lIns="0" tIns="0" rIns="0" bIns="0" anchor="ctr">
            <a:spAutoFit/>
          </a:bodyPr>
          <a:lstStyle/>
          <a:p>
            <a:pPr algn="l">
              <a:lnSpc>
                <a:spcPct val="100000"/>
              </a:lnSpc>
              <a:spcAft>
                <a:spcPts val="0"/>
              </a:spcAft>
            </a:pPr>
            <a:r>
              <a:rPr sz="690" b="0" i="0">
                <a:solidFill>
                  <a:srgbClr val="000000"/>
                </a:solidFill>
                <a:latin typeface="Pilat"/>
              </a:rPr>
              <a:t>[Confidential]</a:t>
            </a:r>
          </a:p>
        </p:txBody>
      </p:sp>
      <p:sp>
        <p:nvSpPr>
          <p:cNvPr id="49" name="TextBox 48"/>
          <p:cNvSpPr txBox="1"/>
          <p:nvPr/>
        </p:nvSpPr>
        <p:spPr>
          <a:xfrm>
            <a:off x="2578608" y="6492240"/>
            <a:ext cx="3246120" cy="137160"/>
          </a:xfrm>
          <a:prstGeom prst="rect">
            <a:avLst/>
          </a:prstGeom>
          <a:noFill/>
        </p:spPr>
        <p:txBody>
          <a:bodyPr wrap="square" lIns="0" tIns="0" rIns="0" bIns="0" anchor="ctr">
            <a:spAutoFit/>
          </a:bodyPr>
          <a:lstStyle/>
          <a:p>
            <a:pPr algn="ctr">
              <a:lnSpc>
                <a:spcPct val="100000"/>
              </a:lnSpc>
              <a:spcAft>
                <a:spcPts val="0"/>
              </a:spcAft>
            </a:pPr>
            <a:r>
              <a:rPr sz="620" b="0" i="0">
                <a:solidFill>
                  <a:srgbClr val="686868"/>
                </a:solidFill>
                <a:latin typeface="Pilat"/>
              </a:rPr>
              <a:t>©2026 SANDISK CORPORATION OR ITS AFFILIATES</a:t>
            </a:r>
          </a:p>
        </p:txBody>
      </p:sp>
      <p:sp>
        <p:nvSpPr>
          <p:cNvPr id="50" name="TextBox 49"/>
          <p:cNvSpPr txBox="1"/>
          <p:nvPr/>
        </p:nvSpPr>
        <p:spPr>
          <a:xfrm>
            <a:off x="5779008" y="6492240"/>
            <a:ext cx="4956048" cy="137160"/>
          </a:xfrm>
          <a:prstGeom prst="rect">
            <a:avLst/>
          </a:prstGeom>
          <a:noFill/>
        </p:spPr>
        <p:txBody>
          <a:bodyPr wrap="square" lIns="0" tIns="0" rIns="0" bIns="0" anchor="ctr">
            <a:spAutoFit/>
          </a:bodyPr>
          <a:lstStyle/>
          <a:p>
            <a:pPr algn="r">
              <a:lnSpc>
                <a:spcPct val="100000"/>
              </a:lnSpc>
              <a:spcAft>
                <a:spcPts val="0"/>
              </a:spcAft>
            </a:pPr>
            <a:r>
              <a:rPr sz="640" b="0" i="0">
                <a:solidFill>
                  <a:srgbClr val="686868"/>
                </a:solidFill>
                <a:latin typeface="Pilat"/>
              </a:rPr>
              <a:t>Illustrative — validate against customer workload and approved product configuration.</a:t>
            </a:r>
          </a:p>
        </p:txBody>
      </p:sp>
      <p:sp>
        <p:nvSpPr>
          <p:cNvPr id="51" name="TextBox 50"/>
          <p:cNvSpPr txBox="1"/>
          <p:nvPr/>
        </p:nvSpPr>
        <p:spPr>
          <a:xfrm>
            <a:off x="11018520" y="6492240"/>
            <a:ext cx="347472" cy="137160"/>
          </a:xfrm>
          <a:prstGeom prst="rect">
            <a:avLst/>
          </a:prstGeom>
          <a:noFill/>
        </p:spPr>
        <p:txBody>
          <a:bodyPr wrap="square" lIns="0" tIns="0" rIns="0" bIns="0" anchor="ctr">
            <a:spAutoFit/>
          </a:bodyPr>
          <a:lstStyle/>
          <a:p>
            <a:pPr algn="r">
              <a:lnSpc>
                <a:spcPct val="100000"/>
              </a:lnSpc>
              <a:spcAft>
                <a:spcPts val="0"/>
              </a:spcAft>
            </a:pPr>
            <a:r>
              <a:rPr sz="700" b="1" i="0">
                <a:solidFill>
                  <a:srgbClr val="686868"/>
                </a:solidFill>
                <a:latin typeface="Pilat"/>
              </a:rPr>
              <a:t>07</a:t>
            </a:r>
          </a:p>
        </p:txBody>
      </p:sp>
      <p:sp>
        <p:nvSpPr>
          <p:cNvPr id="52" name="Shape 3">
            <a:extLst>
              <a:ext uri="{FF2B5EF4-FFF2-40B4-BE49-F238E27FC236}">
                <a16:creationId xmlns:a16="http://schemas.microsoft.com/office/drawing/2014/main" id="{09A2A485-B37B-BE72-59C1-0CB37CCD7CD7}"/>
              </a:ext>
            </a:extLst>
          </p:cNvPr>
          <p:cNvSpPr/>
          <p:nvPr/>
        </p:nvSpPr>
        <p:spPr>
          <a:xfrm>
            <a:off x="0" y="0"/>
            <a:ext cx="146304" cy="6858000"/>
          </a:xfrm>
          <a:prstGeom prst="rect">
            <a:avLst/>
          </a:prstGeom>
          <a:solidFill>
            <a:schemeClr val="accent2"/>
          </a:solidFill>
          <a:ln w="6350">
            <a:solidFill>
              <a:srgbClr val="00A3A3"/>
            </a:solidFill>
          </a:ln>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4592" y="4791456"/>
            <a:ext cx="1417320" cy="530352"/>
          </a:xfrm>
          <a:prstGeom prst="rect">
            <a:avLst/>
          </a:prstGeom>
          <a:solidFill>
            <a:srgbClr val="FFFCF9"/>
          </a:solidFill>
          <a:ln w="10160">
            <a:solidFill>
              <a:srgbClr val="FFF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01752"/>
            <a:ext cx="3931920" cy="182880"/>
          </a:xfrm>
          <a:prstGeom prst="rect">
            <a:avLst/>
          </a:prstGeom>
          <a:noFill/>
        </p:spPr>
        <p:txBody>
          <a:bodyPr wrap="square" lIns="0" tIns="0" rIns="0" bIns="0" anchor="ctr">
            <a:spAutoFit/>
          </a:bodyPr>
          <a:lstStyle/>
          <a:p>
            <a:pPr algn="l">
              <a:lnSpc>
                <a:spcPct val="100000"/>
              </a:lnSpc>
              <a:spcAft>
                <a:spcPts val="0"/>
              </a:spcAft>
            </a:pPr>
            <a:r>
              <a:rPr sz="850" b="1" i="0">
                <a:solidFill>
                  <a:srgbClr val="E10600"/>
                </a:solidFill>
                <a:latin typeface="Pilat"/>
              </a:rPr>
              <a:t>CUSTOMER DISCOVERY</a:t>
            </a:r>
          </a:p>
        </p:txBody>
      </p:sp>
      <p:sp>
        <p:nvSpPr>
          <p:cNvPr id="4" name="TextBox 3"/>
          <p:cNvSpPr txBox="1"/>
          <p:nvPr/>
        </p:nvSpPr>
        <p:spPr>
          <a:xfrm>
            <a:off x="566928" y="566928"/>
            <a:ext cx="10698480" cy="457200"/>
          </a:xfrm>
          <a:prstGeom prst="rect">
            <a:avLst/>
          </a:prstGeom>
          <a:noFill/>
        </p:spPr>
        <p:txBody>
          <a:bodyPr wrap="square" lIns="64008" tIns="64008" rIns="64008" bIns="64008" anchor="ctr">
            <a:spAutoFit/>
          </a:bodyPr>
          <a:lstStyle/>
          <a:p>
            <a:pPr algn="l">
              <a:lnSpc>
                <a:spcPct val="100000"/>
              </a:lnSpc>
              <a:spcAft>
                <a:spcPts val="0"/>
              </a:spcAft>
            </a:pPr>
            <a:r>
              <a:rPr sz="2600" b="1" i="0">
                <a:solidFill>
                  <a:srgbClr val="000000"/>
                </a:solidFill>
                <a:latin typeface="Pilat Book"/>
              </a:rPr>
              <a:t>The right ATMOS evaluation starts with your constraint</a:t>
            </a:r>
          </a:p>
        </p:txBody>
      </p:sp>
      <p:sp>
        <p:nvSpPr>
          <p:cNvPr id="5" name="TextBox 4"/>
          <p:cNvSpPr txBox="1"/>
          <p:nvPr/>
        </p:nvSpPr>
        <p:spPr>
          <a:xfrm>
            <a:off x="566928" y="1069848"/>
            <a:ext cx="10515600" cy="274320"/>
          </a:xfrm>
          <a:prstGeom prst="rect">
            <a:avLst/>
          </a:prstGeom>
          <a:noFill/>
        </p:spPr>
        <p:txBody>
          <a:bodyPr wrap="square" lIns="0" tIns="0" rIns="0" bIns="0" anchor="ctr">
            <a:spAutoFit/>
          </a:bodyPr>
          <a:lstStyle/>
          <a:p>
            <a:pPr algn="l">
              <a:lnSpc>
                <a:spcPct val="100000"/>
              </a:lnSpc>
              <a:spcAft>
                <a:spcPts val="0"/>
              </a:spcAft>
            </a:pPr>
            <a:r>
              <a:rPr sz="1100" b="0" i="0">
                <a:solidFill>
                  <a:srgbClr val="686868"/>
                </a:solidFill>
                <a:latin typeface="Pilat"/>
              </a:rPr>
              <a:t>These questions combine the strongest discovery material from both presentations.</a:t>
            </a:r>
          </a:p>
        </p:txBody>
      </p:sp>
      <p:sp>
        <p:nvSpPr>
          <p:cNvPr id="6" name="Rectangle 5"/>
          <p:cNvSpPr/>
          <p:nvPr/>
        </p:nvSpPr>
        <p:spPr>
          <a:xfrm>
            <a:off x="566928" y="1472184"/>
            <a:ext cx="11018520" cy="16459"/>
          </a:xfrm>
          <a:prstGeom prst="rect">
            <a:avLst/>
          </a:prstGeom>
          <a:solidFill>
            <a:srgbClr val="BCB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66928" y="1810512"/>
            <a:ext cx="3401568" cy="3913632"/>
          </a:xfrm>
          <a:prstGeom prst="roundRect">
            <a:avLst/>
          </a:prstGeom>
          <a:solidFill>
            <a:srgbClr val="FFFCF9"/>
          </a:solidFill>
          <a:ln w="10160">
            <a:solidFill>
              <a:srgbClr val="EE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66928" y="1810512"/>
            <a:ext cx="3401568" cy="530352"/>
          </a:xfrm>
          <a:prstGeom prst="roundRect">
            <a:avLst/>
          </a:prstGeom>
          <a:solidFill>
            <a:srgbClr val="E10600"/>
          </a:solidFill>
          <a:ln w="10160">
            <a:solidFill>
              <a:srgbClr val="E10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 y="1956816"/>
            <a:ext cx="2999232" cy="210312"/>
          </a:xfrm>
          <a:prstGeom prst="rect">
            <a:avLst/>
          </a:prstGeom>
          <a:noFill/>
        </p:spPr>
        <p:txBody>
          <a:bodyPr wrap="square" lIns="0" tIns="0" rIns="0" bIns="0" anchor="ctr">
            <a:spAutoFit/>
          </a:bodyPr>
          <a:lstStyle/>
          <a:p>
            <a:pPr algn="ctr">
              <a:lnSpc>
                <a:spcPct val="100000"/>
              </a:lnSpc>
              <a:spcAft>
                <a:spcPts val="0"/>
              </a:spcAft>
            </a:pPr>
            <a:r>
              <a:rPr sz="1400" b="1" i="0">
                <a:solidFill>
                  <a:srgbClr val="FFFCF9"/>
                </a:solidFill>
                <a:latin typeface="Pilat Book"/>
              </a:rPr>
              <a:t>Your workload</a:t>
            </a:r>
          </a:p>
        </p:txBody>
      </p:sp>
      <p:sp>
        <p:nvSpPr>
          <p:cNvPr id="10" name="Oval 9"/>
          <p:cNvSpPr/>
          <p:nvPr/>
        </p:nvSpPr>
        <p:spPr>
          <a:xfrm>
            <a:off x="795528" y="2642616"/>
            <a:ext cx="256032" cy="256032"/>
          </a:xfrm>
          <a:prstGeom prst="ellipse">
            <a:avLst/>
          </a:prstGeom>
          <a:solidFill>
            <a:srgbClr val="E10600"/>
          </a:solidFill>
          <a:ln>
            <a:solidFill>
              <a:srgbClr val="E10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2651760"/>
            <a:ext cx="256032" cy="237744"/>
          </a:xfrm>
          <a:prstGeom prst="rect">
            <a:avLst/>
          </a:prstGeom>
          <a:noFill/>
        </p:spPr>
        <p:txBody>
          <a:bodyPr wrap="square" lIns="0" tIns="0" rIns="0" bIns="0" anchor="ctr">
            <a:spAutoFit/>
          </a:bodyPr>
          <a:lstStyle/>
          <a:p>
            <a:pPr algn="ctr">
              <a:lnSpc>
                <a:spcPct val="100000"/>
              </a:lnSpc>
              <a:spcAft>
                <a:spcPts val="0"/>
              </a:spcAft>
            </a:pPr>
            <a:r>
              <a:rPr sz="850" b="1" i="0">
                <a:solidFill>
                  <a:srgbClr val="FFFCF9"/>
                </a:solidFill>
                <a:latin typeface="Pilat"/>
              </a:rPr>
              <a:t>1</a:t>
            </a:r>
          </a:p>
        </p:txBody>
      </p:sp>
      <p:sp>
        <p:nvSpPr>
          <p:cNvPr id="12" name="TextBox 11"/>
          <p:cNvSpPr txBox="1"/>
          <p:nvPr/>
        </p:nvSpPr>
        <p:spPr>
          <a:xfrm>
            <a:off x="1188720" y="2624328"/>
            <a:ext cx="2487168" cy="585216"/>
          </a:xfrm>
          <a:prstGeom prst="rect">
            <a:avLst/>
          </a:prstGeom>
          <a:noFill/>
        </p:spPr>
        <p:txBody>
          <a:bodyPr wrap="square" lIns="0" tIns="0" rIns="0" bIns="0" anchor="t">
            <a:spAutoFit/>
          </a:bodyPr>
          <a:lstStyle/>
          <a:p>
            <a:pPr algn="l">
              <a:lnSpc>
                <a:spcPct val="100000"/>
              </a:lnSpc>
              <a:spcAft>
                <a:spcPts val="0"/>
              </a:spcAft>
            </a:pPr>
            <a:r>
              <a:rPr sz="925" b="0" i="0">
                <a:solidFill>
                  <a:srgbClr val="000000"/>
                </a:solidFill>
                <a:latin typeface="Pilat"/>
              </a:rPr>
              <a:t>Which models, precisions, context lengths and concurrency levels matter?</a:t>
            </a:r>
          </a:p>
        </p:txBody>
      </p:sp>
      <p:sp>
        <p:nvSpPr>
          <p:cNvPr id="13" name="Rectangle 12"/>
          <p:cNvSpPr/>
          <p:nvPr/>
        </p:nvSpPr>
        <p:spPr>
          <a:xfrm>
            <a:off x="1188720" y="3300984"/>
            <a:ext cx="2450592" cy="18288"/>
          </a:xfrm>
          <a:prstGeom prst="rect">
            <a:avLst/>
          </a:prstGeom>
          <a:solidFill>
            <a:srgbClr val="EEEAE6"/>
          </a:solidFill>
          <a:ln w="10160">
            <a:solidFill>
              <a:srgbClr val="EE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95528" y="3502152"/>
            <a:ext cx="256032" cy="256032"/>
          </a:xfrm>
          <a:prstGeom prst="ellipse">
            <a:avLst/>
          </a:prstGeom>
          <a:solidFill>
            <a:srgbClr val="E10600"/>
          </a:solidFill>
          <a:ln>
            <a:solidFill>
              <a:srgbClr val="E10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95528" y="3511296"/>
            <a:ext cx="256032" cy="237744"/>
          </a:xfrm>
          <a:prstGeom prst="rect">
            <a:avLst/>
          </a:prstGeom>
          <a:noFill/>
        </p:spPr>
        <p:txBody>
          <a:bodyPr wrap="square" lIns="0" tIns="0" rIns="0" bIns="0" anchor="ctr">
            <a:spAutoFit/>
          </a:bodyPr>
          <a:lstStyle/>
          <a:p>
            <a:pPr algn="ctr">
              <a:lnSpc>
                <a:spcPct val="100000"/>
              </a:lnSpc>
              <a:spcAft>
                <a:spcPts val="0"/>
              </a:spcAft>
            </a:pPr>
            <a:r>
              <a:rPr sz="850" b="1" i="0">
                <a:solidFill>
                  <a:srgbClr val="FFFCF9"/>
                </a:solidFill>
                <a:latin typeface="Pilat"/>
              </a:rPr>
              <a:t>2</a:t>
            </a:r>
          </a:p>
        </p:txBody>
      </p:sp>
      <p:sp>
        <p:nvSpPr>
          <p:cNvPr id="16" name="TextBox 15"/>
          <p:cNvSpPr txBox="1"/>
          <p:nvPr/>
        </p:nvSpPr>
        <p:spPr>
          <a:xfrm>
            <a:off x="1188720" y="3483864"/>
            <a:ext cx="2487168" cy="585216"/>
          </a:xfrm>
          <a:prstGeom prst="rect">
            <a:avLst/>
          </a:prstGeom>
          <a:noFill/>
        </p:spPr>
        <p:txBody>
          <a:bodyPr wrap="square" lIns="0" tIns="0" rIns="0" bIns="0" anchor="t">
            <a:spAutoFit/>
          </a:bodyPr>
          <a:lstStyle/>
          <a:p>
            <a:pPr algn="l">
              <a:lnSpc>
                <a:spcPct val="100000"/>
              </a:lnSpc>
              <a:spcAft>
                <a:spcPts val="0"/>
              </a:spcAft>
            </a:pPr>
            <a:r>
              <a:rPr sz="925" b="0" i="0">
                <a:solidFill>
                  <a:srgbClr val="000000"/>
                </a:solidFill>
                <a:latin typeface="Pilat"/>
              </a:rPr>
              <a:t>Where do repeated prompts, documents or agent context create reuse?</a:t>
            </a:r>
          </a:p>
        </p:txBody>
      </p:sp>
      <p:sp>
        <p:nvSpPr>
          <p:cNvPr id="17" name="Rectangle 16"/>
          <p:cNvSpPr/>
          <p:nvPr/>
        </p:nvSpPr>
        <p:spPr>
          <a:xfrm>
            <a:off x="1188720" y="4160520"/>
            <a:ext cx="2450592" cy="18288"/>
          </a:xfrm>
          <a:prstGeom prst="rect">
            <a:avLst/>
          </a:prstGeom>
          <a:solidFill>
            <a:srgbClr val="EEEAE6"/>
          </a:solidFill>
          <a:ln w="10160">
            <a:solidFill>
              <a:srgbClr val="EE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95528" y="4361688"/>
            <a:ext cx="256032" cy="256032"/>
          </a:xfrm>
          <a:prstGeom prst="ellipse">
            <a:avLst/>
          </a:prstGeom>
          <a:solidFill>
            <a:srgbClr val="E10600"/>
          </a:solidFill>
          <a:ln>
            <a:solidFill>
              <a:srgbClr val="E10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95528" y="4370831"/>
            <a:ext cx="256032" cy="237744"/>
          </a:xfrm>
          <a:prstGeom prst="rect">
            <a:avLst/>
          </a:prstGeom>
          <a:noFill/>
        </p:spPr>
        <p:txBody>
          <a:bodyPr wrap="square" lIns="0" tIns="0" rIns="0" bIns="0" anchor="ctr">
            <a:spAutoFit/>
          </a:bodyPr>
          <a:lstStyle/>
          <a:p>
            <a:pPr algn="ctr">
              <a:lnSpc>
                <a:spcPct val="100000"/>
              </a:lnSpc>
              <a:spcAft>
                <a:spcPts val="0"/>
              </a:spcAft>
            </a:pPr>
            <a:r>
              <a:rPr sz="850" b="1" i="0">
                <a:solidFill>
                  <a:srgbClr val="FFFCF9"/>
                </a:solidFill>
                <a:latin typeface="Pilat"/>
              </a:rPr>
              <a:t>3</a:t>
            </a:r>
          </a:p>
        </p:txBody>
      </p:sp>
      <p:sp>
        <p:nvSpPr>
          <p:cNvPr id="20" name="TextBox 19"/>
          <p:cNvSpPr txBox="1"/>
          <p:nvPr/>
        </p:nvSpPr>
        <p:spPr>
          <a:xfrm>
            <a:off x="1188720" y="4343400"/>
            <a:ext cx="2487168" cy="585216"/>
          </a:xfrm>
          <a:prstGeom prst="rect">
            <a:avLst/>
          </a:prstGeom>
          <a:noFill/>
        </p:spPr>
        <p:txBody>
          <a:bodyPr wrap="square" lIns="0" tIns="0" rIns="0" bIns="0" anchor="t">
            <a:spAutoFit/>
          </a:bodyPr>
          <a:lstStyle/>
          <a:p>
            <a:pPr algn="l">
              <a:lnSpc>
                <a:spcPct val="100000"/>
              </a:lnSpc>
              <a:spcAft>
                <a:spcPts val="0"/>
              </a:spcAft>
            </a:pPr>
            <a:r>
              <a:rPr sz="925" b="0" i="0">
                <a:solidFill>
                  <a:srgbClr val="000000"/>
                </a:solidFill>
                <a:latin typeface="Pilat"/>
              </a:rPr>
              <a:t>Which flows are interactive versus batch / queue-based?</a:t>
            </a:r>
          </a:p>
        </p:txBody>
      </p:sp>
      <p:sp>
        <p:nvSpPr>
          <p:cNvPr id="21" name="Rounded Rectangle 20"/>
          <p:cNvSpPr/>
          <p:nvPr/>
        </p:nvSpPr>
        <p:spPr>
          <a:xfrm>
            <a:off x="4315968" y="1810512"/>
            <a:ext cx="3401568" cy="3913632"/>
          </a:xfrm>
          <a:prstGeom prst="roundRect">
            <a:avLst/>
          </a:prstGeom>
          <a:solidFill>
            <a:srgbClr val="FFFCF9"/>
          </a:solidFill>
          <a:ln w="10160">
            <a:solidFill>
              <a:srgbClr val="EE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4315968" y="1810512"/>
            <a:ext cx="3401568" cy="530352"/>
          </a:xfrm>
          <a:prstGeom prst="roundRect">
            <a:avLst/>
          </a:prstGeom>
          <a:solidFill>
            <a:srgbClr val="772C22"/>
          </a:solidFill>
          <a:ln w="10160">
            <a:solidFill>
              <a:srgbClr val="772C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17136" y="1956816"/>
            <a:ext cx="2999232" cy="210312"/>
          </a:xfrm>
          <a:prstGeom prst="rect">
            <a:avLst/>
          </a:prstGeom>
          <a:noFill/>
        </p:spPr>
        <p:txBody>
          <a:bodyPr wrap="square" lIns="0" tIns="0" rIns="0" bIns="0" anchor="ctr">
            <a:spAutoFit/>
          </a:bodyPr>
          <a:lstStyle/>
          <a:p>
            <a:pPr algn="ctr">
              <a:lnSpc>
                <a:spcPct val="100000"/>
              </a:lnSpc>
              <a:spcAft>
                <a:spcPts val="0"/>
              </a:spcAft>
            </a:pPr>
            <a:r>
              <a:rPr sz="1400" b="1" i="0">
                <a:solidFill>
                  <a:srgbClr val="FFFCF9"/>
                </a:solidFill>
                <a:latin typeface="Pilat Book"/>
              </a:rPr>
              <a:t>Your platform</a:t>
            </a:r>
          </a:p>
        </p:txBody>
      </p:sp>
      <p:sp>
        <p:nvSpPr>
          <p:cNvPr id="24" name="Oval 23"/>
          <p:cNvSpPr/>
          <p:nvPr/>
        </p:nvSpPr>
        <p:spPr>
          <a:xfrm>
            <a:off x="4544568" y="2642616"/>
            <a:ext cx="256032" cy="256032"/>
          </a:xfrm>
          <a:prstGeom prst="ellipse">
            <a:avLst/>
          </a:prstGeom>
          <a:solidFill>
            <a:srgbClr val="772C22"/>
          </a:solidFill>
          <a:ln>
            <a:solidFill>
              <a:srgbClr val="772C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44568" y="2651760"/>
            <a:ext cx="256032" cy="237744"/>
          </a:xfrm>
          <a:prstGeom prst="rect">
            <a:avLst/>
          </a:prstGeom>
          <a:noFill/>
        </p:spPr>
        <p:txBody>
          <a:bodyPr wrap="square" lIns="0" tIns="0" rIns="0" bIns="0" anchor="ctr">
            <a:spAutoFit/>
          </a:bodyPr>
          <a:lstStyle/>
          <a:p>
            <a:pPr algn="ctr">
              <a:lnSpc>
                <a:spcPct val="100000"/>
              </a:lnSpc>
              <a:spcAft>
                <a:spcPts val="0"/>
              </a:spcAft>
            </a:pPr>
            <a:r>
              <a:rPr sz="850" b="1" i="0">
                <a:solidFill>
                  <a:srgbClr val="FFFCF9"/>
                </a:solidFill>
                <a:latin typeface="Pilat"/>
              </a:rPr>
              <a:t>1</a:t>
            </a:r>
          </a:p>
        </p:txBody>
      </p:sp>
      <p:sp>
        <p:nvSpPr>
          <p:cNvPr id="26" name="TextBox 25"/>
          <p:cNvSpPr txBox="1"/>
          <p:nvPr/>
        </p:nvSpPr>
        <p:spPr>
          <a:xfrm>
            <a:off x="4937759" y="2624328"/>
            <a:ext cx="2487168" cy="585216"/>
          </a:xfrm>
          <a:prstGeom prst="rect">
            <a:avLst/>
          </a:prstGeom>
          <a:noFill/>
        </p:spPr>
        <p:txBody>
          <a:bodyPr wrap="square" lIns="0" tIns="0" rIns="0" bIns="0" anchor="t">
            <a:spAutoFit/>
          </a:bodyPr>
          <a:lstStyle/>
          <a:p>
            <a:pPr algn="l">
              <a:lnSpc>
                <a:spcPct val="100000"/>
              </a:lnSpc>
              <a:spcAft>
                <a:spcPts val="0"/>
              </a:spcAft>
            </a:pPr>
            <a:r>
              <a:rPr sz="925" b="0" i="0">
                <a:solidFill>
                  <a:srgbClr val="000000"/>
                </a:solidFill>
                <a:latin typeface="Pilat"/>
              </a:rPr>
              <a:t>Which OEM, accelerator, OS and inference engine are in production?</a:t>
            </a:r>
          </a:p>
        </p:txBody>
      </p:sp>
      <p:sp>
        <p:nvSpPr>
          <p:cNvPr id="27" name="Rectangle 26"/>
          <p:cNvSpPr/>
          <p:nvPr/>
        </p:nvSpPr>
        <p:spPr>
          <a:xfrm>
            <a:off x="4937759" y="3300984"/>
            <a:ext cx="2450592" cy="18288"/>
          </a:xfrm>
          <a:prstGeom prst="rect">
            <a:avLst/>
          </a:prstGeom>
          <a:solidFill>
            <a:srgbClr val="EEEAE6"/>
          </a:solidFill>
          <a:ln w="10160">
            <a:solidFill>
              <a:srgbClr val="EE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4544568" y="3502152"/>
            <a:ext cx="256032" cy="256032"/>
          </a:xfrm>
          <a:prstGeom prst="ellipse">
            <a:avLst/>
          </a:prstGeom>
          <a:solidFill>
            <a:srgbClr val="772C22"/>
          </a:solidFill>
          <a:ln>
            <a:solidFill>
              <a:srgbClr val="772C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44568" y="3511296"/>
            <a:ext cx="256032" cy="237744"/>
          </a:xfrm>
          <a:prstGeom prst="rect">
            <a:avLst/>
          </a:prstGeom>
          <a:noFill/>
        </p:spPr>
        <p:txBody>
          <a:bodyPr wrap="square" lIns="0" tIns="0" rIns="0" bIns="0" anchor="ctr">
            <a:spAutoFit/>
          </a:bodyPr>
          <a:lstStyle/>
          <a:p>
            <a:pPr algn="ctr">
              <a:lnSpc>
                <a:spcPct val="100000"/>
              </a:lnSpc>
              <a:spcAft>
                <a:spcPts val="0"/>
              </a:spcAft>
            </a:pPr>
            <a:r>
              <a:rPr sz="850" b="1" i="0">
                <a:solidFill>
                  <a:srgbClr val="FFFCF9"/>
                </a:solidFill>
                <a:latin typeface="Pilat"/>
              </a:rPr>
              <a:t>2</a:t>
            </a:r>
          </a:p>
        </p:txBody>
      </p:sp>
      <p:sp>
        <p:nvSpPr>
          <p:cNvPr id="30" name="TextBox 29"/>
          <p:cNvSpPr txBox="1"/>
          <p:nvPr/>
        </p:nvSpPr>
        <p:spPr>
          <a:xfrm>
            <a:off x="4937759" y="3483864"/>
            <a:ext cx="2487168" cy="585216"/>
          </a:xfrm>
          <a:prstGeom prst="rect">
            <a:avLst/>
          </a:prstGeom>
          <a:noFill/>
        </p:spPr>
        <p:txBody>
          <a:bodyPr wrap="square" lIns="0" tIns="0" rIns="0" bIns="0" anchor="t">
            <a:spAutoFit/>
          </a:bodyPr>
          <a:lstStyle/>
          <a:p>
            <a:pPr algn="l">
              <a:lnSpc>
                <a:spcPct val="100000"/>
              </a:lnSpc>
              <a:spcAft>
                <a:spcPts val="0"/>
              </a:spcAft>
            </a:pPr>
            <a:r>
              <a:rPr sz="925" b="0" i="0">
                <a:solidFill>
                  <a:srgbClr val="000000"/>
                </a:solidFill>
                <a:latin typeface="Pilat"/>
              </a:rPr>
              <a:t>Where do sharding, networking or cache management create friction?</a:t>
            </a:r>
          </a:p>
        </p:txBody>
      </p:sp>
      <p:sp>
        <p:nvSpPr>
          <p:cNvPr id="31" name="Rectangle 30"/>
          <p:cNvSpPr/>
          <p:nvPr/>
        </p:nvSpPr>
        <p:spPr>
          <a:xfrm>
            <a:off x="4937759" y="4160520"/>
            <a:ext cx="2450592" cy="18288"/>
          </a:xfrm>
          <a:prstGeom prst="rect">
            <a:avLst/>
          </a:prstGeom>
          <a:solidFill>
            <a:srgbClr val="EEEAE6"/>
          </a:solidFill>
          <a:ln w="10160">
            <a:solidFill>
              <a:srgbClr val="EE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544568" y="4361688"/>
            <a:ext cx="256032" cy="256032"/>
          </a:xfrm>
          <a:prstGeom prst="ellipse">
            <a:avLst/>
          </a:prstGeom>
          <a:solidFill>
            <a:srgbClr val="772C22"/>
          </a:solidFill>
          <a:ln>
            <a:solidFill>
              <a:srgbClr val="772C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44568" y="4370831"/>
            <a:ext cx="256032" cy="237744"/>
          </a:xfrm>
          <a:prstGeom prst="rect">
            <a:avLst/>
          </a:prstGeom>
          <a:noFill/>
        </p:spPr>
        <p:txBody>
          <a:bodyPr wrap="square" lIns="0" tIns="0" rIns="0" bIns="0" anchor="ctr">
            <a:spAutoFit/>
          </a:bodyPr>
          <a:lstStyle/>
          <a:p>
            <a:pPr algn="ctr">
              <a:lnSpc>
                <a:spcPct val="100000"/>
              </a:lnSpc>
              <a:spcAft>
                <a:spcPts val="0"/>
              </a:spcAft>
            </a:pPr>
            <a:r>
              <a:rPr sz="850" b="1" i="0">
                <a:solidFill>
                  <a:srgbClr val="FFFCF9"/>
                </a:solidFill>
                <a:latin typeface="Pilat"/>
              </a:rPr>
              <a:t>3</a:t>
            </a:r>
          </a:p>
        </p:txBody>
      </p:sp>
      <p:sp>
        <p:nvSpPr>
          <p:cNvPr id="34" name="TextBox 33"/>
          <p:cNvSpPr txBox="1"/>
          <p:nvPr/>
        </p:nvSpPr>
        <p:spPr>
          <a:xfrm>
            <a:off x="4937759" y="4343400"/>
            <a:ext cx="2487168" cy="585216"/>
          </a:xfrm>
          <a:prstGeom prst="rect">
            <a:avLst/>
          </a:prstGeom>
          <a:noFill/>
        </p:spPr>
        <p:txBody>
          <a:bodyPr wrap="square" lIns="0" tIns="0" rIns="0" bIns="0" anchor="t">
            <a:spAutoFit/>
          </a:bodyPr>
          <a:lstStyle/>
          <a:p>
            <a:pPr algn="l">
              <a:lnSpc>
                <a:spcPct val="100000"/>
              </a:lnSpc>
              <a:spcAft>
                <a:spcPts val="0"/>
              </a:spcAft>
            </a:pPr>
            <a:r>
              <a:rPr sz="925" b="0" i="0">
                <a:solidFill>
                  <a:srgbClr val="000000"/>
                </a:solidFill>
                <a:latin typeface="Pilat"/>
              </a:rPr>
              <a:t>What power, cooling, rack and edge limits apply?</a:t>
            </a:r>
          </a:p>
        </p:txBody>
      </p:sp>
      <p:sp>
        <p:nvSpPr>
          <p:cNvPr id="35" name="Rounded Rectangle 34"/>
          <p:cNvSpPr/>
          <p:nvPr/>
        </p:nvSpPr>
        <p:spPr>
          <a:xfrm>
            <a:off x="8065007" y="1810512"/>
            <a:ext cx="3401568" cy="3913632"/>
          </a:xfrm>
          <a:prstGeom prst="roundRect">
            <a:avLst/>
          </a:prstGeom>
          <a:solidFill>
            <a:srgbClr val="FFFCF9"/>
          </a:solidFill>
          <a:ln w="10160">
            <a:solidFill>
              <a:srgbClr val="EE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8065007" y="1810512"/>
            <a:ext cx="3401568" cy="530352"/>
          </a:xfrm>
          <a:prstGeom prst="roundRect">
            <a:avLst/>
          </a:prstGeom>
          <a:solidFill>
            <a:srgbClr val="BCBCBC"/>
          </a:solidFill>
          <a:ln w="10160">
            <a:solidFill>
              <a:srgbClr val="BCB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66175" y="1956816"/>
            <a:ext cx="2999232" cy="210312"/>
          </a:xfrm>
          <a:prstGeom prst="rect">
            <a:avLst/>
          </a:prstGeom>
          <a:noFill/>
        </p:spPr>
        <p:txBody>
          <a:bodyPr wrap="square" lIns="0" tIns="0" rIns="0" bIns="0" anchor="ctr">
            <a:spAutoFit/>
          </a:bodyPr>
          <a:lstStyle/>
          <a:p>
            <a:pPr algn="ctr">
              <a:lnSpc>
                <a:spcPct val="100000"/>
              </a:lnSpc>
              <a:spcAft>
                <a:spcPts val="0"/>
              </a:spcAft>
            </a:pPr>
            <a:r>
              <a:rPr sz="1400" b="1" i="0">
                <a:solidFill>
                  <a:srgbClr val="FFFCF9"/>
                </a:solidFill>
                <a:latin typeface="Pilat Book"/>
              </a:rPr>
              <a:t>Your decision</a:t>
            </a:r>
          </a:p>
        </p:txBody>
      </p:sp>
      <p:sp>
        <p:nvSpPr>
          <p:cNvPr id="38" name="Oval 37"/>
          <p:cNvSpPr/>
          <p:nvPr/>
        </p:nvSpPr>
        <p:spPr>
          <a:xfrm>
            <a:off x="8293607" y="2642616"/>
            <a:ext cx="256032" cy="256032"/>
          </a:xfrm>
          <a:prstGeom prst="ellipse">
            <a:avLst/>
          </a:prstGeom>
          <a:solidFill>
            <a:srgbClr val="BCBCBC"/>
          </a:solidFill>
          <a:ln>
            <a:solidFill>
              <a:srgbClr val="BCB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293607" y="2651760"/>
            <a:ext cx="256032" cy="237744"/>
          </a:xfrm>
          <a:prstGeom prst="rect">
            <a:avLst/>
          </a:prstGeom>
          <a:noFill/>
        </p:spPr>
        <p:txBody>
          <a:bodyPr wrap="square" lIns="0" tIns="0" rIns="0" bIns="0" anchor="ctr">
            <a:spAutoFit/>
          </a:bodyPr>
          <a:lstStyle/>
          <a:p>
            <a:pPr algn="ctr">
              <a:lnSpc>
                <a:spcPct val="100000"/>
              </a:lnSpc>
              <a:spcAft>
                <a:spcPts val="0"/>
              </a:spcAft>
            </a:pPr>
            <a:r>
              <a:rPr sz="850" b="1" i="0">
                <a:solidFill>
                  <a:srgbClr val="FFFCF9"/>
                </a:solidFill>
                <a:latin typeface="Pilat"/>
              </a:rPr>
              <a:t>1</a:t>
            </a:r>
          </a:p>
        </p:txBody>
      </p:sp>
      <p:sp>
        <p:nvSpPr>
          <p:cNvPr id="40" name="TextBox 39"/>
          <p:cNvSpPr txBox="1"/>
          <p:nvPr/>
        </p:nvSpPr>
        <p:spPr>
          <a:xfrm>
            <a:off x="8686799" y="2624328"/>
            <a:ext cx="2487168" cy="585216"/>
          </a:xfrm>
          <a:prstGeom prst="rect">
            <a:avLst/>
          </a:prstGeom>
          <a:noFill/>
        </p:spPr>
        <p:txBody>
          <a:bodyPr wrap="square" lIns="0" tIns="0" rIns="0" bIns="0" anchor="t">
            <a:spAutoFit/>
          </a:bodyPr>
          <a:lstStyle/>
          <a:p>
            <a:pPr algn="l">
              <a:lnSpc>
                <a:spcPct val="100000"/>
              </a:lnSpc>
              <a:spcAft>
                <a:spcPts val="0"/>
              </a:spcAft>
            </a:pPr>
            <a:r>
              <a:rPr sz="925" b="0" i="0">
                <a:solidFill>
                  <a:srgbClr val="000000"/>
                </a:solidFill>
                <a:latin typeface="Pilat"/>
              </a:rPr>
              <a:t>Which KPI wins: p99, goodput, $/token, footprint or time-to-deploy?</a:t>
            </a:r>
          </a:p>
        </p:txBody>
      </p:sp>
      <p:sp>
        <p:nvSpPr>
          <p:cNvPr id="41" name="Rectangle 40"/>
          <p:cNvSpPr/>
          <p:nvPr/>
        </p:nvSpPr>
        <p:spPr>
          <a:xfrm>
            <a:off x="8686799" y="3300984"/>
            <a:ext cx="2450592" cy="18288"/>
          </a:xfrm>
          <a:prstGeom prst="rect">
            <a:avLst/>
          </a:prstGeom>
          <a:solidFill>
            <a:srgbClr val="EEEAE6"/>
          </a:solidFill>
          <a:ln w="10160">
            <a:solidFill>
              <a:srgbClr val="EE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8293607" y="3502152"/>
            <a:ext cx="256032" cy="256032"/>
          </a:xfrm>
          <a:prstGeom prst="ellipse">
            <a:avLst/>
          </a:prstGeom>
          <a:solidFill>
            <a:srgbClr val="BCBCBC"/>
          </a:solidFill>
          <a:ln>
            <a:solidFill>
              <a:srgbClr val="BCB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293607" y="3511296"/>
            <a:ext cx="256032" cy="237744"/>
          </a:xfrm>
          <a:prstGeom prst="rect">
            <a:avLst/>
          </a:prstGeom>
          <a:noFill/>
        </p:spPr>
        <p:txBody>
          <a:bodyPr wrap="square" lIns="0" tIns="0" rIns="0" bIns="0" anchor="ctr">
            <a:spAutoFit/>
          </a:bodyPr>
          <a:lstStyle/>
          <a:p>
            <a:pPr algn="ctr">
              <a:lnSpc>
                <a:spcPct val="100000"/>
              </a:lnSpc>
              <a:spcAft>
                <a:spcPts val="0"/>
              </a:spcAft>
            </a:pPr>
            <a:r>
              <a:rPr sz="850" b="1" i="0">
                <a:solidFill>
                  <a:srgbClr val="FFFCF9"/>
                </a:solidFill>
                <a:latin typeface="Pilat"/>
              </a:rPr>
              <a:t>2</a:t>
            </a:r>
          </a:p>
        </p:txBody>
      </p:sp>
      <p:sp>
        <p:nvSpPr>
          <p:cNvPr id="44" name="TextBox 43"/>
          <p:cNvSpPr txBox="1"/>
          <p:nvPr/>
        </p:nvSpPr>
        <p:spPr>
          <a:xfrm>
            <a:off x="8686799" y="3483864"/>
            <a:ext cx="2487168" cy="585216"/>
          </a:xfrm>
          <a:prstGeom prst="rect">
            <a:avLst/>
          </a:prstGeom>
          <a:noFill/>
        </p:spPr>
        <p:txBody>
          <a:bodyPr wrap="square" lIns="0" tIns="0" rIns="0" bIns="0" anchor="t">
            <a:spAutoFit/>
          </a:bodyPr>
          <a:lstStyle/>
          <a:p>
            <a:pPr algn="l">
              <a:lnSpc>
                <a:spcPct val="100000"/>
              </a:lnSpc>
              <a:spcAft>
                <a:spcPts val="0"/>
              </a:spcAft>
            </a:pPr>
            <a:r>
              <a:rPr sz="925" b="0" i="0">
                <a:solidFill>
                  <a:srgbClr val="000000"/>
                </a:solidFill>
                <a:latin typeface="Pilat"/>
              </a:rPr>
              <a:t>What security, support and open-source boundaries must be met?</a:t>
            </a:r>
          </a:p>
        </p:txBody>
      </p:sp>
      <p:sp>
        <p:nvSpPr>
          <p:cNvPr id="45" name="Rectangle 44"/>
          <p:cNvSpPr/>
          <p:nvPr/>
        </p:nvSpPr>
        <p:spPr>
          <a:xfrm>
            <a:off x="8686799" y="4160520"/>
            <a:ext cx="2450592" cy="18288"/>
          </a:xfrm>
          <a:prstGeom prst="rect">
            <a:avLst/>
          </a:prstGeom>
          <a:solidFill>
            <a:srgbClr val="EEEAE6"/>
          </a:solidFill>
          <a:ln w="10160">
            <a:solidFill>
              <a:srgbClr val="EE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8293607" y="4361688"/>
            <a:ext cx="256032" cy="256032"/>
          </a:xfrm>
          <a:prstGeom prst="ellipse">
            <a:avLst/>
          </a:prstGeom>
          <a:solidFill>
            <a:srgbClr val="BCBCBC"/>
          </a:solidFill>
          <a:ln>
            <a:solidFill>
              <a:srgbClr val="BCB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293607" y="4370831"/>
            <a:ext cx="256032" cy="237744"/>
          </a:xfrm>
          <a:prstGeom prst="rect">
            <a:avLst/>
          </a:prstGeom>
          <a:noFill/>
        </p:spPr>
        <p:txBody>
          <a:bodyPr wrap="square" lIns="0" tIns="0" rIns="0" bIns="0" anchor="ctr">
            <a:spAutoFit/>
          </a:bodyPr>
          <a:lstStyle/>
          <a:p>
            <a:pPr algn="ctr">
              <a:lnSpc>
                <a:spcPct val="100000"/>
              </a:lnSpc>
              <a:spcAft>
                <a:spcPts val="0"/>
              </a:spcAft>
            </a:pPr>
            <a:r>
              <a:rPr sz="850" b="1" i="0">
                <a:solidFill>
                  <a:srgbClr val="FFFCF9"/>
                </a:solidFill>
                <a:latin typeface="Pilat"/>
              </a:rPr>
              <a:t>3</a:t>
            </a:r>
          </a:p>
        </p:txBody>
      </p:sp>
      <p:sp>
        <p:nvSpPr>
          <p:cNvPr id="48" name="TextBox 47"/>
          <p:cNvSpPr txBox="1"/>
          <p:nvPr/>
        </p:nvSpPr>
        <p:spPr>
          <a:xfrm>
            <a:off x="8686799" y="4343400"/>
            <a:ext cx="2487168" cy="585216"/>
          </a:xfrm>
          <a:prstGeom prst="rect">
            <a:avLst/>
          </a:prstGeom>
          <a:noFill/>
        </p:spPr>
        <p:txBody>
          <a:bodyPr wrap="square" lIns="0" tIns="0" rIns="0" bIns="0" anchor="t">
            <a:spAutoFit/>
          </a:bodyPr>
          <a:lstStyle/>
          <a:p>
            <a:pPr algn="l">
              <a:lnSpc>
                <a:spcPct val="100000"/>
              </a:lnSpc>
              <a:spcAft>
                <a:spcPts val="0"/>
              </a:spcAft>
            </a:pPr>
            <a:r>
              <a:rPr sz="925" b="0" i="0">
                <a:solidFill>
                  <a:srgbClr val="000000"/>
                </a:solidFill>
                <a:latin typeface="Pilat"/>
              </a:rPr>
              <a:t>What result would justify a controlled hardware evaluation?</a:t>
            </a:r>
          </a:p>
        </p:txBody>
      </p:sp>
      <p:sp>
        <p:nvSpPr>
          <p:cNvPr id="49" name="Rounded Rectangle 48"/>
          <p:cNvSpPr/>
          <p:nvPr/>
        </p:nvSpPr>
        <p:spPr>
          <a:xfrm>
            <a:off x="566928" y="5934456"/>
            <a:ext cx="11018520" cy="283464"/>
          </a:xfrm>
          <a:prstGeom prst="roundRect">
            <a:avLst/>
          </a:prstGeom>
          <a:solidFill>
            <a:srgbClr val="FBE9E6"/>
          </a:solidFill>
          <a:ln w="10160">
            <a:solidFill>
              <a:srgbClr val="FBE9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22960" y="5989320"/>
            <a:ext cx="10469880" cy="155448"/>
          </a:xfrm>
          <a:prstGeom prst="rect">
            <a:avLst/>
          </a:prstGeom>
          <a:noFill/>
        </p:spPr>
        <p:txBody>
          <a:bodyPr wrap="square" lIns="0" tIns="0" rIns="0" bIns="0" anchor="ctr">
            <a:spAutoFit/>
          </a:bodyPr>
          <a:lstStyle/>
          <a:p>
            <a:pPr algn="ctr">
              <a:lnSpc>
                <a:spcPct val="100000"/>
              </a:lnSpc>
              <a:spcAft>
                <a:spcPts val="0"/>
              </a:spcAft>
            </a:pPr>
            <a:r>
              <a:rPr sz="919" b="1" i="0">
                <a:solidFill>
                  <a:srgbClr val="772C22"/>
                </a:solidFill>
                <a:latin typeface="Pilat"/>
              </a:rPr>
              <a:t>Output: a shared problem statement, one high-value workload and objective POC success gates.</a:t>
            </a:r>
          </a:p>
        </p:txBody>
      </p:sp>
      <p:sp>
        <p:nvSpPr>
          <p:cNvPr id="51" name="TextBox 50"/>
          <p:cNvSpPr txBox="1"/>
          <p:nvPr/>
        </p:nvSpPr>
        <p:spPr>
          <a:xfrm>
            <a:off x="292608" y="6492240"/>
            <a:ext cx="914400" cy="137160"/>
          </a:xfrm>
          <a:prstGeom prst="rect">
            <a:avLst/>
          </a:prstGeom>
          <a:noFill/>
        </p:spPr>
        <p:txBody>
          <a:bodyPr wrap="square" lIns="0" tIns="0" rIns="0" bIns="0" anchor="ctr">
            <a:spAutoFit/>
          </a:bodyPr>
          <a:lstStyle/>
          <a:p>
            <a:pPr algn="l">
              <a:lnSpc>
                <a:spcPct val="100000"/>
              </a:lnSpc>
              <a:spcAft>
                <a:spcPts val="0"/>
              </a:spcAft>
            </a:pPr>
            <a:r>
              <a:rPr sz="690" b="0" i="0">
                <a:solidFill>
                  <a:srgbClr val="000000"/>
                </a:solidFill>
                <a:latin typeface="Pilat"/>
              </a:rPr>
              <a:t>[Confidential]</a:t>
            </a:r>
          </a:p>
        </p:txBody>
      </p:sp>
      <p:sp>
        <p:nvSpPr>
          <p:cNvPr id="52" name="TextBox 51"/>
          <p:cNvSpPr txBox="1"/>
          <p:nvPr/>
        </p:nvSpPr>
        <p:spPr>
          <a:xfrm>
            <a:off x="2578608" y="6492240"/>
            <a:ext cx="3246120" cy="137160"/>
          </a:xfrm>
          <a:prstGeom prst="rect">
            <a:avLst/>
          </a:prstGeom>
          <a:noFill/>
        </p:spPr>
        <p:txBody>
          <a:bodyPr wrap="square" lIns="0" tIns="0" rIns="0" bIns="0" anchor="ctr">
            <a:spAutoFit/>
          </a:bodyPr>
          <a:lstStyle/>
          <a:p>
            <a:pPr algn="ctr">
              <a:lnSpc>
                <a:spcPct val="100000"/>
              </a:lnSpc>
              <a:spcAft>
                <a:spcPts val="0"/>
              </a:spcAft>
            </a:pPr>
            <a:r>
              <a:rPr sz="620" b="0" i="0">
                <a:solidFill>
                  <a:srgbClr val="686868"/>
                </a:solidFill>
                <a:latin typeface="Pilat"/>
              </a:rPr>
              <a:t>©2026 SANDISK CORPORATION OR ITS AFFILIATES</a:t>
            </a:r>
          </a:p>
        </p:txBody>
      </p:sp>
      <p:sp>
        <p:nvSpPr>
          <p:cNvPr id="53" name="TextBox 52"/>
          <p:cNvSpPr txBox="1"/>
          <p:nvPr/>
        </p:nvSpPr>
        <p:spPr>
          <a:xfrm>
            <a:off x="5779008" y="6492240"/>
            <a:ext cx="4956048" cy="137160"/>
          </a:xfrm>
          <a:prstGeom prst="rect">
            <a:avLst/>
          </a:prstGeom>
          <a:noFill/>
        </p:spPr>
        <p:txBody>
          <a:bodyPr wrap="square" lIns="0" tIns="0" rIns="0" bIns="0" anchor="ctr">
            <a:spAutoFit/>
          </a:bodyPr>
          <a:lstStyle/>
          <a:p>
            <a:pPr algn="r">
              <a:lnSpc>
                <a:spcPct val="100000"/>
              </a:lnSpc>
              <a:spcAft>
                <a:spcPts val="0"/>
              </a:spcAft>
            </a:pPr>
            <a:r>
              <a:rPr sz="640" b="0" i="0">
                <a:solidFill>
                  <a:srgbClr val="686868"/>
                </a:solidFill>
                <a:latin typeface="Pilat"/>
              </a:rPr>
              <a:t>Illustrative — validate against customer workload and approved product configuration.</a:t>
            </a:r>
          </a:p>
        </p:txBody>
      </p:sp>
      <p:sp>
        <p:nvSpPr>
          <p:cNvPr id="54" name="TextBox 53"/>
          <p:cNvSpPr txBox="1"/>
          <p:nvPr/>
        </p:nvSpPr>
        <p:spPr>
          <a:xfrm>
            <a:off x="11018520" y="6492240"/>
            <a:ext cx="347472" cy="137160"/>
          </a:xfrm>
          <a:prstGeom prst="rect">
            <a:avLst/>
          </a:prstGeom>
          <a:noFill/>
        </p:spPr>
        <p:txBody>
          <a:bodyPr wrap="square" lIns="0" tIns="0" rIns="0" bIns="0" anchor="ctr">
            <a:spAutoFit/>
          </a:bodyPr>
          <a:lstStyle/>
          <a:p>
            <a:pPr algn="r">
              <a:lnSpc>
                <a:spcPct val="100000"/>
              </a:lnSpc>
              <a:spcAft>
                <a:spcPts val="0"/>
              </a:spcAft>
            </a:pPr>
            <a:r>
              <a:rPr sz="700" b="1" i="0">
                <a:solidFill>
                  <a:srgbClr val="686868"/>
                </a:solidFill>
                <a:latin typeface="Pilat"/>
              </a:rPr>
              <a:t>08</a:t>
            </a:r>
          </a:p>
        </p:txBody>
      </p:sp>
      <p:sp>
        <p:nvSpPr>
          <p:cNvPr id="55" name="Shape 3">
            <a:extLst>
              <a:ext uri="{FF2B5EF4-FFF2-40B4-BE49-F238E27FC236}">
                <a16:creationId xmlns:a16="http://schemas.microsoft.com/office/drawing/2014/main" id="{EEEFDEEC-2E48-C267-0AAB-4F941B76DC77}"/>
              </a:ext>
            </a:extLst>
          </p:cNvPr>
          <p:cNvSpPr/>
          <p:nvPr/>
        </p:nvSpPr>
        <p:spPr>
          <a:xfrm>
            <a:off x="0" y="0"/>
            <a:ext cx="146304" cy="6858000"/>
          </a:xfrm>
          <a:prstGeom prst="rect">
            <a:avLst/>
          </a:prstGeom>
          <a:solidFill>
            <a:schemeClr val="accent2"/>
          </a:solidFill>
          <a:ln w="6350">
            <a:solidFill>
              <a:srgbClr val="00A3A3"/>
            </a:solidFill>
          </a:ln>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4592" y="4791456"/>
            <a:ext cx="1417320" cy="530352"/>
          </a:xfrm>
          <a:prstGeom prst="rect">
            <a:avLst/>
          </a:prstGeom>
          <a:solidFill>
            <a:srgbClr val="FFFCF9"/>
          </a:solidFill>
          <a:ln w="10160">
            <a:solidFill>
              <a:srgbClr val="FFF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01752"/>
            <a:ext cx="3931920" cy="182880"/>
          </a:xfrm>
          <a:prstGeom prst="rect">
            <a:avLst/>
          </a:prstGeom>
          <a:noFill/>
        </p:spPr>
        <p:txBody>
          <a:bodyPr wrap="square" lIns="0" tIns="0" rIns="0" bIns="0" anchor="ctr">
            <a:spAutoFit/>
          </a:bodyPr>
          <a:lstStyle/>
          <a:p>
            <a:pPr algn="l">
              <a:lnSpc>
                <a:spcPct val="100000"/>
              </a:lnSpc>
              <a:spcAft>
                <a:spcPts val="0"/>
              </a:spcAft>
            </a:pPr>
            <a:r>
              <a:rPr sz="850" b="1" i="0">
                <a:solidFill>
                  <a:srgbClr val="E10600"/>
                </a:solidFill>
                <a:latin typeface="Pilat"/>
              </a:rPr>
              <a:t>POTENTIAL POC</a:t>
            </a:r>
          </a:p>
        </p:txBody>
      </p:sp>
      <p:sp>
        <p:nvSpPr>
          <p:cNvPr id="4" name="TextBox 3"/>
          <p:cNvSpPr txBox="1"/>
          <p:nvPr/>
        </p:nvSpPr>
        <p:spPr>
          <a:xfrm>
            <a:off x="566928" y="566928"/>
            <a:ext cx="10698480" cy="457200"/>
          </a:xfrm>
          <a:prstGeom prst="rect">
            <a:avLst/>
          </a:prstGeom>
          <a:noFill/>
        </p:spPr>
        <p:txBody>
          <a:bodyPr wrap="square" lIns="64008" tIns="64008" rIns="64008" bIns="64008" anchor="ctr">
            <a:spAutoFit/>
          </a:bodyPr>
          <a:lstStyle/>
          <a:p>
            <a:pPr algn="l">
              <a:lnSpc>
                <a:spcPct val="100000"/>
              </a:lnSpc>
              <a:spcAft>
                <a:spcPts val="0"/>
              </a:spcAft>
            </a:pPr>
            <a:r>
              <a:rPr sz="2600" b="1" i="0">
                <a:solidFill>
                  <a:srgbClr val="000000"/>
                </a:solidFill>
                <a:latin typeface="Pilat Book"/>
              </a:rPr>
              <a:t>Evaluate one meaningful workload — side by side</a:t>
            </a:r>
          </a:p>
        </p:txBody>
      </p:sp>
      <p:sp>
        <p:nvSpPr>
          <p:cNvPr id="5" name="TextBox 4"/>
          <p:cNvSpPr txBox="1"/>
          <p:nvPr/>
        </p:nvSpPr>
        <p:spPr>
          <a:xfrm>
            <a:off x="566928" y="1069848"/>
            <a:ext cx="10515600" cy="274320"/>
          </a:xfrm>
          <a:prstGeom prst="rect">
            <a:avLst/>
          </a:prstGeom>
          <a:noFill/>
        </p:spPr>
        <p:txBody>
          <a:bodyPr wrap="square" lIns="0" tIns="0" rIns="0" bIns="0" anchor="ctr">
            <a:spAutoFit/>
          </a:bodyPr>
          <a:lstStyle/>
          <a:p>
            <a:pPr algn="l">
              <a:lnSpc>
                <a:spcPct val="100000"/>
              </a:lnSpc>
              <a:spcAft>
                <a:spcPts val="0"/>
              </a:spcAft>
            </a:pPr>
            <a:r>
              <a:rPr sz="1100" b="0" i="0">
                <a:solidFill>
                  <a:srgbClr val="686868"/>
                </a:solidFill>
                <a:latin typeface="Pilat"/>
              </a:rPr>
              <a:t>Use simulation to narrow the design space, then calibrate against measured hardware and the customer serving stack.</a:t>
            </a:r>
          </a:p>
        </p:txBody>
      </p:sp>
      <p:sp>
        <p:nvSpPr>
          <p:cNvPr id="6" name="Rectangle 5"/>
          <p:cNvSpPr/>
          <p:nvPr/>
        </p:nvSpPr>
        <p:spPr>
          <a:xfrm>
            <a:off x="566928" y="1472184"/>
            <a:ext cx="11018520" cy="16459"/>
          </a:xfrm>
          <a:prstGeom prst="rect">
            <a:avLst/>
          </a:prstGeom>
          <a:solidFill>
            <a:srgbClr val="BCB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773936"/>
            <a:ext cx="2743200" cy="219456"/>
          </a:xfrm>
          <a:prstGeom prst="rect">
            <a:avLst/>
          </a:prstGeom>
          <a:noFill/>
        </p:spPr>
        <p:txBody>
          <a:bodyPr wrap="square" lIns="0" tIns="0" rIns="0" bIns="0" anchor="ctr">
            <a:spAutoFit/>
          </a:bodyPr>
          <a:lstStyle/>
          <a:p>
            <a:pPr algn="l">
              <a:lnSpc>
                <a:spcPct val="100000"/>
              </a:lnSpc>
              <a:spcAft>
                <a:spcPts val="0"/>
              </a:spcAft>
            </a:pPr>
            <a:r>
              <a:rPr sz="1350" b="1" i="0">
                <a:solidFill>
                  <a:srgbClr val="000000"/>
                </a:solidFill>
                <a:latin typeface="Pilat Book"/>
              </a:rPr>
              <a:t>Candidate use cases</a:t>
            </a:r>
          </a:p>
        </p:txBody>
      </p:sp>
      <p:sp>
        <p:nvSpPr>
          <p:cNvPr id="8" name="Rounded Rectangle 7"/>
          <p:cNvSpPr/>
          <p:nvPr/>
        </p:nvSpPr>
        <p:spPr>
          <a:xfrm>
            <a:off x="566928" y="2121408"/>
            <a:ext cx="4059936" cy="713232"/>
          </a:xfrm>
          <a:prstGeom prst="roundRect">
            <a:avLst/>
          </a:prstGeom>
          <a:solidFill>
            <a:srgbClr val="FFFCF9"/>
          </a:solidFill>
          <a:ln w="10160">
            <a:solidFill>
              <a:srgbClr val="EE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795528" y="2304288"/>
            <a:ext cx="338328" cy="338328"/>
          </a:xfrm>
          <a:prstGeom prst="ellipse">
            <a:avLst/>
          </a:prstGeom>
          <a:solidFill>
            <a:srgbClr val="E10600"/>
          </a:solidFill>
          <a:ln>
            <a:solidFill>
              <a:srgbClr val="E10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5528" y="2313432"/>
            <a:ext cx="338328" cy="320040"/>
          </a:xfrm>
          <a:prstGeom prst="rect">
            <a:avLst/>
          </a:prstGeom>
          <a:noFill/>
        </p:spPr>
        <p:txBody>
          <a:bodyPr wrap="square" lIns="0" tIns="0" rIns="0" bIns="0" anchor="ctr">
            <a:spAutoFit/>
          </a:bodyPr>
          <a:lstStyle/>
          <a:p>
            <a:pPr algn="ctr">
              <a:lnSpc>
                <a:spcPct val="100000"/>
              </a:lnSpc>
              <a:spcAft>
                <a:spcPts val="0"/>
              </a:spcAft>
            </a:pPr>
            <a:r>
              <a:rPr sz="850" b="1" i="0">
                <a:solidFill>
                  <a:srgbClr val="FFFCF9"/>
                </a:solidFill>
                <a:latin typeface="Pilat"/>
              </a:rPr>
              <a:t>1</a:t>
            </a:r>
          </a:p>
        </p:txBody>
      </p:sp>
      <p:sp>
        <p:nvSpPr>
          <p:cNvPr id="11" name="TextBox 10"/>
          <p:cNvSpPr txBox="1"/>
          <p:nvPr/>
        </p:nvSpPr>
        <p:spPr>
          <a:xfrm>
            <a:off x="1344168" y="2249424"/>
            <a:ext cx="2889504" cy="192024"/>
          </a:xfrm>
          <a:prstGeom prst="rect">
            <a:avLst/>
          </a:prstGeom>
          <a:noFill/>
        </p:spPr>
        <p:txBody>
          <a:bodyPr wrap="square" lIns="0" tIns="0" rIns="0" bIns="0" anchor="ctr">
            <a:spAutoFit/>
          </a:bodyPr>
          <a:lstStyle/>
          <a:p>
            <a:pPr algn="l">
              <a:lnSpc>
                <a:spcPct val="100000"/>
              </a:lnSpc>
              <a:spcAft>
                <a:spcPts val="0"/>
              </a:spcAft>
            </a:pPr>
            <a:r>
              <a:rPr sz="1150" b="1" i="0">
                <a:solidFill>
                  <a:srgbClr val="000000"/>
                </a:solidFill>
                <a:latin typeface="Pilat Book"/>
              </a:rPr>
              <a:t>Long-context RAG</a:t>
            </a:r>
          </a:p>
        </p:txBody>
      </p:sp>
      <p:sp>
        <p:nvSpPr>
          <p:cNvPr id="12" name="TextBox 11"/>
          <p:cNvSpPr txBox="1"/>
          <p:nvPr/>
        </p:nvSpPr>
        <p:spPr>
          <a:xfrm>
            <a:off x="1344168" y="2514600"/>
            <a:ext cx="2889504" cy="155448"/>
          </a:xfrm>
          <a:prstGeom prst="rect">
            <a:avLst/>
          </a:prstGeom>
          <a:noFill/>
        </p:spPr>
        <p:txBody>
          <a:bodyPr wrap="square" lIns="0" tIns="0" rIns="0" bIns="0" anchor="ctr">
            <a:spAutoFit/>
          </a:bodyPr>
          <a:lstStyle/>
          <a:p>
            <a:pPr algn="l">
              <a:lnSpc>
                <a:spcPct val="100000"/>
              </a:lnSpc>
              <a:spcAft>
                <a:spcPts val="0"/>
              </a:spcAft>
            </a:pPr>
            <a:r>
              <a:rPr sz="860" b="0" i="0">
                <a:solidFill>
                  <a:srgbClr val="686868"/>
                </a:solidFill>
                <a:latin typeface="Pilat"/>
              </a:rPr>
              <a:t>Reusable policy, engineering or support knowledge.</a:t>
            </a:r>
          </a:p>
        </p:txBody>
      </p:sp>
      <p:sp>
        <p:nvSpPr>
          <p:cNvPr id="13" name="Rounded Rectangle 12"/>
          <p:cNvSpPr/>
          <p:nvPr/>
        </p:nvSpPr>
        <p:spPr>
          <a:xfrm>
            <a:off x="566928" y="3054096"/>
            <a:ext cx="4059936" cy="713232"/>
          </a:xfrm>
          <a:prstGeom prst="roundRect">
            <a:avLst/>
          </a:prstGeom>
          <a:solidFill>
            <a:srgbClr val="FFFCF9"/>
          </a:solidFill>
          <a:ln w="10160">
            <a:solidFill>
              <a:srgbClr val="EE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95528" y="3236976"/>
            <a:ext cx="338328" cy="338328"/>
          </a:xfrm>
          <a:prstGeom prst="ellipse">
            <a:avLst/>
          </a:prstGeom>
          <a:solidFill>
            <a:srgbClr val="E10600"/>
          </a:solidFill>
          <a:ln>
            <a:solidFill>
              <a:srgbClr val="E10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95528" y="3246120"/>
            <a:ext cx="338328" cy="320040"/>
          </a:xfrm>
          <a:prstGeom prst="rect">
            <a:avLst/>
          </a:prstGeom>
          <a:noFill/>
        </p:spPr>
        <p:txBody>
          <a:bodyPr wrap="square" lIns="0" tIns="0" rIns="0" bIns="0" anchor="ctr">
            <a:spAutoFit/>
          </a:bodyPr>
          <a:lstStyle/>
          <a:p>
            <a:pPr algn="ctr">
              <a:lnSpc>
                <a:spcPct val="100000"/>
              </a:lnSpc>
              <a:spcAft>
                <a:spcPts val="0"/>
              </a:spcAft>
            </a:pPr>
            <a:r>
              <a:rPr sz="850" b="1" i="0">
                <a:solidFill>
                  <a:srgbClr val="FFFCF9"/>
                </a:solidFill>
                <a:latin typeface="Pilat"/>
              </a:rPr>
              <a:t>2</a:t>
            </a:r>
          </a:p>
        </p:txBody>
      </p:sp>
      <p:sp>
        <p:nvSpPr>
          <p:cNvPr id="16" name="TextBox 15"/>
          <p:cNvSpPr txBox="1"/>
          <p:nvPr/>
        </p:nvSpPr>
        <p:spPr>
          <a:xfrm>
            <a:off x="1344168" y="3182112"/>
            <a:ext cx="2889504" cy="192024"/>
          </a:xfrm>
          <a:prstGeom prst="rect">
            <a:avLst/>
          </a:prstGeom>
          <a:noFill/>
        </p:spPr>
        <p:txBody>
          <a:bodyPr wrap="square" lIns="0" tIns="0" rIns="0" bIns="0" anchor="ctr">
            <a:spAutoFit/>
          </a:bodyPr>
          <a:lstStyle/>
          <a:p>
            <a:pPr algn="l">
              <a:lnSpc>
                <a:spcPct val="100000"/>
              </a:lnSpc>
              <a:spcAft>
                <a:spcPts val="0"/>
              </a:spcAft>
            </a:pPr>
            <a:r>
              <a:rPr sz="1150" b="1" i="0">
                <a:solidFill>
                  <a:srgbClr val="000000"/>
                </a:solidFill>
                <a:latin typeface="Pilat Book"/>
              </a:rPr>
              <a:t>Batch enrichment</a:t>
            </a:r>
          </a:p>
        </p:txBody>
      </p:sp>
      <p:sp>
        <p:nvSpPr>
          <p:cNvPr id="17" name="TextBox 16"/>
          <p:cNvSpPr txBox="1"/>
          <p:nvPr/>
        </p:nvSpPr>
        <p:spPr>
          <a:xfrm>
            <a:off x="1344168" y="3447288"/>
            <a:ext cx="2889504" cy="155448"/>
          </a:xfrm>
          <a:prstGeom prst="rect">
            <a:avLst/>
          </a:prstGeom>
          <a:noFill/>
        </p:spPr>
        <p:txBody>
          <a:bodyPr wrap="square" lIns="0" tIns="0" rIns="0" bIns="0" anchor="ctr">
            <a:spAutoFit/>
          </a:bodyPr>
          <a:lstStyle/>
          <a:p>
            <a:pPr algn="l">
              <a:lnSpc>
                <a:spcPct val="100000"/>
              </a:lnSpc>
              <a:spcAft>
                <a:spcPts val="0"/>
              </a:spcAft>
            </a:pPr>
            <a:r>
              <a:rPr sz="860" b="0" i="0">
                <a:solidFill>
                  <a:srgbClr val="686868"/>
                </a:solidFill>
                <a:latin typeface="Pilat"/>
              </a:rPr>
              <a:t>High-volume document, log or record processing.</a:t>
            </a:r>
          </a:p>
        </p:txBody>
      </p:sp>
      <p:sp>
        <p:nvSpPr>
          <p:cNvPr id="18" name="Rounded Rectangle 17"/>
          <p:cNvSpPr/>
          <p:nvPr/>
        </p:nvSpPr>
        <p:spPr>
          <a:xfrm>
            <a:off x="566928" y="3986783"/>
            <a:ext cx="4059936" cy="713232"/>
          </a:xfrm>
          <a:prstGeom prst="roundRect">
            <a:avLst/>
          </a:prstGeom>
          <a:solidFill>
            <a:srgbClr val="FFFCF9"/>
          </a:solidFill>
          <a:ln w="10160">
            <a:solidFill>
              <a:srgbClr val="EE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95528" y="4169663"/>
            <a:ext cx="338328" cy="338328"/>
          </a:xfrm>
          <a:prstGeom prst="ellipse">
            <a:avLst/>
          </a:prstGeom>
          <a:solidFill>
            <a:srgbClr val="E10600"/>
          </a:solidFill>
          <a:ln>
            <a:solidFill>
              <a:srgbClr val="E10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5528" y="4178807"/>
            <a:ext cx="338328" cy="320040"/>
          </a:xfrm>
          <a:prstGeom prst="rect">
            <a:avLst/>
          </a:prstGeom>
          <a:noFill/>
        </p:spPr>
        <p:txBody>
          <a:bodyPr wrap="square" lIns="0" tIns="0" rIns="0" bIns="0" anchor="ctr">
            <a:spAutoFit/>
          </a:bodyPr>
          <a:lstStyle/>
          <a:p>
            <a:pPr algn="ctr">
              <a:lnSpc>
                <a:spcPct val="100000"/>
              </a:lnSpc>
              <a:spcAft>
                <a:spcPts val="0"/>
              </a:spcAft>
            </a:pPr>
            <a:r>
              <a:rPr sz="850" b="1" i="0">
                <a:solidFill>
                  <a:srgbClr val="FFFCF9"/>
                </a:solidFill>
                <a:latin typeface="Pilat"/>
              </a:rPr>
              <a:t>3</a:t>
            </a:r>
          </a:p>
        </p:txBody>
      </p:sp>
      <p:sp>
        <p:nvSpPr>
          <p:cNvPr id="21" name="TextBox 20"/>
          <p:cNvSpPr txBox="1"/>
          <p:nvPr/>
        </p:nvSpPr>
        <p:spPr>
          <a:xfrm>
            <a:off x="1344168" y="4114799"/>
            <a:ext cx="2889504" cy="192024"/>
          </a:xfrm>
          <a:prstGeom prst="rect">
            <a:avLst/>
          </a:prstGeom>
          <a:noFill/>
        </p:spPr>
        <p:txBody>
          <a:bodyPr wrap="square" lIns="0" tIns="0" rIns="0" bIns="0" anchor="ctr">
            <a:spAutoFit/>
          </a:bodyPr>
          <a:lstStyle/>
          <a:p>
            <a:pPr algn="l">
              <a:lnSpc>
                <a:spcPct val="100000"/>
              </a:lnSpc>
              <a:spcAft>
                <a:spcPts val="0"/>
              </a:spcAft>
            </a:pPr>
            <a:r>
              <a:rPr sz="1150" b="1" i="0">
                <a:solidFill>
                  <a:srgbClr val="000000"/>
                </a:solidFill>
                <a:latin typeface="Pilat Book"/>
              </a:rPr>
              <a:t>Agentic workflows</a:t>
            </a:r>
          </a:p>
        </p:txBody>
      </p:sp>
      <p:sp>
        <p:nvSpPr>
          <p:cNvPr id="22" name="TextBox 21"/>
          <p:cNvSpPr txBox="1"/>
          <p:nvPr/>
        </p:nvSpPr>
        <p:spPr>
          <a:xfrm>
            <a:off x="1344168" y="4379975"/>
            <a:ext cx="2889504" cy="155448"/>
          </a:xfrm>
          <a:prstGeom prst="rect">
            <a:avLst/>
          </a:prstGeom>
          <a:noFill/>
        </p:spPr>
        <p:txBody>
          <a:bodyPr wrap="square" lIns="0" tIns="0" rIns="0" bIns="0" anchor="ctr">
            <a:spAutoFit/>
          </a:bodyPr>
          <a:lstStyle/>
          <a:p>
            <a:pPr algn="l">
              <a:lnSpc>
                <a:spcPct val="100000"/>
              </a:lnSpc>
              <a:spcAft>
                <a:spcPts val="0"/>
              </a:spcAft>
            </a:pPr>
            <a:r>
              <a:rPr sz="860" b="0" i="0">
                <a:solidFill>
                  <a:srgbClr val="686868"/>
                </a:solidFill>
                <a:latin typeface="Pilat"/>
              </a:rPr>
              <a:t>Repeated instructions, tools and shared context.</a:t>
            </a:r>
          </a:p>
        </p:txBody>
      </p:sp>
      <p:sp>
        <p:nvSpPr>
          <p:cNvPr id="23" name="TextBox 22"/>
          <p:cNvSpPr txBox="1"/>
          <p:nvPr/>
        </p:nvSpPr>
        <p:spPr>
          <a:xfrm>
            <a:off x="5020056" y="1773936"/>
            <a:ext cx="1828800" cy="219456"/>
          </a:xfrm>
          <a:prstGeom prst="rect">
            <a:avLst/>
          </a:prstGeom>
          <a:noFill/>
        </p:spPr>
        <p:txBody>
          <a:bodyPr wrap="square" lIns="0" tIns="0" rIns="0" bIns="0" anchor="ctr">
            <a:spAutoFit/>
          </a:bodyPr>
          <a:lstStyle/>
          <a:p>
            <a:pPr algn="l">
              <a:lnSpc>
                <a:spcPct val="100000"/>
              </a:lnSpc>
              <a:spcAft>
                <a:spcPts val="0"/>
              </a:spcAft>
            </a:pPr>
            <a:r>
              <a:rPr sz="1350" b="1" i="0">
                <a:solidFill>
                  <a:srgbClr val="000000"/>
                </a:solidFill>
                <a:latin typeface="Pilat Book"/>
              </a:rPr>
              <a:t>POC method</a:t>
            </a:r>
          </a:p>
        </p:txBody>
      </p:sp>
      <p:sp>
        <p:nvSpPr>
          <p:cNvPr id="24" name="Oval 23"/>
          <p:cNvSpPr/>
          <p:nvPr/>
        </p:nvSpPr>
        <p:spPr>
          <a:xfrm>
            <a:off x="5495544" y="2194560"/>
            <a:ext cx="411480" cy="411480"/>
          </a:xfrm>
          <a:prstGeom prst="ellipse">
            <a:avLst/>
          </a:prstGeom>
          <a:solidFill>
            <a:srgbClr val="E10600"/>
          </a:solidFill>
          <a:ln>
            <a:solidFill>
              <a:srgbClr val="E10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95544" y="2203703"/>
            <a:ext cx="411480" cy="393192"/>
          </a:xfrm>
          <a:prstGeom prst="rect">
            <a:avLst/>
          </a:prstGeom>
          <a:noFill/>
        </p:spPr>
        <p:txBody>
          <a:bodyPr wrap="square" lIns="0" tIns="0" rIns="0" bIns="0" anchor="ctr">
            <a:spAutoFit/>
          </a:bodyPr>
          <a:lstStyle/>
          <a:p>
            <a:pPr algn="ctr">
              <a:lnSpc>
                <a:spcPct val="100000"/>
              </a:lnSpc>
              <a:spcAft>
                <a:spcPts val="0"/>
              </a:spcAft>
            </a:pPr>
            <a:r>
              <a:rPr sz="850" b="1" i="0">
                <a:solidFill>
                  <a:srgbClr val="FFFCF9"/>
                </a:solidFill>
                <a:latin typeface="Pilat"/>
              </a:rPr>
              <a:t>1</a:t>
            </a:r>
          </a:p>
        </p:txBody>
      </p:sp>
      <p:sp>
        <p:nvSpPr>
          <p:cNvPr id="26" name="Chevron 25"/>
          <p:cNvSpPr/>
          <p:nvPr/>
        </p:nvSpPr>
        <p:spPr>
          <a:xfrm>
            <a:off x="6035040" y="2276856"/>
            <a:ext cx="466344" cy="219456"/>
          </a:xfrm>
          <a:prstGeom prst="chevron">
            <a:avLst/>
          </a:prstGeom>
          <a:solidFill>
            <a:srgbClr val="BCBCBC"/>
          </a:solidFill>
          <a:ln>
            <a:solidFill>
              <a:srgbClr val="BCB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0056" y="2788920"/>
            <a:ext cx="1371600" cy="201168"/>
          </a:xfrm>
          <a:prstGeom prst="rect">
            <a:avLst/>
          </a:prstGeom>
          <a:noFill/>
        </p:spPr>
        <p:txBody>
          <a:bodyPr wrap="square" lIns="0" tIns="0" rIns="0" bIns="0" anchor="ctr">
            <a:spAutoFit/>
          </a:bodyPr>
          <a:lstStyle/>
          <a:p>
            <a:pPr algn="ctr">
              <a:lnSpc>
                <a:spcPct val="100000"/>
              </a:lnSpc>
              <a:spcAft>
                <a:spcPts val="0"/>
              </a:spcAft>
            </a:pPr>
            <a:r>
              <a:rPr sz="1050" b="1" i="0">
                <a:solidFill>
                  <a:srgbClr val="000000"/>
                </a:solidFill>
                <a:latin typeface="Pilat Book"/>
              </a:rPr>
              <a:t>Baseline</a:t>
            </a:r>
          </a:p>
        </p:txBody>
      </p:sp>
      <p:sp>
        <p:nvSpPr>
          <p:cNvPr id="28" name="TextBox 27"/>
          <p:cNvSpPr txBox="1"/>
          <p:nvPr/>
        </p:nvSpPr>
        <p:spPr>
          <a:xfrm>
            <a:off x="5065776" y="3099816"/>
            <a:ext cx="1280160" cy="512064"/>
          </a:xfrm>
          <a:prstGeom prst="rect">
            <a:avLst/>
          </a:prstGeom>
          <a:noFill/>
        </p:spPr>
        <p:txBody>
          <a:bodyPr wrap="square" lIns="0" tIns="0" rIns="0" bIns="0" anchor="t">
            <a:spAutoFit/>
          </a:bodyPr>
          <a:lstStyle/>
          <a:p>
            <a:pPr algn="ctr">
              <a:lnSpc>
                <a:spcPct val="100000"/>
              </a:lnSpc>
              <a:spcAft>
                <a:spcPts val="0"/>
              </a:spcAft>
            </a:pPr>
            <a:r>
              <a:rPr sz="810" b="0" i="0">
                <a:solidFill>
                  <a:srgbClr val="686868"/>
                </a:solidFill>
                <a:latin typeface="Pilat"/>
              </a:rPr>
              <a:t>Current trace, topology and cost inputs</a:t>
            </a:r>
          </a:p>
        </p:txBody>
      </p:sp>
      <p:sp>
        <p:nvSpPr>
          <p:cNvPr id="29" name="Oval 28"/>
          <p:cNvSpPr/>
          <p:nvPr/>
        </p:nvSpPr>
        <p:spPr>
          <a:xfrm>
            <a:off x="7104888" y="2194560"/>
            <a:ext cx="411480" cy="411480"/>
          </a:xfrm>
          <a:prstGeom prst="ellipse">
            <a:avLst/>
          </a:prstGeom>
          <a:solidFill>
            <a:srgbClr val="E10600"/>
          </a:solidFill>
          <a:ln>
            <a:solidFill>
              <a:srgbClr val="E10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04888" y="2203703"/>
            <a:ext cx="411480" cy="393192"/>
          </a:xfrm>
          <a:prstGeom prst="rect">
            <a:avLst/>
          </a:prstGeom>
          <a:noFill/>
        </p:spPr>
        <p:txBody>
          <a:bodyPr wrap="square" lIns="0" tIns="0" rIns="0" bIns="0" anchor="ctr">
            <a:spAutoFit/>
          </a:bodyPr>
          <a:lstStyle/>
          <a:p>
            <a:pPr algn="ctr">
              <a:lnSpc>
                <a:spcPct val="100000"/>
              </a:lnSpc>
              <a:spcAft>
                <a:spcPts val="0"/>
              </a:spcAft>
            </a:pPr>
            <a:r>
              <a:rPr sz="850" b="1" i="0">
                <a:solidFill>
                  <a:srgbClr val="FFFCF9"/>
                </a:solidFill>
                <a:latin typeface="Pilat"/>
              </a:rPr>
              <a:t>2</a:t>
            </a:r>
          </a:p>
        </p:txBody>
      </p:sp>
      <p:sp>
        <p:nvSpPr>
          <p:cNvPr id="31" name="Chevron 30"/>
          <p:cNvSpPr/>
          <p:nvPr/>
        </p:nvSpPr>
        <p:spPr>
          <a:xfrm>
            <a:off x="7644383" y="2276856"/>
            <a:ext cx="466344" cy="219456"/>
          </a:xfrm>
          <a:prstGeom prst="chevron">
            <a:avLst/>
          </a:prstGeom>
          <a:solidFill>
            <a:srgbClr val="BCBCBC"/>
          </a:solidFill>
          <a:ln>
            <a:solidFill>
              <a:srgbClr val="BCB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629400" y="2788920"/>
            <a:ext cx="1371600" cy="201168"/>
          </a:xfrm>
          <a:prstGeom prst="rect">
            <a:avLst/>
          </a:prstGeom>
          <a:noFill/>
        </p:spPr>
        <p:txBody>
          <a:bodyPr wrap="square" lIns="0" tIns="0" rIns="0" bIns="0" anchor="ctr">
            <a:spAutoFit/>
          </a:bodyPr>
          <a:lstStyle/>
          <a:p>
            <a:pPr algn="ctr">
              <a:lnSpc>
                <a:spcPct val="100000"/>
              </a:lnSpc>
              <a:spcAft>
                <a:spcPts val="0"/>
              </a:spcAft>
            </a:pPr>
            <a:r>
              <a:rPr sz="1050" b="1" i="0">
                <a:solidFill>
                  <a:srgbClr val="000000"/>
                </a:solidFill>
                <a:latin typeface="Pilat Book"/>
              </a:rPr>
              <a:t>Simulate</a:t>
            </a:r>
          </a:p>
        </p:txBody>
      </p:sp>
      <p:sp>
        <p:nvSpPr>
          <p:cNvPr id="33" name="TextBox 32"/>
          <p:cNvSpPr txBox="1"/>
          <p:nvPr/>
        </p:nvSpPr>
        <p:spPr>
          <a:xfrm>
            <a:off x="6675120" y="3099816"/>
            <a:ext cx="1280160" cy="512064"/>
          </a:xfrm>
          <a:prstGeom prst="rect">
            <a:avLst/>
          </a:prstGeom>
          <a:noFill/>
        </p:spPr>
        <p:txBody>
          <a:bodyPr wrap="square" lIns="0" tIns="0" rIns="0" bIns="0" anchor="t">
            <a:spAutoFit/>
          </a:bodyPr>
          <a:lstStyle/>
          <a:p>
            <a:pPr algn="ctr">
              <a:lnSpc>
                <a:spcPct val="100000"/>
              </a:lnSpc>
              <a:spcAft>
                <a:spcPts val="0"/>
              </a:spcAft>
            </a:pPr>
            <a:r>
              <a:rPr sz="810" b="0" i="0">
                <a:solidFill>
                  <a:srgbClr val="686868"/>
                </a:solidFill>
                <a:latin typeface="Pilat"/>
              </a:rPr>
              <a:t>TokenSim sensitivity and crossover analysis</a:t>
            </a:r>
          </a:p>
        </p:txBody>
      </p:sp>
      <p:sp>
        <p:nvSpPr>
          <p:cNvPr id="34" name="Oval 33"/>
          <p:cNvSpPr/>
          <p:nvPr/>
        </p:nvSpPr>
        <p:spPr>
          <a:xfrm>
            <a:off x="8714232" y="2194560"/>
            <a:ext cx="411480" cy="411480"/>
          </a:xfrm>
          <a:prstGeom prst="ellipse">
            <a:avLst/>
          </a:prstGeom>
          <a:solidFill>
            <a:srgbClr val="E10600"/>
          </a:solidFill>
          <a:ln>
            <a:solidFill>
              <a:srgbClr val="E10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714232" y="2203703"/>
            <a:ext cx="411480" cy="393192"/>
          </a:xfrm>
          <a:prstGeom prst="rect">
            <a:avLst/>
          </a:prstGeom>
          <a:noFill/>
        </p:spPr>
        <p:txBody>
          <a:bodyPr wrap="square" lIns="0" tIns="0" rIns="0" bIns="0" anchor="ctr">
            <a:spAutoFit/>
          </a:bodyPr>
          <a:lstStyle/>
          <a:p>
            <a:pPr algn="ctr">
              <a:lnSpc>
                <a:spcPct val="100000"/>
              </a:lnSpc>
              <a:spcAft>
                <a:spcPts val="0"/>
              </a:spcAft>
            </a:pPr>
            <a:r>
              <a:rPr sz="850" b="1" i="0">
                <a:solidFill>
                  <a:srgbClr val="FFFCF9"/>
                </a:solidFill>
                <a:latin typeface="Pilat"/>
              </a:rPr>
              <a:t>3</a:t>
            </a:r>
          </a:p>
        </p:txBody>
      </p:sp>
      <p:sp>
        <p:nvSpPr>
          <p:cNvPr id="36" name="Chevron 35"/>
          <p:cNvSpPr/>
          <p:nvPr/>
        </p:nvSpPr>
        <p:spPr>
          <a:xfrm>
            <a:off x="9253728" y="2276856"/>
            <a:ext cx="466344" cy="219456"/>
          </a:xfrm>
          <a:prstGeom prst="chevron">
            <a:avLst/>
          </a:prstGeom>
          <a:solidFill>
            <a:srgbClr val="BCBCBC"/>
          </a:solidFill>
          <a:ln>
            <a:solidFill>
              <a:srgbClr val="BCB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38744" y="2788920"/>
            <a:ext cx="1371600" cy="201168"/>
          </a:xfrm>
          <a:prstGeom prst="rect">
            <a:avLst/>
          </a:prstGeom>
          <a:noFill/>
        </p:spPr>
        <p:txBody>
          <a:bodyPr wrap="square" lIns="0" tIns="0" rIns="0" bIns="0" anchor="ctr">
            <a:spAutoFit/>
          </a:bodyPr>
          <a:lstStyle/>
          <a:p>
            <a:pPr algn="ctr">
              <a:lnSpc>
                <a:spcPct val="100000"/>
              </a:lnSpc>
              <a:spcAft>
                <a:spcPts val="0"/>
              </a:spcAft>
            </a:pPr>
            <a:r>
              <a:rPr sz="1050" b="1" i="0">
                <a:solidFill>
                  <a:srgbClr val="000000"/>
                </a:solidFill>
                <a:latin typeface="Pilat Book"/>
              </a:rPr>
              <a:t>Validate</a:t>
            </a:r>
          </a:p>
        </p:txBody>
      </p:sp>
      <p:sp>
        <p:nvSpPr>
          <p:cNvPr id="38" name="TextBox 37"/>
          <p:cNvSpPr txBox="1"/>
          <p:nvPr/>
        </p:nvSpPr>
        <p:spPr>
          <a:xfrm>
            <a:off x="8284464" y="3099816"/>
            <a:ext cx="1280160" cy="512064"/>
          </a:xfrm>
          <a:prstGeom prst="rect">
            <a:avLst/>
          </a:prstGeom>
          <a:noFill/>
        </p:spPr>
        <p:txBody>
          <a:bodyPr wrap="square" lIns="0" tIns="0" rIns="0" bIns="0" anchor="t">
            <a:spAutoFit/>
          </a:bodyPr>
          <a:lstStyle/>
          <a:p>
            <a:pPr algn="ctr">
              <a:lnSpc>
                <a:spcPct val="100000"/>
              </a:lnSpc>
              <a:spcAft>
                <a:spcPts val="0"/>
              </a:spcAft>
            </a:pPr>
            <a:r>
              <a:rPr sz="810" b="0" i="0">
                <a:solidFill>
                  <a:srgbClr val="686868"/>
                </a:solidFill>
                <a:latin typeface="Pilat"/>
              </a:rPr>
              <a:t>Matched serving run and instrumentation</a:t>
            </a:r>
          </a:p>
        </p:txBody>
      </p:sp>
      <p:sp>
        <p:nvSpPr>
          <p:cNvPr id="39" name="Oval 38"/>
          <p:cNvSpPr/>
          <p:nvPr/>
        </p:nvSpPr>
        <p:spPr>
          <a:xfrm>
            <a:off x="10323576" y="2194560"/>
            <a:ext cx="411480" cy="411480"/>
          </a:xfrm>
          <a:prstGeom prst="ellipse">
            <a:avLst/>
          </a:prstGeom>
          <a:solidFill>
            <a:srgbClr val="772C22"/>
          </a:solidFill>
          <a:ln>
            <a:solidFill>
              <a:srgbClr val="772C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323576" y="2203703"/>
            <a:ext cx="411480" cy="393192"/>
          </a:xfrm>
          <a:prstGeom prst="rect">
            <a:avLst/>
          </a:prstGeom>
          <a:noFill/>
        </p:spPr>
        <p:txBody>
          <a:bodyPr wrap="square" lIns="0" tIns="0" rIns="0" bIns="0" anchor="ctr">
            <a:spAutoFit/>
          </a:bodyPr>
          <a:lstStyle/>
          <a:p>
            <a:pPr algn="ctr">
              <a:lnSpc>
                <a:spcPct val="100000"/>
              </a:lnSpc>
              <a:spcAft>
                <a:spcPts val="0"/>
              </a:spcAft>
            </a:pPr>
            <a:r>
              <a:rPr sz="850" b="1" i="0">
                <a:solidFill>
                  <a:srgbClr val="FFFCF9"/>
                </a:solidFill>
                <a:latin typeface="Pilat"/>
              </a:rPr>
              <a:t>4</a:t>
            </a:r>
          </a:p>
        </p:txBody>
      </p:sp>
      <p:sp>
        <p:nvSpPr>
          <p:cNvPr id="41" name="TextBox 40"/>
          <p:cNvSpPr txBox="1"/>
          <p:nvPr/>
        </p:nvSpPr>
        <p:spPr>
          <a:xfrm>
            <a:off x="9848088" y="2788920"/>
            <a:ext cx="1371600" cy="201168"/>
          </a:xfrm>
          <a:prstGeom prst="rect">
            <a:avLst/>
          </a:prstGeom>
          <a:noFill/>
        </p:spPr>
        <p:txBody>
          <a:bodyPr wrap="square" lIns="0" tIns="0" rIns="0" bIns="0" anchor="ctr">
            <a:spAutoFit/>
          </a:bodyPr>
          <a:lstStyle/>
          <a:p>
            <a:pPr algn="ctr">
              <a:lnSpc>
                <a:spcPct val="100000"/>
              </a:lnSpc>
              <a:spcAft>
                <a:spcPts val="0"/>
              </a:spcAft>
            </a:pPr>
            <a:r>
              <a:rPr sz="1050" b="1" i="0">
                <a:solidFill>
                  <a:srgbClr val="000000"/>
                </a:solidFill>
                <a:latin typeface="Pilat Book"/>
              </a:rPr>
              <a:t>Decide</a:t>
            </a:r>
          </a:p>
        </p:txBody>
      </p:sp>
      <p:sp>
        <p:nvSpPr>
          <p:cNvPr id="42" name="TextBox 41"/>
          <p:cNvSpPr txBox="1"/>
          <p:nvPr/>
        </p:nvSpPr>
        <p:spPr>
          <a:xfrm>
            <a:off x="9893808" y="3099816"/>
            <a:ext cx="1280160" cy="512064"/>
          </a:xfrm>
          <a:prstGeom prst="rect">
            <a:avLst/>
          </a:prstGeom>
          <a:noFill/>
        </p:spPr>
        <p:txBody>
          <a:bodyPr wrap="square" lIns="0" tIns="0" rIns="0" bIns="0" anchor="t">
            <a:spAutoFit/>
          </a:bodyPr>
          <a:lstStyle/>
          <a:p>
            <a:pPr algn="ctr">
              <a:lnSpc>
                <a:spcPct val="100000"/>
              </a:lnSpc>
              <a:spcAft>
                <a:spcPts val="0"/>
              </a:spcAft>
            </a:pPr>
            <a:r>
              <a:rPr sz="810" b="0" i="0">
                <a:solidFill>
                  <a:srgbClr val="686868"/>
                </a:solidFill>
                <a:latin typeface="Pilat"/>
              </a:rPr>
              <a:t>Joint review of results and limitations</a:t>
            </a:r>
          </a:p>
        </p:txBody>
      </p:sp>
      <p:sp>
        <p:nvSpPr>
          <p:cNvPr id="43" name="Rounded Rectangle 42"/>
          <p:cNvSpPr/>
          <p:nvPr/>
        </p:nvSpPr>
        <p:spPr>
          <a:xfrm>
            <a:off x="5020056" y="4014215"/>
            <a:ext cx="6565392" cy="1408176"/>
          </a:xfrm>
          <a:prstGeom prst="roundRect">
            <a:avLst/>
          </a:prstGeom>
          <a:solidFill>
            <a:srgbClr val="FBE9E6"/>
          </a:solidFill>
          <a:ln w="10160">
            <a:solidFill>
              <a:srgbClr val="E10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294376" y="4215384"/>
            <a:ext cx="1920240" cy="192024"/>
          </a:xfrm>
          <a:prstGeom prst="rect">
            <a:avLst/>
          </a:prstGeom>
          <a:noFill/>
        </p:spPr>
        <p:txBody>
          <a:bodyPr wrap="square" lIns="0" tIns="0" rIns="0" bIns="0" anchor="ctr">
            <a:spAutoFit/>
          </a:bodyPr>
          <a:lstStyle/>
          <a:p>
            <a:pPr algn="l">
              <a:lnSpc>
                <a:spcPct val="100000"/>
              </a:lnSpc>
              <a:spcAft>
                <a:spcPts val="0"/>
              </a:spcAft>
            </a:pPr>
            <a:r>
              <a:rPr sz="1200" b="1" i="0">
                <a:solidFill>
                  <a:srgbClr val="772C22"/>
                </a:solidFill>
                <a:latin typeface="Pilat Book"/>
              </a:rPr>
              <a:t>Joint scorecard</a:t>
            </a:r>
          </a:p>
        </p:txBody>
      </p:sp>
      <p:sp>
        <p:nvSpPr>
          <p:cNvPr id="45" name="Oval 44"/>
          <p:cNvSpPr/>
          <p:nvPr/>
        </p:nvSpPr>
        <p:spPr>
          <a:xfrm>
            <a:off x="5321808" y="4544568"/>
            <a:ext cx="155448" cy="155448"/>
          </a:xfrm>
          <a:prstGeom prst="ellipse">
            <a:avLst/>
          </a:prstGeom>
          <a:solidFill>
            <a:srgbClr val="E10600"/>
          </a:solidFill>
          <a:ln>
            <a:solidFill>
              <a:srgbClr val="E10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321808" y="4553712"/>
            <a:ext cx="155448" cy="137160"/>
          </a:xfrm>
          <a:prstGeom prst="rect">
            <a:avLst/>
          </a:prstGeom>
          <a:noFill/>
        </p:spPr>
        <p:txBody>
          <a:bodyPr wrap="square" lIns="0" tIns="0" rIns="0" bIns="0" anchor="ctr">
            <a:spAutoFit/>
          </a:bodyPr>
          <a:lstStyle/>
          <a:p>
            <a:pPr algn="ctr">
              <a:lnSpc>
                <a:spcPct val="100000"/>
              </a:lnSpc>
              <a:spcAft>
                <a:spcPts val="0"/>
              </a:spcAft>
            </a:pPr>
            <a:r>
              <a:rPr sz="850" b="1" i="0">
                <a:solidFill>
                  <a:srgbClr val="FFFCF9"/>
                </a:solidFill>
                <a:latin typeface="Pilat"/>
              </a:rPr>
              <a:t>✓</a:t>
            </a:r>
          </a:p>
        </p:txBody>
      </p:sp>
      <p:sp>
        <p:nvSpPr>
          <p:cNvPr id="47" name="TextBox 46"/>
          <p:cNvSpPr txBox="1"/>
          <p:nvPr/>
        </p:nvSpPr>
        <p:spPr>
          <a:xfrm>
            <a:off x="5559552" y="4526280"/>
            <a:ext cx="2761488" cy="164592"/>
          </a:xfrm>
          <a:prstGeom prst="rect">
            <a:avLst/>
          </a:prstGeom>
          <a:noFill/>
        </p:spPr>
        <p:txBody>
          <a:bodyPr wrap="square" lIns="0" tIns="0" rIns="0" bIns="0" anchor="ctr">
            <a:spAutoFit/>
          </a:bodyPr>
          <a:lstStyle/>
          <a:p>
            <a:pPr algn="l">
              <a:lnSpc>
                <a:spcPct val="100000"/>
              </a:lnSpc>
              <a:spcAft>
                <a:spcPts val="0"/>
              </a:spcAft>
            </a:pPr>
            <a:r>
              <a:rPr sz="850" b="0" i="0">
                <a:solidFill>
                  <a:srgbClr val="000000"/>
                </a:solidFill>
                <a:latin typeface="Pilat"/>
              </a:rPr>
              <a:t>Useful token throughput</a:t>
            </a:r>
          </a:p>
        </p:txBody>
      </p:sp>
      <p:sp>
        <p:nvSpPr>
          <p:cNvPr id="48" name="Oval 47"/>
          <p:cNvSpPr/>
          <p:nvPr/>
        </p:nvSpPr>
        <p:spPr>
          <a:xfrm>
            <a:off x="5321808" y="4828031"/>
            <a:ext cx="155448" cy="155448"/>
          </a:xfrm>
          <a:prstGeom prst="ellipse">
            <a:avLst/>
          </a:prstGeom>
          <a:solidFill>
            <a:srgbClr val="E10600"/>
          </a:solidFill>
          <a:ln>
            <a:solidFill>
              <a:srgbClr val="E10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321808" y="4837175"/>
            <a:ext cx="155448" cy="137160"/>
          </a:xfrm>
          <a:prstGeom prst="rect">
            <a:avLst/>
          </a:prstGeom>
          <a:noFill/>
        </p:spPr>
        <p:txBody>
          <a:bodyPr wrap="square" lIns="0" tIns="0" rIns="0" bIns="0" anchor="ctr">
            <a:spAutoFit/>
          </a:bodyPr>
          <a:lstStyle/>
          <a:p>
            <a:pPr algn="ctr">
              <a:lnSpc>
                <a:spcPct val="100000"/>
              </a:lnSpc>
              <a:spcAft>
                <a:spcPts val="0"/>
              </a:spcAft>
            </a:pPr>
            <a:r>
              <a:rPr sz="850" b="1" i="0">
                <a:solidFill>
                  <a:srgbClr val="FFFCF9"/>
                </a:solidFill>
                <a:latin typeface="Pilat"/>
              </a:rPr>
              <a:t>✓</a:t>
            </a:r>
          </a:p>
        </p:txBody>
      </p:sp>
      <p:sp>
        <p:nvSpPr>
          <p:cNvPr id="50" name="TextBox 49"/>
          <p:cNvSpPr txBox="1"/>
          <p:nvPr/>
        </p:nvSpPr>
        <p:spPr>
          <a:xfrm>
            <a:off x="5559552" y="4809744"/>
            <a:ext cx="2761488" cy="164592"/>
          </a:xfrm>
          <a:prstGeom prst="rect">
            <a:avLst/>
          </a:prstGeom>
          <a:noFill/>
        </p:spPr>
        <p:txBody>
          <a:bodyPr wrap="square" lIns="0" tIns="0" rIns="0" bIns="0" anchor="ctr">
            <a:spAutoFit/>
          </a:bodyPr>
          <a:lstStyle/>
          <a:p>
            <a:pPr algn="l">
              <a:lnSpc>
                <a:spcPct val="100000"/>
              </a:lnSpc>
              <a:spcAft>
                <a:spcPts val="0"/>
              </a:spcAft>
            </a:pPr>
            <a:r>
              <a:rPr sz="850" b="0" i="0">
                <a:solidFill>
                  <a:srgbClr val="000000"/>
                </a:solidFill>
                <a:latin typeface="Pilat"/>
              </a:rPr>
              <a:t>TTFT and p99 latency</a:t>
            </a:r>
          </a:p>
        </p:txBody>
      </p:sp>
      <p:sp>
        <p:nvSpPr>
          <p:cNvPr id="51" name="Oval 50"/>
          <p:cNvSpPr/>
          <p:nvPr/>
        </p:nvSpPr>
        <p:spPr>
          <a:xfrm>
            <a:off x="5321808" y="5111496"/>
            <a:ext cx="155448" cy="155448"/>
          </a:xfrm>
          <a:prstGeom prst="ellipse">
            <a:avLst/>
          </a:prstGeom>
          <a:solidFill>
            <a:srgbClr val="E10600"/>
          </a:solidFill>
          <a:ln>
            <a:solidFill>
              <a:srgbClr val="E10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321808" y="5120640"/>
            <a:ext cx="155448" cy="137160"/>
          </a:xfrm>
          <a:prstGeom prst="rect">
            <a:avLst/>
          </a:prstGeom>
          <a:noFill/>
        </p:spPr>
        <p:txBody>
          <a:bodyPr wrap="square" lIns="0" tIns="0" rIns="0" bIns="0" anchor="ctr">
            <a:spAutoFit/>
          </a:bodyPr>
          <a:lstStyle/>
          <a:p>
            <a:pPr algn="ctr">
              <a:lnSpc>
                <a:spcPct val="100000"/>
              </a:lnSpc>
              <a:spcAft>
                <a:spcPts val="0"/>
              </a:spcAft>
            </a:pPr>
            <a:r>
              <a:rPr sz="850" b="1" i="0">
                <a:solidFill>
                  <a:srgbClr val="FFFCF9"/>
                </a:solidFill>
                <a:latin typeface="Pilat"/>
              </a:rPr>
              <a:t>✓</a:t>
            </a:r>
          </a:p>
        </p:txBody>
      </p:sp>
      <p:sp>
        <p:nvSpPr>
          <p:cNvPr id="53" name="TextBox 52"/>
          <p:cNvSpPr txBox="1"/>
          <p:nvPr/>
        </p:nvSpPr>
        <p:spPr>
          <a:xfrm>
            <a:off x="5559552" y="5093208"/>
            <a:ext cx="2761488" cy="164592"/>
          </a:xfrm>
          <a:prstGeom prst="rect">
            <a:avLst/>
          </a:prstGeom>
          <a:noFill/>
        </p:spPr>
        <p:txBody>
          <a:bodyPr wrap="square" lIns="0" tIns="0" rIns="0" bIns="0" anchor="ctr">
            <a:spAutoFit/>
          </a:bodyPr>
          <a:lstStyle/>
          <a:p>
            <a:pPr algn="l">
              <a:lnSpc>
                <a:spcPct val="100000"/>
              </a:lnSpc>
              <a:spcAft>
                <a:spcPts val="0"/>
              </a:spcAft>
            </a:pPr>
            <a:r>
              <a:rPr sz="850" b="0" i="0">
                <a:solidFill>
                  <a:srgbClr val="000000"/>
                </a:solidFill>
                <a:latin typeface="Pilat"/>
              </a:rPr>
              <a:t>Watts per useful token</a:t>
            </a:r>
          </a:p>
        </p:txBody>
      </p:sp>
      <p:sp>
        <p:nvSpPr>
          <p:cNvPr id="54" name="Oval 53"/>
          <p:cNvSpPr/>
          <p:nvPr/>
        </p:nvSpPr>
        <p:spPr>
          <a:xfrm>
            <a:off x="8412480" y="4544568"/>
            <a:ext cx="155448" cy="155448"/>
          </a:xfrm>
          <a:prstGeom prst="ellipse">
            <a:avLst/>
          </a:prstGeom>
          <a:solidFill>
            <a:srgbClr val="E10600"/>
          </a:solidFill>
          <a:ln>
            <a:solidFill>
              <a:srgbClr val="E10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412480" y="4553712"/>
            <a:ext cx="155448" cy="137160"/>
          </a:xfrm>
          <a:prstGeom prst="rect">
            <a:avLst/>
          </a:prstGeom>
          <a:noFill/>
        </p:spPr>
        <p:txBody>
          <a:bodyPr wrap="square" lIns="0" tIns="0" rIns="0" bIns="0" anchor="ctr">
            <a:spAutoFit/>
          </a:bodyPr>
          <a:lstStyle/>
          <a:p>
            <a:pPr algn="ctr">
              <a:lnSpc>
                <a:spcPct val="100000"/>
              </a:lnSpc>
              <a:spcAft>
                <a:spcPts val="0"/>
              </a:spcAft>
            </a:pPr>
            <a:r>
              <a:rPr sz="850" b="1" i="0">
                <a:solidFill>
                  <a:srgbClr val="FFFCF9"/>
                </a:solidFill>
                <a:latin typeface="Pilat"/>
              </a:rPr>
              <a:t>✓</a:t>
            </a:r>
          </a:p>
        </p:txBody>
      </p:sp>
      <p:sp>
        <p:nvSpPr>
          <p:cNvPr id="56" name="TextBox 55"/>
          <p:cNvSpPr txBox="1"/>
          <p:nvPr/>
        </p:nvSpPr>
        <p:spPr>
          <a:xfrm>
            <a:off x="8650224" y="4526280"/>
            <a:ext cx="2761488" cy="164592"/>
          </a:xfrm>
          <a:prstGeom prst="rect">
            <a:avLst/>
          </a:prstGeom>
          <a:noFill/>
        </p:spPr>
        <p:txBody>
          <a:bodyPr wrap="square" lIns="0" tIns="0" rIns="0" bIns="0" anchor="ctr">
            <a:spAutoFit/>
          </a:bodyPr>
          <a:lstStyle/>
          <a:p>
            <a:pPr algn="l">
              <a:lnSpc>
                <a:spcPct val="100000"/>
              </a:lnSpc>
              <a:spcAft>
                <a:spcPts val="0"/>
              </a:spcAft>
            </a:pPr>
            <a:r>
              <a:rPr sz="850" b="0" i="0">
                <a:solidFill>
                  <a:srgbClr val="000000"/>
                </a:solidFill>
                <a:latin typeface="Pilat"/>
              </a:rPr>
              <a:t>Network / memory utilization</a:t>
            </a:r>
          </a:p>
        </p:txBody>
      </p:sp>
      <p:sp>
        <p:nvSpPr>
          <p:cNvPr id="57" name="Oval 56"/>
          <p:cNvSpPr/>
          <p:nvPr/>
        </p:nvSpPr>
        <p:spPr>
          <a:xfrm>
            <a:off x="8412480" y="4828031"/>
            <a:ext cx="155448" cy="155448"/>
          </a:xfrm>
          <a:prstGeom prst="ellipse">
            <a:avLst/>
          </a:prstGeom>
          <a:solidFill>
            <a:srgbClr val="E10600"/>
          </a:solidFill>
          <a:ln>
            <a:solidFill>
              <a:srgbClr val="E10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8412480" y="4837175"/>
            <a:ext cx="155448" cy="137160"/>
          </a:xfrm>
          <a:prstGeom prst="rect">
            <a:avLst/>
          </a:prstGeom>
          <a:noFill/>
        </p:spPr>
        <p:txBody>
          <a:bodyPr wrap="square" lIns="0" tIns="0" rIns="0" bIns="0" anchor="ctr">
            <a:spAutoFit/>
          </a:bodyPr>
          <a:lstStyle/>
          <a:p>
            <a:pPr algn="ctr">
              <a:lnSpc>
                <a:spcPct val="100000"/>
              </a:lnSpc>
              <a:spcAft>
                <a:spcPts val="0"/>
              </a:spcAft>
            </a:pPr>
            <a:r>
              <a:rPr sz="850" b="1" i="0">
                <a:solidFill>
                  <a:srgbClr val="FFFCF9"/>
                </a:solidFill>
                <a:latin typeface="Pilat"/>
              </a:rPr>
              <a:t>✓</a:t>
            </a:r>
          </a:p>
        </p:txBody>
      </p:sp>
      <p:sp>
        <p:nvSpPr>
          <p:cNvPr id="59" name="TextBox 58"/>
          <p:cNvSpPr txBox="1"/>
          <p:nvPr/>
        </p:nvSpPr>
        <p:spPr>
          <a:xfrm>
            <a:off x="8650224" y="4809744"/>
            <a:ext cx="2761488" cy="164592"/>
          </a:xfrm>
          <a:prstGeom prst="rect">
            <a:avLst/>
          </a:prstGeom>
          <a:noFill/>
        </p:spPr>
        <p:txBody>
          <a:bodyPr wrap="square" lIns="0" tIns="0" rIns="0" bIns="0" anchor="ctr">
            <a:spAutoFit/>
          </a:bodyPr>
          <a:lstStyle/>
          <a:p>
            <a:pPr algn="l">
              <a:lnSpc>
                <a:spcPct val="100000"/>
              </a:lnSpc>
              <a:spcAft>
                <a:spcPts val="0"/>
              </a:spcAft>
            </a:pPr>
            <a:r>
              <a:rPr sz="850" b="0" i="0">
                <a:solidFill>
                  <a:srgbClr val="000000"/>
                </a:solidFill>
                <a:latin typeface="Pilat"/>
              </a:rPr>
              <a:t>Deployment and operational effort</a:t>
            </a:r>
          </a:p>
        </p:txBody>
      </p:sp>
      <p:sp>
        <p:nvSpPr>
          <p:cNvPr id="60" name="Rounded Rectangle 59"/>
          <p:cNvSpPr/>
          <p:nvPr/>
        </p:nvSpPr>
        <p:spPr>
          <a:xfrm>
            <a:off x="566928" y="5285232"/>
            <a:ext cx="4059936" cy="475488"/>
          </a:xfrm>
          <a:prstGeom prst="roundRect">
            <a:avLst/>
          </a:prstGeom>
          <a:solidFill>
            <a:srgbClr val="000000"/>
          </a:solidFill>
          <a:ln w="1016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04672" y="5422392"/>
            <a:ext cx="3584448" cy="173736"/>
          </a:xfrm>
          <a:prstGeom prst="rect">
            <a:avLst/>
          </a:prstGeom>
          <a:noFill/>
        </p:spPr>
        <p:txBody>
          <a:bodyPr wrap="square" lIns="0" tIns="0" rIns="0" bIns="0" anchor="ctr">
            <a:spAutoFit/>
          </a:bodyPr>
          <a:lstStyle/>
          <a:p>
            <a:pPr algn="ctr">
              <a:lnSpc>
                <a:spcPct val="100000"/>
              </a:lnSpc>
              <a:spcAft>
                <a:spcPts val="0"/>
              </a:spcAft>
            </a:pPr>
            <a:r>
              <a:rPr sz="900" b="1" i="0">
                <a:solidFill>
                  <a:srgbClr val="FFFCF9"/>
                </a:solidFill>
                <a:latin typeface="Pilat"/>
              </a:rPr>
              <a:t>Output: go / no-go decision + deployment blueprint</a:t>
            </a:r>
          </a:p>
        </p:txBody>
      </p:sp>
      <p:sp>
        <p:nvSpPr>
          <p:cNvPr id="62" name="TextBox 61"/>
          <p:cNvSpPr txBox="1"/>
          <p:nvPr/>
        </p:nvSpPr>
        <p:spPr>
          <a:xfrm>
            <a:off x="292608" y="6492240"/>
            <a:ext cx="914400" cy="137160"/>
          </a:xfrm>
          <a:prstGeom prst="rect">
            <a:avLst/>
          </a:prstGeom>
          <a:noFill/>
        </p:spPr>
        <p:txBody>
          <a:bodyPr wrap="square" lIns="0" tIns="0" rIns="0" bIns="0" anchor="ctr">
            <a:spAutoFit/>
          </a:bodyPr>
          <a:lstStyle/>
          <a:p>
            <a:pPr algn="l">
              <a:lnSpc>
                <a:spcPct val="100000"/>
              </a:lnSpc>
              <a:spcAft>
                <a:spcPts val="0"/>
              </a:spcAft>
            </a:pPr>
            <a:r>
              <a:rPr sz="690" b="0" i="0">
                <a:solidFill>
                  <a:srgbClr val="000000"/>
                </a:solidFill>
                <a:latin typeface="Pilat"/>
              </a:rPr>
              <a:t>[Confidential]</a:t>
            </a:r>
          </a:p>
        </p:txBody>
      </p:sp>
      <p:sp>
        <p:nvSpPr>
          <p:cNvPr id="63" name="TextBox 62"/>
          <p:cNvSpPr txBox="1"/>
          <p:nvPr/>
        </p:nvSpPr>
        <p:spPr>
          <a:xfrm>
            <a:off x="2578608" y="6492240"/>
            <a:ext cx="3246120" cy="137160"/>
          </a:xfrm>
          <a:prstGeom prst="rect">
            <a:avLst/>
          </a:prstGeom>
          <a:noFill/>
        </p:spPr>
        <p:txBody>
          <a:bodyPr wrap="square" lIns="0" tIns="0" rIns="0" bIns="0" anchor="ctr">
            <a:spAutoFit/>
          </a:bodyPr>
          <a:lstStyle/>
          <a:p>
            <a:pPr algn="ctr">
              <a:lnSpc>
                <a:spcPct val="100000"/>
              </a:lnSpc>
              <a:spcAft>
                <a:spcPts val="0"/>
              </a:spcAft>
            </a:pPr>
            <a:r>
              <a:rPr sz="620" b="0" i="0">
                <a:solidFill>
                  <a:srgbClr val="686868"/>
                </a:solidFill>
                <a:latin typeface="Pilat"/>
              </a:rPr>
              <a:t>©2026 SANDISK CORPORATION OR ITS AFFILIATES</a:t>
            </a:r>
          </a:p>
        </p:txBody>
      </p:sp>
      <p:sp>
        <p:nvSpPr>
          <p:cNvPr id="64" name="TextBox 63"/>
          <p:cNvSpPr txBox="1"/>
          <p:nvPr/>
        </p:nvSpPr>
        <p:spPr>
          <a:xfrm>
            <a:off x="5779008" y="6492240"/>
            <a:ext cx="4956048" cy="137160"/>
          </a:xfrm>
          <a:prstGeom prst="rect">
            <a:avLst/>
          </a:prstGeom>
          <a:noFill/>
        </p:spPr>
        <p:txBody>
          <a:bodyPr wrap="square" lIns="0" tIns="0" rIns="0" bIns="0" anchor="ctr">
            <a:spAutoFit/>
          </a:bodyPr>
          <a:lstStyle/>
          <a:p>
            <a:pPr algn="r">
              <a:lnSpc>
                <a:spcPct val="100000"/>
              </a:lnSpc>
              <a:spcAft>
                <a:spcPts val="0"/>
              </a:spcAft>
            </a:pPr>
            <a:r>
              <a:rPr sz="640" b="0" i="0">
                <a:solidFill>
                  <a:srgbClr val="686868"/>
                </a:solidFill>
                <a:latin typeface="Pilat"/>
              </a:rPr>
              <a:t>Illustrative — validate against customer workload and approved product configuration.</a:t>
            </a:r>
          </a:p>
        </p:txBody>
      </p:sp>
      <p:sp>
        <p:nvSpPr>
          <p:cNvPr id="65" name="TextBox 64"/>
          <p:cNvSpPr txBox="1"/>
          <p:nvPr/>
        </p:nvSpPr>
        <p:spPr>
          <a:xfrm>
            <a:off x="11018520" y="6492240"/>
            <a:ext cx="347472" cy="137160"/>
          </a:xfrm>
          <a:prstGeom prst="rect">
            <a:avLst/>
          </a:prstGeom>
          <a:noFill/>
        </p:spPr>
        <p:txBody>
          <a:bodyPr wrap="square" lIns="0" tIns="0" rIns="0" bIns="0" anchor="ctr">
            <a:spAutoFit/>
          </a:bodyPr>
          <a:lstStyle/>
          <a:p>
            <a:pPr algn="r">
              <a:lnSpc>
                <a:spcPct val="100000"/>
              </a:lnSpc>
              <a:spcAft>
                <a:spcPts val="0"/>
              </a:spcAft>
            </a:pPr>
            <a:r>
              <a:rPr sz="700" b="1" i="0">
                <a:solidFill>
                  <a:srgbClr val="686868"/>
                </a:solidFill>
                <a:latin typeface="Pilat"/>
              </a:rPr>
              <a:t>09</a:t>
            </a:r>
          </a:p>
        </p:txBody>
      </p:sp>
      <p:sp>
        <p:nvSpPr>
          <p:cNvPr id="66" name="Shape 3">
            <a:extLst>
              <a:ext uri="{FF2B5EF4-FFF2-40B4-BE49-F238E27FC236}">
                <a16:creationId xmlns:a16="http://schemas.microsoft.com/office/drawing/2014/main" id="{2FB6EC68-A886-F79B-600A-D109A14AE46E}"/>
              </a:ext>
            </a:extLst>
          </p:cNvPr>
          <p:cNvSpPr/>
          <p:nvPr/>
        </p:nvSpPr>
        <p:spPr>
          <a:xfrm>
            <a:off x="0" y="0"/>
            <a:ext cx="146304" cy="6858000"/>
          </a:xfrm>
          <a:prstGeom prst="rect">
            <a:avLst/>
          </a:prstGeom>
          <a:solidFill>
            <a:schemeClr val="accent2"/>
          </a:solidFill>
          <a:ln w="6350">
            <a:solidFill>
              <a:srgbClr val="00A3A3"/>
            </a:solidFill>
          </a:ln>
        </p:spPr>
        <p:txBody>
          <a:bodyPr/>
          <a:lstStyle/>
          <a:p>
            <a:endParaRPr lang="en-US"/>
          </a:p>
        </p:txBody>
      </p:sp>
    </p:spTree>
  </p:cSld>
  <p:clrMapOvr>
    <a:masterClrMapping/>
  </p:clrMapOvr>
</p:sld>
</file>

<file path=ppt/theme/theme1.xml><?xml version="1.0" encoding="utf-8"?>
<a:theme xmlns:a="http://schemas.openxmlformats.org/drawingml/2006/main" name="Sandisk Corporate PPT v2">
  <a:themeElements>
    <a:clrScheme name="Sandisk Corporate Colors 021625">
      <a:dk1>
        <a:srgbClr val="000000"/>
      </a:dk1>
      <a:lt1>
        <a:srgbClr val="FFFCF9"/>
      </a:lt1>
      <a:dk2>
        <a:srgbClr val="000000"/>
      </a:dk2>
      <a:lt2>
        <a:srgbClr val="FFFCF9"/>
      </a:lt2>
      <a:accent1>
        <a:srgbClr val="BCBCBC"/>
      </a:accent1>
      <a:accent2>
        <a:srgbClr val="772C22"/>
      </a:accent2>
      <a:accent3>
        <a:srgbClr val="E10600"/>
      </a:accent3>
      <a:accent4>
        <a:srgbClr val="BCBCBC"/>
      </a:accent4>
      <a:accent5>
        <a:srgbClr val="772C22"/>
      </a:accent5>
      <a:accent6>
        <a:srgbClr val="E10600"/>
      </a:accent6>
      <a:hlink>
        <a:srgbClr val="E10600"/>
      </a:hlink>
      <a:folHlink>
        <a:srgbClr val="772C22"/>
      </a:folHlink>
    </a:clrScheme>
    <a:fontScheme name="Sandisk Fonts 1.1">
      <a:majorFont>
        <a:latin typeface="Pilat Book"/>
        <a:ea typeface=""/>
        <a:cs typeface=""/>
      </a:majorFont>
      <a:minorFont>
        <a:latin typeface="Pil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Sandisk Corporate PPT v2" id="{9E6F1A95-E288-4F19-A5B4-EE8E5C4D3665}" vid="{95DF07C8-DE36-4DBE-BC1D-3503C1BB34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4E001C8A6F88F4E95B810C2A4B7DA72" ma:contentTypeVersion="7" ma:contentTypeDescription="Create a new document." ma:contentTypeScope="" ma:versionID="3d8e1cb046558a204400bf0a4132e7aa">
  <xsd:schema xmlns:xsd="http://www.w3.org/2001/XMLSchema" xmlns:xs="http://www.w3.org/2001/XMLSchema" xmlns:p="http://schemas.microsoft.com/office/2006/metadata/properties" xmlns:ns2="fe6b4478-c776-4017-87bf-2f50b4489ba1" targetNamespace="http://schemas.microsoft.com/office/2006/metadata/properties" ma:root="true" ma:fieldsID="3feec101fe7cd4fca57bab9fe2e1be0a" ns2:_="">
    <xsd:import namespace="fe6b4478-c776-4017-87bf-2f50b4489ba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6b4478-c776-4017-87bf-2f50b4489ba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7DFC830-3D8B-49D2-BB3E-52F740905362}">
  <ds:schemaRefs>
    <ds:schemaRef ds:uri="http://schemas.microsoft.com/sharepoint/v3/contenttype/forms"/>
  </ds:schemaRefs>
</ds:datastoreItem>
</file>

<file path=customXml/itemProps2.xml><?xml version="1.0" encoding="utf-8"?>
<ds:datastoreItem xmlns:ds="http://schemas.openxmlformats.org/officeDocument/2006/customXml" ds:itemID="{D625C36A-6343-4C2B-9013-6FA76B56048C}">
  <ds:schemaRefs>
    <ds:schemaRef ds:uri="http://schemas.openxmlformats.org/package/2006/metadata/core-properties"/>
    <ds:schemaRef ds:uri="http://purl.org/dc/dcmitype/"/>
    <ds:schemaRef ds:uri="fe6b4478-c776-4017-87bf-2f50b4489ba1"/>
    <ds:schemaRef ds:uri="http://purl.org/dc/terms/"/>
    <ds:schemaRef ds:uri="http://purl.org/dc/elements/1.1/"/>
    <ds:schemaRef ds:uri="http://www.w3.org/XML/1998/namespace"/>
    <ds:schemaRef ds:uri="http://schemas.microsoft.com/office/2006/documentManagement/types"/>
    <ds:schemaRef ds:uri="http://schemas.microsoft.com/office/infopath/2007/PartnerControls"/>
    <ds:schemaRef ds:uri="http://schemas.microsoft.com/office/2006/metadata/properties"/>
  </ds:schemaRefs>
</ds:datastoreItem>
</file>

<file path=customXml/itemProps3.xml><?xml version="1.0" encoding="utf-8"?>
<ds:datastoreItem xmlns:ds="http://schemas.openxmlformats.org/officeDocument/2006/customXml" ds:itemID="{DADAC103-8232-4870-A0CC-B534A2A7296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e6b4478-c776-4017-87bf-2f50b4489ba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Default Theme</Template>
  <TotalTime>174006</TotalTime>
  <Words>3212</Words>
  <Application>Microsoft Macintosh PowerPoint</Application>
  <PresentationFormat>Widescreen</PresentationFormat>
  <Paragraphs>459</Paragraphs>
  <Slides>15</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Aptos</vt:lpstr>
      <vt:lpstr>Aptos Display</vt:lpstr>
      <vt:lpstr>Arial</vt:lpstr>
      <vt:lpstr>NB Architekt Pro Neue</vt:lpstr>
      <vt:lpstr>Pilat</vt:lpstr>
      <vt:lpstr>Pilat Book</vt:lpstr>
      <vt:lpstr>Pilat Regular</vt:lpstr>
      <vt:lpstr>Sandisk Corporate PPT v2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Petti</dc:creator>
  <cp:lastModifiedBy>SHAILESH PILARE</cp:lastModifiedBy>
  <cp:revision>97</cp:revision>
  <dcterms:created xsi:type="dcterms:W3CDTF">2025-03-11T15:48:39Z</dcterms:created>
  <dcterms:modified xsi:type="dcterms:W3CDTF">2026-09-14T03:50:08Z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0x01010014E001C8A6F88F4E95B810C2A4B7DA72</vt:lpwstr>
  </property>
</Properties>
</file>