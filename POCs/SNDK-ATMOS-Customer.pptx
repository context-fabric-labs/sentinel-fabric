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912" r:id="rId4"/>
  </p:sldMasterIdLst>
  <p:notesMasterIdLst>
    <p:notesMasterId r:id="rId21"/>
  </p:notesMasterIdLst>
  <p:sldIdLst>
    <p:sldId id="2147483632" r:id="rId5"/>
    <p:sldId id="257" r:id="rId6"/>
    <p:sldId id="258" r:id="rId7"/>
    <p:sldId id="262" r:id="rId8"/>
    <p:sldId id="2147483637" r:id="rId9"/>
    <p:sldId id="256" r:id="rId10"/>
    <p:sldId id="2147483638" r:id="rId11"/>
    <p:sldId id="2147483634" r:id="rId12"/>
    <p:sldId id="267" r:id="rId13"/>
    <p:sldId id="2147483635" r:id="rId14"/>
    <p:sldId id="269" r:id="rId15"/>
    <p:sldId id="271" r:id="rId16"/>
    <p:sldId id="273" r:id="rId17"/>
    <p:sldId id="2147483631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1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8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3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9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34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90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46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F800"/>
    <a:srgbClr val="C2F88A"/>
    <a:srgbClr val="A1F87C"/>
    <a:srgbClr val="A2E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/>
    <p:restoredTop sz="91591"/>
  </p:normalViewPr>
  <p:slideViewPr>
    <p:cSldViewPr snapToGrid="0">
      <p:cViewPr varScale="1">
        <p:scale>
          <a:sx n="141" d="100"/>
          <a:sy n="141" d="100"/>
        </p:scale>
        <p:origin x="1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32D31-3FC5-9648-95B8-BD2187FB6E3A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16D2-43BF-1348-88B2-93FE7C030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7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16D2-43BF-1348-88B2-93FE7C0303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83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Compare a complete serving group—not just card capacity
EVIDENCE: CAPACITY-LED PLACEMENT EXAMPLE
TALK TRACK
ATMOS may reduce capacity-driven inter-card sharding for a large model. But a complete card still coordinates eight modules. The fair result is the accepted throughput and operating cost of a complete serving group, not a simple ratio of HBF and GDDR capacities.
DETAILS AND LIMITS
D5 assumes a 250 GB compiled pack for a 235B-class FP8 model, not a verified checkpoint size: about 235 GB raw plus a provisional layout allowance. Four RTX cards provide 384 GB; reserving 38.4 GB leaves 95.6 GB KV after weights. ATMOS stores the pack within a 900 GB HBF budget and separately budgets 96 GB KV in 128 GB LPDDR. Logical KV fits roughly 15 full 32K sequences in either example before extra duplication. Valid per-rank placement, shared parameters and operator support must be checked. A compact dual-GPU server makes RTX TP4 cross two nodes, but a 4U/8-GPU OEM system can keep it within one host; include that alternative rather than forcing a poor control.
CALCULATION FILES
D5_moe_memory
SOURCES — reviewed September 13, 2026
I3: IMA Card, user-supplied September 12 screenshot, marked 00.014
User-supplied internal material
Eight NPU/HBF/LPDDR modules; 128 GB and 200 GB/s HBF/module, 8–16 GB and 50 GB/s LPDDR/module; Gen6 x4 module and Gen5 x16 card connections. Revision-dependent.
R1: NVIDIA RTX PRO 6000 Blackwell Server Edition
https://www.nvidia.com/en-us/data-center/rtx-pro-6000-blackwell-server-edition/
96 GB GDDR7; 1,597 GB/s; PCIe; public specifications, not workload measurements.
R9: Qwen3-235B-A22B config
https://huggingface.co/Qwen/Qwen3-235B-A22B/raw/main/config.json
94 layers, 4 KV heads, head dimension 128; 128 experts and top-8; all proposed baseline contexts &lt;=32K including output.
R11: vLLM expert-parallel deployment
https://docs.vllm.ai/en/latest/serving/expert_parallel_deployment/
Expert execution and attention/expert group distinctions; current API support does not imply ATMOS support.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architecture and serving-granularity concepts: SNDK-ATMOS-Customer.pptx, slides 3, 4, 5 and 6.
- Internal platform/runtime qualification notes: ATMOS_HBF_OEM_Platform_and_LLM_Evaluation_Plan_Draft.docx.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RTX MIG and ATMOS proposed module-granularity comparison: SNDK-ATMOS-Customer.pptx, slide 6.
- ATMOS card concept and capacity-led placement: SNDK-ATMOS-Customer.pptx, slides 3 to 5.
- Multi-model scheduling, Kubernetes and runtime requirements: ATMOS_HBF_OEM_Platform_and_LLM_Evaluation_Plan_Draft.docx.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One NPU for a small model; a group for larger work
EVIDENCE: RUNTIME DESIGN GOAL
TALK TRACK
The smallest proposed scheduling quantum is one NPU/module. A complete card need not be dedicated to one small dense model. Larger workloads can use groups. This is a software and isolation requirement to realize, not a feature certified by the block diagram.
DETAILS AND LIMITS
No SR-IOV, independent reset, memory protection, virtual machine passthrough or bandwidth isolation support is established for ATMOS. Model shape and working-memory requirements may force a larger group even when its weights fit one module. NVIDIA already supports four 24 GB MIG profiles on the selected RTX GPU; the comparison includes MIG and effective software multiplexing. More modules does not mean more equivalent GPU partitions or more throughput.
SOURCES — reviewed September 13, 2026
I3: IMA Card, user-supplied September 12 screenshot, marked 00.014
User-supplied internal material
Eight NPU/HBF/LPDDR modules; 128 GB and 200 GB/s HBF/module, 8–16 GB and 50 GB/s LPDDR/module; Gen6 x4 module and Gen5 x16 card connections. Revision-dependent.
I4: ATMOS_HBF_OEM_Platform_and_LLM_Evaluation_Plan_v3.md
User-supplied internal material
Topology, realistic OEM qualification, runtime and LLM/RAG separation.
R2: NVIDIA supported MIG profiles
https://docs.nvidia.com/datacenter/tesla/mig-user-guide/supported-mig-profiles.html
RTX PRO 6000 supports four 1g.24gb instances. Module scheduling is not a unique subdivision capability.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t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24" name="name_2024 sandisk or its affiliates All rights reserved">
            <a:extLst>
              <a:ext uri="{FF2B5EF4-FFF2-40B4-BE49-F238E27FC236}">
                <a16:creationId xmlns:a16="http://schemas.microsoft.com/office/drawing/2014/main" id="{6D8CD1FC-8805-8BD2-8CBE-E0CCBB790C5D}"/>
              </a:ext>
            </a:extLst>
          </p:cNvPr>
          <p:cNvSpPr txBox="1"/>
          <p:nvPr/>
        </p:nvSpPr>
        <p:spPr>
          <a:xfrm>
            <a:off x="301625" y="5014684"/>
            <a:ext cx="14478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NB Architekt Pro Neue" panose="02010509020201040001" pitchFamily="49" charset="77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AB061F-37F4-3371-0386-6DABF3BFE021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D9A9638-C2A3-1839-212D-304885625A61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6F0241C-1948-BF84-639D-E8E39C808944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C98641-645D-0B20-1931-FC95777E3E93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7F7519B4-FB0E-2AFE-142C-41050C29252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7367585-FA62-94BC-4019-11C3659C187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50F0E30-BE00-3568-B0D7-D5A043FB78B6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70A4361-187F-7DE6-E662-E7A34275BEC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031D13C-0C00-9E14-38EA-150422BE6075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065ACE3-71DE-DB87-D5B2-0BCD87760D85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E272DE8-1E8C-8684-18A3-E47AAF21B373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DD0071-FF36-FB3D-BCFC-5CDF9D4BB8E4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FC72BE89-CE24-18EC-0AB5-646830BB6488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53D48ED-44B9-8C7C-1618-E4932A3F335F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26EF8-C741-90B4-C2E4-5A46E47F861D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8086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t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24" name="name_2024 sandisk or its affiliates All rights reserved">
            <a:extLst>
              <a:ext uri="{FF2B5EF4-FFF2-40B4-BE49-F238E27FC236}">
                <a16:creationId xmlns:a16="http://schemas.microsoft.com/office/drawing/2014/main" id="{6D8CD1FC-8805-8BD2-8CBE-E0CCBB790C5D}"/>
              </a:ext>
            </a:extLst>
          </p:cNvPr>
          <p:cNvSpPr txBox="1"/>
          <p:nvPr/>
        </p:nvSpPr>
        <p:spPr>
          <a:xfrm>
            <a:off x="301625" y="5014684"/>
            <a:ext cx="14478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NB Architekt Pro Neue" panose="02010509020201040001" pitchFamily="49" charset="77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DDF994-F924-91C6-3F1E-E4E0875CC5B8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tx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1B6FE7-EBB1-DA7B-4A82-3C2956220F14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41CE9A53-042C-0D1D-67F0-DD8E216DD81D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DF8A31ED-BC93-1D0D-4E03-72AF5B573E1D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375847E-E13A-CCDC-24A1-BFF9174C4F3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88CEF2C-3CC1-2E7F-DF95-9E63557D806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112F2B03-8480-D609-B224-E4D743EA85A4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1440623-6D14-1615-2242-429016447FA1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C96DCED-A37A-1276-26F5-FF8B921F0AF3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F0C4913-8674-D2B2-B4D7-7161F1C94F2D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1312A80-0BC7-73AF-E143-3E944484C39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0D9A886-CF59-A2E1-05A5-E0E9877EA409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08351AA-A979-FE59-50CE-E22648F2BF92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FF2904ED-4E3A-9654-D9F8-4E456364CFE5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08BD0C9-7438-A09B-54B4-64095178E468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3262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6C6FE-813E-0703-F35F-82EA88599430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5659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60" name="name_2024 sandisk or its affiliates All rights reserved">
            <a:extLst>
              <a:ext uri="{FF2B5EF4-FFF2-40B4-BE49-F238E27FC236}">
                <a16:creationId xmlns:a16="http://schemas.microsoft.com/office/drawing/2014/main" id="{8D1C0E07-2F4E-EA81-8A81-D9EB71265DB8}"/>
              </a:ext>
            </a:extLst>
          </p:cNvPr>
          <p:cNvSpPr txBox="1"/>
          <p:nvPr/>
        </p:nvSpPr>
        <p:spPr>
          <a:xfrm>
            <a:off x="292100" y="3207243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068CE0-26CF-02FD-7ADE-CE8EE6F27D0E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64B26F-BE41-ACE2-CA93-AAF45AD7C8A8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69C89F2-06E1-5AAF-3773-78E6E0D321ED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7D40853-56E5-F107-0819-EB5328356B1A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800836D-3118-CA60-E5B9-EE45B08AAA44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758703C-0681-AFE6-0AC2-669C53AFC187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BFA7605-CC98-D2F3-7109-BE1FF08EF86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8D9CFF1-FEBC-3C0B-7462-B62B483AE22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294F85E-C762-5200-8253-138354CA222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061EB08-6C5B-A9C7-B0AF-3729FB4DCE04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3F0016F-0CB3-7080-3BC4-4C1F78F36CBB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9664395-59B4-F182-99D7-707F30DA657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74C3101-8FD3-E028-3D78-74D6B16FCDBF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0" name="name_2024 sandisk or its affiliates All rights reserved">
            <a:extLst>
              <a:ext uri="{FF2B5EF4-FFF2-40B4-BE49-F238E27FC236}">
                <a16:creationId xmlns:a16="http://schemas.microsoft.com/office/drawing/2014/main" id="{EB03C76D-E757-381A-B49E-0D13A9F30663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79801926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60" name="name_2024 sandisk or its affiliates All rights reserved">
            <a:extLst>
              <a:ext uri="{FF2B5EF4-FFF2-40B4-BE49-F238E27FC236}">
                <a16:creationId xmlns:a16="http://schemas.microsoft.com/office/drawing/2014/main" id="{8D1C0E07-2F4E-EA81-8A81-D9EB71265DB8}"/>
              </a:ext>
            </a:extLst>
          </p:cNvPr>
          <p:cNvSpPr txBox="1"/>
          <p:nvPr/>
        </p:nvSpPr>
        <p:spPr>
          <a:xfrm>
            <a:off x="292100" y="3207243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A95309-574A-2C41-2F2D-805220801FF6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339ACF-C1D7-28B4-AB2C-71D8975E22B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DCFEF2E-507D-D3DC-160D-3A0004BDD97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E958F26-D8CA-C561-3E02-72F9F366178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936B439-5B9F-172C-B0E8-CD8D5975186F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2479D3-25E0-5AEE-CCAD-0FE77C96951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84C24E5-9D24-77E4-470C-A8CFC1013706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284EDC3-E6EC-3368-9C47-9E30223C821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B111A04-15A3-B682-ADFE-0C53B36118C6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97E07BE-77E9-2244-8A13-8522EF1181B4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687D2AD-D031-8A4E-8C0D-3636C9361A41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F47B21F-1FD0-7FB1-D233-9530D4DD84B1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77A5AB2-2E52-B877-44E0-838E8B17B5B1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29" name="name_2024 sandisk or its affiliates All rights reserved">
            <a:extLst>
              <a:ext uri="{FF2B5EF4-FFF2-40B4-BE49-F238E27FC236}">
                <a16:creationId xmlns:a16="http://schemas.microsoft.com/office/drawing/2014/main" id="{01F63028-2AAA-E3B3-F9D5-53E45AC79227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1248022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60" name="name_2024 sandisk or its affiliates All rights reserved">
            <a:extLst>
              <a:ext uri="{FF2B5EF4-FFF2-40B4-BE49-F238E27FC236}">
                <a16:creationId xmlns:a16="http://schemas.microsoft.com/office/drawing/2014/main" id="{8D1C0E07-2F4E-EA81-8A81-D9EB71265DB8}"/>
              </a:ext>
            </a:extLst>
          </p:cNvPr>
          <p:cNvSpPr txBox="1"/>
          <p:nvPr/>
        </p:nvSpPr>
        <p:spPr>
          <a:xfrm>
            <a:off x="292100" y="3207243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A95309-574A-2C41-2F2D-805220801FF6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A2ECAB-A990-05E8-7F90-AD5E628FE43F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D458CD1-1083-C311-61DC-B73B5981CCBE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5CA5DB-3336-4F40-8ACB-4C84732848B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A404315-CE56-3B06-7393-E82FC9BDACF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05A253D-D6E9-ADF9-C515-492F2434252F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844107C-6004-B1CD-1490-B62B260EAD47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AECDA4C-9789-07FE-1F48-5AF47F22AA2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CFC7229-36AE-4655-EEFF-89D440E38679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C0B2E28-AA20-5B6C-AE72-2D6BB558CFEB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F233A51-48A4-B89C-5C6F-DFDF556F5803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74F9271-3631-6865-D2F7-E351D3F925F7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33B5A73-7298-BCB6-4FC2-B66FC2889B5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29" name="name_2024 sandisk or its affiliates All rights reserved">
            <a:extLst>
              <a:ext uri="{FF2B5EF4-FFF2-40B4-BE49-F238E27FC236}">
                <a16:creationId xmlns:a16="http://schemas.microsoft.com/office/drawing/2014/main" id="{C55FD18D-6EF3-EFC4-7808-616EB60CDA44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2330295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name_2024 sandisk or its affiliates All rights reserved">
            <a:extLst>
              <a:ext uri="{FF2B5EF4-FFF2-40B4-BE49-F238E27FC236}">
                <a16:creationId xmlns:a16="http://schemas.microsoft.com/office/drawing/2014/main" id="{F1C30B8C-09B7-CB1F-882E-B241F15B0D76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EC5504-A4FE-358D-16CC-2AB47CBBF1A3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C3FB967-F059-B832-9329-449B18F9D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76A3CD95-5E94-5493-1AC6-2262A0D82CF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F581B636-B459-2929-A363-54D06D37B58B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F44B77-C5A1-C494-9BFB-EB17CDA4CCC2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CC996D1-71B7-72A7-6032-4AA0A32FC33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4C1E13-DBE3-A4BC-F252-4465BF7F2AED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EAC372B-7725-9E31-9B0D-6433A96793DC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3FF67A0-AE2F-990E-27F7-E9C81F2B3C0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F628014-89E0-F9A4-662F-C8354423B06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2C86CD2-4F4D-C6A9-7142-E1C777C90A35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E0AD7FA-45FE-1405-0EB6-406C8414558B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CB2B4A3-8B6C-7475-644B-7A5E557BF3F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C099F52-DF08-E095-4332-B4644235F9D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17E2A5E-8FD6-2E82-E9A2-9A001192DD48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4323E2E-A29C-F82F-F092-D2FFEAEB4C4E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F7A36997-65DD-9532-1913-1D7219A56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442939"/>
            <a:ext cx="11607801" cy="964579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A7A04BEA-0593-482E-F83E-0FEAA84F8B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780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/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name_2024 sandisk or its affiliates All rights reserved">
            <a:extLst>
              <a:ext uri="{FF2B5EF4-FFF2-40B4-BE49-F238E27FC236}">
                <a16:creationId xmlns:a16="http://schemas.microsoft.com/office/drawing/2014/main" id="{1E7D2844-81DB-3E5D-8F3C-06C6583FE6EA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6480403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C3FB967-F059-B832-9329-449B18F9D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2106" y="6455472"/>
            <a:ext cx="857165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F581B636-B459-2929-A363-54D06D37B58B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DB8322-B918-681E-793A-AFE314021B4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E7A9D8A-AA87-3F82-C668-CC6CDC26607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677187A-6C75-2A23-8318-05DE9913EE2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E00691B-025E-E1DC-3E99-C7EAD36953D7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1F84499-EFC6-C957-CB2C-D8CFEF93ABD3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A6A83C5-405D-825A-1897-EFD4E5882913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FDF2FC7-F404-8F1B-AFDF-28D31437447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4BA22C-356C-E626-557E-8CBC050A792E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6B502A8-6E11-321A-0F10-40F980E9C9BE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103140-5C44-612B-7CD8-63C114C33515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403B555-C522-5078-27B1-10160B3345C7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3022858-FA76-60FE-6FBE-30E403926B74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3A72C64C-E798-2E76-8937-2877A8053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8" y="442939"/>
            <a:ext cx="11607291" cy="96012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29C00BF-5540-0DB7-CDD1-F2D046742D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780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name_2024 sandisk or its affiliates All rights reserved">
            <a:extLst>
              <a:ext uri="{FF2B5EF4-FFF2-40B4-BE49-F238E27FC236}">
                <a16:creationId xmlns:a16="http://schemas.microsoft.com/office/drawing/2014/main" id="{0C30DF5A-D960-5BD0-14CE-BCA47A83BA6B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7" name="name_2024 sandisk or its affiliates All rights reserved">
            <a:extLst>
              <a:ext uri="{FF2B5EF4-FFF2-40B4-BE49-F238E27FC236}">
                <a16:creationId xmlns:a16="http://schemas.microsoft.com/office/drawing/2014/main" id="{C94F3B7A-5EF9-24F0-EAE4-DDD05E4E3D0E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ysClr val="windowText" lastClr="000000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1936D5-702E-682A-9AEA-0B0940E9A4F3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Content Placeholder 8">
            <a:extLst>
              <a:ext uri="{FF2B5EF4-FFF2-40B4-BE49-F238E27FC236}">
                <a16:creationId xmlns:a16="http://schemas.microsoft.com/office/drawing/2014/main" id="{05675490-9492-7CD1-95DD-1A7C2174542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12742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C3FB967-F059-B832-9329-449B18F9D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F581B636-B459-2929-A363-54D06D37B58B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F0FF31-B07D-ED98-3D60-0E8842F49DED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F799128-7B9C-8255-5D51-5DD9CC646DCA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F791B30-3B60-6B1D-EE7B-B10138035EF2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19E6ACB-6570-1A4C-D6D0-D4880E84942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2F0DBE7-1AA3-1D77-818E-655707A7A4D1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773F0CB-E558-2654-48D4-37A6121FAB7D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788DC7D-D83D-D150-FA94-C3825AB73878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A1B8FEB-5047-C266-DED9-9C7C249A117A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A28410E-E52B-0205-2DB2-1186795728CC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50DF4B3-93D1-2890-10D6-A3012E68575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460BAFC-E4E4-EAA6-70B5-71D6F786DA0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44CEE59-9DC5-3F05-311A-36DA10537F80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C4DFF970-9E2C-FEF7-38ED-FDDBF80175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442939"/>
            <a:ext cx="11607801" cy="96012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1817AE3-6D4F-1951-DB2F-C9FD0AB604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780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name_2024 sandisk or its affiliates All rights reserved">
            <a:extLst>
              <a:ext uri="{FF2B5EF4-FFF2-40B4-BE49-F238E27FC236}">
                <a16:creationId xmlns:a16="http://schemas.microsoft.com/office/drawing/2014/main" id="{C0349B19-74A8-2BA4-C454-99E1B90E52D7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7" name="name_2024 sandisk or its affiliates All rights reserved">
            <a:extLst>
              <a:ext uri="{FF2B5EF4-FFF2-40B4-BE49-F238E27FC236}">
                <a16:creationId xmlns:a16="http://schemas.microsoft.com/office/drawing/2014/main" id="{C201CB10-31EE-857F-EB82-9121DFC97799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3DDDCE-1011-E237-1B5F-5219B04D750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Content Placeholder 8">
            <a:extLst>
              <a:ext uri="{FF2B5EF4-FFF2-40B4-BE49-F238E27FC236}">
                <a16:creationId xmlns:a16="http://schemas.microsoft.com/office/drawing/2014/main" id="{70F7847F-B361-D8CC-63C3-57A37D82554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6001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EFFFC07D-0CF9-FFD6-F0CD-D4D74A7F1D2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809DECB-5936-5428-8883-81380D690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4647B2-3595-A741-1EC4-A09E9488BC2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EB56B84-5BE3-3D3F-7401-04188DADEF3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CCA0356-9320-B942-6773-B921AB68839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A595F84-C51D-066F-E065-0F6520E2092C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CE45755-1412-2737-07F6-C06A364D54D6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60D7546-48E6-2469-1BA2-B844BBF9D957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D57CB0E-899C-746E-611B-3D1A00857EEA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CDE551A-6BA3-015B-3833-6BCA6118054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D82E78D-3819-1F1A-D966-BC3B3F9B3370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EFE6622-74C6-53C0-15F3-CD6A14815A22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525B237-3E5C-7EC5-C2F0-E646787E2F33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E3006BC-623B-0218-1B09-75D08880AA35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name_2024 sandisk or its affiliates All rights reserved">
            <a:extLst>
              <a:ext uri="{FF2B5EF4-FFF2-40B4-BE49-F238E27FC236}">
                <a16:creationId xmlns:a16="http://schemas.microsoft.com/office/drawing/2014/main" id="{646CA856-70AA-D85B-625B-97C1AEB1CED6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6" name="name_2024 sandisk or its affiliates All rights reserved">
            <a:extLst>
              <a:ext uri="{FF2B5EF4-FFF2-40B4-BE49-F238E27FC236}">
                <a16:creationId xmlns:a16="http://schemas.microsoft.com/office/drawing/2014/main" id="{14A74770-E2CD-E746-760E-E7B7AB9D9959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BE3BE6-2545-620F-5B54-B70AD5AF750F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" name="Content Placeholder 8">
            <a:extLst>
              <a:ext uri="{FF2B5EF4-FFF2-40B4-BE49-F238E27FC236}">
                <a16:creationId xmlns:a16="http://schemas.microsoft.com/office/drawing/2014/main" id="{402A282F-C080-4B95-9D93-6C0221C2F46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168290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EFFFC07D-0CF9-FFD6-F0CD-D4D74A7F1D2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809DECB-5936-5428-8883-81380D690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97292F-CF1E-3CD4-CD5B-27D17B02060C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15F0CA2-4CC9-ADEF-4F8F-87D8057851FC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0C4E8B-F76F-C544-D198-0A70045B8783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2F149E-6873-D283-0DA0-18010F05859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0F40659-20B1-F441-4897-5A556619185A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F41CF2C-C479-03FD-A940-AD524158EA4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4A86CF7-AB7B-BE2F-18D8-B07905D4601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477B0D6-C4D1-A790-B6A0-964722CE8C6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050C485-7816-EC75-A8F0-1E989B63068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441CEAD-6437-E895-E401-B754FBC2BAE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6744FFA-4E92-F613-7AA5-92C01C3B9D6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4439DC5-B658-774B-2032-D21C7FEAA41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72F8658A-7DDF-1A0E-9043-BDEC07FAFDB0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5" name="name_2024 sandisk or its affiliates All rights reserved">
            <a:extLst>
              <a:ext uri="{FF2B5EF4-FFF2-40B4-BE49-F238E27FC236}">
                <a16:creationId xmlns:a16="http://schemas.microsoft.com/office/drawing/2014/main" id="{CBE807D9-F695-A0B4-A653-328CF15F3DD2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7C35AE-61A7-BB1B-B1A0-A6A5B41E1E6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Content Placeholder 8">
            <a:extLst>
              <a:ext uri="{FF2B5EF4-FFF2-40B4-BE49-F238E27FC236}">
                <a16:creationId xmlns:a16="http://schemas.microsoft.com/office/drawing/2014/main" id="{98395796-33AA-51E3-CE74-B5F0900243A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473133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EFFFC07D-0CF9-FFD6-F0CD-D4D74A7F1D2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809DECB-5936-5428-8883-81380D690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43665-ADE7-01E8-0170-7FE3F702A28E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697CA37-B9D0-BF99-9E1D-F0FE058DA195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F59A5B-6547-4923-2DCD-3DEE1DBF56E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6622E23-4806-0482-605D-D57F8001076F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7F6BAB7-1CE0-3383-B22D-2451C12477C0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69B75A-4312-079A-DB76-312B5FF8A04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03CCD0F-6B57-E374-3261-B843A2B9E98C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2B70F33-1D4C-8DC0-1F38-B911C8D81BE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9FBC49B-A162-7935-10EF-6FBAF8003975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72D42B-2AF8-6787-0226-B1B0C75ED8F3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8349935-8A31-53C3-F92C-EADE4984278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3FC1670-0286-A12F-DF8D-7F0B38C12572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7B158CA7-6BD7-4A79-CA3C-EFD2F50C9790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5" name="name_2024 sandisk or its affiliates All rights reserved">
            <a:extLst>
              <a:ext uri="{FF2B5EF4-FFF2-40B4-BE49-F238E27FC236}">
                <a16:creationId xmlns:a16="http://schemas.microsoft.com/office/drawing/2014/main" id="{50D7B5B4-45F6-C52A-103A-232CD5411C0A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E45B96-414A-F378-EB73-6FCEEED0CE78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Content Placeholder 8">
            <a:extLst>
              <a:ext uri="{FF2B5EF4-FFF2-40B4-BE49-F238E27FC236}">
                <a16:creationId xmlns:a16="http://schemas.microsoft.com/office/drawing/2014/main" id="{E1D4FC08-8E31-A604-4A57-3FF232DD4F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52786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EF2E9E0C-E8BF-E64B-88D1-09D94508D838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442939"/>
            <a:ext cx="11607801" cy="964579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780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/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3E99B66-6085-AF23-EFBE-ECBF95F2C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EE3D5D-5564-276A-F946-9C889AE6DC05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8A85A7E-F460-1F7E-16E3-2759A2BCF211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E2AAA60-E5A9-2903-6149-D4823B3D04D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81679E5-E8BE-FC00-512F-C377F77A70D0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308F59A-B699-AB3E-CF97-5EF299ECC0A1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9954F61-7834-C29E-6112-788A0F461E59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CB30C72-CD21-56E2-7058-306294D997F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A0F8160-C1DB-CC8A-E39C-FE00E705DBF0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3695381-7278-5305-A523-B7EAE6B9582B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9303C80-5A5C-92C6-4960-E066E5DA9F6B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F1929CF-D5C2-9070-55B0-3C7531FDD463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2FF1998-5937-9DFC-DA03-C6C693287226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FFB30446-98ED-E20A-5D61-9A227D4A47B3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73062082-7507-CB6E-07EA-9A09200BDCE0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A12CBE4-3356-D233-C1C6-57028888BA46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9539045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EF2E9E0C-E8BF-E64B-88D1-09D94508D838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8" y="442939"/>
            <a:ext cx="11607801" cy="96012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831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3E99B66-6085-AF23-EFBE-ECBF95F2C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B2361C-1FF1-AEB6-6713-E0281B36B06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9EE28EB-F6F1-36C1-2B7E-8D95ED05FB1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B4C1E28-F21E-4009-364A-DE62868FCC6C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07B6AB7-06DE-2432-5F21-63EE86265FC7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44C2123-F401-DA5E-2E1B-BC06F75AF327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3A91731-E5A9-3219-EC9D-A11740DE7B2F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F72D44-45C2-4750-6FAC-C96D3374618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F18C05A-E7A3-39BB-6B14-7375C0AB406B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25E9975-A4AD-1ED7-ED3A-27B284DF66EA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740024-9CAF-9332-202F-21692E9002CC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43AB835-9015-A043-665E-B4CB3DCA012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99A9EB5-C5F9-B01B-DB12-5EB220293892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1" name="name_2024 sandisk or its affiliates All rights reserved">
            <a:extLst>
              <a:ext uri="{FF2B5EF4-FFF2-40B4-BE49-F238E27FC236}">
                <a16:creationId xmlns:a16="http://schemas.microsoft.com/office/drawing/2014/main" id="{6CC8F73B-3287-7018-969A-E477DF85FCD3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7F30C189-812E-A59B-A8ED-2B9F5383F40D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CF90C0-B53F-05D6-27F6-03EEBAF2E63F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92708453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EF2E9E0C-E8BF-E64B-88D1-09D94508D838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442939"/>
            <a:ext cx="11607801" cy="96012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780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3E99B66-6085-AF23-EFBE-ECBF95F2C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2106" y="6455472"/>
            <a:ext cx="857165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A640EA-9B40-3BEC-FE96-3C5E85AFA20F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33CE88C-9F15-6B6E-D642-E88B5A5FA738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1EF5B5C-ED2F-6102-6EB7-CEEE9D03EEEB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25DA8C4-BD9E-7093-4D00-C226C34B9A15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3A35920-5BE9-0EEB-2932-7B8A60BF23F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DCC467F-79EF-99F0-0BA6-99DF0BF0CED0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412588D-3E04-0183-9916-AC7A460A87E4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02A2C69-23CD-0B4F-1282-5B5C05F9B7B1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2F7100C-ED57-D482-2C29-3A73DD5516B2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A1A0846-AB2E-5352-6E4A-CDB4C066020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2BDD6B2-45C9-1C85-564A-1A1E07443A4D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E7D8272-799E-EECA-29EC-2F2D61E6D10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C6D3E968-6B55-F788-09CE-3B20B871322A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80576D53-058E-8C70-D884-0222E72AFFCE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6667A2-32FE-537D-7753-A0E6BFCABFF9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4104952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642738AB-3A39-2252-D671-A3F2FA22F79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AF6968-53B8-DA7A-894B-17605E587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4F35CF-6B39-916F-A9C2-CDB74BB1B77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411C25-D090-D0B2-F12F-22B74FC7BF48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3FFAF4C-85A9-20F2-2147-D51823291C6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F1428A7-2EFE-9248-2527-67C887F1A14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0A0A5F-B898-7474-4E1B-F982699C6B65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4C08D48-6ADF-0478-4FD8-285B14571158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B516320-324E-D2BF-4324-B5C57EC5247D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EA04773-863C-996F-24B6-DDA959717712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E69647E-A7E5-5FEA-1387-7BDE955235D0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06CDCC5-8E11-E5AF-1221-1142F287EFC6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7CEBA78-6D0C-2B8B-290A-9082FB900EA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A678A48-94C4-0442-B88E-F437670FBFD8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22280101-B852-305A-1BD3-59B6B361FC3C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E095BAF6-CB05-FD2B-88EE-80784301AA7B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2E12A4-8161-676E-B0BC-CD336BCD436E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42404090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642738AB-3A39-2252-D671-A3F2FA22F79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AF6968-53B8-DA7A-894B-17605E587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76FBDE-17D0-4DA3-A8FB-9D9B252458B2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ACE6E5F-2549-F335-1306-68261507B18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5212BCC-AD18-02BB-8B33-B2194EA20DA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643817C-95E5-D4D0-D54C-6AE3A82850D8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300BA43-134C-DBA1-5272-99BAB06FF14A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BD5B91B-0CE6-0C22-DF37-D38902F5BE82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D10FAD8-C83B-8723-1D36-1C855F85F30B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F43D845-BFD3-5105-A206-71E806A63698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35DCF02-48D8-2DC2-CB99-DE8C34C9143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E8843F8-5643-AA25-1221-68D57811732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1427FBE-6FF2-E92A-973F-0A76280150DA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E9A3582-36D4-3DB2-7408-DEC61231181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643D72E0-7B3C-64A0-D80E-D1E987BA52CD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8E94B2FB-FB6B-7F08-A9EC-FB4F25889317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21EAF7-0FA9-C747-FADE-EB9909F140A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9711931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642738AB-3A39-2252-D671-A3F2FA22F79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AF6968-53B8-DA7A-894B-17605E587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F0406A0-E371-CCA0-0E3C-011931EE09EC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4245B2-0CB5-7B8B-CC15-AE5BA4296F27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FF7457D-84BE-C4EA-EC45-E88013B6E66B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A08D193-7FD6-1CBA-BC5D-3B74B7BCBF16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EB08EFB-08ED-E974-2DAA-2DEC28F0E39B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ED1BC95-58DF-138C-CDA1-26DFC53D4DCF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0BDCFD7-3FBF-9E3E-E741-AA049690101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3FA7BB8-3B27-1071-F195-CFD17D443085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BAE674E-096B-E0A5-B7C3-120F887949E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02645B4-5800-7AAB-AC5A-09ED8D6FF05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C99294D-BF32-6EAD-73D3-0606521CE43C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B214E987-5A69-8703-F571-5E68DF37A9D6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B1951E7E-D22B-360E-A694-AD8930F2BDE4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480C0E7B-FC10-7560-47C4-23ED64BAFA41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F71922-37DB-D48B-0C10-D21700C2ED8E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9731952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me_2024 sandisk or its affiliates All rights reserved">
            <a:extLst>
              <a:ext uri="{FF2B5EF4-FFF2-40B4-BE49-F238E27FC236}">
                <a16:creationId xmlns:a16="http://schemas.microsoft.com/office/drawing/2014/main" id="{C2EB78CC-5952-6B45-686A-74177B116777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32E9088-7CE0-031E-34ED-0A51A9E0C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2106" y="6455472"/>
            <a:ext cx="857165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1DE8E8-DED1-1D29-3F20-99D6DF25CAF6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7E56DC0-31DB-A07E-9417-7BD33DD9F47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5685BBB-0254-E69E-5D07-AD1621E30874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F020F4D-A232-EAB3-613A-D6528C5D6DB8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C835825-62DB-79DC-84B5-AF013BCBBA82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EBDEF4D-90B4-ECF7-E20C-B40CD532D70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F9463C2-B66A-BDEE-7F76-534FFA69D13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FDF4D4A-BBD5-D4D0-4D13-878A7CC67720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CFF5657-4BE2-F62A-7761-118F0B7C39F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191E492-027A-F9BF-82DA-B57CDDE7381E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E572BC9-4326-44EB-5022-A00E8D09A174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442AC51-7D65-93EB-6DF0-9ECAE1EDAEF4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1" name="name_2024 sandisk or its affiliates All rights reserved">
            <a:extLst>
              <a:ext uri="{FF2B5EF4-FFF2-40B4-BE49-F238E27FC236}">
                <a16:creationId xmlns:a16="http://schemas.microsoft.com/office/drawing/2014/main" id="{A171EF2A-6057-D328-301B-4C75E036D718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922692D1-6778-C74C-7CEA-3EEA509C843D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5FAC2B-9831-FC3C-95E2-F09B96BD8117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43558964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me_2024 sandisk or its affiliates All rights reserved">
            <a:extLst>
              <a:ext uri="{FF2B5EF4-FFF2-40B4-BE49-F238E27FC236}">
                <a16:creationId xmlns:a16="http://schemas.microsoft.com/office/drawing/2014/main" id="{C2EB78CC-5952-6B45-686A-74177B116777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32E9088-7CE0-031E-34ED-0A51A9E0C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D006E4-331A-0157-CE42-E8ACDAEB4FCB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4DA491E-AD65-B9A0-CD50-F8528A6520CC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D9F07DA-F249-64FB-3CF8-93864734AAC8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8F3FBA1-35AC-726D-6399-D908CB19A526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C263DFF-B678-4483-215A-364A853D122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321DD9C-27B2-F842-273D-04B417B33B13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30CB79-03B3-FA26-2774-39F0E305112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3E833F1-00BE-A879-3571-9D72200A00F5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C0B124E-9DD4-E41C-FA9F-B3884179147A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839A85B-EE68-41D2-0824-DE62976A2DA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625E85A-99B8-5418-4AF2-4F9622A2121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6B1124B-77F5-46A8-F91E-C5D44DF136D9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1" name="name_2024 sandisk or its affiliates All rights reserved">
            <a:extLst>
              <a:ext uri="{FF2B5EF4-FFF2-40B4-BE49-F238E27FC236}">
                <a16:creationId xmlns:a16="http://schemas.microsoft.com/office/drawing/2014/main" id="{93273B7A-B931-7762-6EBA-C54C6875922C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AF5801BC-EEF9-D247-6632-C588D2B5D216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13D9AC-744A-467B-F85A-B6559BF714F7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8554845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me_2024 sandisk or its affiliates All rights reserved">
            <a:extLst>
              <a:ext uri="{FF2B5EF4-FFF2-40B4-BE49-F238E27FC236}">
                <a16:creationId xmlns:a16="http://schemas.microsoft.com/office/drawing/2014/main" id="{C2EB78CC-5952-6B45-686A-74177B116777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32E9088-7CE0-031E-34ED-0A51A9E0C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B9D2557-6FDA-6735-D425-659ED0A5AF9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96512B5-8467-2E68-7FDB-AF04DD02FCBD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1E5AAF1-EF2B-9739-5D9B-B645FE80D89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5B551F8-CC41-C192-AEEB-E8BC63C57202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1AA28DA-2E95-0179-9970-C56E7335AC4C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AA860D-F792-6B31-70CC-2D382B0233C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DA5B842-F4B2-1BAC-DA6D-5748A51E4EDA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B41F635-5BCA-8F26-4CE2-A0E3F4DDC294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B4A019A-92A5-B540-24B7-2BC0669BBBB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CEC976-08A0-D21B-DE3A-969A1A77E8E8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9BAF7E9-12F6-020E-6463-855F7F358424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0B646BB-FA6B-5EC9-84E1-110EB9F849E9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7" name="name_2024 sandisk or its affiliates All rights reserved">
            <a:extLst>
              <a:ext uri="{FF2B5EF4-FFF2-40B4-BE49-F238E27FC236}">
                <a16:creationId xmlns:a16="http://schemas.microsoft.com/office/drawing/2014/main" id="{7277941F-042A-DDD9-FFC0-3FF7341DA41D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18" name="name_2024 sandisk or its affiliates All rights reserved">
            <a:extLst>
              <a:ext uri="{FF2B5EF4-FFF2-40B4-BE49-F238E27FC236}">
                <a16:creationId xmlns:a16="http://schemas.microsoft.com/office/drawing/2014/main" id="{1F268A33-A3A9-A99D-27EE-263433500A18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9F53C3-7697-A35C-210D-0F5FD6FA0ACB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5144450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7447AFC-E5FB-9726-6C58-5928BBCDB57F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9BAFD44-DFAE-6584-F3C3-580D6907D1F7}"/>
              </a:ext>
            </a:extLst>
          </p:cNvPr>
          <p:cNvGrpSpPr/>
          <p:nvPr/>
        </p:nvGrpSpPr>
        <p:grpSpPr>
          <a:xfrm>
            <a:off x="292100" y="1792606"/>
            <a:ext cx="3849052" cy="924895"/>
            <a:chOff x="284163" y="2698150"/>
            <a:chExt cx="3767328" cy="90525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08273A-8B55-6612-D34D-DD21B5B2F644}"/>
                </a:ext>
              </a:extLst>
            </p:cNvPr>
            <p:cNvSpPr/>
            <p:nvPr/>
          </p:nvSpPr>
          <p:spPr>
            <a:xfrm>
              <a:off x="284163" y="2698150"/>
              <a:ext cx="3767328" cy="90525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FD63FE-9E33-1709-7503-632601894250}"/>
                </a:ext>
              </a:extLst>
            </p:cNvPr>
            <p:cNvGrpSpPr/>
            <p:nvPr/>
          </p:nvGrpSpPr>
          <p:grpSpPr>
            <a:xfrm>
              <a:off x="284163" y="2698151"/>
              <a:ext cx="1806575" cy="905256"/>
              <a:chOff x="146137" y="3532340"/>
              <a:chExt cx="1944601" cy="975922"/>
            </a:xfrm>
            <a:solidFill>
              <a:srgbClr val="000000"/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408FA0B-C8DB-8EDE-6D02-265A26910C04}"/>
                  </a:ext>
                </a:extLst>
              </p:cNvPr>
              <p:cNvSpPr/>
              <p:nvPr/>
            </p:nvSpPr>
            <p:spPr>
              <a:xfrm>
                <a:off x="1114816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B62C2BA-784A-BEFE-5180-8CE0136E5F8F}"/>
                  </a:ext>
                </a:extLst>
              </p:cNvPr>
              <p:cNvSpPr/>
              <p:nvPr/>
            </p:nvSpPr>
            <p:spPr>
              <a:xfrm>
                <a:off x="146137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E2F6E18-D576-9104-92EA-1D3249CB6E59}"/>
                </a:ext>
              </a:extLst>
            </p:cNvPr>
            <p:cNvSpPr/>
            <p:nvPr/>
          </p:nvSpPr>
          <p:spPr>
            <a:xfrm>
              <a:off x="2090738" y="2698150"/>
              <a:ext cx="1960753" cy="9052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260F4A5-0682-45A4-1DE8-3A9DEABE8A84}"/>
              </a:ext>
            </a:extLst>
          </p:cNvPr>
          <p:cNvSpPr/>
          <p:nvPr/>
        </p:nvSpPr>
        <p:spPr>
          <a:xfrm>
            <a:off x="296520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74B0FD-69F3-EE84-E7F8-4C06592C73BD}"/>
              </a:ext>
            </a:extLst>
          </p:cNvPr>
          <p:cNvSpPr/>
          <p:nvPr/>
        </p:nvSpPr>
        <p:spPr>
          <a:xfrm>
            <a:off x="11830417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1BF83A-FE06-1A4E-4956-EBC0863A698E}"/>
              </a:ext>
            </a:extLst>
          </p:cNvPr>
          <p:cNvSpPr/>
          <p:nvPr/>
        </p:nvSpPr>
        <p:spPr>
          <a:xfrm>
            <a:off x="4141152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AA5DDF-F55E-4BDA-414E-AF16AD2E7BE5}"/>
              </a:ext>
            </a:extLst>
          </p:cNvPr>
          <p:cNvSpPr/>
          <p:nvPr/>
        </p:nvSpPr>
        <p:spPr>
          <a:xfrm>
            <a:off x="7985784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name_2024 sandisk or its affiliates All rights reserved">
            <a:extLst>
              <a:ext uri="{FF2B5EF4-FFF2-40B4-BE49-F238E27FC236}">
                <a16:creationId xmlns:a16="http://schemas.microsoft.com/office/drawing/2014/main" id="{41D57C59-E5E7-D579-7041-32BB79C964E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15B3D6-6E5F-FC36-12B7-E32FA59FFD2D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1A35D3C-BE3A-B65C-86FA-D3DF9111B169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12B8E4A-514E-CFC2-A740-665313E52DD9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3C20FE84-7E94-A3E2-7840-F8B3C5C7563E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DA19BA47-0B88-6EBF-9064-1B20FEADC385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977ACF2-CCB1-4391-3F91-B10B90F3B247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DCA0728-0809-225E-3A43-54A14361E505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AF1F8844-05D5-909B-DE04-30F8647BE36C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670EF5C0-EFED-D2FD-EAFD-BB2B357BD174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A5B89D84-9175-18DD-CD24-916309E53309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437241D-C591-478D-2C51-86F4500684FF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19F4A28-1DF4-169F-801A-19A39A82D071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98679A0D-E8F8-29E0-DEA4-D89CAE8873C1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AECA805D-144D-D54F-A8F5-BA1EDF4CC9C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1" name="name_2024 sandisk or its affiliates All rights reserved">
            <a:extLst>
              <a:ext uri="{FF2B5EF4-FFF2-40B4-BE49-F238E27FC236}">
                <a16:creationId xmlns:a16="http://schemas.microsoft.com/office/drawing/2014/main" id="{343BD00A-FBA8-EC0F-13C8-8F67F77FBC2E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</p:spTree>
    <p:extLst>
      <p:ext uri="{BB962C8B-B14F-4D97-AF65-F5344CB8AC3E}">
        <p14:creationId xmlns:p14="http://schemas.microsoft.com/office/powerpoint/2010/main" val="237070794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resentation Title and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t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24" name="name_2024 sandisk or its affiliates All rights reserved">
            <a:extLst>
              <a:ext uri="{FF2B5EF4-FFF2-40B4-BE49-F238E27FC236}">
                <a16:creationId xmlns:a16="http://schemas.microsoft.com/office/drawing/2014/main" id="{6D8CD1FC-8805-8BD2-8CBE-E0CCBB790C5D}"/>
              </a:ext>
            </a:extLst>
          </p:cNvPr>
          <p:cNvSpPr txBox="1"/>
          <p:nvPr/>
        </p:nvSpPr>
        <p:spPr>
          <a:xfrm>
            <a:off x="301625" y="5014684"/>
            <a:ext cx="14478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NB Architekt Pro Neue" panose="02010509020201040001" pitchFamily="49" charset="77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6C6FE-813E-0703-F35F-82EA88599430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0401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7801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NDK">
    <p:bg>
      <p:bgPr>
        <a:solidFill>
          <a:srgbClr val="FF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 |  ©2026 SANDISK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868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5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1FDC8262-8DF2-1640-BFF9-41E3C7903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438200"/>
            <a:ext cx="11607799" cy="142639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1E62C54-3B91-7A43-B1C6-5766DA4F8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0" y="2084388"/>
            <a:ext cx="11595101" cy="40358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219443" marR="0" lvl="0" indent="-219443" algn="l" defTabSz="9143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Click to add text</a:t>
            </a:r>
          </a:p>
          <a:p>
            <a:pPr marL="438887" marR="0" lvl="1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Second level</a:t>
            </a:r>
          </a:p>
          <a:p>
            <a:pPr marL="658330" marR="0" lvl="2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Third level</a:t>
            </a:r>
          </a:p>
          <a:p>
            <a:pPr marL="877772" marR="0" lvl="3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Fourth level</a:t>
            </a:r>
          </a:p>
          <a:p>
            <a:pPr marL="1097216" marR="0" lvl="4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  <a:sym typeface="Wingdings" pitchFamily="2" charset="2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88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3" r:id="rId1"/>
    <p:sldLayoutId id="2147484994" r:id="rId2"/>
    <p:sldLayoutId id="2147484995" r:id="rId3"/>
    <p:sldLayoutId id="2147484941" r:id="rId4"/>
    <p:sldLayoutId id="2147484996" r:id="rId5"/>
    <p:sldLayoutId id="2147484997" r:id="rId6"/>
    <p:sldLayoutId id="2147484964" r:id="rId7"/>
    <p:sldLayoutId id="2147484998" r:id="rId8"/>
    <p:sldLayoutId id="2147484999" r:id="rId9"/>
    <p:sldLayoutId id="2147484989" r:id="rId10"/>
    <p:sldLayoutId id="2147485000" r:id="rId11"/>
    <p:sldLayoutId id="2147485001" r:id="rId12"/>
    <p:sldLayoutId id="2147484990" r:id="rId13"/>
    <p:sldLayoutId id="2147485002" r:id="rId14"/>
    <p:sldLayoutId id="2147485003" r:id="rId15"/>
    <p:sldLayoutId id="2147484992" r:id="rId16"/>
    <p:sldLayoutId id="2147485004" r:id="rId17"/>
    <p:sldLayoutId id="2147485005" r:id="rId18"/>
    <p:sldLayoutId id="2147484991" r:id="rId19"/>
    <p:sldLayoutId id="2147485006" r:id="rId20"/>
    <p:sldLayoutId id="2147485007" r:id="rId21"/>
    <p:sldLayoutId id="2147484993" r:id="rId22"/>
    <p:sldLayoutId id="2147485023" r:id="rId23"/>
    <p:sldLayoutId id="2147485025" r:id="rId24"/>
    <p:sldLayoutId id="2147485026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46" rtl="0" eaLnBrk="1" latinLnBrk="0" hangingPunct="1">
        <a:lnSpc>
          <a:spcPct val="100000"/>
        </a:lnSpc>
        <a:spcBef>
          <a:spcPct val="0"/>
        </a:spcBef>
        <a:buNone/>
        <a:defRPr sz="3000" b="0" i="0" kern="1200" spc="0" baseline="0">
          <a:ln w="19050">
            <a:noFill/>
            <a:miter lim="800000"/>
          </a:ln>
          <a:solidFill>
            <a:schemeClr val="tx1"/>
          </a:solidFill>
          <a:latin typeface="+mj-lt"/>
          <a:ea typeface="+mj-ea"/>
          <a:cs typeface="Pilat Regular" panose="020B0604020202020204" pitchFamily="34" charset="0"/>
        </a:defRPr>
      </a:lvl1pPr>
    </p:titleStyle>
    <p:bodyStyle>
      <a:lvl1pPr marL="274320" indent="-274320" algn="l" defTabSz="914346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  <a:sym typeface="Wingdings" pitchFamily="2" charset="2"/>
        </a:defRPr>
      </a:lvl5pPr>
      <a:lvl6pPr marL="2514453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26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99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3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6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39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7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84">
          <p15:clr>
            <a:srgbClr val="C35EA4"/>
          </p15:clr>
        </p15:guide>
        <p15:guide id="13" pos="7496">
          <p15:clr>
            <a:srgbClr val="C35EA4"/>
          </p15:clr>
        </p15:guide>
        <p15:guide id="18" orient="horz" pos="185">
          <p15:clr>
            <a:srgbClr val="C35EA4"/>
          </p15:clr>
        </p15:guide>
        <p15:guide id="22" orient="horz" pos="4133">
          <p15:clr>
            <a:srgbClr val="C35EA4"/>
          </p15:clr>
        </p15:guide>
        <p15:guide id="55" pos="2012">
          <p15:clr>
            <a:srgbClr val="5ACBF0"/>
          </p15:clr>
        </p15:guide>
        <p15:guide id="61" pos="5668">
          <p15:clr>
            <a:srgbClr val="5ACBF0"/>
          </p15:clr>
        </p15:guide>
        <p15:guide id="85" pos="3840">
          <p15:clr>
            <a:srgbClr val="5ACBF0"/>
          </p15:clr>
        </p15:guide>
        <p15:guide id="88" pos="5059">
          <p15:clr>
            <a:srgbClr val="9FCC3B"/>
          </p15:clr>
        </p15:guide>
        <p15:guide id="89" pos="2620">
          <p15:clr>
            <a:srgbClr val="9FCC3B"/>
          </p15:clr>
        </p15:guide>
        <p15:guide id="90" pos="1099">
          <p15:clr>
            <a:srgbClr val="5ACBF0"/>
          </p15:clr>
        </p15:guide>
        <p15:guide id="91" pos="2926">
          <p15:clr>
            <a:srgbClr val="5ACBF0"/>
          </p15:clr>
        </p15:guide>
        <p15:guide id="92" pos="4754">
          <p15:clr>
            <a:srgbClr val="5ACBF0"/>
          </p15:clr>
        </p15:guide>
        <p15:guide id="93" pos="658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4791456"/>
            <a:ext cx="1417320" cy="530352"/>
          </a:xfrm>
          <a:prstGeom prst="rect">
            <a:avLst/>
          </a:prstGeom>
          <a:solidFill>
            <a:srgbClr val="FFFCF9"/>
          </a:solidFill>
          <a:ln w="10160">
            <a:solidFill>
              <a:srgbClr val="FFF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 dirty="0">
                <a:solidFill>
                  <a:srgbClr val="000000"/>
                </a:solidFill>
                <a:latin typeface="Pilat Book"/>
              </a:rPr>
              <a:t>ATMOS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084831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 dirty="0">
                <a:solidFill>
                  <a:srgbClr val="000000"/>
                </a:solidFill>
                <a:latin typeface="Pilat Book"/>
              </a:rPr>
              <a:t>Scaling AI inference beyond accelerator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2926080"/>
            <a:ext cx="932688" cy="73152"/>
          </a:xfrm>
          <a:prstGeom prst="rect">
            <a:avLst/>
          </a:prstGeom>
          <a:solidFill>
            <a:srgbClr val="E10600"/>
          </a:solidFill>
          <a:ln w="1016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3246120"/>
            <a:ext cx="90525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dirty="0">
                <a:solidFill>
                  <a:srgbClr val="772C22"/>
                </a:solidFill>
                <a:latin typeface="Pilat"/>
              </a:rPr>
              <a:t>High-bandwidth flash + efficient acceleration for capacity-led enterprise and edge workloads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206240"/>
            <a:ext cx="2121408" cy="256032"/>
          </a:xfrm>
          <a:prstGeom prst="roundRect">
            <a:avLst/>
          </a:prstGeom>
          <a:solidFill>
            <a:srgbClr val="FBE9E6"/>
          </a:solidFill>
          <a:ln w="10160">
            <a:solidFill>
              <a:srgbClr val="FBE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4229100"/>
            <a:ext cx="197510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772C22"/>
                </a:solidFill>
                <a:latin typeface="Pilat"/>
              </a:rPr>
              <a:t>MORE MODEL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26664" y="4206240"/>
            <a:ext cx="2121408" cy="256032"/>
          </a:xfrm>
          <a:prstGeom prst="roundRect">
            <a:avLst/>
          </a:prstGeom>
          <a:solidFill>
            <a:srgbClr val="FBE9E6"/>
          </a:solidFill>
          <a:ln w="10160">
            <a:solidFill>
              <a:srgbClr val="FBE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99816" y="4229100"/>
            <a:ext cx="197510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772C22"/>
                </a:solidFill>
                <a:latin typeface="Pilat"/>
              </a:rPr>
              <a:t>LESS SCALE-OUT FRICTION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9824" y="4206240"/>
            <a:ext cx="2121408" cy="256032"/>
          </a:xfrm>
          <a:prstGeom prst="roundRect">
            <a:avLst/>
          </a:prstGeom>
          <a:solidFill>
            <a:srgbClr val="F2E7E4"/>
          </a:solidFill>
          <a:ln w="10160">
            <a:solidFill>
              <a:srgbClr val="F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22976" y="4229100"/>
            <a:ext cx="197510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772C22"/>
                </a:solidFill>
                <a:latin typeface="Pilat"/>
              </a:rPr>
              <a:t>MEASURABLE POC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347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86868"/>
                </a:solidFill>
                <a:latin typeface="Pilat"/>
              </a:rPr>
              <a:t>01</a:t>
            </a: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1DC28F05-CCE4-2C37-D505-01CCEF959CAD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4791456"/>
            <a:ext cx="1417320" cy="530352"/>
          </a:xfrm>
          <a:prstGeom prst="rect">
            <a:avLst/>
          </a:prstGeom>
          <a:solidFill>
            <a:srgbClr val="FFFCF9"/>
          </a:solidFill>
          <a:ln w="10160">
            <a:solidFill>
              <a:srgbClr val="FFF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2400"/>
            <a:ext cx="393192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b="1" i="0" dirty="0">
                <a:solidFill>
                  <a:srgbClr val="E10600"/>
                </a:solidFill>
                <a:latin typeface="Pilat"/>
              </a:rPr>
              <a:t>Enterprise AI Workload constraint </a:t>
            </a:r>
            <a:endParaRPr sz="1050" b="1" i="0" dirty="0">
              <a:solidFill>
                <a:srgbClr val="E10600"/>
              </a:solidFill>
              <a:latin typeface="Pil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30840"/>
            <a:ext cx="10698480" cy="529376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r>
              <a:rPr lang="en-US" sz="2600" b="1" dirty="0">
                <a:solidFill>
                  <a:srgbClr val="000000"/>
                </a:solidFill>
                <a:latin typeface="Pilat Book"/>
              </a:rPr>
              <a:t>More than compute, </a:t>
            </a:r>
            <a:r>
              <a:rPr sz="2600" b="1" i="0" dirty="0">
                <a:solidFill>
                  <a:srgbClr val="000000"/>
                </a:solidFill>
                <a:latin typeface="Pilat Book"/>
              </a:rPr>
              <a:t>Enterprise AI </a:t>
            </a:r>
            <a:r>
              <a:rPr lang="en-US" sz="2600" b="1" i="0" dirty="0">
                <a:solidFill>
                  <a:srgbClr val="000000"/>
                </a:solidFill>
                <a:latin typeface="Pilat Book"/>
              </a:rPr>
              <a:t>Platform </a:t>
            </a:r>
            <a:r>
              <a:rPr sz="2600" b="1" i="0" dirty="0">
                <a:solidFill>
                  <a:srgbClr val="000000"/>
                </a:solidFill>
                <a:latin typeface="Pilat Book"/>
              </a:rPr>
              <a:t>are constrained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 dirty="0">
                <a:solidFill>
                  <a:srgbClr val="686868"/>
                </a:solidFill>
                <a:latin typeface="Pilat"/>
              </a:rPr>
              <a:t>Model growth, long context, concurrency and deployment limits compound into cost and engineering pressure.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72184"/>
            <a:ext cx="11018520" cy="16459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166360" cy="144475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2039112"/>
            <a:ext cx="457200" cy="457200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48255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93392"/>
            <a:ext cx="39319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Pilat Book"/>
              </a:rPr>
              <a:t>Model and context do not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35000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dirty="0">
                <a:solidFill>
                  <a:srgbClr val="686868"/>
                </a:solidFill>
                <a:latin typeface="Pilat"/>
              </a:rPr>
              <a:t>Large models, </a:t>
            </a:r>
            <a:r>
              <a:rPr sz="1000" b="0" i="0" dirty="0" err="1">
                <a:solidFill>
                  <a:srgbClr val="686868"/>
                </a:solidFill>
                <a:latin typeface="Pilat"/>
              </a:rPr>
              <a:t>MoE</a:t>
            </a:r>
            <a:r>
              <a:rPr sz="1000" b="0" i="0" dirty="0">
                <a:solidFill>
                  <a:srgbClr val="686868"/>
                </a:solidFill>
                <a:latin typeface="Pilat"/>
              </a:rPr>
              <a:t> experts and KV cache compete for limited accelerator memory.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008376"/>
            <a:ext cx="4617720" cy="32004"/>
          </a:xfrm>
          <a:prstGeom prst="rect">
            <a:avLst/>
          </a:prstGeom>
          <a:solidFill>
            <a:srgbClr val="E10600"/>
          </a:solidFill>
          <a:ln w="1016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5166360" cy="144475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55080" y="2039112"/>
            <a:ext cx="457200" cy="457200"/>
          </a:xfrm>
          <a:prstGeom prst="ellipse">
            <a:avLst/>
          </a:prstGeom>
          <a:solidFill>
            <a:srgbClr val="772C22"/>
          </a:solidFill>
          <a:ln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048255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93392"/>
            <a:ext cx="39319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Pilat Book"/>
              </a:rPr>
              <a:t>Scaling adds software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35000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86868"/>
                </a:solidFill>
                <a:latin typeface="Pilat"/>
              </a:rPr>
              <a:t>Tensor, pipeline and expert parallelism increase tuning, testing and failure domains.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008376"/>
            <a:ext cx="4617720" cy="32004"/>
          </a:xfrm>
          <a:prstGeom prst="rect">
            <a:avLst/>
          </a:prstGeom>
          <a:solidFill>
            <a:srgbClr val="772C22"/>
          </a:solidFill>
          <a:ln w="10160"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66928" y="3630168"/>
            <a:ext cx="5166360" cy="144475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5528" y="3886200"/>
            <a:ext cx="457200" cy="457200"/>
          </a:xfrm>
          <a:prstGeom prst="ellipse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389534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840480"/>
            <a:ext cx="39319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Pilat Book"/>
              </a:rPr>
              <a:t>Data movement taxes the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19709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86868"/>
                </a:solidFill>
                <a:latin typeface="Pilat"/>
              </a:rPr>
              <a:t>Per-token communication can consume fabric bandwidth and create tail-latency risk.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4855464"/>
            <a:ext cx="4617720" cy="32004"/>
          </a:xfrm>
          <a:prstGeom prst="rect">
            <a:avLst/>
          </a:prstGeom>
          <a:solidFill>
            <a:srgbClr val="BCBCBC"/>
          </a:solidFill>
          <a:ln w="1016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26480" y="3630168"/>
            <a:ext cx="5166360" cy="144475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55080" y="3886200"/>
            <a:ext cx="457200" cy="457200"/>
          </a:xfrm>
          <a:prstGeom prst="ellipse">
            <a:avLst/>
          </a:prstGeom>
          <a:solidFill>
            <a:srgbClr val="D48A16"/>
          </a:solidFill>
          <a:ln>
            <a:solidFill>
              <a:srgbClr val="D48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3895344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840480"/>
            <a:ext cx="39319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Pilat Book"/>
              </a:rPr>
              <a:t>Power and footprint cap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19709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86868"/>
                </a:solidFill>
                <a:latin typeface="Pilat"/>
              </a:rPr>
              <a:t>Rack density, cooling, edge envelopes and utilization shape what is economically viable.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4855464"/>
            <a:ext cx="4617720" cy="32004"/>
          </a:xfrm>
          <a:prstGeom prst="rect">
            <a:avLst/>
          </a:prstGeom>
          <a:solidFill>
            <a:srgbClr val="D48A16"/>
          </a:solidFill>
          <a:ln w="10160">
            <a:solidFill>
              <a:srgbClr val="D48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2608" y="6492240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 i="0">
                <a:solidFill>
                  <a:srgbClr val="000000"/>
                </a:solidFill>
                <a:latin typeface="Pilat"/>
              </a:rPr>
              <a:t>[Confidential]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8608" y="6492240"/>
            <a:ext cx="324612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 i="0">
                <a:solidFill>
                  <a:srgbClr val="686868"/>
                </a:solidFill>
                <a:latin typeface="Pilat"/>
              </a:rPr>
              <a:t>©2026 SANDISK CORPORATION OR ITS AFFILIATES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8" y="6492240"/>
            <a:ext cx="4956048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 i="0">
                <a:solidFill>
                  <a:srgbClr val="686868"/>
                </a:solidFill>
                <a:latin typeface="Pilat"/>
              </a:rPr>
              <a:t>Illustrative — validate against customer workload and approved product configuration.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92240"/>
            <a:ext cx="347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86868"/>
                </a:solidFill>
                <a:latin typeface="Pilat"/>
              </a:rPr>
              <a:t>02</a:t>
            </a:r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37F5B242-F13A-9E09-01F8-577086B28B00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E8E196F-2C29-8BE3-A89A-9354A1C21252}"/>
              </a:ext>
            </a:extLst>
          </p:cNvPr>
          <p:cNvSpPr/>
          <p:nvPr/>
        </p:nvSpPr>
        <p:spPr>
          <a:xfrm>
            <a:off x="566928" y="1657795"/>
            <a:ext cx="6711695" cy="4802429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7789"/>
            <a:ext cx="393192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b="1" dirty="0">
                <a:solidFill>
                  <a:srgbClr val="E10600"/>
                </a:solidFill>
                <a:latin typeface="Pilat"/>
              </a:rPr>
              <a:t>How ATMOS solves the Enterprise AI  serving constraints</a:t>
            </a:r>
            <a:endParaRPr sz="850" b="1" i="0" dirty="0">
              <a:solidFill>
                <a:srgbClr val="E10600"/>
              </a:solidFill>
              <a:latin typeface="Pil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698480" cy="45720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Pilat Book"/>
              </a:rPr>
              <a:t>A media tier between working memory and conventional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86868"/>
                </a:solidFill>
                <a:latin typeface="Pilat"/>
              </a:rPr>
              <a:t>HBF is intended to bring flash-scale capacity and high bandwidth closer to the accelerator data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72184"/>
            <a:ext cx="11018520" cy="16459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80713" y="1698053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dirty="0">
                <a:solidFill>
                  <a:srgbClr val="000000"/>
                </a:solidFill>
                <a:latin typeface="Pilat Book"/>
              </a:rPr>
              <a:t>Memory hierarchy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5468" y="2372868"/>
            <a:ext cx="2560320" cy="512064"/>
          </a:xfrm>
          <a:prstGeom prst="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41772" y="2455164"/>
            <a:ext cx="97292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dirty="0">
                <a:solidFill>
                  <a:srgbClr val="FFFCF9"/>
                </a:solidFill>
                <a:latin typeface="Pilat"/>
              </a:rPr>
              <a:t>SRAM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8389" y="2455164"/>
            <a:ext cx="1433779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FFCF9"/>
                </a:solidFill>
                <a:latin typeface="Pilat"/>
              </a:rPr>
              <a:t>Active compute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827" y="2871216"/>
            <a:ext cx="3886200" cy="512064"/>
          </a:xfrm>
          <a:prstGeom prst="rect">
            <a:avLst/>
          </a:prstGeom>
          <a:solidFill>
            <a:srgbClr val="772C22"/>
          </a:solidFill>
          <a:ln w="10160"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9132" y="2953512"/>
            <a:ext cx="147675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CF9"/>
                </a:solidFill>
                <a:latin typeface="Pilat"/>
              </a:rPr>
              <a:t>LPDDR / 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3" y="2953512"/>
            <a:ext cx="217627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FFCF9"/>
                </a:solidFill>
                <a:latin typeface="Pilat"/>
              </a:rPr>
              <a:t>Hot weights + active KV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3914" y="3392424"/>
            <a:ext cx="5257800" cy="512064"/>
          </a:xfrm>
          <a:prstGeom prst="rect">
            <a:avLst/>
          </a:prstGeom>
          <a:solidFill>
            <a:srgbClr val="E10600"/>
          </a:solidFill>
          <a:ln w="1016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20218" y="3474720"/>
            <a:ext cx="19979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CF9"/>
                </a:solidFill>
                <a:latin typeface="Pilat"/>
              </a:rPr>
              <a:t>HBF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1878" y="3474720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FFCF9"/>
                </a:solidFill>
                <a:latin typeface="Pilat"/>
              </a:rPr>
              <a:t>Model weights + reusable KV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" y="3901757"/>
            <a:ext cx="6436767" cy="512064"/>
          </a:xfrm>
          <a:prstGeom prst="rect">
            <a:avLst/>
          </a:prstGeom>
          <a:solidFill>
            <a:srgbClr val="BCBCBC"/>
          </a:solidFill>
          <a:ln w="1016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3777" y="3984053"/>
            <a:ext cx="246705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CF9"/>
                </a:solidFill>
                <a:latin typeface="Pilat"/>
              </a:rPr>
              <a:t>Host / NVMe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4524" y="3984053"/>
            <a:ext cx="363565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FFCF9"/>
                </a:solidFill>
                <a:latin typeface="Pilat"/>
              </a:rPr>
              <a:t>Repository + cold assets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545335"/>
            <a:ext cx="4187952" cy="4802429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54190" y="1588037"/>
            <a:ext cx="1901952" cy="256032"/>
          </a:xfrm>
          <a:prstGeom prst="roundRect">
            <a:avLst/>
          </a:prstGeom>
          <a:solidFill>
            <a:srgbClr val="FBE9E6"/>
          </a:solidFill>
          <a:ln w="10160">
            <a:solidFill>
              <a:srgbClr val="FBE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50224" y="1675974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 dirty="0">
                <a:solidFill>
                  <a:srgbClr val="772C22"/>
                </a:solidFill>
                <a:latin typeface="Pilat"/>
              </a:rPr>
              <a:t>ATMOS CARD CONCEPT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35824" y="2071986"/>
            <a:ext cx="1307592" cy="2057400"/>
          </a:xfrm>
          <a:prstGeom prst="roundRect">
            <a:avLst/>
          </a:prstGeom>
          <a:solidFill>
            <a:srgbClr val="E10600"/>
          </a:solidFill>
          <a:ln w="1016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35824" y="2702922"/>
            <a:ext cx="13075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CF9"/>
                </a:solidFill>
                <a:latin typeface="Pilat Book"/>
              </a:rPr>
              <a:t>HBF</a:t>
            </a:r>
            <a:br/>
            <a:r>
              <a:rPr sz="1600" b="1" i="0">
                <a:solidFill>
                  <a:srgbClr val="FFFCF9"/>
                </a:solidFill>
                <a:latin typeface="Pilat Book"/>
              </a:rPr>
              <a:t>MEDIA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54312" y="2071986"/>
            <a:ext cx="749808" cy="2057400"/>
          </a:xfrm>
          <a:prstGeom prst="roundRect">
            <a:avLst/>
          </a:prstGeom>
          <a:solidFill>
            <a:srgbClr val="F2E7E4"/>
          </a:solidFill>
          <a:ln w="10160"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54312" y="2702922"/>
            <a:ext cx="7498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772C22"/>
                </a:solidFill>
                <a:latin typeface="Pilat"/>
              </a:rPr>
              <a:t>MEMORY</a:t>
            </a:r>
            <a:br/>
            <a:r>
              <a:rPr sz="950" b="1" i="0">
                <a:solidFill>
                  <a:srgbClr val="772C22"/>
                </a:solidFill>
                <a:latin typeface="Pilat"/>
              </a:rPr>
              <a:t>FABRIC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05872" y="2071986"/>
            <a:ext cx="841248" cy="877824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05872" y="2355450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CF9"/>
                </a:solidFill>
                <a:latin typeface="Pilat"/>
              </a:rPr>
              <a:t>NPU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05872" y="3251562"/>
            <a:ext cx="841248" cy="877824"/>
          </a:xfrm>
          <a:prstGeom prst="roundRect">
            <a:avLst/>
          </a:prstGeom>
          <a:solidFill>
            <a:srgbClr val="772C22"/>
          </a:solidFill>
          <a:ln w="10160"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05872" y="3535026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CF9"/>
                </a:solidFill>
                <a:latin typeface="Pilat"/>
              </a:rPr>
              <a:t>LPDDR</a:t>
            </a:r>
          </a:p>
        </p:txBody>
      </p:sp>
      <p:sp>
        <p:nvSpPr>
          <p:cNvPr id="31" name="Chevron 30"/>
          <p:cNvSpPr/>
          <p:nvPr/>
        </p:nvSpPr>
        <p:spPr>
          <a:xfrm>
            <a:off x="9043416" y="2858370"/>
            <a:ext cx="310896" cy="237744"/>
          </a:xfrm>
          <a:prstGeom prst="chevron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hevron 31"/>
          <p:cNvSpPr/>
          <p:nvPr/>
        </p:nvSpPr>
        <p:spPr>
          <a:xfrm>
            <a:off x="10104120" y="2501754"/>
            <a:ext cx="301752" cy="237744"/>
          </a:xfrm>
          <a:prstGeom prst="chevron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hevron 32"/>
          <p:cNvSpPr/>
          <p:nvPr/>
        </p:nvSpPr>
        <p:spPr>
          <a:xfrm>
            <a:off x="10104120" y="3681329"/>
            <a:ext cx="301752" cy="237744"/>
          </a:xfrm>
          <a:prstGeom prst="chevron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2608" y="6492240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 i="0">
                <a:solidFill>
                  <a:srgbClr val="000000"/>
                </a:solidFill>
                <a:latin typeface="Pilat"/>
              </a:rPr>
              <a:t>[Confidential]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8608" y="6492240"/>
            <a:ext cx="324612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 i="0">
                <a:solidFill>
                  <a:srgbClr val="686868"/>
                </a:solidFill>
                <a:latin typeface="Pilat"/>
              </a:rPr>
              <a:t>©2026 SANDISK CORPORATION OR ITS AFFILIATES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9008" y="6492240"/>
            <a:ext cx="4956048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 i="0">
                <a:solidFill>
                  <a:srgbClr val="686868"/>
                </a:solidFill>
                <a:latin typeface="Pilat"/>
              </a:rPr>
              <a:t>Illustrative — validate against customer workload and approved product configuration.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492240"/>
            <a:ext cx="347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86868"/>
                </a:solidFill>
                <a:latin typeface="Pilat"/>
              </a:rPr>
              <a:t>03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8B4F7F4-2F90-FD92-92F8-5DD077ADC8F3}"/>
              </a:ext>
            </a:extLst>
          </p:cNvPr>
          <p:cNvSpPr/>
          <p:nvPr/>
        </p:nvSpPr>
        <p:spPr>
          <a:xfrm>
            <a:off x="7648041" y="4359241"/>
            <a:ext cx="1609344" cy="66751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FC8F3B-CD0D-748A-C852-4405DC465A15}"/>
              </a:ext>
            </a:extLst>
          </p:cNvPr>
          <p:cNvSpPr/>
          <p:nvPr/>
        </p:nvSpPr>
        <p:spPr>
          <a:xfrm>
            <a:off x="7648041" y="4359241"/>
            <a:ext cx="64008" cy="667512"/>
          </a:xfrm>
          <a:prstGeom prst="rect">
            <a:avLst/>
          </a:prstGeom>
          <a:solidFill>
            <a:srgbClr val="E10600"/>
          </a:solidFill>
          <a:ln w="1016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32F59C-ADD9-20F1-F81C-BA2513832023}"/>
              </a:ext>
            </a:extLst>
          </p:cNvPr>
          <p:cNvSpPr txBox="1"/>
          <p:nvPr/>
        </p:nvSpPr>
        <p:spPr>
          <a:xfrm>
            <a:off x="7830921" y="4490936"/>
            <a:ext cx="140983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Pilat Book"/>
              </a:rPr>
              <a:t>Up to 1 TB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B4A9DF-AD72-351D-080B-816AF42D3181}"/>
              </a:ext>
            </a:extLst>
          </p:cNvPr>
          <p:cNvSpPr txBox="1"/>
          <p:nvPr/>
        </p:nvSpPr>
        <p:spPr>
          <a:xfrm>
            <a:off x="7830921" y="4762555"/>
            <a:ext cx="1409839" cy="126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0">
                <a:solidFill>
                  <a:srgbClr val="686868"/>
                </a:solidFill>
                <a:latin typeface="Pilat"/>
              </a:rPr>
              <a:t>HBF capacity direction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BC14FEB-053E-8929-CCDF-77E667E2FD67}"/>
              </a:ext>
            </a:extLst>
          </p:cNvPr>
          <p:cNvSpPr/>
          <p:nvPr/>
        </p:nvSpPr>
        <p:spPr>
          <a:xfrm>
            <a:off x="9732873" y="4359241"/>
            <a:ext cx="1709319" cy="66751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90C6BA-9ECA-A682-5FCA-D147E7BAD292}"/>
              </a:ext>
            </a:extLst>
          </p:cNvPr>
          <p:cNvSpPr/>
          <p:nvPr/>
        </p:nvSpPr>
        <p:spPr>
          <a:xfrm>
            <a:off x="9732873" y="4359241"/>
            <a:ext cx="64008" cy="667512"/>
          </a:xfrm>
          <a:prstGeom prst="rect">
            <a:avLst/>
          </a:prstGeom>
          <a:solidFill>
            <a:srgbClr val="E10600"/>
          </a:solidFill>
          <a:ln w="1016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CE5096-6538-8762-1EFB-DBE3651B65EA}"/>
              </a:ext>
            </a:extLst>
          </p:cNvPr>
          <p:cNvSpPr txBox="1"/>
          <p:nvPr/>
        </p:nvSpPr>
        <p:spPr>
          <a:xfrm>
            <a:off x="9915753" y="4468969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Pilat Book"/>
              </a:rPr>
              <a:t>Up to 128 GB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AA8D68-419C-7193-944C-7A3E70A6AC5E}"/>
              </a:ext>
            </a:extLst>
          </p:cNvPr>
          <p:cNvSpPr txBox="1"/>
          <p:nvPr/>
        </p:nvSpPr>
        <p:spPr>
          <a:xfrm>
            <a:off x="9915753" y="4752433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0">
                <a:solidFill>
                  <a:srgbClr val="686868"/>
                </a:solidFill>
                <a:latin typeface="Pilat"/>
              </a:rPr>
              <a:t>LPDDR working-memory direction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7F8E199-4676-7505-1630-B1CB78E2C11C}"/>
              </a:ext>
            </a:extLst>
          </p:cNvPr>
          <p:cNvSpPr/>
          <p:nvPr/>
        </p:nvSpPr>
        <p:spPr>
          <a:xfrm>
            <a:off x="7648041" y="5392513"/>
            <a:ext cx="1569111" cy="66751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086BCD4-F2FC-326E-F5C4-49A6FBAD82BA}"/>
              </a:ext>
            </a:extLst>
          </p:cNvPr>
          <p:cNvSpPr/>
          <p:nvPr/>
        </p:nvSpPr>
        <p:spPr>
          <a:xfrm>
            <a:off x="7648041" y="5392513"/>
            <a:ext cx="64008" cy="667512"/>
          </a:xfrm>
          <a:prstGeom prst="rect">
            <a:avLst/>
          </a:prstGeom>
          <a:solidFill>
            <a:srgbClr val="772C22"/>
          </a:solidFill>
          <a:ln w="10160"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7992EE-B91D-EE16-E2A2-4FDFA2F31C6F}"/>
              </a:ext>
            </a:extLst>
          </p:cNvPr>
          <p:cNvSpPr txBox="1"/>
          <p:nvPr/>
        </p:nvSpPr>
        <p:spPr>
          <a:xfrm>
            <a:off x="7830921" y="5524208"/>
            <a:ext cx="1374593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Pilat Book"/>
              </a:rPr>
              <a:t>Up to 512 TOPS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76A723-87AC-9D8B-309D-D082EEEC6FE4}"/>
              </a:ext>
            </a:extLst>
          </p:cNvPr>
          <p:cNvSpPr txBox="1"/>
          <p:nvPr/>
        </p:nvSpPr>
        <p:spPr>
          <a:xfrm>
            <a:off x="7830921" y="5795827"/>
            <a:ext cx="1374593" cy="126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0">
                <a:solidFill>
                  <a:srgbClr val="686868"/>
                </a:solidFill>
                <a:latin typeface="Pilat"/>
              </a:rPr>
              <a:t>INT8 / FP8 compute direction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7DB177A8-268D-2B77-5448-8E3233C91E7F}"/>
              </a:ext>
            </a:extLst>
          </p:cNvPr>
          <p:cNvSpPr/>
          <p:nvPr/>
        </p:nvSpPr>
        <p:spPr>
          <a:xfrm>
            <a:off x="9732873" y="5402635"/>
            <a:ext cx="1709319" cy="681120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99374C0-3DA9-5876-1AF3-CFEC63E7A3CD}"/>
              </a:ext>
            </a:extLst>
          </p:cNvPr>
          <p:cNvSpPr/>
          <p:nvPr/>
        </p:nvSpPr>
        <p:spPr>
          <a:xfrm>
            <a:off x="9732873" y="5402635"/>
            <a:ext cx="64008" cy="667512"/>
          </a:xfrm>
          <a:prstGeom prst="rect">
            <a:avLst/>
          </a:prstGeom>
          <a:solidFill>
            <a:srgbClr val="772C22"/>
          </a:solidFill>
          <a:ln w="10160"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5150F6-A9C5-8355-C55D-C6495F425FE8}"/>
              </a:ext>
            </a:extLst>
          </p:cNvPr>
          <p:cNvSpPr txBox="1"/>
          <p:nvPr/>
        </p:nvSpPr>
        <p:spPr>
          <a:xfrm>
            <a:off x="9915753" y="5536660"/>
            <a:ext cx="14974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Pilat Book"/>
              </a:rPr>
              <a:t>&lt;200 W class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FC331D-9401-BF3F-5891-A9B02360B2BB}"/>
              </a:ext>
            </a:extLst>
          </p:cNvPr>
          <p:cNvSpPr txBox="1"/>
          <p:nvPr/>
        </p:nvSpPr>
        <p:spPr>
          <a:xfrm>
            <a:off x="9915753" y="5807439"/>
            <a:ext cx="1497420" cy="126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0">
                <a:solidFill>
                  <a:srgbClr val="686868"/>
                </a:solidFill>
                <a:latin typeface="Pilat"/>
              </a:rPr>
              <a:t>Performance-profile direction</a:t>
            </a: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F7EA1A3-1A18-2837-C01E-A7F4A531B1FC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65A58-52C3-CDC9-EC8B-3A2E6872A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58560"/>
            <a:ext cx="11607800" cy="849729"/>
          </a:xfrm>
        </p:spPr>
        <p:txBody>
          <a:bodyPr/>
          <a:lstStyle/>
          <a:p>
            <a:r>
              <a:rPr lang="en-US" dirty="0"/>
              <a:t>IMA Card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8A0D96-A6DA-11E4-3181-E6A03CC7C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F4EAEF-A190-87AF-6EFB-DCA090BC70C6}"/>
              </a:ext>
            </a:extLst>
          </p:cNvPr>
          <p:cNvSpPr txBox="1"/>
          <p:nvPr/>
        </p:nvSpPr>
        <p:spPr>
          <a:xfrm>
            <a:off x="7175563" y="777560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 PCIe Full Length Add-In Card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CF7551-09C4-07C1-D560-EC7A6F221B12}"/>
              </a:ext>
            </a:extLst>
          </p:cNvPr>
          <p:cNvCxnSpPr>
            <a:cxnSpLocks/>
          </p:cNvCxnSpPr>
          <p:nvPr/>
        </p:nvCxnSpPr>
        <p:spPr>
          <a:xfrm>
            <a:off x="3712189" y="2333002"/>
            <a:ext cx="276552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">
            <a:extLst>
              <a:ext uri="{FF2B5EF4-FFF2-40B4-BE49-F238E27FC236}">
                <a16:creationId xmlns:a16="http://schemas.microsoft.com/office/drawing/2014/main" id="{7A777844-A1C8-E6C0-926F-DEDFB36614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04" y="1309505"/>
            <a:ext cx="2940685" cy="255333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244B2C3-8931-7D97-A8E7-8DC678900C8D}"/>
              </a:ext>
            </a:extLst>
          </p:cNvPr>
          <p:cNvSpPr txBox="1"/>
          <p:nvPr/>
        </p:nvSpPr>
        <p:spPr>
          <a:xfrm>
            <a:off x="6096000" y="674019"/>
            <a:ext cx="126669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8-16GB LPDDR5X</a:t>
            </a:r>
          </a:p>
          <a:p>
            <a:r>
              <a:rPr lang="en-US" sz="1050" dirty="0"/>
              <a:t>@ 50GB/s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80F8D21-69F3-537A-E8B9-24EF9726B39B}"/>
              </a:ext>
            </a:extLst>
          </p:cNvPr>
          <p:cNvCxnSpPr/>
          <p:nvPr/>
        </p:nvCxnSpPr>
        <p:spPr>
          <a:xfrm>
            <a:off x="6922093" y="1008289"/>
            <a:ext cx="376015" cy="30121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A502A6-004D-E6EF-B3DD-20BF743FF22B}"/>
              </a:ext>
            </a:extLst>
          </p:cNvPr>
          <p:cNvCxnSpPr/>
          <p:nvPr/>
        </p:nvCxnSpPr>
        <p:spPr>
          <a:xfrm flipH="1">
            <a:off x="3452501" y="1546789"/>
            <a:ext cx="982766" cy="23073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94C392E-6888-2CF6-5B39-C19AF74A496E}"/>
              </a:ext>
            </a:extLst>
          </p:cNvPr>
          <p:cNvSpPr txBox="1"/>
          <p:nvPr/>
        </p:nvSpPr>
        <p:spPr>
          <a:xfrm>
            <a:off x="4396373" y="1409035"/>
            <a:ext cx="9765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Up to 128GB</a:t>
            </a:r>
          </a:p>
          <a:p>
            <a:r>
              <a:rPr lang="en-US" sz="1100" dirty="0"/>
              <a:t>@ 200 GB/s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E503A1-B288-0A3E-FE9D-45C5FEE5F1FF}"/>
              </a:ext>
            </a:extLst>
          </p:cNvPr>
          <p:cNvCxnSpPr/>
          <p:nvPr/>
        </p:nvCxnSpPr>
        <p:spPr>
          <a:xfrm flipH="1" flipV="1">
            <a:off x="3392680" y="2743200"/>
            <a:ext cx="777668" cy="32474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BD78FC4-5AC8-CB16-669B-5AA68B25E3A5}"/>
              </a:ext>
            </a:extLst>
          </p:cNvPr>
          <p:cNvSpPr txBox="1"/>
          <p:nvPr/>
        </p:nvSpPr>
        <p:spPr>
          <a:xfrm>
            <a:off x="4150612" y="2977403"/>
            <a:ext cx="9733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Up to 32 MB</a:t>
            </a:r>
          </a:p>
        </p:txBody>
      </p:sp>
      <p:sp>
        <p:nvSpPr>
          <p:cNvPr id="53" name="Triangle 52">
            <a:extLst>
              <a:ext uri="{FF2B5EF4-FFF2-40B4-BE49-F238E27FC236}">
                <a16:creationId xmlns:a16="http://schemas.microsoft.com/office/drawing/2014/main" id="{BFF54D52-B343-0AA5-E8CD-CE4737711A9A}"/>
              </a:ext>
            </a:extLst>
          </p:cNvPr>
          <p:cNvSpPr/>
          <p:nvPr/>
        </p:nvSpPr>
        <p:spPr>
          <a:xfrm>
            <a:off x="771504" y="3862840"/>
            <a:ext cx="2877550" cy="538244"/>
          </a:xfrm>
          <a:prstGeom prst="triangle">
            <a:avLst/>
          </a:prstGeom>
          <a:solidFill>
            <a:srgbClr val="C7C7C7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442F1F9-F3E2-F8D1-F548-676CF91758EC}"/>
              </a:ext>
            </a:extLst>
          </p:cNvPr>
          <p:cNvGrpSpPr/>
          <p:nvPr/>
        </p:nvGrpSpPr>
        <p:grpSpPr>
          <a:xfrm>
            <a:off x="592410" y="4164056"/>
            <a:ext cx="3119779" cy="2157966"/>
            <a:chOff x="592410" y="4164056"/>
            <a:chExt cx="3119779" cy="2157966"/>
          </a:xfrm>
        </p:grpSpPr>
        <p:pic>
          <p:nvPicPr>
            <p:cNvPr id="49" name="Picture 48" descr="A diagram of a computer&#10;&#10;AI-generated content may be incorrect.">
              <a:extLst>
                <a:ext uri="{FF2B5EF4-FFF2-40B4-BE49-F238E27FC236}">
                  <a16:creationId xmlns:a16="http://schemas.microsoft.com/office/drawing/2014/main" id="{AC412258-F339-8C9E-2B4E-2A2EAE253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410" y="4164056"/>
              <a:ext cx="3119779" cy="2157966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CC7EDB9-610C-44F2-EBDC-40A7AA41A726}"/>
                </a:ext>
              </a:extLst>
            </p:cNvPr>
            <p:cNvSpPr txBox="1"/>
            <p:nvPr/>
          </p:nvSpPr>
          <p:spPr>
            <a:xfrm>
              <a:off x="2000434" y="4561699"/>
              <a:ext cx="4828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BGA</a:t>
              </a:r>
            </a:p>
          </p:txBody>
        </p:sp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911A606F-EBCF-ECA4-FD30-9157511ACF24}"/>
              </a:ext>
            </a:extLst>
          </p:cNvPr>
          <p:cNvGraphicFramePr>
            <a:graphicFrameLocks noGrp="1"/>
          </p:cNvGraphicFramePr>
          <p:nvPr/>
        </p:nvGraphicFramePr>
        <p:xfrm>
          <a:off x="6497404" y="4930217"/>
          <a:ext cx="4952173" cy="1324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810">
                  <a:extLst>
                    <a:ext uri="{9D8B030D-6E8A-4147-A177-3AD203B41FA5}">
                      <a16:colId xmlns:a16="http://schemas.microsoft.com/office/drawing/2014/main" val="2700981122"/>
                    </a:ext>
                  </a:extLst>
                </a:gridCol>
                <a:gridCol w="942867">
                  <a:extLst>
                    <a:ext uri="{9D8B030D-6E8A-4147-A177-3AD203B41FA5}">
                      <a16:colId xmlns:a16="http://schemas.microsoft.com/office/drawing/2014/main" val="1448574480"/>
                    </a:ext>
                  </a:extLst>
                </a:gridCol>
                <a:gridCol w="932942">
                  <a:extLst>
                    <a:ext uri="{9D8B030D-6E8A-4147-A177-3AD203B41FA5}">
                      <a16:colId xmlns:a16="http://schemas.microsoft.com/office/drawing/2014/main" val="107231465"/>
                    </a:ext>
                  </a:extLst>
                </a:gridCol>
                <a:gridCol w="1022266">
                  <a:extLst>
                    <a:ext uri="{9D8B030D-6E8A-4147-A177-3AD203B41FA5}">
                      <a16:colId xmlns:a16="http://schemas.microsoft.com/office/drawing/2014/main" val="1418429275"/>
                    </a:ext>
                  </a:extLst>
                </a:gridCol>
                <a:gridCol w="1100288">
                  <a:extLst>
                    <a:ext uri="{9D8B030D-6E8A-4147-A177-3AD203B41FA5}">
                      <a16:colId xmlns:a16="http://schemas.microsoft.com/office/drawing/2014/main" val="2248306924"/>
                    </a:ext>
                  </a:extLst>
                </a:gridCol>
              </a:tblGrid>
              <a:tr h="256316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Read BW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Write BW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Access (min)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29184"/>
                  </a:ext>
                </a:extLst>
              </a:tr>
              <a:tr h="267094">
                <a:tc>
                  <a:txBody>
                    <a:bodyPr/>
                    <a:lstStyle/>
                    <a:p>
                      <a:r>
                        <a:rPr lang="en-US" sz="1050" dirty="0"/>
                        <a:t>HBF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 TB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1.6 TB/s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64 GB/s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4KB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613803"/>
                  </a:ext>
                </a:extLst>
              </a:tr>
              <a:tr h="267094">
                <a:tc>
                  <a:txBody>
                    <a:bodyPr/>
                    <a:lstStyle/>
                    <a:p>
                      <a:r>
                        <a:rPr lang="en-US" sz="1050" dirty="0"/>
                        <a:t>DRAM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64-128 GB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400 GB/s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400 GB/s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32B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134630"/>
                  </a:ext>
                </a:extLst>
              </a:tr>
              <a:tr h="267094">
                <a:tc>
                  <a:txBody>
                    <a:bodyPr/>
                    <a:lstStyle/>
                    <a:p>
                      <a:r>
                        <a:rPr lang="en-US" sz="1050" dirty="0"/>
                        <a:t>SRAM (SoC)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256 MB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4 TB/s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4 TB/s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64B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347251"/>
                  </a:ext>
                </a:extLst>
              </a:tr>
              <a:tr h="267094">
                <a:tc>
                  <a:txBody>
                    <a:bodyPr/>
                    <a:lstStyle/>
                    <a:p>
                      <a:r>
                        <a:rPr lang="en-US" sz="1050" dirty="0"/>
                        <a:t>SRAM (NPU)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96 MB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&gt;10 TB/s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&gt;10 TB/s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429959"/>
                  </a:ext>
                </a:extLst>
              </a:tr>
            </a:tbl>
          </a:graphicData>
        </a:graphic>
      </p:graphicFrame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CC412B0-AA5E-34B3-BBB6-0AC400A06794}"/>
              </a:ext>
            </a:extLst>
          </p:cNvPr>
          <p:cNvCxnSpPr>
            <a:cxnSpLocks/>
          </p:cNvCxnSpPr>
          <p:nvPr/>
        </p:nvCxnSpPr>
        <p:spPr>
          <a:xfrm flipH="1" flipV="1">
            <a:off x="2946400" y="3592945"/>
            <a:ext cx="1102871" cy="12007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0BA6DF-B8BB-EA6D-5335-325FECF3548C}"/>
              </a:ext>
            </a:extLst>
          </p:cNvPr>
          <p:cNvSpPr txBox="1"/>
          <p:nvPr/>
        </p:nvSpPr>
        <p:spPr>
          <a:xfrm>
            <a:off x="3962318" y="3600921"/>
            <a:ext cx="13628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 64 TOPS/TFLOPS</a:t>
            </a:r>
          </a:p>
          <a:p>
            <a:r>
              <a:rPr lang="en-US" sz="1100" dirty="0"/>
              <a:t>(INT8/FP8)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FF8CDC-7ED9-0E53-F8A7-D1B9BEF17DF7}"/>
              </a:ext>
            </a:extLst>
          </p:cNvPr>
          <p:cNvGrpSpPr/>
          <p:nvPr/>
        </p:nvGrpSpPr>
        <p:grpSpPr>
          <a:xfrm>
            <a:off x="6096000" y="1124578"/>
            <a:ext cx="5584825" cy="3689350"/>
            <a:chOff x="6096000" y="1124578"/>
            <a:chExt cx="5584825" cy="3689350"/>
          </a:xfrm>
        </p:grpSpPr>
        <p:pic>
          <p:nvPicPr>
            <p:cNvPr id="8" name="Graphic 1">
              <a:extLst>
                <a:ext uri="{FF2B5EF4-FFF2-40B4-BE49-F238E27FC236}">
                  <a16:creationId xmlns:a16="http://schemas.microsoft.com/office/drawing/2014/main" id="{F6564DDF-6A79-8355-7C53-9C92041D31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96000" y="1124578"/>
              <a:ext cx="5584825" cy="3689350"/>
            </a:xfrm>
            <a:prstGeom prst="rect">
              <a:avLst/>
            </a:prstGeom>
          </p:spPr>
        </p:pic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D0B0E00D-115C-F973-D461-6D7B0E01E7EF}"/>
                </a:ext>
              </a:extLst>
            </p:cNvPr>
            <p:cNvSpPr txBox="1"/>
            <p:nvPr/>
          </p:nvSpPr>
          <p:spPr>
            <a:xfrm>
              <a:off x="6409503" y="1331061"/>
              <a:ext cx="7296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Module 1</a:t>
              </a: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D3FDAC08-139E-C35C-635B-7D2D520849F8}"/>
                </a:ext>
              </a:extLst>
            </p:cNvPr>
            <p:cNvSpPr txBox="1"/>
            <p:nvPr/>
          </p:nvSpPr>
          <p:spPr>
            <a:xfrm>
              <a:off x="7862268" y="1331061"/>
              <a:ext cx="7601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Module 2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7CFD3595-E90E-AC50-0E87-2EAB5AFC10CA}"/>
                </a:ext>
              </a:extLst>
            </p:cNvPr>
            <p:cNvSpPr txBox="1"/>
            <p:nvPr/>
          </p:nvSpPr>
          <p:spPr>
            <a:xfrm>
              <a:off x="10058305" y="1331061"/>
              <a:ext cx="7601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Module 8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F6CF4FF0-3151-138E-1430-2EC74F4C9705}"/>
                </a:ext>
              </a:extLst>
            </p:cNvPr>
            <p:cNvSpPr txBox="1"/>
            <p:nvPr/>
          </p:nvSpPr>
          <p:spPr>
            <a:xfrm>
              <a:off x="9957734" y="4289550"/>
              <a:ext cx="162736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NPU (FP8): 512 TFLOPS</a:t>
              </a:r>
            </a:p>
            <a:p>
              <a:r>
                <a:rPr lang="en-US" sz="1050" dirty="0"/>
                <a:t>HBF Capacity: 1 TB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341190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10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MOE PLACEMENT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448288" y="292608"/>
            <a:ext cx="201168" cy="201168"/>
          </a:xfrm>
          <a:prstGeom prst="rect">
            <a:avLst/>
          </a:prstGeom>
          <a:solidFill>
            <a:srgbClr val="E10600"/>
          </a:solidFill>
          <a:ln w="8255">
            <a:solidFill>
              <a:srgbClr val="E10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667512"/>
            <a:ext cx="110276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a complete serving group—not just card capacity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1261872"/>
            <a:ext cx="11045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235B-class FP8 model pack: 250 GB, including a provisional layout allowance.</a:t>
            </a:r>
            <a:endParaRPr lang="en-US" sz="148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1100816" cy="0"/>
          </a:xfrm>
          <a:prstGeom prst="line">
            <a:avLst/>
          </a:prstGeom>
          <a:noFill/>
          <a:ln w="1270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655624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03120" y="6556248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 |  ©2026 SANDISK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89320" y="6556248"/>
            <a:ext cx="4910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CAPACITY-LED PLACEMENT EXAMPLE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24712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6432804"/>
            <a:ext cx="7315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I3, R1, R9, R11 · Details in notes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2048256"/>
            <a:ext cx="5376672" cy="3483864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825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" y="226771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75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RTX RESIDENT GROUP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1248" y="2724912"/>
            <a:ext cx="46451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5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GPU cards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68680" y="3383280"/>
            <a:ext cx="1005840" cy="731520"/>
          </a:xfrm>
          <a:prstGeom prst="roundRect">
            <a:avLst>
              <a:gd name="adj" fmla="val 15000"/>
            </a:avLst>
          </a:prstGeom>
          <a:solidFill>
            <a:srgbClr val="E9F0F5"/>
          </a:solidFill>
          <a:ln w="8255">
            <a:solidFill>
              <a:srgbClr val="E9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5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57400" y="3383280"/>
            <a:ext cx="1005840" cy="731520"/>
          </a:xfrm>
          <a:prstGeom prst="roundRect">
            <a:avLst>
              <a:gd name="adj" fmla="val 15000"/>
            </a:avLst>
          </a:prstGeom>
          <a:solidFill>
            <a:srgbClr val="E9F0F5"/>
          </a:solidFill>
          <a:ln w="8255">
            <a:solidFill>
              <a:srgbClr val="E9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03120" y="356616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5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46120" y="3383280"/>
            <a:ext cx="1005840" cy="731520"/>
          </a:xfrm>
          <a:prstGeom prst="roundRect">
            <a:avLst>
              <a:gd name="adj" fmla="val 15000"/>
            </a:avLst>
          </a:prstGeom>
          <a:solidFill>
            <a:srgbClr val="E9F0F5"/>
          </a:solidFill>
          <a:ln w="8255">
            <a:solidFill>
              <a:srgbClr val="E9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356616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5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34840" y="3383280"/>
            <a:ext cx="1005840" cy="731520"/>
          </a:xfrm>
          <a:prstGeom prst="roundRect">
            <a:avLst>
              <a:gd name="adj" fmla="val 15000"/>
            </a:avLst>
          </a:prstGeom>
          <a:solidFill>
            <a:srgbClr val="E9F0F5"/>
          </a:solidFill>
          <a:ln w="8255">
            <a:solidFill>
              <a:srgbClr val="E9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356616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5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4471416"/>
            <a:ext cx="4709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 GB weights in 384 GB GDDR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~96 GB logical KV after a 10% reserve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dual-GPU 2U nodes—or a larger GPU host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99632" y="2048256"/>
            <a:ext cx="5385816" cy="3483864"/>
          </a:xfrm>
          <a:prstGeom prst="roundRect">
            <a:avLst>
              <a:gd name="adj" fmla="val 3150"/>
            </a:avLst>
          </a:prstGeom>
          <a:solidFill>
            <a:srgbClr val="F4EDEA"/>
          </a:solidFill>
          <a:ln w="825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28232" y="226771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72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ATMOS GROUP TO QUALIFY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37376" y="2724912"/>
            <a:ext cx="4690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72C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card / 8 modules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6446520" y="3383280"/>
            <a:ext cx="484632" cy="731520"/>
          </a:xfrm>
          <a:prstGeom prst="roundRect">
            <a:avLst>
              <a:gd name="adj" fmla="val 22642"/>
            </a:avLst>
          </a:prstGeom>
          <a:solidFill>
            <a:srgbClr val="772C22"/>
          </a:solidFill>
          <a:ln w="8255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46520" y="359359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40880" y="3383280"/>
            <a:ext cx="484632" cy="731520"/>
          </a:xfrm>
          <a:prstGeom prst="roundRect">
            <a:avLst>
              <a:gd name="adj" fmla="val 22642"/>
            </a:avLst>
          </a:prstGeom>
          <a:solidFill>
            <a:srgbClr val="772C22"/>
          </a:solidFill>
          <a:ln w="8255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40880" y="359359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35240" y="3383280"/>
            <a:ext cx="484632" cy="731520"/>
          </a:xfrm>
          <a:prstGeom prst="roundRect">
            <a:avLst>
              <a:gd name="adj" fmla="val 22642"/>
            </a:avLst>
          </a:prstGeom>
          <a:solidFill>
            <a:srgbClr val="772C22"/>
          </a:solidFill>
          <a:ln w="8255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35240" y="359359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0" y="3383280"/>
            <a:ext cx="484632" cy="731520"/>
          </a:xfrm>
          <a:prstGeom prst="roundRect">
            <a:avLst>
              <a:gd name="adj" fmla="val 22642"/>
            </a:avLst>
          </a:prstGeom>
          <a:solidFill>
            <a:srgbClr val="772C22"/>
          </a:solidFill>
          <a:ln w="8255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0" y="359359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23960" y="3383280"/>
            <a:ext cx="484632" cy="731520"/>
          </a:xfrm>
          <a:prstGeom prst="roundRect">
            <a:avLst>
              <a:gd name="adj" fmla="val 22642"/>
            </a:avLst>
          </a:prstGeom>
          <a:solidFill>
            <a:srgbClr val="772C22"/>
          </a:solidFill>
          <a:ln w="8255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823960" y="359359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418320" y="3383280"/>
            <a:ext cx="484632" cy="731520"/>
          </a:xfrm>
          <a:prstGeom prst="roundRect">
            <a:avLst>
              <a:gd name="adj" fmla="val 22642"/>
            </a:avLst>
          </a:prstGeom>
          <a:solidFill>
            <a:srgbClr val="772C22"/>
          </a:solidFill>
          <a:ln w="8255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18320" y="359359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012680" y="3383280"/>
            <a:ext cx="484632" cy="731520"/>
          </a:xfrm>
          <a:prstGeom prst="roundRect">
            <a:avLst>
              <a:gd name="adj" fmla="val 22642"/>
            </a:avLst>
          </a:prstGeom>
          <a:solidFill>
            <a:srgbClr val="772C22"/>
          </a:solidFill>
          <a:ln w="8255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012680" y="359359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607040" y="3383280"/>
            <a:ext cx="484632" cy="731520"/>
          </a:xfrm>
          <a:prstGeom prst="roundRect">
            <a:avLst>
              <a:gd name="adj" fmla="val 22642"/>
            </a:avLst>
          </a:prstGeom>
          <a:solidFill>
            <a:srgbClr val="772C22"/>
          </a:solidFill>
          <a:ln w="8255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607040" y="359359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37376" y="4471416"/>
            <a:ext cx="47000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 GB weights in the HBF target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 GB KV from a 128 GB LPDDR option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TP / EP / pipeline coordination remains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30352" y="5980176"/>
            <a:ext cx="11091672" cy="420624"/>
          </a:xfrm>
          <a:prstGeom prst="roundRect">
            <a:avLst>
              <a:gd name="adj" fmla="val 26087"/>
            </a:avLst>
          </a:prstGeom>
          <a:solidFill>
            <a:srgbClr val="161616"/>
          </a:solidFill>
          <a:ln w="8255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31520" y="602589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residency comparison—not a 4× throughput or replacement claim. Smaller GPU packs/offload remain alternatives.</a:t>
            </a:r>
            <a:endParaRPr lang="en-US" sz="1400" dirty="0"/>
          </a:p>
        </p:txBody>
      </p:sp>
      <p:grpSp>
        <p:nvGrpSpPr>
          <p:cNvPr id="46" name="Source SanDisk brand 0">
            <a:extLst>
              <a:ext uri="{FF2B5EF4-FFF2-40B4-BE49-F238E27FC236}">
                <a16:creationId xmlns:a16="http://schemas.microsoft.com/office/drawing/2014/main" id="{A6A692BC-3C6C-56BD-8B34-32B6817D15D4}"/>
              </a:ext>
            </a:extLst>
          </p:cNvPr>
          <p:cNvGrpSpPr/>
          <p:nvPr/>
        </p:nvGrpSpPr>
        <p:grpSpPr>
          <a:xfrm>
            <a:off x="539496" y="6547104"/>
            <a:ext cx="1280160" cy="128016"/>
            <a:chOff x="297005" y="5421618"/>
            <a:chExt cx="11585651" cy="1156649"/>
          </a:xfrm>
          <a:solidFill>
            <a:schemeClr val="accent3"/>
          </a:solidFill>
        </p:grpSpPr>
        <p:grpSp>
          <p:nvGrpSpPr>
            <p:cNvPr id="47" name="Source SanDisk brand 1">
              <a:extLst>
                <a:ext uri="{FF2B5EF4-FFF2-40B4-BE49-F238E27FC236}">
                  <a16:creationId xmlns:a16="http://schemas.microsoft.com/office/drawing/2014/main" id="{50FD88E0-3A7B-F830-D901-1BE0676304ED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48" name="Source SanDisk brand 2">
                <a:extLst>
                  <a:ext uri="{FF2B5EF4-FFF2-40B4-BE49-F238E27FC236}">
                    <a16:creationId xmlns:a16="http://schemas.microsoft.com/office/drawing/2014/main" id="{BF52D899-1363-DEA1-6063-C8949655B805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Source SanDisk brand 3">
                <a:extLst>
                  <a:ext uri="{FF2B5EF4-FFF2-40B4-BE49-F238E27FC236}">
                    <a16:creationId xmlns:a16="http://schemas.microsoft.com/office/drawing/2014/main" id="{4D5E0007-2AC5-2685-4C2D-CF96C07C7ED0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Source SanDisk brand 4">
                <a:extLst>
                  <a:ext uri="{FF2B5EF4-FFF2-40B4-BE49-F238E27FC236}">
                    <a16:creationId xmlns:a16="http://schemas.microsoft.com/office/drawing/2014/main" id="{9164FD13-1646-7FD2-5414-F5FB8722267D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Source SanDisk brand 5">
                <a:extLst>
                  <a:ext uri="{FF2B5EF4-FFF2-40B4-BE49-F238E27FC236}">
                    <a16:creationId xmlns:a16="http://schemas.microsoft.com/office/drawing/2014/main" id="{3CEC4686-88E3-A390-9C59-C52AEAD5DDB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Source SanDisk brand 6">
                <a:extLst>
                  <a:ext uri="{FF2B5EF4-FFF2-40B4-BE49-F238E27FC236}">
                    <a16:creationId xmlns:a16="http://schemas.microsoft.com/office/drawing/2014/main" id="{3DA57102-8664-4537-0C96-1D776169644E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Source SanDisk brand 7">
                <a:extLst>
                  <a:ext uri="{FF2B5EF4-FFF2-40B4-BE49-F238E27FC236}">
                    <a16:creationId xmlns:a16="http://schemas.microsoft.com/office/drawing/2014/main" id="{5A49FBDA-20CE-D350-85F4-D7B8C67413B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Source SanDisk brand 8">
                <a:extLst>
                  <a:ext uri="{FF2B5EF4-FFF2-40B4-BE49-F238E27FC236}">
                    <a16:creationId xmlns:a16="http://schemas.microsoft.com/office/drawing/2014/main" id="{6A87A37E-58CF-CB04-6B8E-B4B9738F218D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Source SanDisk brand 9">
                <a:extLst>
                  <a:ext uri="{FF2B5EF4-FFF2-40B4-BE49-F238E27FC236}">
                    <a16:creationId xmlns:a16="http://schemas.microsoft.com/office/drawing/2014/main" id="{D6B4B94F-9063-7C67-5801-B3828727A687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Source SanDisk brand 10">
                <a:extLst>
                  <a:ext uri="{FF2B5EF4-FFF2-40B4-BE49-F238E27FC236}">
                    <a16:creationId xmlns:a16="http://schemas.microsoft.com/office/drawing/2014/main" id="{D10C90D8-745C-4517-452F-8D9398F858A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7" name="Source SanDisk brand 11">
              <a:extLst>
                <a:ext uri="{FF2B5EF4-FFF2-40B4-BE49-F238E27FC236}">
                  <a16:creationId xmlns:a16="http://schemas.microsoft.com/office/drawing/2014/main" id="{5486611C-7296-3F16-EE92-FF3602ECC95B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58" name="Source SanDisk brand 12">
                <a:extLst>
                  <a:ext uri="{FF2B5EF4-FFF2-40B4-BE49-F238E27FC236}">
                    <a16:creationId xmlns:a16="http://schemas.microsoft.com/office/drawing/2014/main" id="{B0C1A2A3-93DA-837F-A5A0-B25E09D76DE0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0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Source SanDisk brand 13">
                <a:extLst>
                  <a:ext uri="{FF2B5EF4-FFF2-40B4-BE49-F238E27FC236}">
                    <a16:creationId xmlns:a16="http://schemas.microsoft.com/office/drawing/2014/main" id="{BAD87224-DE76-7FF9-D1D4-86623728FE0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0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0" name="Shape 3">
            <a:extLst>
              <a:ext uri="{FF2B5EF4-FFF2-40B4-BE49-F238E27FC236}">
                <a16:creationId xmlns:a16="http://schemas.microsoft.com/office/drawing/2014/main" id="{5E87642C-2ABE-D179-1D3B-915995B6FBE0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" dirty="0">
                <a:solidFill>
                  <a:srgbClr val="E10600"/>
                </a:solidFill>
              </a:rPr>
              <a:t>MULTI-MODEL SERVING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ATMOS can turn per-card capacity into model-level placement flexibility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6868"/>
                </a:solidFill>
              </a:rPr>
              <a:t>The advantage is strongest when NPU groups are independently schedulable and shared-memory QoS is enforced.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516636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B8C8D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947672"/>
            <a:ext cx="3154680" cy="292608"/>
          </a:xfrm>
          <a:prstGeom prst="roundRect">
            <a:avLst>
              <a:gd name="adj" fmla="val 18750"/>
            </a:avLst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00253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RTX PRO 6000: partition a 96 GB GPU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359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Small models pack well with MIG / MPS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2724912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86868"/>
                </a:solidFill>
              </a:rPr>
              <a:t>But a large MoE still spans multiple GPUs when the full weight set exceeds native GDDR.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41248" y="3319272"/>
            <a:ext cx="4370832" cy="1207008"/>
          </a:xfrm>
          <a:prstGeom prst="roundRect">
            <a:avLst>
              <a:gd name="adj" fmla="val 3788"/>
            </a:avLst>
          </a:prstGeom>
          <a:solidFill>
            <a:srgbClr val="EDF6FA"/>
          </a:solidFill>
          <a:ln w="2032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3456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5985"/>
                </a:solidFill>
              </a:rPr>
              <a:t>96 GB GDDR7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67712" y="3456432"/>
            <a:ext cx="576072" cy="694944"/>
          </a:xfrm>
          <a:prstGeom prst="roundRect">
            <a:avLst>
              <a:gd name="adj" fmla="val 4762"/>
            </a:avLst>
          </a:prstGeom>
          <a:solidFill>
            <a:srgbClr val="B9DBEA"/>
          </a:solidFill>
          <a:ln w="1016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13432" y="3611880"/>
            <a:ext cx="484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E3A5F"/>
                </a:solidFill>
              </a:rPr>
              <a:t>MIG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E3A5F"/>
                </a:solidFill>
              </a:rPr>
              <a:t>1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971800" y="3456432"/>
            <a:ext cx="576072" cy="694944"/>
          </a:xfrm>
          <a:prstGeom prst="roundRect">
            <a:avLst>
              <a:gd name="adj" fmla="val 4762"/>
            </a:avLst>
          </a:prstGeom>
          <a:solidFill>
            <a:srgbClr val="B9DBEA"/>
          </a:solidFill>
          <a:ln w="1016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17520" y="3611880"/>
            <a:ext cx="484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E3A5F"/>
                </a:solidFill>
              </a:rPr>
              <a:t>MIG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E3A5F"/>
                </a:solidFill>
              </a:rPr>
              <a:t>2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675888" y="3456432"/>
            <a:ext cx="576072" cy="694944"/>
          </a:xfrm>
          <a:prstGeom prst="roundRect">
            <a:avLst>
              <a:gd name="adj" fmla="val 4762"/>
            </a:avLst>
          </a:prstGeom>
          <a:solidFill>
            <a:srgbClr val="D7EAF2"/>
          </a:solidFill>
          <a:ln w="1016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21608" y="3611880"/>
            <a:ext cx="484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E3A5F"/>
                </a:solidFill>
              </a:rPr>
              <a:t>MIG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E3A5F"/>
                </a:solidFill>
              </a:rPr>
              <a:t>3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379976" y="3456432"/>
            <a:ext cx="576072" cy="694944"/>
          </a:xfrm>
          <a:prstGeom prst="roundRect">
            <a:avLst>
              <a:gd name="adj" fmla="val 4762"/>
            </a:avLst>
          </a:prstGeom>
          <a:solidFill>
            <a:srgbClr val="D7EAF2"/>
          </a:solidFill>
          <a:ln w="1016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25696" y="3611880"/>
            <a:ext cx="484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E3A5F"/>
                </a:solidFill>
              </a:rPr>
              <a:t>MIG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E3A5F"/>
                </a:solidFill>
              </a:rPr>
              <a:t>4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969264" y="470001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Large MoE path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12848" y="4626864"/>
            <a:ext cx="530352" cy="502920"/>
          </a:xfrm>
          <a:prstGeom prst="roundRect">
            <a:avLst>
              <a:gd name="adj" fmla="val 5455"/>
            </a:avLst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40280" y="477316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GPU 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52344" y="4764024"/>
            <a:ext cx="155448" cy="192024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07792" y="4626864"/>
            <a:ext cx="530352" cy="502920"/>
          </a:xfrm>
          <a:prstGeom prst="roundRect">
            <a:avLst>
              <a:gd name="adj" fmla="val 5455"/>
            </a:avLst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35224" y="477316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GPU 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47288" y="4764024"/>
            <a:ext cx="155448" cy="192024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02736" y="4626864"/>
            <a:ext cx="530352" cy="502920"/>
          </a:xfrm>
          <a:prstGeom prst="roundRect">
            <a:avLst>
              <a:gd name="adj" fmla="val 5455"/>
            </a:avLst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30168" y="477316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GPU 3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42232" y="4764024"/>
            <a:ext cx="155448" cy="192024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97680" y="4626864"/>
            <a:ext cx="530352" cy="502920"/>
          </a:xfrm>
          <a:prstGeom prst="roundRect">
            <a:avLst>
              <a:gd name="adj" fmla="val 5455"/>
            </a:avLst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25112" y="477316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GPU 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76272" y="5239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86868"/>
                </a:solidFill>
              </a:rPr>
              <a:t>Expert / tensor shards communicate over PCIe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" y="5577840"/>
            <a:ext cx="4526280" cy="310896"/>
          </a:xfrm>
          <a:prstGeom prst="roundRect">
            <a:avLst>
              <a:gd name="adj" fmla="val 14706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77824" y="5669280"/>
            <a:ext cx="4270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E3A5F"/>
                </a:solidFill>
              </a:rPr>
              <a:t>RTX strength: mature partitioning for small models. Constraint: model capacity and cross-GPU communication for very large models.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5925312" y="1719072"/>
            <a:ext cx="576072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4A8A1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81344" y="1947672"/>
            <a:ext cx="4434840" cy="292608"/>
          </a:xfrm>
          <a:prstGeom prst="roundRect">
            <a:avLst>
              <a:gd name="adj" fmla="val 18750"/>
            </a:avLst>
          </a:prstGeom>
          <a:solidFill>
            <a:srgbClr val="772C22"/>
          </a:solidFill>
          <a:ln w="12700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54496" y="2002536"/>
            <a:ext cx="4288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ATMOS: group eight NPU modules around shared model capacity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81344" y="2359152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Allocate compute by model size, keep weights local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81344" y="2724912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86868"/>
                </a:solidFill>
              </a:rPr>
              <a:t>Illustrative 1 + 1 + 6 allocation. This requires independent queues, memory protection and bandwidth control.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6272784" y="3264408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6510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19088" y="3401568"/>
            <a:ext cx="4681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72C22"/>
                </a:solidFill>
              </a:rPr>
              <a:t>SHARED INTEGRATED MODEL CAPACITY  •  persistent model portfolio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0216" y="3941064"/>
            <a:ext cx="713232" cy="1005840"/>
          </a:xfrm>
          <a:prstGeom prst="roundRect">
            <a:avLst>
              <a:gd name="adj" fmla="val 5128"/>
            </a:avLst>
          </a:prstGeom>
          <a:solidFill>
            <a:srgbClr val="FCE8E6"/>
          </a:solidFill>
          <a:ln w="13970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45936" y="40965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72C22"/>
                </a:solidFill>
              </a:rPr>
              <a:t>NPU 0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6355080" y="437997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</a:rPr>
              <a:t>Embedding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7077456" y="3941064"/>
            <a:ext cx="713232" cy="1005840"/>
          </a:xfrm>
          <a:prstGeom prst="roundRect">
            <a:avLst>
              <a:gd name="adj" fmla="val 5128"/>
            </a:avLst>
          </a:prstGeom>
          <a:solidFill>
            <a:srgbClr val="F8D3CF"/>
          </a:solidFill>
          <a:ln w="13970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23176" y="40965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72C22"/>
                </a:solidFill>
              </a:rPr>
              <a:t>NPU 1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7132320" y="437997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</a:rPr>
              <a:t>Reranker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7863840" y="3941064"/>
            <a:ext cx="3364992" cy="1005840"/>
          </a:xfrm>
          <a:prstGeom prst="roundRect">
            <a:avLst>
              <a:gd name="adj" fmla="val 3636"/>
            </a:avLst>
          </a:prstGeom>
          <a:solidFill>
            <a:srgbClr val="F4BBB4"/>
          </a:solidFill>
          <a:ln w="13970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909560" y="409651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72C22"/>
                </a:solidFill>
              </a:rPr>
              <a:t>NPUs 2–7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918704" y="4379976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Large dense / MoE model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309360" y="5138928"/>
            <a:ext cx="4919472" cy="365760"/>
          </a:xfrm>
          <a:prstGeom prst="roundRect">
            <a:avLst>
              <a:gd name="adj" fmla="val 7500"/>
            </a:avLst>
          </a:prstGeom>
          <a:solidFill>
            <a:srgbClr val="F5F5F4"/>
          </a:solidFill>
          <a:ln w="1016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46520" y="5248656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F172A"/>
                </a:solidFill>
              </a:rPr>
              <a:t>ATMOS runtime: model binding • queue priority • cache / prefetch • memory QoS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6181344" y="5577840"/>
            <a:ext cx="5138928" cy="310896"/>
          </a:xfrm>
          <a:prstGeom prst="roundRect">
            <a:avLst>
              <a:gd name="adj" fmla="val 14706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09360" y="5669280"/>
            <a:ext cx="4882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772C22"/>
                </a:solidFill>
              </a:rPr>
              <a:t>ATMOS opportunity: use small groups for dense models and a larger group for MoE, without forcing the MoE across separate PCIe GPU cards.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5779008" y="1856232"/>
            <a:ext cx="0" cy="3977640"/>
          </a:xfrm>
          <a:prstGeom prst="line">
            <a:avLst/>
          </a:prstGeom>
          <a:noFill/>
          <a:ln w="1397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660136" y="3657600"/>
            <a:ext cx="256032" cy="201168"/>
          </a:xfrm>
          <a:prstGeom prst="rect">
            <a:avLst/>
          </a:prstGeom>
          <a:solidFill>
            <a:srgbClr val="FFFCF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86868"/>
                </a:solidFill>
              </a:rPr>
              <a:t>VS</a:t>
            </a:r>
            <a:endParaRPr lang="en-US" sz="100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 marL="0" algn="l" defTabSz="914400" rtl="0" eaLnBrk="1" latinLnBrk="0" hangingPunct="1">
              <a:defRPr sz="900" kern="1200">
                <a:solidFill>
                  <a:srgbClr val="686868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6</a:t>
            </a:fld>
            <a:endParaRPr lang="en-US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3C954A3A-F9FD-CFDB-A59A-82D9F1359EA5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" dirty="0">
                <a:solidFill>
                  <a:srgbClr val="E10600"/>
                </a:solidFill>
              </a:rPr>
              <a:t>MULTI-MODEL ECONOMICS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The win is not “more partitions.” It is better packing of a mixed model portfolio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6868"/>
                </a:solidFill>
              </a:rPr>
              <a:t>Illustrative deployment map: compare SLO-qualified work per server after model fit, routing, isolation and bandwidth contention.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64792"/>
            <a:ext cx="1965960" cy="896112"/>
          </a:xfrm>
          <a:prstGeom prst="roundRect">
            <a:avLst>
              <a:gd name="adj" fmla="val 8163"/>
            </a:avLst>
          </a:prstGeom>
          <a:solidFill>
            <a:srgbClr val="E0F2FE"/>
          </a:solidFill>
          <a:ln w="12700">
            <a:solidFill>
              <a:srgbClr val="07598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90195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</a:rPr>
              <a:t>Embedding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04088" y="215798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86868"/>
                </a:solidFill>
              </a:rPr>
              <a:t>Small dense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86868"/>
                </a:solidFill>
              </a:rPr>
              <a:t>High-QPS batchable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2697480" y="1764792"/>
            <a:ext cx="1965960" cy="896112"/>
          </a:xfrm>
          <a:prstGeom prst="roundRect">
            <a:avLst>
              <a:gd name="adj" fmla="val 8163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07208" y="190195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</a:rPr>
              <a:t>Neural reranker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2807208" y="215798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86868"/>
                </a:solidFill>
              </a:rPr>
              <a:t>Small / medium dense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86868"/>
                </a:solidFill>
              </a:rPr>
              <a:t>Candidate batches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800600" y="1764792"/>
            <a:ext cx="1965960" cy="896112"/>
          </a:xfrm>
          <a:prstGeom prst="roundRect">
            <a:avLst>
              <a:gd name="adj" fmla="val 8163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190195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</a:rPr>
              <a:t>Domain model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910328" y="215798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86868"/>
                </a:solidFill>
              </a:rPr>
              <a:t>Medium dense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86868"/>
                </a:solidFill>
              </a:rPr>
              <a:t>Interactive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903720" y="1764792"/>
            <a:ext cx="1965960" cy="896112"/>
          </a:xfrm>
          <a:prstGeom prst="roundRect">
            <a:avLst>
              <a:gd name="adj" fmla="val 8163"/>
            </a:avLst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13448" y="190195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</a:rPr>
              <a:t>Large LLM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013448" y="215798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86868"/>
                </a:solidFill>
              </a:rPr>
              <a:t>70B-class dense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86868"/>
                </a:solidFill>
              </a:rPr>
              <a:t>Long-context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006840" y="1764792"/>
            <a:ext cx="2514600" cy="896112"/>
          </a:xfrm>
          <a:prstGeom prst="roundRect">
            <a:avLst>
              <a:gd name="adj" fmla="val 8163"/>
            </a:avLst>
          </a:prstGeom>
          <a:solidFill>
            <a:srgbClr val="FEE2E2"/>
          </a:solidFill>
          <a:ln w="12700">
            <a:solidFill>
              <a:srgbClr val="E1060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16568" y="190195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</a:rPr>
              <a:t>Large MoE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116568" y="2157984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86868"/>
                </a:solidFill>
              </a:rPr>
              <a:t>Hundreds of billions+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86868"/>
                </a:solidFill>
              </a:rPr>
              <a:t>Sparse expert serving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94360" y="2898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How the same portfolio packs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4360" y="3236976"/>
            <a:ext cx="2057400" cy="438912"/>
          </a:xfrm>
          <a:prstGeom prst="rect">
            <a:avLst/>
          </a:prstGeom>
          <a:solidFill>
            <a:srgbClr val="334155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" y="3355848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FFFFF"/>
                </a:solidFill>
              </a:rPr>
              <a:t>Platform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2651760" y="3236976"/>
            <a:ext cx="3383280" cy="438912"/>
          </a:xfrm>
          <a:prstGeom prst="rect">
            <a:avLst/>
          </a:prstGeom>
          <a:solidFill>
            <a:srgbClr val="075985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24912" y="3355848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</a:rPr>
              <a:t>Small-model placement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6035040" y="3236976"/>
            <a:ext cx="3520440" cy="438912"/>
          </a:xfrm>
          <a:prstGeom prst="rect">
            <a:avLst/>
          </a:prstGeom>
          <a:solidFill>
            <a:srgbClr val="772C2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08192" y="3355848"/>
            <a:ext cx="3374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</a:rPr>
              <a:t>Large-model placement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9555480" y="3236976"/>
            <a:ext cx="1874520" cy="438912"/>
          </a:xfrm>
          <a:prstGeom prst="rect">
            <a:avLst/>
          </a:prstGeom>
          <a:solidFill>
            <a:srgbClr val="64748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28632" y="3355848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</a:rPr>
              <a:t>Primary tax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94360" y="3675888"/>
            <a:ext cx="2057400" cy="859536"/>
          </a:xfrm>
          <a:prstGeom prst="rect">
            <a:avLst/>
          </a:prstGeom>
          <a:solidFill>
            <a:srgbClr val="F5FAFC"/>
          </a:solidFill>
          <a:ln w="762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3785616"/>
            <a:ext cx="18745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5985"/>
                </a:solidFill>
              </a:rPr>
              <a:t>RTX PRO server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651760" y="3675888"/>
            <a:ext cx="3383280" cy="859536"/>
          </a:xfrm>
          <a:prstGeom prst="rect">
            <a:avLst/>
          </a:prstGeom>
          <a:solidFill>
            <a:srgbClr val="F5FAFC"/>
          </a:solidFill>
          <a:ln w="762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0" y="3785616"/>
            <a:ext cx="32004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</a:rPr>
              <a:t>MIG / MPS efficiently pack small models inside each 96 GB GPU.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035040" y="3675888"/>
            <a:ext cx="3520440" cy="859536"/>
          </a:xfrm>
          <a:prstGeom prst="rect">
            <a:avLst/>
          </a:prstGeom>
          <a:solidFill>
            <a:srgbClr val="F5FAFC"/>
          </a:solidFill>
          <a:ln w="762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26480" y="3785616"/>
            <a:ext cx="3337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</a:rPr>
              <a:t>Large dense/MoE weights span several GPUs; model path depends on PCIe collectives.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9555480" y="3675888"/>
            <a:ext cx="1874520" cy="859536"/>
          </a:xfrm>
          <a:prstGeom prst="rect">
            <a:avLst/>
          </a:prstGeom>
          <a:solidFill>
            <a:srgbClr val="F5FAFC"/>
          </a:solidFill>
          <a:ln w="762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46920" y="3785616"/>
            <a:ext cx="1691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</a:rPr>
              <a:t>Capacity sharding + communication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594360" y="4535424"/>
            <a:ext cx="2057400" cy="859536"/>
          </a:xfrm>
          <a:prstGeom prst="rect">
            <a:avLst/>
          </a:prstGeom>
          <a:solidFill>
            <a:srgbClr val="FFF7F5"/>
          </a:solidFill>
          <a:ln w="762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4645152"/>
            <a:ext cx="18745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72C22"/>
                </a:solidFill>
              </a:rPr>
              <a:t>ATMOS server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651760" y="4535424"/>
            <a:ext cx="3383280" cy="859536"/>
          </a:xfrm>
          <a:prstGeom prst="rect">
            <a:avLst/>
          </a:prstGeom>
          <a:solidFill>
            <a:srgbClr val="FFF7F5"/>
          </a:solidFill>
          <a:ln w="762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0" y="4645152"/>
            <a:ext cx="32004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</a:rPr>
              <a:t>Proposed NPU groups can bind small models to one or more modules.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6035040" y="4535424"/>
            <a:ext cx="3520440" cy="859536"/>
          </a:xfrm>
          <a:prstGeom prst="rect">
            <a:avLst/>
          </a:prstGeom>
          <a:solidFill>
            <a:srgbClr val="FFF7F5"/>
          </a:solidFill>
          <a:ln w="762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0" y="4645152"/>
            <a:ext cx="3337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</a:rPr>
              <a:t>Large model can use the remaining NPU group while weights stay inside the ATMOS card.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9555480" y="4535424"/>
            <a:ext cx="1874520" cy="859536"/>
          </a:xfrm>
          <a:prstGeom prst="rect">
            <a:avLst/>
          </a:prstGeom>
          <a:solidFill>
            <a:srgbClr val="FFF7F5"/>
          </a:solidFill>
          <a:ln w="7620">
            <a:solidFill>
              <a:srgbClr val="D6D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646920" y="4645152"/>
            <a:ext cx="1691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F172A"/>
                </a:solidFill>
              </a:rPr>
              <a:t>Shared-memory QoS + runtime maturity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594360" y="5230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772C22"/>
                </a:solidFill>
              </a:rPr>
              <a:t>ATMOS win condition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594360" y="5577840"/>
            <a:ext cx="310896" cy="310896"/>
          </a:xfrm>
          <a:prstGeom prst="ellipse">
            <a:avLst/>
          </a:prstGeom>
          <a:solidFill>
            <a:srgbClr val="772C22"/>
          </a:solidFill>
          <a:ln w="12700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7512" y="566013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1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1005840" y="554126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0F172A"/>
                </a:solidFill>
              </a:rPr>
              <a:t>Large model stays within one card</a:t>
            </a:r>
            <a:endParaRPr lang="en-US" sz="1060" dirty="0"/>
          </a:p>
        </p:txBody>
      </p:sp>
      <p:sp>
        <p:nvSpPr>
          <p:cNvPr id="49" name="Text 47"/>
          <p:cNvSpPr/>
          <p:nvPr/>
        </p:nvSpPr>
        <p:spPr>
          <a:xfrm>
            <a:off x="1005840" y="57972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86868"/>
                </a:solidFill>
              </a:rPr>
              <a:t>Avoid PCIe expert/tensor sharding for the anchor model.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3355848" y="5577840"/>
            <a:ext cx="310896" cy="310896"/>
          </a:xfrm>
          <a:prstGeom prst="ellipse">
            <a:avLst/>
          </a:prstGeom>
          <a:solidFill>
            <a:srgbClr val="772C22"/>
          </a:solidFill>
          <a:ln w="12700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29000" y="566013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2</a:t>
            </a:r>
            <a:endParaRPr lang="en-US" sz="960" dirty="0"/>
          </a:p>
        </p:txBody>
      </p:sp>
      <p:sp>
        <p:nvSpPr>
          <p:cNvPr id="52" name="Text 50"/>
          <p:cNvSpPr/>
          <p:nvPr/>
        </p:nvSpPr>
        <p:spPr>
          <a:xfrm>
            <a:off x="3767328" y="554126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0F172A"/>
                </a:solidFill>
              </a:rPr>
              <a:t>NPU groups meet each model SLO</a:t>
            </a:r>
            <a:endParaRPr lang="en-US" sz="1060" dirty="0"/>
          </a:p>
        </p:txBody>
      </p:sp>
      <p:sp>
        <p:nvSpPr>
          <p:cNvPr id="53" name="Text 51"/>
          <p:cNvSpPr/>
          <p:nvPr/>
        </p:nvSpPr>
        <p:spPr>
          <a:xfrm>
            <a:off x="3767328" y="57972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86868"/>
                </a:solidFill>
              </a:rPr>
              <a:t>Embedding, reranking and generation remain independently schedulable.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6117336" y="5577840"/>
            <a:ext cx="310896" cy="310896"/>
          </a:xfrm>
          <a:prstGeom prst="ellipse">
            <a:avLst/>
          </a:prstGeom>
          <a:solidFill>
            <a:srgbClr val="772C22"/>
          </a:solidFill>
          <a:ln w="12700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190488" y="566013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3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6528816" y="554126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0F172A"/>
                </a:solidFill>
              </a:rPr>
              <a:t>Shared memory is governed</a:t>
            </a:r>
            <a:endParaRPr lang="en-US" sz="1060" dirty="0"/>
          </a:p>
        </p:txBody>
      </p:sp>
      <p:sp>
        <p:nvSpPr>
          <p:cNvPr id="57" name="Text 55"/>
          <p:cNvSpPr/>
          <p:nvPr/>
        </p:nvSpPr>
        <p:spPr>
          <a:xfrm>
            <a:off x="6528816" y="57972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86868"/>
                </a:solidFill>
              </a:rPr>
              <a:t>LLM KV and expert delivery are protected from noisy neighbors.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8878824" y="5577840"/>
            <a:ext cx="310896" cy="310896"/>
          </a:xfrm>
          <a:prstGeom prst="ellipse">
            <a:avLst/>
          </a:prstGeom>
          <a:solidFill>
            <a:srgbClr val="772C22"/>
          </a:solidFill>
          <a:ln w="12700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951976" y="566013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4</a:t>
            </a:r>
            <a:endParaRPr lang="en-US" sz="960" dirty="0"/>
          </a:p>
        </p:txBody>
      </p:sp>
      <p:sp>
        <p:nvSpPr>
          <p:cNvPr id="60" name="Text 58"/>
          <p:cNvSpPr/>
          <p:nvPr/>
        </p:nvSpPr>
        <p:spPr>
          <a:xfrm>
            <a:off x="9290304" y="554126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0F172A"/>
                </a:solidFill>
              </a:rPr>
              <a:t>Portfolio throughput improves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9290304" y="57972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86868"/>
                </a:solidFill>
              </a:rPr>
              <a:t>Measure accepted requests, tokens and pairs per server, not raw partitions.</a:t>
            </a:r>
            <a:endParaRPr lang="en-US" sz="92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 marL="0" algn="l" defTabSz="914400" rtl="0" eaLnBrk="1" latinLnBrk="0" hangingPunct="1">
              <a:defRPr sz="900" kern="1200">
                <a:solidFill>
                  <a:srgbClr val="686868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7</a:t>
            </a:fld>
            <a:endParaRPr lang="en-US"/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22243701-9709-8066-E31C-30A6B5C77F2F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10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GRANULARITY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448288" y="292608"/>
            <a:ext cx="201168" cy="201168"/>
          </a:xfrm>
          <a:prstGeom prst="rect">
            <a:avLst/>
          </a:prstGeom>
          <a:solidFill>
            <a:srgbClr val="E10600"/>
          </a:solidFill>
          <a:ln w="8255">
            <a:solidFill>
              <a:srgbClr val="E10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667512"/>
            <a:ext cx="110276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NPU for a small model; a group for larger work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1261872"/>
            <a:ext cx="11045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allocation choices—not a claim of hardware-isolated virtual machines.</a:t>
            </a:r>
            <a:endParaRPr lang="en-US" sz="148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1100816" cy="0"/>
          </a:xfrm>
          <a:prstGeom prst="line">
            <a:avLst/>
          </a:prstGeom>
          <a:noFill/>
          <a:ln w="12700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655624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03120" y="6556248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 |  ©2026 SANDISK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89320" y="6556248"/>
            <a:ext cx="4910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DESIGN GOAL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24712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6432804"/>
            <a:ext cx="7315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I3, I4, R2 · Details in notes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" y="2048256"/>
            <a:ext cx="3456432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25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2677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10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MODULE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" y="277063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772C22"/>
          </a:solidFill>
          <a:ln w="8255">
            <a:solidFill>
              <a:srgbClr val="772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" y="3986784"/>
            <a:ext cx="29992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dense model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model queue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HBF + working state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70832" y="2048256"/>
            <a:ext cx="3456432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25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1144" y="22677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10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GROUP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45152" y="277063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75985"/>
          </a:solidFill>
          <a:ln w="8255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03520" y="277063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75985"/>
          </a:solidFill>
          <a:ln w="8255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61888" y="277063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75985"/>
          </a:solidFill>
          <a:ln w="8255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20256" y="277063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75985"/>
          </a:solidFill>
          <a:ln w="8255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99432" y="3986784"/>
            <a:ext cx="29992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dense / specialist model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or pipeline cooperation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inside the card first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74736" y="2048256"/>
            <a:ext cx="3456432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255">
            <a:solidFill>
              <a:srgbClr val="DE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85048" y="22677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10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OR MORE CARDS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49056" y="277063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825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07424" y="277063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825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65792" y="277063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825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424160" y="277063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825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449056" y="327355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825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07424" y="327355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825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65792" y="327355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825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424160" y="3273552"/>
            <a:ext cx="521208" cy="36576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825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403336" y="3986784"/>
            <a:ext cx="29992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MoE / long context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Topology-aware TP and EP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Replicate complete groups to scale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6656" y="5614416"/>
            <a:ext cx="10844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comparison: RTX PRO 6000 already supports MIG (up to four 24 GB instances), batching and model multiplexing.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0352" y="5980176"/>
            <a:ext cx="11091672" cy="420624"/>
          </a:xfrm>
          <a:prstGeom prst="roundRect">
            <a:avLst>
              <a:gd name="adj" fmla="val 26087"/>
            </a:avLst>
          </a:prstGeom>
          <a:solidFill>
            <a:srgbClr val="161616"/>
          </a:solidFill>
          <a:ln w="8255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602589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differentiation to prove is usable model capacity + scheduling + service quality—not “partitioning exists.”</a:t>
            </a:r>
            <a:endParaRPr lang="en-US" sz="1400" dirty="0"/>
          </a:p>
        </p:txBody>
      </p:sp>
      <p:grpSp>
        <p:nvGrpSpPr>
          <p:cNvPr id="37" name="Source SanDisk brand 0">
            <a:extLst>
              <a:ext uri="{FF2B5EF4-FFF2-40B4-BE49-F238E27FC236}">
                <a16:creationId xmlns:a16="http://schemas.microsoft.com/office/drawing/2014/main" id="{A6A692BC-3C6C-56BD-8B34-32B6817D15D4}"/>
              </a:ext>
            </a:extLst>
          </p:cNvPr>
          <p:cNvGrpSpPr/>
          <p:nvPr/>
        </p:nvGrpSpPr>
        <p:grpSpPr>
          <a:xfrm>
            <a:off x="539496" y="6547104"/>
            <a:ext cx="1280160" cy="128016"/>
            <a:chOff x="297005" y="5421618"/>
            <a:chExt cx="11585651" cy="1156649"/>
          </a:xfrm>
          <a:solidFill>
            <a:schemeClr val="accent3"/>
          </a:solidFill>
        </p:grpSpPr>
        <p:grpSp>
          <p:nvGrpSpPr>
            <p:cNvPr id="38" name="Source SanDisk brand 1">
              <a:extLst>
                <a:ext uri="{FF2B5EF4-FFF2-40B4-BE49-F238E27FC236}">
                  <a16:creationId xmlns:a16="http://schemas.microsoft.com/office/drawing/2014/main" id="{50FD88E0-3A7B-F830-D901-1BE0676304ED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39" name="Source SanDisk brand 2">
                <a:extLst>
                  <a:ext uri="{FF2B5EF4-FFF2-40B4-BE49-F238E27FC236}">
                    <a16:creationId xmlns:a16="http://schemas.microsoft.com/office/drawing/2014/main" id="{BF52D899-1363-DEA1-6063-C8949655B805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Source SanDisk brand 3">
                <a:extLst>
                  <a:ext uri="{FF2B5EF4-FFF2-40B4-BE49-F238E27FC236}">
                    <a16:creationId xmlns:a16="http://schemas.microsoft.com/office/drawing/2014/main" id="{4D5E0007-2AC5-2685-4C2D-CF96C07C7ED0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Source SanDisk brand 4">
                <a:extLst>
                  <a:ext uri="{FF2B5EF4-FFF2-40B4-BE49-F238E27FC236}">
                    <a16:creationId xmlns:a16="http://schemas.microsoft.com/office/drawing/2014/main" id="{9164FD13-1646-7FD2-5414-F5FB8722267D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Source SanDisk brand 5">
                <a:extLst>
                  <a:ext uri="{FF2B5EF4-FFF2-40B4-BE49-F238E27FC236}">
                    <a16:creationId xmlns:a16="http://schemas.microsoft.com/office/drawing/2014/main" id="{3CEC4686-88E3-A390-9C59-C52AEAD5DDB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Source SanDisk brand 6">
                <a:extLst>
                  <a:ext uri="{FF2B5EF4-FFF2-40B4-BE49-F238E27FC236}">
                    <a16:creationId xmlns:a16="http://schemas.microsoft.com/office/drawing/2014/main" id="{3DA57102-8664-4537-0C96-1D776169644E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Source SanDisk brand 7">
                <a:extLst>
                  <a:ext uri="{FF2B5EF4-FFF2-40B4-BE49-F238E27FC236}">
                    <a16:creationId xmlns:a16="http://schemas.microsoft.com/office/drawing/2014/main" id="{5A49FBDA-20CE-D350-85F4-D7B8C67413B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Source SanDisk brand 8">
                <a:extLst>
                  <a:ext uri="{FF2B5EF4-FFF2-40B4-BE49-F238E27FC236}">
                    <a16:creationId xmlns:a16="http://schemas.microsoft.com/office/drawing/2014/main" id="{6A87A37E-58CF-CB04-6B8E-B4B9738F218D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Source SanDisk brand 9">
                <a:extLst>
                  <a:ext uri="{FF2B5EF4-FFF2-40B4-BE49-F238E27FC236}">
                    <a16:creationId xmlns:a16="http://schemas.microsoft.com/office/drawing/2014/main" id="{D6B4B94F-9063-7C67-5801-B3828727A687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Source SanDisk brand 10">
                <a:extLst>
                  <a:ext uri="{FF2B5EF4-FFF2-40B4-BE49-F238E27FC236}">
                    <a16:creationId xmlns:a16="http://schemas.microsoft.com/office/drawing/2014/main" id="{D10C90D8-745C-4517-452F-8D9398F858A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solidFill>
                <a:srgbClr val="E10600"/>
              </a:solidFill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" name="Source SanDisk brand 11">
              <a:extLst>
                <a:ext uri="{FF2B5EF4-FFF2-40B4-BE49-F238E27FC236}">
                  <a16:creationId xmlns:a16="http://schemas.microsoft.com/office/drawing/2014/main" id="{5486611C-7296-3F16-EE92-FF3602ECC95B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49" name="Source SanDisk brand 12">
                <a:extLst>
                  <a:ext uri="{FF2B5EF4-FFF2-40B4-BE49-F238E27FC236}">
                    <a16:creationId xmlns:a16="http://schemas.microsoft.com/office/drawing/2014/main" id="{B0C1A2A3-93DA-837F-A5A0-B25E09D76DE0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0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Source SanDisk brand 13">
                <a:extLst>
                  <a:ext uri="{FF2B5EF4-FFF2-40B4-BE49-F238E27FC236}">
                    <a16:creationId xmlns:a16="http://schemas.microsoft.com/office/drawing/2014/main" id="{BAD87224-DE76-7FF9-D1D4-86623728FE0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0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1" name="Shape 3">
            <a:extLst>
              <a:ext uri="{FF2B5EF4-FFF2-40B4-BE49-F238E27FC236}">
                <a16:creationId xmlns:a16="http://schemas.microsoft.com/office/drawing/2014/main" id="{0A90B74E-0BF1-1F9D-C820-60B8D4CE933A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256032"/>
            <a:ext cx="12191695" cy="6858000"/>
          </a:xfrm>
          <a:prstGeom prst="rect">
            <a:avLst/>
          </a:prstGeom>
          <a:solidFill>
            <a:srgbClr val="F8FAFC"/>
          </a:solidFill>
          <a:ln w="6350">
            <a:solidFill>
              <a:srgbClr val="F8FA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84048" y="256032"/>
            <a:ext cx="9326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600" dirty="0">
                <a:solidFill>
                  <a:srgbClr val="0F172A"/>
                </a:solidFill>
                <a:latin typeface="Aptos"/>
              </a:rPr>
              <a:t>Choice Heatmap: Context Length vs Concurrency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2336" y="694944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dirty="0">
                <a:solidFill>
                  <a:srgbClr val="475569"/>
                </a:solidFill>
                <a:latin typeface="Aptos"/>
              </a:rPr>
              <a:t>Illustrative winner map for high-reuse, large-document MoE/RAG workload. Replace with measured POC output.</a:t>
            </a:r>
          </a:p>
        </p:txBody>
      </p:sp>
      <p:sp>
        <p:nvSpPr>
          <p:cNvPr id="6" name="Shape 6"/>
          <p:cNvSpPr/>
          <p:nvPr/>
        </p:nvSpPr>
        <p:spPr>
          <a:xfrm>
            <a:off x="10515600" y="274320"/>
            <a:ext cx="1243584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7DD3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607040" y="356616"/>
            <a:ext cx="106070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dirty="0">
                <a:solidFill>
                  <a:srgbClr val="075985"/>
                </a:solidFill>
                <a:latin typeface="Aptos"/>
              </a:rPr>
              <a:t>v3 workload-fit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0624" y="6510528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64748B"/>
                </a:solidFill>
                <a:latin typeface="Aptos"/>
              </a:rPr>
              <a:t>Colors show likely best-fit region, not guaranteed performance.</a:t>
            </a:r>
          </a:p>
        </p:txBody>
      </p:sp>
      <p:sp>
        <p:nvSpPr>
          <p:cNvPr id="9" name="Shape 9"/>
          <p:cNvSpPr/>
          <p:nvPr/>
        </p:nvSpPr>
        <p:spPr>
          <a:xfrm>
            <a:off x="1548713" y="5541264"/>
            <a:ext cx="164592" cy="164592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68169" y="5550408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RTX/GPU</a:t>
            </a:r>
          </a:p>
        </p:txBody>
      </p:sp>
      <p:sp>
        <p:nvSpPr>
          <p:cNvPr id="11" name="Shape 11"/>
          <p:cNvSpPr/>
          <p:nvPr/>
        </p:nvSpPr>
        <p:spPr>
          <a:xfrm>
            <a:off x="2874593" y="5541264"/>
            <a:ext cx="164592" cy="16459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094049" y="5550408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RTX+CXL</a:t>
            </a:r>
          </a:p>
        </p:txBody>
      </p:sp>
      <p:sp>
        <p:nvSpPr>
          <p:cNvPr id="13" name="Shape 13"/>
          <p:cNvSpPr/>
          <p:nvPr/>
        </p:nvSpPr>
        <p:spPr>
          <a:xfrm>
            <a:off x="4200473" y="5541264"/>
            <a:ext cx="164592" cy="16459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419929" y="5550408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ATMOS/HBF</a:t>
            </a:r>
          </a:p>
        </p:txBody>
      </p:sp>
      <p:sp>
        <p:nvSpPr>
          <p:cNvPr id="15" name="Shape 15"/>
          <p:cNvSpPr/>
          <p:nvPr/>
        </p:nvSpPr>
        <p:spPr>
          <a:xfrm>
            <a:off x="5526353" y="5541264"/>
            <a:ext cx="164592" cy="164592"/>
          </a:xfrm>
          <a:prstGeom prst="rect">
            <a:avLst/>
          </a:prstGeom>
          <a:solidFill>
            <a:srgbClr val="64748B"/>
          </a:solidFill>
          <a:ln w="6350">
            <a:solidFill>
              <a:srgbClr val="64748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745809" y="5550408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No-fit/measure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7320" y="1005840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Aptos"/>
              </a:rPr>
              <a:t>8K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34640" y="1005840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Aptos"/>
              </a:rPr>
              <a:t>16K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51960" y="1005840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Aptos"/>
              </a:rPr>
              <a:t>32K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9280" y="1005840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Aptos"/>
              </a:rPr>
              <a:t>64K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86600" y="1005840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Aptos"/>
              </a:rPr>
              <a:t>128K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62401" y="8503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dirty="0">
                <a:solidFill>
                  <a:srgbClr val="0F172A"/>
                </a:solidFill>
                <a:latin typeface="Aptos"/>
              </a:rPr>
              <a:t>Context length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872" y="266090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dirty="0">
                <a:solidFill>
                  <a:srgbClr val="0F172A"/>
                </a:solidFill>
                <a:latin typeface="Aptos"/>
              </a:rPr>
              <a:t>Concurrent jobs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1248" y="1581912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Aptos"/>
              </a:rPr>
              <a:t>256</a:t>
            </a:r>
          </a:p>
        </p:txBody>
      </p:sp>
      <p:sp>
        <p:nvSpPr>
          <p:cNvPr id="25" name="Shape 25"/>
          <p:cNvSpPr/>
          <p:nvPr/>
        </p:nvSpPr>
        <p:spPr>
          <a:xfrm>
            <a:off x="1417320" y="1325880"/>
            <a:ext cx="1371600" cy="667512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453896" y="1581912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RTX + CXL</a:t>
            </a:r>
          </a:p>
        </p:txBody>
      </p:sp>
      <p:sp>
        <p:nvSpPr>
          <p:cNvPr id="27" name="Shape 27"/>
          <p:cNvSpPr/>
          <p:nvPr/>
        </p:nvSpPr>
        <p:spPr>
          <a:xfrm>
            <a:off x="2834640" y="1325880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2871216" y="1581912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29" name="Shape 29"/>
          <p:cNvSpPr/>
          <p:nvPr/>
        </p:nvSpPr>
        <p:spPr>
          <a:xfrm>
            <a:off x="4251960" y="1325880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4288536" y="1581912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0" y="1325880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5705856" y="1581912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23176" y="1581912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NO-FIT?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248" y="2295144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Aptos"/>
              </a:rPr>
              <a:t>128</a:t>
            </a:r>
          </a:p>
        </p:txBody>
      </p:sp>
      <p:sp>
        <p:nvSpPr>
          <p:cNvPr id="36" name="Shape 36"/>
          <p:cNvSpPr/>
          <p:nvPr/>
        </p:nvSpPr>
        <p:spPr>
          <a:xfrm>
            <a:off x="1417320" y="2039112"/>
            <a:ext cx="1371600" cy="667512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1453896" y="2295144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38" name="Shape 38"/>
          <p:cNvSpPr/>
          <p:nvPr/>
        </p:nvSpPr>
        <p:spPr>
          <a:xfrm>
            <a:off x="2834640" y="2039112"/>
            <a:ext cx="1371600" cy="667512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40"/>
          <p:cNvSpPr/>
          <p:nvPr/>
        </p:nvSpPr>
        <p:spPr>
          <a:xfrm>
            <a:off x="4251960" y="2039112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4288536" y="2295144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42" name="Shape 42"/>
          <p:cNvSpPr/>
          <p:nvPr/>
        </p:nvSpPr>
        <p:spPr>
          <a:xfrm>
            <a:off x="5669280" y="2039112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5705856" y="2295144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44" name="Shape 44"/>
          <p:cNvSpPr/>
          <p:nvPr/>
        </p:nvSpPr>
        <p:spPr>
          <a:xfrm>
            <a:off x="7086600" y="2039112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7123176" y="2295144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1248" y="3008376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Aptos"/>
              </a:rPr>
              <a:t>64</a:t>
            </a:r>
          </a:p>
        </p:txBody>
      </p:sp>
      <p:sp>
        <p:nvSpPr>
          <p:cNvPr id="47" name="Shape 47"/>
          <p:cNvSpPr/>
          <p:nvPr/>
        </p:nvSpPr>
        <p:spPr>
          <a:xfrm>
            <a:off x="1417320" y="2752344"/>
            <a:ext cx="1371600" cy="667512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1453896" y="3008376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49" name="Shape 49"/>
          <p:cNvSpPr/>
          <p:nvPr/>
        </p:nvSpPr>
        <p:spPr>
          <a:xfrm>
            <a:off x="2834640" y="2752344"/>
            <a:ext cx="1371600" cy="667512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extBox 50"/>
          <p:cNvSpPr txBox="1"/>
          <p:nvPr/>
        </p:nvSpPr>
        <p:spPr>
          <a:xfrm>
            <a:off x="2871216" y="3008376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19" dirty="0">
                <a:solidFill>
                  <a:srgbClr val="FFFFFF"/>
                </a:solidFill>
                <a:latin typeface="Aptos"/>
              </a:rPr>
              <a:t>RTX + CXL</a:t>
            </a:r>
          </a:p>
          <a:p>
            <a:pPr algn="l"/>
            <a:endParaRPr lang="en-US" sz="819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1" name="Shape 51"/>
          <p:cNvSpPr/>
          <p:nvPr/>
        </p:nvSpPr>
        <p:spPr>
          <a:xfrm>
            <a:off x="4251960" y="2752344"/>
            <a:ext cx="1371600" cy="667512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4288536" y="3008376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19" dirty="0">
                <a:solidFill>
                  <a:srgbClr val="FFFFFF"/>
                </a:solidFill>
                <a:latin typeface="Aptos"/>
              </a:rPr>
              <a:t>RTX + CXL</a:t>
            </a:r>
          </a:p>
        </p:txBody>
      </p:sp>
      <p:sp>
        <p:nvSpPr>
          <p:cNvPr id="53" name="Shape 53"/>
          <p:cNvSpPr/>
          <p:nvPr/>
        </p:nvSpPr>
        <p:spPr>
          <a:xfrm>
            <a:off x="5669280" y="2752344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5705856" y="3008376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55" name="Shape 55"/>
          <p:cNvSpPr/>
          <p:nvPr/>
        </p:nvSpPr>
        <p:spPr>
          <a:xfrm>
            <a:off x="7086600" y="2752344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7123176" y="3008376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1248" y="3721608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Aptos"/>
              </a:rPr>
              <a:t>32</a:t>
            </a:r>
          </a:p>
        </p:txBody>
      </p:sp>
      <p:sp>
        <p:nvSpPr>
          <p:cNvPr id="58" name="Shape 58"/>
          <p:cNvSpPr/>
          <p:nvPr/>
        </p:nvSpPr>
        <p:spPr>
          <a:xfrm>
            <a:off x="1417320" y="3465576"/>
            <a:ext cx="1371600" cy="667512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1453896" y="3721608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60" name="Shape 60"/>
          <p:cNvSpPr/>
          <p:nvPr/>
        </p:nvSpPr>
        <p:spPr>
          <a:xfrm>
            <a:off x="2834640" y="3465576"/>
            <a:ext cx="1371600" cy="667512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2871216" y="3721608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62" name="Shape 62"/>
          <p:cNvSpPr/>
          <p:nvPr/>
        </p:nvSpPr>
        <p:spPr>
          <a:xfrm>
            <a:off x="4251960" y="3465576"/>
            <a:ext cx="1371600" cy="667512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Box 63"/>
          <p:cNvSpPr txBox="1"/>
          <p:nvPr/>
        </p:nvSpPr>
        <p:spPr>
          <a:xfrm>
            <a:off x="4288536" y="3721608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19" dirty="0">
                <a:solidFill>
                  <a:srgbClr val="FFFFFF"/>
                </a:solidFill>
                <a:latin typeface="Aptos"/>
              </a:rPr>
              <a:t>RTX + CXL</a:t>
            </a:r>
          </a:p>
          <a:p>
            <a:pPr algn="l"/>
            <a:endParaRPr lang="en-US" sz="819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4" name="Shape 64"/>
          <p:cNvSpPr/>
          <p:nvPr/>
        </p:nvSpPr>
        <p:spPr>
          <a:xfrm>
            <a:off x="5669280" y="3465576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 65"/>
          <p:cNvSpPr txBox="1"/>
          <p:nvPr/>
        </p:nvSpPr>
        <p:spPr>
          <a:xfrm>
            <a:off x="5705856" y="3721608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66" name="Shape 66"/>
          <p:cNvSpPr/>
          <p:nvPr/>
        </p:nvSpPr>
        <p:spPr>
          <a:xfrm>
            <a:off x="7086600" y="3465576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 67"/>
          <p:cNvSpPr txBox="1"/>
          <p:nvPr/>
        </p:nvSpPr>
        <p:spPr>
          <a:xfrm>
            <a:off x="7123176" y="3721608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1248" y="4434840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Aptos"/>
              </a:rPr>
              <a:t>8</a:t>
            </a:r>
          </a:p>
        </p:txBody>
      </p:sp>
      <p:sp>
        <p:nvSpPr>
          <p:cNvPr id="69" name="Shape 69"/>
          <p:cNvSpPr/>
          <p:nvPr/>
        </p:nvSpPr>
        <p:spPr>
          <a:xfrm>
            <a:off x="1417320" y="4178808"/>
            <a:ext cx="1371600" cy="667512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Box 70"/>
          <p:cNvSpPr txBox="1"/>
          <p:nvPr/>
        </p:nvSpPr>
        <p:spPr>
          <a:xfrm>
            <a:off x="1453896" y="4434840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71" name="Shape 71"/>
          <p:cNvSpPr/>
          <p:nvPr/>
        </p:nvSpPr>
        <p:spPr>
          <a:xfrm>
            <a:off x="2834640" y="4178808"/>
            <a:ext cx="1371600" cy="667512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Box 72"/>
          <p:cNvSpPr txBox="1"/>
          <p:nvPr/>
        </p:nvSpPr>
        <p:spPr>
          <a:xfrm>
            <a:off x="2871216" y="4434840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73" name="Shape 73"/>
          <p:cNvSpPr/>
          <p:nvPr/>
        </p:nvSpPr>
        <p:spPr>
          <a:xfrm>
            <a:off x="4251960" y="4178808"/>
            <a:ext cx="1371600" cy="667512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Box 74"/>
          <p:cNvSpPr txBox="1"/>
          <p:nvPr/>
        </p:nvSpPr>
        <p:spPr>
          <a:xfrm>
            <a:off x="4288536" y="4434840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75" name="Shape 75"/>
          <p:cNvSpPr/>
          <p:nvPr/>
        </p:nvSpPr>
        <p:spPr>
          <a:xfrm>
            <a:off x="5669280" y="4178808"/>
            <a:ext cx="1371600" cy="667512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 76"/>
          <p:cNvSpPr txBox="1"/>
          <p:nvPr/>
        </p:nvSpPr>
        <p:spPr>
          <a:xfrm>
            <a:off x="5705856" y="4434840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19" dirty="0">
                <a:solidFill>
                  <a:srgbClr val="FFFFFF"/>
                </a:solidFill>
                <a:latin typeface="Aptos"/>
              </a:rPr>
              <a:t>RTX + CXL</a:t>
            </a:r>
          </a:p>
          <a:p>
            <a:pPr algn="l"/>
            <a:endParaRPr lang="en-US" sz="819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7" name="Shape 77"/>
          <p:cNvSpPr/>
          <p:nvPr/>
        </p:nvSpPr>
        <p:spPr>
          <a:xfrm>
            <a:off x="7086600" y="4178808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 78"/>
          <p:cNvSpPr txBox="1"/>
          <p:nvPr/>
        </p:nvSpPr>
        <p:spPr>
          <a:xfrm>
            <a:off x="7123176" y="4434840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79" name="Shape 79"/>
          <p:cNvSpPr/>
          <p:nvPr/>
        </p:nvSpPr>
        <p:spPr>
          <a:xfrm>
            <a:off x="8823960" y="1344168"/>
            <a:ext cx="2487168" cy="35478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80"/>
          <p:cNvSpPr/>
          <p:nvPr/>
        </p:nvSpPr>
        <p:spPr>
          <a:xfrm>
            <a:off x="8823960" y="1344168"/>
            <a:ext cx="73152" cy="3547872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81"/>
          <p:cNvSpPr txBox="1"/>
          <p:nvPr/>
        </p:nvSpPr>
        <p:spPr>
          <a:xfrm>
            <a:off x="9006840" y="1490472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dirty="0">
                <a:solidFill>
                  <a:srgbClr val="0F172A"/>
                </a:solidFill>
                <a:latin typeface="Aptos"/>
              </a:rPr>
              <a:t>How to read this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006840" y="1801368"/>
            <a:ext cx="2176272" cy="29809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60" dirty="0">
                <a:solidFill>
                  <a:srgbClr val="475569"/>
                </a:solidFill>
                <a:latin typeface="Aptos"/>
              </a:rPr>
              <a:t>Low context and low concurrency often favor RTX because everything fits in fast memory. As context, concurrency, and reusable MoE/KV working set grow, warm capacity and persistent HBF become more interesting. Extreme cells require measurement because queueing, tools, and tail latency can dominate.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444752" y="5138928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50" dirty="0">
                <a:solidFill>
                  <a:srgbClr val="B45309"/>
                </a:solidFill>
                <a:latin typeface="Aptos"/>
              </a:rPr>
              <a:t>Assumption: high reuse/locality. With low reuse or random small transfers, shift cells left toward RTX/no-fit.</a:t>
            </a:r>
          </a:p>
        </p:txBody>
      </p:sp>
      <p:sp>
        <p:nvSpPr>
          <p:cNvPr id="85" name="TextBox 26">
            <a:extLst>
              <a:ext uri="{FF2B5EF4-FFF2-40B4-BE49-F238E27FC236}">
                <a16:creationId xmlns:a16="http://schemas.microsoft.com/office/drawing/2014/main" id="{B1738DED-C38C-F89D-C6DA-432D03A0E6E1}"/>
              </a:ext>
            </a:extLst>
          </p:cNvPr>
          <p:cNvSpPr txBox="1"/>
          <p:nvPr/>
        </p:nvSpPr>
        <p:spPr>
          <a:xfrm>
            <a:off x="2825496" y="2249424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RTX + CXL</a:t>
            </a:r>
          </a:p>
        </p:txBody>
      </p:sp>
      <p:sp>
        <p:nvSpPr>
          <p:cNvPr id="88" name="Shape 31">
            <a:extLst>
              <a:ext uri="{FF2B5EF4-FFF2-40B4-BE49-F238E27FC236}">
                <a16:creationId xmlns:a16="http://schemas.microsoft.com/office/drawing/2014/main" id="{70574FDA-A1EF-BA99-4508-69882E69812C}"/>
              </a:ext>
            </a:extLst>
          </p:cNvPr>
          <p:cNvSpPr/>
          <p:nvPr/>
        </p:nvSpPr>
        <p:spPr>
          <a:xfrm>
            <a:off x="7077456" y="1325880"/>
            <a:ext cx="1371600" cy="66751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 32">
            <a:extLst>
              <a:ext uri="{FF2B5EF4-FFF2-40B4-BE49-F238E27FC236}">
                <a16:creationId xmlns:a16="http://schemas.microsoft.com/office/drawing/2014/main" id="{F6BB6D90-AAA0-F019-23FA-BF6CAC44B4CF}"/>
              </a:ext>
            </a:extLst>
          </p:cNvPr>
          <p:cNvSpPr txBox="1"/>
          <p:nvPr/>
        </p:nvSpPr>
        <p:spPr>
          <a:xfrm>
            <a:off x="7040880" y="1604772"/>
            <a:ext cx="129844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6350">
            <a:solidFill>
              <a:srgbClr val="F8FA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84048" y="256032"/>
            <a:ext cx="9326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600" dirty="0">
                <a:solidFill>
                  <a:srgbClr val="0F172A"/>
                </a:solidFill>
                <a:latin typeface="Aptos"/>
              </a:rPr>
              <a:t>Parameter Levers That Shift the Winner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2336" y="694944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dirty="0">
                <a:solidFill>
                  <a:srgbClr val="475569"/>
                </a:solidFill>
                <a:latin typeface="Aptos"/>
              </a:rPr>
              <a:t>The platform choice moves when workload shape changes. These are the knobs to sweep in the POC.</a:t>
            </a:r>
          </a:p>
        </p:txBody>
      </p:sp>
      <p:sp>
        <p:nvSpPr>
          <p:cNvPr id="6" name="Shape 6"/>
          <p:cNvSpPr/>
          <p:nvPr/>
        </p:nvSpPr>
        <p:spPr>
          <a:xfrm>
            <a:off x="10515600" y="274320"/>
            <a:ext cx="1243584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7DD3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607040" y="356616"/>
            <a:ext cx="106070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dirty="0">
                <a:solidFill>
                  <a:srgbClr val="075985"/>
                </a:solidFill>
                <a:latin typeface="Aptos"/>
              </a:rPr>
              <a:t>v3 workload-fit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0624" y="6510528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64748B"/>
                </a:solidFill>
                <a:latin typeface="Aptos"/>
              </a:rPr>
              <a:t>Direction is illustrative; final winner comes from SLO-qualified accepted-task results.</a:t>
            </a:r>
          </a:p>
        </p:txBody>
      </p:sp>
      <p:sp>
        <p:nvSpPr>
          <p:cNvPr id="9" name="Shape 9"/>
          <p:cNvSpPr/>
          <p:nvPr/>
        </p:nvSpPr>
        <p:spPr>
          <a:xfrm>
            <a:off x="594360" y="1051560"/>
            <a:ext cx="2514600" cy="4983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94360" y="1051560"/>
            <a:ext cx="2514600" cy="384048"/>
          </a:xfrm>
          <a:prstGeom prst="round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704088" y="1170432"/>
            <a:ext cx="22860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40" dirty="0">
                <a:solidFill>
                  <a:srgbClr val="FFFFFF"/>
                </a:solidFill>
                <a:latin typeface="Aptos"/>
              </a:rPr>
              <a:t>Pushes RTX/GPU</a:t>
            </a:r>
          </a:p>
        </p:txBody>
      </p:sp>
      <p:sp>
        <p:nvSpPr>
          <p:cNvPr id="12" name="Shape 12"/>
          <p:cNvSpPr/>
          <p:nvPr/>
        </p:nvSpPr>
        <p:spPr>
          <a:xfrm>
            <a:off x="3447288" y="1051560"/>
            <a:ext cx="2514600" cy="4983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447288" y="1051560"/>
            <a:ext cx="2514600" cy="384048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557016" y="1170432"/>
            <a:ext cx="22860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40" dirty="0">
                <a:solidFill>
                  <a:srgbClr val="FFFFFF"/>
                </a:solidFill>
                <a:latin typeface="Aptos"/>
              </a:rPr>
              <a:t>Pushes RTX+CXL</a:t>
            </a:r>
          </a:p>
        </p:txBody>
      </p:sp>
      <p:sp>
        <p:nvSpPr>
          <p:cNvPr id="15" name="Shape 15"/>
          <p:cNvSpPr/>
          <p:nvPr/>
        </p:nvSpPr>
        <p:spPr>
          <a:xfrm>
            <a:off x="6300216" y="1051560"/>
            <a:ext cx="2514600" cy="4983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6300216" y="1051560"/>
            <a:ext cx="2514600" cy="384048"/>
          </a:xfrm>
          <a:prstGeom prst="round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409944" y="1170432"/>
            <a:ext cx="22860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40" dirty="0">
                <a:solidFill>
                  <a:srgbClr val="FFFFFF"/>
                </a:solidFill>
                <a:latin typeface="Aptos"/>
              </a:rPr>
              <a:t>Pushes ATMOS/HBF</a:t>
            </a:r>
          </a:p>
        </p:txBody>
      </p:sp>
      <p:sp>
        <p:nvSpPr>
          <p:cNvPr id="18" name="Shape 18"/>
          <p:cNvSpPr/>
          <p:nvPr/>
        </p:nvSpPr>
        <p:spPr>
          <a:xfrm>
            <a:off x="9153144" y="1051560"/>
            <a:ext cx="2514600" cy="4983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9153144" y="1051560"/>
            <a:ext cx="2514600" cy="384048"/>
          </a:xfrm>
          <a:prstGeom prst="roundRect">
            <a:avLst/>
          </a:prstGeom>
          <a:solidFill>
            <a:srgbClr val="64748B"/>
          </a:solidFill>
          <a:ln w="6350">
            <a:solidFill>
              <a:srgbClr val="64748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9262872" y="1170432"/>
            <a:ext cx="22860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40" dirty="0">
                <a:solidFill>
                  <a:srgbClr val="FFFFFF"/>
                </a:solidFill>
                <a:latin typeface="Aptos"/>
              </a:rPr>
              <a:t>Blocks all / no-fit</a:t>
            </a:r>
          </a:p>
        </p:txBody>
      </p:sp>
      <p:sp>
        <p:nvSpPr>
          <p:cNvPr id="21" name="Shape 21"/>
          <p:cNvSpPr/>
          <p:nvPr/>
        </p:nvSpPr>
        <p:spPr>
          <a:xfrm>
            <a:off x="795528" y="1719072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886968" y="1847088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Small active model</a:t>
            </a:r>
          </a:p>
        </p:txBody>
      </p:sp>
      <p:sp>
        <p:nvSpPr>
          <p:cNvPr id="23" name="Shape 23"/>
          <p:cNvSpPr/>
          <p:nvPr/>
        </p:nvSpPr>
        <p:spPr>
          <a:xfrm>
            <a:off x="795528" y="2432304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886968" y="2560320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short context</a:t>
            </a:r>
          </a:p>
        </p:txBody>
      </p:sp>
      <p:sp>
        <p:nvSpPr>
          <p:cNvPr id="25" name="Shape 25"/>
          <p:cNvSpPr/>
          <p:nvPr/>
        </p:nvSpPr>
        <p:spPr>
          <a:xfrm>
            <a:off x="795528" y="3145536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886968" y="3273552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low switching</a:t>
            </a:r>
          </a:p>
        </p:txBody>
      </p:sp>
      <p:sp>
        <p:nvSpPr>
          <p:cNvPr id="27" name="Shape 27"/>
          <p:cNvSpPr/>
          <p:nvPr/>
        </p:nvSpPr>
        <p:spPr>
          <a:xfrm>
            <a:off x="795528" y="3858768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86968" y="3986784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strict interactive SLO</a:t>
            </a:r>
          </a:p>
        </p:txBody>
      </p:sp>
      <p:sp>
        <p:nvSpPr>
          <p:cNvPr id="29" name="Shape 29"/>
          <p:cNvSpPr/>
          <p:nvPr/>
        </p:nvSpPr>
        <p:spPr>
          <a:xfrm>
            <a:off x="3648456" y="1719072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3739896" y="1847088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Warm overflow</a:t>
            </a:r>
          </a:p>
        </p:txBody>
      </p:sp>
      <p:sp>
        <p:nvSpPr>
          <p:cNvPr id="31" name="Shape 31"/>
          <p:cNvSpPr/>
          <p:nvPr/>
        </p:nvSpPr>
        <p:spPr>
          <a:xfrm>
            <a:off x="3648456" y="2432304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3739896" y="2560320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moderate reuse</a:t>
            </a:r>
          </a:p>
        </p:txBody>
      </p:sp>
      <p:sp>
        <p:nvSpPr>
          <p:cNvPr id="33" name="Shape 33"/>
          <p:cNvSpPr/>
          <p:nvPr/>
        </p:nvSpPr>
        <p:spPr>
          <a:xfrm>
            <a:off x="3648456" y="3145536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3739896" y="3273552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real CXL device</a:t>
            </a:r>
          </a:p>
        </p:txBody>
      </p:sp>
      <p:sp>
        <p:nvSpPr>
          <p:cNvPr id="35" name="Shape 35"/>
          <p:cNvSpPr/>
          <p:nvPr/>
        </p:nvSpPr>
        <p:spPr>
          <a:xfrm>
            <a:off x="3648456" y="3858768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3739896" y="3986784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stable staging path</a:t>
            </a:r>
          </a:p>
        </p:txBody>
      </p:sp>
      <p:sp>
        <p:nvSpPr>
          <p:cNvPr id="37" name="Shape 37"/>
          <p:cNvSpPr/>
          <p:nvPr/>
        </p:nvSpPr>
        <p:spPr>
          <a:xfrm>
            <a:off x="6501384" y="1719072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6592824" y="1847088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Large MoE footprint</a:t>
            </a:r>
          </a:p>
        </p:txBody>
      </p:sp>
      <p:sp>
        <p:nvSpPr>
          <p:cNvPr id="39" name="Shape 39"/>
          <p:cNvSpPr/>
          <p:nvPr/>
        </p:nvSpPr>
        <p:spPr>
          <a:xfrm>
            <a:off x="6501384" y="2432304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6592824" y="2560320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hot expert reuse</a:t>
            </a:r>
          </a:p>
        </p:txBody>
      </p:sp>
      <p:sp>
        <p:nvSpPr>
          <p:cNvPr id="41" name="Shape 41"/>
          <p:cNvSpPr/>
          <p:nvPr/>
        </p:nvSpPr>
        <p:spPr>
          <a:xfrm>
            <a:off x="6501384" y="3145536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6592824" y="3273552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long prefixes</a:t>
            </a:r>
          </a:p>
        </p:txBody>
      </p:sp>
      <p:sp>
        <p:nvSpPr>
          <p:cNvPr id="43" name="Shape 43"/>
          <p:cNvSpPr/>
          <p:nvPr/>
        </p:nvSpPr>
        <p:spPr>
          <a:xfrm>
            <a:off x="6501384" y="3858768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6592824" y="3986784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capacity-led scale-out</a:t>
            </a:r>
          </a:p>
        </p:txBody>
      </p:sp>
      <p:sp>
        <p:nvSpPr>
          <p:cNvPr id="45" name="Shape 45"/>
          <p:cNvSpPr/>
          <p:nvPr/>
        </p:nvSpPr>
        <p:spPr>
          <a:xfrm>
            <a:off x="9354312" y="1719072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9445752" y="1847088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Tool/RAG dominates</a:t>
            </a:r>
          </a:p>
        </p:txBody>
      </p:sp>
      <p:sp>
        <p:nvSpPr>
          <p:cNvPr id="47" name="Shape 47"/>
          <p:cNvSpPr/>
          <p:nvPr/>
        </p:nvSpPr>
        <p:spPr>
          <a:xfrm>
            <a:off x="9354312" y="2432304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9445752" y="2560320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low reuse</a:t>
            </a:r>
          </a:p>
        </p:txBody>
      </p:sp>
      <p:sp>
        <p:nvSpPr>
          <p:cNvPr id="49" name="Shape 49"/>
          <p:cNvSpPr/>
          <p:nvPr/>
        </p:nvSpPr>
        <p:spPr>
          <a:xfrm>
            <a:off x="9354312" y="3145536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9445752" y="3273552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random tiny reads</a:t>
            </a:r>
          </a:p>
        </p:txBody>
      </p:sp>
      <p:sp>
        <p:nvSpPr>
          <p:cNvPr id="51" name="Shape 51"/>
          <p:cNvSpPr/>
          <p:nvPr/>
        </p:nvSpPr>
        <p:spPr>
          <a:xfrm>
            <a:off x="9354312" y="3858768"/>
            <a:ext cx="210312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9445752" y="3986784"/>
            <a:ext cx="1920240" cy="822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19" dirty="0">
                <a:solidFill>
                  <a:srgbClr val="334155"/>
                </a:solidFill>
                <a:latin typeface="Aptos"/>
              </a:rPr>
              <a:t>quality below threshold</a:t>
            </a:r>
          </a:p>
        </p:txBody>
      </p:sp>
      <p:sp>
        <p:nvSpPr>
          <p:cNvPr id="53" name="Shape 53"/>
          <p:cNvSpPr/>
          <p:nvPr/>
        </p:nvSpPr>
        <p:spPr>
          <a:xfrm>
            <a:off x="1051560" y="5632704"/>
            <a:ext cx="9875520" cy="502920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C7D2F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1188720" y="5806440"/>
            <a:ext cx="96012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3730A3"/>
                </a:solidFill>
                <a:latin typeface="Aptos"/>
              </a:rPr>
              <a:t>POC sweep: model weights x TP/EP placement x context x concurrency x RAG payload x tool latency x reuse locality x cost/power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6350">
            <a:solidFill>
              <a:srgbClr val="F8FA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84048" y="256032"/>
            <a:ext cx="9326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600" dirty="0">
                <a:solidFill>
                  <a:srgbClr val="0F172A"/>
                </a:solidFill>
                <a:latin typeface="Aptos"/>
              </a:rPr>
              <a:t>Parallelism and Placement Change the Economics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2336" y="694944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dirty="0">
                <a:solidFill>
                  <a:srgbClr val="475569"/>
                </a:solidFill>
                <a:latin typeface="Aptos"/>
              </a:rPr>
              <a:t>The same model can look cheap or expensive depending on sharding, routing, and what stays resident.</a:t>
            </a:r>
          </a:p>
        </p:txBody>
      </p:sp>
      <p:sp>
        <p:nvSpPr>
          <p:cNvPr id="6" name="Shape 6"/>
          <p:cNvSpPr/>
          <p:nvPr/>
        </p:nvSpPr>
        <p:spPr>
          <a:xfrm>
            <a:off x="10515600" y="274320"/>
            <a:ext cx="1243584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7DD3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607040" y="356616"/>
            <a:ext cx="106070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dirty="0">
                <a:solidFill>
                  <a:srgbClr val="075985"/>
                </a:solidFill>
                <a:latin typeface="Aptos"/>
              </a:rPr>
              <a:t>v3 workload-fit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0624" y="6510528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64748B"/>
                </a:solidFill>
                <a:latin typeface="Aptos"/>
              </a:rPr>
              <a:t>Use this slide to explain why the POC must sweep TP/EP, not freeze one topology too early.</a:t>
            </a:r>
          </a:p>
        </p:txBody>
      </p:sp>
      <p:sp>
        <p:nvSpPr>
          <p:cNvPr id="9" name="Shape 9"/>
          <p:cNvSpPr/>
          <p:nvPr/>
        </p:nvSpPr>
        <p:spPr>
          <a:xfrm>
            <a:off x="594360" y="1170432"/>
            <a:ext cx="2148840" cy="4434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777240" y="1371600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dirty="0">
                <a:solidFill>
                  <a:srgbClr val="0F172A"/>
                </a:solidFill>
                <a:latin typeface="Aptos"/>
              </a:rPr>
              <a:t>Model footprint</a:t>
            </a:r>
          </a:p>
        </p:txBody>
      </p:sp>
      <p:sp>
        <p:nvSpPr>
          <p:cNvPr id="11" name="Shape 11"/>
          <p:cNvSpPr/>
          <p:nvPr/>
        </p:nvSpPr>
        <p:spPr>
          <a:xfrm>
            <a:off x="960120" y="1783080"/>
            <a:ext cx="1417320" cy="566928"/>
          </a:xfrm>
          <a:prstGeom prst="round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33272" y="1965960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Resident hot experts</a:t>
            </a:r>
          </a:p>
        </p:txBody>
      </p:sp>
      <p:sp>
        <p:nvSpPr>
          <p:cNvPr id="13" name="Shape 13"/>
          <p:cNvSpPr/>
          <p:nvPr/>
        </p:nvSpPr>
        <p:spPr>
          <a:xfrm>
            <a:off x="960120" y="2240280"/>
            <a:ext cx="1417320" cy="566928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33272" y="2423160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Warm experts / KV</a:t>
            </a:r>
          </a:p>
        </p:txBody>
      </p:sp>
      <p:sp>
        <p:nvSpPr>
          <p:cNvPr id="15" name="Shape 15"/>
          <p:cNvSpPr/>
          <p:nvPr/>
        </p:nvSpPr>
        <p:spPr>
          <a:xfrm>
            <a:off x="960120" y="2697480"/>
            <a:ext cx="1417320" cy="566928"/>
          </a:xfrm>
          <a:prstGeom prst="round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33272" y="2880360"/>
            <a:ext cx="12801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Cold or reusable state</a:t>
            </a:r>
          </a:p>
        </p:txBody>
      </p:sp>
      <p:sp>
        <p:nvSpPr>
          <p:cNvPr id="17" name="Shape 17"/>
          <p:cNvSpPr/>
          <p:nvPr/>
        </p:nvSpPr>
        <p:spPr>
          <a:xfrm>
            <a:off x="3200400" y="1097280"/>
            <a:ext cx="2212848" cy="1874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3200400" y="1097280"/>
            <a:ext cx="73152" cy="1874520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3383280" y="1243584"/>
            <a:ext cx="18836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dirty="0">
                <a:solidFill>
                  <a:srgbClr val="0F172A"/>
                </a:solidFill>
                <a:latin typeface="Aptos"/>
              </a:rPr>
              <a:t>Tensor parallel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83280" y="1554480"/>
            <a:ext cx="1901952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60" dirty="0">
                <a:solidFill>
                  <a:srgbClr val="475569"/>
                </a:solidFill>
                <a:latin typeface="Aptos"/>
              </a:rPr>
              <a:t>Splits tensors across GPUs. Can reduce per-GPU weights, but adds cross-GPU communication and synchronization.</a:t>
            </a:r>
          </a:p>
        </p:txBody>
      </p:sp>
      <p:sp>
        <p:nvSpPr>
          <p:cNvPr id="21" name="Shape 21"/>
          <p:cNvSpPr/>
          <p:nvPr/>
        </p:nvSpPr>
        <p:spPr>
          <a:xfrm>
            <a:off x="5806440" y="1097280"/>
            <a:ext cx="2212848" cy="1874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5806440" y="1097280"/>
            <a:ext cx="73152" cy="18745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989320" y="1243584"/>
            <a:ext cx="18836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dirty="0">
                <a:solidFill>
                  <a:srgbClr val="0F172A"/>
                </a:solidFill>
                <a:latin typeface="Aptos"/>
              </a:rPr>
              <a:t>Expert parallel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89320" y="1554480"/>
            <a:ext cx="1901952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60" dirty="0">
                <a:solidFill>
                  <a:srgbClr val="475569"/>
                </a:solidFill>
                <a:latin typeface="Aptos"/>
              </a:rPr>
              <a:t>Places different experts on different devices. Good when routing locality is stable; expensive when experts churn.</a:t>
            </a:r>
          </a:p>
        </p:txBody>
      </p:sp>
      <p:sp>
        <p:nvSpPr>
          <p:cNvPr id="25" name="Shape 25"/>
          <p:cNvSpPr/>
          <p:nvPr/>
        </p:nvSpPr>
        <p:spPr>
          <a:xfrm>
            <a:off x="8412480" y="1097280"/>
            <a:ext cx="2212848" cy="1874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8412480" y="1097280"/>
            <a:ext cx="73152" cy="1874520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8595360" y="1243584"/>
            <a:ext cx="18836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dirty="0">
                <a:solidFill>
                  <a:srgbClr val="0F172A"/>
                </a:solidFill>
                <a:latin typeface="Aptos"/>
              </a:rPr>
              <a:t>Tiered HBF placement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95360" y="1554480"/>
            <a:ext cx="1901952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60" dirty="0">
                <a:solidFill>
                  <a:srgbClr val="475569"/>
                </a:solidFill>
                <a:latin typeface="Aptos"/>
              </a:rPr>
              <a:t>Keeps broad expert/KV portfolio near compute. Wins only when fetch/preload is hidden or cheaper than scale-out.</a:t>
            </a:r>
          </a:p>
        </p:txBody>
      </p:sp>
      <p:cxnSp>
        <p:nvCxnSpPr>
          <p:cNvPr id="29" name="Line 29"/>
          <p:cNvCxnSpPr/>
          <p:nvPr/>
        </p:nvCxnSpPr>
        <p:spPr>
          <a:xfrm flipV="1">
            <a:off x="2697480" y="2057400"/>
            <a:ext cx="50292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</p:cxnSp>
      <p:cxnSp>
        <p:nvCxnSpPr>
          <p:cNvPr id="30" name="Line 30"/>
          <p:cNvCxnSpPr/>
          <p:nvPr/>
        </p:nvCxnSpPr>
        <p:spPr>
          <a:xfrm flipV="1">
            <a:off x="2697480" y="2057400"/>
            <a:ext cx="310896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</p:cxnSp>
      <p:cxnSp>
        <p:nvCxnSpPr>
          <p:cNvPr id="31" name="Line 31"/>
          <p:cNvCxnSpPr/>
          <p:nvPr/>
        </p:nvCxnSpPr>
        <p:spPr>
          <a:xfrm flipV="1">
            <a:off x="2697480" y="2057400"/>
            <a:ext cx="571500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</p:cxnSp>
      <p:sp>
        <p:nvSpPr>
          <p:cNvPr id="32" name="Shape 32"/>
          <p:cNvSpPr/>
          <p:nvPr/>
        </p:nvSpPr>
        <p:spPr>
          <a:xfrm>
            <a:off x="685800" y="3456432"/>
            <a:ext cx="2423160" cy="310896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758952" y="3566160"/>
            <a:ext cx="2276856" cy="731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dirty="0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34" name="Shape 34"/>
          <p:cNvSpPr/>
          <p:nvPr/>
        </p:nvSpPr>
        <p:spPr>
          <a:xfrm>
            <a:off x="3108960" y="3456432"/>
            <a:ext cx="3886200" cy="310896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3182112" y="3566160"/>
            <a:ext cx="3739896" cy="731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dirty="0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36" name="Shape 36"/>
          <p:cNvSpPr/>
          <p:nvPr/>
        </p:nvSpPr>
        <p:spPr>
          <a:xfrm>
            <a:off x="6995160" y="3456432"/>
            <a:ext cx="3840480" cy="310896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7068312" y="3566160"/>
            <a:ext cx="3694176" cy="731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dirty="0">
                <a:solidFill>
                  <a:srgbClr val="FFFFFF"/>
                </a:solidFill>
                <a:latin typeface="Aptos"/>
              </a:rPr>
              <a:t>External takeaway</a:t>
            </a:r>
          </a:p>
        </p:txBody>
      </p:sp>
      <p:sp>
        <p:nvSpPr>
          <p:cNvPr id="38" name="Shape 38"/>
          <p:cNvSpPr/>
          <p:nvPr/>
        </p:nvSpPr>
        <p:spPr>
          <a:xfrm>
            <a:off x="685800" y="3822192"/>
            <a:ext cx="2423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758952" y="3922776"/>
            <a:ext cx="2276856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334155"/>
                </a:solidFill>
                <a:latin typeface="Aptos"/>
              </a:rPr>
              <a:t>What fits in GDDR?</a:t>
            </a:r>
          </a:p>
        </p:txBody>
      </p:sp>
      <p:sp>
        <p:nvSpPr>
          <p:cNvPr id="40" name="Shape 40"/>
          <p:cNvSpPr/>
          <p:nvPr/>
        </p:nvSpPr>
        <p:spPr>
          <a:xfrm>
            <a:off x="3108960" y="3822192"/>
            <a:ext cx="3886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3182112" y="3922776"/>
            <a:ext cx="3739896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334155"/>
                </a:solidFill>
                <a:latin typeface="Aptos"/>
              </a:rPr>
              <a:t>If active weights/KV fit, GPU path can dominate.</a:t>
            </a:r>
          </a:p>
        </p:txBody>
      </p:sp>
      <p:sp>
        <p:nvSpPr>
          <p:cNvPr id="42" name="Shape 42"/>
          <p:cNvSpPr/>
          <p:nvPr/>
        </p:nvSpPr>
        <p:spPr>
          <a:xfrm>
            <a:off x="6995160" y="3822192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7068312" y="3922776"/>
            <a:ext cx="3694176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334155"/>
                </a:solidFill>
                <a:latin typeface="Aptos"/>
              </a:rPr>
              <a:t>Do not over-sell HBF for fit-in-memory workloads.</a:t>
            </a:r>
          </a:p>
        </p:txBody>
      </p:sp>
      <p:sp>
        <p:nvSpPr>
          <p:cNvPr id="44" name="Shape 44"/>
          <p:cNvSpPr/>
          <p:nvPr/>
        </p:nvSpPr>
        <p:spPr>
          <a:xfrm>
            <a:off x="685800" y="4315968"/>
            <a:ext cx="2423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758952" y="4416552"/>
            <a:ext cx="2276856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334155"/>
                </a:solidFill>
                <a:latin typeface="Aptos"/>
              </a:rPr>
              <a:t>How stable is routing?</a:t>
            </a:r>
          </a:p>
        </p:txBody>
      </p:sp>
      <p:sp>
        <p:nvSpPr>
          <p:cNvPr id="46" name="Shape 46"/>
          <p:cNvSpPr/>
          <p:nvPr/>
        </p:nvSpPr>
        <p:spPr>
          <a:xfrm>
            <a:off x="3108960" y="4315968"/>
            <a:ext cx="3886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 47"/>
          <p:cNvSpPr txBox="1"/>
          <p:nvPr/>
        </p:nvSpPr>
        <p:spPr>
          <a:xfrm>
            <a:off x="3182112" y="4416552"/>
            <a:ext cx="3739896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334155"/>
                </a:solidFill>
                <a:latin typeface="Aptos"/>
              </a:rPr>
              <a:t>Hot experts favor cache/persistent tiers; churn hurts.</a:t>
            </a:r>
          </a:p>
        </p:txBody>
      </p:sp>
      <p:sp>
        <p:nvSpPr>
          <p:cNvPr id="48" name="Shape 48"/>
          <p:cNvSpPr/>
          <p:nvPr/>
        </p:nvSpPr>
        <p:spPr>
          <a:xfrm>
            <a:off x="6995160" y="4315968"/>
            <a:ext cx="384048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 49"/>
          <p:cNvSpPr txBox="1"/>
          <p:nvPr/>
        </p:nvSpPr>
        <p:spPr>
          <a:xfrm>
            <a:off x="7068312" y="4416552"/>
            <a:ext cx="3694176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334155"/>
                </a:solidFill>
                <a:latin typeface="Aptos"/>
              </a:rPr>
              <a:t>Ask for traces or generate realistic locality cases.</a:t>
            </a:r>
          </a:p>
        </p:txBody>
      </p:sp>
      <p:sp>
        <p:nvSpPr>
          <p:cNvPr id="50" name="Shape 50"/>
          <p:cNvSpPr/>
          <p:nvPr/>
        </p:nvSpPr>
        <p:spPr>
          <a:xfrm>
            <a:off x="685800" y="4809744"/>
            <a:ext cx="2423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 51"/>
          <p:cNvSpPr txBox="1"/>
          <p:nvPr/>
        </p:nvSpPr>
        <p:spPr>
          <a:xfrm>
            <a:off x="758952" y="4910328"/>
            <a:ext cx="2276856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334155"/>
                </a:solidFill>
                <a:latin typeface="Aptos"/>
              </a:rPr>
              <a:t>Can fetch overlap compute?</a:t>
            </a:r>
          </a:p>
        </p:txBody>
      </p:sp>
      <p:sp>
        <p:nvSpPr>
          <p:cNvPr id="52" name="Shape 52"/>
          <p:cNvSpPr/>
          <p:nvPr/>
        </p:nvSpPr>
        <p:spPr>
          <a:xfrm>
            <a:off x="3108960" y="4809744"/>
            <a:ext cx="3886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 53"/>
          <p:cNvSpPr txBox="1"/>
          <p:nvPr/>
        </p:nvSpPr>
        <p:spPr>
          <a:xfrm>
            <a:off x="3182112" y="4910328"/>
            <a:ext cx="3739896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334155"/>
                </a:solidFill>
                <a:latin typeface="Aptos"/>
              </a:rPr>
              <a:t>Peak bandwidth helps only if exposed stalls shrink.</a:t>
            </a:r>
          </a:p>
        </p:txBody>
      </p:sp>
      <p:sp>
        <p:nvSpPr>
          <p:cNvPr id="54" name="Shape 54"/>
          <p:cNvSpPr/>
          <p:nvPr/>
        </p:nvSpPr>
        <p:spPr>
          <a:xfrm>
            <a:off x="6995160" y="4809744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 55"/>
          <p:cNvSpPr txBox="1"/>
          <p:nvPr/>
        </p:nvSpPr>
        <p:spPr>
          <a:xfrm>
            <a:off x="7068312" y="4910328"/>
            <a:ext cx="3694176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334155"/>
                </a:solidFill>
                <a:latin typeface="Aptos"/>
              </a:rPr>
              <a:t>Show latency stacks and queue curves.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6350">
            <a:solidFill>
              <a:srgbClr val="F8FA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84048" y="256032"/>
            <a:ext cx="9326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600" dirty="0">
                <a:solidFill>
                  <a:srgbClr val="0F172A"/>
                </a:solidFill>
                <a:latin typeface="Aptos"/>
              </a:rPr>
              <a:t>Break-Even Surface: Nonresident Bytes vs Reuse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2336" y="694944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dirty="0">
                <a:solidFill>
                  <a:srgbClr val="475569"/>
                </a:solidFill>
                <a:latin typeface="Aptos"/>
              </a:rPr>
              <a:t>Illustrative surface for MoE weights and reusable KV outside fast memory.</a:t>
            </a:r>
          </a:p>
        </p:txBody>
      </p:sp>
      <p:sp>
        <p:nvSpPr>
          <p:cNvPr id="6" name="Shape 6"/>
          <p:cNvSpPr/>
          <p:nvPr/>
        </p:nvSpPr>
        <p:spPr>
          <a:xfrm>
            <a:off x="10515600" y="274320"/>
            <a:ext cx="1243584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7DD3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607040" y="356616"/>
            <a:ext cx="106070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dirty="0">
                <a:solidFill>
                  <a:srgbClr val="075985"/>
                </a:solidFill>
                <a:latin typeface="Aptos"/>
              </a:rPr>
              <a:t>v3 workload-fit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0624" y="6510528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64748B"/>
                </a:solidFill>
                <a:latin typeface="Aptos"/>
              </a:rPr>
              <a:t>A break-even cell is where the complete service changes winner at fixed quality and SLO.</a:t>
            </a:r>
          </a:p>
        </p:txBody>
      </p:sp>
      <p:sp>
        <p:nvSpPr>
          <p:cNvPr id="9" name="Shape 9"/>
          <p:cNvSpPr/>
          <p:nvPr/>
        </p:nvSpPr>
        <p:spPr>
          <a:xfrm>
            <a:off x="1664208" y="5163642"/>
            <a:ext cx="164592" cy="164592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83664" y="5172786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RTX/GPU</a:t>
            </a:r>
          </a:p>
        </p:txBody>
      </p:sp>
      <p:sp>
        <p:nvSpPr>
          <p:cNvPr id="11" name="Shape 11"/>
          <p:cNvSpPr/>
          <p:nvPr/>
        </p:nvSpPr>
        <p:spPr>
          <a:xfrm>
            <a:off x="2990088" y="5163642"/>
            <a:ext cx="164592" cy="16459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209544" y="5172786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RTX+CXL</a:t>
            </a:r>
          </a:p>
        </p:txBody>
      </p:sp>
      <p:sp>
        <p:nvSpPr>
          <p:cNvPr id="13" name="Shape 13"/>
          <p:cNvSpPr/>
          <p:nvPr/>
        </p:nvSpPr>
        <p:spPr>
          <a:xfrm>
            <a:off x="4315968" y="5163642"/>
            <a:ext cx="164592" cy="16459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535424" y="5172786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ATMOS/HBF</a:t>
            </a:r>
          </a:p>
        </p:txBody>
      </p:sp>
      <p:sp>
        <p:nvSpPr>
          <p:cNvPr id="15" name="Shape 15"/>
          <p:cNvSpPr/>
          <p:nvPr/>
        </p:nvSpPr>
        <p:spPr>
          <a:xfrm>
            <a:off x="5641848" y="5163642"/>
            <a:ext cx="164592" cy="164592"/>
          </a:xfrm>
          <a:prstGeom prst="rect">
            <a:avLst/>
          </a:prstGeom>
          <a:solidFill>
            <a:srgbClr val="64748B"/>
          </a:solidFill>
          <a:ln w="6350">
            <a:solidFill>
              <a:srgbClr val="64748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861304" y="5172786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No-fit/measure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64208" y="94183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dirty="0">
                <a:solidFill>
                  <a:srgbClr val="334155"/>
                </a:solidFill>
                <a:latin typeface="Aptos"/>
              </a:rPr>
              <a:t>Low reuse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90088" y="94183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dirty="0">
                <a:solidFill>
                  <a:srgbClr val="334155"/>
                </a:solidFill>
                <a:latin typeface="Aptos"/>
              </a:rPr>
              <a:t>Some reuse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5968" y="94183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dirty="0">
                <a:solidFill>
                  <a:srgbClr val="334155"/>
                </a:solidFill>
                <a:latin typeface="Aptos"/>
              </a:rPr>
              <a:t>High reuse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41848" y="94183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dirty="0">
                <a:solidFill>
                  <a:srgbClr val="334155"/>
                </a:solidFill>
                <a:latin typeface="Aptos"/>
              </a:rPr>
              <a:t>Hot experts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67728" y="94183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dirty="0">
                <a:solidFill>
                  <a:srgbClr val="334155"/>
                </a:solidFill>
                <a:latin typeface="Aptos"/>
              </a:rPr>
              <a:t>Hot + long KV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95928" y="630936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0F172A"/>
                </a:solidFill>
                <a:latin typeface="Aptos"/>
              </a:rPr>
              <a:t>Reuse and routing locality -&gt;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7472" y="297180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30" dirty="0">
                <a:solidFill>
                  <a:srgbClr val="0F172A"/>
                </a:solidFill>
                <a:latin typeface="Aptos"/>
              </a:rPr>
              <a:t>Nonresident bytes / request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5840" y="1581912"/>
            <a:ext cx="5029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50" dirty="0">
                <a:solidFill>
                  <a:srgbClr val="334155"/>
                </a:solidFill>
                <a:latin typeface="Aptos"/>
              </a:rPr>
              <a:t>320 GB</a:t>
            </a:r>
          </a:p>
        </p:txBody>
      </p:sp>
      <p:sp>
        <p:nvSpPr>
          <p:cNvPr id="25" name="Shape 25"/>
          <p:cNvSpPr/>
          <p:nvPr/>
        </p:nvSpPr>
        <p:spPr>
          <a:xfrm>
            <a:off x="1664208" y="1325880"/>
            <a:ext cx="1280160" cy="640080"/>
          </a:xfrm>
          <a:prstGeom prst="rect">
            <a:avLst/>
          </a:prstGeom>
          <a:solidFill>
            <a:srgbClr val="64748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691640" y="15727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NO-FIT?</a:t>
            </a:r>
          </a:p>
        </p:txBody>
      </p:sp>
      <p:sp>
        <p:nvSpPr>
          <p:cNvPr id="27" name="Shape 27"/>
          <p:cNvSpPr/>
          <p:nvPr/>
        </p:nvSpPr>
        <p:spPr>
          <a:xfrm>
            <a:off x="2990088" y="1325880"/>
            <a:ext cx="1280160" cy="64008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3017520" y="15727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CXL</a:t>
            </a:r>
          </a:p>
        </p:txBody>
      </p:sp>
      <p:sp>
        <p:nvSpPr>
          <p:cNvPr id="29" name="Shape 29"/>
          <p:cNvSpPr/>
          <p:nvPr/>
        </p:nvSpPr>
        <p:spPr>
          <a:xfrm>
            <a:off x="4315968" y="1325880"/>
            <a:ext cx="1280160" cy="64008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4343400" y="15727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31" name="Shape 31"/>
          <p:cNvSpPr/>
          <p:nvPr/>
        </p:nvSpPr>
        <p:spPr>
          <a:xfrm>
            <a:off x="5641848" y="1325880"/>
            <a:ext cx="1280160" cy="64008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5669280" y="15727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33" name="Shape 33"/>
          <p:cNvSpPr/>
          <p:nvPr/>
        </p:nvSpPr>
        <p:spPr>
          <a:xfrm>
            <a:off x="6967728" y="1325880"/>
            <a:ext cx="1280160" cy="64008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6995160" y="15727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5840" y="2267712"/>
            <a:ext cx="5029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50" dirty="0">
                <a:solidFill>
                  <a:srgbClr val="334155"/>
                </a:solidFill>
                <a:latin typeface="Aptos"/>
              </a:rPr>
              <a:t>160 GB</a:t>
            </a:r>
          </a:p>
        </p:txBody>
      </p:sp>
      <p:sp>
        <p:nvSpPr>
          <p:cNvPr id="36" name="Shape 36"/>
          <p:cNvSpPr/>
          <p:nvPr/>
        </p:nvSpPr>
        <p:spPr>
          <a:xfrm>
            <a:off x="1664208" y="2011680"/>
            <a:ext cx="1280160" cy="640080"/>
          </a:xfrm>
          <a:prstGeom prst="rect">
            <a:avLst/>
          </a:prstGeom>
          <a:solidFill>
            <a:srgbClr val="64748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1691640" y="22585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NO-FIT?</a:t>
            </a:r>
          </a:p>
        </p:txBody>
      </p:sp>
      <p:sp>
        <p:nvSpPr>
          <p:cNvPr id="38" name="Shape 38"/>
          <p:cNvSpPr/>
          <p:nvPr/>
        </p:nvSpPr>
        <p:spPr>
          <a:xfrm>
            <a:off x="2990088" y="2011680"/>
            <a:ext cx="1280160" cy="64008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3017520" y="22585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CXL</a:t>
            </a:r>
          </a:p>
        </p:txBody>
      </p:sp>
      <p:sp>
        <p:nvSpPr>
          <p:cNvPr id="40" name="Shape 40"/>
          <p:cNvSpPr/>
          <p:nvPr/>
        </p:nvSpPr>
        <p:spPr>
          <a:xfrm>
            <a:off x="4315968" y="2011680"/>
            <a:ext cx="1280160" cy="64008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4343400" y="22585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42" name="Shape 42"/>
          <p:cNvSpPr/>
          <p:nvPr/>
        </p:nvSpPr>
        <p:spPr>
          <a:xfrm>
            <a:off x="5641848" y="2011680"/>
            <a:ext cx="1280160" cy="64008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5669280" y="22585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44" name="Shape 44"/>
          <p:cNvSpPr/>
          <p:nvPr/>
        </p:nvSpPr>
        <p:spPr>
          <a:xfrm>
            <a:off x="6967728" y="2011680"/>
            <a:ext cx="1280160" cy="64008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6995160" y="22585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05840" y="2953512"/>
            <a:ext cx="5029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50" dirty="0">
                <a:solidFill>
                  <a:srgbClr val="334155"/>
                </a:solidFill>
                <a:latin typeface="Aptos"/>
              </a:rPr>
              <a:t>80 GB</a:t>
            </a:r>
          </a:p>
        </p:txBody>
      </p:sp>
      <p:sp>
        <p:nvSpPr>
          <p:cNvPr id="47" name="Shape 47"/>
          <p:cNvSpPr/>
          <p:nvPr/>
        </p:nvSpPr>
        <p:spPr>
          <a:xfrm>
            <a:off x="1664208" y="2697480"/>
            <a:ext cx="1280160" cy="64008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1691640" y="29443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49" name="Shape 49"/>
          <p:cNvSpPr/>
          <p:nvPr/>
        </p:nvSpPr>
        <p:spPr>
          <a:xfrm>
            <a:off x="2990088" y="2697480"/>
            <a:ext cx="1280160" cy="64008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3017520" y="29443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CXL</a:t>
            </a:r>
          </a:p>
        </p:txBody>
      </p:sp>
      <p:sp>
        <p:nvSpPr>
          <p:cNvPr id="51" name="Shape 51"/>
          <p:cNvSpPr/>
          <p:nvPr/>
        </p:nvSpPr>
        <p:spPr>
          <a:xfrm>
            <a:off x="4315968" y="2697480"/>
            <a:ext cx="1280160" cy="64008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4343400" y="29443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CXL</a:t>
            </a:r>
          </a:p>
        </p:txBody>
      </p:sp>
      <p:sp>
        <p:nvSpPr>
          <p:cNvPr id="53" name="Shape 53"/>
          <p:cNvSpPr/>
          <p:nvPr/>
        </p:nvSpPr>
        <p:spPr>
          <a:xfrm>
            <a:off x="5641848" y="2697480"/>
            <a:ext cx="1280160" cy="64008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5669280" y="29443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55" name="Shape 55"/>
          <p:cNvSpPr/>
          <p:nvPr/>
        </p:nvSpPr>
        <p:spPr>
          <a:xfrm>
            <a:off x="6967728" y="2697480"/>
            <a:ext cx="1280160" cy="64008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6995160" y="29443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05840" y="3639312"/>
            <a:ext cx="5029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50" dirty="0">
                <a:solidFill>
                  <a:srgbClr val="334155"/>
                </a:solidFill>
                <a:latin typeface="Aptos"/>
              </a:rPr>
              <a:t>40 GB</a:t>
            </a:r>
          </a:p>
        </p:txBody>
      </p:sp>
      <p:sp>
        <p:nvSpPr>
          <p:cNvPr id="58" name="Shape 58"/>
          <p:cNvSpPr/>
          <p:nvPr/>
        </p:nvSpPr>
        <p:spPr>
          <a:xfrm>
            <a:off x="1664208" y="3383280"/>
            <a:ext cx="1280160" cy="64008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1691640" y="36301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60" name="Shape 60"/>
          <p:cNvSpPr/>
          <p:nvPr/>
        </p:nvSpPr>
        <p:spPr>
          <a:xfrm>
            <a:off x="2990088" y="3383280"/>
            <a:ext cx="1280160" cy="64008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3017520" y="36301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62" name="Shape 62"/>
          <p:cNvSpPr/>
          <p:nvPr/>
        </p:nvSpPr>
        <p:spPr>
          <a:xfrm>
            <a:off x="4315968" y="3383280"/>
            <a:ext cx="1280160" cy="64008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 63"/>
          <p:cNvSpPr txBox="1"/>
          <p:nvPr/>
        </p:nvSpPr>
        <p:spPr>
          <a:xfrm>
            <a:off x="4343400" y="36301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CXL</a:t>
            </a:r>
          </a:p>
        </p:txBody>
      </p:sp>
      <p:sp>
        <p:nvSpPr>
          <p:cNvPr id="64" name="Shape 64"/>
          <p:cNvSpPr/>
          <p:nvPr/>
        </p:nvSpPr>
        <p:spPr>
          <a:xfrm>
            <a:off x="5641848" y="3383280"/>
            <a:ext cx="1280160" cy="64008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 65"/>
          <p:cNvSpPr txBox="1"/>
          <p:nvPr/>
        </p:nvSpPr>
        <p:spPr>
          <a:xfrm>
            <a:off x="5669280" y="36301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CXL</a:t>
            </a:r>
          </a:p>
        </p:txBody>
      </p:sp>
      <p:sp>
        <p:nvSpPr>
          <p:cNvPr id="66" name="Shape 66"/>
          <p:cNvSpPr/>
          <p:nvPr/>
        </p:nvSpPr>
        <p:spPr>
          <a:xfrm>
            <a:off x="6967728" y="3383280"/>
            <a:ext cx="1280160" cy="64008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 67"/>
          <p:cNvSpPr txBox="1"/>
          <p:nvPr/>
        </p:nvSpPr>
        <p:spPr>
          <a:xfrm>
            <a:off x="6995160" y="36301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ATMOS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05840" y="4325112"/>
            <a:ext cx="5029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50" dirty="0">
                <a:solidFill>
                  <a:srgbClr val="334155"/>
                </a:solidFill>
                <a:latin typeface="Aptos"/>
              </a:rPr>
              <a:t>20 GB</a:t>
            </a:r>
          </a:p>
        </p:txBody>
      </p:sp>
      <p:sp>
        <p:nvSpPr>
          <p:cNvPr id="69" name="Shape 69"/>
          <p:cNvSpPr/>
          <p:nvPr/>
        </p:nvSpPr>
        <p:spPr>
          <a:xfrm>
            <a:off x="1664208" y="4069080"/>
            <a:ext cx="1280160" cy="64008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Box 70"/>
          <p:cNvSpPr txBox="1"/>
          <p:nvPr/>
        </p:nvSpPr>
        <p:spPr>
          <a:xfrm>
            <a:off x="1691640" y="43159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71" name="Shape 71"/>
          <p:cNvSpPr/>
          <p:nvPr/>
        </p:nvSpPr>
        <p:spPr>
          <a:xfrm>
            <a:off x="2990088" y="4069080"/>
            <a:ext cx="1280160" cy="64008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Box 72"/>
          <p:cNvSpPr txBox="1"/>
          <p:nvPr/>
        </p:nvSpPr>
        <p:spPr>
          <a:xfrm>
            <a:off x="3017520" y="43159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73" name="Shape 73"/>
          <p:cNvSpPr/>
          <p:nvPr/>
        </p:nvSpPr>
        <p:spPr>
          <a:xfrm>
            <a:off x="4315968" y="4069080"/>
            <a:ext cx="1280160" cy="64008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Box 74"/>
          <p:cNvSpPr txBox="1"/>
          <p:nvPr/>
        </p:nvSpPr>
        <p:spPr>
          <a:xfrm>
            <a:off x="4343400" y="43159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RTX</a:t>
            </a:r>
          </a:p>
        </p:txBody>
      </p:sp>
      <p:sp>
        <p:nvSpPr>
          <p:cNvPr id="75" name="Shape 75"/>
          <p:cNvSpPr/>
          <p:nvPr/>
        </p:nvSpPr>
        <p:spPr>
          <a:xfrm>
            <a:off x="5641848" y="4069080"/>
            <a:ext cx="1280160" cy="64008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 76"/>
          <p:cNvSpPr txBox="1"/>
          <p:nvPr/>
        </p:nvSpPr>
        <p:spPr>
          <a:xfrm>
            <a:off x="5669280" y="43159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CXL</a:t>
            </a:r>
          </a:p>
        </p:txBody>
      </p:sp>
      <p:sp>
        <p:nvSpPr>
          <p:cNvPr id="77" name="Shape 77"/>
          <p:cNvSpPr/>
          <p:nvPr/>
        </p:nvSpPr>
        <p:spPr>
          <a:xfrm>
            <a:off x="6967728" y="4069080"/>
            <a:ext cx="1280160" cy="64008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 78"/>
          <p:cNvSpPr txBox="1"/>
          <p:nvPr/>
        </p:nvSpPr>
        <p:spPr>
          <a:xfrm>
            <a:off x="6995160" y="431596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40" dirty="0">
                <a:solidFill>
                  <a:srgbClr val="FFFFFF"/>
                </a:solidFill>
                <a:latin typeface="Aptos"/>
              </a:rPr>
              <a:t>CXL</a:t>
            </a:r>
          </a:p>
        </p:txBody>
      </p:sp>
      <p:sp>
        <p:nvSpPr>
          <p:cNvPr id="79" name="Shape 79"/>
          <p:cNvSpPr/>
          <p:nvPr/>
        </p:nvSpPr>
        <p:spPr>
          <a:xfrm>
            <a:off x="8595360" y="1298448"/>
            <a:ext cx="2578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80"/>
          <p:cNvSpPr/>
          <p:nvPr/>
        </p:nvSpPr>
        <p:spPr>
          <a:xfrm>
            <a:off x="8595360" y="1298448"/>
            <a:ext cx="73152" cy="237744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81"/>
          <p:cNvSpPr txBox="1"/>
          <p:nvPr/>
        </p:nvSpPr>
        <p:spPr>
          <a:xfrm>
            <a:off x="8778240" y="1444752"/>
            <a:ext cx="22494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dirty="0">
                <a:solidFill>
                  <a:srgbClr val="0F172A"/>
                </a:solidFill>
                <a:latin typeface="Aptos"/>
              </a:rPr>
              <a:t>Break-even logic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778240" y="1755648"/>
            <a:ext cx="2267712" cy="181051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60" dirty="0">
                <a:solidFill>
                  <a:srgbClr val="475569"/>
                </a:solidFill>
                <a:latin typeface="Aptos"/>
              </a:rPr>
              <a:t>HBF helps when avoided reload/recompute and reduced scale-out exceed HBF path latency, software overhead, power, and cost. Higher reuse moves right. Larger nonresident working set moves 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6350">
            <a:solidFill>
              <a:srgbClr val="F8FA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84048" y="256032"/>
            <a:ext cx="9326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600" dirty="0">
                <a:solidFill>
                  <a:srgbClr val="0F172A"/>
                </a:solidFill>
                <a:latin typeface="Aptos"/>
              </a:rPr>
              <a:t>Capacity Curve: Where the SLO Breaks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2336" y="694944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dirty="0">
                <a:solidFill>
                  <a:srgbClr val="475569"/>
                </a:solidFill>
                <a:latin typeface="Aptos"/>
              </a:rPr>
              <a:t>Illustrative queue-and-latency knee. Replace with real low, target, and saturation results.</a:t>
            </a:r>
          </a:p>
        </p:txBody>
      </p:sp>
      <p:sp>
        <p:nvSpPr>
          <p:cNvPr id="6" name="Shape 6"/>
          <p:cNvSpPr/>
          <p:nvPr/>
        </p:nvSpPr>
        <p:spPr>
          <a:xfrm>
            <a:off x="10515600" y="274320"/>
            <a:ext cx="1243584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7DD3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607040" y="356616"/>
            <a:ext cx="1060704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dirty="0">
                <a:solidFill>
                  <a:srgbClr val="075985"/>
                </a:solidFill>
                <a:latin typeface="Aptos"/>
              </a:rPr>
              <a:t>v3 workload-fit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0624" y="6510528"/>
            <a:ext cx="7498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dirty="0">
                <a:solidFill>
                  <a:srgbClr val="64748B"/>
                </a:solidFill>
                <a:latin typeface="Aptos"/>
              </a:rPr>
              <a:t>The winner is the highest accepted arrival rate before quality, latency, or queue depth violates the SLO.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1143000" y="5303520"/>
            <a:ext cx="9464040" cy="9144"/>
          </a:xfrm>
          <a:prstGeom prst="line">
            <a:avLst/>
          </a:prstGeom>
          <a:ln w="25400">
            <a:solidFill>
              <a:srgbClr val="334155"/>
            </a:solidFill>
          </a:ln>
        </p:spPr>
      </p:cxnSp>
      <p:cxnSp>
        <p:nvCxnSpPr>
          <p:cNvPr id="10" name="Line 10"/>
          <p:cNvCxnSpPr/>
          <p:nvPr/>
        </p:nvCxnSpPr>
        <p:spPr>
          <a:xfrm flipV="1">
            <a:off x="1143000" y="1005840"/>
            <a:ext cx="9144" cy="4297680"/>
          </a:xfrm>
          <a:prstGeom prst="line">
            <a:avLst/>
          </a:prstGeom>
          <a:ln w="25400">
            <a:solidFill>
              <a:srgbClr val="334155"/>
            </a:solidFill>
          </a:ln>
        </p:spPr>
      </p:cxnSp>
      <p:sp>
        <p:nvSpPr>
          <p:cNvPr id="11" name="TextBox 11"/>
          <p:cNvSpPr txBox="1"/>
          <p:nvPr/>
        </p:nvSpPr>
        <p:spPr>
          <a:xfrm>
            <a:off x="3886200" y="557784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dirty="0">
                <a:solidFill>
                  <a:srgbClr val="0F172A"/>
                </a:solidFill>
                <a:latin typeface="Aptos"/>
              </a:rPr>
              <a:t>Arrival rate / loan packages per hour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4592" y="278892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50" dirty="0">
                <a:solidFill>
                  <a:srgbClr val="0F172A"/>
                </a:solidFill>
                <a:latin typeface="Aptos"/>
              </a:rPr>
              <a:t>p95 latency / queue pressure</a:t>
            </a:r>
          </a:p>
        </p:txBody>
      </p:sp>
      <p:sp>
        <p:nvSpPr>
          <p:cNvPr id="13" name="Shape 13"/>
          <p:cNvSpPr/>
          <p:nvPr/>
        </p:nvSpPr>
        <p:spPr>
          <a:xfrm>
            <a:off x="1143000" y="2057400"/>
            <a:ext cx="9464040" cy="22860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01200" y="1874520"/>
            <a:ext cx="9144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Aptos"/>
              </a:rPr>
              <a:t>SLO boundary</a:t>
            </a:r>
          </a:p>
        </p:txBody>
      </p:sp>
      <p:cxnSp>
        <p:nvCxnSpPr>
          <p:cNvPr id="15" name="Line 15"/>
          <p:cNvCxnSpPr/>
          <p:nvPr/>
        </p:nvCxnSpPr>
        <p:spPr>
          <a:xfrm flipV="1">
            <a:off x="1280160" y="4114800"/>
            <a:ext cx="1463040" cy="548640"/>
          </a:xfrm>
          <a:prstGeom prst="line">
            <a:avLst/>
          </a:prstGeom>
          <a:ln w="38100">
            <a:solidFill>
              <a:srgbClr val="2563EB"/>
            </a:solidFill>
          </a:ln>
        </p:spPr>
      </p:cxnSp>
      <p:cxnSp>
        <p:nvCxnSpPr>
          <p:cNvPr id="16" name="Line 16"/>
          <p:cNvCxnSpPr/>
          <p:nvPr/>
        </p:nvCxnSpPr>
        <p:spPr>
          <a:xfrm flipV="1">
            <a:off x="2743200" y="3246120"/>
            <a:ext cx="1645920" cy="868680"/>
          </a:xfrm>
          <a:prstGeom prst="line">
            <a:avLst/>
          </a:prstGeom>
          <a:ln w="38100">
            <a:solidFill>
              <a:srgbClr val="2563EB"/>
            </a:solidFill>
          </a:ln>
        </p:spPr>
      </p:cxnSp>
      <p:cxnSp>
        <p:nvCxnSpPr>
          <p:cNvPr id="17" name="Line 17"/>
          <p:cNvCxnSpPr/>
          <p:nvPr/>
        </p:nvCxnSpPr>
        <p:spPr>
          <a:xfrm flipV="1">
            <a:off x="4389120" y="2148840"/>
            <a:ext cx="1097280" cy="1097280"/>
          </a:xfrm>
          <a:prstGeom prst="line">
            <a:avLst/>
          </a:prstGeom>
          <a:ln w="38100">
            <a:solidFill>
              <a:srgbClr val="2563EB"/>
            </a:solidFill>
          </a:ln>
        </p:spPr>
      </p:cxnSp>
      <p:cxnSp>
        <p:nvCxnSpPr>
          <p:cNvPr id="18" name="Line 18"/>
          <p:cNvCxnSpPr/>
          <p:nvPr/>
        </p:nvCxnSpPr>
        <p:spPr>
          <a:xfrm flipV="1">
            <a:off x="5486400" y="1508760"/>
            <a:ext cx="640080" cy="640080"/>
          </a:xfrm>
          <a:prstGeom prst="line">
            <a:avLst/>
          </a:prstGeom>
          <a:ln w="38100">
            <a:solidFill>
              <a:srgbClr val="2563EB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1234440" y="4617720"/>
            <a:ext cx="91440" cy="91440"/>
          </a:xfrm>
          <a:prstGeom prst="round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2697480" y="4069080"/>
            <a:ext cx="91440" cy="91440"/>
          </a:xfrm>
          <a:prstGeom prst="round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4343400" y="3200400"/>
            <a:ext cx="91440" cy="91440"/>
          </a:xfrm>
          <a:prstGeom prst="round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5440680" y="2103120"/>
            <a:ext cx="91440" cy="91440"/>
          </a:xfrm>
          <a:prstGeom prst="round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6080760" y="1463040"/>
            <a:ext cx="91440" cy="91440"/>
          </a:xfrm>
          <a:prstGeom prst="round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4" name="Line 24"/>
          <p:cNvCxnSpPr/>
          <p:nvPr/>
        </p:nvCxnSpPr>
        <p:spPr>
          <a:xfrm flipV="1">
            <a:off x="1280160" y="4251960"/>
            <a:ext cx="1920240" cy="457200"/>
          </a:xfrm>
          <a:prstGeom prst="line">
            <a:avLst/>
          </a:prstGeom>
          <a:ln w="38100">
            <a:solidFill>
              <a:srgbClr val="F59E0B"/>
            </a:solidFill>
          </a:ln>
        </p:spPr>
      </p:cxnSp>
      <p:cxnSp>
        <p:nvCxnSpPr>
          <p:cNvPr id="25" name="Line 25"/>
          <p:cNvCxnSpPr/>
          <p:nvPr/>
        </p:nvCxnSpPr>
        <p:spPr>
          <a:xfrm flipV="1">
            <a:off x="3200400" y="3520440"/>
            <a:ext cx="1920240" cy="731520"/>
          </a:xfrm>
          <a:prstGeom prst="line">
            <a:avLst/>
          </a:prstGeom>
          <a:ln w="38100">
            <a:solidFill>
              <a:srgbClr val="F59E0B"/>
            </a:solidFill>
          </a:ln>
        </p:spPr>
      </p:cxnSp>
      <p:cxnSp>
        <p:nvCxnSpPr>
          <p:cNvPr id="26" name="Line 26"/>
          <p:cNvCxnSpPr/>
          <p:nvPr/>
        </p:nvCxnSpPr>
        <p:spPr>
          <a:xfrm flipV="1">
            <a:off x="5120640" y="2331720"/>
            <a:ext cx="1554480" cy="1188720"/>
          </a:xfrm>
          <a:prstGeom prst="line">
            <a:avLst/>
          </a:prstGeom>
          <a:ln w="38100">
            <a:solidFill>
              <a:srgbClr val="F59E0B"/>
            </a:solidFill>
          </a:ln>
        </p:spPr>
      </p:cxnSp>
      <p:cxnSp>
        <p:nvCxnSpPr>
          <p:cNvPr id="27" name="Line 27"/>
          <p:cNvCxnSpPr/>
          <p:nvPr/>
        </p:nvCxnSpPr>
        <p:spPr>
          <a:xfrm flipV="1">
            <a:off x="6675120" y="1508760"/>
            <a:ext cx="640080" cy="822960"/>
          </a:xfrm>
          <a:prstGeom prst="line">
            <a:avLst/>
          </a:prstGeom>
          <a:ln w="38100">
            <a:solidFill>
              <a:srgbClr val="F59E0B"/>
            </a:solidFill>
          </a:ln>
        </p:spPr>
      </p:cxnSp>
      <p:sp>
        <p:nvSpPr>
          <p:cNvPr id="28" name="Shape 28"/>
          <p:cNvSpPr/>
          <p:nvPr/>
        </p:nvSpPr>
        <p:spPr>
          <a:xfrm>
            <a:off x="1234440" y="4663440"/>
            <a:ext cx="91440" cy="91440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9"/>
          <p:cNvSpPr/>
          <p:nvPr/>
        </p:nvSpPr>
        <p:spPr>
          <a:xfrm>
            <a:off x="3154680" y="4206240"/>
            <a:ext cx="91440" cy="91440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5074920" y="3474720"/>
            <a:ext cx="91440" cy="91440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31"/>
          <p:cNvSpPr/>
          <p:nvPr/>
        </p:nvSpPr>
        <p:spPr>
          <a:xfrm>
            <a:off x="6629400" y="2286000"/>
            <a:ext cx="91440" cy="91440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2"/>
          <p:cNvSpPr/>
          <p:nvPr/>
        </p:nvSpPr>
        <p:spPr>
          <a:xfrm>
            <a:off x="7269480" y="1463040"/>
            <a:ext cx="91440" cy="91440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3" name="Line 33"/>
          <p:cNvCxnSpPr/>
          <p:nvPr/>
        </p:nvCxnSpPr>
        <p:spPr>
          <a:xfrm flipV="1">
            <a:off x="1280160" y="4343400"/>
            <a:ext cx="2377440" cy="411480"/>
          </a:xfrm>
          <a:prstGeom prst="line">
            <a:avLst/>
          </a:prstGeom>
          <a:ln w="38100">
            <a:solidFill>
              <a:srgbClr val="0F766E"/>
            </a:solidFill>
          </a:ln>
        </p:spPr>
      </p:cxnSp>
      <p:cxnSp>
        <p:nvCxnSpPr>
          <p:cNvPr id="34" name="Line 34"/>
          <p:cNvCxnSpPr/>
          <p:nvPr/>
        </p:nvCxnSpPr>
        <p:spPr>
          <a:xfrm flipV="1">
            <a:off x="3657600" y="3703320"/>
            <a:ext cx="2194560" cy="640080"/>
          </a:xfrm>
          <a:prstGeom prst="line">
            <a:avLst/>
          </a:prstGeom>
          <a:ln w="38100">
            <a:solidFill>
              <a:srgbClr val="0F766E"/>
            </a:solidFill>
          </a:ln>
        </p:spPr>
      </p:cxnSp>
      <p:cxnSp>
        <p:nvCxnSpPr>
          <p:cNvPr id="35" name="Line 35"/>
          <p:cNvCxnSpPr/>
          <p:nvPr/>
        </p:nvCxnSpPr>
        <p:spPr>
          <a:xfrm flipV="1">
            <a:off x="5852160" y="2743200"/>
            <a:ext cx="2103120" cy="960120"/>
          </a:xfrm>
          <a:prstGeom prst="line">
            <a:avLst/>
          </a:prstGeom>
          <a:ln w="38100">
            <a:solidFill>
              <a:srgbClr val="0F766E"/>
            </a:solidFill>
          </a:ln>
        </p:spPr>
      </p:cxnSp>
      <p:cxnSp>
        <p:nvCxnSpPr>
          <p:cNvPr id="36" name="Line 36"/>
          <p:cNvCxnSpPr/>
          <p:nvPr/>
        </p:nvCxnSpPr>
        <p:spPr>
          <a:xfrm flipV="1">
            <a:off x="7955280" y="1874520"/>
            <a:ext cx="1371600" cy="868680"/>
          </a:xfrm>
          <a:prstGeom prst="line">
            <a:avLst/>
          </a:prstGeom>
          <a:ln w="38100">
            <a:solidFill>
              <a:srgbClr val="0F766E"/>
            </a:solidFill>
          </a:ln>
        </p:spPr>
      </p:cxnSp>
      <p:sp>
        <p:nvSpPr>
          <p:cNvPr id="37" name="Shape 37"/>
          <p:cNvSpPr/>
          <p:nvPr/>
        </p:nvSpPr>
        <p:spPr>
          <a:xfrm>
            <a:off x="1234440" y="4709160"/>
            <a:ext cx="91440" cy="91440"/>
          </a:xfrm>
          <a:prstGeom prst="round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8"/>
          <p:cNvSpPr/>
          <p:nvPr/>
        </p:nvSpPr>
        <p:spPr>
          <a:xfrm>
            <a:off x="3611880" y="4297680"/>
            <a:ext cx="91440" cy="91440"/>
          </a:xfrm>
          <a:prstGeom prst="round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9"/>
          <p:cNvSpPr/>
          <p:nvPr/>
        </p:nvSpPr>
        <p:spPr>
          <a:xfrm>
            <a:off x="5806440" y="3657600"/>
            <a:ext cx="91440" cy="91440"/>
          </a:xfrm>
          <a:prstGeom prst="round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40"/>
          <p:cNvSpPr/>
          <p:nvPr/>
        </p:nvSpPr>
        <p:spPr>
          <a:xfrm>
            <a:off x="7909560" y="2697480"/>
            <a:ext cx="91440" cy="91440"/>
          </a:xfrm>
          <a:prstGeom prst="round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41"/>
          <p:cNvSpPr/>
          <p:nvPr/>
        </p:nvSpPr>
        <p:spPr>
          <a:xfrm>
            <a:off x="9281160" y="1828800"/>
            <a:ext cx="91440" cy="91440"/>
          </a:xfrm>
          <a:prstGeom prst="round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2"/>
          <p:cNvSpPr/>
          <p:nvPr/>
        </p:nvSpPr>
        <p:spPr>
          <a:xfrm>
            <a:off x="5806440" y="804672"/>
            <a:ext cx="164592" cy="164592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6025896" y="813816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RTX/GPU</a:t>
            </a:r>
          </a:p>
        </p:txBody>
      </p:sp>
      <p:sp>
        <p:nvSpPr>
          <p:cNvPr id="44" name="Shape 44"/>
          <p:cNvSpPr/>
          <p:nvPr/>
        </p:nvSpPr>
        <p:spPr>
          <a:xfrm>
            <a:off x="7132320" y="804672"/>
            <a:ext cx="164592" cy="16459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7351776" y="813816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RTX+CXL</a:t>
            </a:r>
          </a:p>
        </p:txBody>
      </p:sp>
      <p:sp>
        <p:nvSpPr>
          <p:cNvPr id="46" name="Shape 46"/>
          <p:cNvSpPr/>
          <p:nvPr/>
        </p:nvSpPr>
        <p:spPr>
          <a:xfrm>
            <a:off x="8458200" y="804672"/>
            <a:ext cx="164592" cy="16459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 47"/>
          <p:cNvSpPr txBox="1"/>
          <p:nvPr/>
        </p:nvSpPr>
        <p:spPr>
          <a:xfrm>
            <a:off x="8677656" y="813816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ATMOS/HBF</a:t>
            </a:r>
          </a:p>
        </p:txBody>
      </p:sp>
      <p:sp>
        <p:nvSpPr>
          <p:cNvPr id="48" name="Shape 48"/>
          <p:cNvSpPr/>
          <p:nvPr/>
        </p:nvSpPr>
        <p:spPr>
          <a:xfrm>
            <a:off x="9784080" y="804672"/>
            <a:ext cx="164592" cy="164592"/>
          </a:xfrm>
          <a:prstGeom prst="rect">
            <a:avLst/>
          </a:prstGeom>
          <a:solidFill>
            <a:srgbClr val="64748B"/>
          </a:solidFill>
          <a:ln w="6350">
            <a:solidFill>
              <a:srgbClr val="64748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 49"/>
          <p:cNvSpPr txBox="1"/>
          <p:nvPr/>
        </p:nvSpPr>
        <p:spPr>
          <a:xfrm>
            <a:off x="10003536" y="813816"/>
            <a:ext cx="91440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50" dirty="0">
                <a:solidFill>
                  <a:srgbClr val="334155"/>
                </a:solidFill>
                <a:latin typeface="Aptos"/>
              </a:rPr>
              <a:t>No-fit/measure</a:t>
            </a:r>
          </a:p>
        </p:txBody>
      </p:sp>
      <p:sp>
        <p:nvSpPr>
          <p:cNvPr id="50" name="Shape 50"/>
          <p:cNvSpPr/>
          <p:nvPr/>
        </p:nvSpPr>
        <p:spPr>
          <a:xfrm>
            <a:off x="7086600" y="3310128"/>
            <a:ext cx="342900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2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51"/>
          <p:cNvSpPr/>
          <p:nvPr/>
        </p:nvSpPr>
        <p:spPr>
          <a:xfrm>
            <a:off x="7086600" y="3310128"/>
            <a:ext cx="73152" cy="1417320"/>
          </a:xfrm>
          <a:prstGeom prst="rect">
            <a:avLst/>
          </a:prstGeom>
          <a:solidFill>
            <a:srgbClr val="00A3A3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7269480" y="3456432"/>
            <a:ext cx="309981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dirty="0">
                <a:solidFill>
                  <a:srgbClr val="0F172A"/>
                </a:solidFill>
                <a:latin typeface="Aptos"/>
              </a:rPr>
              <a:t>Decision readout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269480" y="3767328"/>
            <a:ext cx="3118104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60" dirty="0">
                <a:solidFill>
                  <a:srgbClr val="475569"/>
                </a:solidFill>
                <a:latin typeface="Aptos"/>
              </a:rPr>
              <a:t>Report low, target, burst, and saturation points. Show not just average throughput, but p95/p99 latency, queue growth, correctness pass rate, and failure/fallback behavior.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4791456"/>
            <a:ext cx="1417320" cy="530352"/>
          </a:xfrm>
          <a:prstGeom prst="rect">
            <a:avLst/>
          </a:prstGeom>
          <a:solidFill>
            <a:srgbClr val="FFFCF9"/>
          </a:solidFill>
          <a:ln w="10160">
            <a:solidFill>
              <a:srgbClr val="FFF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10600"/>
                </a:solidFill>
                <a:latin typeface="Pilat"/>
              </a:rPr>
              <a:t>CUSTOMER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698480" cy="45720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Pilat Book"/>
              </a:rPr>
              <a:t>ATMOS targets infrastructure cost and engineering effort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86868"/>
                </a:solidFill>
                <a:latin typeface="Pilat"/>
              </a:rPr>
              <a:t>The POC should convert architectural differences into customer-owned service, cost and operations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72184"/>
            <a:ext cx="11018520" cy="16459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801368"/>
            <a:ext cx="5175504" cy="1243584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2011680"/>
            <a:ext cx="393192" cy="393192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20824"/>
            <a:ext cx="3931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8424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Pilat Book"/>
              </a:rPr>
              <a:t>Fewer capacity-driven shards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313432"/>
            <a:ext cx="395020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 i="0">
                <a:solidFill>
                  <a:srgbClr val="686868"/>
                </a:solidFill>
                <a:latin typeface="Pilat"/>
              </a:rPr>
              <a:t>Potentially reduce accelerator slots, hosts and interconnect required only to make the model fit.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01368"/>
            <a:ext cx="5175504" cy="1243584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55080" y="2011680"/>
            <a:ext cx="393192" cy="393192"/>
          </a:xfrm>
          <a:prstGeom prst="ellipse">
            <a:avLst/>
          </a:prstGeom>
          <a:solidFill>
            <a:srgbClr val="772C22"/>
          </a:solidFill>
          <a:ln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020824"/>
            <a:ext cx="3931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98424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Pilat Book"/>
              </a:rPr>
              <a:t>Less distributed-serving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313432"/>
            <a:ext cx="395020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 i="0">
                <a:solidFill>
                  <a:srgbClr val="686868"/>
                </a:solidFill>
                <a:latin typeface="Pilat"/>
              </a:rPr>
              <a:t>Reduce topology-specific sharding, communication tuning, regression testing and recovery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401568"/>
            <a:ext cx="5175504" cy="1243584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5528" y="3611879"/>
            <a:ext cx="393192" cy="393192"/>
          </a:xfrm>
          <a:prstGeom prst="ellipse">
            <a:avLst/>
          </a:prstGeom>
          <a:solidFill>
            <a:srgbClr val="2D6FA3"/>
          </a:solidFill>
          <a:ln>
            <a:solidFill>
              <a:srgbClr val="2D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621023"/>
            <a:ext cx="3931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358444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Pilat Book"/>
              </a:rPr>
              <a:t>More useful memory headroom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3913631"/>
            <a:ext cx="395020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 i="0">
                <a:solidFill>
                  <a:srgbClr val="686868"/>
                </a:solidFill>
                <a:latin typeface="Pilat"/>
              </a:rPr>
              <a:t>Reserve the fastest working tier for active KV and execution rather than static model capacity.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401568"/>
            <a:ext cx="5175504" cy="1243584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55080" y="3611879"/>
            <a:ext cx="393192" cy="393192"/>
          </a:xfrm>
          <a:prstGeom prst="ellipse">
            <a:avLst/>
          </a:prstGeom>
          <a:solidFill>
            <a:srgbClr val="D48A16"/>
          </a:solidFill>
          <a:ln>
            <a:solidFill>
              <a:srgbClr val="D48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3621023"/>
            <a:ext cx="3931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58444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Pilat Book"/>
              </a:rPr>
              <a:t>A lower-overhead path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913631"/>
            <a:ext cx="395020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 i="0">
                <a:solidFill>
                  <a:srgbClr val="686868"/>
                </a:solidFill>
                <a:latin typeface="Pilat"/>
              </a:rPr>
              <a:t>Evaluate rack power, cooling, network traffic and deployment steps per useful workload.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1663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Pilat Book"/>
              </a:rPr>
              <a:t>Customer-owned decision scorecard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32120"/>
            <a:ext cx="2121408" cy="66751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5532120"/>
            <a:ext cx="64008" cy="667512"/>
          </a:xfrm>
          <a:prstGeom prst="rect">
            <a:avLst/>
          </a:prstGeom>
          <a:solidFill>
            <a:srgbClr val="E10600"/>
          </a:solidFill>
          <a:ln w="1016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5641848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Pilat Book"/>
              </a:rPr>
              <a:t>$/useful 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925312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0">
                <a:solidFill>
                  <a:srgbClr val="686868"/>
                </a:solidFill>
                <a:latin typeface="Pilat"/>
              </a:rPr>
              <a:t>Infrastructure economics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5532120"/>
            <a:ext cx="2121408" cy="66751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80360" y="5532120"/>
            <a:ext cx="64008" cy="667512"/>
          </a:xfrm>
          <a:prstGeom prst="rect">
            <a:avLst/>
          </a:prstGeom>
          <a:solidFill>
            <a:srgbClr val="772C22"/>
          </a:solidFill>
          <a:ln w="10160"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63240" y="5641848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Pilat Book"/>
              </a:rPr>
              <a:t>p99 / TTFT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5925312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0">
                <a:solidFill>
                  <a:srgbClr val="686868"/>
                </a:solidFill>
                <a:latin typeface="Pilat"/>
              </a:rPr>
              <a:t>Customer experience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93792" y="5532120"/>
            <a:ext cx="2121408" cy="66751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193792" y="5532120"/>
            <a:ext cx="64008" cy="667512"/>
          </a:xfrm>
          <a:prstGeom prst="rect">
            <a:avLst/>
          </a:prstGeom>
          <a:solidFill>
            <a:srgbClr val="2D6FA3"/>
          </a:solidFill>
          <a:ln w="10160">
            <a:solidFill>
              <a:srgbClr val="2D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76672" y="5641848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Pilat Book"/>
              </a:rPr>
              <a:t>Tokens / rack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76672" y="5925312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0">
                <a:solidFill>
                  <a:srgbClr val="686868"/>
                </a:solidFill>
                <a:latin typeface="Pilat"/>
              </a:rPr>
              <a:t>Capacity efficiency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224" y="5532120"/>
            <a:ext cx="2121408" cy="66751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07224" y="5532120"/>
            <a:ext cx="64008" cy="667512"/>
          </a:xfrm>
          <a:prstGeom prst="rect">
            <a:avLst/>
          </a:prstGeom>
          <a:solidFill>
            <a:srgbClr val="D48A16"/>
          </a:solidFill>
          <a:ln w="10160">
            <a:solidFill>
              <a:srgbClr val="D48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90104" y="5641848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Pilat Book"/>
              </a:rPr>
              <a:t>Watts / token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90104" y="5925312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0">
                <a:solidFill>
                  <a:srgbClr val="686868"/>
                </a:solidFill>
                <a:latin typeface="Pilat"/>
              </a:rPr>
              <a:t>Energy efficiency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20656" y="5532120"/>
            <a:ext cx="1764792" cy="66751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820656" y="5532120"/>
            <a:ext cx="64008" cy="667512"/>
          </a:xfrm>
          <a:prstGeom prst="rect">
            <a:avLst/>
          </a:prstGeom>
          <a:solidFill>
            <a:srgbClr val="BCBCBC"/>
          </a:solidFill>
          <a:ln w="1016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03536" y="5641848"/>
            <a:ext cx="14904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Pilat Book"/>
              </a:rPr>
              <a:t>Steps / release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03536" y="5925312"/>
            <a:ext cx="1490472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0">
                <a:solidFill>
                  <a:srgbClr val="686868"/>
                </a:solidFill>
                <a:latin typeface="Pilat"/>
              </a:rPr>
              <a:t>Engineering effort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" y="6492240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 i="0">
                <a:solidFill>
                  <a:srgbClr val="000000"/>
                </a:solidFill>
                <a:latin typeface="Pilat"/>
              </a:rPr>
              <a:t>[Confidential]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78608" y="6492240"/>
            <a:ext cx="324612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 i="0">
                <a:solidFill>
                  <a:srgbClr val="686868"/>
                </a:solidFill>
                <a:latin typeface="Pilat"/>
              </a:rPr>
              <a:t>©2026 SANDISK CORPORATION OR ITS AFFILIATES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79008" y="6492240"/>
            <a:ext cx="4956048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 i="0">
                <a:solidFill>
                  <a:srgbClr val="686868"/>
                </a:solidFill>
                <a:latin typeface="Pilat"/>
              </a:rPr>
              <a:t>Illustrative — validate against customer workload and approved product configuration.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18520" y="6492240"/>
            <a:ext cx="347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86868"/>
                </a:solidFill>
                <a:latin typeface="Pilat"/>
              </a:rPr>
              <a:t>07</a:t>
            </a:r>
          </a:p>
        </p:txBody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09A2A485-B37B-BE72-59C1-0CB37CCD7CD7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4791456"/>
            <a:ext cx="1417320" cy="530352"/>
          </a:xfrm>
          <a:prstGeom prst="rect">
            <a:avLst/>
          </a:prstGeom>
          <a:solidFill>
            <a:srgbClr val="FFFCF9"/>
          </a:solidFill>
          <a:ln w="10160">
            <a:solidFill>
              <a:srgbClr val="FFF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10600"/>
                </a:solidFill>
                <a:latin typeface="Pilat"/>
              </a:rPr>
              <a:t>CUSTOMER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698480" cy="45720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Pilat Book"/>
              </a:rPr>
              <a:t>The right ATMOS evaluation starts with your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86868"/>
                </a:solidFill>
                <a:latin typeface="Pilat"/>
              </a:rPr>
              <a:t>These questions combine the strongest discovery material from both presentations.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72184"/>
            <a:ext cx="11018520" cy="16459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401568" cy="391363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10512"/>
            <a:ext cx="3401568" cy="530352"/>
          </a:xfrm>
          <a:prstGeom prst="roundRect">
            <a:avLst/>
          </a:prstGeom>
          <a:solidFill>
            <a:srgbClr val="E10600"/>
          </a:solidFill>
          <a:ln w="1016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956816"/>
            <a:ext cx="299923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CF9"/>
                </a:solidFill>
                <a:latin typeface="Pilat Book"/>
              </a:rPr>
              <a:t>Your workload</a:t>
            </a:r>
          </a:p>
        </p:txBody>
      </p:sp>
      <p:sp>
        <p:nvSpPr>
          <p:cNvPr id="10" name="Oval 9"/>
          <p:cNvSpPr/>
          <p:nvPr/>
        </p:nvSpPr>
        <p:spPr>
          <a:xfrm>
            <a:off x="795528" y="2642616"/>
            <a:ext cx="256032" cy="256032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651760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24328"/>
            <a:ext cx="24871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5" b="0" i="0">
                <a:solidFill>
                  <a:srgbClr val="000000"/>
                </a:solidFill>
                <a:latin typeface="Pilat"/>
              </a:rPr>
              <a:t>Which models, precisions, context lengths and concurrency levels matter?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300984"/>
            <a:ext cx="2450592" cy="18288"/>
          </a:xfrm>
          <a:prstGeom prst="rect">
            <a:avLst/>
          </a:prstGeom>
          <a:solidFill>
            <a:srgbClr val="EEEAE6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95528" y="3502152"/>
            <a:ext cx="256032" cy="256032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51129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83864"/>
            <a:ext cx="24871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5" b="0" i="0">
                <a:solidFill>
                  <a:srgbClr val="000000"/>
                </a:solidFill>
                <a:latin typeface="Pilat"/>
              </a:rPr>
              <a:t>Where do repeated prompts, documents or agent context create reuse?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160520"/>
            <a:ext cx="2450592" cy="18288"/>
          </a:xfrm>
          <a:prstGeom prst="rect">
            <a:avLst/>
          </a:prstGeom>
          <a:solidFill>
            <a:srgbClr val="EEEAE6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5528" y="4361688"/>
            <a:ext cx="256032" cy="256032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4370831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43400"/>
            <a:ext cx="24871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5" b="0" i="0">
                <a:solidFill>
                  <a:srgbClr val="000000"/>
                </a:solidFill>
                <a:latin typeface="Pilat"/>
              </a:rPr>
              <a:t>Which flows are interactive versus batch / queue-based?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1810512"/>
            <a:ext cx="3401568" cy="391363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15968" y="1810512"/>
            <a:ext cx="3401568" cy="530352"/>
          </a:xfrm>
          <a:prstGeom prst="roundRect">
            <a:avLst/>
          </a:prstGeom>
          <a:solidFill>
            <a:srgbClr val="772C22"/>
          </a:solidFill>
          <a:ln w="10160"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136" y="1956816"/>
            <a:ext cx="299923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CF9"/>
                </a:solidFill>
                <a:latin typeface="Pilat Book"/>
              </a:rPr>
              <a:t>Your platform</a:t>
            </a:r>
          </a:p>
        </p:txBody>
      </p:sp>
      <p:sp>
        <p:nvSpPr>
          <p:cNvPr id="24" name="Oval 23"/>
          <p:cNvSpPr/>
          <p:nvPr/>
        </p:nvSpPr>
        <p:spPr>
          <a:xfrm>
            <a:off x="4544568" y="2642616"/>
            <a:ext cx="256032" cy="256032"/>
          </a:xfrm>
          <a:prstGeom prst="ellipse">
            <a:avLst/>
          </a:prstGeom>
          <a:solidFill>
            <a:srgbClr val="772C22"/>
          </a:solidFill>
          <a:ln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44568" y="2651760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59" y="2624328"/>
            <a:ext cx="24871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5" b="0" i="0">
                <a:solidFill>
                  <a:srgbClr val="000000"/>
                </a:solidFill>
                <a:latin typeface="Pilat"/>
              </a:rPr>
              <a:t>Which OEM, accelerator, OS and inference engine are in production?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59" y="3300984"/>
            <a:ext cx="2450592" cy="18288"/>
          </a:xfrm>
          <a:prstGeom prst="rect">
            <a:avLst/>
          </a:prstGeom>
          <a:solidFill>
            <a:srgbClr val="EEEAE6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44568" y="3502152"/>
            <a:ext cx="256032" cy="256032"/>
          </a:xfrm>
          <a:prstGeom prst="ellipse">
            <a:avLst/>
          </a:prstGeom>
          <a:solidFill>
            <a:srgbClr val="772C22"/>
          </a:solidFill>
          <a:ln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351129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3483864"/>
            <a:ext cx="24871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5" b="0" i="0">
                <a:solidFill>
                  <a:srgbClr val="000000"/>
                </a:solidFill>
                <a:latin typeface="Pilat"/>
              </a:rPr>
              <a:t>Where do sharding, networking or cache management create friction?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59" y="4160520"/>
            <a:ext cx="2450592" cy="18288"/>
          </a:xfrm>
          <a:prstGeom prst="rect">
            <a:avLst/>
          </a:prstGeom>
          <a:solidFill>
            <a:srgbClr val="EEEAE6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44568" y="4361688"/>
            <a:ext cx="256032" cy="256032"/>
          </a:xfrm>
          <a:prstGeom prst="ellipse">
            <a:avLst/>
          </a:prstGeom>
          <a:solidFill>
            <a:srgbClr val="772C22"/>
          </a:solidFill>
          <a:ln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44568" y="4370831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4343400"/>
            <a:ext cx="24871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5" b="0" i="0">
                <a:solidFill>
                  <a:srgbClr val="000000"/>
                </a:solidFill>
                <a:latin typeface="Pilat"/>
              </a:rPr>
              <a:t>What power, cooling, rack and edge limits apply?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7" y="1810512"/>
            <a:ext cx="3401568" cy="391363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065007" y="1810512"/>
            <a:ext cx="3401568" cy="530352"/>
          </a:xfrm>
          <a:prstGeom prst="roundRect">
            <a:avLst/>
          </a:prstGeom>
          <a:solidFill>
            <a:srgbClr val="BCBCBC"/>
          </a:solidFill>
          <a:ln w="1016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66175" y="1956816"/>
            <a:ext cx="299923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CF9"/>
                </a:solidFill>
                <a:latin typeface="Pilat Book"/>
              </a:rPr>
              <a:t>Your decision</a:t>
            </a:r>
          </a:p>
        </p:txBody>
      </p:sp>
      <p:sp>
        <p:nvSpPr>
          <p:cNvPr id="38" name="Oval 37"/>
          <p:cNvSpPr/>
          <p:nvPr/>
        </p:nvSpPr>
        <p:spPr>
          <a:xfrm>
            <a:off x="8293607" y="2642616"/>
            <a:ext cx="256032" cy="256032"/>
          </a:xfrm>
          <a:prstGeom prst="ellipse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93607" y="2651760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799" y="2624328"/>
            <a:ext cx="24871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5" b="0" i="0">
                <a:solidFill>
                  <a:srgbClr val="000000"/>
                </a:solidFill>
                <a:latin typeface="Pilat"/>
              </a:rPr>
              <a:t>Which KPI wins: p99, goodput, $/token, footprint or time-to-deploy?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799" y="3300984"/>
            <a:ext cx="2450592" cy="18288"/>
          </a:xfrm>
          <a:prstGeom prst="rect">
            <a:avLst/>
          </a:prstGeom>
          <a:solidFill>
            <a:srgbClr val="EEEAE6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293607" y="3502152"/>
            <a:ext cx="256032" cy="256032"/>
          </a:xfrm>
          <a:prstGeom prst="ellipse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93607" y="351129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799" y="3483864"/>
            <a:ext cx="24871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5" b="0" i="0">
                <a:solidFill>
                  <a:srgbClr val="000000"/>
                </a:solidFill>
                <a:latin typeface="Pilat"/>
              </a:rPr>
              <a:t>What security, support and open-source boundaries must be met?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799" y="4160520"/>
            <a:ext cx="2450592" cy="18288"/>
          </a:xfrm>
          <a:prstGeom prst="rect">
            <a:avLst/>
          </a:prstGeom>
          <a:solidFill>
            <a:srgbClr val="EEEAE6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293607" y="4361688"/>
            <a:ext cx="256032" cy="256032"/>
          </a:xfrm>
          <a:prstGeom prst="ellipse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93607" y="4370831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799" y="4343400"/>
            <a:ext cx="24871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5" b="0" i="0">
                <a:solidFill>
                  <a:srgbClr val="000000"/>
                </a:solidFill>
                <a:latin typeface="Pilat"/>
              </a:rPr>
              <a:t>What result would justify a controlled hardware evaluation?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934456"/>
            <a:ext cx="11018520" cy="283464"/>
          </a:xfrm>
          <a:prstGeom prst="roundRect">
            <a:avLst/>
          </a:prstGeom>
          <a:solidFill>
            <a:srgbClr val="FBE9E6"/>
          </a:solidFill>
          <a:ln w="10160">
            <a:solidFill>
              <a:srgbClr val="FBE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960" y="5989320"/>
            <a:ext cx="104698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772C22"/>
                </a:solidFill>
                <a:latin typeface="Pilat"/>
              </a:rPr>
              <a:t>Output: a shared problem statement, one high-value workload and objective POC success gates.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6492240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 i="0">
                <a:solidFill>
                  <a:srgbClr val="000000"/>
                </a:solidFill>
                <a:latin typeface="Pilat"/>
              </a:rPr>
              <a:t>[Confidential]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8608" y="6492240"/>
            <a:ext cx="324612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 i="0">
                <a:solidFill>
                  <a:srgbClr val="686868"/>
                </a:solidFill>
                <a:latin typeface="Pilat"/>
              </a:rPr>
              <a:t>©2026 SANDISK CORPORATION OR ITS AFFILIATES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79008" y="6492240"/>
            <a:ext cx="4956048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 i="0">
                <a:solidFill>
                  <a:srgbClr val="686868"/>
                </a:solidFill>
                <a:latin typeface="Pilat"/>
              </a:rPr>
              <a:t>Illustrative — validate against customer workload and approved product configuration.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6492240"/>
            <a:ext cx="347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86868"/>
                </a:solidFill>
                <a:latin typeface="Pilat"/>
              </a:rPr>
              <a:t>08</a:t>
            </a:r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EEEFDEEC-2E48-C267-0AAB-4F941B76DC77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4791456"/>
            <a:ext cx="1417320" cy="530352"/>
          </a:xfrm>
          <a:prstGeom prst="rect">
            <a:avLst/>
          </a:prstGeom>
          <a:solidFill>
            <a:srgbClr val="FFFCF9"/>
          </a:solidFill>
          <a:ln w="10160">
            <a:solidFill>
              <a:srgbClr val="FFF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10600"/>
                </a:solidFill>
                <a:latin typeface="Pilat"/>
              </a:rPr>
              <a:t>POTENTIAL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698480" cy="45720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Pilat Book"/>
              </a:rPr>
              <a:t>Evaluate one meaningful workload —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86868"/>
                </a:solidFill>
                <a:latin typeface="Pilat"/>
              </a:rPr>
              <a:t>Use simulation to narrow the design space, then calibrate against measured hardware and the customer serving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72184"/>
            <a:ext cx="11018520" cy="16459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739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Pilat Book"/>
              </a:rPr>
              <a:t>Candidate use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4059936" cy="71323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5528" y="2304288"/>
            <a:ext cx="338328" cy="338328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313432"/>
            <a:ext cx="338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49424"/>
            <a:ext cx="2889504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Pilat Book"/>
              </a:rPr>
              <a:t>Long-context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514600"/>
            <a:ext cx="2889504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686868"/>
                </a:solidFill>
                <a:latin typeface="Pilat"/>
              </a:rPr>
              <a:t>Reusable policy, engineering or support knowledge.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54096"/>
            <a:ext cx="4059936" cy="71323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95528" y="3236976"/>
            <a:ext cx="338328" cy="338328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246120"/>
            <a:ext cx="338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182112"/>
            <a:ext cx="2889504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Pilat Book"/>
              </a:rPr>
              <a:t>Batch enrichment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447288"/>
            <a:ext cx="2889504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686868"/>
                </a:solidFill>
                <a:latin typeface="Pilat"/>
              </a:rPr>
              <a:t>High-volume document, log or record processing.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86783"/>
            <a:ext cx="4059936" cy="713232"/>
          </a:xfrm>
          <a:prstGeom prst="roundRect">
            <a:avLst/>
          </a:prstGeom>
          <a:solidFill>
            <a:srgbClr val="FFFCF9"/>
          </a:solidFill>
          <a:ln w="10160">
            <a:solidFill>
              <a:srgbClr val="EE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95528" y="4169663"/>
            <a:ext cx="338328" cy="338328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4178807"/>
            <a:ext cx="338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114799"/>
            <a:ext cx="2889504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Pilat Book"/>
              </a:rPr>
              <a:t>Agentic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379975"/>
            <a:ext cx="2889504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686868"/>
                </a:solidFill>
                <a:latin typeface="Pilat"/>
              </a:rPr>
              <a:t>Repeated instructions, tools and shared context.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6" y="177393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Pilat Book"/>
              </a:rPr>
              <a:t>POC method</a:t>
            </a:r>
          </a:p>
        </p:txBody>
      </p:sp>
      <p:sp>
        <p:nvSpPr>
          <p:cNvPr id="24" name="Oval 23"/>
          <p:cNvSpPr/>
          <p:nvPr/>
        </p:nvSpPr>
        <p:spPr>
          <a:xfrm>
            <a:off x="5495544" y="2194560"/>
            <a:ext cx="411480" cy="411480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95544" y="2203703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1</a:t>
            </a:r>
          </a:p>
        </p:txBody>
      </p:sp>
      <p:sp>
        <p:nvSpPr>
          <p:cNvPr id="26" name="Chevron 25"/>
          <p:cNvSpPr/>
          <p:nvPr/>
        </p:nvSpPr>
        <p:spPr>
          <a:xfrm>
            <a:off x="6035040" y="2276856"/>
            <a:ext cx="466344" cy="219456"/>
          </a:xfrm>
          <a:prstGeom prst="chevron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0056" y="278892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Pilat Book"/>
              </a:rPr>
              <a:t>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3099816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10" b="0" i="0">
                <a:solidFill>
                  <a:srgbClr val="686868"/>
                </a:solidFill>
                <a:latin typeface="Pilat"/>
              </a:rPr>
              <a:t>Current trace, topology and cost inputs</a:t>
            </a:r>
          </a:p>
        </p:txBody>
      </p:sp>
      <p:sp>
        <p:nvSpPr>
          <p:cNvPr id="29" name="Oval 28"/>
          <p:cNvSpPr/>
          <p:nvPr/>
        </p:nvSpPr>
        <p:spPr>
          <a:xfrm>
            <a:off x="7104888" y="2194560"/>
            <a:ext cx="411480" cy="411480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04888" y="2203703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2</a:t>
            </a:r>
          </a:p>
        </p:txBody>
      </p:sp>
      <p:sp>
        <p:nvSpPr>
          <p:cNvPr id="31" name="Chevron 30"/>
          <p:cNvSpPr/>
          <p:nvPr/>
        </p:nvSpPr>
        <p:spPr>
          <a:xfrm>
            <a:off x="7644383" y="2276856"/>
            <a:ext cx="466344" cy="219456"/>
          </a:xfrm>
          <a:prstGeom prst="chevron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278892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Pilat Book"/>
              </a:rPr>
              <a:t>Simulate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099816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10" b="0" i="0">
                <a:solidFill>
                  <a:srgbClr val="686868"/>
                </a:solidFill>
                <a:latin typeface="Pilat"/>
              </a:rPr>
              <a:t>TokenSim sensitivity and crossover analysis</a:t>
            </a:r>
          </a:p>
        </p:txBody>
      </p:sp>
      <p:sp>
        <p:nvSpPr>
          <p:cNvPr id="34" name="Oval 33"/>
          <p:cNvSpPr/>
          <p:nvPr/>
        </p:nvSpPr>
        <p:spPr>
          <a:xfrm>
            <a:off x="8714232" y="2194560"/>
            <a:ext cx="411480" cy="411480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14232" y="2203703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3</a:t>
            </a:r>
          </a:p>
        </p:txBody>
      </p:sp>
      <p:sp>
        <p:nvSpPr>
          <p:cNvPr id="36" name="Chevron 35"/>
          <p:cNvSpPr/>
          <p:nvPr/>
        </p:nvSpPr>
        <p:spPr>
          <a:xfrm>
            <a:off x="9253728" y="2276856"/>
            <a:ext cx="466344" cy="219456"/>
          </a:xfrm>
          <a:prstGeom prst="chevron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38744" y="278892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Pilat Book"/>
              </a:rPr>
              <a:t>Validate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3099816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10" b="0" i="0">
                <a:solidFill>
                  <a:srgbClr val="686868"/>
                </a:solidFill>
                <a:latin typeface="Pilat"/>
              </a:rPr>
              <a:t>Matched serving run and instrumentation</a:t>
            </a:r>
          </a:p>
        </p:txBody>
      </p:sp>
      <p:sp>
        <p:nvSpPr>
          <p:cNvPr id="39" name="Oval 38"/>
          <p:cNvSpPr/>
          <p:nvPr/>
        </p:nvSpPr>
        <p:spPr>
          <a:xfrm>
            <a:off x="10323576" y="2194560"/>
            <a:ext cx="411480" cy="411480"/>
          </a:xfrm>
          <a:prstGeom prst="ellipse">
            <a:avLst/>
          </a:prstGeom>
          <a:solidFill>
            <a:srgbClr val="772C22"/>
          </a:solidFill>
          <a:ln>
            <a:solidFill>
              <a:srgbClr val="772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23576" y="2203703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48088" y="278892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Pilat Book"/>
              </a:rPr>
              <a:t>Decide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93808" y="3099816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10" b="0" i="0">
                <a:solidFill>
                  <a:srgbClr val="686868"/>
                </a:solidFill>
                <a:latin typeface="Pilat"/>
              </a:rPr>
              <a:t>Joint review of results and limitations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0056" y="4014215"/>
            <a:ext cx="6565392" cy="1408176"/>
          </a:xfrm>
          <a:prstGeom prst="roundRect">
            <a:avLst/>
          </a:prstGeom>
          <a:solidFill>
            <a:srgbClr val="FBE9E6"/>
          </a:solidFill>
          <a:ln w="1016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94376" y="4215384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772C22"/>
                </a:solidFill>
                <a:latin typeface="Pilat Book"/>
              </a:rPr>
              <a:t>Joint scorecard</a:t>
            </a:r>
          </a:p>
        </p:txBody>
      </p:sp>
      <p:sp>
        <p:nvSpPr>
          <p:cNvPr id="45" name="Oval 44"/>
          <p:cNvSpPr/>
          <p:nvPr/>
        </p:nvSpPr>
        <p:spPr>
          <a:xfrm>
            <a:off x="5321808" y="4544568"/>
            <a:ext cx="155448" cy="155448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21808" y="4553712"/>
            <a:ext cx="155448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9552" y="4526280"/>
            <a:ext cx="276148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Pilat"/>
              </a:rPr>
              <a:t>Useful token throughput</a:t>
            </a:r>
          </a:p>
        </p:txBody>
      </p:sp>
      <p:sp>
        <p:nvSpPr>
          <p:cNvPr id="48" name="Oval 47"/>
          <p:cNvSpPr/>
          <p:nvPr/>
        </p:nvSpPr>
        <p:spPr>
          <a:xfrm>
            <a:off x="5321808" y="4828031"/>
            <a:ext cx="155448" cy="155448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21808" y="4837175"/>
            <a:ext cx="155448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59552" y="4809744"/>
            <a:ext cx="276148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Pilat"/>
              </a:rPr>
              <a:t>TTFT and p99 latency</a:t>
            </a:r>
          </a:p>
        </p:txBody>
      </p:sp>
      <p:sp>
        <p:nvSpPr>
          <p:cNvPr id="51" name="Oval 50"/>
          <p:cNvSpPr/>
          <p:nvPr/>
        </p:nvSpPr>
        <p:spPr>
          <a:xfrm>
            <a:off x="5321808" y="5111496"/>
            <a:ext cx="155448" cy="155448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21808" y="5120640"/>
            <a:ext cx="155448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9552" y="5093208"/>
            <a:ext cx="276148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Pilat"/>
              </a:rPr>
              <a:t>Watts per useful token</a:t>
            </a:r>
          </a:p>
        </p:txBody>
      </p:sp>
      <p:sp>
        <p:nvSpPr>
          <p:cNvPr id="54" name="Oval 53"/>
          <p:cNvSpPr/>
          <p:nvPr/>
        </p:nvSpPr>
        <p:spPr>
          <a:xfrm>
            <a:off x="8412480" y="4544568"/>
            <a:ext cx="155448" cy="155448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12480" y="4553712"/>
            <a:ext cx="155448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50224" y="4526280"/>
            <a:ext cx="276148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Pilat"/>
              </a:rPr>
              <a:t>Network / memory utilization</a:t>
            </a:r>
          </a:p>
        </p:txBody>
      </p:sp>
      <p:sp>
        <p:nvSpPr>
          <p:cNvPr id="57" name="Oval 56"/>
          <p:cNvSpPr/>
          <p:nvPr/>
        </p:nvSpPr>
        <p:spPr>
          <a:xfrm>
            <a:off x="8412480" y="4828031"/>
            <a:ext cx="155448" cy="155448"/>
          </a:xfrm>
          <a:prstGeom prst="ellipse">
            <a:avLst/>
          </a:prstGeom>
          <a:solidFill>
            <a:srgbClr val="E10600"/>
          </a:solidFill>
          <a:ln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4837175"/>
            <a:ext cx="155448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CF9"/>
                </a:solidFill>
                <a:latin typeface="Pilat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50224" y="4809744"/>
            <a:ext cx="276148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Pilat"/>
              </a:rPr>
              <a:t>Deployment and operational effort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5285232"/>
            <a:ext cx="4059936" cy="475488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4672" y="5422392"/>
            <a:ext cx="358444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CF9"/>
                </a:solidFill>
                <a:latin typeface="Pilat"/>
              </a:rPr>
              <a:t>Output: go / no-go decision + deployment blueprint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2608" y="6492240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 i="0">
                <a:solidFill>
                  <a:srgbClr val="000000"/>
                </a:solidFill>
                <a:latin typeface="Pilat"/>
              </a:rPr>
              <a:t>[Confidential]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78608" y="6492240"/>
            <a:ext cx="324612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 i="0">
                <a:solidFill>
                  <a:srgbClr val="686868"/>
                </a:solidFill>
                <a:latin typeface="Pilat"/>
              </a:rPr>
              <a:t>©2026 SANDISK CORPORATION OR ITS AFFILIATES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79008" y="6492240"/>
            <a:ext cx="4956048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 i="0">
                <a:solidFill>
                  <a:srgbClr val="686868"/>
                </a:solidFill>
                <a:latin typeface="Pilat"/>
              </a:rPr>
              <a:t>Illustrative — validate against customer workload and approved product configuration.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18520" y="6492240"/>
            <a:ext cx="347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86868"/>
                </a:solidFill>
                <a:latin typeface="Pilat"/>
              </a:rPr>
              <a:t>09</a:t>
            </a:r>
          </a:p>
        </p:txBody>
      </p:sp>
      <p:sp>
        <p:nvSpPr>
          <p:cNvPr id="66" name="Shape 3">
            <a:extLst>
              <a:ext uri="{FF2B5EF4-FFF2-40B4-BE49-F238E27FC236}">
                <a16:creationId xmlns:a16="http://schemas.microsoft.com/office/drawing/2014/main" id="{2FB6EC68-A886-F79B-600A-D109A14AE46E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chemeClr val="accent2"/>
          </a:solidFill>
          <a:ln w="6350">
            <a:solidFill>
              <a:srgbClr val="00A3A3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disk Corporate PPT v2">
  <a:themeElements>
    <a:clrScheme name="Sandisk Corporate Colors 021625">
      <a:dk1>
        <a:srgbClr val="000000"/>
      </a:dk1>
      <a:lt1>
        <a:srgbClr val="FFFCF9"/>
      </a:lt1>
      <a:dk2>
        <a:srgbClr val="000000"/>
      </a:dk2>
      <a:lt2>
        <a:srgbClr val="FFFCF9"/>
      </a:lt2>
      <a:accent1>
        <a:srgbClr val="BCBCBC"/>
      </a:accent1>
      <a:accent2>
        <a:srgbClr val="772C22"/>
      </a:accent2>
      <a:accent3>
        <a:srgbClr val="E10600"/>
      </a:accent3>
      <a:accent4>
        <a:srgbClr val="BCBCBC"/>
      </a:accent4>
      <a:accent5>
        <a:srgbClr val="772C22"/>
      </a:accent5>
      <a:accent6>
        <a:srgbClr val="E10600"/>
      </a:accent6>
      <a:hlink>
        <a:srgbClr val="E10600"/>
      </a:hlink>
      <a:folHlink>
        <a:srgbClr val="772C22"/>
      </a:folHlink>
    </a:clrScheme>
    <a:fontScheme name="Sandisk Fonts 1.1">
      <a:majorFont>
        <a:latin typeface="Pilat Book"/>
        <a:ea typeface=""/>
        <a:cs typeface=""/>
      </a:majorFont>
      <a:minorFont>
        <a:latin typeface="Pil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disk Corporate PPT v2" id="{9E6F1A95-E288-4F19-A5B4-EE8E5C4D3665}" vid="{95DF07C8-DE36-4DBE-BC1D-3503C1BB34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E001C8A6F88F4E95B810C2A4B7DA72" ma:contentTypeVersion="7" ma:contentTypeDescription="Create a new document." ma:contentTypeScope="" ma:versionID="3d8e1cb046558a204400bf0a4132e7aa">
  <xsd:schema xmlns:xsd="http://www.w3.org/2001/XMLSchema" xmlns:xs="http://www.w3.org/2001/XMLSchema" xmlns:p="http://schemas.microsoft.com/office/2006/metadata/properties" xmlns:ns2="fe6b4478-c776-4017-87bf-2f50b4489ba1" targetNamespace="http://schemas.microsoft.com/office/2006/metadata/properties" ma:root="true" ma:fieldsID="3feec101fe7cd4fca57bab9fe2e1be0a" ns2:_="">
    <xsd:import namespace="fe6b4478-c776-4017-87bf-2f50b4489b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6b4478-c776-4017-87bf-2f50b4489b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DAC103-8232-4870-A0CC-B534A2A729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6b4478-c776-4017-87bf-2f50b4489b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DFC830-3D8B-49D2-BB3E-52F7409053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25C36A-6343-4C2B-9013-6FA76B56048C}">
  <ds:schemaRefs>
    <ds:schemaRef ds:uri="http://schemas.openxmlformats.org/package/2006/metadata/core-properties"/>
    <ds:schemaRef ds:uri="http://purl.org/dc/dcmitype/"/>
    <ds:schemaRef ds:uri="fe6b4478-c776-4017-87bf-2f50b4489ba1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174054</TotalTime>
  <Words>3256</Words>
  <Application>Microsoft Macintosh PowerPoint</Application>
  <PresentationFormat>Widescreen</PresentationFormat>
  <Paragraphs>496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NB Architekt Pro Neue</vt:lpstr>
      <vt:lpstr>Pilat</vt:lpstr>
      <vt:lpstr>Pilat Book</vt:lpstr>
      <vt:lpstr>Pilat Regular</vt:lpstr>
      <vt:lpstr>Sandisk Corporate PPT v2</vt:lpstr>
      <vt:lpstr>PowerPoint Presentation</vt:lpstr>
      <vt:lpstr>PowerPoint Presentation</vt:lpstr>
      <vt:lpstr>PowerPoint Presentation</vt:lpstr>
      <vt:lpstr>IMA Card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Petti</dc:creator>
  <cp:lastModifiedBy>Shailesh Pilare</cp:lastModifiedBy>
  <cp:revision>98</cp:revision>
  <dcterms:created xsi:type="dcterms:W3CDTF">2025-03-11T15:48:39Z</dcterms:created>
  <dcterms:modified xsi:type="dcterms:W3CDTF">2026-09-14T17:39:07Z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0x01010014E001C8A6F88F4E95B810C2A4B7DA72</vt:lpwstr>
  </property>
</Properties>
</file>